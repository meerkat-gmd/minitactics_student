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81fa5028-1d63-99c4-82c8-b123a9875b3e}">
          <p14:sldIdLst>
            <p14:sldId id="256"/>
            <p14:sldId id="257"/>
            <p14:sldId id="258"/>
          </p14:sldIdLst>
        </p14:section>
        <p14:section name="1 · 왜 큐가 필요한가" id="{49393f12-ed69-575b-5acd-b46e325b4e99}">
          <p14:sldIdLst>
            <p14:sldId id="259"/>
            <p14:sldId id="260"/>
            <p14:sldId id="261"/>
            <p14:sldId id="262"/>
            <p14:sldId id="263"/>
            <p14:sldId id="264"/>
            <p14:sldId id="265"/>
            <p14:sldId id="266"/>
          </p14:sldIdLst>
        </p14:section>
        <p14:section name="2 · 배열에서 원형 버퍼로" id="{921ebf9c-91ff-464d-1fb5-51d0f0985e86}">
          <p14:sldIdLst>
            <p14:sldId id="267"/>
            <p14:sldId id="268"/>
            <p14:sldId id="269"/>
            <p14:sldId id="270"/>
            <p14:sldId id="271"/>
            <p14:sldId id="272"/>
            <p14:sldId id="273"/>
            <p14:sldId id="274"/>
          </p14:sldIdLst>
        </p14:section>
        <p14:section name="3 · 합치기와 스레드" id="{36d127e0-6dce-6e05-7e82-4797a14d0195}">
          <p14:sldIdLst>
            <p14:sldId id="275"/>
            <p14:sldId id="276"/>
            <p14:sldId id="277"/>
            <p14:sldId id="278"/>
          </p14:sldIdLst>
        </p14:section>
        <p14:section name="4 · 설계 결정" id="{78d93aff-2f78-df1c-ff95-34b4abf9561f}">
          <p14:sldIdLst>
            <p14:sldId id="279"/>
            <p14:sldId id="280"/>
            <p14:sldId id="281"/>
            <p14:sldId id="282"/>
            <p14:sldId id="283"/>
          </p14:sldIdLst>
        </p14:section>
        <p14:section name="5 · 쓸 때와 주의점" id="{b0f61e47-6805-106c-d018-31b139a9dc43}">
          <p14:sldIdLst>
            <p14:sldId id="284"/>
            <p14:sldId id="285"/>
            <p14:sldId id="286"/>
            <p14:sldId id="287"/>
            <p14:sldId id="288"/>
            <p14:sldId id="289"/>
          </p14:sldIdLst>
        </p14:section>
        <p14:section name="정리" id="{a9aed93d-a629-735f-c01d-099be01f9113}">
          <p14:sldIdLst>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원서 「이벤트 큐」 장의 순서를 따라갑니다. 이미 익숙한 이벤트 루프에서 출발해, 소리를 바로 재생하는 오디오 API의 문제를 보고, 배열 하나로 원형 버퍼를 만들어 그 문제를 하나씩 풉니다. 마지막으로 큐를 설계할 때 정해야 할 것들과 주의점을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이벤트 큐 장은 오디오 엔진 하나로 끝까지 설명합니다. 먼저 큐가 이미 쓰이는 곳을 보고, 바로 재생하는 첫 시도가 어떤 문제를 일으키는지 확인합니다. 그다음 배열에서 원형 버퍼까지 만들고, 그 큐로 같은 소리 합치기와 스레드 문제를 풉니다. 마지막에 설계 결정과 주의점을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원서가 밝히는 이 패턴의 의도는 메시지나 이벤트를 보내는 시점과 처리하는 시점을 분리하는 것입니다. 보내는 쪽은 요청을 큐에 넣고 바로 돌아갑니다. 처리하는 쪽은 자기에게 편한 때에 가장 오래된 요청부터 꺼내 처리합니다. 큐는 먼저 들어온 것이 먼저 나가는 줄입니다.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먼저 이 패턴이 이미 쓰이는 두 곳을 보여 주고, 그다음 오디오 엔진을 만들며 큐가 없을 때 무엇이 문제인지 확인합니다.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사용자가 버튼을 누르거나 키를 치면 운영체제가 이벤트를 만듭니다. GUI 프로그램 깊은 곳에는 이 이벤트를 하나씩 꺼내는 루프가 있습니다. 중요한 점은 프로그램이 원할 때 이벤트를 꺼낸다는 것입니다. 그 사이에 들어온 입력이 사라지지 않으려면 어딘가에 쌓여 있어야 하고, 그곳이 바로 큐입니다. 인터럽트는 반대로 운영체제가 프로그램을 멈추고 처리 코드로 바로 뛰게 만들기 때문에 다루기 어렵습니다.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두 번째 예는 튜토리얼입니다. 플레이어가 처음으로 적을 쓰러뜨리면 전리품을 줍는 버튼을 알려 주는 말풍선을 띄우고 싶습니다. 그 확인 코드를 복잡한 전투 코드에 넣고 싶지는 않습니다. 대신 어느 시스템이든 넣고 꺼낼 수 있는 중앙 이벤트 큐를 둡니다. 전투 코드는 적이 죽을 때 이벤트를 넣고, 튜토리얼 시스템은 그 종류의 이벤트를 받겠다고 등록합니다. 다만 원서의 저자는 거대한 전역 시스템을 좋아하지 않아서, 이후 예제는 한 클래스 안의 큐로 진행합니다.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게임에 소리를 넣기 위해 가장 단순한 오디오 엔진부터 만듭니다. 사운드 ID와 볼륨을 받아 리소스를 읽고, 비어 있는 채널을 찾아 재생을 시작합니다. 원서는 스피커가 하나뿐이라 싱글턴 패턴이 어울릴 수 있는 곳이라고 하면서도, 더 단순하게 정적 메서드로 만듭니다. 메뉴는 선택한 항목이 바뀔 때마다 짧은 효과음을 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PlaySound는 동기 호출입니다. 스피커에서 소리가 나기 시작해야 호출한 쪽으로 돌아갑니다. 사운드 파일을 디스크에서 읽어야 한다면 그동안 메뉴 코드는 기다리고, 게임 전체가 몇 프레임 멈춥니다. 원서가 꼽는 첫 번째 문제입니다.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AI 코드에서 적이 맞을 때 비명 소리를 냅니다. 주인공의 강한 공격이 적 둘을 같은 프레임에 맞히면 같은 비명이 동시에 두 번 재생됩니다. 같은 파형을 두 번 더하면 한 소리를 두 배 크기로 튼 것과 같아서 귀에 거슬리게 큽니다. 보스전처럼 하수인이 많을 때는 하드웨어가 동시에 낼 수 있는 소리 수를 넘어서 소리가 무시되거나 끊깁니다. 이것을 막으려면 요청 전체를 보고 합치거나 우선순위를 정해야 하는데, 지금 API는 한 번에 요청 하나만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요즘 게임은 여러 코어를 쓰려고 렌더링, AI 같은 시스템을 각자의 스레드에서 돌립니다. PlaySound는 동기 API이므로 호출한 쪽의 스레드에서 실행됩니다. 여러 스레드가 동시에 PlaySound를 부르는데 코드에는 스레드 동기화가 전혀 없습니다. 게다가 오디오 전용 스레드를 따로 두었는데, 그 스레드는 할 일 없이 놀고 있습니다. 원서의 세 번째 문제입니다.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세 문제에는 공통점이 있습니다. 오디오 엔진이 PlaySound 호출을 하던 일을 모두 멈추고 지금 당장 재생하라는 뜻으로 받아들인다는 것입니다. 다른 시스템은 자기에게 편할 때 PlaySound를 부르지만, 그때가 오디오 엔진에게도 편한 때는 아닙니다. 그래서 요청을 받는 일과 처리하는 일을 떼어 놓습니다. 그 사이에 큐를 두는 것이 이벤트 큐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이제 앞에서 본 PlaySound를 고칩니다. 첫 번째로 고칠 문제는 호출한 쪽이 멈춘다는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재생을 나중으로 미루려면 재생 요청의 내용을 보관해야 합니다. 사운드 ID와 볼륨을 담는 작은 구조체 PlayMessage를 만듭니다. 이것을 보관할 곳으로 원서는 화려한 자료 구조 대신 평범한 배열을 고릅니다. 동적 할당이 없고, 포인터 같은 부가 정보가 없고, 메모리가 연속이라 캐시에 유리하기 때문입니다. C#에서 struct 배열은 값이 배열 칸 안에 바로 들어가므로 요청마다 new를 하지 않습니다. 정적 필드는 0에서 시작하지만, 원서처럼 Init에서 다시 0으로 맞춥니다.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PlaySound는 이제 배열 끝에 요청을 적고 개수를 하나 늘린 뒤 곧바로 돌아갑니다. 실제 재생은 새로 만든 Update가 맡습니다. 쌓인 요청을 모두 재생하고 개수를 0으로 되돌립니다. 이 Update는 업데이트 메서드 패턴입니다. 언제 부를지는 게임마다 다릅니다. 메인 게임 루프에서 부를 수도 있고, 오디오 전용 스레드에서 부를 수도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지금 Update는 요청을 한 번에 모두 처리한다고 가정합니다. 사운드 리소스를 다 읽은 뒤에 비동기로 처리하는 경우처럼 요청을 하나씩 처리하려면, 앞에서 하나를 꺼내고 나머지는 남겨 두어야 합니다. 진짜 큐가 필요합니다. 배열 앞에서 꺼낼 때 나머지를 한 칸씩 당기면 느립니다. 대신 읽을 위치 head와 쓸 위치 tail을 둡니다. head는 가장 오래된 요청이고, tail은 다음 요청을 쓸 칸으로 마지막 요청의 바로 다음입니다. 그래서 head와 tail이 같으면 큐가 비어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_numPending을 _tail로 바꿉니다. PlaySound는 그 밖에는 같습니다. 바뀐 곳은 Update입니다. head와 tail이 같으면 처리할 요청이 없으므로 그냥 돌아갑니다. 아니면 head에 있는 요청 하나를 재생하고 head를 오른쪽으로 한 칸 옮깁니다. 처리한 요청은 지우지 않습니다. head가 지나가면 버려진 것과 같습니다.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요청이 들어오고 나가는 동안 head와 tail은 계속 오른쪽으로 움직입니다. 언젠가 tail이 배열 끝에 닿습니다. 하지만 head도 같이 움직였으므로 배열 앞쪽에는 이미 처리한 빈 칸이 있습니다. 그래서 tail이 끝을 지나면 배열 처음으로 되돌립니다. tail 더하기 1을 배열 크기로 나눈 나머지를 쓰면 됩니다. 이렇게 배열이 원처럼 이어지므로 원형 버퍼라고 부릅니다. 단언문도 바뀝니다. tail이 head를 따라잡아 덮어쓰지 않도록, 한 칸 뒤가 head이면 가득 찬 것으로 봅니다. Update의 head도 같은 방식으로 감쌉니다.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MaxPending은 16이지만 따라가기 쉽게 4로 줄입니다. 괄호 친 칸은 이미 처리한 칸입니다. 값이 남아 있어도 head에서 tail 사이가 아니므로 비어 있는 칸입니다. 요청 D를 넣을 때 tail이 3에서 0으로 감깁니다. 요청 E는 처리가 끝난 0번 칸을 다시 씁니다. 그다음 F를 넣으려 하면 tail의 한 칸 뒤가 head이므로 단언이 실패합니다. 마지막 줄에서는 head도 3에서 0으로 감깁니다.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앞의 추적에서 세 순간을 원으로 그렸습니다. 첫째, D를 넣은 뒤 tail이 0번으로 돌아왔습니다. 둘째, E까지 넣으면 C, D, E 세 요청이 있고 1번 칸 하나만 비어 있습니다. 이것이 가득 찬 상태입니다. 한 칸을 늘 비워 두기 때문에 가득 찬 상태와, head와 tail이 같은 빈 상태를 구별할 수 있습니다. 셋째, Update 두 번 뒤에는 head도 0번으로 돌아왔습니다. 최대 크기가 걱정되면 가득 찼을 때 두 배 크기의 배열을 만들어 옮겨 담을 수 있습니다. 옮기는 비용이 있어도 넣기는 평균적으로 상수 시간입니다.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큐가 생기면 처리를 기다리는 요청들이 눈에 보입니다. 이제 문제 2와 문제 3을 풉니다.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같은 소리를 두 번 재생해 너무 커지는 문제를 풉니다. 이제 처리를 기다리는 요청을 알 수 있으므로, 새 요청과 같은 사운드가 이미 있으면 합치면 됩니다. PlaySound는 head부터 tail 직전까지 훑습니다. 같은 사운드를 찾으면 두 볼륨 중 큰 쪽을 남기고 새 요청은 넣지 않습니다. 오른쪽은 같은 프레임에 비명이 볼륨 50과 80으로 두 번 요청된 경우입니다.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넣을 때 합치면 PlaySound가 돌아오기 전에 큐 전체를 훑어야 합니다. 처리 부담이 호출한 쪽으로 넘어가고, 큐가 크면 느려집니다. Update에서 합치거나, 사운드 ID를 키로 하는 해시 테이블을 써서 상수 시간에 찾는 방법도 있습니다. 또 하나 기억할 점이 있습니다. 동시에 들어온 요청으로 보고 합칠 수 있는 범위는 큐에 쌓인 만큼입니다. 처리가 빠르면 합칠 기회가 줄고, 처리가 밀리면 늘어납니다. 요청과 처리 사이의 지연이 실제 동작을 바꿀 수 있으므로, 그것을 받아들일 수 있을 때 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마지막 문제는 요청이 엉뚱한 스레드에서 처리되는 것이었습니다. 이제 세 가지가 준비되었습니다. 사운드를 요청하는 코드와 재생하는 코드가 분리되었고, 그 사이에 큐가 있고, 큐는 Audio 안에 감춰져 있습니다. 남은 일은 큐를 바꾸는 두 메서드, PlaySound와 Update를 스레드에 안전하게 만드는 것입니다. PlaySound는 필드 몇 개만 쓰므로 잠깐 잠가도 처리를 오래 막지 않습니다. Update는 조건 변수 같은 것으로 기다려서 요청이 올 때까지 CPU를 쓰지 않습니다. 원서는 특정 잠금 API에 얽매이지 않으려고 코드를 싣지 않습니다. C#이라면 lock 문과 Monitor.Wait, Monitor.Pulse로 같은 일을 할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복잡한 라우팅과 필터링을 만들기 전에 단순하게 시작하라고 권합니다. 그러면서 먼저 답해 볼 질문 네 가지를 제시합니다.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지금까지 이벤트와 메시지를 섞어 썼습니다. 큐에 무엇을 넣든 분리와 합치기는 똑같이 할 수 있지만 개념은 다릅니다. 이벤트나 알림은 몬스터가 죽었다처럼 이미 일어난 일을 알립니다. 비동기 관찰자 패턴과 비슷하고, 받는 쪽이 여럿일 수 있고, 큐는 넓은 범위에 보이게 둡니다. 메시지나 요청은 사운드를 재생하라처럼 앞으로 일어나길 바라는 일입니다. 서비스에 대한 비동기 API와 같고 받는 쪽은 대개 하나입니다. 요청은 명령이라고도 부르므로 명령 패턴과도 이어집니다. 처리할 곳을 몰라도 처리만 되면 된다면 서비스 중개자 패턴과 비슷해집니다.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오디오 예제의 큐는 Audio만 읽습니다. 반면 사용자 인터페이스의 이벤트 시스템에는 리스너를 얼마든지 등록할 수 있습니다. 읽는 쪽이 하나인 큐는 클래스 API의 일부로 쓰기 좋습니다. 큐는 읽는 쪽의 구현 세부가 되어 잘 감춰지고, 읽는 쪽끼리 다툴 걱정도 없습니다. 모두에게 전달하는 큐는 대부분의 이벤트 시스템이 쓰는 방식입니다. 리스너가 열이면 열 모두가 보고, 하나도 없으면 이벤트는 버려집니다. 리스너가 많아지므로 보통 받을 이벤트를 걸러 냅니다. 작업 큐는 읽는 쪽이 여럿이지만 항목 하나는 그중 하나에게만 갑니다. 스레드 풀에 일을 나눠 줄 때 쓰며, 누구에게 줄지 정하는 규칙이 필요합니다.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넣는 쪽과 읽는 쪽은 하나 대 하나부터 여럿 대 여럿까지 모든 조합이 가능합니다. 넣는 쪽이 하나면 동기 관찰자 패턴과 가장 비슷합니다. 큐에 넣을 수 있는 객체가 하나뿐이므로 받는 쪽은 보낸 쪽이 누구인지 압니다. 보통 읽는 쪽은 여럿 둡니다. 넣는 쪽이 여럿인 것이 오늘의 오디오 예제입니다. PlaySound는 public이라 어디서든 요청을 넣을 수 있습니다. 중앙 이벤트 버스도 그렇습니다. 이때는 이벤트를 처리하는 도중에 무심코 이벤트를 넣어 순환이 생기기 쉽고, 보낸 쪽을 알아야 한다면 이벤트 안에 보낸 쪽의 참조를 담아야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동기 알림은 받는 쪽이 모두 처리해야 보낸 쪽으로 돌아오므로, 메시지를 스택의 지역 변수에 두어도 안전합니다. 큐에 넣은 메시지는 넣은 호출이 끝난 뒤에도 살아 있어야 합니다. C나 C++에서는 이것을 직접 책임져야 하고, 원서는 세 가지 방법을 소개합니다. 소유권을 넘기는 방법, 소유권을 함께 갖는 방법, 큐가 메시지를 소유하는 방법입니다. 마지막 방법에서는 보내는 쪽이 큐에게 새 메시지 칸을 받아 채우고, 받는 쪽도 큐 안의 같은 메시지를 봅니다. 큐의 저장소가 객체 풀이 되는 셈입니다. C#은 가비지 컬렉터가 있어 크게 걱정하지 않아도 됩니다. 오늘 예제처럼 struct를 배열 칸에 복사해 두면 메시지가 큐 안에 삽니다.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이벤트 큐는 복잡하고 게임 구조 전체에 영향을 주기 쉬운 패턴입니다. 쓸지, 어떻게 쓸지 신중히 정해야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받는 쪽을 보내는 쪽에서 떼어 놓는 것만 필요하다면 관찰자 패턴이나 명령 패턴이 더 단순하게 해 줍니다. 큐는 시간까지 떼어 놓아야 할 때 씁니다. 원서는 이것을 밀기와 끌어오기로 설명합니다. A는 B에게 일을 밀어 넣는 것이 자연스럽고, B는 자기 실행 주기의 편한 때에 끌어오는 것이 자연스럽습니다. 한쪽은 밀고 한쪽은 끌어올 때 둘 사이에 완충 공간이 필요하고, 그것이 큐입니다. 큐는 받는 쪽에게 처리를 미루고, 모으고, 버릴 수 있는 권한을 줍니다. 대신 보내는 쪽은 넣고 기다릴 뿐이므로, 결과를 돌려받아야 할 때는 맞지 않습니다.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모든 시스템이 메시지를 주고받는 중앙 큐는 강력하지만, 결국 누구나 건드릴 수 있는 전역 상태입니다. 프로토콜로 감쌌을 뿐 전역 변수의 위험은 그대로입니다. 두 번째 주의점은 시간 차이입니다. AI 코드가 하수인이 죽었다는 이벤트를 넣고, 경험치 시스템이 몇 프레임 뒤에 그것을 꺼내 보상을 계산한다고 합시다. 얼마나 강한 적이었는지, 주변에 어떤 적이 있었는지 보려 해도 그 개체는 이미 해제되었고 주변 적은 떠났을 수 있습니다. 동기 알림이라면 무슨 일이 있었다고만 알려도 받는 쪽이 둘러보면 되지만, 큐에서는 필요한 세부 정보를 보낼 때 이벤트에 담아야 합니다. 그래서 큐의 이벤트는 더 많은 데이터를 가집니다.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모든 이벤트 시스템은 순환을 걱정해야 합니다. A가 이벤트를 보내고, B가 그것을 받아 처리하면서 이벤트를 보내고, 그 이벤트를 A가 받아 또 이벤트를 보내면 다시 처음으로 돌아갑니다. 동기 시스템에서는 스택이 넘쳐 게임이 바로 멈추므로 순환을 빨리 찾습니다. 큐에서는 비동기라 호출 스택이 풀리므로, 쓸데없는 이벤트가 계속 오가는데도 게임은 돌아갑니다. 그래서 늦게 발견합니다. 흔히 쓰는 규칙은 이벤트를 처리하는 코드 안에서 이벤트를 보내지 않는 것입니다. 이벤트 시스템에 디버그 로그를 조금 남겨 두는 것도 좋습니다.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 본문과 관련 자료 절에 나온 패턴입니다. 관찰자는 6강, 명령은 2강, 상태는 4강에서 배웠고, 서비스 중개자는 다음 11강, 객체 풀은 12강에서 배웁니다. 원서는 이벤트 큐를 관찰자 패턴의 비동기 사촌이라고 부릅니다. 메시지 큐나 발행과 구독은 같은 생각을 응용 프로그램 사이의 통신에 쓰는 더 큰 이름이고, Go 언어의 채널도 사실상 이벤트 큐입니다.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Unity와 C#의 몇 가지 기능을 이벤트 큐의 관점에서 봅니다. 새 입력 시스템은 장치에서 들어온 입력 이벤트를 버퍼에 모아 두었다가 프레임마다 한꺼번에 처리합니다. GUI 이벤트 루프와 같은 구조입니다. C#의 Queue&lt;T&gt;는 내부가 원형 배열이고, 가득 차면 더 큰 배열로 옮깁니다. 여러 스레드에서 넣고 꺼내야 한다면 ConcurrentQueue&lt;T&gt;가 있습니다. Unity는 다른 스레드에서 메인 스레드로 넘긴 작업을 동기화 컨텍스트의 큐에 모아 두었다가 메인 스레드에서 실행합니다. 반대로 C#의 event와 UnityEvent는 그 자리에서 바로 부르는 동기 방식이므로 관찰자에 해당합니다.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답을 가리고 먼저 학생에게 물어본 뒤 확인합니다. 세 번째 질문은 앞의 추적 표를 떠올리며 직접 계산해 보게 합니다. 다음 강의는 서비스 중개자(Service Locator)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eaLnBrk="0">
              <a:buNone/>
              <a:defRPr lang="ko-KR" altLang="en-US" sz="4000" b="1" dirty="0">
                <a:solidFill>
                  <a:schemeClr val="bg1"/>
                </a:solidFill>
              </a:defRPr>
            </a:lvl1pPr>
          </a:lstStyle>
          <a:p>
            <a:pPr algn="l" indent="0" marL="0" eaLnBrk="0">
              <a:buNone/>
            </a:pP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97280"/>
          </a:xfrm>
          <a:prstGeom prst="rect">
            <a:avLst/>
          </a:prstGeom>
          <a:noFill/>
          <a:ln/>
        </p:spPr>
        <p:txBody>
          <a:bodyPr wrap="square" rtlCol="0"/>
          <a:lstStyle>
            <a:lvl1pPr algn="l" indent="0" marL="0" eaLnBrk="0">
              <a:buNone/>
              <a:defRPr lang="ko-KR" altLang="en-US" sz="3600" b="1" dirty="0">
                <a:solidFill>
                  <a:schemeClr val="bg1"/>
                </a:solidFill>
              </a:defRPr>
            </a:lvl1pPr>
          </a:lstStyle>
          <a:p>
            <a:pPr algn="l" indent="0" marL="0" eaLnBrk="0">
              <a:buNone/>
            </a:pPr>
            <a:endParaRPr lang="ko-KR" altLang="en-US" sz="3600" dirty="0"/>
          </a:p>
        </p:txBody>
      </p:sp>
      <p:sp>
        <p:nvSpPr>
          <p:cNvPr id="3" name="Text 0"/>
          <p:cNvSpPr/>
          <p:nvPr>
            <p:ph idx="101" type="body" hasCustomPrompt="1"/>
          </p:nvPr>
        </p:nvSpPr>
        <p:spPr>
          <a:xfrm>
            <a:off x="548640" y="3794760"/>
            <a:ext cx="11094415" cy="73152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eaLnBrk="0">
              <a:buNone/>
              <a:defRPr lang="ko-KR" altLang="en-US" sz="2600" b="1" dirty="0">
                <a:solidFill>
                  <a:schemeClr val="tx1"/>
                </a:solidFill>
              </a:defRPr>
            </a:lvl1pPr>
          </a:lstStyle>
          <a:p>
            <a:pPr algn="l" indent="0" marL="0" eaLnBrk="0">
              <a:buNone/>
            </a:pPr>
            <a:endParaRPr lang="ko-KR" alt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eaLnBrk="0">
              <a:buNone/>
            </a:pPr>
            <a:r>
              <a:rPr lang="ko-KR" altLang="en-US" sz="1000" dirty="0">
                <a:solidFill>
                  <a:schemeClr val="accent3"/>
                </a:solidFill>
              </a:rPr>
              <a:t>10강 · 이벤트 큐(Event Queue) 패턴</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eaLnBrk="0">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nchor="b"/>
          <a:lstStyle/>
          <a:p>
            <a:pPr algn="l" indent="0" marL="0" eaLnBrk="0">
              <a:buNone/>
            </a:pPr>
            <a:r>
              <a:rPr lang="ko-KR" altLang="en-US" sz="4000" b="1" dirty="0">
                <a:solidFill>
                  <a:schemeClr val="bg1"/>
                </a:solidFill>
              </a:rPr>
              <a:t>10강 · 이벤트 큐(Event Queue) 패턴</a:t>
            </a: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nchor="t"/>
          <a:lstStyle/>
          <a:p>
            <a:pPr indent="0" marL="0" eaLnBrk="0">
              <a:buNone/>
            </a:pPr>
            <a:r>
              <a:rPr lang="ko-KR" altLang="en-US" sz="1800" dirty="0">
                <a:solidFill>
                  <a:schemeClr val="accent3"/>
                </a:solidFill>
              </a:rPr>
              <a:t>요청을 보내는 때와 처리하는 때를 떼어 놓고</a:t>
            </a:r>
            <a:endParaRPr lang="ko-KR" altLang="en-US" sz="1800" dirty="0"/>
          </a:p>
          <a:p>
            <a:pPr indent="0" marL="0" eaLnBrk="0">
              <a:buNone/>
            </a:pPr>
            <a:r>
              <a:rPr lang="ko-KR" altLang="en-US" sz="1800" dirty="0">
                <a:solidFill>
                  <a:schemeClr val="accent3"/>
                </a:solidFill>
              </a:rPr>
              <a:t>처리하는 쪽이 편한 때에 꺼내 쓴다</a:t>
            </a:r>
            <a:endParaRPr lang="ko-KR" altLang="en-US" sz="1800" dirty="0"/>
          </a:p>
          <a:p>
            <a:pPr indent="0" marL="0" eaLnBrk="0">
              <a:buNone/>
            </a:pPr>
            <a:endParaRPr lang="ko-KR" altLang="en-US" sz="1800" dirty="0"/>
          </a:p>
          <a:p>
            <a:pPr indent="0" marL="0" eaLnBrk="0">
              <a:buNone/>
            </a:pPr>
            <a:r>
              <a:rPr lang="ko-KR" altLang="en-US" sz="1800" dirty="0">
                <a:solidFill>
                  <a:schemeClr val="accent3"/>
                </a:solidFill>
              </a:rPr>
              <a:t>교재: 로버트 나이스트롬, 『게임 프로그래밍 패턴』</a:t>
            </a:r>
            <a:endParaRPr lang="ko-KR" altLang="en-US" sz="1800" dirty="0"/>
          </a:p>
          <a:p>
            <a:pPr indent="0" marL="0" eaLnBrk="0">
              <a:buNone/>
            </a:pPr>
            <a:r>
              <a:rPr lang="ko-KR" altLang="en-US" sz="1800" dirty="0">
                <a:solidFill>
                  <a:schemeClr val="accent3"/>
                </a:solidFill>
              </a:rPr>
              <a:t>「이벤트 큐」 장</a:t>
            </a:r>
            <a:endParaRPr lang="ko-KR"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오늘의 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바로 재생하던 사운드 호출이 큐를 거치기까지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이벤트 큐 패턴은 한 문장으로 무엇일까?</a:t>
            </a:r>
            <a:endParaRPr lang="ko-KR" altLang="en-US" sz="1500" dirty="0"/>
          </a:p>
        </p:txBody>
      </p:sp>
      <p:sp>
        <p:nvSpPr>
          <p:cNvPr id="6" name="card"/>
          <p:cNvSpPr/>
          <p:nvPr/>
        </p:nvSpPr>
        <p:spPr>
          <a:xfrm>
            <a:off x="548640" y="1828800"/>
            <a:ext cx="2057400" cy="2286000"/>
          </a:xfrm>
          <a:prstGeom prst="roundRect">
            <a:avLst>
              <a:gd name="adj" fmla="val 4444"/>
            </a:avLst>
          </a:prstGeom>
          <a:solidFill>
            <a:schemeClr val="bg2"/>
          </a:solidFill>
          <a:ln w="12700">
            <a:solidFill>
              <a:schemeClr val="bg2"/>
            </a:solidFill>
            <a:prstDash val="solid"/>
          </a:ln>
        </p:spPr>
      </p:sp>
      <p:sp>
        <p:nvSpPr>
          <p:cNvPr id="7" name="Shape 4"/>
          <p:cNvSpPr/>
          <p:nvPr/>
        </p:nvSpPr>
        <p:spPr>
          <a:xfrm>
            <a:off x="777240" y="20299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777240"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왜 큐가 필요한가</a:t>
            </a:r>
            <a:endParaRPr lang="ko-KR" altLang="en-US" sz="1500" dirty="0"/>
          </a:p>
        </p:txBody>
      </p:sp>
      <p:sp>
        <p:nvSpPr>
          <p:cNvPr id="10" name="Text 7"/>
          <p:cNvSpPr txBox="1"/>
          <p:nvPr/>
        </p:nvSpPr>
        <p:spPr>
          <a:xfrm>
            <a:off x="777240" y="3291840"/>
            <a:ext cx="1691640"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이벤트 루프, 이벤트 버스, 오디오의 세 문제</a:t>
            </a:r>
            <a:endParaRPr lang="ko-KR" altLang="en-US" sz="1300" dirty="0"/>
          </a:p>
        </p:txBody>
      </p:sp>
      <p:sp>
        <p:nvSpPr>
          <p:cNvPr id="11" name="Shape 8"/>
          <p:cNvSpPr/>
          <p:nvPr/>
        </p:nvSpPr>
        <p:spPr>
          <a:xfrm>
            <a:off x="2651760" y="2971800"/>
            <a:ext cx="110414" cy="914"/>
          </a:xfrm>
          <a:prstGeom prst="line">
            <a:avLst/>
          </a:prstGeom>
          <a:noFill/>
          <a:ln w="22225">
            <a:solidFill>
              <a:schemeClr val="accent3"/>
            </a:solidFill>
            <a:prstDash val="solid"/>
            <a:tailEnd type="triangle"/>
          </a:ln>
        </p:spPr>
      </p:sp>
      <p:sp>
        <p:nvSpPr>
          <p:cNvPr id="12" name="card"/>
          <p:cNvSpPr/>
          <p:nvPr/>
        </p:nvSpPr>
        <p:spPr>
          <a:xfrm>
            <a:off x="2807894" y="1828800"/>
            <a:ext cx="2057400" cy="2286000"/>
          </a:xfrm>
          <a:prstGeom prst="roundRect">
            <a:avLst>
              <a:gd name="adj" fmla="val 4444"/>
            </a:avLst>
          </a:prstGeom>
          <a:solidFill>
            <a:schemeClr val="bg2"/>
          </a:solidFill>
          <a:ln w="12700">
            <a:solidFill>
              <a:schemeClr val="bg2"/>
            </a:solidFill>
            <a:prstDash val="solid"/>
          </a:ln>
        </p:spPr>
      </p:sp>
      <p:sp>
        <p:nvSpPr>
          <p:cNvPr id="13" name="Shape 10"/>
          <p:cNvSpPr/>
          <p:nvPr/>
        </p:nvSpPr>
        <p:spPr>
          <a:xfrm>
            <a:off x="3036494" y="202996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3036494"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3036494"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배열에서</a:t>
            </a:r>
            <a:endParaRPr lang="ko-KR" altLang="en-US" sz="1500" dirty="0"/>
          </a:p>
          <a:p>
            <a:pPr indent="0" marL="0" eaLnBrk="0">
              <a:buNone/>
            </a:pPr>
            <a:r>
              <a:rPr lang="ko-KR" altLang="en-US" sz="1500" b="1" dirty="0">
                <a:solidFill>
                  <a:schemeClr val="tx1"/>
                </a:solidFill>
              </a:rPr>
              <a:t>원형 버퍼로</a:t>
            </a:r>
            <a:endParaRPr lang="ko-KR" altLang="en-US" sz="1500" dirty="0"/>
          </a:p>
        </p:txBody>
      </p:sp>
      <p:sp>
        <p:nvSpPr>
          <p:cNvPr id="16" name="Text 13"/>
          <p:cNvSpPr txBox="1"/>
          <p:nvPr/>
        </p:nvSpPr>
        <p:spPr>
          <a:xfrm>
            <a:off x="3036494" y="3291840"/>
            <a:ext cx="1691640"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head, tail, 나머지 연산</a:t>
            </a:r>
            <a:endParaRPr lang="ko-KR" altLang="en-US" sz="1300" dirty="0"/>
          </a:p>
        </p:txBody>
      </p:sp>
      <p:sp>
        <p:nvSpPr>
          <p:cNvPr id="17" name="Shape 14"/>
          <p:cNvSpPr/>
          <p:nvPr/>
        </p:nvSpPr>
        <p:spPr>
          <a:xfrm>
            <a:off x="4911014" y="2971800"/>
            <a:ext cx="110414" cy="914"/>
          </a:xfrm>
          <a:prstGeom prst="line">
            <a:avLst/>
          </a:prstGeom>
          <a:noFill/>
          <a:ln w="22225">
            <a:solidFill>
              <a:schemeClr val="accent3"/>
            </a:solidFill>
            <a:prstDash val="solid"/>
            <a:tailEnd type="triangle"/>
          </a:ln>
        </p:spPr>
      </p:sp>
      <p:sp>
        <p:nvSpPr>
          <p:cNvPr id="18" name="card"/>
          <p:cNvSpPr/>
          <p:nvPr/>
        </p:nvSpPr>
        <p:spPr>
          <a:xfrm>
            <a:off x="5067148" y="1828800"/>
            <a:ext cx="2057400" cy="228600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5295748" y="20299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5295748"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5295748"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합치기와 스레드</a:t>
            </a:r>
            <a:endParaRPr lang="ko-KR" altLang="en-US" sz="1500" dirty="0"/>
          </a:p>
        </p:txBody>
      </p:sp>
      <p:sp>
        <p:nvSpPr>
          <p:cNvPr id="22" name="Text 19"/>
          <p:cNvSpPr txBox="1"/>
          <p:nvPr/>
        </p:nvSpPr>
        <p:spPr>
          <a:xfrm>
            <a:off x="5295748" y="3291840"/>
            <a:ext cx="1691640"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큐가 있어서 풀리는 문제</a:t>
            </a:r>
            <a:endParaRPr lang="ko-KR" altLang="en-US" sz="1300" dirty="0"/>
          </a:p>
        </p:txBody>
      </p:sp>
      <p:sp>
        <p:nvSpPr>
          <p:cNvPr id="23" name="Shape 20"/>
          <p:cNvSpPr/>
          <p:nvPr/>
        </p:nvSpPr>
        <p:spPr>
          <a:xfrm>
            <a:off x="7170268" y="2971800"/>
            <a:ext cx="110414" cy="914"/>
          </a:xfrm>
          <a:prstGeom prst="line">
            <a:avLst/>
          </a:prstGeom>
          <a:noFill/>
          <a:ln w="22225">
            <a:solidFill>
              <a:schemeClr val="accent3"/>
            </a:solidFill>
            <a:prstDash val="solid"/>
            <a:tailEnd type="triangle"/>
          </a:ln>
        </p:spPr>
      </p:sp>
      <p:sp>
        <p:nvSpPr>
          <p:cNvPr id="24" name="card"/>
          <p:cNvSpPr/>
          <p:nvPr/>
        </p:nvSpPr>
        <p:spPr>
          <a:xfrm>
            <a:off x="7326401" y="1828800"/>
            <a:ext cx="2057400" cy="2286000"/>
          </a:xfrm>
          <a:prstGeom prst="roundRect">
            <a:avLst>
              <a:gd name="adj" fmla="val 4444"/>
            </a:avLst>
          </a:prstGeom>
          <a:solidFill>
            <a:schemeClr val="bg2"/>
          </a:solidFill>
          <a:ln w="12700">
            <a:solidFill>
              <a:schemeClr val="bg2"/>
            </a:solidFill>
            <a:prstDash val="solid"/>
          </a:ln>
        </p:spPr>
      </p:sp>
      <p:sp>
        <p:nvSpPr>
          <p:cNvPr id="25" name="Shape 22"/>
          <p:cNvSpPr/>
          <p:nvPr/>
        </p:nvSpPr>
        <p:spPr>
          <a:xfrm>
            <a:off x="7555001" y="20299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7555001"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555001"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설계 결정</a:t>
            </a:r>
            <a:endParaRPr lang="ko-KR" altLang="en-US" sz="1500" dirty="0"/>
          </a:p>
        </p:txBody>
      </p:sp>
      <p:sp>
        <p:nvSpPr>
          <p:cNvPr id="28" name="Text 25"/>
          <p:cNvSpPr txBox="1"/>
          <p:nvPr/>
        </p:nvSpPr>
        <p:spPr>
          <a:xfrm>
            <a:off x="7555001" y="3291840"/>
            <a:ext cx="1691640"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무엇을 넣고, 누가 읽고, 누가 쓰나</a:t>
            </a:r>
            <a:endParaRPr lang="ko-KR" altLang="en-US" sz="1300" dirty="0"/>
          </a:p>
        </p:txBody>
      </p:sp>
      <p:sp>
        <p:nvSpPr>
          <p:cNvPr id="29" name="Shape 26"/>
          <p:cNvSpPr/>
          <p:nvPr/>
        </p:nvSpPr>
        <p:spPr>
          <a:xfrm>
            <a:off x="9429521" y="2971800"/>
            <a:ext cx="110414" cy="914"/>
          </a:xfrm>
          <a:prstGeom prst="line">
            <a:avLst/>
          </a:prstGeom>
          <a:noFill/>
          <a:ln w="22225">
            <a:solidFill>
              <a:schemeClr val="accent3"/>
            </a:solidFill>
            <a:prstDash val="solid"/>
            <a:tailEnd type="triangle"/>
          </a:ln>
        </p:spPr>
      </p:sp>
      <p:sp>
        <p:nvSpPr>
          <p:cNvPr id="30" name="card"/>
          <p:cNvSpPr/>
          <p:nvPr/>
        </p:nvSpPr>
        <p:spPr>
          <a:xfrm>
            <a:off x="9585655" y="1828800"/>
            <a:ext cx="2057400" cy="2286000"/>
          </a:xfrm>
          <a:prstGeom prst="roundRect">
            <a:avLst>
              <a:gd name="adj" fmla="val 4444"/>
            </a:avLst>
          </a:prstGeom>
          <a:solidFill>
            <a:schemeClr val="bg2"/>
          </a:solidFill>
          <a:ln w="12700">
            <a:solidFill>
              <a:schemeClr val="bg2"/>
            </a:solidFill>
            <a:prstDash val="solid"/>
          </a:ln>
        </p:spPr>
      </p:sp>
      <p:sp>
        <p:nvSpPr>
          <p:cNvPr id="31" name="Shape 28"/>
          <p:cNvSpPr/>
          <p:nvPr/>
        </p:nvSpPr>
        <p:spPr>
          <a:xfrm>
            <a:off x="9814255" y="202996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9814255"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5</a:t>
            </a:r>
            <a:endParaRPr lang="ko-KR" altLang="en-US" sz="1500" dirty="0"/>
          </a:p>
        </p:txBody>
      </p:sp>
      <p:sp>
        <p:nvSpPr>
          <p:cNvPr id="33" name="Text 30"/>
          <p:cNvSpPr txBox="1"/>
          <p:nvPr/>
        </p:nvSpPr>
        <p:spPr>
          <a:xfrm>
            <a:off x="9814255"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쓸 때와 주의점</a:t>
            </a:r>
            <a:endParaRPr lang="ko-KR" altLang="en-US" sz="1500" dirty="0"/>
          </a:p>
        </p:txBody>
      </p:sp>
      <p:sp>
        <p:nvSpPr>
          <p:cNvPr id="34" name="Text 31"/>
          <p:cNvSpPr txBox="1"/>
          <p:nvPr/>
        </p:nvSpPr>
        <p:spPr>
          <a:xfrm>
            <a:off x="9814255" y="3291840"/>
            <a:ext cx="1691640"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피드백 루프, 관련 패턴, Unity 대응</a:t>
            </a:r>
            <a:endParaRPr lang="ko-KR" altLang="en-US" sz="1300" dirty="0"/>
          </a:p>
        </p:txBody>
      </p:sp>
      <p:sp>
        <p:nvSpPr>
          <p:cNvPr id="35" name="Text 32"/>
          <p:cNvSpPr txBox="1"/>
          <p:nvPr/>
        </p:nvSpPr>
        <p:spPr>
          <a:xfrm>
            <a:off x="548640" y="4526280"/>
            <a:ext cx="11094415" cy="548640"/>
          </a:xfrm>
          <a:prstGeom prst="rect">
            <a:avLst/>
          </a:prstGeom>
          <a:noFill/>
          <a:ln/>
        </p:spPr>
        <p:txBody>
          <a:bodyPr wrap="square" lIns="0" tIns="0" rIns="0" bIns="0" rtlCol="0" anchor="t"/>
          <a:lstStyle/>
          <a:p>
            <a:pPr indent="0" marL="0" eaLnBrk="0">
              <a:buNone/>
            </a:pPr>
            <a:r>
              <a:rPr lang="ko-KR" altLang="en-US" sz="1600" dirty="0">
                <a:solidFill>
                  <a:schemeClr val="tx2"/>
                </a:solidFill>
              </a:rPr>
              <a:t>오늘 예제는 원서와 같다: 메뉴를 고를 때와 적이 맞을 때 소리를 내는 작은 오디오 엔진.</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이벤트 큐는 보내는 때와 처리하는 때를 떼어 놓는다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이런 큐는 이미 어디에서 쓰이고 있을까?</a:t>
            </a:r>
            <a:endParaRPr lang="ko-KR" altLang="en-US" sz="1500" dirty="0"/>
          </a:p>
        </p:txBody>
      </p:sp>
      <p:sp>
        <p:nvSpPr>
          <p:cNvPr id="6" name="box"/>
          <p:cNvSpPr/>
          <p:nvPr/>
        </p:nvSpPr>
        <p:spPr>
          <a:xfrm>
            <a:off x="548640" y="2011680"/>
            <a:ext cx="2651760" cy="1188720"/>
          </a:xfrm>
          <a:prstGeom prst="roundRect">
            <a:avLst>
              <a:gd name="adj" fmla="val 6154"/>
            </a:avLst>
          </a:prstGeom>
          <a:solidFill>
            <a:schemeClr val="accent2"/>
          </a:solidFill>
          <a:ln w="12700">
            <a:solidFill>
              <a:schemeClr val="accent2"/>
            </a:solidFill>
            <a:prstDash val="solid"/>
          </a:ln>
        </p:spPr>
      </p:sp>
      <p:sp>
        <p:nvSpPr>
          <p:cNvPr id="7" name="Text 4"/>
          <p:cNvSpPr txBox="1"/>
          <p:nvPr/>
        </p:nvSpPr>
        <p:spPr>
          <a:xfrm>
            <a:off x="548640" y="2011680"/>
            <a:ext cx="2651760" cy="118872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보내는 쪽</a:t>
            </a:r>
            <a:endParaRPr lang="ko-KR" altLang="en-US" sz="1600" dirty="0"/>
          </a:p>
          <a:p>
            <a:pPr algn="ctr" indent="0" marL="0" eaLnBrk="0">
              <a:buNone/>
            </a:pPr>
            <a:r>
              <a:rPr lang="ko-KR" altLang="en-US" sz="1600" b="1" dirty="0">
                <a:solidFill>
                  <a:schemeClr val="bg1"/>
                </a:solidFill>
              </a:rPr>
              <a:t>넣고 바로 돌아간다</a:t>
            </a:r>
            <a:endParaRPr lang="ko-KR" altLang="en-US" sz="1600" dirty="0"/>
          </a:p>
        </p:txBody>
      </p:sp>
      <p:sp>
        <p:nvSpPr>
          <p:cNvPr id="8" name="Shape 5"/>
          <p:cNvSpPr/>
          <p:nvPr/>
        </p:nvSpPr>
        <p:spPr>
          <a:xfrm>
            <a:off x="3840480" y="1828800"/>
            <a:ext cx="4480560" cy="1554480"/>
          </a:xfrm>
          <a:prstGeom prst="roundRect">
            <a:avLst>
              <a:gd name="adj" fmla="val 4706"/>
            </a:avLst>
          </a:prstGeom>
          <a:solidFill>
            <a:schemeClr val="bg2"/>
          </a:solidFill>
          <a:ln w="12700">
            <a:solidFill>
              <a:schemeClr val="accent3"/>
            </a:solidFill>
            <a:prstDash val="solid"/>
          </a:ln>
        </p:spPr>
      </p:sp>
      <p:sp>
        <p:nvSpPr>
          <p:cNvPr id="9" name="Text 6"/>
          <p:cNvSpPr txBox="1"/>
          <p:nvPr/>
        </p:nvSpPr>
        <p:spPr>
          <a:xfrm>
            <a:off x="4023360" y="1892808"/>
            <a:ext cx="4114800" cy="32004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큐: 먼저 들어온 것이 먼저 나간다</a:t>
            </a:r>
            <a:endParaRPr lang="ko-KR" altLang="en-US" sz="1300" dirty="0"/>
          </a:p>
        </p:txBody>
      </p:sp>
      <p:sp>
        <p:nvSpPr>
          <p:cNvPr id="10" name="box"/>
          <p:cNvSpPr/>
          <p:nvPr/>
        </p:nvSpPr>
        <p:spPr>
          <a:xfrm>
            <a:off x="4114800" y="2377440"/>
            <a:ext cx="1188720" cy="731520"/>
          </a:xfrm>
          <a:prstGeom prst="roundRect">
            <a:avLst>
              <a:gd name="adj" fmla="val 10000"/>
            </a:avLst>
          </a:prstGeom>
          <a:solidFill>
            <a:schemeClr val="accent1"/>
          </a:solidFill>
          <a:ln w="12700">
            <a:solidFill>
              <a:schemeClr val="accent1"/>
            </a:solidFill>
            <a:prstDash val="solid"/>
          </a:ln>
        </p:spPr>
      </p:sp>
      <p:sp>
        <p:nvSpPr>
          <p:cNvPr id="11" name="Text 8"/>
          <p:cNvSpPr txBox="1"/>
          <p:nvPr/>
        </p:nvSpPr>
        <p:spPr>
          <a:xfrm>
            <a:off x="4114800" y="2377440"/>
            <a:ext cx="1188720" cy="7315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요청 3</a:t>
            </a:r>
            <a:endParaRPr lang="ko-KR" altLang="en-US" sz="1400" dirty="0"/>
          </a:p>
        </p:txBody>
      </p:sp>
      <p:sp>
        <p:nvSpPr>
          <p:cNvPr id="12" name="box"/>
          <p:cNvSpPr/>
          <p:nvPr/>
        </p:nvSpPr>
        <p:spPr>
          <a:xfrm>
            <a:off x="5486400" y="2377440"/>
            <a:ext cx="1188720" cy="731520"/>
          </a:xfrm>
          <a:prstGeom prst="roundRect">
            <a:avLst>
              <a:gd name="adj" fmla="val 10000"/>
            </a:avLst>
          </a:prstGeom>
          <a:solidFill>
            <a:schemeClr val="accent1"/>
          </a:solidFill>
          <a:ln w="12700">
            <a:solidFill>
              <a:schemeClr val="accent1"/>
            </a:solidFill>
            <a:prstDash val="solid"/>
          </a:ln>
        </p:spPr>
      </p:sp>
      <p:sp>
        <p:nvSpPr>
          <p:cNvPr id="13" name="Text 10"/>
          <p:cNvSpPr txBox="1"/>
          <p:nvPr/>
        </p:nvSpPr>
        <p:spPr>
          <a:xfrm>
            <a:off x="5486400" y="2377440"/>
            <a:ext cx="1188720" cy="7315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요청 2</a:t>
            </a:r>
            <a:endParaRPr lang="ko-KR" altLang="en-US" sz="1400" dirty="0"/>
          </a:p>
        </p:txBody>
      </p:sp>
      <p:sp>
        <p:nvSpPr>
          <p:cNvPr id="14" name="box"/>
          <p:cNvSpPr/>
          <p:nvPr/>
        </p:nvSpPr>
        <p:spPr>
          <a:xfrm>
            <a:off x="6858000" y="2377440"/>
            <a:ext cx="1188720" cy="731520"/>
          </a:xfrm>
          <a:prstGeom prst="roundRect">
            <a:avLst>
              <a:gd name="adj" fmla="val 10000"/>
            </a:avLst>
          </a:prstGeom>
          <a:solidFill>
            <a:schemeClr val="accent1"/>
          </a:solidFill>
          <a:ln w="12700">
            <a:solidFill>
              <a:schemeClr val="accent1"/>
            </a:solidFill>
            <a:prstDash val="solid"/>
          </a:ln>
        </p:spPr>
      </p:sp>
      <p:sp>
        <p:nvSpPr>
          <p:cNvPr id="15" name="Text 12"/>
          <p:cNvSpPr txBox="1"/>
          <p:nvPr/>
        </p:nvSpPr>
        <p:spPr>
          <a:xfrm>
            <a:off x="6858000" y="2377440"/>
            <a:ext cx="1188720" cy="7315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요청 1</a:t>
            </a:r>
            <a:endParaRPr lang="ko-KR" altLang="en-US" sz="1400" dirty="0"/>
          </a:p>
        </p:txBody>
      </p:sp>
      <p:sp>
        <p:nvSpPr>
          <p:cNvPr id="16" name="box"/>
          <p:cNvSpPr/>
          <p:nvPr/>
        </p:nvSpPr>
        <p:spPr>
          <a:xfrm>
            <a:off x="8961120" y="2011680"/>
            <a:ext cx="2681935" cy="1188720"/>
          </a:xfrm>
          <a:prstGeom prst="roundRect">
            <a:avLst>
              <a:gd name="adj" fmla="val 6154"/>
            </a:avLst>
          </a:prstGeom>
          <a:solidFill>
            <a:schemeClr val="bg2"/>
          </a:solidFill>
          <a:ln w="12700">
            <a:solidFill>
              <a:schemeClr val="bg2"/>
            </a:solidFill>
            <a:prstDash val="solid"/>
          </a:ln>
        </p:spPr>
      </p:sp>
      <p:sp>
        <p:nvSpPr>
          <p:cNvPr id="17" name="Text 14"/>
          <p:cNvSpPr txBox="1"/>
          <p:nvPr/>
        </p:nvSpPr>
        <p:spPr>
          <a:xfrm>
            <a:off x="8961120" y="2011680"/>
            <a:ext cx="2681935" cy="1188720"/>
          </a:xfrm>
          <a:prstGeom prst="rect">
            <a:avLst/>
          </a:prstGeom>
          <a:noFill/>
          <a:ln/>
        </p:spPr>
        <p:txBody>
          <a:bodyPr wrap="square" lIns="635" tIns="635" rIns="635" bIns="635" rtlCol="0" anchor="ctr"/>
          <a:lstStyle/>
          <a:p>
            <a:pPr algn="ctr" indent="0" marL="0" eaLnBrk="0">
              <a:buNone/>
            </a:pPr>
            <a:r>
              <a:rPr lang="ko-KR" altLang="en-US" sz="1600" b="1" dirty="0">
                <a:solidFill>
                  <a:schemeClr val="tx1"/>
                </a:solidFill>
              </a:rPr>
              <a:t>처리하는 쪽</a:t>
            </a:r>
            <a:endParaRPr lang="ko-KR" altLang="en-US" sz="1600" dirty="0"/>
          </a:p>
          <a:p>
            <a:pPr algn="ctr" indent="0" marL="0" eaLnBrk="0">
              <a:buNone/>
            </a:pPr>
            <a:r>
              <a:rPr lang="ko-KR" altLang="en-US" sz="1600" b="1" dirty="0">
                <a:solidFill>
                  <a:schemeClr val="tx1"/>
                </a:solidFill>
              </a:rPr>
              <a:t>편한 때 꺼낸다</a:t>
            </a:r>
            <a:endParaRPr lang="ko-KR" altLang="en-US" sz="1600" dirty="0"/>
          </a:p>
        </p:txBody>
      </p:sp>
      <p:sp>
        <p:nvSpPr>
          <p:cNvPr id="18" name="Shape 15"/>
          <p:cNvSpPr/>
          <p:nvPr/>
        </p:nvSpPr>
        <p:spPr>
          <a:xfrm>
            <a:off x="3246120" y="2606040"/>
            <a:ext cx="548640" cy="914"/>
          </a:xfrm>
          <a:prstGeom prst="line">
            <a:avLst/>
          </a:prstGeom>
          <a:noFill/>
          <a:ln w="22225">
            <a:solidFill>
              <a:schemeClr val="accent3"/>
            </a:solidFill>
            <a:prstDash val="solid"/>
            <a:tailEnd type="triangle"/>
          </a:ln>
        </p:spPr>
      </p:sp>
      <p:sp>
        <p:nvSpPr>
          <p:cNvPr id="19" name="Shape 16"/>
          <p:cNvSpPr/>
          <p:nvPr/>
        </p:nvSpPr>
        <p:spPr>
          <a:xfrm>
            <a:off x="8366760" y="2606040"/>
            <a:ext cx="548640" cy="914"/>
          </a:xfrm>
          <a:prstGeom prst="line">
            <a:avLst/>
          </a:prstGeom>
          <a:noFill/>
          <a:ln w="22225">
            <a:solidFill>
              <a:schemeClr val="accent3"/>
            </a:solidFill>
            <a:prstDash val="solid"/>
            <a:tailEnd type="triangle"/>
          </a:ln>
        </p:spPr>
      </p:sp>
      <p:sp>
        <p:nvSpPr>
          <p:cNvPr id="20" name="Text 17"/>
          <p:cNvSpPr txBox="1"/>
          <p:nvPr/>
        </p:nvSpPr>
        <p:spPr>
          <a:xfrm>
            <a:off x="548640" y="3337560"/>
            <a:ext cx="2651760" cy="320040"/>
          </a:xfrm>
          <a:prstGeom prst="rect">
            <a:avLst/>
          </a:prstGeom>
          <a:noFill/>
          <a:ln/>
        </p:spPr>
        <p:txBody>
          <a:bodyPr wrap="square" lIns="0" tIns="0" rIns="0" bIns="0" rtlCol="0" anchor="t"/>
          <a:lstStyle/>
          <a:p>
            <a:pPr algn="ctr" indent="0" marL="0" eaLnBrk="0">
              <a:buNone/>
            </a:pPr>
            <a:r>
              <a:rPr lang="ko-KR" altLang="en-US" sz="1300" b="1" dirty="0">
                <a:solidFill>
                  <a:schemeClr val="accent5"/>
                </a:solidFill>
              </a:rPr>
              <a:t>넣는 때</a:t>
            </a:r>
            <a:endParaRPr lang="ko-KR" altLang="en-US" sz="1300" dirty="0"/>
          </a:p>
        </p:txBody>
      </p:sp>
      <p:sp>
        <p:nvSpPr>
          <p:cNvPr id="21" name="Text 18"/>
          <p:cNvSpPr txBox="1"/>
          <p:nvPr/>
        </p:nvSpPr>
        <p:spPr>
          <a:xfrm>
            <a:off x="8961120" y="3337560"/>
            <a:ext cx="2681935" cy="320040"/>
          </a:xfrm>
          <a:prstGeom prst="rect">
            <a:avLst/>
          </a:prstGeom>
          <a:noFill/>
          <a:ln/>
        </p:spPr>
        <p:txBody>
          <a:bodyPr wrap="square" lIns="0" tIns="0" rIns="0" bIns="0" rtlCol="0" anchor="t"/>
          <a:lstStyle/>
          <a:p>
            <a:pPr algn="ctr" indent="0" marL="0" eaLnBrk="0">
              <a:buNone/>
            </a:pPr>
            <a:r>
              <a:rPr lang="ko-KR" altLang="en-US" sz="1300" b="1" dirty="0">
                <a:solidFill>
                  <a:schemeClr val="accent5"/>
                </a:solidFill>
              </a:rPr>
              <a:t>꺼내는 때</a:t>
            </a:r>
            <a:endParaRPr lang="ko-KR" altLang="en-US" sz="1300" dirty="0"/>
          </a:p>
        </p:txBody>
      </p:sp>
      <p:sp>
        <p:nvSpPr>
          <p:cNvPr id="22" name="box"/>
          <p:cNvSpPr/>
          <p:nvPr/>
        </p:nvSpPr>
        <p:spPr>
          <a:xfrm>
            <a:off x="548640" y="4160520"/>
            <a:ext cx="11094415" cy="1280160"/>
          </a:xfrm>
          <a:prstGeom prst="roundRect">
            <a:avLst>
              <a:gd name="adj" fmla="val 5714"/>
            </a:avLst>
          </a:prstGeom>
          <a:solidFill>
            <a:schemeClr val="tx2"/>
          </a:solidFill>
          <a:ln w="12700">
            <a:solidFill>
              <a:schemeClr val="tx2"/>
            </a:solidFill>
            <a:prstDash val="solid"/>
          </a:ln>
        </p:spPr>
      </p:sp>
      <p:sp>
        <p:nvSpPr>
          <p:cNvPr id="23" name="Text 20"/>
          <p:cNvSpPr txBox="1"/>
          <p:nvPr/>
        </p:nvSpPr>
        <p:spPr>
          <a:xfrm>
            <a:off x="548640" y="4160520"/>
            <a:ext cx="11094415" cy="128016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의도: 메시지나 이벤트를 보내는 시점과 처리하는 시점을 분리한다.</a:t>
            </a:r>
            <a:endParaRPr lang="ko-KR" altLang="en-US" sz="1700" dirty="0"/>
          </a:p>
          <a:p>
            <a:pPr algn="ctr" indent="0" marL="0" eaLnBrk="0">
              <a:buNone/>
            </a:pPr>
            <a:r>
              <a:rPr lang="ko-KR" altLang="en-US" sz="1700" dirty="0">
                <a:solidFill>
                  <a:schemeClr val="bg1"/>
                </a:solidFill>
              </a:rPr>
              <a:t>보내는 쪽과 받는 쪽이 코드에서도, 시간에서도 떨어진다.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1부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왜 큐가 필요한가</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동기 (GUI 이벤트 루프, 중앙 이벤트 버스, 오디오 예제)</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GUI 이벤트 루프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GUI 프로그램은 운영체제가 쌓아 둔 입력을 꺼내 처리한다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게임 안에서도 시스템끼리 이런 큐를 쓸 수 있을까?</a:t>
            </a:r>
            <a:endParaRPr lang="ko-KR" altLang="en-US" sz="1500" dirty="0"/>
          </a:p>
        </p:txBody>
      </p:sp>
      <p:sp>
        <p:nvSpPr>
          <p:cNvPr id="6" name="codePanel"/>
          <p:cNvSpPr/>
          <p:nvPr/>
        </p:nvSpPr>
        <p:spPr>
          <a:xfrm>
            <a:off x="548640" y="1691640"/>
            <a:ext cx="5760720" cy="2103120"/>
          </a:xfrm>
          <a:prstGeom prst="roundRect">
            <a:avLst>
              <a:gd name="adj" fmla="val 3478"/>
            </a:avLst>
          </a:prstGeom>
          <a:solidFill>
            <a:schemeClr val="tx1"/>
          </a:solidFill>
          <a:ln w="12700">
            <a:solidFill>
              <a:schemeClr val="tx1"/>
            </a:solidFill>
            <a:prstDash val="solid"/>
          </a:ln>
        </p:spPr>
      </p:sp>
      <p:sp>
        <p:nvSpPr>
          <p:cNvPr id="7" name="code"/>
          <p:cNvSpPr txBox="1"/>
          <p:nvPr/>
        </p:nvSpPr>
        <p:spPr>
          <a:xfrm>
            <a:off x="658368" y="1783080"/>
            <a:ext cx="5541264" cy="1920240"/>
          </a:xfrm>
          <a:prstGeom prst="rect">
            <a:avLst/>
          </a:prstGeom>
          <a:noFill/>
          <a:ln/>
        </p:spPr>
        <p:txBody>
          <a:bodyPr wrap="square" lIns="635" tIns="635" rIns="635" bIns="635" rtlCol="0" anchor="t"/>
          <a:lstStyle/>
          <a:p>
            <a:pPr indent="0" marL="0" eaLnBrk="0">
              <a:buNone/>
            </a:pPr>
            <a:r>
              <a:rPr lang="ko-KR" altLang="en-US" sz="1500" dirty="0">
                <a:solidFill>
                  <a:schemeClr val="accent3"/>
                </a:solidFill>
                <a:latin typeface="Consolas" pitchFamily="34" charset="0"/>
                <a:ea typeface="Consolas" pitchFamily="34" charset="-122"/>
                <a:cs typeface="Consolas" pitchFamily="34" charset="-120"/>
              </a:rPr>
              <a:t>// GUI 프로그램 깊은 곳의 이벤트 루프</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while (running)</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a:t>
            </a:r>
            <a:endParaRPr lang="ko-KR" altLang="en-US" sz="1500" dirty="0"/>
          </a:p>
          <a:p>
            <a:pPr indent="0" marL="0" eaLnBrk="0">
              <a:buNone/>
            </a:pPr>
            <a:r>
              <a:rPr lang="ko-KR" altLang="en-US" sz="1500" b="1" dirty="0">
                <a:solidFill>
                  <a:schemeClr val="accent4"/>
                </a:solidFill>
                <a:latin typeface="Consolas" pitchFamily="34" charset="0"/>
                <a:ea typeface="Consolas" pitchFamily="34" charset="-122"/>
                <a:cs typeface="Consolas" pitchFamily="34" charset="-120"/>
              </a:rPr>
              <a:t>    Event evt = GetNextEvent();</a:t>
            </a:r>
            <a:endParaRPr lang="ko-KR" altLang="en-US" sz="1500" dirty="0"/>
          </a:p>
          <a:p>
            <a:pPr indent="0" marL="0" eaLnBrk="0">
              <a:buNone/>
            </a:pPr>
            <a:r>
              <a:rPr lang="ko-KR" altLang="en-US" sz="1500" dirty="0">
                <a:solidFill>
                  <a:schemeClr val="accent3"/>
                </a:solidFill>
                <a:latin typeface="Consolas" pitchFamily="34" charset="0"/>
                <a:ea typeface="Consolas" pitchFamily="34" charset="-122"/>
                <a:cs typeface="Consolas" pitchFamily="34" charset="-120"/>
              </a:rPr>
              <a:t>    // 이벤트를 처리한다...</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a:t>
            </a:r>
            <a:endParaRPr lang="ko-KR" altLang="en-US" sz="1500" dirty="0"/>
          </a:p>
        </p:txBody>
      </p:sp>
      <p:sp>
        <p:nvSpPr>
          <p:cNvPr id="8" name="codeCaption"/>
          <p:cNvSpPr txBox="1"/>
          <p:nvPr/>
        </p:nvSpPr>
        <p:spPr>
          <a:xfrm>
            <a:off x="3200400" y="178308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box"/>
          <p:cNvSpPr/>
          <p:nvPr/>
        </p:nvSpPr>
        <p:spPr>
          <a:xfrm>
            <a:off x="6766560" y="1691640"/>
            <a:ext cx="4876495" cy="640080"/>
          </a:xfrm>
          <a:prstGeom prst="roundRect">
            <a:avLst>
              <a:gd name="adj" fmla="val 11429"/>
            </a:avLst>
          </a:prstGeom>
          <a:solidFill>
            <a:schemeClr val="accent2"/>
          </a:solidFill>
          <a:ln w="12700">
            <a:solidFill>
              <a:schemeClr val="accent2"/>
            </a:solidFill>
            <a:prstDash val="solid"/>
          </a:ln>
        </p:spPr>
      </p:sp>
      <p:sp>
        <p:nvSpPr>
          <p:cNvPr id="10" name="Text 7"/>
          <p:cNvSpPr txBox="1"/>
          <p:nvPr/>
        </p:nvSpPr>
        <p:spPr>
          <a:xfrm>
            <a:off x="6766560" y="1691640"/>
            <a:ext cx="4876495" cy="64008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사용자 입력: 클릭, 키, 메뉴</a:t>
            </a:r>
            <a:endParaRPr lang="ko-KR" altLang="en-US" sz="1500" dirty="0"/>
          </a:p>
        </p:txBody>
      </p:sp>
      <p:sp>
        <p:nvSpPr>
          <p:cNvPr id="11" name="Shape 8"/>
          <p:cNvSpPr/>
          <p:nvPr/>
        </p:nvSpPr>
        <p:spPr>
          <a:xfrm>
            <a:off x="9204808" y="2377440"/>
            <a:ext cx="914" cy="320040"/>
          </a:xfrm>
          <a:prstGeom prst="line">
            <a:avLst/>
          </a:prstGeom>
          <a:noFill/>
          <a:ln w="22225">
            <a:solidFill>
              <a:schemeClr val="accent3"/>
            </a:solidFill>
            <a:prstDash val="solid"/>
            <a:tailEnd type="triangle"/>
          </a:ln>
        </p:spPr>
      </p:sp>
      <p:sp>
        <p:nvSpPr>
          <p:cNvPr id="12" name="Shape 9"/>
          <p:cNvSpPr/>
          <p:nvPr/>
        </p:nvSpPr>
        <p:spPr>
          <a:xfrm>
            <a:off x="6766560" y="2743200"/>
            <a:ext cx="4876495" cy="914400"/>
          </a:xfrm>
          <a:prstGeom prst="roundRect">
            <a:avLst>
              <a:gd name="adj" fmla="val 8000"/>
            </a:avLst>
          </a:prstGeom>
          <a:solidFill>
            <a:schemeClr val="bg2"/>
          </a:solidFill>
          <a:ln w="12700">
            <a:solidFill>
              <a:schemeClr val="accent3"/>
            </a:solidFill>
            <a:prstDash val="solid"/>
          </a:ln>
        </p:spPr>
      </p:sp>
      <p:sp>
        <p:nvSpPr>
          <p:cNvPr id="13" name="Text 10"/>
          <p:cNvSpPr txBox="1"/>
          <p:nvPr/>
        </p:nvSpPr>
        <p:spPr>
          <a:xfrm>
            <a:off x="6903720" y="2788920"/>
            <a:ext cx="1828800" cy="274320"/>
          </a:xfrm>
          <a:prstGeom prst="rect">
            <a:avLst/>
          </a:prstGeom>
          <a:noFill/>
          <a:ln/>
        </p:spPr>
        <p:txBody>
          <a:bodyPr wrap="square" lIns="0" tIns="0" rIns="0" bIns="0" rtlCol="0" anchor="t"/>
          <a:lstStyle/>
          <a:p>
            <a:pPr indent="0" marL="0" eaLnBrk="0">
              <a:buNone/>
            </a:pPr>
            <a:r>
              <a:rPr lang="ko-KR" altLang="en-US" sz="1200" b="1" dirty="0">
                <a:solidFill>
                  <a:schemeClr val="accent5"/>
                </a:solidFill>
              </a:rPr>
              <a:t>운영체제의 큐</a:t>
            </a:r>
            <a:endParaRPr lang="ko-KR" altLang="en-US" sz="1200" dirty="0"/>
          </a:p>
        </p:txBody>
      </p:sp>
      <p:sp>
        <p:nvSpPr>
          <p:cNvPr id="14" name="box"/>
          <p:cNvSpPr/>
          <p:nvPr/>
        </p:nvSpPr>
        <p:spPr>
          <a:xfrm>
            <a:off x="7040880" y="3090672"/>
            <a:ext cx="1234440" cy="457200"/>
          </a:xfrm>
          <a:prstGeom prst="roundRect">
            <a:avLst>
              <a:gd name="adj" fmla="val 16000"/>
            </a:avLst>
          </a:prstGeom>
          <a:solidFill>
            <a:schemeClr val="accent1"/>
          </a:solidFill>
          <a:ln w="12700">
            <a:solidFill>
              <a:schemeClr val="accent1"/>
            </a:solidFill>
            <a:prstDash val="solid"/>
          </a:ln>
        </p:spPr>
      </p:sp>
      <p:sp>
        <p:nvSpPr>
          <p:cNvPr id="15" name="Text 12"/>
          <p:cNvSpPr txBox="1"/>
          <p:nvPr/>
        </p:nvSpPr>
        <p:spPr>
          <a:xfrm>
            <a:off x="7040880" y="3090672"/>
            <a:ext cx="1234440" cy="45720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키</a:t>
            </a:r>
            <a:endParaRPr lang="ko-KR" altLang="en-US" sz="1300" dirty="0"/>
          </a:p>
        </p:txBody>
      </p:sp>
      <p:sp>
        <p:nvSpPr>
          <p:cNvPr id="16" name="box"/>
          <p:cNvSpPr/>
          <p:nvPr/>
        </p:nvSpPr>
        <p:spPr>
          <a:xfrm>
            <a:off x="8458200" y="3090672"/>
            <a:ext cx="1234440" cy="457200"/>
          </a:xfrm>
          <a:prstGeom prst="roundRect">
            <a:avLst>
              <a:gd name="adj" fmla="val 16000"/>
            </a:avLst>
          </a:prstGeom>
          <a:solidFill>
            <a:schemeClr val="accent1"/>
          </a:solidFill>
          <a:ln w="12700">
            <a:solidFill>
              <a:schemeClr val="accent1"/>
            </a:solidFill>
            <a:prstDash val="solid"/>
          </a:ln>
        </p:spPr>
      </p:sp>
      <p:sp>
        <p:nvSpPr>
          <p:cNvPr id="17" name="Text 14"/>
          <p:cNvSpPr txBox="1"/>
          <p:nvPr/>
        </p:nvSpPr>
        <p:spPr>
          <a:xfrm>
            <a:off x="8458200" y="3090672"/>
            <a:ext cx="1234440" cy="45720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메뉴</a:t>
            </a:r>
            <a:endParaRPr lang="ko-KR" altLang="en-US" sz="1300" dirty="0"/>
          </a:p>
        </p:txBody>
      </p:sp>
      <p:sp>
        <p:nvSpPr>
          <p:cNvPr id="18" name="box"/>
          <p:cNvSpPr/>
          <p:nvPr/>
        </p:nvSpPr>
        <p:spPr>
          <a:xfrm>
            <a:off x="9875520" y="3090672"/>
            <a:ext cx="1234440" cy="457200"/>
          </a:xfrm>
          <a:prstGeom prst="roundRect">
            <a:avLst>
              <a:gd name="adj" fmla="val 16000"/>
            </a:avLst>
          </a:prstGeom>
          <a:solidFill>
            <a:schemeClr val="accent1"/>
          </a:solidFill>
          <a:ln w="12700">
            <a:solidFill>
              <a:schemeClr val="accent1"/>
            </a:solidFill>
            <a:prstDash val="solid"/>
          </a:ln>
        </p:spPr>
      </p:sp>
      <p:sp>
        <p:nvSpPr>
          <p:cNvPr id="19" name="Text 16"/>
          <p:cNvSpPr txBox="1"/>
          <p:nvPr/>
        </p:nvSpPr>
        <p:spPr>
          <a:xfrm>
            <a:off x="9875520" y="3090672"/>
            <a:ext cx="1234440" cy="45720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클릭</a:t>
            </a:r>
            <a:endParaRPr lang="ko-KR" altLang="en-US" sz="1300" dirty="0"/>
          </a:p>
        </p:txBody>
      </p:sp>
      <p:sp>
        <p:nvSpPr>
          <p:cNvPr id="20" name="Shape 17"/>
          <p:cNvSpPr/>
          <p:nvPr/>
        </p:nvSpPr>
        <p:spPr>
          <a:xfrm>
            <a:off x="9204808" y="3703320"/>
            <a:ext cx="914" cy="320040"/>
          </a:xfrm>
          <a:prstGeom prst="line">
            <a:avLst/>
          </a:prstGeom>
          <a:noFill/>
          <a:ln w="22225">
            <a:solidFill>
              <a:schemeClr val="accent3"/>
            </a:solidFill>
            <a:prstDash val="solid"/>
            <a:tailEnd type="triangle"/>
          </a:ln>
        </p:spPr>
      </p:sp>
      <p:sp>
        <p:nvSpPr>
          <p:cNvPr id="21" name="box"/>
          <p:cNvSpPr/>
          <p:nvPr/>
        </p:nvSpPr>
        <p:spPr>
          <a:xfrm>
            <a:off x="6766560" y="4069080"/>
            <a:ext cx="4876495" cy="640080"/>
          </a:xfrm>
          <a:prstGeom prst="roundRect">
            <a:avLst>
              <a:gd name="adj" fmla="val 11429"/>
            </a:avLst>
          </a:prstGeom>
          <a:solidFill>
            <a:schemeClr val="bg2"/>
          </a:solidFill>
          <a:ln w="12700">
            <a:solidFill>
              <a:schemeClr val="bg2"/>
            </a:solidFill>
            <a:prstDash val="solid"/>
          </a:ln>
        </p:spPr>
      </p:sp>
      <p:sp>
        <p:nvSpPr>
          <p:cNvPr id="22" name="Text 19"/>
          <p:cNvSpPr txBox="1"/>
          <p:nvPr/>
        </p:nvSpPr>
        <p:spPr>
          <a:xfrm>
            <a:off x="6766560" y="4069080"/>
            <a:ext cx="4876495"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프로그램: GetNextEvent()로 가장 오래된 것을 꺼낸다</a:t>
            </a:r>
            <a:endParaRPr lang="ko-KR" altLang="en-US" sz="1400" dirty="0"/>
          </a:p>
        </p:txBody>
      </p:sp>
      <p:sp>
        <p:nvSpPr>
          <p:cNvPr id="23" name="card"/>
          <p:cNvSpPr/>
          <p:nvPr/>
        </p:nvSpPr>
        <p:spPr>
          <a:xfrm>
            <a:off x="548640" y="4023360"/>
            <a:ext cx="2788920" cy="1691640"/>
          </a:xfrm>
          <a:prstGeom prst="roundRect">
            <a:avLst>
              <a:gd name="adj" fmla="val 5405"/>
            </a:avLst>
          </a:prstGeom>
          <a:solidFill>
            <a:schemeClr val="bg2"/>
          </a:solidFill>
          <a:ln w="12700">
            <a:solidFill>
              <a:schemeClr val="bg2"/>
            </a:solidFill>
            <a:prstDash val="solid"/>
          </a:ln>
        </p:spPr>
      </p:sp>
      <p:sp>
        <p:nvSpPr>
          <p:cNvPr id="24" name="Text 21"/>
          <p:cNvSpPr txBox="1"/>
          <p:nvPr/>
        </p:nvSpPr>
        <p:spPr>
          <a:xfrm>
            <a:off x="777240" y="4242816"/>
            <a:ext cx="23774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끌어오기</a:t>
            </a:r>
            <a:endParaRPr lang="ko-KR" altLang="en-US" sz="1700" dirty="0"/>
          </a:p>
        </p:txBody>
      </p:sp>
      <p:sp>
        <p:nvSpPr>
          <p:cNvPr id="25" name="Text 22"/>
          <p:cNvSpPr txBox="1"/>
          <p:nvPr/>
        </p:nvSpPr>
        <p:spPr>
          <a:xfrm>
            <a:off x="777240" y="4800600"/>
            <a:ext cx="2331720" cy="7772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프로그램이 원할 때 꺼낸다.</a:t>
            </a:r>
            <a:endParaRPr lang="ko-KR" altLang="en-US" sz="1400" dirty="0"/>
          </a:p>
        </p:txBody>
      </p:sp>
      <p:sp>
        <p:nvSpPr>
          <p:cNvPr id="26" name="card"/>
          <p:cNvSpPr/>
          <p:nvPr/>
        </p:nvSpPr>
        <p:spPr>
          <a:xfrm>
            <a:off x="3520440" y="4023360"/>
            <a:ext cx="2788920" cy="1691640"/>
          </a:xfrm>
          <a:prstGeom prst="roundRect">
            <a:avLst>
              <a:gd name="adj" fmla="val 5405"/>
            </a:avLst>
          </a:prstGeom>
          <a:solidFill>
            <a:schemeClr val="bg2"/>
          </a:solidFill>
          <a:ln w="12700">
            <a:solidFill>
              <a:schemeClr val="bg2"/>
            </a:solidFill>
            <a:prstDash val="solid"/>
          </a:ln>
        </p:spPr>
      </p:sp>
      <p:sp>
        <p:nvSpPr>
          <p:cNvPr id="27" name="Text 24"/>
          <p:cNvSpPr txBox="1"/>
          <p:nvPr/>
        </p:nvSpPr>
        <p:spPr>
          <a:xfrm>
            <a:off x="3749040" y="4242816"/>
            <a:ext cx="23774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인터럽트</a:t>
            </a:r>
            <a:endParaRPr lang="ko-KR" altLang="en-US" sz="1700" dirty="0"/>
          </a:p>
        </p:txBody>
      </p:sp>
      <p:sp>
        <p:nvSpPr>
          <p:cNvPr id="28" name="Text 25"/>
          <p:cNvSpPr txBox="1"/>
          <p:nvPr/>
        </p:nvSpPr>
        <p:spPr>
          <a:xfrm>
            <a:off x="3749040" y="4800600"/>
            <a:ext cx="2331720" cy="7772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하던 일을 멈추고 바로 뛴다. 다루기 어렵다.</a:t>
            </a:r>
            <a:endParaRPr lang="ko-KR" altLang="en-US" sz="1400" dirty="0"/>
          </a:p>
        </p:txBody>
      </p:sp>
      <p:sp>
        <p:nvSpPr>
          <p:cNvPr id="29" name="Text 26"/>
          <p:cNvSpPr txBox="1"/>
          <p:nvPr/>
        </p:nvSpPr>
        <p:spPr>
          <a:xfrm>
            <a:off x="6766560" y="4983480"/>
            <a:ext cx="4876495" cy="54864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기다리는 입력이 사라지지 않게 담아 두는 곳이 큐다.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중앙 이벤트 버스</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전투 코드와 튜토리얼이 서로 모른 채 연결된다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한 클래스 안에서 큐가 필요한 예는 무엇일까?</a:t>
            </a:r>
            <a:endParaRPr lang="ko-KR" altLang="en-US" sz="1500" dirty="0"/>
          </a:p>
        </p:txBody>
      </p:sp>
      <p:sp>
        <p:nvSpPr>
          <p:cNvPr id="6" name="box"/>
          <p:cNvSpPr/>
          <p:nvPr/>
        </p:nvSpPr>
        <p:spPr>
          <a:xfrm>
            <a:off x="548640" y="1828800"/>
            <a:ext cx="2560320" cy="914400"/>
          </a:xfrm>
          <a:prstGeom prst="roundRect">
            <a:avLst>
              <a:gd name="adj" fmla="val 8000"/>
            </a:avLst>
          </a:prstGeom>
          <a:solidFill>
            <a:schemeClr val="accent2"/>
          </a:solidFill>
          <a:ln w="12700">
            <a:solidFill>
              <a:schemeClr val="accent2"/>
            </a:solidFill>
            <a:prstDash val="solid"/>
          </a:ln>
        </p:spPr>
      </p:sp>
      <p:sp>
        <p:nvSpPr>
          <p:cNvPr id="7" name="Text 4"/>
          <p:cNvSpPr txBox="1"/>
          <p:nvPr/>
        </p:nvSpPr>
        <p:spPr>
          <a:xfrm>
            <a:off x="548640" y="1828800"/>
            <a:ext cx="2560320" cy="91440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전투 코드</a:t>
            </a:r>
            <a:endParaRPr lang="ko-KR" altLang="en-US" sz="1600" dirty="0"/>
          </a:p>
        </p:txBody>
      </p:sp>
      <p:sp>
        <p:nvSpPr>
          <p:cNvPr id="8" name="Shape 5"/>
          <p:cNvSpPr/>
          <p:nvPr/>
        </p:nvSpPr>
        <p:spPr>
          <a:xfrm>
            <a:off x="3749040" y="1691640"/>
            <a:ext cx="4023360" cy="1188720"/>
          </a:xfrm>
          <a:prstGeom prst="roundRect">
            <a:avLst>
              <a:gd name="adj" fmla="val 6154"/>
            </a:avLst>
          </a:prstGeom>
          <a:solidFill>
            <a:schemeClr val="bg2"/>
          </a:solidFill>
          <a:ln w="12700">
            <a:solidFill>
              <a:schemeClr val="accent3"/>
            </a:solidFill>
            <a:prstDash val="solid"/>
          </a:ln>
        </p:spPr>
      </p:sp>
      <p:sp>
        <p:nvSpPr>
          <p:cNvPr id="9" name="Text 6"/>
          <p:cNvSpPr txBox="1"/>
          <p:nvPr/>
        </p:nvSpPr>
        <p:spPr>
          <a:xfrm>
            <a:off x="3886200" y="1737360"/>
            <a:ext cx="2286000" cy="274320"/>
          </a:xfrm>
          <a:prstGeom prst="rect">
            <a:avLst/>
          </a:prstGeom>
          <a:noFill/>
          <a:ln/>
        </p:spPr>
        <p:txBody>
          <a:bodyPr wrap="square" lIns="0" tIns="0" rIns="0" bIns="0" rtlCol="0" anchor="t"/>
          <a:lstStyle/>
          <a:p>
            <a:pPr indent="0" marL="0" eaLnBrk="0">
              <a:buNone/>
            </a:pPr>
            <a:r>
              <a:rPr lang="ko-KR" altLang="en-US" sz="1200" b="1" dirty="0">
                <a:solidFill>
                  <a:schemeClr val="accent5"/>
                </a:solidFill>
              </a:rPr>
              <a:t>중앙 이벤트 큐</a:t>
            </a:r>
            <a:endParaRPr lang="ko-KR" altLang="en-US" sz="1200" dirty="0"/>
          </a:p>
        </p:txBody>
      </p:sp>
      <p:sp>
        <p:nvSpPr>
          <p:cNvPr id="10" name="box"/>
          <p:cNvSpPr/>
          <p:nvPr/>
        </p:nvSpPr>
        <p:spPr>
          <a:xfrm>
            <a:off x="4023360" y="2084832"/>
            <a:ext cx="1691640" cy="502920"/>
          </a:xfrm>
          <a:prstGeom prst="roundRect">
            <a:avLst>
              <a:gd name="adj" fmla="val 14545"/>
            </a:avLst>
          </a:prstGeom>
          <a:solidFill>
            <a:schemeClr val="accent1"/>
          </a:solidFill>
          <a:ln w="12700">
            <a:solidFill>
              <a:schemeClr val="accent1"/>
            </a:solidFill>
            <a:prstDash val="solid"/>
          </a:ln>
        </p:spPr>
      </p:sp>
      <p:sp>
        <p:nvSpPr>
          <p:cNvPr id="11" name="Text 8"/>
          <p:cNvSpPr txBox="1"/>
          <p:nvPr/>
        </p:nvSpPr>
        <p:spPr>
          <a:xfrm>
            <a:off x="4023360" y="2084832"/>
            <a:ext cx="169164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아이템 획득</a:t>
            </a:r>
            <a:endParaRPr lang="ko-KR" altLang="en-US" sz="1300" dirty="0"/>
          </a:p>
        </p:txBody>
      </p:sp>
      <p:sp>
        <p:nvSpPr>
          <p:cNvPr id="12" name="box"/>
          <p:cNvSpPr/>
          <p:nvPr/>
        </p:nvSpPr>
        <p:spPr>
          <a:xfrm>
            <a:off x="5897880" y="2084832"/>
            <a:ext cx="1691640" cy="502920"/>
          </a:xfrm>
          <a:prstGeom prst="roundRect">
            <a:avLst>
              <a:gd name="adj" fmla="val 14545"/>
            </a:avLst>
          </a:prstGeom>
          <a:solidFill>
            <a:schemeClr val="accent1"/>
          </a:solidFill>
          <a:ln w="12700">
            <a:solidFill>
              <a:schemeClr val="accent1"/>
            </a:solidFill>
            <a:prstDash val="solid"/>
          </a:ln>
        </p:spPr>
      </p:sp>
      <p:sp>
        <p:nvSpPr>
          <p:cNvPr id="13" name="Text 10"/>
          <p:cNvSpPr txBox="1"/>
          <p:nvPr/>
        </p:nvSpPr>
        <p:spPr>
          <a:xfrm>
            <a:off x="5897880" y="2084832"/>
            <a:ext cx="169164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적 사망</a:t>
            </a:r>
            <a:endParaRPr lang="ko-KR" altLang="en-US" sz="1300" dirty="0"/>
          </a:p>
        </p:txBody>
      </p:sp>
      <p:sp>
        <p:nvSpPr>
          <p:cNvPr id="14" name="box"/>
          <p:cNvSpPr/>
          <p:nvPr/>
        </p:nvSpPr>
        <p:spPr>
          <a:xfrm>
            <a:off x="8412480" y="1828800"/>
            <a:ext cx="3230575" cy="914400"/>
          </a:xfrm>
          <a:prstGeom prst="roundRect">
            <a:avLst>
              <a:gd name="adj" fmla="val 8000"/>
            </a:avLst>
          </a:prstGeom>
          <a:solidFill>
            <a:schemeClr val="bg2"/>
          </a:solidFill>
          <a:ln w="12700">
            <a:solidFill>
              <a:schemeClr val="bg2"/>
            </a:solidFill>
            <a:prstDash val="solid"/>
          </a:ln>
        </p:spPr>
      </p:sp>
      <p:sp>
        <p:nvSpPr>
          <p:cNvPr id="15" name="Text 12"/>
          <p:cNvSpPr txBox="1"/>
          <p:nvPr/>
        </p:nvSpPr>
        <p:spPr>
          <a:xfrm>
            <a:off x="8412480" y="1828800"/>
            <a:ext cx="3230575" cy="9144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튜토리얼 시스템</a:t>
            </a:r>
            <a:endParaRPr lang="ko-KR" altLang="en-US" sz="1400" dirty="0"/>
          </a:p>
          <a:p>
            <a:pPr algn="ctr" indent="0" marL="0" eaLnBrk="0">
              <a:buNone/>
            </a:pPr>
            <a:r>
              <a:rPr lang="ko-KR" altLang="en-US" sz="1400" b="1" dirty="0">
                <a:solidFill>
                  <a:schemeClr val="tx1"/>
                </a:solidFill>
              </a:rPr>
              <a:t>‘적 사망’을 받겠다고 등록</a:t>
            </a:r>
            <a:endParaRPr lang="ko-KR" altLang="en-US" sz="1400" dirty="0"/>
          </a:p>
        </p:txBody>
      </p:sp>
      <p:sp>
        <p:nvSpPr>
          <p:cNvPr id="16" name="Shape 13"/>
          <p:cNvSpPr/>
          <p:nvPr/>
        </p:nvSpPr>
        <p:spPr>
          <a:xfrm>
            <a:off x="3154680" y="2286000"/>
            <a:ext cx="548640" cy="914"/>
          </a:xfrm>
          <a:prstGeom prst="line">
            <a:avLst/>
          </a:prstGeom>
          <a:noFill/>
          <a:ln w="22225">
            <a:solidFill>
              <a:schemeClr val="accent3"/>
            </a:solidFill>
            <a:prstDash val="solid"/>
            <a:tailEnd type="triangle"/>
          </a:ln>
        </p:spPr>
      </p:sp>
      <p:sp>
        <p:nvSpPr>
          <p:cNvPr id="17" name="Shape 14"/>
          <p:cNvSpPr/>
          <p:nvPr/>
        </p:nvSpPr>
        <p:spPr>
          <a:xfrm>
            <a:off x="7818120" y="2286000"/>
            <a:ext cx="548640" cy="914"/>
          </a:xfrm>
          <a:prstGeom prst="line">
            <a:avLst/>
          </a:prstGeom>
          <a:noFill/>
          <a:ln w="22225">
            <a:solidFill>
              <a:schemeClr val="accent3"/>
            </a:solidFill>
            <a:prstDash val="solid"/>
            <a:tailEnd type="triangle"/>
          </a:ln>
        </p:spPr>
      </p:sp>
      <p:sp>
        <p:nvSpPr>
          <p:cNvPr id="18" name="Text 15"/>
          <p:cNvSpPr txBox="1"/>
          <p:nvPr/>
        </p:nvSpPr>
        <p:spPr>
          <a:xfrm>
            <a:off x="548640" y="2834640"/>
            <a:ext cx="3108960" cy="274320"/>
          </a:xfrm>
          <a:prstGeom prst="rect">
            <a:avLst/>
          </a:prstGeom>
          <a:noFill/>
          <a:ln/>
        </p:spPr>
        <p:txBody>
          <a:bodyPr wrap="square" lIns="0" tIns="0" rIns="0" bIns="0" rtlCol="0" anchor="t"/>
          <a:lstStyle/>
          <a:p>
            <a:pPr indent="0" marL="0" eaLnBrk="0">
              <a:buNone/>
            </a:pPr>
            <a:r>
              <a:rPr lang="ko-KR" altLang="en-US" sz="1200" dirty="0">
                <a:solidFill>
                  <a:schemeClr val="accent5"/>
                </a:solidFill>
              </a:rPr>
              <a:t>적 사망 이벤트를 넣는다</a:t>
            </a:r>
            <a:endParaRPr lang="ko-KR" altLang="en-US" sz="1200" dirty="0"/>
          </a:p>
        </p:txBody>
      </p:sp>
      <p:sp>
        <p:nvSpPr>
          <p:cNvPr id="19" name="box"/>
          <p:cNvSpPr/>
          <p:nvPr/>
        </p:nvSpPr>
        <p:spPr>
          <a:xfrm>
            <a:off x="8412480" y="3063240"/>
            <a:ext cx="3230575" cy="548640"/>
          </a:xfrm>
          <a:prstGeom prst="roundRect">
            <a:avLst>
              <a:gd name="adj" fmla="val 13333"/>
            </a:avLst>
          </a:prstGeom>
          <a:solidFill>
            <a:schemeClr val="accent4"/>
          </a:solidFill>
          <a:ln w="12700">
            <a:solidFill>
              <a:schemeClr val="accent4"/>
            </a:solidFill>
            <a:prstDash val="solid"/>
          </a:ln>
        </p:spPr>
      </p:sp>
      <p:sp>
        <p:nvSpPr>
          <p:cNvPr id="20" name="Text 17"/>
          <p:cNvSpPr txBox="1"/>
          <p:nvPr/>
        </p:nvSpPr>
        <p:spPr>
          <a:xfrm>
            <a:off x="8412480" y="3063240"/>
            <a:ext cx="3230575"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말풍선: X를 눌러 전리품을 줍자</a:t>
            </a:r>
            <a:endParaRPr lang="ko-KR" altLang="en-US" sz="1300" dirty="0"/>
          </a:p>
        </p:txBody>
      </p:sp>
      <p:sp>
        <p:nvSpPr>
          <p:cNvPr id="21" name="Shape 18"/>
          <p:cNvSpPr/>
          <p:nvPr/>
        </p:nvSpPr>
        <p:spPr>
          <a:xfrm>
            <a:off x="10027768" y="2770632"/>
            <a:ext cx="914" cy="274320"/>
          </a:xfrm>
          <a:prstGeom prst="line">
            <a:avLst/>
          </a:prstGeom>
          <a:noFill/>
          <a:ln w="22225">
            <a:solidFill>
              <a:schemeClr val="accent3"/>
            </a:solidFill>
            <a:prstDash val="solid"/>
            <a:tailEnd type="triangle"/>
          </a:ln>
        </p:spPr>
      </p:sp>
      <p:sp>
        <p:nvSpPr>
          <p:cNvPr id="22" name="card"/>
          <p:cNvSpPr/>
          <p:nvPr/>
        </p:nvSpPr>
        <p:spPr>
          <a:xfrm>
            <a:off x="548640" y="3657600"/>
            <a:ext cx="5394960" cy="1417320"/>
          </a:xfrm>
          <a:prstGeom prst="roundRect">
            <a:avLst>
              <a:gd name="adj" fmla="val 6452"/>
            </a:avLst>
          </a:prstGeom>
          <a:solidFill>
            <a:schemeClr val="bg2"/>
          </a:solidFill>
          <a:ln w="12700">
            <a:solidFill>
              <a:schemeClr val="bg2"/>
            </a:solidFill>
            <a:prstDash val="solid"/>
          </a:ln>
        </p:spPr>
      </p:sp>
      <p:sp>
        <p:nvSpPr>
          <p:cNvPr id="23" name="Text 20"/>
          <p:cNvSpPr txBox="1"/>
          <p:nvPr/>
        </p:nvSpPr>
        <p:spPr>
          <a:xfrm>
            <a:off x="777240" y="3877056"/>
            <a:ext cx="498348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얻는 것</a:t>
            </a:r>
            <a:endParaRPr lang="ko-KR" altLang="en-US" sz="1700" dirty="0"/>
          </a:p>
        </p:txBody>
      </p:sp>
      <p:sp>
        <p:nvSpPr>
          <p:cNvPr id="24" name="Text 21"/>
          <p:cNvSpPr txBox="1"/>
          <p:nvPr/>
        </p:nvSpPr>
        <p:spPr>
          <a:xfrm>
            <a:off x="777240" y="4434840"/>
            <a:ext cx="4937760" cy="5029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전투 코드에 튜토리얼 확인 코드를 넣지 않는다. 두 시스템은 서로를 직접 알지 못한다.</a:t>
            </a:r>
            <a:endParaRPr lang="ko-KR" altLang="en-US" sz="1400" dirty="0"/>
          </a:p>
        </p:txBody>
      </p:sp>
      <p:sp>
        <p:nvSpPr>
          <p:cNvPr id="25" name="card"/>
          <p:cNvSpPr/>
          <p:nvPr/>
        </p:nvSpPr>
        <p:spPr>
          <a:xfrm>
            <a:off x="6217920" y="3657600"/>
            <a:ext cx="5425135" cy="1417320"/>
          </a:xfrm>
          <a:prstGeom prst="roundRect">
            <a:avLst>
              <a:gd name="adj" fmla="val 6452"/>
            </a:avLst>
          </a:prstGeom>
          <a:solidFill>
            <a:schemeClr val="bg2"/>
          </a:solidFill>
          <a:ln w="12700">
            <a:solidFill>
              <a:schemeClr val="bg2"/>
            </a:solidFill>
            <a:prstDash val="solid"/>
          </a:ln>
        </p:spPr>
      </p:sp>
      <p:sp>
        <p:nvSpPr>
          <p:cNvPr id="26" name="Text 23"/>
          <p:cNvSpPr txBox="1"/>
          <p:nvPr/>
        </p:nvSpPr>
        <p:spPr>
          <a:xfrm>
            <a:off x="6446520" y="3877056"/>
            <a:ext cx="50136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원서의 선택</a:t>
            </a:r>
            <a:endParaRPr lang="ko-KR" altLang="en-US" sz="1700" dirty="0"/>
          </a:p>
        </p:txBody>
      </p:sp>
      <p:sp>
        <p:nvSpPr>
          <p:cNvPr id="27" name="Text 24"/>
          <p:cNvSpPr txBox="1"/>
          <p:nvPr/>
        </p:nvSpPr>
        <p:spPr>
          <a:xfrm>
            <a:off x="6446520" y="4434840"/>
            <a:ext cx="4967935" cy="5029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거대한 전역 시스템은 피한다. 큐는 한 클래스 안에서도 쓸모 있으므로 그 예로 간다.</a:t>
            </a:r>
            <a:endParaRPr lang="ko-KR" altLang="en-US" sz="1400" dirty="0"/>
          </a:p>
        </p:txBody>
      </p:sp>
      <p:sp>
        <p:nvSpPr>
          <p:cNvPr id="28" name="Text 25"/>
          <p:cNvSpPr txBox="1"/>
          <p:nvPr/>
        </p:nvSpPr>
        <p:spPr>
          <a:xfrm>
            <a:off x="548640" y="5166360"/>
            <a:ext cx="11094415" cy="640080"/>
          </a:xfrm>
          <a:prstGeom prst="rect">
            <a:avLst/>
          </a:prstGeom>
          <a:noFill/>
          <a:ln/>
        </p:spPr>
        <p:txBody>
          <a:bodyPr wrap="square" lIns="0" tIns="0" rIns="0" bIns="0" rtlCol="0" anchor="t"/>
          <a:lstStyle/>
          <a:p>
            <a:pPr indent="0" marL="0" eaLnBrk="0">
              <a:buNone/>
            </a:pPr>
            <a:r>
              <a:rPr lang="ko-KR" altLang="en-US" sz="1300" dirty="0">
                <a:solidFill>
                  <a:schemeClr val="accent5"/>
                </a:solidFill>
              </a:rPr>
              <a:t>모두가 정보를 올려 두고 알림을 받는 공유 공간이라는 점에서 AI 분야의 블랙보드 시스템과 비슷하다. 게임 대부분이 GUI처럼 이벤트로만 움직이지 않는 이유는 게임 루프(Game Loop) 장이 설명한다.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시도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PlaySound는 부르는 순간 소리를 읽고 재생까지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메뉴를 옮길 때 화면이 몇 프레임 멈춘다. 왜일까?</a:t>
            </a:r>
            <a:endParaRPr lang="ko-KR" altLang="en-US" sz="1500" dirty="0"/>
          </a:p>
        </p:txBody>
      </p:sp>
      <p:sp>
        <p:nvSpPr>
          <p:cNvPr id="6" name="codePanel"/>
          <p:cNvSpPr/>
          <p:nvPr/>
        </p:nvSpPr>
        <p:spPr>
          <a:xfrm>
            <a:off x="548640" y="1645920"/>
            <a:ext cx="6949440" cy="2286000"/>
          </a:xfrm>
          <a:prstGeom prst="roundRect">
            <a:avLst>
              <a:gd name="adj" fmla="val 3200"/>
            </a:avLst>
          </a:prstGeom>
          <a:solidFill>
            <a:schemeClr val="tx1"/>
          </a:solidFill>
          <a:ln w="12700">
            <a:solidFill>
              <a:schemeClr val="tx1"/>
            </a:solidFill>
            <a:prstDash val="solid"/>
          </a:ln>
        </p:spPr>
      </p:sp>
      <p:sp>
        <p:nvSpPr>
          <p:cNvPr id="7" name="code"/>
          <p:cNvSpPr txBox="1"/>
          <p:nvPr/>
        </p:nvSpPr>
        <p:spPr>
          <a:xfrm>
            <a:off x="658368" y="1737360"/>
            <a:ext cx="6729984" cy="21031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static class Audio</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static void PlaySound(SoundId id, int 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ResourceId resource = LoadSound(id);</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int channel = FindOpenChannel();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(channel == -1) return;</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StartSound(resource, channel, 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4069080"/>
            <a:ext cx="6949440" cy="1691640"/>
          </a:xfrm>
          <a:prstGeom prst="roundRect">
            <a:avLst>
              <a:gd name="adj" fmla="val 4324"/>
            </a:avLst>
          </a:prstGeom>
          <a:solidFill>
            <a:schemeClr val="tx1"/>
          </a:solidFill>
          <a:ln w="12700">
            <a:solidFill>
              <a:schemeClr val="tx1"/>
            </a:solidFill>
            <a:prstDash val="solid"/>
          </a:ln>
        </p:spPr>
      </p:sp>
      <p:sp>
        <p:nvSpPr>
          <p:cNvPr id="10" name="code"/>
          <p:cNvSpPr txBox="1"/>
          <p:nvPr/>
        </p:nvSpPr>
        <p:spPr>
          <a:xfrm>
            <a:off x="658368" y="4160520"/>
            <a:ext cx="6729984" cy="1508760"/>
          </a:xfrm>
          <a:prstGeom prst="rect">
            <a:avLst/>
          </a:prstGeom>
          <a:noFill/>
          <a:ln/>
        </p:spPr>
        <p:txBody>
          <a:bodyPr wrap="square" lIns="635" tIns="635" rIns="635" bIns="635" rtlCol="0" anchor="t"/>
          <a:lstStyle/>
          <a:p>
            <a:pPr indent="0" marL="0" eaLnBrk="0">
              <a:buNone/>
            </a:pPr>
            <a:r>
              <a:rPr lang="ko-KR" altLang="en-US" sz="1150" dirty="0">
                <a:solidFill>
                  <a:schemeClr val="bg1"/>
                </a:solidFill>
                <a:latin typeface="Consolas" pitchFamily="34" charset="0"/>
                <a:ea typeface="Consolas" pitchFamily="34" charset="-122"/>
                <a:cs typeface="Consolas" pitchFamily="34" charset="-120"/>
              </a:rPr>
              <a:t>public class Menu</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void OnSelect(int index)</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Audio.PlaySound(SoundId.Bloop, MaxVolume);</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다른 일...</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p:txBody>
      </p:sp>
      <p:sp>
        <p:nvSpPr>
          <p:cNvPr id="11" name="card"/>
          <p:cNvSpPr/>
          <p:nvPr/>
        </p:nvSpPr>
        <p:spPr>
          <a:xfrm>
            <a:off x="7863840" y="1645920"/>
            <a:ext cx="3779215" cy="1828800"/>
          </a:xfrm>
          <a:prstGeom prst="roundRect">
            <a:avLst>
              <a:gd name="adj" fmla="val 5000"/>
            </a:avLst>
          </a:prstGeom>
          <a:solidFill>
            <a:schemeClr val="bg2"/>
          </a:solidFill>
          <a:ln w="12700">
            <a:solidFill>
              <a:schemeClr val="bg2"/>
            </a:solidFill>
            <a:prstDash val="solid"/>
          </a:ln>
        </p:spPr>
      </p:sp>
      <p:sp>
        <p:nvSpPr>
          <p:cNvPr id="12" name="Text 9"/>
          <p:cNvSpPr txBox="1"/>
          <p:nvPr/>
        </p:nvSpPr>
        <p:spPr>
          <a:xfrm>
            <a:off x="8092440" y="18653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하는 일</a:t>
            </a:r>
            <a:endParaRPr lang="ko-KR" altLang="en-US" sz="1700" dirty="0"/>
          </a:p>
        </p:txBody>
      </p:sp>
      <p:sp>
        <p:nvSpPr>
          <p:cNvPr id="13" name="Text 10"/>
          <p:cNvSpPr txBox="1"/>
          <p:nvPr/>
        </p:nvSpPr>
        <p:spPr>
          <a:xfrm>
            <a:off x="8092440" y="2423160"/>
            <a:ext cx="3322015" cy="9144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리소스를 읽고, 빈 채널을 찾고, 재생을 시작한다. 모두 호출 안에서 끝낸다.</a:t>
            </a:r>
            <a:endParaRPr lang="ko-KR" altLang="en-US" sz="1400" dirty="0"/>
          </a:p>
        </p:txBody>
      </p:sp>
      <p:sp>
        <p:nvSpPr>
          <p:cNvPr id="14" name="card"/>
          <p:cNvSpPr/>
          <p:nvPr/>
        </p:nvSpPr>
        <p:spPr>
          <a:xfrm>
            <a:off x="7863840" y="3657600"/>
            <a:ext cx="3779215" cy="2103120"/>
          </a:xfrm>
          <a:prstGeom prst="roundRect">
            <a:avLst>
              <a:gd name="adj" fmla="val 4348"/>
            </a:avLst>
          </a:prstGeom>
          <a:solidFill>
            <a:schemeClr val="bg2"/>
          </a:solidFill>
          <a:ln w="12700">
            <a:solidFill>
              <a:schemeClr val="bg2"/>
            </a:solidFill>
            <a:prstDash val="solid"/>
          </a:ln>
        </p:spPr>
      </p:sp>
      <p:sp>
        <p:nvSpPr>
          <p:cNvPr id="15" name="Text 12"/>
          <p:cNvSpPr txBox="1"/>
          <p:nvPr/>
        </p:nvSpPr>
        <p:spPr>
          <a:xfrm>
            <a:off x="8092440" y="38770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정적 메서드</a:t>
            </a:r>
            <a:endParaRPr lang="ko-KR" altLang="en-US" sz="1700" dirty="0"/>
          </a:p>
        </p:txBody>
      </p:sp>
      <p:sp>
        <p:nvSpPr>
          <p:cNvPr id="16" name="Text 13"/>
          <p:cNvSpPr txBox="1"/>
          <p:nvPr/>
        </p:nvSpPr>
        <p:spPr>
          <a:xfrm>
            <a:off x="8092440" y="4434840"/>
            <a:ext cx="3322015" cy="11887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스피커는 하나뿐이라 싱글턴(Singleton) 패턴이 어울릴 수도 있지만, 원서는 더 단순하게 static으로 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문제 1</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소리가 날 때까지 호출한 쪽이 멈춘다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적 둘이 같은 프레임에 맞으면 어떻게 될까?</a:t>
            </a:r>
            <a:endParaRPr lang="ko-KR" altLang="en-US" sz="1500" dirty="0"/>
          </a:p>
        </p:txBody>
      </p:sp>
      <p:sp>
        <p:nvSpPr>
          <p:cNvPr id="6" name="Text 3"/>
          <p:cNvSpPr txBox="1"/>
          <p:nvPr/>
        </p:nvSpPr>
        <p:spPr>
          <a:xfrm>
            <a:off x="548640" y="1691640"/>
            <a:ext cx="4572000" cy="320040"/>
          </a:xfrm>
          <a:prstGeom prst="rect">
            <a:avLst/>
          </a:prstGeom>
          <a:noFill/>
          <a:ln/>
        </p:spPr>
        <p:txBody>
          <a:bodyPr wrap="square" lIns="0" tIns="0" rIns="0" bIns="0" rtlCol="0" anchor="t"/>
          <a:lstStyle/>
          <a:p>
            <a:pPr indent="0" marL="0" eaLnBrk="0">
              <a:buNone/>
            </a:pPr>
            <a:r>
              <a:rPr lang="ko-KR" altLang="en-US" sz="1400" b="1" dirty="0">
                <a:solidFill>
                  <a:schemeClr val="accent5"/>
                </a:solidFill>
              </a:rPr>
              <a:t>메인 스레드의 한 프레임</a:t>
            </a:r>
            <a:endParaRPr lang="ko-KR" altLang="en-US" sz="1400" dirty="0"/>
          </a:p>
        </p:txBody>
      </p:sp>
      <p:sp>
        <p:nvSpPr>
          <p:cNvPr id="7" name="box"/>
          <p:cNvSpPr/>
          <p:nvPr/>
        </p:nvSpPr>
        <p:spPr>
          <a:xfrm>
            <a:off x="548640" y="2148840"/>
            <a:ext cx="1499616" cy="868680"/>
          </a:xfrm>
          <a:prstGeom prst="roundRect">
            <a:avLst>
              <a:gd name="adj" fmla="val 8421"/>
            </a:avLst>
          </a:prstGeom>
          <a:solidFill>
            <a:schemeClr val="accent2"/>
          </a:solidFill>
          <a:ln w="12700">
            <a:solidFill>
              <a:schemeClr val="accent2"/>
            </a:solidFill>
            <a:prstDash val="solid"/>
          </a:ln>
        </p:spPr>
      </p:sp>
      <p:sp>
        <p:nvSpPr>
          <p:cNvPr id="8" name="Text 5"/>
          <p:cNvSpPr txBox="1"/>
          <p:nvPr/>
        </p:nvSpPr>
        <p:spPr>
          <a:xfrm>
            <a:off x="548640" y="2148840"/>
            <a:ext cx="1499616" cy="86868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OnSelect</a:t>
            </a:r>
            <a:endParaRPr lang="ko-KR" altLang="en-US" sz="1400" dirty="0"/>
          </a:p>
        </p:txBody>
      </p:sp>
      <p:sp>
        <p:nvSpPr>
          <p:cNvPr id="9" name="box"/>
          <p:cNvSpPr/>
          <p:nvPr/>
        </p:nvSpPr>
        <p:spPr>
          <a:xfrm>
            <a:off x="2103120" y="2148840"/>
            <a:ext cx="4151376" cy="868680"/>
          </a:xfrm>
          <a:prstGeom prst="roundRect">
            <a:avLst>
              <a:gd name="adj" fmla="val 8421"/>
            </a:avLst>
          </a:prstGeom>
          <a:solidFill>
            <a:schemeClr val="accent6"/>
          </a:solidFill>
          <a:ln w="12700">
            <a:solidFill>
              <a:schemeClr val="accent6"/>
            </a:solidFill>
            <a:prstDash val="solid"/>
          </a:ln>
        </p:spPr>
      </p:sp>
      <p:sp>
        <p:nvSpPr>
          <p:cNvPr id="10" name="Text 7"/>
          <p:cNvSpPr txBox="1"/>
          <p:nvPr/>
        </p:nvSpPr>
        <p:spPr>
          <a:xfrm>
            <a:off x="2103120" y="2148840"/>
            <a:ext cx="4151376" cy="86868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LoadSound</a:t>
            </a:r>
            <a:endParaRPr lang="ko-KR" altLang="en-US" sz="1400" dirty="0"/>
          </a:p>
          <a:p>
            <a:pPr algn="ctr" indent="0" marL="0" eaLnBrk="0">
              <a:buNone/>
            </a:pPr>
            <a:r>
              <a:rPr lang="ko-KR" altLang="en-US" sz="1400" b="1" dirty="0">
                <a:solidFill>
                  <a:schemeClr val="bg1"/>
                </a:solidFill>
              </a:rPr>
              <a:t>디스크에서 읽는 중</a:t>
            </a:r>
            <a:endParaRPr lang="ko-KR" altLang="en-US" sz="1400" dirty="0"/>
          </a:p>
        </p:txBody>
      </p:sp>
      <p:sp>
        <p:nvSpPr>
          <p:cNvPr id="11" name="box"/>
          <p:cNvSpPr/>
          <p:nvPr/>
        </p:nvSpPr>
        <p:spPr>
          <a:xfrm>
            <a:off x="6309360" y="2148840"/>
            <a:ext cx="1956816" cy="868680"/>
          </a:xfrm>
          <a:prstGeom prst="roundRect">
            <a:avLst>
              <a:gd name="adj" fmla="val 8421"/>
            </a:avLst>
          </a:prstGeom>
          <a:solidFill>
            <a:schemeClr val="accent1"/>
          </a:solidFill>
          <a:ln w="12700">
            <a:solidFill>
              <a:schemeClr val="accent1"/>
            </a:solidFill>
            <a:prstDash val="solid"/>
          </a:ln>
        </p:spPr>
      </p:sp>
      <p:sp>
        <p:nvSpPr>
          <p:cNvPr id="12" name="Text 9"/>
          <p:cNvSpPr txBox="1"/>
          <p:nvPr/>
        </p:nvSpPr>
        <p:spPr>
          <a:xfrm>
            <a:off x="6309360" y="2148840"/>
            <a:ext cx="1956816" cy="86868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채널 찾기</a:t>
            </a:r>
            <a:endParaRPr lang="ko-KR" altLang="en-US" sz="1400" dirty="0"/>
          </a:p>
          <a:p>
            <a:pPr algn="ctr" indent="0" marL="0" eaLnBrk="0">
              <a:buNone/>
            </a:pPr>
            <a:r>
              <a:rPr lang="ko-KR" altLang="en-US" sz="1400" b="1" dirty="0">
                <a:solidFill>
                  <a:schemeClr val="bg1"/>
                </a:solidFill>
              </a:rPr>
              <a:t>재생 시작</a:t>
            </a:r>
            <a:endParaRPr lang="ko-KR" altLang="en-US" sz="1400" dirty="0"/>
          </a:p>
        </p:txBody>
      </p:sp>
      <p:sp>
        <p:nvSpPr>
          <p:cNvPr id="13" name="box"/>
          <p:cNvSpPr/>
          <p:nvPr/>
        </p:nvSpPr>
        <p:spPr>
          <a:xfrm>
            <a:off x="8321040" y="2148840"/>
            <a:ext cx="3267151" cy="868680"/>
          </a:xfrm>
          <a:prstGeom prst="roundRect">
            <a:avLst>
              <a:gd name="adj" fmla="val 8421"/>
            </a:avLst>
          </a:prstGeom>
          <a:solidFill>
            <a:schemeClr val="bg2"/>
          </a:solidFill>
          <a:ln w="12700">
            <a:solidFill>
              <a:schemeClr val="bg2"/>
            </a:solidFill>
            <a:prstDash val="solid"/>
          </a:ln>
        </p:spPr>
      </p:sp>
      <p:sp>
        <p:nvSpPr>
          <p:cNvPr id="14" name="Text 11"/>
          <p:cNvSpPr txBox="1"/>
          <p:nvPr/>
        </p:nvSpPr>
        <p:spPr>
          <a:xfrm>
            <a:off x="8321040" y="2148840"/>
            <a:ext cx="3267151" cy="8686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메뉴의 나머지 일</a:t>
            </a:r>
            <a:endParaRPr lang="ko-KR" altLang="en-US" sz="1400" dirty="0"/>
          </a:p>
        </p:txBody>
      </p:sp>
      <p:sp>
        <p:nvSpPr>
          <p:cNvPr id="15" name="Shape 12"/>
          <p:cNvSpPr/>
          <p:nvPr/>
        </p:nvSpPr>
        <p:spPr>
          <a:xfrm>
            <a:off x="2103120" y="3154680"/>
            <a:ext cx="914" cy="228600"/>
          </a:xfrm>
          <a:prstGeom prst="line">
            <a:avLst/>
          </a:prstGeom>
          <a:noFill/>
          <a:ln w="22225">
            <a:solidFill>
              <a:schemeClr val="accent6"/>
            </a:solidFill>
            <a:prstDash val="solid"/>
          </a:ln>
        </p:spPr>
      </p:sp>
      <p:sp>
        <p:nvSpPr>
          <p:cNvPr id="16" name="Shape 13"/>
          <p:cNvSpPr/>
          <p:nvPr/>
        </p:nvSpPr>
        <p:spPr>
          <a:xfrm>
            <a:off x="8266176" y="3154680"/>
            <a:ext cx="914" cy="228600"/>
          </a:xfrm>
          <a:prstGeom prst="line">
            <a:avLst/>
          </a:prstGeom>
          <a:noFill/>
          <a:ln w="22225">
            <a:solidFill>
              <a:schemeClr val="accent6"/>
            </a:solidFill>
            <a:prstDash val="solid"/>
          </a:ln>
        </p:spPr>
      </p:sp>
      <p:sp>
        <p:nvSpPr>
          <p:cNvPr id="17" name="Shape 14"/>
          <p:cNvSpPr/>
          <p:nvPr/>
        </p:nvSpPr>
        <p:spPr>
          <a:xfrm>
            <a:off x="2103120" y="3383280"/>
            <a:ext cx="6163056" cy="914"/>
          </a:xfrm>
          <a:prstGeom prst="line">
            <a:avLst/>
          </a:prstGeom>
          <a:noFill/>
          <a:ln w="22225">
            <a:solidFill>
              <a:schemeClr val="accent6"/>
            </a:solidFill>
            <a:prstDash val="solid"/>
          </a:ln>
        </p:spPr>
      </p:sp>
      <p:sp>
        <p:nvSpPr>
          <p:cNvPr id="18" name="Text 15"/>
          <p:cNvSpPr txBox="1"/>
          <p:nvPr/>
        </p:nvSpPr>
        <p:spPr>
          <a:xfrm>
            <a:off x="2103120" y="3456432"/>
            <a:ext cx="6217920" cy="365760"/>
          </a:xfrm>
          <a:prstGeom prst="rect">
            <a:avLst/>
          </a:prstGeom>
          <a:noFill/>
          <a:ln/>
        </p:spPr>
        <p:txBody>
          <a:bodyPr wrap="square" lIns="0" tIns="0" rIns="0" bIns="0" rtlCol="0" anchor="t"/>
          <a:lstStyle/>
          <a:p>
            <a:pPr algn="ctr" indent="0" marL="0" eaLnBrk="0">
              <a:buNone/>
            </a:pPr>
            <a:r>
              <a:rPr lang="ko-KR" altLang="en-US" sz="1500" b="1" dirty="0">
                <a:solidFill>
                  <a:schemeClr val="accent6"/>
                </a:solidFill>
              </a:rPr>
              <a:t>PlaySound가 돌아올 때까지 화면이 멈춘다</a:t>
            </a:r>
            <a:endParaRPr lang="ko-KR" altLang="en-US" sz="1500" dirty="0"/>
          </a:p>
        </p:txBody>
      </p:sp>
      <p:sp>
        <p:nvSpPr>
          <p:cNvPr id="19" name="card"/>
          <p:cNvSpPr/>
          <p:nvPr/>
        </p:nvSpPr>
        <p:spPr>
          <a:xfrm>
            <a:off x="548640" y="4069080"/>
            <a:ext cx="5394960" cy="1600200"/>
          </a:xfrm>
          <a:prstGeom prst="roundRect">
            <a:avLst>
              <a:gd name="adj" fmla="val 5714"/>
            </a:avLst>
          </a:prstGeom>
          <a:solidFill>
            <a:schemeClr val="bg2"/>
          </a:solidFill>
          <a:ln w="12700">
            <a:solidFill>
              <a:schemeClr val="bg2"/>
            </a:solidFill>
            <a:prstDash val="solid"/>
          </a:ln>
        </p:spPr>
      </p:sp>
      <p:sp>
        <p:nvSpPr>
          <p:cNvPr id="20" name="Text 17"/>
          <p:cNvSpPr txBox="1"/>
          <p:nvPr/>
        </p:nvSpPr>
        <p:spPr>
          <a:xfrm>
            <a:off x="777240" y="4288536"/>
            <a:ext cx="498348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동기 호출</a:t>
            </a:r>
            <a:endParaRPr lang="ko-KR" altLang="en-US" sz="1700" dirty="0"/>
          </a:p>
        </p:txBody>
      </p:sp>
      <p:sp>
        <p:nvSpPr>
          <p:cNvPr id="21" name="Text 18"/>
          <p:cNvSpPr txBox="1"/>
          <p:nvPr/>
        </p:nvSpPr>
        <p:spPr>
          <a:xfrm>
            <a:off x="777240" y="4846320"/>
            <a:ext cx="4937760" cy="6858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요청한 일이 끝나야 호출한 쪽으로 돌아온다.</a:t>
            </a:r>
            <a:endParaRPr lang="ko-KR" altLang="en-US" sz="1400" dirty="0"/>
          </a:p>
        </p:txBody>
      </p:sp>
      <p:sp>
        <p:nvSpPr>
          <p:cNvPr id="22" name="card"/>
          <p:cNvSpPr/>
          <p:nvPr/>
        </p:nvSpPr>
        <p:spPr>
          <a:xfrm>
            <a:off x="6217920" y="4069080"/>
            <a:ext cx="5425135" cy="1600200"/>
          </a:xfrm>
          <a:prstGeom prst="roundRect">
            <a:avLst>
              <a:gd name="adj" fmla="val 5714"/>
            </a:avLst>
          </a:prstGeom>
          <a:solidFill>
            <a:schemeClr val="bg2"/>
          </a:solidFill>
          <a:ln w="12700">
            <a:solidFill>
              <a:schemeClr val="bg2"/>
            </a:solidFill>
            <a:prstDash val="solid"/>
          </a:ln>
        </p:spPr>
      </p:sp>
      <p:sp>
        <p:nvSpPr>
          <p:cNvPr id="23" name="Text 20"/>
          <p:cNvSpPr txBox="1"/>
          <p:nvPr/>
        </p:nvSpPr>
        <p:spPr>
          <a:xfrm>
            <a:off x="6446520" y="4288536"/>
            <a:ext cx="50136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원서의 문제 1</a:t>
            </a:r>
            <a:endParaRPr lang="ko-KR" altLang="en-US" sz="1700" dirty="0"/>
          </a:p>
        </p:txBody>
      </p:sp>
      <p:sp>
        <p:nvSpPr>
          <p:cNvPr id="24" name="Text 21"/>
          <p:cNvSpPr txBox="1"/>
          <p:nvPr/>
        </p:nvSpPr>
        <p:spPr>
          <a:xfrm>
            <a:off x="6446520" y="4846320"/>
            <a:ext cx="4967935" cy="6858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오디오 엔진이 요청을 끝까지 처리할 때까지 호출한 쪽이 막힌다.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문제 2</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요청을 하나씩 따로 처리하므로 모아서 다룰 수 없다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게임이 여러 스레드로 나뉘어 돌면 무엇이 더 문제일까?</a:t>
            </a:r>
            <a:endParaRPr lang="ko-KR" altLang="en-US" sz="1500" dirty="0"/>
          </a:p>
        </p:txBody>
      </p:sp>
      <p:sp>
        <p:nvSpPr>
          <p:cNvPr id="6" name="Shape 3"/>
          <p:cNvSpPr/>
          <p:nvPr/>
        </p:nvSpPr>
        <p:spPr>
          <a:xfrm>
            <a:off x="548640" y="1691640"/>
            <a:ext cx="5394960" cy="2514600"/>
          </a:xfrm>
          <a:prstGeom prst="roundRect">
            <a:avLst>
              <a:gd name="adj" fmla="val 3636"/>
            </a:avLst>
          </a:prstGeom>
          <a:solidFill>
            <a:schemeClr val="bg2"/>
          </a:solidFill>
          <a:ln w="12700">
            <a:solidFill>
              <a:schemeClr val="bg2"/>
            </a:solidFill>
            <a:prstDash val="solid"/>
          </a:ln>
        </p:spPr>
      </p:sp>
      <p:sp>
        <p:nvSpPr>
          <p:cNvPr id="7" name="Text 4"/>
          <p:cNvSpPr txBox="1"/>
          <p:nvPr/>
        </p:nvSpPr>
        <p:spPr>
          <a:xfrm>
            <a:off x="822960" y="1810512"/>
            <a:ext cx="484632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같은 프레임에 적 둘이 맞는다</a:t>
            </a:r>
            <a:endParaRPr lang="ko-KR" altLang="en-US" sz="1600" dirty="0"/>
          </a:p>
        </p:txBody>
      </p:sp>
      <p:sp>
        <p:nvSpPr>
          <p:cNvPr id="8" name="box"/>
          <p:cNvSpPr/>
          <p:nvPr/>
        </p:nvSpPr>
        <p:spPr>
          <a:xfrm>
            <a:off x="822960" y="2331720"/>
            <a:ext cx="2194560" cy="548640"/>
          </a:xfrm>
          <a:prstGeom prst="roundRect">
            <a:avLst>
              <a:gd name="adj" fmla="val 13333"/>
            </a:avLst>
          </a:prstGeom>
          <a:solidFill>
            <a:schemeClr val="accent1"/>
          </a:solidFill>
          <a:ln w="12700">
            <a:solidFill>
              <a:schemeClr val="accent1"/>
            </a:solidFill>
            <a:prstDash val="solid"/>
          </a:ln>
        </p:spPr>
      </p:sp>
      <p:sp>
        <p:nvSpPr>
          <p:cNvPr id="9" name="Text 6"/>
          <p:cNvSpPr txBox="1"/>
          <p:nvPr/>
        </p:nvSpPr>
        <p:spPr>
          <a:xfrm>
            <a:off x="822960" y="2331720"/>
            <a:ext cx="2194560"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PlaySound(비명)</a:t>
            </a:r>
            <a:endParaRPr lang="ko-KR" altLang="en-US" sz="1300" dirty="0"/>
          </a:p>
        </p:txBody>
      </p:sp>
      <p:sp>
        <p:nvSpPr>
          <p:cNvPr id="10" name="box"/>
          <p:cNvSpPr/>
          <p:nvPr/>
        </p:nvSpPr>
        <p:spPr>
          <a:xfrm>
            <a:off x="822960" y="3017520"/>
            <a:ext cx="2194560" cy="548640"/>
          </a:xfrm>
          <a:prstGeom prst="roundRect">
            <a:avLst>
              <a:gd name="adj" fmla="val 13333"/>
            </a:avLst>
          </a:prstGeom>
          <a:solidFill>
            <a:schemeClr val="accent1"/>
          </a:solidFill>
          <a:ln w="12700">
            <a:solidFill>
              <a:schemeClr val="accent1"/>
            </a:solidFill>
            <a:prstDash val="solid"/>
          </a:ln>
        </p:spPr>
      </p:sp>
      <p:sp>
        <p:nvSpPr>
          <p:cNvPr id="11" name="Text 8"/>
          <p:cNvSpPr txBox="1"/>
          <p:nvPr/>
        </p:nvSpPr>
        <p:spPr>
          <a:xfrm>
            <a:off x="822960" y="3017520"/>
            <a:ext cx="2194560"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PlaySound(비명)</a:t>
            </a:r>
            <a:endParaRPr lang="ko-KR" altLang="en-US" sz="1300" dirty="0"/>
          </a:p>
        </p:txBody>
      </p:sp>
      <p:sp>
        <p:nvSpPr>
          <p:cNvPr id="12" name="Shape 9"/>
          <p:cNvSpPr/>
          <p:nvPr/>
        </p:nvSpPr>
        <p:spPr>
          <a:xfrm>
            <a:off x="3063240" y="2606040"/>
            <a:ext cx="548640" cy="320040"/>
          </a:xfrm>
          <a:prstGeom prst="line">
            <a:avLst/>
          </a:prstGeom>
          <a:noFill/>
          <a:ln w="22225">
            <a:solidFill>
              <a:schemeClr val="accent3"/>
            </a:solidFill>
            <a:prstDash val="solid"/>
            <a:tailEnd type="triangle"/>
          </a:ln>
        </p:spPr>
      </p:sp>
      <p:sp>
        <p:nvSpPr>
          <p:cNvPr id="13" name="Shape 10"/>
          <p:cNvSpPr/>
          <p:nvPr/>
        </p:nvSpPr>
        <p:spPr>
          <a:xfrm flipV="1">
            <a:off x="3063240" y="3017520"/>
            <a:ext cx="548640" cy="274320"/>
          </a:xfrm>
          <a:prstGeom prst="line">
            <a:avLst/>
          </a:prstGeom>
          <a:noFill/>
          <a:ln w="22225">
            <a:solidFill>
              <a:schemeClr val="accent3"/>
            </a:solidFill>
            <a:prstDash val="solid"/>
            <a:tailEnd type="triangle"/>
          </a:ln>
        </p:spPr>
      </p:sp>
      <p:sp>
        <p:nvSpPr>
          <p:cNvPr id="14" name="box"/>
          <p:cNvSpPr/>
          <p:nvPr/>
        </p:nvSpPr>
        <p:spPr>
          <a:xfrm>
            <a:off x="3657600" y="2606040"/>
            <a:ext cx="2011680" cy="685800"/>
          </a:xfrm>
          <a:prstGeom prst="roundRect">
            <a:avLst>
              <a:gd name="adj" fmla="val 10667"/>
            </a:avLst>
          </a:prstGeom>
          <a:solidFill>
            <a:schemeClr val="accent6"/>
          </a:solidFill>
          <a:ln w="12700">
            <a:solidFill>
              <a:schemeClr val="accent6"/>
            </a:solidFill>
            <a:prstDash val="solid"/>
          </a:ln>
        </p:spPr>
      </p:sp>
      <p:sp>
        <p:nvSpPr>
          <p:cNvPr id="15" name="Text 12"/>
          <p:cNvSpPr txBox="1"/>
          <p:nvPr/>
        </p:nvSpPr>
        <p:spPr>
          <a:xfrm>
            <a:off x="3657600" y="2606040"/>
            <a:ext cx="2011680"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같은 파형이</a:t>
            </a:r>
            <a:endParaRPr lang="ko-KR" altLang="en-US" sz="1400" dirty="0"/>
          </a:p>
          <a:p>
            <a:pPr algn="ctr" indent="0" marL="0" eaLnBrk="0">
              <a:buNone/>
            </a:pPr>
            <a:r>
              <a:rPr lang="ko-KR" altLang="en-US" sz="1400" b="1" dirty="0">
                <a:solidFill>
                  <a:schemeClr val="bg1"/>
                </a:solidFill>
              </a:rPr>
              <a:t>두 배로 크게</a:t>
            </a:r>
            <a:endParaRPr lang="ko-KR" altLang="en-US" sz="1400" dirty="0"/>
          </a:p>
        </p:txBody>
      </p:sp>
      <p:sp>
        <p:nvSpPr>
          <p:cNvPr id="16" name="Text 13"/>
          <p:cNvSpPr txBox="1"/>
          <p:nvPr/>
        </p:nvSpPr>
        <p:spPr>
          <a:xfrm>
            <a:off x="822960" y="3657600"/>
            <a:ext cx="4846320" cy="457200"/>
          </a:xfrm>
          <a:prstGeom prst="rect">
            <a:avLst/>
          </a:prstGeom>
          <a:noFill/>
          <a:ln/>
        </p:spPr>
        <p:txBody>
          <a:bodyPr wrap="square" lIns="0" tIns="0" rIns="0" bIns="0" rtlCol="0" anchor="t"/>
          <a:lstStyle/>
          <a:p>
            <a:pPr indent="0" marL="0" eaLnBrk="0">
              <a:buNone/>
            </a:pPr>
            <a:r>
              <a:rPr lang="ko-KR" altLang="en-US" sz="1300" dirty="0">
                <a:solidFill>
                  <a:schemeClr val="tx2"/>
                </a:solidFill>
              </a:rPr>
              <a:t>같은 소리를 두 번 더하면 한 소리를 두 배 크기로 튼 것과 같다.</a:t>
            </a:r>
            <a:endParaRPr lang="ko-KR" altLang="en-US" sz="1300" dirty="0"/>
          </a:p>
        </p:txBody>
      </p:sp>
      <p:sp>
        <p:nvSpPr>
          <p:cNvPr id="17" name="Shape 14"/>
          <p:cNvSpPr/>
          <p:nvPr/>
        </p:nvSpPr>
        <p:spPr>
          <a:xfrm>
            <a:off x="6217920" y="1691640"/>
            <a:ext cx="5425135" cy="2514600"/>
          </a:xfrm>
          <a:prstGeom prst="roundRect">
            <a:avLst>
              <a:gd name="adj" fmla="val 3636"/>
            </a:avLst>
          </a:prstGeom>
          <a:solidFill>
            <a:schemeClr val="bg2"/>
          </a:solidFill>
          <a:ln w="12700">
            <a:solidFill>
              <a:schemeClr val="bg2"/>
            </a:solidFill>
            <a:prstDash val="solid"/>
          </a:ln>
        </p:spPr>
      </p:sp>
      <p:sp>
        <p:nvSpPr>
          <p:cNvPr id="18" name="Text 15"/>
          <p:cNvSpPr txBox="1"/>
          <p:nvPr/>
        </p:nvSpPr>
        <p:spPr>
          <a:xfrm>
            <a:off x="6492240" y="1810512"/>
            <a:ext cx="4876495"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보스전: 하수인이 잔뜩 몰려온다</a:t>
            </a:r>
            <a:endParaRPr lang="ko-KR" altLang="en-US" sz="1600" dirty="0"/>
          </a:p>
        </p:txBody>
      </p:sp>
      <p:sp>
        <p:nvSpPr>
          <p:cNvPr id="19" name="box"/>
          <p:cNvSpPr/>
          <p:nvPr/>
        </p:nvSpPr>
        <p:spPr>
          <a:xfrm>
            <a:off x="6492240" y="2377440"/>
            <a:ext cx="749808" cy="502920"/>
          </a:xfrm>
          <a:prstGeom prst="roundRect">
            <a:avLst>
              <a:gd name="adj" fmla="val 14545"/>
            </a:avLst>
          </a:prstGeom>
          <a:solidFill>
            <a:schemeClr val="accent1"/>
          </a:solidFill>
          <a:ln w="12700">
            <a:solidFill>
              <a:schemeClr val="accent1"/>
            </a:solidFill>
            <a:prstDash val="solid"/>
          </a:ln>
        </p:spPr>
      </p:sp>
      <p:sp>
        <p:nvSpPr>
          <p:cNvPr id="20" name="Text 17"/>
          <p:cNvSpPr txBox="1"/>
          <p:nvPr/>
        </p:nvSpPr>
        <p:spPr>
          <a:xfrm>
            <a:off x="6492240" y="2377440"/>
            <a:ext cx="74980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소리</a:t>
            </a:r>
            <a:endParaRPr lang="ko-KR" altLang="en-US" sz="1200" dirty="0"/>
          </a:p>
        </p:txBody>
      </p:sp>
      <p:sp>
        <p:nvSpPr>
          <p:cNvPr id="21" name="box"/>
          <p:cNvSpPr/>
          <p:nvPr/>
        </p:nvSpPr>
        <p:spPr>
          <a:xfrm>
            <a:off x="7333488" y="2377440"/>
            <a:ext cx="749808" cy="502920"/>
          </a:xfrm>
          <a:prstGeom prst="roundRect">
            <a:avLst>
              <a:gd name="adj" fmla="val 14545"/>
            </a:avLst>
          </a:prstGeom>
          <a:solidFill>
            <a:schemeClr val="accent1"/>
          </a:solidFill>
          <a:ln w="12700">
            <a:solidFill>
              <a:schemeClr val="accent1"/>
            </a:solidFill>
            <a:prstDash val="solid"/>
          </a:ln>
        </p:spPr>
      </p:sp>
      <p:sp>
        <p:nvSpPr>
          <p:cNvPr id="22" name="Text 19"/>
          <p:cNvSpPr txBox="1"/>
          <p:nvPr/>
        </p:nvSpPr>
        <p:spPr>
          <a:xfrm>
            <a:off x="7333488" y="2377440"/>
            <a:ext cx="74980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소리</a:t>
            </a:r>
            <a:endParaRPr lang="ko-KR" altLang="en-US" sz="1200" dirty="0"/>
          </a:p>
        </p:txBody>
      </p:sp>
      <p:sp>
        <p:nvSpPr>
          <p:cNvPr id="23" name="box"/>
          <p:cNvSpPr/>
          <p:nvPr/>
        </p:nvSpPr>
        <p:spPr>
          <a:xfrm>
            <a:off x="8174736" y="2377440"/>
            <a:ext cx="749808" cy="502920"/>
          </a:xfrm>
          <a:prstGeom prst="roundRect">
            <a:avLst>
              <a:gd name="adj" fmla="val 14545"/>
            </a:avLst>
          </a:prstGeom>
          <a:solidFill>
            <a:schemeClr val="accent1"/>
          </a:solidFill>
          <a:ln w="12700">
            <a:solidFill>
              <a:schemeClr val="accent1"/>
            </a:solidFill>
            <a:prstDash val="solid"/>
          </a:ln>
        </p:spPr>
      </p:sp>
      <p:sp>
        <p:nvSpPr>
          <p:cNvPr id="24" name="Text 21"/>
          <p:cNvSpPr txBox="1"/>
          <p:nvPr/>
        </p:nvSpPr>
        <p:spPr>
          <a:xfrm>
            <a:off x="8174736" y="2377440"/>
            <a:ext cx="74980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소리</a:t>
            </a:r>
            <a:endParaRPr lang="ko-KR" altLang="en-US" sz="1200" dirty="0"/>
          </a:p>
        </p:txBody>
      </p:sp>
      <p:sp>
        <p:nvSpPr>
          <p:cNvPr id="25" name="box"/>
          <p:cNvSpPr/>
          <p:nvPr/>
        </p:nvSpPr>
        <p:spPr>
          <a:xfrm>
            <a:off x="9015984" y="2377440"/>
            <a:ext cx="749808" cy="502920"/>
          </a:xfrm>
          <a:prstGeom prst="roundRect">
            <a:avLst>
              <a:gd name="adj" fmla="val 14545"/>
            </a:avLst>
          </a:prstGeom>
          <a:solidFill>
            <a:schemeClr val="accent1"/>
          </a:solidFill>
          <a:ln w="12700">
            <a:solidFill>
              <a:schemeClr val="accent1"/>
            </a:solidFill>
            <a:prstDash val="solid"/>
          </a:ln>
        </p:spPr>
      </p:sp>
      <p:sp>
        <p:nvSpPr>
          <p:cNvPr id="26" name="Text 23"/>
          <p:cNvSpPr txBox="1"/>
          <p:nvPr/>
        </p:nvSpPr>
        <p:spPr>
          <a:xfrm>
            <a:off x="9015984" y="2377440"/>
            <a:ext cx="74980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소리</a:t>
            </a:r>
            <a:endParaRPr lang="ko-KR" altLang="en-US" sz="1200" dirty="0"/>
          </a:p>
        </p:txBody>
      </p:sp>
      <p:sp>
        <p:nvSpPr>
          <p:cNvPr id="27" name="box"/>
          <p:cNvSpPr/>
          <p:nvPr/>
        </p:nvSpPr>
        <p:spPr>
          <a:xfrm>
            <a:off x="9857232" y="2377440"/>
            <a:ext cx="749808" cy="502920"/>
          </a:xfrm>
          <a:prstGeom prst="roundRect">
            <a:avLst>
              <a:gd name="adj" fmla="val 14545"/>
            </a:avLst>
          </a:prstGeom>
          <a:solidFill>
            <a:schemeClr val="bg1"/>
          </a:solidFill>
          <a:ln w="19050">
            <a:solidFill>
              <a:schemeClr val="accent6"/>
            </a:solidFill>
            <a:prstDash val="dash"/>
          </a:ln>
        </p:spPr>
      </p:sp>
      <p:sp>
        <p:nvSpPr>
          <p:cNvPr id="28" name="Text 25"/>
          <p:cNvSpPr txBox="1"/>
          <p:nvPr/>
        </p:nvSpPr>
        <p:spPr>
          <a:xfrm>
            <a:off x="9857232" y="2377440"/>
            <a:ext cx="74980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accent3"/>
                </a:solidFill>
              </a:rPr>
              <a:t>소리</a:t>
            </a:r>
            <a:endParaRPr lang="ko-KR" altLang="en-US" sz="1200" dirty="0"/>
          </a:p>
        </p:txBody>
      </p:sp>
      <p:sp>
        <p:nvSpPr>
          <p:cNvPr id="29" name="box"/>
          <p:cNvSpPr/>
          <p:nvPr/>
        </p:nvSpPr>
        <p:spPr>
          <a:xfrm>
            <a:off x="10698480" y="2377440"/>
            <a:ext cx="749808" cy="502920"/>
          </a:xfrm>
          <a:prstGeom prst="roundRect">
            <a:avLst>
              <a:gd name="adj" fmla="val 14545"/>
            </a:avLst>
          </a:prstGeom>
          <a:solidFill>
            <a:schemeClr val="bg1"/>
          </a:solidFill>
          <a:ln w="19050">
            <a:solidFill>
              <a:schemeClr val="accent6"/>
            </a:solidFill>
            <a:prstDash val="dash"/>
          </a:ln>
        </p:spPr>
      </p:sp>
      <p:sp>
        <p:nvSpPr>
          <p:cNvPr id="30" name="Text 27"/>
          <p:cNvSpPr txBox="1"/>
          <p:nvPr/>
        </p:nvSpPr>
        <p:spPr>
          <a:xfrm>
            <a:off x="10698480" y="2377440"/>
            <a:ext cx="74980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accent3"/>
                </a:solidFill>
              </a:rPr>
              <a:t>소리</a:t>
            </a:r>
            <a:endParaRPr lang="ko-KR" altLang="en-US" sz="1200" dirty="0"/>
          </a:p>
        </p:txBody>
      </p:sp>
      <p:sp>
        <p:nvSpPr>
          <p:cNvPr id="31" name="Text 28"/>
          <p:cNvSpPr txBox="1"/>
          <p:nvPr/>
        </p:nvSpPr>
        <p:spPr>
          <a:xfrm>
            <a:off x="6492240" y="3108960"/>
            <a:ext cx="4876495" cy="822960"/>
          </a:xfrm>
          <a:prstGeom prst="rect">
            <a:avLst/>
          </a:prstGeom>
          <a:noFill/>
          <a:ln/>
        </p:spPr>
        <p:txBody>
          <a:bodyPr wrap="square" lIns="0" tIns="0" rIns="0" bIns="0" rtlCol="0" anchor="t"/>
          <a:lstStyle/>
          <a:p>
            <a:pPr indent="0" marL="0" eaLnBrk="0">
              <a:buNone/>
            </a:pPr>
            <a:r>
              <a:rPr lang="ko-KR" altLang="en-US" sz="1300" dirty="0">
                <a:solidFill>
                  <a:schemeClr val="tx2"/>
                </a:solidFill>
              </a:rPr>
              <a:t>동시에 낼 수 있는 소리 수를 넘으면 나머지는 무시되거나 끊긴다.</a:t>
            </a:r>
            <a:endParaRPr lang="ko-KR" altLang="en-US" sz="1300" dirty="0"/>
          </a:p>
        </p:txBody>
      </p:sp>
      <p:sp>
        <p:nvSpPr>
          <p:cNvPr id="32" name="card"/>
          <p:cNvSpPr/>
          <p:nvPr/>
        </p:nvSpPr>
        <p:spPr>
          <a:xfrm>
            <a:off x="548640" y="4434840"/>
            <a:ext cx="11094415" cy="1280160"/>
          </a:xfrm>
          <a:prstGeom prst="roundRect">
            <a:avLst>
              <a:gd name="adj" fmla="val 7143"/>
            </a:avLst>
          </a:prstGeom>
          <a:solidFill>
            <a:schemeClr val="tx2"/>
          </a:solidFill>
          <a:ln w="12700">
            <a:solidFill>
              <a:schemeClr val="tx2"/>
            </a:solidFill>
            <a:prstDash val="solid"/>
          </a:ln>
        </p:spPr>
      </p:sp>
      <p:sp>
        <p:nvSpPr>
          <p:cNvPr id="33" name="Text 30"/>
          <p:cNvSpPr txBox="1"/>
          <p:nvPr/>
        </p:nvSpPr>
        <p:spPr>
          <a:xfrm>
            <a:off x="777240" y="465429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원서의 문제 2</a:t>
            </a:r>
            <a:endParaRPr lang="ko-KR" altLang="en-US" sz="1700" dirty="0"/>
          </a:p>
        </p:txBody>
      </p:sp>
      <p:sp>
        <p:nvSpPr>
          <p:cNvPr id="34" name="Text 31"/>
          <p:cNvSpPr txBox="1"/>
          <p:nvPr/>
        </p:nvSpPr>
        <p:spPr>
          <a:xfrm>
            <a:off x="777240" y="5212080"/>
            <a:ext cx="10637215" cy="365760"/>
          </a:xfrm>
          <a:prstGeom prst="rect">
            <a:avLst/>
          </a:prstGeom>
          <a:noFill/>
          <a:ln/>
        </p:spPr>
        <p:txBody>
          <a:bodyPr wrap="square" lIns="0" tIns="0" rIns="0" bIns="0" rtlCol="0" anchor="t"/>
          <a:lstStyle/>
          <a:p>
            <a:pPr indent="0" marL="0" eaLnBrk="0">
              <a:buNone/>
            </a:pPr>
            <a:r>
              <a:rPr lang="ko-KR" altLang="en-US" sz="1400" dirty="0">
                <a:solidFill>
                  <a:schemeClr val="bg1"/>
                </a:solidFill>
              </a:rPr>
              <a:t>PlaySound는 호출을 하나씩 따로 처리한다. 요청 전체를 보고 합치거나 우선순위를 정할 수 없다.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문제 3</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요청이 호출한 쪽의 스레드에서 처리된다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세 문제의 공통 원인은 무엇일까?</a:t>
            </a:r>
            <a:endParaRPr lang="ko-KR" altLang="en-US" sz="1500" dirty="0"/>
          </a:p>
        </p:txBody>
      </p:sp>
      <p:sp>
        <p:nvSpPr>
          <p:cNvPr id="6" name="box"/>
          <p:cNvSpPr/>
          <p:nvPr/>
        </p:nvSpPr>
        <p:spPr>
          <a:xfrm>
            <a:off x="548640" y="1828800"/>
            <a:ext cx="2743200" cy="777240"/>
          </a:xfrm>
          <a:prstGeom prst="roundRect">
            <a:avLst>
              <a:gd name="adj" fmla="val 9412"/>
            </a:avLst>
          </a:prstGeom>
          <a:solidFill>
            <a:schemeClr val="accent2"/>
          </a:solidFill>
          <a:ln w="12700">
            <a:solidFill>
              <a:schemeClr val="accent2"/>
            </a:solidFill>
            <a:prstDash val="solid"/>
          </a:ln>
        </p:spPr>
      </p:sp>
      <p:sp>
        <p:nvSpPr>
          <p:cNvPr id="7" name="Text 4"/>
          <p:cNvSpPr txBox="1"/>
          <p:nvPr/>
        </p:nvSpPr>
        <p:spPr>
          <a:xfrm>
            <a:off x="548640" y="1828800"/>
            <a:ext cx="2743200" cy="77724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렌더링 스레드</a:t>
            </a:r>
            <a:endParaRPr lang="ko-KR" altLang="en-US" sz="1500" dirty="0"/>
          </a:p>
        </p:txBody>
      </p:sp>
      <p:sp>
        <p:nvSpPr>
          <p:cNvPr id="8" name="box"/>
          <p:cNvSpPr/>
          <p:nvPr/>
        </p:nvSpPr>
        <p:spPr>
          <a:xfrm>
            <a:off x="548640" y="3063240"/>
            <a:ext cx="2743200" cy="777240"/>
          </a:xfrm>
          <a:prstGeom prst="roundRect">
            <a:avLst>
              <a:gd name="adj" fmla="val 9412"/>
            </a:avLst>
          </a:prstGeom>
          <a:solidFill>
            <a:schemeClr val="accent2"/>
          </a:solidFill>
          <a:ln w="12700">
            <a:solidFill>
              <a:schemeClr val="accent2"/>
            </a:solidFill>
            <a:prstDash val="solid"/>
          </a:ln>
        </p:spPr>
      </p:sp>
      <p:sp>
        <p:nvSpPr>
          <p:cNvPr id="9" name="Text 6"/>
          <p:cNvSpPr txBox="1"/>
          <p:nvPr/>
        </p:nvSpPr>
        <p:spPr>
          <a:xfrm>
            <a:off x="548640" y="3063240"/>
            <a:ext cx="2743200" cy="77724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AI 스레드</a:t>
            </a:r>
            <a:endParaRPr lang="ko-KR" altLang="en-US" sz="1500" dirty="0"/>
          </a:p>
        </p:txBody>
      </p:sp>
      <p:sp>
        <p:nvSpPr>
          <p:cNvPr id="10" name="box"/>
          <p:cNvSpPr/>
          <p:nvPr/>
        </p:nvSpPr>
        <p:spPr>
          <a:xfrm>
            <a:off x="4389120" y="2377440"/>
            <a:ext cx="3108960" cy="960120"/>
          </a:xfrm>
          <a:prstGeom prst="roundRect">
            <a:avLst>
              <a:gd name="adj" fmla="val 7619"/>
            </a:avLst>
          </a:prstGeom>
          <a:solidFill>
            <a:schemeClr val="accent6"/>
          </a:solidFill>
          <a:ln w="12700">
            <a:solidFill>
              <a:schemeClr val="accent6"/>
            </a:solidFill>
            <a:prstDash val="solid"/>
          </a:ln>
        </p:spPr>
      </p:sp>
      <p:sp>
        <p:nvSpPr>
          <p:cNvPr id="11" name="Text 8"/>
          <p:cNvSpPr txBox="1"/>
          <p:nvPr/>
        </p:nvSpPr>
        <p:spPr>
          <a:xfrm>
            <a:off x="4389120" y="2377440"/>
            <a:ext cx="3108960" cy="96012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Audio.PlaySound</a:t>
            </a:r>
            <a:endParaRPr lang="ko-KR" altLang="en-US" sz="1500" dirty="0"/>
          </a:p>
          <a:p>
            <a:pPr algn="ctr" indent="0" marL="0" eaLnBrk="0">
              <a:buNone/>
            </a:pPr>
            <a:r>
              <a:rPr lang="ko-KR" altLang="en-US" sz="1500" b="1" dirty="0">
                <a:solidFill>
                  <a:schemeClr val="bg1"/>
                </a:solidFill>
              </a:rPr>
              <a:t>동기화 없음</a:t>
            </a:r>
            <a:endParaRPr lang="ko-KR" altLang="en-US" sz="1500" dirty="0"/>
          </a:p>
        </p:txBody>
      </p:sp>
      <p:sp>
        <p:nvSpPr>
          <p:cNvPr id="12" name="Shape 9"/>
          <p:cNvSpPr/>
          <p:nvPr/>
        </p:nvSpPr>
        <p:spPr>
          <a:xfrm>
            <a:off x="3337560" y="2212848"/>
            <a:ext cx="1005840" cy="484632"/>
          </a:xfrm>
          <a:prstGeom prst="line">
            <a:avLst/>
          </a:prstGeom>
          <a:noFill/>
          <a:ln w="22225">
            <a:solidFill>
              <a:schemeClr val="accent6"/>
            </a:solidFill>
            <a:prstDash val="solid"/>
            <a:tailEnd type="triangle"/>
          </a:ln>
        </p:spPr>
      </p:sp>
      <p:sp>
        <p:nvSpPr>
          <p:cNvPr id="13" name="Shape 10"/>
          <p:cNvSpPr/>
          <p:nvPr/>
        </p:nvSpPr>
        <p:spPr>
          <a:xfrm flipV="1">
            <a:off x="3337560" y="3017520"/>
            <a:ext cx="1005840" cy="429768"/>
          </a:xfrm>
          <a:prstGeom prst="line">
            <a:avLst/>
          </a:prstGeom>
          <a:noFill/>
          <a:ln w="22225">
            <a:solidFill>
              <a:schemeClr val="accent6"/>
            </a:solidFill>
            <a:prstDash val="solid"/>
            <a:tailEnd type="triangle"/>
          </a:ln>
        </p:spPr>
      </p:sp>
      <p:sp>
        <p:nvSpPr>
          <p:cNvPr id="14" name="Text 11"/>
          <p:cNvSpPr txBox="1"/>
          <p:nvPr/>
        </p:nvSpPr>
        <p:spPr>
          <a:xfrm>
            <a:off x="3291840" y="2697480"/>
            <a:ext cx="1188720" cy="320040"/>
          </a:xfrm>
          <a:prstGeom prst="rect">
            <a:avLst/>
          </a:prstGeom>
          <a:noFill/>
          <a:ln/>
        </p:spPr>
        <p:txBody>
          <a:bodyPr wrap="square" lIns="0" tIns="0" rIns="0" bIns="0" rtlCol="0" anchor="t"/>
          <a:lstStyle/>
          <a:p>
            <a:pPr indent="0" marL="0" eaLnBrk="0">
              <a:buNone/>
            </a:pPr>
            <a:r>
              <a:rPr lang="ko-KR" altLang="en-US" sz="1200" b="1" dirty="0">
                <a:solidFill>
                  <a:schemeClr val="accent6"/>
                </a:solidFill>
              </a:rPr>
              <a:t>동시에 호출</a:t>
            </a:r>
            <a:endParaRPr lang="ko-KR" altLang="en-US" sz="1200" dirty="0"/>
          </a:p>
        </p:txBody>
      </p:sp>
      <p:sp>
        <p:nvSpPr>
          <p:cNvPr id="15" name="box"/>
          <p:cNvSpPr/>
          <p:nvPr/>
        </p:nvSpPr>
        <p:spPr>
          <a:xfrm>
            <a:off x="8412480" y="2377440"/>
            <a:ext cx="3230575" cy="960120"/>
          </a:xfrm>
          <a:prstGeom prst="roundRect">
            <a:avLst>
              <a:gd name="adj" fmla="val 7619"/>
            </a:avLst>
          </a:prstGeom>
          <a:solidFill>
            <a:schemeClr val="bg1"/>
          </a:solidFill>
          <a:ln w="19050">
            <a:solidFill>
              <a:schemeClr val="accent6"/>
            </a:solidFill>
            <a:prstDash val="dash"/>
          </a:ln>
        </p:spPr>
      </p:sp>
      <p:sp>
        <p:nvSpPr>
          <p:cNvPr id="16" name="Text 13"/>
          <p:cNvSpPr txBox="1"/>
          <p:nvPr/>
        </p:nvSpPr>
        <p:spPr>
          <a:xfrm>
            <a:off x="8412480" y="2377440"/>
            <a:ext cx="3230575" cy="960120"/>
          </a:xfrm>
          <a:prstGeom prst="rect">
            <a:avLst/>
          </a:prstGeom>
          <a:noFill/>
          <a:ln/>
        </p:spPr>
        <p:txBody>
          <a:bodyPr wrap="square" lIns="635" tIns="635" rIns="635" bIns="635" rtlCol="0" anchor="ctr"/>
          <a:lstStyle/>
          <a:p>
            <a:pPr algn="ctr" indent="0" marL="0" eaLnBrk="0">
              <a:buNone/>
            </a:pPr>
            <a:r>
              <a:rPr lang="ko-KR" altLang="en-US" sz="1500" b="1" dirty="0">
                <a:solidFill>
                  <a:schemeClr val="accent3"/>
                </a:solidFill>
              </a:rPr>
              <a:t>오디오 스레드</a:t>
            </a:r>
            <a:endParaRPr lang="ko-KR" altLang="en-US" sz="1500" dirty="0"/>
          </a:p>
          <a:p>
            <a:pPr algn="ctr" indent="0" marL="0" eaLnBrk="0">
              <a:buNone/>
            </a:pPr>
            <a:r>
              <a:rPr lang="ko-KR" altLang="en-US" sz="1500" b="1" dirty="0">
                <a:solidFill>
                  <a:schemeClr val="accent3"/>
                </a:solidFill>
              </a:rPr>
              <a:t>할 일 없이 놀고 있다</a:t>
            </a:r>
            <a:endParaRPr lang="ko-KR" altLang="en-US" sz="1500" dirty="0"/>
          </a:p>
        </p:txBody>
      </p:sp>
      <p:sp>
        <p:nvSpPr>
          <p:cNvPr id="17" name="card"/>
          <p:cNvSpPr/>
          <p:nvPr/>
        </p:nvSpPr>
        <p:spPr>
          <a:xfrm>
            <a:off x="548640" y="4160520"/>
            <a:ext cx="5394960" cy="1508760"/>
          </a:xfrm>
          <a:prstGeom prst="roundRect">
            <a:avLst>
              <a:gd name="adj" fmla="val 6061"/>
            </a:avLst>
          </a:prstGeom>
          <a:solidFill>
            <a:schemeClr val="bg2"/>
          </a:solidFill>
          <a:ln w="12700">
            <a:solidFill>
              <a:schemeClr val="bg2"/>
            </a:solidFill>
            <a:prstDash val="solid"/>
          </a:ln>
        </p:spPr>
      </p:sp>
      <p:sp>
        <p:nvSpPr>
          <p:cNvPr id="18" name="Text 15"/>
          <p:cNvSpPr txBox="1"/>
          <p:nvPr/>
        </p:nvSpPr>
        <p:spPr>
          <a:xfrm>
            <a:off x="777240" y="4379976"/>
            <a:ext cx="498348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동기 API의 성질</a:t>
            </a:r>
            <a:endParaRPr lang="ko-KR" altLang="en-US" sz="1700" dirty="0"/>
          </a:p>
        </p:txBody>
      </p:sp>
      <p:sp>
        <p:nvSpPr>
          <p:cNvPr id="19" name="Text 16"/>
          <p:cNvSpPr txBox="1"/>
          <p:nvPr/>
        </p:nvSpPr>
        <p:spPr>
          <a:xfrm>
            <a:off x="777240" y="4937760"/>
            <a:ext cx="4937760" cy="5943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호출한 쪽의 스레드에서 그대로 실행된다.</a:t>
            </a:r>
            <a:endParaRPr lang="ko-KR" altLang="en-US" sz="1400" dirty="0"/>
          </a:p>
        </p:txBody>
      </p:sp>
      <p:sp>
        <p:nvSpPr>
          <p:cNvPr id="20" name="card"/>
          <p:cNvSpPr/>
          <p:nvPr/>
        </p:nvSpPr>
        <p:spPr>
          <a:xfrm>
            <a:off x="6217920" y="4160520"/>
            <a:ext cx="5425135" cy="1508760"/>
          </a:xfrm>
          <a:prstGeom prst="roundRect">
            <a:avLst>
              <a:gd name="adj" fmla="val 6061"/>
            </a:avLst>
          </a:prstGeom>
          <a:solidFill>
            <a:schemeClr val="bg2"/>
          </a:solidFill>
          <a:ln w="12700">
            <a:solidFill>
              <a:schemeClr val="bg2"/>
            </a:solidFill>
            <a:prstDash val="solid"/>
          </a:ln>
        </p:spPr>
      </p:sp>
      <p:sp>
        <p:nvSpPr>
          <p:cNvPr id="21" name="Text 18"/>
          <p:cNvSpPr txBox="1"/>
          <p:nvPr/>
        </p:nvSpPr>
        <p:spPr>
          <a:xfrm>
            <a:off x="6446520" y="4379976"/>
            <a:ext cx="50136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원서의 문제 3</a:t>
            </a:r>
            <a:endParaRPr lang="ko-KR" altLang="en-US" sz="1700" dirty="0"/>
          </a:p>
        </p:txBody>
      </p:sp>
      <p:sp>
        <p:nvSpPr>
          <p:cNvPr id="22" name="Text 19"/>
          <p:cNvSpPr txBox="1"/>
          <p:nvPr/>
        </p:nvSpPr>
        <p:spPr>
          <a:xfrm>
            <a:off x="6446520" y="4937760"/>
            <a:ext cx="4967935" cy="5943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요청이 처리되어야 할 스레드가 아닌 곳에서 처리된다.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원인과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세 문제의 원인은 ‘지금 바로 처리’에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큐는 실제로 어떻게 만들까? 가장 단순한 배열부터 시작하자.</a:t>
            </a:r>
            <a:endParaRPr lang="ko-KR" alt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852160" cy="914400"/>
        </p:xfrm>
        <a:graphic>
          <a:graphicData uri="http://schemas.openxmlformats.org/drawingml/2006/table">
            <a:tbl>
              <a:tblPr/>
              <a:tblGrid>
                <a:gridCol w="2651760"/>
                <a:gridCol w="3200400"/>
              </a:tblGrid>
              <a:tr h="438912">
                <a:tc>
                  <a:txBody>
                    <a:bodyPr/>
                    <a:lstStyle/>
                    <a:p>
                      <a:pPr indent="0" marL="0" eaLnBrk="0">
                        <a:buNone/>
                      </a:pPr>
                      <a:r>
                        <a:rPr lang="ko-KR" altLang="en-US" sz="1400" b="1" dirty="0">
                          <a:solidFill>
                            <a:schemeClr val="bg1"/>
                          </a:solidFill>
                        </a:rPr>
                        <a:t>문제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‘지금 바로’ 때문에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66928">
                <a:tc>
                  <a:txBody>
                    <a:bodyPr/>
                    <a:lstStyle/>
                    <a:p>
                      <a:pPr indent="0" marL="0" eaLnBrk="0">
                        <a:buNone/>
                      </a:pPr>
                      <a:r>
                        <a:rPr lang="ko-KR" altLang="en-US" sz="1400" b="1" dirty="0">
                          <a:solidFill>
                            <a:schemeClr val="tx1"/>
                          </a:solidFill>
                        </a:rPr>
                        <a:t>1. 호출한 쪽이 멈춘다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처리가 끝나야 돌아온다.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400" b="1" dirty="0">
                          <a:solidFill>
                            <a:schemeClr val="tx1"/>
                          </a:solidFill>
                        </a:rPr>
                        <a:t>2. 모아서 다룰 수 없다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요청이 오는 대로 하나씩 처리한다.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400" b="1" dirty="0">
                          <a:solidFill>
                            <a:schemeClr val="tx1"/>
                          </a:solidFill>
                        </a:rPr>
                        <a:t>3. 잘못된 스레드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호출한 쪽의 스레드에서 처리한다.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box"/>
          <p:cNvSpPr/>
          <p:nvPr/>
        </p:nvSpPr>
        <p:spPr>
          <a:xfrm>
            <a:off x="6766560" y="1691640"/>
            <a:ext cx="4876495" cy="685800"/>
          </a:xfrm>
          <a:prstGeom prst="roundRect">
            <a:avLst>
              <a:gd name="adj" fmla="val 10667"/>
            </a:avLst>
          </a:prstGeom>
          <a:solidFill>
            <a:schemeClr val="accent2"/>
          </a:solidFill>
          <a:ln w="12700">
            <a:solidFill>
              <a:schemeClr val="accent2"/>
            </a:solidFill>
            <a:prstDash val="solid"/>
          </a:ln>
        </p:spPr>
      </p:sp>
      <p:sp>
        <p:nvSpPr>
          <p:cNvPr id="8" name="Text 4"/>
          <p:cNvSpPr txBox="1"/>
          <p:nvPr/>
        </p:nvSpPr>
        <p:spPr>
          <a:xfrm>
            <a:off x="6766560" y="1691640"/>
            <a:ext cx="4876495"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요청 받기: PlaySound는 넣고 돌아간다</a:t>
            </a:r>
            <a:endParaRPr lang="ko-KR" altLang="en-US" sz="1400" dirty="0"/>
          </a:p>
        </p:txBody>
      </p:sp>
      <p:sp>
        <p:nvSpPr>
          <p:cNvPr id="9" name="Shape 5"/>
          <p:cNvSpPr/>
          <p:nvPr/>
        </p:nvSpPr>
        <p:spPr>
          <a:xfrm>
            <a:off x="9204808" y="2404872"/>
            <a:ext cx="914" cy="274320"/>
          </a:xfrm>
          <a:prstGeom prst="line">
            <a:avLst/>
          </a:prstGeom>
          <a:noFill/>
          <a:ln w="22225">
            <a:solidFill>
              <a:schemeClr val="accent3"/>
            </a:solidFill>
            <a:prstDash val="solid"/>
            <a:tailEnd type="triangle"/>
          </a:ln>
        </p:spPr>
      </p:sp>
      <p:sp>
        <p:nvSpPr>
          <p:cNvPr id="10" name="box"/>
          <p:cNvSpPr/>
          <p:nvPr/>
        </p:nvSpPr>
        <p:spPr>
          <a:xfrm>
            <a:off x="6766560" y="2697480"/>
            <a:ext cx="4876495" cy="548640"/>
          </a:xfrm>
          <a:prstGeom prst="roundRect">
            <a:avLst>
              <a:gd name="adj" fmla="val 13333"/>
            </a:avLst>
          </a:prstGeom>
          <a:solidFill>
            <a:schemeClr val="bg2"/>
          </a:solidFill>
          <a:ln w="12700">
            <a:solidFill>
              <a:schemeClr val="bg2"/>
            </a:solidFill>
            <a:prstDash val="solid"/>
          </a:ln>
        </p:spPr>
      </p:sp>
      <p:sp>
        <p:nvSpPr>
          <p:cNvPr id="11" name="Text 7"/>
          <p:cNvSpPr txBox="1"/>
          <p:nvPr/>
        </p:nvSpPr>
        <p:spPr>
          <a:xfrm>
            <a:off x="6766560" y="2697480"/>
            <a:ext cx="4876495"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큐: 들어온 순서대로 보관</a:t>
            </a:r>
            <a:endParaRPr lang="ko-KR" altLang="en-US" sz="1400" dirty="0"/>
          </a:p>
        </p:txBody>
      </p:sp>
      <p:sp>
        <p:nvSpPr>
          <p:cNvPr id="12" name="Shape 8"/>
          <p:cNvSpPr/>
          <p:nvPr/>
        </p:nvSpPr>
        <p:spPr>
          <a:xfrm>
            <a:off x="9204808" y="3273552"/>
            <a:ext cx="914" cy="274320"/>
          </a:xfrm>
          <a:prstGeom prst="line">
            <a:avLst/>
          </a:prstGeom>
          <a:noFill/>
          <a:ln w="22225">
            <a:solidFill>
              <a:schemeClr val="accent3"/>
            </a:solidFill>
            <a:prstDash val="solid"/>
            <a:tailEnd type="triangle"/>
          </a:ln>
        </p:spPr>
      </p:sp>
      <p:sp>
        <p:nvSpPr>
          <p:cNvPr id="13" name="box"/>
          <p:cNvSpPr/>
          <p:nvPr/>
        </p:nvSpPr>
        <p:spPr>
          <a:xfrm>
            <a:off x="6766560" y="3566160"/>
            <a:ext cx="4876495" cy="685800"/>
          </a:xfrm>
          <a:prstGeom prst="roundRect">
            <a:avLst>
              <a:gd name="adj" fmla="val 10667"/>
            </a:avLst>
          </a:prstGeom>
          <a:solidFill>
            <a:schemeClr val="accent1"/>
          </a:solidFill>
          <a:ln w="12700">
            <a:solidFill>
              <a:schemeClr val="accent1"/>
            </a:solidFill>
            <a:prstDash val="solid"/>
          </a:ln>
        </p:spPr>
      </p:sp>
      <p:sp>
        <p:nvSpPr>
          <p:cNvPr id="14" name="Text 10"/>
          <p:cNvSpPr txBox="1"/>
          <p:nvPr/>
        </p:nvSpPr>
        <p:spPr>
          <a:xfrm>
            <a:off x="6766560" y="3566160"/>
            <a:ext cx="4876495"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요청 처리: Update가 편할 때 꺼낸다</a:t>
            </a:r>
            <a:endParaRPr lang="ko-KR" altLang="en-US" sz="1400" dirty="0"/>
          </a:p>
        </p:txBody>
      </p:sp>
      <p:sp>
        <p:nvSpPr>
          <p:cNvPr id="15" name="card"/>
          <p:cNvSpPr/>
          <p:nvPr/>
        </p:nvSpPr>
        <p:spPr>
          <a:xfrm>
            <a:off x="548640" y="4389120"/>
            <a:ext cx="11094415" cy="1371600"/>
          </a:xfrm>
          <a:prstGeom prst="roundRect">
            <a:avLst>
              <a:gd name="adj" fmla="val 6667"/>
            </a:avLst>
          </a:prstGeom>
          <a:solidFill>
            <a:schemeClr val="tx2"/>
          </a:solidFill>
          <a:ln w="12700">
            <a:solidFill>
              <a:schemeClr val="tx2"/>
            </a:solidFill>
            <a:prstDash val="solid"/>
          </a:ln>
        </p:spPr>
      </p:sp>
      <p:sp>
        <p:nvSpPr>
          <p:cNvPr id="16" name="Text 12"/>
          <p:cNvSpPr txBox="1"/>
          <p:nvPr/>
        </p:nvSpPr>
        <p:spPr>
          <a:xfrm>
            <a:off x="777240" y="460857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패턴</a:t>
            </a:r>
            <a:endParaRPr lang="ko-KR" altLang="en-US" sz="1700" dirty="0"/>
          </a:p>
        </p:txBody>
      </p:sp>
      <p:sp>
        <p:nvSpPr>
          <p:cNvPr id="17" name="Text 13"/>
          <p:cNvSpPr txBox="1"/>
          <p:nvPr/>
        </p:nvSpPr>
        <p:spPr>
          <a:xfrm>
            <a:off x="777240" y="5166360"/>
            <a:ext cx="10637215" cy="457200"/>
          </a:xfrm>
          <a:prstGeom prst="rect">
            <a:avLst/>
          </a:prstGeom>
          <a:noFill/>
          <a:ln/>
        </p:spPr>
        <p:txBody>
          <a:bodyPr wrap="square" lIns="0" tIns="0" rIns="0" bIns="0" rtlCol="0" anchor="t"/>
          <a:lstStyle/>
          <a:p>
            <a:pPr indent="0" marL="0" eaLnBrk="0">
              <a:buNone/>
            </a:pPr>
            <a:r>
              <a:rPr lang="ko-KR" altLang="en-US" sz="1400" dirty="0">
                <a:solidFill>
                  <a:schemeClr val="bg1"/>
                </a:solidFill>
              </a:rPr>
              <a:t>큐가 알림이나 요청을 들어온 순서대로 보관한다. 보내는 쪽은 넣고 바로 돌아가고, 처리하는 쪽은 나중에 꺼내 직접 처리하거나 관심 있는 곳에 넘긴다.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2부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배열에서 원형 버퍼로</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예제 코드, 원형 버퍼</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요청 보관</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재생 요청을 구조체에 담아 배열에 쌓아 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PlaySound와 실제 재생은 이제 각각 어디서 할까?</a:t>
            </a:r>
            <a:endParaRPr lang="ko-KR" altLang="en-US" sz="1500" dirty="0"/>
          </a:p>
        </p:txBody>
      </p:sp>
      <p:sp>
        <p:nvSpPr>
          <p:cNvPr id="6" name="codePanel"/>
          <p:cNvSpPr/>
          <p:nvPr/>
        </p:nvSpPr>
        <p:spPr>
          <a:xfrm>
            <a:off x="548640" y="1645920"/>
            <a:ext cx="7223760" cy="4069080"/>
          </a:xfrm>
          <a:prstGeom prst="roundRect">
            <a:avLst>
              <a:gd name="adj" fmla="val 1798"/>
            </a:avLst>
          </a:prstGeom>
          <a:solidFill>
            <a:schemeClr val="tx1"/>
          </a:solidFill>
          <a:ln w="12700">
            <a:solidFill>
              <a:schemeClr val="tx1"/>
            </a:solidFill>
            <a:prstDash val="solid"/>
          </a:ln>
        </p:spPr>
      </p:sp>
      <p:sp>
        <p:nvSpPr>
          <p:cNvPr id="7" name="code"/>
          <p:cNvSpPr txBox="1"/>
          <p:nvPr/>
        </p:nvSpPr>
        <p:spPr>
          <a:xfrm>
            <a:off x="658368" y="1737360"/>
            <a:ext cx="7004304" cy="3886200"/>
          </a:xfrm>
          <a:prstGeom prst="rect">
            <a:avLst/>
          </a:prstGeom>
          <a:noFill/>
          <a:ln/>
        </p:spPr>
        <p:txBody>
          <a:bodyPr wrap="square" lIns="635" tIns="635" rIns="635" bIns="635" rtlCol="0" anchor="t"/>
          <a:lstStyle/>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public struct PlayMessage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SoundId Id;</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int Volume;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static class Audio</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const int MaxPending = 16;</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static readonly PlayMessage[] _pending = new PlayMessage[MaxPending];</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static int _numPending;</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static void Init()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_numPending = 0;</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accent3"/>
                </a:solidFill>
                <a:latin typeface="Consolas" pitchFamily="34" charset="0"/>
                <a:ea typeface="Consolas" pitchFamily="34" charset="-122"/>
                <a:cs typeface="Consolas" pitchFamily="34" charset="-120"/>
              </a:rPr>
              <a:t>    // 다른 코드...</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8" name="codeCaption"/>
          <p:cNvSpPr txBox="1"/>
          <p:nvPr/>
        </p:nvSpPr>
        <p:spPr>
          <a:xfrm>
            <a:off x="466344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8138160" y="1645920"/>
            <a:ext cx="3504895" cy="1508760"/>
          </a:xfrm>
          <a:prstGeom prst="roundRect">
            <a:avLst>
              <a:gd name="adj" fmla="val 6061"/>
            </a:avLst>
          </a:prstGeom>
          <a:solidFill>
            <a:schemeClr val="bg2"/>
          </a:solidFill>
          <a:ln w="12700">
            <a:solidFill>
              <a:schemeClr val="bg2"/>
            </a:solidFill>
            <a:prstDash val="solid"/>
          </a:ln>
        </p:spPr>
      </p:sp>
      <p:sp>
        <p:nvSpPr>
          <p:cNvPr id="10" name="Text 7"/>
          <p:cNvSpPr txBox="1"/>
          <p:nvPr/>
        </p:nvSpPr>
        <p:spPr>
          <a:xfrm>
            <a:off x="8366760" y="1865376"/>
            <a:ext cx="30934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요청을 값으로</a:t>
            </a:r>
            <a:endParaRPr lang="ko-KR" altLang="en-US" sz="1700" dirty="0"/>
          </a:p>
        </p:txBody>
      </p:sp>
      <p:sp>
        <p:nvSpPr>
          <p:cNvPr id="11" name="Text 8"/>
          <p:cNvSpPr txBox="1"/>
          <p:nvPr/>
        </p:nvSpPr>
        <p:spPr>
          <a:xfrm>
            <a:off x="8366760" y="2423160"/>
            <a:ext cx="3047695" cy="5943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나중에 재생하려면 무엇을 얼마나 크게 낼지 보관해야 한다.</a:t>
            </a:r>
            <a:endParaRPr lang="ko-KR" altLang="en-US" sz="1400" dirty="0"/>
          </a:p>
        </p:txBody>
      </p:sp>
      <p:sp>
        <p:nvSpPr>
          <p:cNvPr id="12" name="card"/>
          <p:cNvSpPr/>
          <p:nvPr/>
        </p:nvSpPr>
        <p:spPr>
          <a:xfrm>
            <a:off x="8138160" y="3291840"/>
            <a:ext cx="3504895" cy="2423160"/>
          </a:xfrm>
          <a:prstGeom prst="roundRect">
            <a:avLst>
              <a:gd name="adj" fmla="val 3774"/>
            </a:avLst>
          </a:prstGeom>
          <a:solidFill>
            <a:schemeClr val="bg2"/>
          </a:solidFill>
          <a:ln w="12700">
            <a:solidFill>
              <a:schemeClr val="bg2"/>
            </a:solidFill>
            <a:prstDash val="solid"/>
          </a:ln>
        </p:spPr>
      </p:sp>
      <p:sp>
        <p:nvSpPr>
          <p:cNvPr id="13" name="Text 10"/>
          <p:cNvSpPr txBox="1"/>
          <p:nvPr/>
        </p:nvSpPr>
        <p:spPr>
          <a:xfrm>
            <a:off x="8366760" y="3511296"/>
            <a:ext cx="30934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왜 그냥 배열인가</a:t>
            </a:r>
            <a:endParaRPr lang="ko-KR" altLang="en-US" sz="1700" dirty="0"/>
          </a:p>
        </p:txBody>
      </p:sp>
      <p:sp>
        <p:nvSpPr>
          <p:cNvPr id="14" name="Text 11"/>
          <p:cNvSpPr txBox="1"/>
          <p:nvPr/>
        </p:nvSpPr>
        <p:spPr>
          <a:xfrm>
            <a:off x="8366760" y="4069080"/>
            <a:ext cx="3047695" cy="15087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동적 할당이 없다.</a:t>
            </a:r>
            <a:endParaRPr lang="ko-KR" altLang="en-US" sz="1400" dirty="0"/>
          </a:p>
          <a:p>
            <a:pPr indent="0" marL="0" eaLnBrk="0">
              <a:spcAft>
                <a:spcPts val="400"/>
              </a:spcAft>
              <a:buNone/>
            </a:pPr>
            <a:r>
              <a:rPr lang="ko-KR" altLang="en-US" sz="1400" dirty="0">
                <a:solidFill>
                  <a:schemeClr val="tx2"/>
                </a:solidFill>
              </a:rPr>
              <a:t>포인터 같은 부가 정보가 없다.</a:t>
            </a:r>
            <a:endParaRPr lang="ko-KR" altLang="en-US" sz="1400" dirty="0"/>
          </a:p>
          <a:p>
            <a:pPr indent="0" marL="0" eaLnBrk="0">
              <a:spcAft>
                <a:spcPts val="400"/>
              </a:spcAft>
              <a:buNone/>
            </a:pPr>
            <a:r>
              <a:rPr lang="ko-KR" altLang="en-US" sz="1400" dirty="0">
                <a:solidFill>
                  <a:schemeClr val="tx2"/>
                </a:solidFill>
              </a:rPr>
              <a:t>메모리가 연속이라 캐시에 유리하다. 자세한 내용은 데이터 지역성(Data Locality) 장.</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넣기와 처리</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PlaySound는 배열 끝에 넣고, Update가 한꺼번에 재생한다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요청을 한 번에 하나씩만 처리해야 한다면 어떻게 될까?</a:t>
            </a:r>
            <a:endParaRPr lang="ko-KR" altLang="en-US" sz="1500" dirty="0"/>
          </a:p>
        </p:txBody>
      </p:sp>
      <p:sp>
        <p:nvSpPr>
          <p:cNvPr id="6" name="codePanel"/>
          <p:cNvSpPr/>
          <p:nvPr/>
        </p:nvSpPr>
        <p:spPr>
          <a:xfrm>
            <a:off x="548640" y="1645920"/>
            <a:ext cx="5486400" cy="2148840"/>
          </a:xfrm>
          <a:prstGeom prst="roundRect">
            <a:avLst>
              <a:gd name="adj" fmla="val 3404"/>
            </a:avLst>
          </a:prstGeom>
          <a:solidFill>
            <a:schemeClr val="tx1"/>
          </a:solidFill>
          <a:ln w="12700">
            <a:solidFill>
              <a:schemeClr val="tx1"/>
            </a:solidFill>
            <a:prstDash val="solid"/>
          </a:ln>
        </p:spPr>
      </p:sp>
      <p:sp>
        <p:nvSpPr>
          <p:cNvPr id="7" name="code"/>
          <p:cNvSpPr txBox="1"/>
          <p:nvPr/>
        </p:nvSpPr>
        <p:spPr>
          <a:xfrm>
            <a:off x="658368" y="1737360"/>
            <a:ext cx="5266944" cy="196596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static void PlaySound(SoundId id, int 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Debug.Assert(_numPending &lt; MaxPending);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_pending[_numPending].Id = id;</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_pending[_numPending].Volume = volume;</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_numPending++;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Panel"/>
          <p:cNvSpPr/>
          <p:nvPr/>
        </p:nvSpPr>
        <p:spPr>
          <a:xfrm>
            <a:off x="6217920" y="1645920"/>
            <a:ext cx="5425135" cy="2880360"/>
          </a:xfrm>
          <a:prstGeom prst="roundRect">
            <a:avLst>
              <a:gd name="adj" fmla="val 2540"/>
            </a:avLst>
          </a:prstGeom>
          <a:solidFill>
            <a:schemeClr val="tx1"/>
          </a:solidFill>
          <a:ln w="12700">
            <a:solidFill>
              <a:schemeClr val="tx1"/>
            </a:solidFill>
            <a:prstDash val="solid"/>
          </a:ln>
        </p:spPr>
      </p:sp>
      <p:sp>
        <p:nvSpPr>
          <p:cNvPr id="9" name="code"/>
          <p:cNvSpPr txBox="1"/>
          <p:nvPr/>
        </p:nvSpPr>
        <p:spPr>
          <a:xfrm>
            <a:off x="6327648" y="1737360"/>
            <a:ext cx="5205679" cy="269748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static void Update()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for (int i = 0; i &lt; _numPending; i++)</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ResourceId resource = LoadSound(_pending[i].Id);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int channel = FindOpenChannel();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(channel == -1) return;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StartSound(resource, channel, _pending[i].Volume);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_numPending = 0;</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10" name="Text 7"/>
          <p:cNvSpPr txBox="1"/>
          <p:nvPr/>
        </p:nvSpPr>
        <p:spPr>
          <a:xfrm>
            <a:off x="548640" y="3822192"/>
            <a:ext cx="5486400"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11" name="card"/>
          <p:cNvSpPr/>
          <p:nvPr/>
        </p:nvSpPr>
        <p:spPr>
          <a:xfrm>
            <a:off x="548640" y="4160520"/>
            <a:ext cx="5486400" cy="1554480"/>
          </a:xfrm>
          <a:prstGeom prst="roundRect">
            <a:avLst>
              <a:gd name="adj" fmla="val 5882"/>
            </a:avLst>
          </a:prstGeom>
          <a:solidFill>
            <a:schemeClr val="bg2"/>
          </a:solidFill>
          <a:ln w="12700">
            <a:solidFill>
              <a:schemeClr val="bg2"/>
            </a:solidFill>
            <a:prstDash val="solid"/>
          </a:ln>
        </p:spPr>
      </p:sp>
      <p:sp>
        <p:nvSpPr>
          <p:cNvPr id="12" name="Text 9"/>
          <p:cNvSpPr txBox="1"/>
          <p:nvPr/>
        </p:nvSpPr>
        <p:spPr>
          <a:xfrm>
            <a:off x="777240" y="4379976"/>
            <a:ext cx="507492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PlaySound</a:t>
            </a:r>
            <a:endParaRPr lang="ko-KR" altLang="en-US" sz="1700" dirty="0"/>
          </a:p>
        </p:txBody>
      </p:sp>
      <p:sp>
        <p:nvSpPr>
          <p:cNvPr id="13" name="Text 10"/>
          <p:cNvSpPr txBox="1"/>
          <p:nvPr/>
        </p:nvSpPr>
        <p:spPr>
          <a:xfrm>
            <a:off x="777240" y="4937760"/>
            <a:ext cx="5029200" cy="6400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요청을 적고 바로 돌아온다. 호출한 쪽이 멈추지 않는다.</a:t>
            </a:r>
            <a:endParaRPr lang="ko-KR" altLang="en-US" sz="1400" dirty="0"/>
          </a:p>
        </p:txBody>
      </p:sp>
      <p:sp>
        <p:nvSpPr>
          <p:cNvPr id="14" name="card"/>
          <p:cNvSpPr/>
          <p:nvPr/>
        </p:nvSpPr>
        <p:spPr>
          <a:xfrm>
            <a:off x="6217920" y="4663440"/>
            <a:ext cx="5425135" cy="1051560"/>
          </a:xfrm>
          <a:prstGeom prst="roundRect">
            <a:avLst>
              <a:gd name="adj" fmla="val 8696"/>
            </a:avLst>
          </a:prstGeom>
          <a:solidFill>
            <a:schemeClr val="bg2"/>
          </a:solidFill>
          <a:ln w="12700">
            <a:solidFill>
              <a:schemeClr val="bg2"/>
            </a:solidFill>
            <a:prstDash val="solid"/>
          </a:ln>
        </p:spPr>
      </p:sp>
      <p:sp>
        <p:nvSpPr>
          <p:cNvPr id="15" name="Text 12"/>
          <p:cNvSpPr txBox="1"/>
          <p:nvPr/>
        </p:nvSpPr>
        <p:spPr>
          <a:xfrm>
            <a:off x="6446520" y="4754880"/>
            <a:ext cx="4967935" cy="868680"/>
          </a:xfrm>
          <a:prstGeom prst="rect">
            <a:avLst/>
          </a:prstGeom>
          <a:noFill/>
          <a:ln/>
        </p:spPr>
        <p:txBody>
          <a:bodyPr wrap="square" lIns="0" tIns="0" rIns="0" bIns="0" rtlCol="0" anchor="ctr"/>
          <a:lstStyle/>
          <a:p>
            <a:pPr indent="0" marL="0" eaLnBrk="0">
              <a:buNone/>
            </a:pPr>
            <a:r>
              <a:rPr lang="ko-KR" altLang="en-US" sz="1400" dirty="0">
                <a:solidFill>
                  <a:schemeClr val="tx2"/>
                </a:solidFill>
              </a:rPr>
              <a:t>Update는 업데이트 메서드(Update Method) 패턴이다. 게임 루프나 오디오 스레드에서 부른다.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앞에서 꺼내기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앞에서 하나씩 꺼내려면 head와 tail 두 위치가 필요하다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head와 tail을 쓰면 코드는 어떻게 바뀔까?</a:t>
            </a:r>
            <a:endParaRPr lang="ko-KR" altLang="en-US" sz="1500" dirty="0"/>
          </a:p>
        </p:txBody>
      </p:sp>
      <p:sp>
        <p:nvSpPr>
          <p:cNvPr id="6" name="Text 3"/>
          <p:cNvSpPr txBox="1"/>
          <p:nvPr/>
        </p:nvSpPr>
        <p:spPr>
          <a:xfrm>
            <a:off x="548640" y="1691640"/>
            <a:ext cx="5943600" cy="365760"/>
          </a:xfrm>
          <a:prstGeom prst="rect">
            <a:avLst/>
          </a:prstGeom>
          <a:noFill/>
          <a:ln/>
        </p:spPr>
        <p:txBody>
          <a:bodyPr wrap="square" lIns="0" tIns="0" rIns="0" bIns="0" rtlCol="0" anchor="t"/>
          <a:lstStyle/>
          <a:p>
            <a:pPr indent="0" marL="0" eaLnBrk="0">
              <a:buNone/>
            </a:pPr>
            <a:r>
              <a:rPr lang="ko-KR" altLang="en-US" sz="1600" b="1" dirty="0">
                <a:solidFill>
                  <a:schemeClr val="accent6"/>
                </a:solidFill>
              </a:rPr>
              <a:t>앞 칸을 지우고 나머지를 당기면</a:t>
            </a:r>
            <a:endParaRPr lang="ko-KR" altLang="en-US" sz="1600" dirty="0"/>
          </a:p>
        </p:txBody>
      </p:sp>
      <p:sp>
        <p:nvSpPr>
          <p:cNvPr id="7" name="box"/>
          <p:cNvSpPr/>
          <p:nvPr/>
        </p:nvSpPr>
        <p:spPr>
          <a:xfrm>
            <a:off x="548640" y="2148840"/>
            <a:ext cx="722376" cy="566928"/>
          </a:xfrm>
          <a:prstGeom prst="roundRect">
            <a:avLst>
              <a:gd name="adj" fmla="val 12903"/>
            </a:avLst>
          </a:prstGeom>
          <a:solidFill>
            <a:schemeClr val="bg2"/>
          </a:solidFill>
          <a:ln w="12700">
            <a:solidFill>
              <a:schemeClr val="bg2"/>
            </a:solidFill>
            <a:prstDash val="solid"/>
          </a:ln>
        </p:spPr>
      </p:sp>
      <p:sp>
        <p:nvSpPr>
          <p:cNvPr id="8" name="Text 5"/>
          <p:cNvSpPr txBox="1"/>
          <p:nvPr/>
        </p:nvSpPr>
        <p:spPr>
          <a:xfrm>
            <a:off x="548640" y="2148840"/>
            <a:ext cx="722376" cy="566928"/>
          </a:xfrm>
          <a:prstGeom prst="rect">
            <a:avLst/>
          </a:prstGeom>
          <a:noFill/>
          <a:ln/>
        </p:spPr>
        <p:txBody>
          <a:bodyPr wrap="square" lIns="635" tIns="635" rIns="635" bIns="635" rtlCol="0" anchor="ctr"/>
          <a:lstStyle/>
          <a:p>
            <a:pPr algn="ctr" indent="0" marL="0" eaLnBrk="0">
              <a:buNone/>
            </a:pPr>
            <a:r>
              <a:rPr lang="ko-KR" altLang="en-US" sz="1500" b="1" dirty="0">
                <a:solidFill>
                  <a:schemeClr val="accent3"/>
                </a:solidFill>
              </a:rPr>
              <a:t>A</a:t>
            </a:r>
            <a:endParaRPr lang="ko-KR" altLang="en-US" sz="1500" dirty="0"/>
          </a:p>
        </p:txBody>
      </p:sp>
      <p:sp>
        <p:nvSpPr>
          <p:cNvPr id="9" name="Text 6"/>
          <p:cNvSpPr txBox="1"/>
          <p:nvPr/>
        </p:nvSpPr>
        <p:spPr>
          <a:xfrm>
            <a:off x="548640" y="275234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[0]</a:t>
            </a:r>
            <a:endParaRPr lang="ko-KR" altLang="en-US" sz="1000" dirty="0"/>
          </a:p>
        </p:txBody>
      </p:sp>
      <p:sp>
        <p:nvSpPr>
          <p:cNvPr id="10" name="box"/>
          <p:cNvSpPr/>
          <p:nvPr/>
        </p:nvSpPr>
        <p:spPr>
          <a:xfrm>
            <a:off x="1325880" y="2148840"/>
            <a:ext cx="722376" cy="566928"/>
          </a:xfrm>
          <a:prstGeom prst="roundRect">
            <a:avLst>
              <a:gd name="adj" fmla="val 12903"/>
            </a:avLst>
          </a:prstGeom>
          <a:solidFill>
            <a:schemeClr val="accent1"/>
          </a:solidFill>
          <a:ln w="12700">
            <a:solidFill>
              <a:schemeClr val="accent1"/>
            </a:solidFill>
            <a:prstDash val="solid"/>
          </a:ln>
        </p:spPr>
      </p:sp>
      <p:sp>
        <p:nvSpPr>
          <p:cNvPr id="11" name="Text 8"/>
          <p:cNvSpPr txBox="1"/>
          <p:nvPr/>
        </p:nvSpPr>
        <p:spPr>
          <a:xfrm>
            <a:off x="1325880" y="2148840"/>
            <a:ext cx="722376" cy="566928"/>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B</a:t>
            </a:r>
            <a:endParaRPr lang="ko-KR" altLang="en-US" sz="1500" dirty="0"/>
          </a:p>
        </p:txBody>
      </p:sp>
      <p:sp>
        <p:nvSpPr>
          <p:cNvPr id="12" name="Text 9"/>
          <p:cNvSpPr txBox="1"/>
          <p:nvPr/>
        </p:nvSpPr>
        <p:spPr>
          <a:xfrm>
            <a:off x="1325880" y="275234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[1]</a:t>
            </a:r>
            <a:endParaRPr lang="ko-KR" altLang="en-US" sz="1000" dirty="0"/>
          </a:p>
        </p:txBody>
      </p:sp>
      <p:sp>
        <p:nvSpPr>
          <p:cNvPr id="13" name="box"/>
          <p:cNvSpPr/>
          <p:nvPr/>
        </p:nvSpPr>
        <p:spPr>
          <a:xfrm>
            <a:off x="2103120" y="2148840"/>
            <a:ext cx="722376" cy="566928"/>
          </a:xfrm>
          <a:prstGeom prst="roundRect">
            <a:avLst>
              <a:gd name="adj" fmla="val 12903"/>
            </a:avLst>
          </a:prstGeom>
          <a:solidFill>
            <a:schemeClr val="accent1"/>
          </a:solidFill>
          <a:ln w="12700">
            <a:solidFill>
              <a:schemeClr val="accent1"/>
            </a:solidFill>
            <a:prstDash val="solid"/>
          </a:ln>
        </p:spPr>
      </p:sp>
      <p:sp>
        <p:nvSpPr>
          <p:cNvPr id="14" name="Text 11"/>
          <p:cNvSpPr txBox="1"/>
          <p:nvPr/>
        </p:nvSpPr>
        <p:spPr>
          <a:xfrm>
            <a:off x="2103120" y="2148840"/>
            <a:ext cx="722376" cy="566928"/>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C</a:t>
            </a:r>
            <a:endParaRPr lang="ko-KR" altLang="en-US" sz="1500" dirty="0"/>
          </a:p>
        </p:txBody>
      </p:sp>
      <p:sp>
        <p:nvSpPr>
          <p:cNvPr id="15" name="Text 12"/>
          <p:cNvSpPr txBox="1"/>
          <p:nvPr/>
        </p:nvSpPr>
        <p:spPr>
          <a:xfrm>
            <a:off x="2103120" y="275234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[2]</a:t>
            </a:r>
            <a:endParaRPr lang="ko-KR" altLang="en-US" sz="1000" dirty="0"/>
          </a:p>
        </p:txBody>
      </p:sp>
      <p:sp>
        <p:nvSpPr>
          <p:cNvPr id="16" name="box"/>
          <p:cNvSpPr/>
          <p:nvPr/>
        </p:nvSpPr>
        <p:spPr>
          <a:xfrm>
            <a:off x="2880360" y="2148840"/>
            <a:ext cx="722376" cy="566928"/>
          </a:xfrm>
          <a:prstGeom prst="roundRect">
            <a:avLst>
              <a:gd name="adj" fmla="val 12903"/>
            </a:avLst>
          </a:prstGeom>
          <a:solidFill>
            <a:schemeClr val="accent1"/>
          </a:solidFill>
          <a:ln w="12700">
            <a:solidFill>
              <a:schemeClr val="accent1"/>
            </a:solidFill>
            <a:prstDash val="solid"/>
          </a:ln>
        </p:spPr>
      </p:sp>
      <p:sp>
        <p:nvSpPr>
          <p:cNvPr id="17" name="Text 14"/>
          <p:cNvSpPr txBox="1"/>
          <p:nvPr/>
        </p:nvSpPr>
        <p:spPr>
          <a:xfrm>
            <a:off x="2880360" y="2148840"/>
            <a:ext cx="722376" cy="566928"/>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D</a:t>
            </a:r>
            <a:endParaRPr lang="ko-KR" altLang="en-US" sz="1500" dirty="0"/>
          </a:p>
        </p:txBody>
      </p:sp>
      <p:sp>
        <p:nvSpPr>
          <p:cNvPr id="18" name="Text 15"/>
          <p:cNvSpPr txBox="1"/>
          <p:nvPr/>
        </p:nvSpPr>
        <p:spPr>
          <a:xfrm>
            <a:off x="2880360" y="275234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[3]</a:t>
            </a:r>
            <a:endParaRPr lang="ko-KR" altLang="en-US" sz="1000" dirty="0"/>
          </a:p>
        </p:txBody>
      </p:sp>
      <p:sp>
        <p:nvSpPr>
          <p:cNvPr id="19" name="box"/>
          <p:cNvSpPr/>
          <p:nvPr/>
        </p:nvSpPr>
        <p:spPr>
          <a:xfrm>
            <a:off x="3657600" y="2148840"/>
            <a:ext cx="722376" cy="566928"/>
          </a:xfrm>
          <a:prstGeom prst="roundRect">
            <a:avLst>
              <a:gd name="adj" fmla="val 12903"/>
            </a:avLst>
          </a:prstGeom>
          <a:solidFill>
            <a:schemeClr val="bg2"/>
          </a:solidFill>
          <a:ln w="12700">
            <a:solidFill>
              <a:schemeClr val="bg2"/>
            </a:solidFill>
            <a:prstDash val="solid"/>
          </a:ln>
        </p:spPr>
      </p:sp>
      <p:sp>
        <p:nvSpPr>
          <p:cNvPr id="20" name="Text 17"/>
          <p:cNvSpPr txBox="1"/>
          <p:nvPr/>
        </p:nvSpPr>
        <p:spPr>
          <a:xfrm>
            <a:off x="3657600" y="2148840"/>
            <a:ext cx="722376" cy="566928"/>
          </a:xfrm>
          <a:prstGeom prst="rect">
            <a:avLst/>
          </a:prstGeom>
          <a:noFill/>
          <a:ln/>
        </p:spPr>
        <p:txBody>
          <a:bodyPr wrap="square" lIns="635" tIns="635" rIns="635" bIns="635" rtlCol="0" anchor="ctr"/>
          <a:lstStyle/>
          <a:p>
            <a:pPr algn="ctr" indent="0" marL="0" eaLnBrk="0">
              <a:buNone/>
            </a:pPr>
            <a:endParaRPr lang="ko-KR" altLang="en-US" sz="1500" dirty="0"/>
          </a:p>
        </p:txBody>
      </p:sp>
      <p:sp>
        <p:nvSpPr>
          <p:cNvPr id="21" name="Text 18"/>
          <p:cNvSpPr txBox="1"/>
          <p:nvPr/>
        </p:nvSpPr>
        <p:spPr>
          <a:xfrm>
            <a:off x="3657600" y="275234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[4]</a:t>
            </a:r>
            <a:endParaRPr lang="ko-KR" altLang="en-US" sz="1000" dirty="0"/>
          </a:p>
        </p:txBody>
      </p:sp>
      <p:sp>
        <p:nvSpPr>
          <p:cNvPr id="22" name="Shape 19"/>
          <p:cNvSpPr/>
          <p:nvPr/>
        </p:nvSpPr>
        <p:spPr>
          <a:xfrm flipH="1">
            <a:off x="1005840" y="3017520"/>
            <a:ext cx="594360" cy="914"/>
          </a:xfrm>
          <a:prstGeom prst="line">
            <a:avLst/>
          </a:prstGeom>
          <a:noFill/>
          <a:ln w="22225">
            <a:solidFill>
              <a:schemeClr val="accent6"/>
            </a:solidFill>
            <a:prstDash val="solid"/>
            <a:tailEnd type="triangle"/>
          </a:ln>
        </p:spPr>
      </p:sp>
      <p:sp>
        <p:nvSpPr>
          <p:cNvPr id="23" name="Shape 20"/>
          <p:cNvSpPr/>
          <p:nvPr/>
        </p:nvSpPr>
        <p:spPr>
          <a:xfrm flipH="1">
            <a:off x="1783080" y="3017520"/>
            <a:ext cx="594360" cy="914"/>
          </a:xfrm>
          <a:prstGeom prst="line">
            <a:avLst/>
          </a:prstGeom>
          <a:noFill/>
          <a:ln w="22225">
            <a:solidFill>
              <a:schemeClr val="accent6"/>
            </a:solidFill>
            <a:prstDash val="solid"/>
            <a:tailEnd type="triangle"/>
          </a:ln>
        </p:spPr>
      </p:sp>
      <p:sp>
        <p:nvSpPr>
          <p:cNvPr id="24" name="Shape 21"/>
          <p:cNvSpPr/>
          <p:nvPr/>
        </p:nvSpPr>
        <p:spPr>
          <a:xfrm flipH="1">
            <a:off x="2560320" y="3017520"/>
            <a:ext cx="594360" cy="914"/>
          </a:xfrm>
          <a:prstGeom prst="line">
            <a:avLst/>
          </a:prstGeom>
          <a:noFill/>
          <a:ln w="22225">
            <a:solidFill>
              <a:schemeClr val="accent6"/>
            </a:solidFill>
            <a:prstDash val="solid"/>
            <a:tailEnd type="triangle"/>
          </a:ln>
        </p:spPr>
      </p:sp>
      <p:sp>
        <p:nvSpPr>
          <p:cNvPr id="25" name="Text 22"/>
          <p:cNvSpPr txBox="1"/>
          <p:nvPr/>
        </p:nvSpPr>
        <p:spPr>
          <a:xfrm>
            <a:off x="548640" y="3154680"/>
            <a:ext cx="5486400" cy="320040"/>
          </a:xfrm>
          <a:prstGeom prst="rect">
            <a:avLst/>
          </a:prstGeom>
          <a:noFill/>
          <a:ln/>
        </p:spPr>
        <p:txBody>
          <a:bodyPr wrap="square" lIns="0" tIns="0" rIns="0" bIns="0" rtlCol="0" anchor="t"/>
          <a:lstStyle/>
          <a:p>
            <a:pPr indent="0" marL="0" eaLnBrk="0">
              <a:buNone/>
            </a:pPr>
            <a:r>
              <a:rPr lang="ko-KR" altLang="en-US" sz="1300" dirty="0">
                <a:solidFill>
                  <a:schemeClr val="tx2"/>
                </a:solidFill>
              </a:rPr>
              <a:t>남은 요청을 모두 옮겨야 한다.</a:t>
            </a:r>
            <a:endParaRPr lang="ko-KR" altLang="en-US" sz="1300" dirty="0"/>
          </a:p>
        </p:txBody>
      </p:sp>
      <p:sp>
        <p:nvSpPr>
          <p:cNvPr id="26" name="Text 23"/>
          <p:cNvSpPr txBox="1"/>
          <p:nvPr/>
        </p:nvSpPr>
        <p:spPr>
          <a:xfrm>
            <a:off x="548640" y="3657600"/>
            <a:ext cx="5943600" cy="365760"/>
          </a:xfrm>
          <a:prstGeom prst="rect">
            <a:avLst/>
          </a:prstGeom>
          <a:noFill/>
          <a:ln/>
        </p:spPr>
        <p:txBody>
          <a:bodyPr wrap="square" lIns="0" tIns="0" rIns="0" bIns="0" rtlCol="0" anchor="t"/>
          <a:lstStyle/>
          <a:p>
            <a:pPr indent="0" marL="0" eaLnBrk="0">
              <a:buNone/>
            </a:pPr>
            <a:r>
              <a:rPr lang="ko-KR" altLang="en-US" sz="1600" b="1" dirty="0">
                <a:solidFill>
                  <a:schemeClr val="accent2"/>
                </a:solidFill>
              </a:rPr>
              <a:t>위치 표시만 옮기면</a:t>
            </a:r>
            <a:endParaRPr lang="ko-KR" altLang="en-US" sz="1600" dirty="0"/>
          </a:p>
        </p:txBody>
      </p:sp>
      <p:sp>
        <p:nvSpPr>
          <p:cNvPr id="27" name="box"/>
          <p:cNvSpPr/>
          <p:nvPr/>
        </p:nvSpPr>
        <p:spPr>
          <a:xfrm>
            <a:off x="548640" y="4114800"/>
            <a:ext cx="722376" cy="566928"/>
          </a:xfrm>
          <a:prstGeom prst="roundRect">
            <a:avLst>
              <a:gd name="adj" fmla="val 12903"/>
            </a:avLst>
          </a:prstGeom>
          <a:solidFill>
            <a:schemeClr val="accent1"/>
          </a:solidFill>
          <a:ln w="12700">
            <a:solidFill>
              <a:schemeClr val="accent1"/>
            </a:solidFill>
            <a:prstDash val="solid"/>
          </a:ln>
        </p:spPr>
      </p:sp>
      <p:sp>
        <p:nvSpPr>
          <p:cNvPr id="28" name="Text 25"/>
          <p:cNvSpPr txBox="1"/>
          <p:nvPr/>
        </p:nvSpPr>
        <p:spPr>
          <a:xfrm>
            <a:off x="548640" y="4114800"/>
            <a:ext cx="722376" cy="566928"/>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A</a:t>
            </a:r>
            <a:endParaRPr lang="ko-KR" altLang="en-US" sz="1500" dirty="0"/>
          </a:p>
        </p:txBody>
      </p:sp>
      <p:sp>
        <p:nvSpPr>
          <p:cNvPr id="29" name="Text 26"/>
          <p:cNvSpPr txBox="1"/>
          <p:nvPr/>
        </p:nvSpPr>
        <p:spPr>
          <a:xfrm>
            <a:off x="548640" y="471830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[0]</a:t>
            </a:r>
            <a:endParaRPr lang="ko-KR" altLang="en-US" sz="1000" dirty="0"/>
          </a:p>
        </p:txBody>
      </p:sp>
      <p:sp>
        <p:nvSpPr>
          <p:cNvPr id="30" name="box"/>
          <p:cNvSpPr/>
          <p:nvPr/>
        </p:nvSpPr>
        <p:spPr>
          <a:xfrm>
            <a:off x="1325880" y="4114800"/>
            <a:ext cx="722376" cy="566928"/>
          </a:xfrm>
          <a:prstGeom prst="roundRect">
            <a:avLst>
              <a:gd name="adj" fmla="val 12903"/>
            </a:avLst>
          </a:prstGeom>
          <a:solidFill>
            <a:schemeClr val="accent1"/>
          </a:solidFill>
          <a:ln w="12700">
            <a:solidFill>
              <a:schemeClr val="accent1"/>
            </a:solidFill>
            <a:prstDash val="solid"/>
          </a:ln>
        </p:spPr>
      </p:sp>
      <p:sp>
        <p:nvSpPr>
          <p:cNvPr id="31" name="Text 28"/>
          <p:cNvSpPr txBox="1"/>
          <p:nvPr/>
        </p:nvSpPr>
        <p:spPr>
          <a:xfrm>
            <a:off x="1325880" y="4114800"/>
            <a:ext cx="722376" cy="566928"/>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B</a:t>
            </a:r>
            <a:endParaRPr lang="ko-KR" altLang="en-US" sz="1500" dirty="0"/>
          </a:p>
        </p:txBody>
      </p:sp>
      <p:sp>
        <p:nvSpPr>
          <p:cNvPr id="32" name="Text 29"/>
          <p:cNvSpPr txBox="1"/>
          <p:nvPr/>
        </p:nvSpPr>
        <p:spPr>
          <a:xfrm>
            <a:off x="1325880" y="471830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[1]</a:t>
            </a:r>
            <a:endParaRPr lang="ko-KR" altLang="en-US" sz="1000" dirty="0"/>
          </a:p>
        </p:txBody>
      </p:sp>
      <p:sp>
        <p:nvSpPr>
          <p:cNvPr id="33" name="box"/>
          <p:cNvSpPr/>
          <p:nvPr/>
        </p:nvSpPr>
        <p:spPr>
          <a:xfrm>
            <a:off x="2103120" y="4114800"/>
            <a:ext cx="722376" cy="566928"/>
          </a:xfrm>
          <a:prstGeom prst="roundRect">
            <a:avLst>
              <a:gd name="adj" fmla="val 12903"/>
            </a:avLst>
          </a:prstGeom>
          <a:solidFill>
            <a:schemeClr val="accent1"/>
          </a:solidFill>
          <a:ln w="12700">
            <a:solidFill>
              <a:schemeClr val="accent1"/>
            </a:solidFill>
            <a:prstDash val="solid"/>
          </a:ln>
        </p:spPr>
      </p:sp>
      <p:sp>
        <p:nvSpPr>
          <p:cNvPr id="34" name="Text 31"/>
          <p:cNvSpPr txBox="1"/>
          <p:nvPr/>
        </p:nvSpPr>
        <p:spPr>
          <a:xfrm>
            <a:off x="2103120" y="4114800"/>
            <a:ext cx="722376" cy="566928"/>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C</a:t>
            </a:r>
            <a:endParaRPr lang="ko-KR" altLang="en-US" sz="1500" dirty="0"/>
          </a:p>
        </p:txBody>
      </p:sp>
      <p:sp>
        <p:nvSpPr>
          <p:cNvPr id="35" name="Text 32"/>
          <p:cNvSpPr txBox="1"/>
          <p:nvPr/>
        </p:nvSpPr>
        <p:spPr>
          <a:xfrm>
            <a:off x="2103120" y="471830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[2]</a:t>
            </a:r>
            <a:endParaRPr lang="ko-KR" altLang="en-US" sz="1000" dirty="0"/>
          </a:p>
        </p:txBody>
      </p:sp>
      <p:sp>
        <p:nvSpPr>
          <p:cNvPr id="36" name="box"/>
          <p:cNvSpPr/>
          <p:nvPr/>
        </p:nvSpPr>
        <p:spPr>
          <a:xfrm>
            <a:off x="2880360" y="4114800"/>
            <a:ext cx="722376" cy="566928"/>
          </a:xfrm>
          <a:prstGeom prst="roundRect">
            <a:avLst>
              <a:gd name="adj" fmla="val 12903"/>
            </a:avLst>
          </a:prstGeom>
          <a:solidFill>
            <a:schemeClr val="bg2"/>
          </a:solidFill>
          <a:ln w="12700">
            <a:solidFill>
              <a:schemeClr val="bg2"/>
            </a:solidFill>
            <a:prstDash val="solid"/>
          </a:ln>
        </p:spPr>
      </p:sp>
      <p:sp>
        <p:nvSpPr>
          <p:cNvPr id="37" name="Text 34"/>
          <p:cNvSpPr txBox="1"/>
          <p:nvPr/>
        </p:nvSpPr>
        <p:spPr>
          <a:xfrm>
            <a:off x="2880360" y="4114800"/>
            <a:ext cx="722376" cy="566928"/>
          </a:xfrm>
          <a:prstGeom prst="rect">
            <a:avLst/>
          </a:prstGeom>
          <a:noFill/>
          <a:ln/>
        </p:spPr>
        <p:txBody>
          <a:bodyPr wrap="square" lIns="635" tIns="635" rIns="635" bIns="635" rtlCol="0" anchor="ctr"/>
          <a:lstStyle/>
          <a:p>
            <a:pPr algn="ctr" indent="0" marL="0" eaLnBrk="0">
              <a:buNone/>
            </a:pPr>
            <a:endParaRPr lang="ko-KR" altLang="en-US" sz="1500" dirty="0"/>
          </a:p>
        </p:txBody>
      </p:sp>
      <p:sp>
        <p:nvSpPr>
          <p:cNvPr id="38" name="Text 35"/>
          <p:cNvSpPr txBox="1"/>
          <p:nvPr/>
        </p:nvSpPr>
        <p:spPr>
          <a:xfrm>
            <a:off x="2880360" y="471830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[3]</a:t>
            </a:r>
            <a:endParaRPr lang="ko-KR" altLang="en-US" sz="1000" dirty="0"/>
          </a:p>
        </p:txBody>
      </p:sp>
      <p:sp>
        <p:nvSpPr>
          <p:cNvPr id="39" name="box"/>
          <p:cNvSpPr/>
          <p:nvPr/>
        </p:nvSpPr>
        <p:spPr>
          <a:xfrm>
            <a:off x="3657600" y="4114800"/>
            <a:ext cx="722376" cy="566928"/>
          </a:xfrm>
          <a:prstGeom prst="roundRect">
            <a:avLst>
              <a:gd name="adj" fmla="val 12903"/>
            </a:avLst>
          </a:prstGeom>
          <a:solidFill>
            <a:schemeClr val="bg2"/>
          </a:solidFill>
          <a:ln w="12700">
            <a:solidFill>
              <a:schemeClr val="bg2"/>
            </a:solidFill>
            <a:prstDash val="solid"/>
          </a:ln>
        </p:spPr>
      </p:sp>
      <p:sp>
        <p:nvSpPr>
          <p:cNvPr id="40" name="Text 37"/>
          <p:cNvSpPr txBox="1"/>
          <p:nvPr/>
        </p:nvSpPr>
        <p:spPr>
          <a:xfrm>
            <a:off x="3657600" y="4114800"/>
            <a:ext cx="722376" cy="566928"/>
          </a:xfrm>
          <a:prstGeom prst="rect">
            <a:avLst/>
          </a:prstGeom>
          <a:noFill/>
          <a:ln/>
        </p:spPr>
        <p:txBody>
          <a:bodyPr wrap="square" lIns="635" tIns="635" rIns="635" bIns="635" rtlCol="0" anchor="ctr"/>
          <a:lstStyle/>
          <a:p>
            <a:pPr algn="ctr" indent="0" marL="0" eaLnBrk="0">
              <a:buNone/>
            </a:pPr>
            <a:endParaRPr lang="ko-KR" altLang="en-US" sz="1500" dirty="0"/>
          </a:p>
        </p:txBody>
      </p:sp>
      <p:sp>
        <p:nvSpPr>
          <p:cNvPr id="41" name="Text 38"/>
          <p:cNvSpPr txBox="1"/>
          <p:nvPr/>
        </p:nvSpPr>
        <p:spPr>
          <a:xfrm>
            <a:off x="3657600" y="4718304"/>
            <a:ext cx="722376"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[4]</a:t>
            </a:r>
            <a:endParaRPr lang="ko-KR" altLang="en-US" sz="1000" dirty="0"/>
          </a:p>
        </p:txBody>
      </p:sp>
      <p:sp>
        <p:nvSpPr>
          <p:cNvPr id="42" name="Text 39"/>
          <p:cNvSpPr txBox="1"/>
          <p:nvPr/>
        </p:nvSpPr>
        <p:spPr>
          <a:xfrm>
            <a:off x="548640" y="4983480"/>
            <a:ext cx="722376" cy="274320"/>
          </a:xfrm>
          <a:prstGeom prst="rect">
            <a:avLst/>
          </a:prstGeom>
          <a:noFill/>
          <a:ln/>
        </p:spPr>
        <p:txBody>
          <a:bodyPr wrap="square" lIns="0" tIns="0" rIns="0" bIns="0" rtlCol="0" anchor="t"/>
          <a:lstStyle/>
          <a:p>
            <a:pPr algn="ctr" indent="0" marL="0" eaLnBrk="0">
              <a:buNone/>
            </a:pPr>
            <a:r>
              <a:rPr lang="ko-KR" altLang="en-US" sz="1200" b="1" dirty="0">
                <a:solidFill>
                  <a:schemeClr val="accent2"/>
                </a:solidFill>
              </a:rPr>
              <a:t>head</a:t>
            </a:r>
            <a:endParaRPr lang="ko-KR" altLang="en-US" sz="1200" dirty="0"/>
          </a:p>
        </p:txBody>
      </p:sp>
      <p:sp>
        <p:nvSpPr>
          <p:cNvPr id="43" name="Text 40"/>
          <p:cNvSpPr txBox="1"/>
          <p:nvPr/>
        </p:nvSpPr>
        <p:spPr>
          <a:xfrm>
            <a:off x="2880360" y="4983480"/>
            <a:ext cx="722376" cy="274320"/>
          </a:xfrm>
          <a:prstGeom prst="rect">
            <a:avLst/>
          </a:prstGeom>
          <a:noFill/>
          <a:ln/>
        </p:spPr>
        <p:txBody>
          <a:bodyPr wrap="square" lIns="0" tIns="0" rIns="0" bIns="0" rtlCol="0" anchor="t"/>
          <a:lstStyle/>
          <a:p>
            <a:pPr algn="ctr" indent="0" marL="0" eaLnBrk="0">
              <a:buNone/>
            </a:pPr>
            <a:r>
              <a:rPr lang="ko-KR" altLang="en-US" sz="1200" b="1" dirty="0">
                <a:solidFill>
                  <a:schemeClr val="accent1"/>
                </a:solidFill>
              </a:rPr>
              <a:t>tail</a:t>
            </a:r>
            <a:endParaRPr lang="ko-KR" altLang="en-US" sz="1200" dirty="0"/>
          </a:p>
        </p:txBody>
      </p:sp>
      <p:sp>
        <p:nvSpPr>
          <p:cNvPr id="44" name="Text 41"/>
          <p:cNvSpPr txBox="1"/>
          <p:nvPr/>
        </p:nvSpPr>
        <p:spPr>
          <a:xfrm>
            <a:off x="548640" y="5303520"/>
            <a:ext cx="5486400" cy="320040"/>
          </a:xfrm>
          <a:prstGeom prst="rect">
            <a:avLst/>
          </a:prstGeom>
          <a:noFill/>
          <a:ln/>
        </p:spPr>
        <p:txBody>
          <a:bodyPr wrap="square" lIns="0" tIns="0" rIns="0" bIns="0" rtlCol="0" anchor="t"/>
          <a:lstStyle/>
          <a:p>
            <a:pPr indent="0" marL="0" eaLnBrk="0">
              <a:buNone/>
            </a:pPr>
            <a:r>
              <a:rPr lang="ko-KR" altLang="en-US" sz="1300" dirty="0">
                <a:solidFill>
                  <a:schemeClr val="tx2"/>
                </a:solidFill>
              </a:rPr>
              <a:t>꺼내면 head만 오른쪽으로 한 칸 간다.</a:t>
            </a:r>
            <a:endParaRPr lang="ko-KR" altLang="en-US" sz="1300" dirty="0"/>
          </a:p>
        </p:txBody>
      </p:sp>
      <p:sp>
        <p:nvSpPr>
          <p:cNvPr id="45" name="card"/>
          <p:cNvSpPr/>
          <p:nvPr/>
        </p:nvSpPr>
        <p:spPr>
          <a:xfrm>
            <a:off x="6309360" y="1691640"/>
            <a:ext cx="5333695" cy="1234440"/>
          </a:xfrm>
          <a:prstGeom prst="roundRect">
            <a:avLst>
              <a:gd name="adj" fmla="val 7407"/>
            </a:avLst>
          </a:prstGeom>
          <a:solidFill>
            <a:schemeClr val="bg2"/>
          </a:solidFill>
          <a:ln w="12700">
            <a:solidFill>
              <a:schemeClr val="bg2"/>
            </a:solidFill>
            <a:prstDash val="solid"/>
          </a:ln>
        </p:spPr>
      </p:sp>
      <p:sp>
        <p:nvSpPr>
          <p:cNvPr id="46" name="Shape 43"/>
          <p:cNvSpPr/>
          <p:nvPr/>
        </p:nvSpPr>
        <p:spPr>
          <a:xfrm>
            <a:off x="6537960" y="1892808"/>
            <a:ext cx="420624" cy="420624"/>
          </a:xfrm>
          <a:prstGeom prst="ellipse">
            <a:avLst/>
          </a:prstGeom>
          <a:solidFill>
            <a:schemeClr val="accent1"/>
          </a:solidFill>
          <a:ln w="12700">
            <a:solidFill>
              <a:schemeClr val="accent1"/>
            </a:solidFill>
            <a:prstDash val="solid"/>
          </a:ln>
        </p:spPr>
      </p:sp>
      <p:sp>
        <p:nvSpPr>
          <p:cNvPr id="47" name="Text 44"/>
          <p:cNvSpPr txBox="1"/>
          <p:nvPr/>
        </p:nvSpPr>
        <p:spPr>
          <a:xfrm>
            <a:off x="653796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48" name="Text 45"/>
          <p:cNvSpPr txBox="1"/>
          <p:nvPr/>
        </p:nvSpPr>
        <p:spPr>
          <a:xfrm>
            <a:off x="7086600" y="1911096"/>
            <a:ext cx="43735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head</a:t>
            </a:r>
            <a:endParaRPr lang="ko-KR" altLang="en-US" sz="1700" dirty="0"/>
          </a:p>
        </p:txBody>
      </p:sp>
      <p:sp>
        <p:nvSpPr>
          <p:cNvPr id="49" name="Text 46"/>
          <p:cNvSpPr txBox="1"/>
          <p:nvPr/>
        </p:nvSpPr>
        <p:spPr>
          <a:xfrm>
            <a:off x="7086600" y="2350008"/>
            <a:ext cx="4373575" cy="484632"/>
          </a:xfrm>
          <a:prstGeom prst="rect">
            <a:avLst/>
          </a:prstGeom>
          <a:noFill/>
          <a:ln/>
        </p:spPr>
        <p:txBody>
          <a:bodyPr wrap="square" lIns="0" tIns="0" rIns="0" bIns="0" rtlCol="0" anchor="t"/>
          <a:lstStyle/>
          <a:p>
            <a:pPr indent="0" marL="0" eaLnBrk="0">
              <a:buNone/>
            </a:pPr>
            <a:r>
              <a:rPr lang="ko-KR" altLang="en-US" sz="1400" dirty="0">
                <a:solidFill>
                  <a:schemeClr val="tx2"/>
                </a:solidFill>
              </a:rPr>
              <a:t>읽을 곳. 가장 오래된 요청이다.</a:t>
            </a:r>
            <a:endParaRPr lang="ko-KR" altLang="en-US" sz="1400" dirty="0"/>
          </a:p>
        </p:txBody>
      </p:sp>
      <p:sp>
        <p:nvSpPr>
          <p:cNvPr id="50" name="card"/>
          <p:cNvSpPr/>
          <p:nvPr/>
        </p:nvSpPr>
        <p:spPr>
          <a:xfrm>
            <a:off x="6309360" y="3063240"/>
            <a:ext cx="5333695" cy="1234440"/>
          </a:xfrm>
          <a:prstGeom prst="roundRect">
            <a:avLst>
              <a:gd name="adj" fmla="val 7407"/>
            </a:avLst>
          </a:prstGeom>
          <a:solidFill>
            <a:schemeClr val="bg2"/>
          </a:solidFill>
          <a:ln w="12700">
            <a:solidFill>
              <a:schemeClr val="bg2"/>
            </a:solidFill>
            <a:prstDash val="solid"/>
          </a:ln>
        </p:spPr>
      </p:sp>
      <p:sp>
        <p:nvSpPr>
          <p:cNvPr id="51" name="Shape 48"/>
          <p:cNvSpPr/>
          <p:nvPr/>
        </p:nvSpPr>
        <p:spPr>
          <a:xfrm>
            <a:off x="6537960" y="3264408"/>
            <a:ext cx="420624" cy="420624"/>
          </a:xfrm>
          <a:prstGeom prst="ellipse">
            <a:avLst/>
          </a:prstGeom>
          <a:solidFill>
            <a:schemeClr val="accent1"/>
          </a:solidFill>
          <a:ln w="12700">
            <a:solidFill>
              <a:schemeClr val="accent1"/>
            </a:solidFill>
            <a:prstDash val="solid"/>
          </a:ln>
        </p:spPr>
      </p:sp>
      <p:sp>
        <p:nvSpPr>
          <p:cNvPr id="52" name="Text 49"/>
          <p:cNvSpPr txBox="1"/>
          <p:nvPr/>
        </p:nvSpPr>
        <p:spPr>
          <a:xfrm>
            <a:off x="6537960" y="32644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53" name="Text 50"/>
          <p:cNvSpPr txBox="1"/>
          <p:nvPr/>
        </p:nvSpPr>
        <p:spPr>
          <a:xfrm>
            <a:off x="7086600" y="3282696"/>
            <a:ext cx="43735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tail</a:t>
            </a:r>
            <a:endParaRPr lang="ko-KR" altLang="en-US" sz="1700" dirty="0"/>
          </a:p>
        </p:txBody>
      </p:sp>
      <p:sp>
        <p:nvSpPr>
          <p:cNvPr id="54" name="Text 51"/>
          <p:cNvSpPr txBox="1"/>
          <p:nvPr/>
        </p:nvSpPr>
        <p:spPr>
          <a:xfrm>
            <a:off x="7086600" y="3721608"/>
            <a:ext cx="4373575" cy="484632"/>
          </a:xfrm>
          <a:prstGeom prst="rect">
            <a:avLst/>
          </a:prstGeom>
          <a:noFill/>
          <a:ln/>
        </p:spPr>
        <p:txBody>
          <a:bodyPr wrap="square" lIns="0" tIns="0" rIns="0" bIns="0" rtlCol="0" anchor="t"/>
          <a:lstStyle/>
          <a:p>
            <a:pPr indent="0" marL="0" eaLnBrk="0">
              <a:buNone/>
            </a:pPr>
            <a:r>
              <a:rPr lang="ko-KR" altLang="en-US" sz="1400" dirty="0">
                <a:solidFill>
                  <a:schemeClr val="tx2"/>
                </a:solidFill>
              </a:rPr>
              <a:t>다음 요청을 쓸 칸. 마지막 요청의 바로 다음이다.</a:t>
            </a:r>
            <a:endParaRPr lang="ko-KR" altLang="en-US" sz="1400" dirty="0"/>
          </a:p>
        </p:txBody>
      </p:sp>
      <p:sp>
        <p:nvSpPr>
          <p:cNvPr id="55" name="card"/>
          <p:cNvSpPr/>
          <p:nvPr/>
        </p:nvSpPr>
        <p:spPr>
          <a:xfrm>
            <a:off x="6309360" y="4434840"/>
            <a:ext cx="5333695" cy="1234440"/>
          </a:xfrm>
          <a:prstGeom prst="roundRect">
            <a:avLst>
              <a:gd name="adj" fmla="val 7407"/>
            </a:avLst>
          </a:prstGeom>
          <a:solidFill>
            <a:schemeClr val="bg2"/>
          </a:solidFill>
          <a:ln w="12700">
            <a:solidFill>
              <a:schemeClr val="bg2"/>
            </a:solidFill>
            <a:prstDash val="solid"/>
          </a:ln>
        </p:spPr>
      </p:sp>
      <p:sp>
        <p:nvSpPr>
          <p:cNvPr id="56" name="Shape 53"/>
          <p:cNvSpPr/>
          <p:nvPr/>
        </p:nvSpPr>
        <p:spPr>
          <a:xfrm>
            <a:off x="6537960" y="4636008"/>
            <a:ext cx="420624" cy="420624"/>
          </a:xfrm>
          <a:prstGeom prst="ellipse">
            <a:avLst/>
          </a:prstGeom>
          <a:solidFill>
            <a:schemeClr val="accent1"/>
          </a:solidFill>
          <a:ln w="12700">
            <a:solidFill>
              <a:schemeClr val="accent1"/>
            </a:solidFill>
            <a:prstDash val="solid"/>
          </a:ln>
        </p:spPr>
      </p:sp>
      <p:sp>
        <p:nvSpPr>
          <p:cNvPr id="57" name="Text 54"/>
          <p:cNvSpPr txBox="1"/>
          <p:nvPr/>
        </p:nvSpPr>
        <p:spPr>
          <a:xfrm>
            <a:off x="6537960" y="46360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58" name="Text 55"/>
          <p:cNvSpPr txBox="1"/>
          <p:nvPr/>
        </p:nvSpPr>
        <p:spPr>
          <a:xfrm>
            <a:off x="7086600" y="4654296"/>
            <a:ext cx="43735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head == tail</a:t>
            </a:r>
            <a:endParaRPr lang="ko-KR" altLang="en-US" sz="1700" dirty="0"/>
          </a:p>
        </p:txBody>
      </p:sp>
      <p:sp>
        <p:nvSpPr>
          <p:cNvPr id="59" name="Text 56"/>
          <p:cNvSpPr txBox="1"/>
          <p:nvPr/>
        </p:nvSpPr>
        <p:spPr>
          <a:xfrm>
            <a:off x="7086600" y="5093208"/>
            <a:ext cx="4373575" cy="484632"/>
          </a:xfrm>
          <a:prstGeom prst="rect">
            <a:avLst/>
          </a:prstGeom>
          <a:noFill/>
          <a:ln/>
        </p:spPr>
        <p:txBody>
          <a:bodyPr wrap="square" lIns="0" tIns="0" rIns="0" bIns="0" rtlCol="0" anchor="t"/>
          <a:lstStyle/>
          <a:p>
            <a:pPr indent="0" marL="0" eaLnBrk="0">
              <a:buNone/>
            </a:pPr>
            <a:r>
              <a:rPr lang="ko-KR" altLang="en-US" sz="1400" dirty="0">
                <a:solidFill>
                  <a:schemeClr val="tx2"/>
                </a:solidFill>
              </a:rPr>
              <a:t>둘 사이에 아무것도 없다. 큐가 비어 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head와 tail</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PlaySound는 tail에 쓰고, Update는 head에서 하나만 꺼낸다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요청이 계속 들어오고 나가면 head와 tail은 어디로 갈까?</a:t>
            </a:r>
            <a:endParaRPr lang="ko-KR" altLang="en-US" sz="1500" dirty="0"/>
          </a:p>
        </p:txBody>
      </p:sp>
      <p:sp>
        <p:nvSpPr>
          <p:cNvPr id="6" name="codePanel"/>
          <p:cNvSpPr/>
          <p:nvPr/>
        </p:nvSpPr>
        <p:spPr>
          <a:xfrm>
            <a:off x="548640" y="1645920"/>
            <a:ext cx="5440680" cy="3108960"/>
          </a:xfrm>
          <a:prstGeom prst="roundRect">
            <a:avLst>
              <a:gd name="adj" fmla="val 2353"/>
            </a:avLst>
          </a:prstGeom>
          <a:solidFill>
            <a:schemeClr val="tx1"/>
          </a:solidFill>
          <a:ln w="12700">
            <a:solidFill>
              <a:schemeClr val="tx1"/>
            </a:solidFill>
            <a:prstDash val="solid"/>
          </a:ln>
        </p:spPr>
      </p:sp>
      <p:sp>
        <p:nvSpPr>
          <p:cNvPr id="7" name="code"/>
          <p:cNvSpPr txBox="1"/>
          <p:nvPr/>
        </p:nvSpPr>
        <p:spPr>
          <a:xfrm>
            <a:off x="658368" y="1737360"/>
            <a:ext cx="5221224" cy="2926080"/>
          </a:xfrm>
          <a:prstGeom prst="rect">
            <a:avLst/>
          </a:prstGeom>
          <a:noFill/>
          <a:ln/>
        </p:spPr>
        <p:txBody>
          <a:bodyPr wrap="square" lIns="635" tIns="635" rIns="635" bIns="635" rtlCol="0" anchor="t"/>
          <a:lstStyle/>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static int _head;   // 가장 오래된 요청</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static int _tail;   // 다음 요청을 쓸 칸</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static void PlaySound(SoundId id, int 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Debug.Assert(_tail &lt; MaxPending);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목록 끝에 추가한다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_pending[_tail].Id = id;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_pending[_tail].Volume = volume;</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_tail++;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Panel"/>
          <p:cNvSpPr/>
          <p:nvPr/>
        </p:nvSpPr>
        <p:spPr>
          <a:xfrm>
            <a:off x="6172200" y="1645920"/>
            <a:ext cx="5470855" cy="3108960"/>
          </a:xfrm>
          <a:prstGeom prst="roundRect">
            <a:avLst>
              <a:gd name="adj" fmla="val 2353"/>
            </a:avLst>
          </a:prstGeom>
          <a:solidFill>
            <a:schemeClr val="tx1"/>
          </a:solidFill>
          <a:ln w="12700">
            <a:solidFill>
              <a:schemeClr val="tx1"/>
            </a:solidFill>
            <a:prstDash val="solid"/>
          </a:ln>
        </p:spPr>
      </p:sp>
      <p:sp>
        <p:nvSpPr>
          <p:cNvPr id="9" name="code"/>
          <p:cNvSpPr txBox="1"/>
          <p:nvPr/>
        </p:nvSpPr>
        <p:spPr>
          <a:xfrm>
            <a:off x="6281928" y="1737360"/>
            <a:ext cx="5251399" cy="292608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static void Update()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보류 중인 요청이 없으면 아무것도 하지 않는다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if (_head == _tail) return;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ResourceId resource = LoadSound(_pending[_head].Id);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int channel = FindOpenChannel();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(channel == -1) return;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StartSound(resource, channel, _pending[_head].Volume);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_head++;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10" name="Text 7"/>
          <p:cNvSpPr txBox="1"/>
          <p:nvPr/>
        </p:nvSpPr>
        <p:spPr>
          <a:xfrm>
            <a:off x="548640" y="4800600"/>
            <a:ext cx="5440680"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11" name="box"/>
          <p:cNvSpPr/>
          <p:nvPr/>
        </p:nvSpPr>
        <p:spPr>
          <a:xfrm>
            <a:off x="548640" y="5120640"/>
            <a:ext cx="11094415" cy="594360"/>
          </a:xfrm>
          <a:prstGeom prst="roundRect">
            <a:avLst>
              <a:gd name="adj" fmla="val 12308"/>
            </a:avLst>
          </a:prstGeom>
          <a:solidFill>
            <a:schemeClr val="bg2"/>
          </a:solidFill>
          <a:ln w="12700">
            <a:solidFill>
              <a:schemeClr val="bg2"/>
            </a:solidFill>
            <a:prstDash val="solid"/>
          </a:ln>
        </p:spPr>
      </p:sp>
      <p:sp>
        <p:nvSpPr>
          <p:cNvPr id="12" name="Text 9"/>
          <p:cNvSpPr txBox="1"/>
          <p:nvPr/>
        </p:nvSpPr>
        <p:spPr>
          <a:xfrm>
            <a:off x="548640" y="5120640"/>
            <a:ext cx="11094415" cy="59436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이제 끝에 넣고 앞에서 꺼낼 수 있다. 큐가 생겼다.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감싸기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끝에 닿은 tail을 나머지 연산으로 배열 앞으로 되돌린다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크기 4인 배열로 head와 tail을 직접 따라가 보자.</a:t>
            </a:r>
            <a:endParaRPr lang="ko-KR" altLang="en-US" sz="1500" dirty="0"/>
          </a:p>
        </p:txBody>
      </p:sp>
      <p:sp>
        <p:nvSpPr>
          <p:cNvPr id="6" name="Text 3"/>
          <p:cNvSpPr txBox="1"/>
          <p:nvPr/>
        </p:nvSpPr>
        <p:spPr>
          <a:xfrm>
            <a:off x="548640" y="1691640"/>
            <a:ext cx="5486400" cy="365760"/>
          </a:xfrm>
          <a:prstGeom prst="rect">
            <a:avLst/>
          </a:prstGeom>
          <a:noFill/>
          <a:ln/>
        </p:spPr>
        <p:txBody>
          <a:bodyPr wrap="square" lIns="0" tIns="0" rIns="0" bIns="0" rtlCol="0" anchor="t"/>
          <a:lstStyle/>
          <a:p>
            <a:pPr indent="0" marL="0" eaLnBrk="0">
              <a:buNone/>
            </a:pPr>
            <a:r>
              <a:rPr lang="ko-KR" altLang="en-US" sz="1500" b="1" dirty="0">
                <a:solidFill>
                  <a:schemeClr val="tx1"/>
                </a:solidFill>
              </a:rPr>
              <a:t>head와 tail이 오른쪽으로 계속 움직이면</a:t>
            </a:r>
            <a:endParaRPr lang="ko-KR" altLang="en-US" sz="1500" dirty="0"/>
          </a:p>
        </p:txBody>
      </p:sp>
      <p:sp>
        <p:nvSpPr>
          <p:cNvPr id="7" name="box"/>
          <p:cNvSpPr/>
          <p:nvPr/>
        </p:nvSpPr>
        <p:spPr>
          <a:xfrm>
            <a:off x="548640" y="2194560"/>
            <a:ext cx="603504" cy="566928"/>
          </a:xfrm>
          <a:prstGeom prst="roundRect">
            <a:avLst>
              <a:gd name="adj" fmla="val 12903"/>
            </a:avLst>
          </a:prstGeom>
          <a:solidFill>
            <a:schemeClr val="bg2"/>
          </a:solidFill>
          <a:ln w="12700">
            <a:solidFill>
              <a:schemeClr val="bg2"/>
            </a:solidFill>
            <a:prstDash val="solid"/>
          </a:ln>
        </p:spPr>
      </p:sp>
      <p:sp>
        <p:nvSpPr>
          <p:cNvPr id="8" name="Text 5"/>
          <p:cNvSpPr txBox="1"/>
          <p:nvPr/>
        </p:nvSpPr>
        <p:spPr>
          <a:xfrm>
            <a:off x="548640" y="2194560"/>
            <a:ext cx="603504" cy="566928"/>
          </a:xfrm>
          <a:prstGeom prst="rect">
            <a:avLst/>
          </a:prstGeom>
          <a:noFill/>
          <a:ln/>
        </p:spPr>
        <p:txBody>
          <a:bodyPr wrap="square" lIns="635" tIns="635" rIns="635" bIns="635" rtlCol="0" anchor="ctr"/>
          <a:lstStyle/>
          <a:p>
            <a:pPr algn="ctr" indent="0" marL="0" eaLnBrk="0">
              <a:buNone/>
            </a:pPr>
            <a:endParaRPr lang="ko-KR" altLang="en-US" sz="1400" dirty="0"/>
          </a:p>
        </p:txBody>
      </p:sp>
      <p:sp>
        <p:nvSpPr>
          <p:cNvPr id="9" name="Text 6"/>
          <p:cNvSpPr txBox="1"/>
          <p:nvPr/>
        </p:nvSpPr>
        <p:spPr>
          <a:xfrm>
            <a:off x="548640" y="2798064"/>
            <a:ext cx="603504"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[0]</a:t>
            </a:r>
            <a:endParaRPr lang="ko-KR" altLang="en-US" sz="1000" dirty="0"/>
          </a:p>
        </p:txBody>
      </p:sp>
      <p:sp>
        <p:nvSpPr>
          <p:cNvPr id="10" name="box"/>
          <p:cNvSpPr/>
          <p:nvPr/>
        </p:nvSpPr>
        <p:spPr>
          <a:xfrm>
            <a:off x="1207008" y="2194560"/>
            <a:ext cx="603504" cy="566928"/>
          </a:xfrm>
          <a:prstGeom prst="roundRect">
            <a:avLst>
              <a:gd name="adj" fmla="val 12903"/>
            </a:avLst>
          </a:prstGeom>
          <a:solidFill>
            <a:schemeClr val="bg2"/>
          </a:solidFill>
          <a:ln w="12700">
            <a:solidFill>
              <a:schemeClr val="bg2"/>
            </a:solidFill>
            <a:prstDash val="solid"/>
          </a:ln>
        </p:spPr>
      </p:sp>
      <p:sp>
        <p:nvSpPr>
          <p:cNvPr id="11" name="Text 8"/>
          <p:cNvSpPr txBox="1"/>
          <p:nvPr/>
        </p:nvSpPr>
        <p:spPr>
          <a:xfrm>
            <a:off x="1207008" y="2194560"/>
            <a:ext cx="603504" cy="566928"/>
          </a:xfrm>
          <a:prstGeom prst="rect">
            <a:avLst/>
          </a:prstGeom>
          <a:noFill/>
          <a:ln/>
        </p:spPr>
        <p:txBody>
          <a:bodyPr wrap="square" lIns="635" tIns="635" rIns="635" bIns="635" rtlCol="0" anchor="ctr"/>
          <a:lstStyle/>
          <a:p>
            <a:pPr algn="ctr" indent="0" marL="0" eaLnBrk="0">
              <a:buNone/>
            </a:pPr>
            <a:endParaRPr lang="ko-KR" altLang="en-US" sz="1400" dirty="0"/>
          </a:p>
        </p:txBody>
      </p:sp>
      <p:sp>
        <p:nvSpPr>
          <p:cNvPr id="12" name="Text 9"/>
          <p:cNvSpPr txBox="1"/>
          <p:nvPr/>
        </p:nvSpPr>
        <p:spPr>
          <a:xfrm>
            <a:off x="1207008" y="2798064"/>
            <a:ext cx="603504"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[1]</a:t>
            </a:r>
            <a:endParaRPr lang="ko-KR" altLang="en-US" sz="1000" dirty="0"/>
          </a:p>
        </p:txBody>
      </p:sp>
      <p:sp>
        <p:nvSpPr>
          <p:cNvPr id="13" name="box"/>
          <p:cNvSpPr/>
          <p:nvPr/>
        </p:nvSpPr>
        <p:spPr>
          <a:xfrm>
            <a:off x="1865376" y="2194560"/>
            <a:ext cx="603504" cy="566928"/>
          </a:xfrm>
          <a:prstGeom prst="roundRect">
            <a:avLst>
              <a:gd name="adj" fmla="val 12903"/>
            </a:avLst>
          </a:prstGeom>
          <a:solidFill>
            <a:schemeClr val="bg2"/>
          </a:solidFill>
          <a:ln w="12700">
            <a:solidFill>
              <a:schemeClr val="bg2"/>
            </a:solidFill>
            <a:prstDash val="solid"/>
          </a:ln>
        </p:spPr>
      </p:sp>
      <p:sp>
        <p:nvSpPr>
          <p:cNvPr id="14" name="Text 11"/>
          <p:cNvSpPr txBox="1"/>
          <p:nvPr/>
        </p:nvSpPr>
        <p:spPr>
          <a:xfrm>
            <a:off x="1865376" y="2194560"/>
            <a:ext cx="603504" cy="566928"/>
          </a:xfrm>
          <a:prstGeom prst="rect">
            <a:avLst/>
          </a:prstGeom>
          <a:noFill/>
          <a:ln/>
        </p:spPr>
        <p:txBody>
          <a:bodyPr wrap="square" lIns="635" tIns="635" rIns="635" bIns="635" rtlCol="0" anchor="ctr"/>
          <a:lstStyle/>
          <a:p>
            <a:pPr algn="ctr" indent="0" marL="0" eaLnBrk="0">
              <a:buNone/>
            </a:pPr>
            <a:endParaRPr lang="ko-KR" altLang="en-US" sz="1400" dirty="0"/>
          </a:p>
        </p:txBody>
      </p:sp>
      <p:sp>
        <p:nvSpPr>
          <p:cNvPr id="15" name="Text 12"/>
          <p:cNvSpPr txBox="1"/>
          <p:nvPr/>
        </p:nvSpPr>
        <p:spPr>
          <a:xfrm>
            <a:off x="1865376" y="2798064"/>
            <a:ext cx="603504"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[2]</a:t>
            </a:r>
            <a:endParaRPr lang="ko-KR" altLang="en-US" sz="1000" dirty="0"/>
          </a:p>
        </p:txBody>
      </p:sp>
      <p:sp>
        <p:nvSpPr>
          <p:cNvPr id="16" name="box"/>
          <p:cNvSpPr/>
          <p:nvPr/>
        </p:nvSpPr>
        <p:spPr>
          <a:xfrm>
            <a:off x="2523744" y="2194560"/>
            <a:ext cx="603504" cy="566928"/>
          </a:xfrm>
          <a:prstGeom prst="roundRect">
            <a:avLst>
              <a:gd name="adj" fmla="val 12903"/>
            </a:avLst>
          </a:prstGeom>
          <a:solidFill>
            <a:schemeClr val="bg2"/>
          </a:solidFill>
          <a:ln w="12700">
            <a:solidFill>
              <a:schemeClr val="bg2"/>
            </a:solidFill>
            <a:prstDash val="solid"/>
          </a:ln>
        </p:spPr>
      </p:sp>
      <p:sp>
        <p:nvSpPr>
          <p:cNvPr id="17" name="Text 14"/>
          <p:cNvSpPr txBox="1"/>
          <p:nvPr/>
        </p:nvSpPr>
        <p:spPr>
          <a:xfrm>
            <a:off x="2523744" y="2194560"/>
            <a:ext cx="603504" cy="566928"/>
          </a:xfrm>
          <a:prstGeom prst="rect">
            <a:avLst/>
          </a:prstGeom>
          <a:noFill/>
          <a:ln/>
        </p:spPr>
        <p:txBody>
          <a:bodyPr wrap="square" lIns="635" tIns="635" rIns="635" bIns="635" rtlCol="0" anchor="ctr"/>
          <a:lstStyle/>
          <a:p>
            <a:pPr algn="ctr" indent="0" marL="0" eaLnBrk="0">
              <a:buNone/>
            </a:pPr>
            <a:endParaRPr lang="ko-KR" altLang="en-US" sz="1400" dirty="0"/>
          </a:p>
        </p:txBody>
      </p:sp>
      <p:sp>
        <p:nvSpPr>
          <p:cNvPr id="18" name="Text 15"/>
          <p:cNvSpPr txBox="1"/>
          <p:nvPr/>
        </p:nvSpPr>
        <p:spPr>
          <a:xfrm>
            <a:off x="2523744" y="2798064"/>
            <a:ext cx="603504"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[3]</a:t>
            </a:r>
            <a:endParaRPr lang="ko-KR" altLang="en-US" sz="1000" dirty="0"/>
          </a:p>
        </p:txBody>
      </p:sp>
      <p:sp>
        <p:nvSpPr>
          <p:cNvPr id="19" name="box"/>
          <p:cNvSpPr/>
          <p:nvPr/>
        </p:nvSpPr>
        <p:spPr>
          <a:xfrm>
            <a:off x="3182112" y="2194560"/>
            <a:ext cx="603504" cy="566928"/>
          </a:xfrm>
          <a:prstGeom prst="roundRect">
            <a:avLst>
              <a:gd name="adj" fmla="val 12903"/>
            </a:avLst>
          </a:prstGeom>
          <a:solidFill>
            <a:schemeClr val="bg2"/>
          </a:solidFill>
          <a:ln w="12700">
            <a:solidFill>
              <a:schemeClr val="bg2"/>
            </a:solidFill>
            <a:prstDash val="solid"/>
          </a:ln>
        </p:spPr>
      </p:sp>
      <p:sp>
        <p:nvSpPr>
          <p:cNvPr id="20" name="Text 17"/>
          <p:cNvSpPr txBox="1"/>
          <p:nvPr/>
        </p:nvSpPr>
        <p:spPr>
          <a:xfrm>
            <a:off x="3182112" y="2194560"/>
            <a:ext cx="603504" cy="566928"/>
          </a:xfrm>
          <a:prstGeom prst="rect">
            <a:avLst/>
          </a:prstGeom>
          <a:noFill/>
          <a:ln/>
        </p:spPr>
        <p:txBody>
          <a:bodyPr wrap="square" lIns="635" tIns="635" rIns="635" bIns="635" rtlCol="0" anchor="ctr"/>
          <a:lstStyle/>
          <a:p>
            <a:pPr algn="ctr" indent="0" marL="0" eaLnBrk="0">
              <a:buNone/>
            </a:pPr>
            <a:endParaRPr lang="ko-KR" altLang="en-US" sz="1400" dirty="0"/>
          </a:p>
        </p:txBody>
      </p:sp>
      <p:sp>
        <p:nvSpPr>
          <p:cNvPr id="21" name="Text 18"/>
          <p:cNvSpPr txBox="1"/>
          <p:nvPr/>
        </p:nvSpPr>
        <p:spPr>
          <a:xfrm>
            <a:off x="3182112" y="2798064"/>
            <a:ext cx="603504"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[4]</a:t>
            </a:r>
            <a:endParaRPr lang="ko-KR" altLang="en-US" sz="1000" dirty="0"/>
          </a:p>
        </p:txBody>
      </p:sp>
      <p:sp>
        <p:nvSpPr>
          <p:cNvPr id="22" name="box"/>
          <p:cNvSpPr/>
          <p:nvPr/>
        </p:nvSpPr>
        <p:spPr>
          <a:xfrm>
            <a:off x="3840480" y="2194560"/>
            <a:ext cx="603504" cy="566928"/>
          </a:xfrm>
          <a:prstGeom prst="roundRect">
            <a:avLst>
              <a:gd name="adj" fmla="val 12903"/>
            </a:avLst>
          </a:prstGeom>
          <a:solidFill>
            <a:schemeClr val="accent1"/>
          </a:solidFill>
          <a:ln w="12700">
            <a:solidFill>
              <a:schemeClr val="accent1"/>
            </a:solidFill>
            <a:prstDash val="solid"/>
          </a:ln>
        </p:spPr>
      </p:sp>
      <p:sp>
        <p:nvSpPr>
          <p:cNvPr id="23" name="Text 20"/>
          <p:cNvSpPr txBox="1"/>
          <p:nvPr/>
        </p:nvSpPr>
        <p:spPr>
          <a:xfrm>
            <a:off x="3840480" y="2194560"/>
            <a:ext cx="603504" cy="566928"/>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F</a:t>
            </a:r>
            <a:endParaRPr lang="ko-KR" altLang="en-US" sz="1400" dirty="0"/>
          </a:p>
        </p:txBody>
      </p:sp>
      <p:sp>
        <p:nvSpPr>
          <p:cNvPr id="24" name="Text 21"/>
          <p:cNvSpPr txBox="1"/>
          <p:nvPr/>
        </p:nvSpPr>
        <p:spPr>
          <a:xfrm>
            <a:off x="3840480" y="2798064"/>
            <a:ext cx="603504"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[5]</a:t>
            </a:r>
            <a:endParaRPr lang="ko-KR" altLang="en-US" sz="1000" dirty="0"/>
          </a:p>
        </p:txBody>
      </p:sp>
      <p:sp>
        <p:nvSpPr>
          <p:cNvPr id="25" name="box"/>
          <p:cNvSpPr/>
          <p:nvPr/>
        </p:nvSpPr>
        <p:spPr>
          <a:xfrm>
            <a:off x="4498848" y="2194560"/>
            <a:ext cx="603504" cy="566928"/>
          </a:xfrm>
          <a:prstGeom prst="roundRect">
            <a:avLst>
              <a:gd name="adj" fmla="val 12903"/>
            </a:avLst>
          </a:prstGeom>
          <a:solidFill>
            <a:schemeClr val="accent1"/>
          </a:solidFill>
          <a:ln w="12700">
            <a:solidFill>
              <a:schemeClr val="accent1"/>
            </a:solidFill>
            <a:prstDash val="solid"/>
          </a:ln>
        </p:spPr>
      </p:sp>
      <p:sp>
        <p:nvSpPr>
          <p:cNvPr id="26" name="Text 23"/>
          <p:cNvSpPr txBox="1"/>
          <p:nvPr/>
        </p:nvSpPr>
        <p:spPr>
          <a:xfrm>
            <a:off x="4498848" y="2194560"/>
            <a:ext cx="603504" cy="566928"/>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G</a:t>
            </a:r>
            <a:endParaRPr lang="ko-KR" altLang="en-US" sz="1400" dirty="0"/>
          </a:p>
        </p:txBody>
      </p:sp>
      <p:sp>
        <p:nvSpPr>
          <p:cNvPr id="27" name="Text 24"/>
          <p:cNvSpPr txBox="1"/>
          <p:nvPr/>
        </p:nvSpPr>
        <p:spPr>
          <a:xfrm>
            <a:off x="4498848" y="2798064"/>
            <a:ext cx="603504"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[6]</a:t>
            </a:r>
            <a:endParaRPr lang="ko-KR" altLang="en-US" sz="1000" dirty="0"/>
          </a:p>
        </p:txBody>
      </p:sp>
      <p:sp>
        <p:nvSpPr>
          <p:cNvPr id="28" name="box"/>
          <p:cNvSpPr/>
          <p:nvPr/>
        </p:nvSpPr>
        <p:spPr>
          <a:xfrm>
            <a:off x="5157216" y="2194560"/>
            <a:ext cx="603504" cy="566928"/>
          </a:xfrm>
          <a:prstGeom prst="roundRect">
            <a:avLst>
              <a:gd name="adj" fmla="val 12903"/>
            </a:avLst>
          </a:prstGeom>
          <a:solidFill>
            <a:schemeClr val="accent1"/>
          </a:solidFill>
          <a:ln w="12700">
            <a:solidFill>
              <a:schemeClr val="accent1"/>
            </a:solidFill>
            <a:prstDash val="solid"/>
          </a:ln>
        </p:spPr>
      </p:sp>
      <p:sp>
        <p:nvSpPr>
          <p:cNvPr id="29" name="Text 26"/>
          <p:cNvSpPr txBox="1"/>
          <p:nvPr/>
        </p:nvSpPr>
        <p:spPr>
          <a:xfrm>
            <a:off x="5157216" y="2194560"/>
            <a:ext cx="603504" cy="566928"/>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H</a:t>
            </a:r>
            <a:endParaRPr lang="ko-KR" altLang="en-US" sz="1400" dirty="0"/>
          </a:p>
        </p:txBody>
      </p:sp>
      <p:sp>
        <p:nvSpPr>
          <p:cNvPr id="30" name="Text 27"/>
          <p:cNvSpPr txBox="1"/>
          <p:nvPr/>
        </p:nvSpPr>
        <p:spPr>
          <a:xfrm>
            <a:off x="5157216" y="2798064"/>
            <a:ext cx="603504" cy="237744"/>
          </a:xfrm>
          <a:prstGeom prst="rect">
            <a:avLst/>
          </a:prstGeom>
          <a:noFill/>
          <a:ln/>
        </p:spPr>
        <p:txBody>
          <a:bodyPr wrap="square" lIns="0" tIns="0" rIns="0" bIns="0" rtlCol="0" anchor="t"/>
          <a:lstStyle/>
          <a:p>
            <a:pPr algn="ctr" indent="0" marL="0" eaLnBrk="0">
              <a:buNone/>
            </a:pPr>
            <a:r>
              <a:rPr lang="ko-KR" altLang="en-US" sz="1000" dirty="0">
                <a:solidFill>
                  <a:schemeClr val="accent5"/>
                </a:solidFill>
              </a:rPr>
              <a:t>[7]</a:t>
            </a:r>
            <a:endParaRPr lang="ko-KR" altLang="en-US" sz="1000" dirty="0"/>
          </a:p>
        </p:txBody>
      </p:sp>
      <p:sp>
        <p:nvSpPr>
          <p:cNvPr id="31" name="Text 28"/>
          <p:cNvSpPr txBox="1"/>
          <p:nvPr/>
        </p:nvSpPr>
        <p:spPr>
          <a:xfrm>
            <a:off x="3840480" y="3017520"/>
            <a:ext cx="603504" cy="274320"/>
          </a:xfrm>
          <a:prstGeom prst="rect">
            <a:avLst/>
          </a:prstGeom>
          <a:noFill/>
          <a:ln/>
        </p:spPr>
        <p:txBody>
          <a:bodyPr wrap="square" lIns="0" tIns="0" rIns="0" bIns="0" rtlCol="0" anchor="t"/>
          <a:lstStyle/>
          <a:p>
            <a:pPr algn="ctr" indent="0" marL="0" eaLnBrk="0">
              <a:buNone/>
            </a:pPr>
            <a:r>
              <a:rPr lang="ko-KR" altLang="en-US" sz="1200" b="1" dirty="0">
                <a:solidFill>
                  <a:schemeClr val="accent2"/>
                </a:solidFill>
              </a:rPr>
              <a:t>head</a:t>
            </a:r>
            <a:endParaRPr lang="ko-KR" altLang="en-US" sz="1200" dirty="0"/>
          </a:p>
        </p:txBody>
      </p:sp>
      <p:sp>
        <p:nvSpPr>
          <p:cNvPr id="32" name="Text 29"/>
          <p:cNvSpPr txBox="1"/>
          <p:nvPr/>
        </p:nvSpPr>
        <p:spPr>
          <a:xfrm>
            <a:off x="5650992" y="3017520"/>
            <a:ext cx="932688" cy="274320"/>
          </a:xfrm>
          <a:prstGeom prst="rect">
            <a:avLst/>
          </a:prstGeom>
          <a:noFill/>
          <a:ln/>
        </p:spPr>
        <p:txBody>
          <a:bodyPr wrap="square" lIns="0" tIns="0" rIns="0" bIns="0" rtlCol="0" anchor="t"/>
          <a:lstStyle/>
          <a:p>
            <a:pPr algn="ctr" indent="0" marL="0" eaLnBrk="0">
              <a:buNone/>
            </a:pPr>
            <a:r>
              <a:rPr lang="ko-KR" altLang="en-US" sz="1200" b="1" dirty="0">
                <a:solidFill>
                  <a:schemeClr val="accent1"/>
                </a:solidFill>
              </a:rPr>
              <a:t>tail →</a:t>
            </a:r>
            <a:endParaRPr lang="ko-KR" altLang="en-US" sz="1200" dirty="0"/>
          </a:p>
        </p:txBody>
      </p:sp>
      <p:sp>
        <p:nvSpPr>
          <p:cNvPr id="33" name="Text 30"/>
          <p:cNvSpPr txBox="1"/>
          <p:nvPr/>
        </p:nvSpPr>
        <p:spPr>
          <a:xfrm>
            <a:off x="1097280" y="3337560"/>
            <a:ext cx="3657600" cy="320040"/>
          </a:xfrm>
          <a:prstGeom prst="rect">
            <a:avLst/>
          </a:prstGeom>
          <a:noFill/>
          <a:ln/>
        </p:spPr>
        <p:txBody>
          <a:bodyPr wrap="square" lIns="0" tIns="0" rIns="0" bIns="0" rtlCol="0" anchor="t"/>
          <a:lstStyle/>
          <a:p>
            <a:pPr indent="0" marL="0" eaLnBrk="0">
              <a:buNone/>
            </a:pPr>
            <a:r>
              <a:rPr lang="ko-KR" altLang="en-US" sz="1300" dirty="0">
                <a:solidFill>
                  <a:schemeClr val="tx2"/>
                </a:solidFill>
              </a:rPr>
              <a:t>앞쪽 다섯 칸은 이미 처리해서 비어 있다.</a:t>
            </a:r>
            <a:endParaRPr lang="ko-KR" altLang="en-US" sz="1300" dirty="0"/>
          </a:p>
        </p:txBody>
      </p:sp>
      <p:sp>
        <p:nvSpPr>
          <p:cNvPr id="34" name="Shape 31"/>
          <p:cNvSpPr/>
          <p:nvPr/>
        </p:nvSpPr>
        <p:spPr>
          <a:xfrm>
            <a:off x="5788152" y="2478024"/>
            <a:ext cx="210312" cy="914"/>
          </a:xfrm>
          <a:prstGeom prst="line">
            <a:avLst/>
          </a:prstGeom>
          <a:noFill/>
          <a:ln w="22225">
            <a:solidFill>
              <a:schemeClr val="accent1"/>
            </a:solidFill>
            <a:prstDash val="solid"/>
          </a:ln>
        </p:spPr>
      </p:sp>
      <p:sp>
        <p:nvSpPr>
          <p:cNvPr id="35" name="Shape 32"/>
          <p:cNvSpPr/>
          <p:nvPr/>
        </p:nvSpPr>
        <p:spPr>
          <a:xfrm>
            <a:off x="5998464" y="2478024"/>
            <a:ext cx="914" cy="1316736"/>
          </a:xfrm>
          <a:prstGeom prst="line">
            <a:avLst/>
          </a:prstGeom>
          <a:noFill/>
          <a:ln w="22225">
            <a:solidFill>
              <a:schemeClr val="accent1"/>
            </a:solidFill>
            <a:prstDash val="solid"/>
          </a:ln>
        </p:spPr>
      </p:sp>
      <p:sp>
        <p:nvSpPr>
          <p:cNvPr id="36" name="Shape 33"/>
          <p:cNvSpPr/>
          <p:nvPr/>
        </p:nvSpPr>
        <p:spPr>
          <a:xfrm flipH="1">
            <a:off x="850392" y="3794760"/>
            <a:ext cx="5148072" cy="914"/>
          </a:xfrm>
          <a:prstGeom prst="line">
            <a:avLst/>
          </a:prstGeom>
          <a:noFill/>
          <a:ln w="22225">
            <a:solidFill>
              <a:schemeClr val="accent1"/>
            </a:solidFill>
            <a:prstDash val="solid"/>
          </a:ln>
        </p:spPr>
      </p:sp>
      <p:sp>
        <p:nvSpPr>
          <p:cNvPr id="37" name="Shape 34"/>
          <p:cNvSpPr/>
          <p:nvPr/>
        </p:nvSpPr>
        <p:spPr>
          <a:xfrm flipV="1">
            <a:off x="850392" y="3035808"/>
            <a:ext cx="914" cy="758952"/>
          </a:xfrm>
          <a:prstGeom prst="line">
            <a:avLst/>
          </a:prstGeom>
          <a:noFill/>
          <a:ln w="22225">
            <a:solidFill>
              <a:schemeClr val="accent1"/>
            </a:solidFill>
            <a:prstDash val="solid"/>
            <a:tailEnd type="triangle"/>
          </a:ln>
        </p:spPr>
      </p:sp>
      <p:sp>
        <p:nvSpPr>
          <p:cNvPr id="38" name="Text 35"/>
          <p:cNvSpPr txBox="1"/>
          <p:nvPr/>
        </p:nvSpPr>
        <p:spPr>
          <a:xfrm>
            <a:off x="1463040" y="3840480"/>
            <a:ext cx="4206240" cy="320040"/>
          </a:xfrm>
          <a:prstGeom prst="rect">
            <a:avLst/>
          </a:prstGeom>
          <a:noFill/>
          <a:ln/>
        </p:spPr>
        <p:txBody>
          <a:bodyPr wrap="square" lIns="0" tIns="0" rIns="0" bIns="0" rtlCol="0" anchor="t"/>
          <a:lstStyle/>
          <a:p>
            <a:pPr indent="0" marL="0" eaLnBrk="0">
              <a:buNone/>
            </a:pPr>
            <a:r>
              <a:rPr lang="ko-KR" altLang="en-US" sz="1300" b="1" dirty="0">
                <a:solidFill>
                  <a:schemeClr val="accent1"/>
                </a:solidFill>
              </a:rPr>
              <a:t>끝을 지나면 [0]으로 돌아간다</a:t>
            </a:r>
            <a:endParaRPr lang="ko-KR" altLang="en-US" sz="1300" dirty="0"/>
          </a:p>
        </p:txBody>
      </p:sp>
      <p:sp>
        <p:nvSpPr>
          <p:cNvPr id="39" name="card"/>
          <p:cNvSpPr/>
          <p:nvPr/>
        </p:nvSpPr>
        <p:spPr>
          <a:xfrm>
            <a:off x="548640" y="4343400"/>
            <a:ext cx="5669280" cy="1371600"/>
          </a:xfrm>
          <a:prstGeom prst="roundRect">
            <a:avLst>
              <a:gd name="adj" fmla="val 6667"/>
            </a:avLst>
          </a:prstGeom>
          <a:solidFill>
            <a:schemeClr val="bg2"/>
          </a:solidFill>
          <a:ln w="12700">
            <a:solidFill>
              <a:schemeClr val="bg2"/>
            </a:solidFill>
            <a:prstDash val="solid"/>
          </a:ln>
        </p:spPr>
      </p:sp>
      <p:sp>
        <p:nvSpPr>
          <p:cNvPr id="40" name="Text 37"/>
          <p:cNvSpPr txBox="1"/>
          <p:nvPr/>
        </p:nvSpPr>
        <p:spPr>
          <a:xfrm>
            <a:off x="777240" y="4562856"/>
            <a:ext cx="525780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원형 버퍼</a:t>
            </a:r>
            <a:endParaRPr lang="ko-KR" altLang="en-US" sz="1700" dirty="0"/>
          </a:p>
        </p:txBody>
      </p:sp>
      <p:sp>
        <p:nvSpPr>
          <p:cNvPr id="41" name="Text 38"/>
          <p:cNvSpPr txBox="1"/>
          <p:nvPr/>
        </p:nvSpPr>
        <p:spPr>
          <a:xfrm>
            <a:off x="777240" y="5120640"/>
            <a:ext cx="5212080" cy="4572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배열의 끝과 처음이 이어진 것처럼 쓴다.</a:t>
            </a:r>
            <a:endParaRPr lang="ko-KR" altLang="en-US" sz="1400" dirty="0"/>
          </a:p>
        </p:txBody>
      </p:sp>
      <p:sp>
        <p:nvSpPr>
          <p:cNvPr id="42" name="codePanel"/>
          <p:cNvSpPr/>
          <p:nvPr/>
        </p:nvSpPr>
        <p:spPr>
          <a:xfrm>
            <a:off x="6537960" y="1691640"/>
            <a:ext cx="5105095" cy="1920240"/>
          </a:xfrm>
          <a:prstGeom prst="roundRect">
            <a:avLst>
              <a:gd name="adj" fmla="val 3810"/>
            </a:avLst>
          </a:prstGeom>
          <a:solidFill>
            <a:schemeClr val="tx1"/>
          </a:solidFill>
          <a:ln w="12700">
            <a:solidFill>
              <a:schemeClr val="tx1"/>
            </a:solidFill>
            <a:prstDash val="solid"/>
          </a:ln>
        </p:spPr>
      </p:sp>
      <p:sp>
        <p:nvSpPr>
          <p:cNvPr id="43" name="code"/>
          <p:cNvSpPr txBox="1"/>
          <p:nvPr/>
        </p:nvSpPr>
        <p:spPr>
          <a:xfrm>
            <a:off x="6647688" y="1783080"/>
            <a:ext cx="4885639" cy="1737360"/>
          </a:xfrm>
          <a:prstGeom prst="rect">
            <a:avLst/>
          </a:prstGeom>
          <a:noFill/>
          <a:ln/>
        </p:spPr>
        <p:txBody>
          <a:bodyPr wrap="square" lIns="635" tIns="635" rIns="635" bIns="635" rtlCol="0" anchor="t"/>
          <a:lstStyle/>
          <a:p>
            <a:pPr indent="0" marL="0" eaLnBrk="0">
              <a:buNone/>
            </a:pPr>
            <a:r>
              <a:rPr lang="ko-KR" altLang="en-US" sz="1200" dirty="0">
                <a:solidFill>
                  <a:schemeClr val="accent3"/>
                </a:solidFill>
                <a:latin typeface="Consolas" pitchFamily="34" charset="0"/>
                <a:ea typeface="Consolas" pitchFamily="34" charset="-122"/>
                <a:cs typeface="Consolas" pitchFamily="34" charset="-120"/>
              </a:rPr>
              <a:t>// PlaySound: 끝에서 처음으로 감싼다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Debug.Assert((_tail + 1) % MaxPending != _head);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_pending[_tail].Id = id;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_pending[_tail].Volume = volume;</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_tail = (_tail + 1) % MaxPending;</a:t>
            </a:r>
            <a:endParaRPr lang="ko-KR" altLang="en-US" sz="1200" dirty="0"/>
          </a:p>
        </p:txBody>
      </p:sp>
      <p:sp>
        <p:nvSpPr>
          <p:cNvPr id="44" name="codePanel"/>
          <p:cNvSpPr/>
          <p:nvPr/>
        </p:nvSpPr>
        <p:spPr>
          <a:xfrm>
            <a:off x="6537960" y="3749040"/>
            <a:ext cx="5105095" cy="777240"/>
          </a:xfrm>
          <a:prstGeom prst="roundRect">
            <a:avLst>
              <a:gd name="adj" fmla="val 9412"/>
            </a:avLst>
          </a:prstGeom>
          <a:solidFill>
            <a:schemeClr val="tx1"/>
          </a:solidFill>
          <a:ln w="12700">
            <a:solidFill>
              <a:schemeClr val="tx1"/>
            </a:solidFill>
            <a:prstDash val="solid"/>
          </a:ln>
        </p:spPr>
      </p:sp>
      <p:sp>
        <p:nvSpPr>
          <p:cNvPr id="45" name="code"/>
          <p:cNvSpPr txBox="1"/>
          <p:nvPr/>
        </p:nvSpPr>
        <p:spPr>
          <a:xfrm>
            <a:off x="6647688" y="3840480"/>
            <a:ext cx="4885639" cy="594360"/>
          </a:xfrm>
          <a:prstGeom prst="rect">
            <a:avLst/>
          </a:prstGeom>
          <a:noFill/>
          <a:ln/>
        </p:spPr>
        <p:txBody>
          <a:bodyPr wrap="square" lIns="635" tIns="635" rIns="635" bIns="635" rtlCol="0" anchor="t"/>
          <a:lstStyle/>
          <a:p>
            <a:pPr indent="0" marL="0" eaLnBrk="0">
              <a:buNone/>
            </a:pPr>
            <a:r>
              <a:rPr lang="ko-KR" altLang="en-US" sz="1200" dirty="0">
                <a:solidFill>
                  <a:schemeClr val="accent3"/>
                </a:solidFill>
                <a:latin typeface="Consolas" pitchFamily="34" charset="0"/>
                <a:ea typeface="Consolas" pitchFamily="34" charset="-122"/>
                <a:cs typeface="Consolas" pitchFamily="34" charset="-120"/>
              </a:rPr>
              <a:t>// Update: head도 같은 방식으로 감싼다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_head = (_head + 1) % MaxPending;</a:t>
            </a:r>
            <a:endParaRPr lang="ko-KR" altLang="en-US" sz="1200" dirty="0"/>
          </a:p>
        </p:txBody>
      </p:sp>
      <p:sp>
        <p:nvSpPr>
          <p:cNvPr id="46" name="Text 43"/>
          <p:cNvSpPr txBox="1"/>
          <p:nvPr/>
        </p:nvSpPr>
        <p:spPr>
          <a:xfrm>
            <a:off x="6537960" y="4572000"/>
            <a:ext cx="5105095"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 바뀐 줄만 보인다.</a:t>
            </a:r>
            <a:endParaRPr lang="ko-KR" altLang="en-US" sz="1100" dirty="0"/>
          </a:p>
        </p:txBody>
      </p:sp>
      <p:sp>
        <p:nvSpPr>
          <p:cNvPr id="47" name="Text 44"/>
          <p:cNvSpPr txBox="1"/>
          <p:nvPr/>
        </p:nvSpPr>
        <p:spPr>
          <a:xfrm>
            <a:off x="6537960" y="4937760"/>
            <a:ext cx="510509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단언문: tail의 한 칸 뒤가 head이면 가득 찬 것이다. 더 넣으면 tail이 head를 덮어쓴다.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크기 4인 원형 버퍼에서 head와 tail을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변화를 원으로 그려 보면 어떻게 보일까?</a:t>
            </a:r>
            <a:endParaRPr lang="ko-KR" alt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194560"/>
                <a:gridCol w="685800"/>
                <a:gridCol w="685800"/>
                <a:gridCol w="685800"/>
                <a:gridCol w="685800"/>
                <a:gridCol w="777240"/>
                <a:gridCol w="777240"/>
                <a:gridCol w="4602175"/>
              </a:tblGrid>
              <a:tr h="384048">
                <a:tc>
                  <a:txBody>
                    <a:bodyPr/>
                    <a:lstStyle/>
                    <a:p>
                      <a:pPr algn="ctr" indent="0" marL="0" eaLnBrk="0">
                        <a:buNone/>
                      </a:pPr>
                      <a:r>
                        <a:rPr lang="ko-KR" altLang="en-US" sz="1300" b="1" dirty="0">
                          <a:solidFill>
                            <a:schemeClr val="bg1"/>
                          </a:solidFill>
                        </a:rPr>
                        <a:t>동작</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algn="ctr" indent="0" marL="0" eaLnBrk="0">
                        <a:buNone/>
                      </a:pPr>
                      <a:r>
                        <a:rPr lang="ko-KR" altLang="en-US" sz="1300" b="1" dirty="0">
                          <a:solidFill>
                            <a:schemeClr val="bg1"/>
                          </a:solidFill>
                        </a:rPr>
                        <a:t>[0]</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algn="ctr" indent="0" marL="0" eaLnBrk="0">
                        <a:buNone/>
                      </a:pPr>
                      <a:r>
                        <a:rPr lang="ko-KR" altLang="en-US" sz="1300" b="1" dirty="0">
                          <a:solidFill>
                            <a:schemeClr val="bg1"/>
                          </a:solidFill>
                        </a:rPr>
                        <a:t>[1]</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algn="ctr" indent="0" marL="0" eaLnBrk="0">
                        <a:buNone/>
                      </a:pPr>
                      <a:r>
                        <a:rPr lang="ko-KR" altLang="en-US" sz="1300" b="1" dirty="0">
                          <a:solidFill>
                            <a:schemeClr val="bg1"/>
                          </a:solidFill>
                        </a:rPr>
                        <a:t>[2]</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algn="ctr" indent="0" marL="0" eaLnBrk="0">
                        <a:buNone/>
                      </a:pPr>
                      <a:r>
                        <a:rPr lang="ko-KR" altLang="en-US" sz="1300" b="1" dirty="0">
                          <a:solidFill>
                            <a:schemeClr val="bg1"/>
                          </a:solidFill>
                        </a:rPr>
                        <a:t>[3]</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algn="ctr" indent="0" marL="0" eaLnBrk="0">
                        <a:buNone/>
                      </a:pPr>
                      <a:r>
                        <a:rPr lang="ko-KR" altLang="en-US" sz="1300" b="1" dirty="0">
                          <a:solidFill>
                            <a:schemeClr val="bg1"/>
                          </a:solidFill>
                        </a:rPr>
                        <a:t>head</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algn="ctr" indent="0" marL="0" eaLnBrk="0">
                        <a:buNone/>
                      </a:pPr>
                      <a:r>
                        <a:rPr lang="ko-KR" altLang="en-US" sz="1300" b="1" dirty="0">
                          <a:solidFill>
                            <a:schemeClr val="bg1"/>
                          </a:solidFill>
                        </a:rPr>
                        <a:t>tail</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algn="ctr" indent="0" marL="0" eaLnBrk="0">
                        <a:buNone/>
                      </a:pPr>
                      <a:r>
                        <a:rPr lang="ko-KR" altLang="en-US" sz="1300" b="1" dirty="0">
                          <a:solidFill>
                            <a:schemeClr val="bg1"/>
                          </a:solidFill>
                        </a:rPr>
                        <a:t>설명</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384048">
                <a:tc>
                  <a:txBody>
                    <a:bodyPr/>
                    <a:lstStyle/>
                    <a:p>
                      <a:pPr indent="0" marL="0" eaLnBrk="0">
                        <a:buNone/>
                      </a:pPr>
                      <a:r>
                        <a:rPr lang="ko-KR" altLang="en-US" sz="1300" b="1" dirty="0">
                          <a:solidFill>
                            <a:schemeClr val="tx1"/>
                          </a:solidFill>
                        </a:rPr>
                        <a:t>시작</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2"/>
                          </a:solidFill>
                        </a:rPr>
                        <a:t>0</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0</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head == tail: 비어 있다</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84048">
                <a:tc>
                  <a:txBody>
                    <a:bodyPr/>
                    <a:lstStyle/>
                    <a:p>
                      <a:pPr indent="0" marL="0" eaLnBrk="0">
                        <a:buNone/>
                      </a:pPr>
                      <a:r>
                        <a:rPr lang="ko-KR" altLang="en-US" sz="1300" b="1" dirty="0">
                          <a:solidFill>
                            <a:schemeClr val="tx1"/>
                          </a:solidFill>
                        </a:rPr>
                        <a:t>PlaySound A, B, C</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A</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B</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C</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2"/>
                          </a:solidFill>
                        </a:rPr>
                        <a:t>0</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3</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tail은 마지막 요청의 다음 칸</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84048">
                <a:tc>
                  <a:txBody>
                    <a:bodyPr/>
                    <a:lstStyle/>
                    <a:p>
                      <a:pPr indent="0" marL="0" eaLnBrk="0">
                        <a:buNone/>
                      </a:pPr>
                      <a:r>
                        <a:rPr lang="ko-KR" altLang="en-US" sz="1300" b="1" dirty="0">
                          <a:solidFill>
                            <a:schemeClr val="tx1"/>
                          </a:solidFill>
                        </a:rPr>
                        <a:t>Update</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B</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C</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2"/>
                          </a:solidFill>
                        </a:rPr>
                        <a:t>1</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3</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A를 재생하고 head를 옮긴다</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84048">
                <a:tc>
                  <a:txBody>
                    <a:bodyPr/>
                    <a:lstStyle/>
                    <a:p>
                      <a:pPr indent="0" marL="0" eaLnBrk="0">
                        <a:buNone/>
                      </a:pPr>
                      <a:r>
                        <a:rPr lang="ko-KR" altLang="en-US" sz="1300" b="1" dirty="0">
                          <a:solidFill>
                            <a:schemeClr val="tx1"/>
                          </a:solidFill>
                        </a:rPr>
                        <a:t>Update</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(B)</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C</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2"/>
                          </a:solidFill>
                        </a:rPr>
                        <a:t>2</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3</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B를 재생한다</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84048">
                <a:tc>
                  <a:txBody>
                    <a:bodyPr/>
                    <a:lstStyle/>
                    <a:p>
                      <a:pPr indent="0" marL="0" eaLnBrk="0">
                        <a:buNone/>
                      </a:pPr>
                      <a:r>
                        <a:rPr lang="ko-KR" altLang="en-US" sz="1300" b="1" dirty="0">
                          <a:solidFill>
                            <a:schemeClr val="tx1"/>
                          </a:solidFill>
                        </a:rPr>
                        <a:t>PlaySound D</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(A)</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(B)</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C</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D</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2"/>
                          </a:solidFill>
                        </a:rPr>
                        <a:t>2</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0</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tail = (3 + 1) % 4 = 0</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84048">
                <a:tc>
                  <a:txBody>
                    <a:bodyPr/>
                    <a:lstStyle/>
                    <a:p>
                      <a:pPr indent="0" marL="0" eaLnBrk="0">
                        <a:buNone/>
                      </a:pPr>
                      <a:r>
                        <a:rPr lang="ko-KR" altLang="en-US" sz="1300" b="1" dirty="0">
                          <a:solidFill>
                            <a:schemeClr val="tx1"/>
                          </a:solidFill>
                        </a:rPr>
                        <a:t>PlaySound E</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E</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(B)</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C</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D</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2"/>
                          </a:solidFill>
                        </a:rPr>
                        <a:t>2</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1</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처리가 끝난 [0]을 다시 쓴다</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84048">
                <a:tc>
                  <a:txBody>
                    <a:bodyPr/>
                    <a:lstStyle/>
                    <a:p>
                      <a:pPr indent="0" marL="0" eaLnBrk="0">
                        <a:buNone/>
                      </a:pPr>
                      <a:r>
                        <a:rPr lang="ko-KR" altLang="en-US" sz="1300" b="1" dirty="0">
                          <a:solidFill>
                            <a:schemeClr val="tx1"/>
                          </a:solidFill>
                        </a:rPr>
                        <a:t>PlaySound F</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E</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(B)</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C</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D</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2"/>
                          </a:solidFill>
                        </a:rPr>
                        <a:t>2</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1</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(1 + 1) % 4 = 2 = head: 가득 참, 단언 실패</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84048">
                <a:tc>
                  <a:txBody>
                    <a:bodyPr/>
                    <a:lstStyle/>
                    <a:p>
                      <a:pPr indent="0" marL="0" eaLnBrk="0">
                        <a:buNone/>
                      </a:pPr>
                      <a:r>
                        <a:rPr lang="ko-KR" altLang="en-US" sz="1300" b="1" dirty="0">
                          <a:solidFill>
                            <a:schemeClr val="tx1"/>
                          </a:solidFill>
                        </a:rPr>
                        <a:t>Update</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E</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(B)</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(C)</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D</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2"/>
                          </a:solidFill>
                        </a:rPr>
                        <a:t>3</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1</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C를 재생한다</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84048">
                <a:tc>
                  <a:txBody>
                    <a:bodyPr/>
                    <a:lstStyle/>
                    <a:p>
                      <a:pPr indent="0" marL="0" eaLnBrk="0">
                        <a:buNone/>
                      </a:pPr>
                      <a:r>
                        <a:rPr lang="ko-KR" altLang="en-US" sz="1300" b="1" dirty="0">
                          <a:solidFill>
                            <a:schemeClr val="tx1"/>
                          </a:solidFill>
                        </a:rPr>
                        <a:t>Update</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E</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(B)</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(C)</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dirty="0">
                          <a:solidFill>
                            <a:schemeClr val="accent3"/>
                          </a:solidFill>
                        </a:rPr>
                        <a:t>(D)</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2"/>
                          </a:solidFill>
                        </a:rPr>
                        <a:t>0</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algn="ctr" indent="0" marL="0" eaLnBrk="0">
                        <a:buNone/>
                      </a:pPr>
                      <a:r>
                        <a:rPr lang="ko-KR" altLang="en-US" sz="1300" b="1" dirty="0">
                          <a:solidFill>
                            <a:schemeClr val="accent1"/>
                          </a:solidFill>
                        </a:rPr>
                        <a:t>1</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head = (3 + 1) % 4 = 0</a:t>
                      </a:r>
                      <a:endParaRPr lang="ko-KR" altLang="en-US" sz="1300" dirty="0"/>
                    </a:p>
                  </a:txBody>
                  <a:tcPr marL="54864" marR="54864" marT="54864" marB="54864"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486400"/>
            <a:ext cx="11094415" cy="320040"/>
          </a:xfrm>
          <a:prstGeom prst="rect">
            <a:avLst/>
          </a:prstGeom>
          <a:noFill/>
          <a:ln/>
        </p:spPr>
        <p:txBody>
          <a:bodyPr wrap="square" lIns="0" tIns="0" rIns="0" bIns="0" rtlCol="0" anchor="t"/>
          <a:lstStyle/>
          <a:p>
            <a:pPr indent="0" marL="0" eaLnBrk="0">
              <a:buNone/>
            </a:pPr>
            <a:r>
              <a:rPr lang="ko-KR" altLang="en-US" sz="1300" dirty="0">
                <a:solidFill>
                  <a:schemeClr val="accent5"/>
                </a:solidFill>
              </a:rPr>
              <a:t>괄호: 처리가 끝난 칸. 값이 남아 있어도 head에서 tail 사이가 아니면 비어 있는 칸이다.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원으로 보기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원으로 그리면 tail이 head를 뒤쫓으며 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큐가 생겼으니, 남은 두 문제도 풀 수 있지 않을까?</a:t>
            </a:r>
            <a:endParaRPr lang="ko-KR" altLang="en-US" sz="1500" dirty="0"/>
          </a:p>
        </p:txBody>
      </p:sp>
      <p:sp>
        <p:nvSpPr>
          <p:cNvPr id="6" name="Shape 3"/>
          <p:cNvSpPr/>
          <p:nvPr/>
        </p:nvSpPr>
        <p:spPr>
          <a:xfrm>
            <a:off x="1874520" y="2011680"/>
            <a:ext cx="914400" cy="731520"/>
          </a:xfrm>
          <a:prstGeom prst="roundRect">
            <a:avLst>
              <a:gd name="adj" fmla="val 7500"/>
            </a:avLst>
          </a:prstGeom>
          <a:solidFill>
            <a:schemeClr val="bg2"/>
          </a:solidFill>
          <a:ln w="12700">
            <a:solidFill>
              <a:srgbClr val="D5D9E0"/>
            </a:solidFill>
            <a:prstDash val="solid"/>
          </a:ln>
        </p:spPr>
      </p:sp>
      <p:sp>
        <p:nvSpPr>
          <p:cNvPr id="7" name="Text 4"/>
          <p:cNvSpPr txBox="1"/>
          <p:nvPr/>
        </p:nvSpPr>
        <p:spPr>
          <a:xfrm>
            <a:off x="1874520" y="20116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accent3"/>
                </a:solidFill>
              </a:rPr>
              <a:t>(A)</a:t>
            </a:r>
            <a:endParaRPr lang="ko-KR" altLang="en-US" sz="1500" dirty="0"/>
          </a:p>
          <a:p>
            <a:pPr algn="ctr" indent="0" marL="0" eaLnBrk="0">
              <a:buNone/>
            </a:pPr>
            <a:r>
              <a:rPr lang="ko-KR" altLang="en-US" sz="1000" dirty="0">
                <a:solidFill>
                  <a:schemeClr val="accent5"/>
                </a:solidFill>
              </a:rPr>
              <a:t>[0]</a:t>
            </a:r>
            <a:endParaRPr lang="ko-KR" altLang="en-US" sz="1500" dirty="0"/>
          </a:p>
          <a:p>
            <a:pPr algn="ctr" indent="0" marL="0" eaLnBrk="0">
              <a:buNone/>
            </a:pPr>
            <a:r>
              <a:rPr lang="ko-KR" altLang="en-US" sz="1100" b="1" dirty="0">
                <a:solidFill>
                  <a:schemeClr val="accent2"/>
                </a:solidFill>
              </a:rPr>
              <a:t>tail</a:t>
            </a:r>
            <a:endParaRPr lang="ko-KR" altLang="en-US" sz="1500" dirty="0"/>
          </a:p>
        </p:txBody>
      </p:sp>
      <p:sp>
        <p:nvSpPr>
          <p:cNvPr id="8" name="Shape 5"/>
          <p:cNvSpPr/>
          <p:nvPr/>
        </p:nvSpPr>
        <p:spPr>
          <a:xfrm>
            <a:off x="2926080" y="2926080"/>
            <a:ext cx="914400" cy="731520"/>
          </a:xfrm>
          <a:prstGeom prst="roundRect">
            <a:avLst>
              <a:gd name="adj" fmla="val 7500"/>
            </a:avLst>
          </a:prstGeom>
          <a:solidFill>
            <a:schemeClr val="bg2"/>
          </a:solidFill>
          <a:ln w="12700">
            <a:solidFill>
              <a:srgbClr val="D5D9E0"/>
            </a:solidFill>
            <a:prstDash val="solid"/>
          </a:ln>
        </p:spPr>
      </p:sp>
      <p:sp>
        <p:nvSpPr>
          <p:cNvPr id="9" name="Text 6"/>
          <p:cNvSpPr txBox="1"/>
          <p:nvPr/>
        </p:nvSpPr>
        <p:spPr>
          <a:xfrm>
            <a:off x="2926080" y="29260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accent3"/>
                </a:solidFill>
              </a:rPr>
              <a:t>(B)</a:t>
            </a:r>
            <a:endParaRPr lang="ko-KR" altLang="en-US" sz="1500" dirty="0"/>
          </a:p>
          <a:p>
            <a:pPr algn="ctr" indent="0" marL="0" eaLnBrk="0">
              <a:buNone/>
            </a:pPr>
            <a:r>
              <a:rPr lang="ko-KR" altLang="en-US" sz="1000" dirty="0">
                <a:solidFill>
                  <a:schemeClr val="accent5"/>
                </a:solidFill>
              </a:rPr>
              <a:t>[1]</a:t>
            </a:r>
            <a:endParaRPr lang="ko-KR" altLang="en-US" sz="1500" dirty="0"/>
          </a:p>
        </p:txBody>
      </p:sp>
      <p:sp>
        <p:nvSpPr>
          <p:cNvPr id="10" name="Shape 7"/>
          <p:cNvSpPr/>
          <p:nvPr/>
        </p:nvSpPr>
        <p:spPr>
          <a:xfrm>
            <a:off x="1874520" y="3840480"/>
            <a:ext cx="914400" cy="731520"/>
          </a:xfrm>
          <a:prstGeom prst="roundRect">
            <a:avLst>
              <a:gd name="adj" fmla="val 7500"/>
            </a:avLst>
          </a:prstGeom>
          <a:solidFill>
            <a:schemeClr val="accent1"/>
          </a:solidFill>
          <a:ln w="12700">
            <a:solidFill>
              <a:schemeClr val="accent1"/>
            </a:solidFill>
            <a:prstDash val="solid"/>
          </a:ln>
        </p:spPr>
      </p:sp>
      <p:sp>
        <p:nvSpPr>
          <p:cNvPr id="11" name="Text 8"/>
          <p:cNvSpPr txBox="1"/>
          <p:nvPr/>
        </p:nvSpPr>
        <p:spPr>
          <a:xfrm>
            <a:off x="1874520" y="38404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C</a:t>
            </a:r>
            <a:endParaRPr lang="ko-KR" altLang="en-US" sz="1500" dirty="0"/>
          </a:p>
          <a:p>
            <a:pPr algn="ctr" indent="0" marL="0" eaLnBrk="0">
              <a:buNone/>
            </a:pPr>
            <a:r>
              <a:rPr lang="ko-KR" altLang="en-US" sz="1000" dirty="0">
                <a:solidFill>
                  <a:schemeClr val="bg1"/>
                </a:solidFill>
              </a:rPr>
              <a:t>[2]</a:t>
            </a:r>
            <a:endParaRPr lang="ko-KR" altLang="en-US" sz="1500" dirty="0"/>
          </a:p>
          <a:p>
            <a:pPr algn="ctr" indent="0" marL="0" eaLnBrk="0">
              <a:buNone/>
            </a:pPr>
            <a:r>
              <a:rPr lang="ko-KR" altLang="en-US" sz="1100" b="1" dirty="0">
                <a:solidFill>
                  <a:schemeClr val="tx1"/>
                </a:solidFill>
              </a:rPr>
              <a:t>head</a:t>
            </a:r>
            <a:endParaRPr lang="ko-KR" altLang="en-US" sz="1500" dirty="0"/>
          </a:p>
        </p:txBody>
      </p:sp>
      <p:sp>
        <p:nvSpPr>
          <p:cNvPr id="12" name="Shape 9"/>
          <p:cNvSpPr/>
          <p:nvPr/>
        </p:nvSpPr>
        <p:spPr>
          <a:xfrm>
            <a:off x="822960" y="2926080"/>
            <a:ext cx="914400" cy="731520"/>
          </a:xfrm>
          <a:prstGeom prst="roundRect">
            <a:avLst>
              <a:gd name="adj" fmla="val 7500"/>
            </a:avLst>
          </a:prstGeom>
          <a:solidFill>
            <a:schemeClr val="accent1"/>
          </a:solidFill>
          <a:ln w="12700">
            <a:solidFill>
              <a:schemeClr val="accent1"/>
            </a:solidFill>
            <a:prstDash val="solid"/>
          </a:ln>
        </p:spPr>
      </p:sp>
      <p:sp>
        <p:nvSpPr>
          <p:cNvPr id="13" name="Text 10"/>
          <p:cNvSpPr txBox="1"/>
          <p:nvPr/>
        </p:nvSpPr>
        <p:spPr>
          <a:xfrm>
            <a:off x="822960" y="29260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D</a:t>
            </a:r>
            <a:endParaRPr lang="ko-KR" altLang="en-US" sz="1500" dirty="0"/>
          </a:p>
          <a:p>
            <a:pPr algn="ctr" indent="0" marL="0" eaLnBrk="0">
              <a:buNone/>
            </a:pPr>
            <a:r>
              <a:rPr lang="ko-KR" altLang="en-US" sz="1000" dirty="0">
                <a:solidFill>
                  <a:schemeClr val="bg1"/>
                </a:solidFill>
              </a:rPr>
              <a:t>[3]</a:t>
            </a:r>
            <a:endParaRPr lang="ko-KR" altLang="en-US" sz="1500" dirty="0"/>
          </a:p>
        </p:txBody>
      </p:sp>
      <p:sp>
        <p:nvSpPr>
          <p:cNvPr id="14" name="Shape 11"/>
          <p:cNvSpPr/>
          <p:nvPr/>
        </p:nvSpPr>
        <p:spPr>
          <a:xfrm>
            <a:off x="2807208" y="2377440"/>
            <a:ext cx="557784" cy="530352"/>
          </a:xfrm>
          <a:prstGeom prst="line">
            <a:avLst/>
          </a:prstGeom>
          <a:noFill/>
          <a:ln w="22225">
            <a:solidFill>
              <a:schemeClr val="accent3"/>
            </a:solidFill>
            <a:prstDash val="solid"/>
            <a:tailEnd type="triangle"/>
          </a:ln>
        </p:spPr>
      </p:sp>
      <p:sp>
        <p:nvSpPr>
          <p:cNvPr id="15" name="Shape 12"/>
          <p:cNvSpPr/>
          <p:nvPr/>
        </p:nvSpPr>
        <p:spPr>
          <a:xfrm flipH="1">
            <a:off x="2807208" y="3675888"/>
            <a:ext cx="557784" cy="530352"/>
          </a:xfrm>
          <a:prstGeom prst="line">
            <a:avLst/>
          </a:prstGeom>
          <a:noFill/>
          <a:ln w="22225">
            <a:solidFill>
              <a:schemeClr val="accent3"/>
            </a:solidFill>
            <a:prstDash val="solid"/>
            <a:tailEnd type="triangle"/>
          </a:ln>
        </p:spPr>
      </p:sp>
      <p:sp>
        <p:nvSpPr>
          <p:cNvPr id="16" name="Shape 13"/>
          <p:cNvSpPr/>
          <p:nvPr/>
        </p:nvSpPr>
        <p:spPr>
          <a:xfrm flipH="1" flipV="1">
            <a:off x="1298448" y="3675888"/>
            <a:ext cx="557784" cy="530352"/>
          </a:xfrm>
          <a:prstGeom prst="line">
            <a:avLst/>
          </a:prstGeom>
          <a:noFill/>
          <a:ln w="22225">
            <a:solidFill>
              <a:schemeClr val="accent3"/>
            </a:solidFill>
            <a:prstDash val="solid"/>
            <a:tailEnd type="triangle"/>
          </a:ln>
        </p:spPr>
      </p:sp>
      <p:sp>
        <p:nvSpPr>
          <p:cNvPr id="17" name="Shape 14"/>
          <p:cNvSpPr/>
          <p:nvPr/>
        </p:nvSpPr>
        <p:spPr>
          <a:xfrm flipV="1">
            <a:off x="1298448" y="2377440"/>
            <a:ext cx="557784" cy="530352"/>
          </a:xfrm>
          <a:prstGeom prst="line">
            <a:avLst/>
          </a:prstGeom>
          <a:noFill/>
          <a:ln w="22225">
            <a:solidFill>
              <a:schemeClr val="accent3"/>
            </a:solidFill>
            <a:prstDash val="solid"/>
            <a:tailEnd type="triangle"/>
          </a:ln>
        </p:spPr>
      </p:sp>
      <p:sp>
        <p:nvSpPr>
          <p:cNvPr id="18" name="Text 15"/>
          <p:cNvSpPr txBox="1"/>
          <p:nvPr/>
        </p:nvSpPr>
        <p:spPr>
          <a:xfrm>
            <a:off x="594360" y="1600200"/>
            <a:ext cx="3474720" cy="329184"/>
          </a:xfrm>
          <a:prstGeom prst="rect">
            <a:avLst/>
          </a:prstGeom>
          <a:noFill/>
          <a:ln/>
        </p:spPr>
        <p:txBody>
          <a:bodyPr wrap="square" lIns="0" tIns="0" rIns="0" bIns="0" rtlCol="0" anchor="t"/>
          <a:lstStyle/>
          <a:p>
            <a:pPr algn="ctr" indent="0" marL="0" eaLnBrk="0">
              <a:buNone/>
            </a:pPr>
            <a:r>
              <a:rPr lang="ko-KR" altLang="en-US" sz="1400" b="1" dirty="0">
                <a:solidFill>
                  <a:schemeClr val="tx1"/>
                </a:solidFill>
              </a:rPr>
              <a:t>PlaySound D 뒤</a:t>
            </a:r>
            <a:endParaRPr lang="ko-KR" altLang="en-US" sz="1400" dirty="0"/>
          </a:p>
        </p:txBody>
      </p:sp>
      <p:sp>
        <p:nvSpPr>
          <p:cNvPr id="19" name="Text 16"/>
          <p:cNvSpPr txBox="1"/>
          <p:nvPr/>
        </p:nvSpPr>
        <p:spPr>
          <a:xfrm>
            <a:off x="1828800" y="2999232"/>
            <a:ext cx="1005840" cy="585216"/>
          </a:xfrm>
          <a:prstGeom prst="rect">
            <a:avLst/>
          </a:prstGeom>
          <a:noFill/>
          <a:ln/>
        </p:spPr>
        <p:txBody>
          <a:bodyPr wrap="square" lIns="0" tIns="0" rIns="0" bIns="0" rtlCol="0" anchor="ctr"/>
          <a:lstStyle/>
          <a:p>
            <a:pPr algn="ctr" indent="0" marL="0" eaLnBrk="0">
              <a:buNone/>
            </a:pPr>
            <a:r>
              <a:rPr lang="ko-KR" altLang="en-US" sz="1200" dirty="0">
                <a:solidFill>
                  <a:schemeClr val="accent5"/>
                </a:solidFill>
              </a:rPr>
              <a:t>head 2</a:t>
            </a:r>
            <a:endParaRPr lang="ko-KR" altLang="en-US" sz="1200" dirty="0"/>
          </a:p>
          <a:p>
            <a:pPr algn="ctr" indent="0" marL="0" eaLnBrk="0">
              <a:buNone/>
            </a:pPr>
            <a:r>
              <a:rPr lang="ko-KR" altLang="en-US" sz="1200" dirty="0">
                <a:solidFill>
                  <a:schemeClr val="accent5"/>
                </a:solidFill>
              </a:rPr>
              <a:t>tail 0</a:t>
            </a:r>
            <a:endParaRPr lang="ko-KR" altLang="en-US" sz="1200" dirty="0"/>
          </a:p>
        </p:txBody>
      </p:sp>
      <p:sp>
        <p:nvSpPr>
          <p:cNvPr id="20" name="Shape 17"/>
          <p:cNvSpPr/>
          <p:nvPr/>
        </p:nvSpPr>
        <p:spPr>
          <a:xfrm>
            <a:off x="5641848" y="2011680"/>
            <a:ext cx="914400" cy="731520"/>
          </a:xfrm>
          <a:prstGeom prst="roundRect">
            <a:avLst>
              <a:gd name="adj" fmla="val 7500"/>
            </a:avLst>
          </a:prstGeom>
          <a:solidFill>
            <a:schemeClr val="accent1"/>
          </a:solidFill>
          <a:ln w="12700">
            <a:solidFill>
              <a:schemeClr val="accent1"/>
            </a:solidFill>
            <a:prstDash val="solid"/>
          </a:ln>
        </p:spPr>
      </p:sp>
      <p:sp>
        <p:nvSpPr>
          <p:cNvPr id="21" name="Text 18"/>
          <p:cNvSpPr txBox="1"/>
          <p:nvPr/>
        </p:nvSpPr>
        <p:spPr>
          <a:xfrm>
            <a:off x="5641848" y="20116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E</a:t>
            </a:r>
            <a:endParaRPr lang="ko-KR" altLang="en-US" sz="1500" dirty="0"/>
          </a:p>
          <a:p>
            <a:pPr algn="ctr" indent="0" marL="0" eaLnBrk="0">
              <a:buNone/>
            </a:pPr>
            <a:r>
              <a:rPr lang="ko-KR" altLang="en-US" sz="1000" dirty="0">
                <a:solidFill>
                  <a:schemeClr val="bg1"/>
                </a:solidFill>
              </a:rPr>
              <a:t>[0]</a:t>
            </a:r>
            <a:endParaRPr lang="ko-KR" altLang="en-US" sz="1500" dirty="0"/>
          </a:p>
        </p:txBody>
      </p:sp>
      <p:sp>
        <p:nvSpPr>
          <p:cNvPr id="22" name="Shape 19"/>
          <p:cNvSpPr/>
          <p:nvPr/>
        </p:nvSpPr>
        <p:spPr>
          <a:xfrm>
            <a:off x="6693408" y="2926080"/>
            <a:ext cx="914400" cy="731520"/>
          </a:xfrm>
          <a:prstGeom prst="roundRect">
            <a:avLst>
              <a:gd name="adj" fmla="val 7500"/>
            </a:avLst>
          </a:prstGeom>
          <a:solidFill>
            <a:schemeClr val="bg2"/>
          </a:solidFill>
          <a:ln w="12700">
            <a:solidFill>
              <a:srgbClr val="D5D9E0"/>
            </a:solidFill>
            <a:prstDash val="solid"/>
          </a:ln>
        </p:spPr>
      </p:sp>
      <p:sp>
        <p:nvSpPr>
          <p:cNvPr id="23" name="Text 20"/>
          <p:cNvSpPr txBox="1"/>
          <p:nvPr/>
        </p:nvSpPr>
        <p:spPr>
          <a:xfrm>
            <a:off x="6693408" y="29260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accent3"/>
                </a:solidFill>
              </a:rPr>
              <a:t>(B)</a:t>
            </a:r>
            <a:endParaRPr lang="ko-KR" altLang="en-US" sz="1500" dirty="0"/>
          </a:p>
          <a:p>
            <a:pPr algn="ctr" indent="0" marL="0" eaLnBrk="0">
              <a:buNone/>
            </a:pPr>
            <a:r>
              <a:rPr lang="ko-KR" altLang="en-US" sz="1000" dirty="0">
                <a:solidFill>
                  <a:schemeClr val="accent5"/>
                </a:solidFill>
              </a:rPr>
              <a:t>[1]</a:t>
            </a:r>
            <a:endParaRPr lang="ko-KR" altLang="en-US" sz="1500" dirty="0"/>
          </a:p>
          <a:p>
            <a:pPr algn="ctr" indent="0" marL="0" eaLnBrk="0">
              <a:buNone/>
            </a:pPr>
            <a:r>
              <a:rPr lang="ko-KR" altLang="en-US" sz="1100" b="1" dirty="0">
                <a:solidFill>
                  <a:schemeClr val="accent2"/>
                </a:solidFill>
              </a:rPr>
              <a:t>tail</a:t>
            </a:r>
            <a:endParaRPr lang="ko-KR" altLang="en-US" sz="1500" dirty="0"/>
          </a:p>
        </p:txBody>
      </p:sp>
      <p:sp>
        <p:nvSpPr>
          <p:cNvPr id="24" name="Shape 21"/>
          <p:cNvSpPr/>
          <p:nvPr/>
        </p:nvSpPr>
        <p:spPr>
          <a:xfrm>
            <a:off x="5641848" y="3840480"/>
            <a:ext cx="914400" cy="731520"/>
          </a:xfrm>
          <a:prstGeom prst="roundRect">
            <a:avLst>
              <a:gd name="adj" fmla="val 7500"/>
            </a:avLst>
          </a:prstGeom>
          <a:solidFill>
            <a:schemeClr val="accent1"/>
          </a:solidFill>
          <a:ln w="12700">
            <a:solidFill>
              <a:schemeClr val="accent1"/>
            </a:solidFill>
            <a:prstDash val="solid"/>
          </a:ln>
        </p:spPr>
      </p:sp>
      <p:sp>
        <p:nvSpPr>
          <p:cNvPr id="25" name="Text 22"/>
          <p:cNvSpPr txBox="1"/>
          <p:nvPr/>
        </p:nvSpPr>
        <p:spPr>
          <a:xfrm>
            <a:off x="5641848" y="38404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C</a:t>
            </a:r>
            <a:endParaRPr lang="ko-KR" altLang="en-US" sz="1500" dirty="0"/>
          </a:p>
          <a:p>
            <a:pPr algn="ctr" indent="0" marL="0" eaLnBrk="0">
              <a:buNone/>
            </a:pPr>
            <a:r>
              <a:rPr lang="ko-KR" altLang="en-US" sz="1000" dirty="0">
                <a:solidFill>
                  <a:schemeClr val="bg1"/>
                </a:solidFill>
              </a:rPr>
              <a:t>[2]</a:t>
            </a:r>
            <a:endParaRPr lang="ko-KR" altLang="en-US" sz="1500" dirty="0"/>
          </a:p>
          <a:p>
            <a:pPr algn="ctr" indent="0" marL="0" eaLnBrk="0">
              <a:buNone/>
            </a:pPr>
            <a:r>
              <a:rPr lang="ko-KR" altLang="en-US" sz="1100" b="1" dirty="0">
                <a:solidFill>
                  <a:schemeClr val="tx1"/>
                </a:solidFill>
              </a:rPr>
              <a:t>head</a:t>
            </a:r>
            <a:endParaRPr lang="ko-KR" altLang="en-US" sz="1500" dirty="0"/>
          </a:p>
        </p:txBody>
      </p:sp>
      <p:sp>
        <p:nvSpPr>
          <p:cNvPr id="26" name="Shape 23"/>
          <p:cNvSpPr/>
          <p:nvPr/>
        </p:nvSpPr>
        <p:spPr>
          <a:xfrm>
            <a:off x="4590288" y="2926080"/>
            <a:ext cx="914400" cy="731520"/>
          </a:xfrm>
          <a:prstGeom prst="roundRect">
            <a:avLst>
              <a:gd name="adj" fmla="val 7500"/>
            </a:avLst>
          </a:prstGeom>
          <a:solidFill>
            <a:schemeClr val="accent1"/>
          </a:solidFill>
          <a:ln w="12700">
            <a:solidFill>
              <a:schemeClr val="accent1"/>
            </a:solidFill>
            <a:prstDash val="solid"/>
          </a:ln>
        </p:spPr>
      </p:sp>
      <p:sp>
        <p:nvSpPr>
          <p:cNvPr id="27" name="Text 24"/>
          <p:cNvSpPr txBox="1"/>
          <p:nvPr/>
        </p:nvSpPr>
        <p:spPr>
          <a:xfrm>
            <a:off x="4590288" y="29260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D</a:t>
            </a:r>
            <a:endParaRPr lang="ko-KR" altLang="en-US" sz="1500" dirty="0"/>
          </a:p>
          <a:p>
            <a:pPr algn="ctr" indent="0" marL="0" eaLnBrk="0">
              <a:buNone/>
            </a:pPr>
            <a:r>
              <a:rPr lang="ko-KR" altLang="en-US" sz="1000" dirty="0">
                <a:solidFill>
                  <a:schemeClr val="bg1"/>
                </a:solidFill>
              </a:rPr>
              <a:t>[3]</a:t>
            </a:r>
            <a:endParaRPr lang="ko-KR" altLang="en-US" sz="1500" dirty="0"/>
          </a:p>
        </p:txBody>
      </p:sp>
      <p:sp>
        <p:nvSpPr>
          <p:cNvPr id="28" name="Shape 25"/>
          <p:cNvSpPr/>
          <p:nvPr/>
        </p:nvSpPr>
        <p:spPr>
          <a:xfrm>
            <a:off x="6574536" y="2377440"/>
            <a:ext cx="557784" cy="530352"/>
          </a:xfrm>
          <a:prstGeom prst="line">
            <a:avLst/>
          </a:prstGeom>
          <a:noFill/>
          <a:ln w="22225">
            <a:solidFill>
              <a:schemeClr val="accent3"/>
            </a:solidFill>
            <a:prstDash val="solid"/>
            <a:tailEnd type="triangle"/>
          </a:ln>
        </p:spPr>
      </p:sp>
      <p:sp>
        <p:nvSpPr>
          <p:cNvPr id="29" name="Shape 26"/>
          <p:cNvSpPr/>
          <p:nvPr/>
        </p:nvSpPr>
        <p:spPr>
          <a:xfrm flipH="1">
            <a:off x="6574536" y="3675888"/>
            <a:ext cx="557784" cy="530352"/>
          </a:xfrm>
          <a:prstGeom prst="line">
            <a:avLst/>
          </a:prstGeom>
          <a:noFill/>
          <a:ln w="22225">
            <a:solidFill>
              <a:schemeClr val="accent3"/>
            </a:solidFill>
            <a:prstDash val="solid"/>
            <a:tailEnd type="triangle"/>
          </a:ln>
        </p:spPr>
      </p:sp>
      <p:sp>
        <p:nvSpPr>
          <p:cNvPr id="30" name="Shape 27"/>
          <p:cNvSpPr/>
          <p:nvPr/>
        </p:nvSpPr>
        <p:spPr>
          <a:xfrm flipH="1" flipV="1">
            <a:off x="5065776" y="3675888"/>
            <a:ext cx="557784" cy="530352"/>
          </a:xfrm>
          <a:prstGeom prst="line">
            <a:avLst/>
          </a:prstGeom>
          <a:noFill/>
          <a:ln w="22225">
            <a:solidFill>
              <a:schemeClr val="accent3"/>
            </a:solidFill>
            <a:prstDash val="solid"/>
            <a:tailEnd type="triangle"/>
          </a:ln>
        </p:spPr>
      </p:sp>
      <p:sp>
        <p:nvSpPr>
          <p:cNvPr id="31" name="Shape 28"/>
          <p:cNvSpPr/>
          <p:nvPr/>
        </p:nvSpPr>
        <p:spPr>
          <a:xfrm flipV="1">
            <a:off x="5065776" y="2377440"/>
            <a:ext cx="557784" cy="530352"/>
          </a:xfrm>
          <a:prstGeom prst="line">
            <a:avLst/>
          </a:prstGeom>
          <a:noFill/>
          <a:ln w="22225">
            <a:solidFill>
              <a:schemeClr val="accent3"/>
            </a:solidFill>
            <a:prstDash val="solid"/>
            <a:tailEnd type="triangle"/>
          </a:ln>
        </p:spPr>
      </p:sp>
      <p:sp>
        <p:nvSpPr>
          <p:cNvPr id="32" name="Text 29"/>
          <p:cNvSpPr txBox="1"/>
          <p:nvPr/>
        </p:nvSpPr>
        <p:spPr>
          <a:xfrm>
            <a:off x="4361688" y="1600200"/>
            <a:ext cx="3474720" cy="329184"/>
          </a:xfrm>
          <a:prstGeom prst="rect">
            <a:avLst/>
          </a:prstGeom>
          <a:noFill/>
          <a:ln/>
        </p:spPr>
        <p:txBody>
          <a:bodyPr wrap="square" lIns="0" tIns="0" rIns="0" bIns="0" rtlCol="0" anchor="t"/>
          <a:lstStyle/>
          <a:p>
            <a:pPr algn="ctr" indent="0" marL="0" eaLnBrk="0">
              <a:buNone/>
            </a:pPr>
            <a:r>
              <a:rPr lang="ko-KR" altLang="en-US" sz="1400" b="1" dirty="0">
                <a:solidFill>
                  <a:schemeClr val="tx1"/>
                </a:solidFill>
              </a:rPr>
              <a:t>PlaySound E 뒤: 가득 참</a:t>
            </a:r>
            <a:endParaRPr lang="ko-KR" altLang="en-US" sz="1400" dirty="0"/>
          </a:p>
        </p:txBody>
      </p:sp>
      <p:sp>
        <p:nvSpPr>
          <p:cNvPr id="33" name="Text 30"/>
          <p:cNvSpPr txBox="1"/>
          <p:nvPr/>
        </p:nvSpPr>
        <p:spPr>
          <a:xfrm>
            <a:off x="5596128" y="2999232"/>
            <a:ext cx="1005840" cy="585216"/>
          </a:xfrm>
          <a:prstGeom prst="rect">
            <a:avLst/>
          </a:prstGeom>
          <a:noFill/>
          <a:ln/>
        </p:spPr>
        <p:txBody>
          <a:bodyPr wrap="square" lIns="0" tIns="0" rIns="0" bIns="0" rtlCol="0" anchor="ctr"/>
          <a:lstStyle/>
          <a:p>
            <a:pPr algn="ctr" indent="0" marL="0" eaLnBrk="0">
              <a:buNone/>
            </a:pPr>
            <a:r>
              <a:rPr lang="ko-KR" altLang="en-US" sz="1200" dirty="0">
                <a:solidFill>
                  <a:schemeClr val="accent5"/>
                </a:solidFill>
              </a:rPr>
              <a:t>head 2</a:t>
            </a:r>
            <a:endParaRPr lang="ko-KR" altLang="en-US" sz="1200" dirty="0"/>
          </a:p>
          <a:p>
            <a:pPr algn="ctr" indent="0" marL="0" eaLnBrk="0">
              <a:buNone/>
            </a:pPr>
            <a:r>
              <a:rPr lang="ko-KR" altLang="en-US" sz="1200" dirty="0">
                <a:solidFill>
                  <a:schemeClr val="accent5"/>
                </a:solidFill>
              </a:rPr>
              <a:t>tail 1</a:t>
            </a:r>
            <a:endParaRPr lang="ko-KR" altLang="en-US" sz="1200" dirty="0"/>
          </a:p>
        </p:txBody>
      </p:sp>
      <p:sp>
        <p:nvSpPr>
          <p:cNvPr id="34" name="Shape 31"/>
          <p:cNvSpPr/>
          <p:nvPr/>
        </p:nvSpPr>
        <p:spPr>
          <a:xfrm>
            <a:off x="9400032" y="2011680"/>
            <a:ext cx="914400" cy="731520"/>
          </a:xfrm>
          <a:prstGeom prst="roundRect">
            <a:avLst>
              <a:gd name="adj" fmla="val 7500"/>
            </a:avLst>
          </a:prstGeom>
          <a:solidFill>
            <a:schemeClr val="accent1"/>
          </a:solidFill>
          <a:ln w="12700">
            <a:solidFill>
              <a:schemeClr val="accent1"/>
            </a:solidFill>
            <a:prstDash val="solid"/>
          </a:ln>
        </p:spPr>
      </p:sp>
      <p:sp>
        <p:nvSpPr>
          <p:cNvPr id="35" name="Text 32"/>
          <p:cNvSpPr txBox="1"/>
          <p:nvPr/>
        </p:nvSpPr>
        <p:spPr>
          <a:xfrm>
            <a:off x="9400032" y="20116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E</a:t>
            </a:r>
            <a:endParaRPr lang="ko-KR" altLang="en-US" sz="1500" dirty="0"/>
          </a:p>
          <a:p>
            <a:pPr algn="ctr" indent="0" marL="0" eaLnBrk="0">
              <a:buNone/>
            </a:pPr>
            <a:r>
              <a:rPr lang="ko-KR" altLang="en-US" sz="1000" dirty="0">
                <a:solidFill>
                  <a:schemeClr val="bg1"/>
                </a:solidFill>
              </a:rPr>
              <a:t>[0]</a:t>
            </a:r>
            <a:endParaRPr lang="ko-KR" altLang="en-US" sz="1500" dirty="0"/>
          </a:p>
          <a:p>
            <a:pPr algn="ctr" indent="0" marL="0" eaLnBrk="0">
              <a:buNone/>
            </a:pPr>
            <a:r>
              <a:rPr lang="ko-KR" altLang="en-US" sz="1100" b="1" dirty="0">
                <a:solidFill>
                  <a:schemeClr val="tx1"/>
                </a:solidFill>
              </a:rPr>
              <a:t>head</a:t>
            </a:r>
            <a:endParaRPr lang="ko-KR" altLang="en-US" sz="1500" dirty="0"/>
          </a:p>
        </p:txBody>
      </p:sp>
      <p:sp>
        <p:nvSpPr>
          <p:cNvPr id="36" name="Shape 33"/>
          <p:cNvSpPr/>
          <p:nvPr/>
        </p:nvSpPr>
        <p:spPr>
          <a:xfrm>
            <a:off x="10451592" y="2926080"/>
            <a:ext cx="914400" cy="731520"/>
          </a:xfrm>
          <a:prstGeom prst="roundRect">
            <a:avLst>
              <a:gd name="adj" fmla="val 7500"/>
            </a:avLst>
          </a:prstGeom>
          <a:solidFill>
            <a:schemeClr val="bg2"/>
          </a:solidFill>
          <a:ln w="12700">
            <a:solidFill>
              <a:srgbClr val="D5D9E0"/>
            </a:solidFill>
            <a:prstDash val="solid"/>
          </a:ln>
        </p:spPr>
      </p:sp>
      <p:sp>
        <p:nvSpPr>
          <p:cNvPr id="37" name="Text 34"/>
          <p:cNvSpPr txBox="1"/>
          <p:nvPr/>
        </p:nvSpPr>
        <p:spPr>
          <a:xfrm>
            <a:off x="10451592" y="29260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accent3"/>
                </a:solidFill>
              </a:rPr>
              <a:t>(B)</a:t>
            </a:r>
            <a:endParaRPr lang="ko-KR" altLang="en-US" sz="1500" dirty="0"/>
          </a:p>
          <a:p>
            <a:pPr algn="ctr" indent="0" marL="0" eaLnBrk="0">
              <a:buNone/>
            </a:pPr>
            <a:r>
              <a:rPr lang="ko-KR" altLang="en-US" sz="1000" dirty="0">
                <a:solidFill>
                  <a:schemeClr val="accent5"/>
                </a:solidFill>
              </a:rPr>
              <a:t>[1]</a:t>
            </a:r>
            <a:endParaRPr lang="ko-KR" altLang="en-US" sz="1500" dirty="0"/>
          </a:p>
          <a:p>
            <a:pPr algn="ctr" indent="0" marL="0" eaLnBrk="0">
              <a:buNone/>
            </a:pPr>
            <a:r>
              <a:rPr lang="ko-KR" altLang="en-US" sz="1100" b="1" dirty="0">
                <a:solidFill>
                  <a:schemeClr val="accent2"/>
                </a:solidFill>
              </a:rPr>
              <a:t>tail</a:t>
            </a:r>
            <a:endParaRPr lang="ko-KR" altLang="en-US" sz="1500" dirty="0"/>
          </a:p>
        </p:txBody>
      </p:sp>
      <p:sp>
        <p:nvSpPr>
          <p:cNvPr id="38" name="Shape 35"/>
          <p:cNvSpPr/>
          <p:nvPr/>
        </p:nvSpPr>
        <p:spPr>
          <a:xfrm>
            <a:off x="9400032" y="3840480"/>
            <a:ext cx="914400" cy="731520"/>
          </a:xfrm>
          <a:prstGeom prst="roundRect">
            <a:avLst>
              <a:gd name="adj" fmla="val 7500"/>
            </a:avLst>
          </a:prstGeom>
          <a:solidFill>
            <a:schemeClr val="bg2"/>
          </a:solidFill>
          <a:ln w="12700">
            <a:solidFill>
              <a:srgbClr val="D5D9E0"/>
            </a:solidFill>
            <a:prstDash val="solid"/>
          </a:ln>
        </p:spPr>
      </p:sp>
      <p:sp>
        <p:nvSpPr>
          <p:cNvPr id="39" name="Text 36"/>
          <p:cNvSpPr txBox="1"/>
          <p:nvPr/>
        </p:nvSpPr>
        <p:spPr>
          <a:xfrm>
            <a:off x="9400032" y="38404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accent3"/>
                </a:solidFill>
              </a:rPr>
              <a:t>(C)</a:t>
            </a:r>
            <a:endParaRPr lang="ko-KR" altLang="en-US" sz="1500" dirty="0"/>
          </a:p>
          <a:p>
            <a:pPr algn="ctr" indent="0" marL="0" eaLnBrk="0">
              <a:buNone/>
            </a:pPr>
            <a:r>
              <a:rPr lang="ko-KR" altLang="en-US" sz="1000" dirty="0">
                <a:solidFill>
                  <a:schemeClr val="accent5"/>
                </a:solidFill>
              </a:rPr>
              <a:t>[2]</a:t>
            </a:r>
            <a:endParaRPr lang="ko-KR" altLang="en-US" sz="1500" dirty="0"/>
          </a:p>
        </p:txBody>
      </p:sp>
      <p:sp>
        <p:nvSpPr>
          <p:cNvPr id="40" name="Shape 37"/>
          <p:cNvSpPr/>
          <p:nvPr/>
        </p:nvSpPr>
        <p:spPr>
          <a:xfrm>
            <a:off x="8348472" y="2926080"/>
            <a:ext cx="914400" cy="731520"/>
          </a:xfrm>
          <a:prstGeom prst="roundRect">
            <a:avLst>
              <a:gd name="adj" fmla="val 7500"/>
            </a:avLst>
          </a:prstGeom>
          <a:solidFill>
            <a:schemeClr val="bg2"/>
          </a:solidFill>
          <a:ln w="12700">
            <a:solidFill>
              <a:srgbClr val="D5D9E0"/>
            </a:solidFill>
            <a:prstDash val="solid"/>
          </a:ln>
        </p:spPr>
      </p:sp>
      <p:sp>
        <p:nvSpPr>
          <p:cNvPr id="41" name="Text 38"/>
          <p:cNvSpPr txBox="1"/>
          <p:nvPr/>
        </p:nvSpPr>
        <p:spPr>
          <a:xfrm>
            <a:off x="8348472" y="2926080"/>
            <a:ext cx="914400" cy="731520"/>
          </a:xfrm>
          <a:prstGeom prst="rect">
            <a:avLst/>
          </a:prstGeom>
          <a:noFill/>
          <a:ln/>
        </p:spPr>
        <p:txBody>
          <a:bodyPr wrap="square" lIns="0" tIns="0" rIns="0" bIns="0" rtlCol="0" anchor="ctr"/>
          <a:lstStyle/>
          <a:p>
            <a:pPr algn="ctr" indent="0" marL="0" eaLnBrk="0">
              <a:buNone/>
            </a:pPr>
            <a:r>
              <a:rPr lang="ko-KR" altLang="en-US" sz="1500" b="1" dirty="0">
                <a:solidFill>
                  <a:schemeClr val="accent3"/>
                </a:solidFill>
              </a:rPr>
              <a:t>(D)</a:t>
            </a:r>
            <a:endParaRPr lang="ko-KR" altLang="en-US" sz="1500" dirty="0"/>
          </a:p>
          <a:p>
            <a:pPr algn="ctr" indent="0" marL="0" eaLnBrk="0">
              <a:buNone/>
            </a:pPr>
            <a:r>
              <a:rPr lang="ko-KR" altLang="en-US" sz="1000" dirty="0">
                <a:solidFill>
                  <a:schemeClr val="accent5"/>
                </a:solidFill>
              </a:rPr>
              <a:t>[3]</a:t>
            </a:r>
            <a:endParaRPr lang="ko-KR" altLang="en-US" sz="1500" dirty="0"/>
          </a:p>
        </p:txBody>
      </p:sp>
      <p:sp>
        <p:nvSpPr>
          <p:cNvPr id="42" name="Shape 39"/>
          <p:cNvSpPr/>
          <p:nvPr/>
        </p:nvSpPr>
        <p:spPr>
          <a:xfrm>
            <a:off x="10332720" y="2377440"/>
            <a:ext cx="557784" cy="530352"/>
          </a:xfrm>
          <a:prstGeom prst="line">
            <a:avLst/>
          </a:prstGeom>
          <a:noFill/>
          <a:ln w="22225">
            <a:solidFill>
              <a:schemeClr val="accent3"/>
            </a:solidFill>
            <a:prstDash val="solid"/>
            <a:tailEnd type="triangle"/>
          </a:ln>
        </p:spPr>
      </p:sp>
      <p:sp>
        <p:nvSpPr>
          <p:cNvPr id="43" name="Shape 40"/>
          <p:cNvSpPr/>
          <p:nvPr/>
        </p:nvSpPr>
        <p:spPr>
          <a:xfrm flipH="1">
            <a:off x="10332720" y="3675888"/>
            <a:ext cx="557784" cy="530352"/>
          </a:xfrm>
          <a:prstGeom prst="line">
            <a:avLst/>
          </a:prstGeom>
          <a:noFill/>
          <a:ln w="22225">
            <a:solidFill>
              <a:schemeClr val="accent3"/>
            </a:solidFill>
            <a:prstDash val="solid"/>
            <a:tailEnd type="triangle"/>
          </a:ln>
        </p:spPr>
      </p:sp>
      <p:sp>
        <p:nvSpPr>
          <p:cNvPr id="44" name="Shape 41"/>
          <p:cNvSpPr/>
          <p:nvPr/>
        </p:nvSpPr>
        <p:spPr>
          <a:xfrm flipH="1" flipV="1">
            <a:off x="8823960" y="3675888"/>
            <a:ext cx="557784" cy="530352"/>
          </a:xfrm>
          <a:prstGeom prst="line">
            <a:avLst/>
          </a:prstGeom>
          <a:noFill/>
          <a:ln w="22225">
            <a:solidFill>
              <a:schemeClr val="accent3"/>
            </a:solidFill>
            <a:prstDash val="solid"/>
            <a:tailEnd type="triangle"/>
          </a:ln>
        </p:spPr>
      </p:sp>
      <p:sp>
        <p:nvSpPr>
          <p:cNvPr id="45" name="Shape 42"/>
          <p:cNvSpPr/>
          <p:nvPr/>
        </p:nvSpPr>
        <p:spPr>
          <a:xfrm flipV="1">
            <a:off x="8823960" y="2377440"/>
            <a:ext cx="557784" cy="530352"/>
          </a:xfrm>
          <a:prstGeom prst="line">
            <a:avLst/>
          </a:prstGeom>
          <a:noFill/>
          <a:ln w="22225">
            <a:solidFill>
              <a:schemeClr val="accent3"/>
            </a:solidFill>
            <a:prstDash val="solid"/>
            <a:tailEnd type="triangle"/>
          </a:ln>
        </p:spPr>
      </p:sp>
      <p:sp>
        <p:nvSpPr>
          <p:cNvPr id="46" name="Text 43"/>
          <p:cNvSpPr txBox="1"/>
          <p:nvPr/>
        </p:nvSpPr>
        <p:spPr>
          <a:xfrm>
            <a:off x="8119872" y="1600200"/>
            <a:ext cx="3474720" cy="329184"/>
          </a:xfrm>
          <a:prstGeom prst="rect">
            <a:avLst/>
          </a:prstGeom>
          <a:noFill/>
          <a:ln/>
        </p:spPr>
        <p:txBody>
          <a:bodyPr wrap="square" lIns="0" tIns="0" rIns="0" bIns="0" rtlCol="0" anchor="t"/>
          <a:lstStyle/>
          <a:p>
            <a:pPr algn="ctr" indent="0" marL="0" eaLnBrk="0">
              <a:buNone/>
            </a:pPr>
            <a:r>
              <a:rPr lang="ko-KR" altLang="en-US" sz="1400" b="1" dirty="0">
                <a:solidFill>
                  <a:schemeClr val="tx1"/>
                </a:solidFill>
              </a:rPr>
              <a:t>Update 두 번 뒤</a:t>
            </a:r>
            <a:endParaRPr lang="ko-KR" altLang="en-US" sz="1400" dirty="0"/>
          </a:p>
        </p:txBody>
      </p:sp>
      <p:sp>
        <p:nvSpPr>
          <p:cNvPr id="47" name="Text 44"/>
          <p:cNvSpPr txBox="1"/>
          <p:nvPr/>
        </p:nvSpPr>
        <p:spPr>
          <a:xfrm>
            <a:off x="9354312" y="2999232"/>
            <a:ext cx="1005840" cy="585216"/>
          </a:xfrm>
          <a:prstGeom prst="rect">
            <a:avLst/>
          </a:prstGeom>
          <a:noFill/>
          <a:ln/>
        </p:spPr>
        <p:txBody>
          <a:bodyPr wrap="square" lIns="0" tIns="0" rIns="0" bIns="0" rtlCol="0" anchor="ctr"/>
          <a:lstStyle/>
          <a:p>
            <a:pPr algn="ctr" indent="0" marL="0" eaLnBrk="0">
              <a:buNone/>
            </a:pPr>
            <a:r>
              <a:rPr lang="ko-KR" altLang="en-US" sz="1200" dirty="0">
                <a:solidFill>
                  <a:schemeClr val="accent5"/>
                </a:solidFill>
              </a:rPr>
              <a:t>head 0</a:t>
            </a:r>
            <a:endParaRPr lang="ko-KR" altLang="en-US" sz="1200" dirty="0"/>
          </a:p>
          <a:p>
            <a:pPr algn="ctr" indent="0" marL="0" eaLnBrk="0">
              <a:buNone/>
            </a:pPr>
            <a:r>
              <a:rPr lang="ko-KR" altLang="en-US" sz="1200" dirty="0">
                <a:solidFill>
                  <a:schemeClr val="accent5"/>
                </a:solidFill>
              </a:rPr>
              <a:t>tail 1</a:t>
            </a:r>
            <a:endParaRPr lang="ko-KR" altLang="en-US" sz="1200" dirty="0"/>
          </a:p>
        </p:txBody>
      </p:sp>
      <p:sp>
        <p:nvSpPr>
          <p:cNvPr id="48" name="card"/>
          <p:cNvSpPr/>
          <p:nvPr/>
        </p:nvSpPr>
        <p:spPr>
          <a:xfrm>
            <a:off x="548640" y="4709160"/>
            <a:ext cx="5440680" cy="1051560"/>
          </a:xfrm>
          <a:prstGeom prst="roundRect">
            <a:avLst>
              <a:gd name="adj" fmla="val 8696"/>
            </a:avLst>
          </a:prstGeom>
          <a:solidFill>
            <a:schemeClr val="bg2"/>
          </a:solidFill>
          <a:ln w="12700">
            <a:solidFill>
              <a:schemeClr val="bg2"/>
            </a:solidFill>
            <a:prstDash val="solid"/>
          </a:ln>
        </p:spPr>
      </p:sp>
      <p:sp>
        <p:nvSpPr>
          <p:cNvPr id="49" name="Text 46"/>
          <p:cNvSpPr txBox="1"/>
          <p:nvPr/>
        </p:nvSpPr>
        <p:spPr>
          <a:xfrm>
            <a:off x="777240" y="4773168"/>
            <a:ext cx="5029200" cy="914400"/>
          </a:xfrm>
          <a:prstGeom prst="rect">
            <a:avLst/>
          </a:prstGeom>
          <a:noFill/>
          <a:ln/>
        </p:spPr>
        <p:txBody>
          <a:bodyPr wrap="square" lIns="0" tIns="0" rIns="0" bIns="0" rtlCol="0" anchor="ctr"/>
          <a:lstStyle/>
          <a:p>
            <a:pPr indent="0" marL="0" eaLnBrk="0">
              <a:buNone/>
            </a:pPr>
            <a:r>
              <a:rPr lang="ko-KR" altLang="en-US" sz="1400" b="1" dirty="0">
                <a:solidFill>
                  <a:schemeClr val="tx1"/>
                </a:solidFill>
              </a:rPr>
              <a:t>한 칸은 비워 둔다. </a:t>
            </a:r>
            <a:pPr indent="0" marL="0" eaLnBrk="0">
              <a:buNone/>
            </a:pPr>
            <a:r>
              <a:rPr lang="ko-KR" altLang="en-US" sz="1400" dirty="0">
                <a:solidFill>
                  <a:schemeClr val="tx2"/>
                </a:solidFill>
              </a:rPr>
              <a:t>그래야 가득 찬 상태와 빈 상태(head == tail)를 구별한다.</a:t>
            </a:r>
            <a:endParaRPr lang="ko-KR" altLang="en-US" sz="1400" dirty="0"/>
          </a:p>
        </p:txBody>
      </p:sp>
      <p:sp>
        <p:nvSpPr>
          <p:cNvPr id="50" name="card"/>
          <p:cNvSpPr/>
          <p:nvPr/>
        </p:nvSpPr>
        <p:spPr>
          <a:xfrm>
            <a:off x="6217920" y="4709160"/>
            <a:ext cx="5425135" cy="1051560"/>
          </a:xfrm>
          <a:prstGeom prst="roundRect">
            <a:avLst>
              <a:gd name="adj" fmla="val 8696"/>
            </a:avLst>
          </a:prstGeom>
          <a:solidFill>
            <a:schemeClr val="bg2"/>
          </a:solidFill>
          <a:ln w="12700">
            <a:solidFill>
              <a:schemeClr val="bg2"/>
            </a:solidFill>
            <a:prstDash val="solid"/>
          </a:ln>
        </p:spPr>
      </p:sp>
      <p:sp>
        <p:nvSpPr>
          <p:cNvPr id="51" name="Text 48"/>
          <p:cNvSpPr txBox="1"/>
          <p:nvPr/>
        </p:nvSpPr>
        <p:spPr>
          <a:xfrm>
            <a:off x="6446520" y="4773168"/>
            <a:ext cx="4967935" cy="914400"/>
          </a:xfrm>
          <a:prstGeom prst="rect">
            <a:avLst/>
          </a:prstGeom>
          <a:noFill/>
          <a:ln/>
        </p:spPr>
        <p:txBody>
          <a:bodyPr wrap="square" lIns="0" tIns="0" rIns="0" bIns="0" rtlCol="0" anchor="ctr"/>
          <a:lstStyle/>
          <a:p>
            <a:pPr indent="0" marL="0" eaLnBrk="0">
              <a:buNone/>
            </a:pPr>
            <a:r>
              <a:rPr lang="ko-KR" altLang="en-US" sz="1400" b="1" dirty="0">
                <a:solidFill>
                  <a:schemeClr val="tx1"/>
                </a:solidFill>
              </a:rPr>
              <a:t>크기가 걱정되면 </a:t>
            </a:r>
            <a:pPr indent="0" marL="0" eaLnBrk="0">
              <a:buNone/>
            </a:pPr>
            <a:r>
              <a:rPr lang="ko-KR" altLang="en-US" sz="1400" dirty="0">
                <a:solidFill>
                  <a:schemeClr val="tx2"/>
                </a:solidFill>
              </a:rPr>
              <a:t>가득 찰 때 두 배 크기 배열로 옮긴다. 넣기는 평균 상수 시간이다.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3부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같은 소리 합치기와 스레드</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요청 모으기, 스레드 넘나들기</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합치기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같은 사운드가 이미 기다리고 있으면 새로 넣지 않고 합친다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넣을 때 합치면 어떤 대가가 있을까?</a:t>
            </a:r>
            <a:endParaRPr lang="ko-KR" altLang="en-US" sz="1500" dirty="0"/>
          </a:p>
        </p:txBody>
      </p:sp>
      <p:sp>
        <p:nvSpPr>
          <p:cNvPr id="6" name="codePanel"/>
          <p:cNvSpPr/>
          <p:nvPr/>
        </p:nvSpPr>
        <p:spPr>
          <a:xfrm>
            <a:off x="548640" y="1645920"/>
            <a:ext cx="6949440" cy="4069080"/>
          </a:xfrm>
          <a:prstGeom prst="roundRect">
            <a:avLst>
              <a:gd name="adj" fmla="val 1798"/>
            </a:avLst>
          </a:prstGeom>
          <a:solidFill>
            <a:schemeClr val="tx1"/>
          </a:solidFill>
          <a:ln w="12700">
            <a:solidFill>
              <a:schemeClr val="tx1"/>
            </a:solidFill>
            <a:prstDash val="solid"/>
          </a:ln>
        </p:spPr>
      </p:sp>
      <p:sp>
        <p:nvSpPr>
          <p:cNvPr id="7" name="code"/>
          <p:cNvSpPr txBox="1"/>
          <p:nvPr/>
        </p:nvSpPr>
        <p:spPr>
          <a:xfrm>
            <a:off x="658368" y="1737360"/>
            <a:ext cx="6729984" cy="388620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static void PlaySound(SoundId id, int 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보류 중인 요청을 훑는다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for (int i = _head; i != _tail;</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i = (i + 1) % MaxPending)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(_pending[i].Id == id)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두 볼륨 중 큰 쪽을 쓴다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_pending[i].Volume = Math.Max(volume, _pending[i].Volume);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큐에 넣을 필요가 없다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return;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앞의 코드...</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Text 6"/>
          <p:cNvSpPr txBox="1"/>
          <p:nvPr/>
        </p:nvSpPr>
        <p:spPr>
          <a:xfrm>
            <a:off x="7863840" y="1645920"/>
            <a:ext cx="3779215" cy="365760"/>
          </a:xfrm>
          <a:prstGeom prst="rect">
            <a:avLst/>
          </a:prstGeom>
          <a:noFill/>
          <a:ln/>
        </p:spPr>
        <p:txBody>
          <a:bodyPr wrap="square" lIns="0" tIns="0" rIns="0" bIns="0" rtlCol="0" anchor="t"/>
          <a:lstStyle/>
          <a:p>
            <a:pPr indent="0" marL="0" eaLnBrk="0">
              <a:buNone/>
            </a:pPr>
            <a:r>
              <a:rPr lang="ko-KR" altLang="en-US" sz="1500" b="1" dirty="0">
                <a:solidFill>
                  <a:schemeClr val="tx1"/>
                </a:solidFill>
              </a:rPr>
              <a:t>같은 프레임의 두 요청</a:t>
            </a:r>
            <a:endParaRPr lang="ko-KR" altLang="en-US" sz="1500" dirty="0"/>
          </a:p>
        </p:txBody>
      </p:sp>
      <p:sp>
        <p:nvSpPr>
          <p:cNvPr id="10" name="box"/>
          <p:cNvSpPr/>
          <p:nvPr/>
        </p:nvSpPr>
        <p:spPr>
          <a:xfrm>
            <a:off x="7863840" y="2057400"/>
            <a:ext cx="3779215" cy="502920"/>
          </a:xfrm>
          <a:prstGeom prst="roundRect">
            <a:avLst>
              <a:gd name="adj" fmla="val 14545"/>
            </a:avLst>
          </a:prstGeom>
          <a:solidFill>
            <a:schemeClr val="accent1"/>
          </a:solidFill>
          <a:ln w="12700">
            <a:solidFill>
              <a:schemeClr val="accent1"/>
            </a:solidFill>
            <a:prstDash val="solid"/>
          </a:ln>
        </p:spPr>
      </p:sp>
      <p:sp>
        <p:nvSpPr>
          <p:cNvPr id="11" name="Text 8"/>
          <p:cNvSpPr txBox="1"/>
          <p:nvPr/>
        </p:nvSpPr>
        <p:spPr>
          <a:xfrm>
            <a:off x="7863840" y="2057400"/>
            <a:ext cx="3779215" cy="5029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PlaySound(비명, 50)</a:t>
            </a:r>
            <a:endParaRPr lang="ko-KR" altLang="en-US" sz="1400" dirty="0"/>
          </a:p>
        </p:txBody>
      </p:sp>
      <p:sp>
        <p:nvSpPr>
          <p:cNvPr id="12" name="box"/>
          <p:cNvSpPr/>
          <p:nvPr/>
        </p:nvSpPr>
        <p:spPr>
          <a:xfrm>
            <a:off x="7863840" y="2651760"/>
            <a:ext cx="3779215" cy="502920"/>
          </a:xfrm>
          <a:prstGeom prst="roundRect">
            <a:avLst>
              <a:gd name="adj" fmla="val 14545"/>
            </a:avLst>
          </a:prstGeom>
          <a:solidFill>
            <a:schemeClr val="accent1"/>
          </a:solidFill>
          <a:ln w="12700">
            <a:solidFill>
              <a:schemeClr val="accent1"/>
            </a:solidFill>
            <a:prstDash val="solid"/>
          </a:ln>
        </p:spPr>
      </p:sp>
      <p:sp>
        <p:nvSpPr>
          <p:cNvPr id="13" name="Text 10"/>
          <p:cNvSpPr txBox="1"/>
          <p:nvPr/>
        </p:nvSpPr>
        <p:spPr>
          <a:xfrm>
            <a:off x="7863840" y="2651760"/>
            <a:ext cx="3779215" cy="5029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PlaySound(비명, 80)</a:t>
            </a:r>
            <a:endParaRPr lang="ko-KR" altLang="en-US" sz="1400" dirty="0"/>
          </a:p>
        </p:txBody>
      </p:sp>
      <p:sp>
        <p:nvSpPr>
          <p:cNvPr id="14" name="Shape 11"/>
          <p:cNvSpPr/>
          <p:nvPr/>
        </p:nvSpPr>
        <p:spPr>
          <a:xfrm>
            <a:off x="9753448" y="3200400"/>
            <a:ext cx="914" cy="320040"/>
          </a:xfrm>
          <a:prstGeom prst="line">
            <a:avLst/>
          </a:prstGeom>
          <a:noFill/>
          <a:ln w="22225">
            <a:solidFill>
              <a:schemeClr val="accent3"/>
            </a:solidFill>
            <a:prstDash val="solid"/>
            <a:tailEnd type="triangle"/>
          </a:ln>
        </p:spPr>
      </p:sp>
      <p:sp>
        <p:nvSpPr>
          <p:cNvPr id="15" name="box"/>
          <p:cNvSpPr/>
          <p:nvPr/>
        </p:nvSpPr>
        <p:spPr>
          <a:xfrm>
            <a:off x="7863840" y="3566160"/>
            <a:ext cx="3779215" cy="548640"/>
          </a:xfrm>
          <a:prstGeom prst="roundRect">
            <a:avLst>
              <a:gd name="adj" fmla="val 13333"/>
            </a:avLst>
          </a:prstGeom>
          <a:solidFill>
            <a:schemeClr val="bg2"/>
          </a:solidFill>
          <a:ln w="12700">
            <a:solidFill>
              <a:schemeClr val="bg2"/>
            </a:solidFill>
            <a:prstDash val="solid"/>
          </a:ln>
        </p:spPr>
      </p:sp>
      <p:sp>
        <p:nvSpPr>
          <p:cNvPr id="16" name="Text 13"/>
          <p:cNvSpPr txBox="1"/>
          <p:nvPr/>
        </p:nvSpPr>
        <p:spPr>
          <a:xfrm>
            <a:off x="7863840" y="3566160"/>
            <a:ext cx="3779215"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큐: 비명 · 볼륨 80 하나</a:t>
            </a:r>
            <a:endParaRPr lang="ko-KR" altLang="en-US" sz="1400" dirty="0"/>
          </a:p>
        </p:txBody>
      </p:sp>
      <p:sp>
        <p:nvSpPr>
          <p:cNvPr id="17" name="card"/>
          <p:cNvSpPr/>
          <p:nvPr/>
        </p:nvSpPr>
        <p:spPr>
          <a:xfrm>
            <a:off x="7863840" y="4343400"/>
            <a:ext cx="3779215" cy="1371600"/>
          </a:xfrm>
          <a:prstGeom prst="roundRect">
            <a:avLst>
              <a:gd name="adj" fmla="val 6667"/>
            </a:avLst>
          </a:prstGeom>
          <a:solidFill>
            <a:schemeClr val="bg2"/>
          </a:solidFill>
          <a:ln w="12700">
            <a:solidFill>
              <a:schemeClr val="bg2"/>
            </a:solidFill>
            <a:prstDash val="solid"/>
          </a:ln>
        </p:spPr>
      </p:sp>
      <p:sp>
        <p:nvSpPr>
          <p:cNvPr id="18" name="Text 15"/>
          <p:cNvSpPr txBox="1"/>
          <p:nvPr/>
        </p:nvSpPr>
        <p:spPr>
          <a:xfrm>
            <a:off x="8092440" y="45628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넣을 때 합친다</a:t>
            </a:r>
            <a:endParaRPr lang="ko-KR" altLang="en-US" sz="1700" dirty="0"/>
          </a:p>
        </p:txBody>
      </p:sp>
      <p:sp>
        <p:nvSpPr>
          <p:cNvPr id="19" name="Text 16"/>
          <p:cNvSpPr txBox="1"/>
          <p:nvPr/>
        </p:nvSpPr>
        <p:spPr>
          <a:xfrm>
            <a:off x="8092440" y="5120640"/>
            <a:ext cx="3322015" cy="4572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빈칸을 낭비하지 않고, 구현도 단순하다.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합치기의 대가</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비용은 호출한 쪽이 내고, 합칠 수 있는 범위는 큐 크기다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 문제, 여러 스레드에서 부르는 문제는 어떻게 풀까?</a:t>
            </a:r>
            <a:endParaRPr lang="ko-KR" altLang="en-US" sz="1500" dirty="0"/>
          </a:p>
        </p:txBody>
      </p:sp>
      <p:sp>
        <p:nvSpPr>
          <p:cNvPr id="6" name="card"/>
          <p:cNvSpPr/>
          <p:nvPr/>
        </p:nvSpPr>
        <p:spPr>
          <a:xfrm>
            <a:off x="548640" y="1691640"/>
            <a:ext cx="5394960" cy="2331720"/>
          </a:xfrm>
          <a:prstGeom prst="roundRect">
            <a:avLst>
              <a:gd name="adj" fmla="val 3922"/>
            </a:avLst>
          </a:prstGeom>
          <a:solidFill>
            <a:schemeClr val="bg2"/>
          </a:solidFill>
          <a:ln w="12700">
            <a:solidFill>
              <a:schemeClr val="bg2"/>
            </a:solidFill>
            <a:prstDash val="solid"/>
          </a:ln>
        </p:spPr>
      </p:sp>
      <p:sp>
        <p:nvSpPr>
          <p:cNvPr id="7" name="Text 4"/>
          <p:cNvSpPr txBox="1"/>
          <p:nvPr/>
        </p:nvSpPr>
        <p:spPr>
          <a:xfrm>
            <a:off x="777240" y="1911096"/>
            <a:ext cx="498348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호출한 쪽이 내는 비용</a:t>
            </a:r>
            <a:endParaRPr lang="ko-KR" altLang="en-US" sz="1700" dirty="0"/>
          </a:p>
        </p:txBody>
      </p:sp>
      <p:sp>
        <p:nvSpPr>
          <p:cNvPr id="8" name="Text 5"/>
          <p:cNvSpPr txBox="1"/>
          <p:nvPr/>
        </p:nvSpPr>
        <p:spPr>
          <a:xfrm>
            <a:off x="777240" y="2468880"/>
            <a:ext cx="4937760" cy="14173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PlaySound가 돌아오기 전에 큐 전체를 훑는다. 큐가 크면 느리다.</a:t>
            </a:r>
            <a:endParaRPr lang="ko-KR" altLang="en-US" sz="1400" dirty="0"/>
          </a:p>
          <a:p>
            <a:pPr indent="0" marL="0" eaLnBrk="0">
              <a:spcAft>
                <a:spcPts val="400"/>
              </a:spcAft>
              <a:buNone/>
            </a:pPr>
            <a:r>
              <a:rPr lang="ko-KR" altLang="en-US" sz="1400" dirty="0">
                <a:solidFill>
                  <a:schemeClr val="tx2"/>
                </a:solidFill>
              </a:rPr>
              <a:t>대안: Update에서 합치기, 또는 SoundId를 키로 쓰는 Dictionary로 바로 찾기.</a:t>
            </a:r>
            <a:endParaRPr lang="ko-KR" altLang="en-US" sz="1400" dirty="0"/>
          </a:p>
        </p:txBody>
      </p:sp>
      <p:sp>
        <p:nvSpPr>
          <p:cNvPr id="9" name="Shape 6"/>
          <p:cNvSpPr/>
          <p:nvPr/>
        </p:nvSpPr>
        <p:spPr>
          <a:xfrm>
            <a:off x="6217920" y="1691640"/>
            <a:ext cx="5425135" cy="2331720"/>
          </a:xfrm>
          <a:prstGeom prst="roundRect">
            <a:avLst>
              <a:gd name="adj" fmla="val 3922"/>
            </a:avLst>
          </a:prstGeom>
          <a:solidFill>
            <a:schemeClr val="bg2"/>
          </a:solidFill>
          <a:ln w="12700">
            <a:solidFill>
              <a:schemeClr val="bg2"/>
            </a:solidFill>
            <a:prstDash val="solid"/>
          </a:ln>
        </p:spPr>
      </p:sp>
      <p:sp>
        <p:nvSpPr>
          <p:cNvPr id="10" name="Text 7"/>
          <p:cNvSpPr txBox="1"/>
          <p:nvPr/>
        </p:nvSpPr>
        <p:spPr>
          <a:xfrm>
            <a:off x="6446520" y="1828800"/>
            <a:ext cx="4967935"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합칠 수 있는 범위 = 큐에 쌓인 요청</a:t>
            </a:r>
            <a:endParaRPr lang="ko-KR" altLang="en-US" sz="1600" dirty="0"/>
          </a:p>
        </p:txBody>
      </p:sp>
      <p:sp>
        <p:nvSpPr>
          <p:cNvPr id="11" name="Text 8"/>
          <p:cNvSpPr txBox="1"/>
          <p:nvPr/>
        </p:nvSpPr>
        <p:spPr>
          <a:xfrm>
            <a:off x="6446520" y="2377440"/>
            <a:ext cx="1828800" cy="365760"/>
          </a:xfrm>
          <a:prstGeom prst="rect">
            <a:avLst/>
          </a:prstGeom>
          <a:noFill/>
          <a:ln/>
        </p:spPr>
        <p:txBody>
          <a:bodyPr wrap="square" lIns="0" tIns="0" rIns="0" bIns="0" rtlCol="0" anchor="ctr"/>
          <a:lstStyle/>
          <a:p>
            <a:pPr indent="0" marL="0" eaLnBrk="0">
              <a:buNone/>
            </a:pPr>
            <a:r>
              <a:rPr lang="ko-KR" altLang="en-US" sz="1300" dirty="0">
                <a:solidFill>
                  <a:schemeClr val="accent5"/>
                </a:solidFill>
              </a:rPr>
              <a:t>처리가 빠르다</a:t>
            </a:r>
            <a:endParaRPr lang="ko-KR" altLang="en-US" sz="1300" dirty="0"/>
          </a:p>
        </p:txBody>
      </p:sp>
      <p:sp>
        <p:nvSpPr>
          <p:cNvPr id="12" name="box"/>
          <p:cNvSpPr/>
          <p:nvPr/>
        </p:nvSpPr>
        <p:spPr>
          <a:xfrm>
            <a:off x="8321040" y="2377440"/>
            <a:ext cx="640080" cy="365760"/>
          </a:xfrm>
          <a:prstGeom prst="roundRect">
            <a:avLst>
              <a:gd name="adj" fmla="val 20000"/>
            </a:avLst>
          </a:prstGeom>
          <a:solidFill>
            <a:schemeClr val="accent1"/>
          </a:solidFill>
          <a:ln w="12700">
            <a:solidFill>
              <a:schemeClr val="accent1"/>
            </a:solidFill>
            <a:prstDash val="solid"/>
          </a:ln>
        </p:spPr>
      </p:sp>
      <p:sp>
        <p:nvSpPr>
          <p:cNvPr id="13" name="Text 10"/>
          <p:cNvSpPr txBox="1"/>
          <p:nvPr/>
        </p:nvSpPr>
        <p:spPr>
          <a:xfrm>
            <a:off x="8321040" y="2377440"/>
            <a:ext cx="640080" cy="365760"/>
          </a:xfrm>
          <a:prstGeom prst="rect">
            <a:avLst/>
          </a:prstGeom>
          <a:noFill/>
          <a:ln/>
        </p:spPr>
        <p:txBody>
          <a:bodyPr wrap="square" lIns="635" tIns="635" rIns="635" bIns="635" rtlCol="0" anchor="ctr"/>
          <a:lstStyle/>
          <a:p>
            <a:pPr algn="ctr" indent="0" marL="0" eaLnBrk="0">
              <a:buNone/>
            </a:pPr>
            <a:r>
              <a:rPr lang="ko-KR" altLang="en-US" sz="1100" b="1" dirty="0">
                <a:solidFill>
                  <a:schemeClr val="bg1"/>
                </a:solidFill>
              </a:rPr>
              <a:t>비명</a:t>
            </a:r>
            <a:endParaRPr lang="ko-KR" altLang="en-US" sz="1100" dirty="0"/>
          </a:p>
        </p:txBody>
      </p:sp>
      <p:sp>
        <p:nvSpPr>
          <p:cNvPr id="14" name="Text 11"/>
          <p:cNvSpPr txBox="1"/>
          <p:nvPr/>
        </p:nvSpPr>
        <p:spPr>
          <a:xfrm>
            <a:off x="9144000" y="2377440"/>
            <a:ext cx="2286000" cy="365760"/>
          </a:xfrm>
          <a:prstGeom prst="rect">
            <a:avLst/>
          </a:prstGeom>
          <a:noFill/>
          <a:ln/>
        </p:spPr>
        <p:txBody>
          <a:bodyPr wrap="square" lIns="0" tIns="0" rIns="0" bIns="0" rtlCol="0" anchor="ctr"/>
          <a:lstStyle/>
          <a:p>
            <a:pPr indent="0" marL="0" eaLnBrk="0">
              <a:buNone/>
            </a:pPr>
            <a:r>
              <a:rPr lang="ko-KR" altLang="en-US" sz="1300" dirty="0">
                <a:solidFill>
                  <a:schemeClr val="tx2"/>
                </a:solidFill>
              </a:rPr>
              <a:t>합칠 기회가 적다</a:t>
            </a:r>
            <a:endParaRPr lang="ko-KR" altLang="en-US" sz="1300" dirty="0"/>
          </a:p>
        </p:txBody>
      </p:sp>
      <p:sp>
        <p:nvSpPr>
          <p:cNvPr id="15" name="Text 12"/>
          <p:cNvSpPr txBox="1"/>
          <p:nvPr/>
        </p:nvSpPr>
        <p:spPr>
          <a:xfrm>
            <a:off x="6446520" y="3017520"/>
            <a:ext cx="1828800" cy="365760"/>
          </a:xfrm>
          <a:prstGeom prst="rect">
            <a:avLst/>
          </a:prstGeom>
          <a:noFill/>
          <a:ln/>
        </p:spPr>
        <p:txBody>
          <a:bodyPr wrap="square" lIns="0" tIns="0" rIns="0" bIns="0" rtlCol="0" anchor="ctr"/>
          <a:lstStyle/>
          <a:p>
            <a:pPr indent="0" marL="0" eaLnBrk="0">
              <a:buNone/>
            </a:pPr>
            <a:r>
              <a:rPr lang="ko-KR" altLang="en-US" sz="1300" dirty="0">
                <a:solidFill>
                  <a:schemeClr val="accent5"/>
                </a:solidFill>
              </a:rPr>
              <a:t>처리가 밀린다</a:t>
            </a:r>
            <a:endParaRPr lang="ko-KR" altLang="en-US" sz="1300" dirty="0"/>
          </a:p>
        </p:txBody>
      </p:sp>
      <p:sp>
        <p:nvSpPr>
          <p:cNvPr id="16" name="box"/>
          <p:cNvSpPr/>
          <p:nvPr/>
        </p:nvSpPr>
        <p:spPr>
          <a:xfrm>
            <a:off x="8321040" y="3017520"/>
            <a:ext cx="640080" cy="365760"/>
          </a:xfrm>
          <a:prstGeom prst="roundRect">
            <a:avLst>
              <a:gd name="adj" fmla="val 20000"/>
            </a:avLst>
          </a:prstGeom>
          <a:solidFill>
            <a:schemeClr val="accent1"/>
          </a:solidFill>
          <a:ln w="12700">
            <a:solidFill>
              <a:schemeClr val="accent1"/>
            </a:solidFill>
            <a:prstDash val="solid"/>
          </a:ln>
        </p:spPr>
      </p:sp>
      <p:sp>
        <p:nvSpPr>
          <p:cNvPr id="17" name="Text 14"/>
          <p:cNvSpPr txBox="1"/>
          <p:nvPr/>
        </p:nvSpPr>
        <p:spPr>
          <a:xfrm>
            <a:off x="8321040" y="3017520"/>
            <a:ext cx="640080" cy="365760"/>
          </a:xfrm>
          <a:prstGeom prst="rect">
            <a:avLst/>
          </a:prstGeom>
          <a:noFill/>
          <a:ln/>
        </p:spPr>
        <p:txBody>
          <a:bodyPr wrap="square" lIns="635" tIns="635" rIns="635" bIns="635" rtlCol="0" anchor="ctr"/>
          <a:lstStyle/>
          <a:p>
            <a:pPr algn="ctr" indent="0" marL="0" eaLnBrk="0">
              <a:buNone/>
            </a:pPr>
            <a:r>
              <a:rPr lang="ko-KR" altLang="en-US" sz="1100" b="1" dirty="0">
                <a:solidFill>
                  <a:schemeClr val="bg1"/>
                </a:solidFill>
              </a:rPr>
              <a:t>비명</a:t>
            </a:r>
            <a:endParaRPr lang="ko-KR" altLang="en-US" sz="1100" dirty="0"/>
          </a:p>
        </p:txBody>
      </p:sp>
      <p:sp>
        <p:nvSpPr>
          <p:cNvPr id="18" name="box"/>
          <p:cNvSpPr/>
          <p:nvPr/>
        </p:nvSpPr>
        <p:spPr>
          <a:xfrm>
            <a:off x="9034272" y="3017520"/>
            <a:ext cx="640080" cy="365760"/>
          </a:xfrm>
          <a:prstGeom prst="roundRect">
            <a:avLst>
              <a:gd name="adj" fmla="val 20000"/>
            </a:avLst>
          </a:prstGeom>
          <a:solidFill>
            <a:schemeClr val="accent1"/>
          </a:solidFill>
          <a:ln w="12700">
            <a:solidFill>
              <a:schemeClr val="accent1"/>
            </a:solidFill>
            <a:prstDash val="solid"/>
          </a:ln>
        </p:spPr>
      </p:sp>
      <p:sp>
        <p:nvSpPr>
          <p:cNvPr id="19" name="Text 16"/>
          <p:cNvSpPr txBox="1"/>
          <p:nvPr/>
        </p:nvSpPr>
        <p:spPr>
          <a:xfrm>
            <a:off x="9034272" y="3017520"/>
            <a:ext cx="640080" cy="365760"/>
          </a:xfrm>
          <a:prstGeom prst="rect">
            <a:avLst/>
          </a:prstGeom>
          <a:noFill/>
          <a:ln/>
        </p:spPr>
        <p:txBody>
          <a:bodyPr wrap="square" lIns="635" tIns="635" rIns="635" bIns="635" rtlCol="0" anchor="ctr"/>
          <a:lstStyle/>
          <a:p>
            <a:pPr algn="ctr" indent="0" marL="0" eaLnBrk="0">
              <a:buNone/>
            </a:pPr>
            <a:r>
              <a:rPr lang="ko-KR" altLang="en-US" sz="1100" b="1" dirty="0">
                <a:solidFill>
                  <a:schemeClr val="bg1"/>
                </a:solidFill>
              </a:rPr>
              <a:t>발소리</a:t>
            </a:r>
            <a:endParaRPr lang="ko-KR" altLang="en-US" sz="1100" dirty="0"/>
          </a:p>
        </p:txBody>
      </p:sp>
      <p:sp>
        <p:nvSpPr>
          <p:cNvPr id="20" name="box"/>
          <p:cNvSpPr/>
          <p:nvPr/>
        </p:nvSpPr>
        <p:spPr>
          <a:xfrm>
            <a:off x="9747504" y="3017520"/>
            <a:ext cx="640080" cy="365760"/>
          </a:xfrm>
          <a:prstGeom prst="roundRect">
            <a:avLst>
              <a:gd name="adj" fmla="val 20000"/>
            </a:avLst>
          </a:prstGeom>
          <a:solidFill>
            <a:schemeClr val="accent1"/>
          </a:solidFill>
          <a:ln w="12700">
            <a:solidFill>
              <a:schemeClr val="accent1"/>
            </a:solidFill>
            <a:prstDash val="solid"/>
          </a:ln>
        </p:spPr>
      </p:sp>
      <p:sp>
        <p:nvSpPr>
          <p:cNvPr id="21" name="Text 18"/>
          <p:cNvSpPr txBox="1"/>
          <p:nvPr/>
        </p:nvSpPr>
        <p:spPr>
          <a:xfrm>
            <a:off x="9747504" y="3017520"/>
            <a:ext cx="640080" cy="365760"/>
          </a:xfrm>
          <a:prstGeom prst="rect">
            <a:avLst/>
          </a:prstGeom>
          <a:noFill/>
          <a:ln/>
        </p:spPr>
        <p:txBody>
          <a:bodyPr wrap="square" lIns="635" tIns="635" rIns="635" bIns="635" rtlCol="0" anchor="ctr"/>
          <a:lstStyle/>
          <a:p>
            <a:pPr algn="ctr" indent="0" marL="0" eaLnBrk="0">
              <a:buNone/>
            </a:pPr>
            <a:r>
              <a:rPr lang="ko-KR" altLang="en-US" sz="1100" b="1" dirty="0">
                <a:solidFill>
                  <a:schemeClr val="bg1"/>
                </a:solidFill>
              </a:rPr>
              <a:t>비명</a:t>
            </a:r>
            <a:endParaRPr lang="ko-KR" altLang="en-US" sz="1100" dirty="0"/>
          </a:p>
        </p:txBody>
      </p:sp>
      <p:sp>
        <p:nvSpPr>
          <p:cNvPr id="22" name="box"/>
          <p:cNvSpPr/>
          <p:nvPr/>
        </p:nvSpPr>
        <p:spPr>
          <a:xfrm>
            <a:off x="10460736" y="3017520"/>
            <a:ext cx="640080" cy="365760"/>
          </a:xfrm>
          <a:prstGeom prst="roundRect">
            <a:avLst>
              <a:gd name="adj" fmla="val 20000"/>
            </a:avLst>
          </a:prstGeom>
          <a:solidFill>
            <a:schemeClr val="accent1"/>
          </a:solidFill>
          <a:ln w="12700">
            <a:solidFill>
              <a:schemeClr val="accent1"/>
            </a:solidFill>
            <a:prstDash val="solid"/>
          </a:ln>
        </p:spPr>
      </p:sp>
      <p:sp>
        <p:nvSpPr>
          <p:cNvPr id="23" name="Text 20"/>
          <p:cNvSpPr txBox="1"/>
          <p:nvPr/>
        </p:nvSpPr>
        <p:spPr>
          <a:xfrm>
            <a:off x="10460736" y="3017520"/>
            <a:ext cx="640080" cy="365760"/>
          </a:xfrm>
          <a:prstGeom prst="rect">
            <a:avLst/>
          </a:prstGeom>
          <a:noFill/>
          <a:ln/>
        </p:spPr>
        <p:txBody>
          <a:bodyPr wrap="square" lIns="635" tIns="635" rIns="635" bIns="635" rtlCol="0" anchor="ctr"/>
          <a:lstStyle/>
          <a:p>
            <a:pPr algn="ctr" indent="0" marL="0" eaLnBrk="0">
              <a:buNone/>
            </a:pPr>
            <a:r>
              <a:rPr lang="ko-KR" altLang="en-US" sz="1100" b="1" dirty="0">
                <a:solidFill>
                  <a:schemeClr val="bg1"/>
                </a:solidFill>
              </a:rPr>
              <a:t>검</a:t>
            </a:r>
            <a:endParaRPr lang="ko-KR" altLang="en-US" sz="1100" dirty="0"/>
          </a:p>
        </p:txBody>
      </p:sp>
      <p:sp>
        <p:nvSpPr>
          <p:cNvPr id="24" name="Text 21"/>
          <p:cNvSpPr txBox="1"/>
          <p:nvPr/>
        </p:nvSpPr>
        <p:spPr>
          <a:xfrm>
            <a:off x="8321040" y="3474720"/>
            <a:ext cx="2743200" cy="365760"/>
          </a:xfrm>
          <a:prstGeom prst="rect">
            <a:avLst/>
          </a:prstGeom>
          <a:noFill/>
          <a:ln/>
        </p:spPr>
        <p:txBody>
          <a:bodyPr wrap="square" lIns="0" tIns="0" rIns="0" bIns="0" rtlCol="0" anchor="ctr"/>
          <a:lstStyle/>
          <a:p>
            <a:pPr indent="0" marL="0" eaLnBrk="0">
              <a:buNone/>
            </a:pPr>
            <a:r>
              <a:rPr lang="ko-KR" altLang="en-US" sz="1300" dirty="0">
                <a:solidFill>
                  <a:schemeClr val="tx2"/>
                </a:solidFill>
              </a:rPr>
              <a:t>합칠 기회가 많다</a:t>
            </a:r>
            <a:endParaRPr lang="ko-KR" altLang="en-US" sz="1300" dirty="0"/>
          </a:p>
        </p:txBody>
      </p:sp>
      <p:sp>
        <p:nvSpPr>
          <p:cNvPr id="25" name="card"/>
          <p:cNvSpPr/>
          <p:nvPr/>
        </p:nvSpPr>
        <p:spPr>
          <a:xfrm>
            <a:off x="548640" y="4251960"/>
            <a:ext cx="11094415" cy="1463040"/>
          </a:xfrm>
          <a:prstGeom prst="roundRect">
            <a:avLst>
              <a:gd name="adj" fmla="val 6250"/>
            </a:avLst>
          </a:prstGeom>
          <a:solidFill>
            <a:schemeClr val="tx2"/>
          </a:solidFill>
          <a:ln w="12700">
            <a:solidFill>
              <a:schemeClr val="tx2"/>
            </a:solidFill>
            <a:prstDash val="solid"/>
          </a:ln>
        </p:spPr>
      </p:sp>
      <p:sp>
        <p:nvSpPr>
          <p:cNvPr id="26" name="Text 23"/>
          <p:cNvSpPr txBox="1"/>
          <p:nvPr/>
        </p:nvSpPr>
        <p:spPr>
          <a:xfrm>
            <a:off x="777240" y="447141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처리 시점이 동작에 드러난다</a:t>
            </a:r>
            <a:endParaRPr lang="ko-KR" altLang="en-US" sz="1700" dirty="0"/>
          </a:p>
        </p:txBody>
      </p:sp>
      <p:sp>
        <p:nvSpPr>
          <p:cNvPr id="27" name="Text 24"/>
          <p:cNvSpPr txBox="1"/>
          <p:nvPr/>
        </p:nvSpPr>
        <p:spPr>
          <a:xfrm>
            <a:off x="777240" y="5029200"/>
            <a:ext cx="10637215" cy="548640"/>
          </a:xfrm>
          <a:prstGeom prst="rect">
            <a:avLst/>
          </a:prstGeom>
          <a:noFill/>
          <a:ln/>
        </p:spPr>
        <p:txBody>
          <a:bodyPr wrap="square" lIns="0" tIns="0" rIns="0" bIns="0" rtlCol="0" anchor="t"/>
          <a:lstStyle/>
          <a:p>
            <a:pPr indent="0" marL="0" eaLnBrk="0">
              <a:buNone/>
            </a:pPr>
            <a:r>
              <a:rPr lang="ko-KR" altLang="en-US" sz="1400" dirty="0">
                <a:solidFill>
                  <a:schemeClr val="bg1"/>
                </a:solidFill>
              </a:rPr>
              <a:t>큐를 들여다보고 고치는 순간, 요청과 처리 사이의 지연이 결과를 바꿀 수 있다. 이것을 받아들일 수 있을 때만 이렇게 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스레드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큐 덕분에 요청은 어느 스레드에서든 넣고, 처리는 오디오 스레드가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큐를 설계할 때 정해야 할 것은 무엇일까? 먼저 큐에 무엇을 넣을지부터 보자.</a:t>
            </a:r>
            <a:endParaRPr lang="ko-KR" altLang="en-US" sz="1500" dirty="0"/>
          </a:p>
        </p:txBody>
      </p:sp>
      <p:sp>
        <p:nvSpPr>
          <p:cNvPr id="6" name="box"/>
          <p:cNvSpPr/>
          <p:nvPr/>
        </p:nvSpPr>
        <p:spPr>
          <a:xfrm>
            <a:off x="548640" y="1783080"/>
            <a:ext cx="2377440" cy="640080"/>
          </a:xfrm>
          <a:prstGeom prst="roundRect">
            <a:avLst>
              <a:gd name="adj" fmla="val 11429"/>
            </a:avLst>
          </a:prstGeom>
          <a:solidFill>
            <a:schemeClr val="accent2"/>
          </a:solidFill>
          <a:ln w="12700">
            <a:solidFill>
              <a:schemeClr val="accent2"/>
            </a:solidFill>
            <a:prstDash val="solid"/>
          </a:ln>
        </p:spPr>
      </p:sp>
      <p:sp>
        <p:nvSpPr>
          <p:cNvPr id="7" name="Text 4"/>
          <p:cNvSpPr txBox="1"/>
          <p:nvPr/>
        </p:nvSpPr>
        <p:spPr>
          <a:xfrm>
            <a:off x="548640" y="1783080"/>
            <a:ext cx="237744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렌더링 스레드</a:t>
            </a:r>
            <a:endParaRPr lang="ko-KR" altLang="en-US" sz="1400" dirty="0"/>
          </a:p>
        </p:txBody>
      </p:sp>
      <p:sp>
        <p:nvSpPr>
          <p:cNvPr id="8" name="box"/>
          <p:cNvSpPr/>
          <p:nvPr/>
        </p:nvSpPr>
        <p:spPr>
          <a:xfrm>
            <a:off x="548640" y="2606040"/>
            <a:ext cx="2377440" cy="640080"/>
          </a:xfrm>
          <a:prstGeom prst="roundRect">
            <a:avLst>
              <a:gd name="adj" fmla="val 11429"/>
            </a:avLst>
          </a:prstGeom>
          <a:solidFill>
            <a:schemeClr val="accent2"/>
          </a:solidFill>
          <a:ln w="12700">
            <a:solidFill>
              <a:schemeClr val="accent2"/>
            </a:solidFill>
            <a:prstDash val="solid"/>
          </a:ln>
        </p:spPr>
      </p:sp>
      <p:sp>
        <p:nvSpPr>
          <p:cNvPr id="9" name="Text 6"/>
          <p:cNvSpPr txBox="1"/>
          <p:nvPr/>
        </p:nvSpPr>
        <p:spPr>
          <a:xfrm>
            <a:off x="548640" y="2606040"/>
            <a:ext cx="237744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AI 스레드</a:t>
            </a:r>
            <a:endParaRPr lang="ko-KR" altLang="en-US" sz="1400" dirty="0"/>
          </a:p>
        </p:txBody>
      </p:sp>
      <p:sp>
        <p:nvSpPr>
          <p:cNvPr id="10" name="box"/>
          <p:cNvSpPr/>
          <p:nvPr/>
        </p:nvSpPr>
        <p:spPr>
          <a:xfrm>
            <a:off x="548640" y="3429000"/>
            <a:ext cx="2377440" cy="640080"/>
          </a:xfrm>
          <a:prstGeom prst="roundRect">
            <a:avLst>
              <a:gd name="adj" fmla="val 11429"/>
            </a:avLst>
          </a:prstGeom>
          <a:solidFill>
            <a:schemeClr val="accent2"/>
          </a:solidFill>
          <a:ln w="12700">
            <a:solidFill>
              <a:schemeClr val="accent2"/>
            </a:solidFill>
            <a:prstDash val="solid"/>
          </a:ln>
        </p:spPr>
      </p:sp>
      <p:sp>
        <p:nvSpPr>
          <p:cNvPr id="11" name="Text 8"/>
          <p:cNvSpPr txBox="1"/>
          <p:nvPr/>
        </p:nvSpPr>
        <p:spPr>
          <a:xfrm>
            <a:off x="548640" y="3429000"/>
            <a:ext cx="237744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게임플레이 스레드</a:t>
            </a:r>
            <a:endParaRPr lang="ko-KR" altLang="en-US" sz="1400" dirty="0"/>
          </a:p>
        </p:txBody>
      </p:sp>
      <p:sp>
        <p:nvSpPr>
          <p:cNvPr id="12" name="Shape 9"/>
          <p:cNvSpPr/>
          <p:nvPr/>
        </p:nvSpPr>
        <p:spPr>
          <a:xfrm>
            <a:off x="4389120" y="2240280"/>
            <a:ext cx="3291840" cy="1371600"/>
          </a:xfrm>
          <a:prstGeom prst="roundRect">
            <a:avLst>
              <a:gd name="adj" fmla="val 5333"/>
            </a:avLst>
          </a:prstGeom>
          <a:solidFill>
            <a:schemeClr val="bg2"/>
          </a:solidFill>
          <a:ln w="12700">
            <a:solidFill>
              <a:schemeClr val="accent3"/>
            </a:solidFill>
            <a:prstDash val="solid"/>
          </a:ln>
        </p:spPr>
      </p:sp>
      <p:sp>
        <p:nvSpPr>
          <p:cNvPr id="13" name="Text 10"/>
          <p:cNvSpPr txBox="1"/>
          <p:nvPr/>
        </p:nvSpPr>
        <p:spPr>
          <a:xfrm>
            <a:off x="4526280" y="2286000"/>
            <a:ext cx="2286000" cy="274320"/>
          </a:xfrm>
          <a:prstGeom prst="rect">
            <a:avLst/>
          </a:prstGeom>
          <a:noFill/>
          <a:ln/>
        </p:spPr>
        <p:txBody>
          <a:bodyPr wrap="square" lIns="0" tIns="0" rIns="0" bIns="0" rtlCol="0" anchor="t"/>
          <a:lstStyle/>
          <a:p>
            <a:pPr indent="0" marL="0" eaLnBrk="0">
              <a:buNone/>
            </a:pPr>
            <a:r>
              <a:rPr lang="ko-KR" altLang="en-US" sz="1200" b="1" dirty="0">
                <a:solidFill>
                  <a:schemeClr val="accent5"/>
                </a:solidFill>
              </a:rPr>
              <a:t>Audio 안의 큐</a:t>
            </a:r>
            <a:endParaRPr lang="ko-KR" altLang="en-US" sz="1200" dirty="0"/>
          </a:p>
        </p:txBody>
      </p:sp>
      <p:sp>
        <p:nvSpPr>
          <p:cNvPr id="14" name="box"/>
          <p:cNvSpPr/>
          <p:nvPr/>
        </p:nvSpPr>
        <p:spPr>
          <a:xfrm>
            <a:off x="4617720" y="2697480"/>
            <a:ext cx="914400" cy="640080"/>
          </a:xfrm>
          <a:prstGeom prst="roundRect">
            <a:avLst>
              <a:gd name="adj" fmla="val 11429"/>
            </a:avLst>
          </a:prstGeom>
          <a:solidFill>
            <a:schemeClr val="accent1"/>
          </a:solidFill>
          <a:ln w="12700">
            <a:solidFill>
              <a:schemeClr val="accent1"/>
            </a:solidFill>
            <a:prstDash val="solid"/>
          </a:ln>
        </p:spPr>
      </p:sp>
      <p:sp>
        <p:nvSpPr>
          <p:cNvPr id="15" name="Text 12"/>
          <p:cNvSpPr txBox="1"/>
          <p:nvPr/>
        </p:nvSpPr>
        <p:spPr>
          <a:xfrm>
            <a:off x="4617720" y="2697480"/>
            <a:ext cx="91440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요청</a:t>
            </a:r>
            <a:endParaRPr lang="ko-KR" altLang="en-US" sz="1300" dirty="0"/>
          </a:p>
        </p:txBody>
      </p:sp>
      <p:sp>
        <p:nvSpPr>
          <p:cNvPr id="16" name="box"/>
          <p:cNvSpPr/>
          <p:nvPr/>
        </p:nvSpPr>
        <p:spPr>
          <a:xfrm>
            <a:off x="5641848" y="2697480"/>
            <a:ext cx="914400" cy="640080"/>
          </a:xfrm>
          <a:prstGeom prst="roundRect">
            <a:avLst>
              <a:gd name="adj" fmla="val 11429"/>
            </a:avLst>
          </a:prstGeom>
          <a:solidFill>
            <a:schemeClr val="accent1"/>
          </a:solidFill>
          <a:ln w="12700">
            <a:solidFill>
              <a:schemeClr val="accent1"/>
            </a:solidFill>
            <a:prstDash val="solid"/>
          </a:ln>
        </p:spPr>
      </p:sp>
      <p:sp>
        <p:nvSpPr>
          <p:cNvPr id="17" name="Text 14"/>
          <p:cNvSpPr txBox="1"/>
          <p:nvPr/>
        </p:nvSpPr>
        <p:spPr>
          <a:xfrm>
            <a:off x="5641848" y="2697480"/>
            <a:ext cx="91440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요청</a:t>
            </a:r>
            <a:endParaRPr lang="ko-KR" altLang="en-US" sz="1300" dirty="0"/>
          </a:p>
        </p:txBody>
      </p:sp>
      <p:sp>
        <p:nvSpPr>
          <p:cNvPr id="18" name="box"/>
          <p:cNvSpPr/>
          <p:nvPr/>
        </p:nvSpPr>
        <p:spPr>
          <a:xfrm>
            <a:off x="6665976" y="2697480"/>
            <a:ext cx="914400" cy="640080"/>
          </a:xfrm>
          <a:prstGeom prst="roundRect">
            <a:avLst>
              <a:gd name="adj" fmla="val 11429"/>
            </a:avLst>
          </a:prstGeom>
          <a:solidFill>
            <a:schemeClr val="accent1"/>
          </a:solidFill>
          <a:ln w="12700">
            <a:solidFill>
              <a:schemeClr val="accent1"/>
            </a:solidFill>
            <a:prstDash val="solid"/>
          </a:ln>
        </p:spPr>
      </p:sp>
      <p:sp>
        <p:nvSpPr>
          <p:cNvPr id="19" name="Text 16"/>
          <p:cNvSpPr txBox="1"/>
          <p:nvPr/>
        </p:nvSpPr>
        <p:spPr>
          <a:xfrm>
            <a:off x="6665976" y="2697480"/>
            <a:ext cx="91440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요청</a:t>
            </a:r>
            <a:endParaRPr lang="ko-KR" altLang="en-US" sz="1300" dirty="0"/>
          </a:p>
        </p:txBody>
      </p:sp>
      <p:sp>
        <p:nvSpPr>
          <p:cNvPr id="20" name="Shape 17"/>
          <p:cNvSpPr/>
          <p:nvPr/>
        </p:nvSpPr>
        <p:spPr>
          <a:xfrm>
            <a:off x="2971800" y="2103120"/>
            <a:ext cx="1371600" cy="822960"/>
          </a:xfrm>
          <a:prstGeom prst="line">
            <a:avLst/>
          </a:prstGeom>
          <a:noFill/>
          <a:ln w="22225">
            <a:solidFill>
              <a:schemeClr val="accent3"/>
            </a:solidFill>
            <a:prstDash val="solid"/>
            <a:tailEnd type="triangle"/>
          </a:ln>
        </p:spPr>
      </p:sp>
      <p:sp>
        <p:nvSpPr>
          <p:cNvPr id="21" name="Shape 18"/>
          <p:cNvSpPr/>
          <p:nvPr/>
        </p:nvSpPr>
        <p:spPr>
          <a:xfrm>
            <a:off x="2971800" y="2926080"/>
            <a:ext cx="1371600" cy="914"/>
          </a:xfrm>
          <a:prstGeom prst="line">
            <a:avLst/>
          </a:prstGeom>
          <a:noFill/>
          <a:ln w="22225">
            <a:solidFill>
              <a:schemeClr val="accent3"/>
            </a:solidFill>
            <a:prstDash val="solid"/>
            <a:tailEnd type="triangle"/>
          </a:ln>
        </p:spPr>
      </p:sp>
      <p:sp>
        <p:nvSpPr>
          <p:cNvPr id="22" name="Shape 19"/>
          <p:cNvSpPr/>
          <p:nvPr/>
        </p:nvSpPr>
        <p:spPr>
          <a:xfrm flipV="1">
            <a:off x="2971800" y="2926080"/>
            <a:ext cx="1371600" cy="822960"/>
          </a:xfrm>
          <a:prstGeom prst="line">
            <a:avLst/>
          </a:prstGeom>
          <a:noFill/>
          <a:ln w="22225">
            <a:solidFill>
              <a:schemeClr val="accent3"/>
            </a:solidFill>
            <a:prstDash val="solid"/>
            <a:tailEnd type="triangle"/>
          </a:ln>
        </p:spPr>
      </p:sp>
      <p:sp>
        <p:nvSpPr>
          <p:cNvPr id="23" name="Text 20"/>
          <p:cNvSpPr txBox="1"/>
          <p:nvPr/>
        </p:nvSpPr>
        <p:spPr>
          <a:xfrm>
            <a:off x="1920240" y="4160520"/>
            <a:ext cx="3657600" cy="320040"/>
          </a:xfrm>
          <a:prstGeom prst="rect">
            <a:avLst/>
          </a:prstGeom>
          <a:noFill/>
          <a:ln/>
        </p:spPr>
        <p:txBody>
          <a:bodyPr wrap="square" lIns="0" tIns="0" rIns="0" bIns="0" rtlCol="0" anchor="t"/>
          <a:lstStyle/>
          <a:p>
            <a:pPr indent="0" marL="0" eaLnBrk="0">
              <a:buNone/>
            </a:pPr>
            <a:r>
              <a:rPr lang="ko-KR" altLang="en-US" sz="1300" b="1" dirty="0">
                <a:solidFill>
                  <a:schemeClr val="accent2"/>
                </a:solidFill>
              </a:rPr>
              <a:t>PlaySound: 잠깐 잠그고 넣는다</a:t>
            </a:r>
            <a:endParaRPr lang="ko-KR" altLang="en-US" sz="1300" dirty="0"/>
          </a:p>
        </p:txBody>
      </p:sp>
      <p:sp>
        <p:nvSpPr>
          <p:cNvPr id="24" name="box"/>
          <p:cNvSpPr/>
          <p:nvPr/>
        </p:nvSpPr>
        <p:spPr>
          <a:xfrm>
            <a:off x="8503920" y="2377440"/>
            <a:ext cx="3139135" cy="1097280"/>
          </a:xfrm>
          <a:prstGeom prst="roundRect">
            <a:avLst>
              <a:gd name="adj" fmla="val 6667"/>
            </a:avLst>
          </a:prstGeom>
          <a:solidFill>
            <a:schemeClr val="tx2"/>
          </a:solidFill>
          <a:ln w="12700">
            <a:solidFill>
              <a:schemeClr val="tx2"/>
            </a:solidFill>
            <a:prstDash val="solid"/>
          </a:ln>
        </p:spPr>
      </p:sp>
      <p:sp>
        <p:nvSpPr>
          <p:cNvPr id="25" name="Text 22"/>
          <p:cNvSpPr txBox="1"/>
          <p:nvPr/>
        </p:nvSpPr>
        <p:spPr>
          <a:xfrm>
            <a:off x="8503920" y="2377440"/>
            <a:ext cx="3139135" cy="109728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오디오 스레드</a:t>
            </a:r>
            <a:endParaRPr lang="ko-KR" altLang="en-US" sz="1400" dirty="0"/>
          </a:p>
          <a:p>
            <a:pPr algn="ctr" indent="0" marL="0" eaLnBrk="0">
              <a:buNone/>
            </a:pPr>
            <a:r>
              <a:rPr lang="ko-KR" altLang="en-US" sz="1400" b="1" dirty="0">
                <a:solidFill>
                  <a:schemeClr val="bg1"/>
                </a:solidFill>
              </a:rPr>
              <a:t>요청이 올 때까지 기다렸다가 Update</a:t>
            </a:r>
            <a:endParaRPr lang="ko-KR" altLang="en-US" sz="1400" dirty="0"/>
          </a:p>
        </p:txBody>
      </p:sp>
      <p:sp>
        <p:nvSpPr>
          <p:cNvPr id="26" name="Shape 23"/>
          <p:cNvSpPr/>
          <p:nvPr/>
        </p:nvSpPr>
        <p:spPr>
          <a:xfrm>
            <a:off x="7726680" y="2926080"/>
            <a:ext cx="731520" cy="914"/>
          </a:xfrm>
          <a:prstGeom prst="line">
            <a:avLst/>
          </a:prstGeom>
          <a:noFill/>
          <a:ln w="22225">
            <a:solidFill>
              <a:schemeClr val="accent3"/>
            </a:solidFill>
            <a:prstDash val="solid"/>
            <a:tailEnd type="triangle"/>
          </a:ln>
        </p:spPr>
      </p:sp>
      <p:sp>
        <p:nvSpPr>
          <p:cNvPr id="27" name="Text 24"/>
          <p:cNvSpPr txBox="1"/>
          <p:nvPr/>
        </p:nvSpPr>
        <p:spPr>
          <a:xfrm>
            <a:off x="548640" y="4572000"/>
            <a:ext cx="5486400" cy="320040"/>
          </a:xfrm>
          <a:prstGeom prst="rect">
            <a:avLst/>
          </a:prstGeom>
          <a:noFill/>
          <a:ln/>
        </p:spPr>
        <p:txBody>
          <a:bodyPr wrap="square" lIns="0" tIns="0" rIns="0" bIns="0" rtlCol="0" anchor="t"/>
          <a:lstStyle/>
          <a:p>
            <a:pPr indent="0" marL="0" eaLnBrk="0">
              <a:buNone/>
            </a:pPr>
            <a:r>
              <a:rPr lang="ko-KR" altLang="en-US" sz="1500" b="1" dirty="0">
                <a:solidFill>
                  <a:schemeClr val="tx1"/>
                </a:solidFill>
              </a:rPr>
              <a:t>이미 준비된 세 가지</a:t>
            </a:r>
            <a:endParaRPr lang="ko-KR" altLang="en-US" sz="1500" dirty="0"/>
          </a:p>
        </p:txBody>
      </p:sp>
      <p:sp>
        <p:nvSpPr>
          <p:cNvPr id="28" name="box"/>
          <p:cNvSpPr/>
          <p:nvPr/>
        </p:nvSpPr>
        <p:spPr>
          <a:xfrm>
            <a:off x="548640" y="4983480"/>
            <a:ext cx="3566160" cy="731520"/>
          </a:xfrm>
          <a:prstGeom prst="roundRect">
            <a:avLst>
              <a:gd name="adj" fmla="val 10000"/>
            </a:avLst>
          </a:prstGeom>
          <a:solidFill>
            <a:schemeClr val="bg2"/>
          </a:solidFill>
          <a:ln w="12700">
            <a:solidFill>
              <a:schemeClr val="bg2"/>
            </a:solidFill>
            <a:prstDash val="solid"/>
          </a:ln>
        </p:spPr>
      </p:sp>
      <p:sp>
        <p:nvSpPr>
          <p:cNvPr id="29" name="Text 26"/>
          <p:cNvSpPr txBox="1"/>
          <p:nvPr/>
        </p:nvSpPr>
        <p:spPr>
          <a:xfrm>
            <a:off x="548640" y="4983480"/>
            <a:ext cx="3566160" cy="731520"/>
          </a:xfrm>
          <a:prstGeom prst="rect">
            <a:avLst/>
          </a:prstGeom>
          <a:noFill/>
          <a:ln/>
        </p:spPr>
        <p:txBody>
          <a:bodyPr wrap="square" lIns="635" tIns="635" rIns="635" bIns="635" rtlCol="0" anchor="ctr"/>
          <a:lstStyle/>
          <a:p>
            <a:pPr algn="ctr" indent="0" marL="0" eaLnBrk="0">
              <a:buNone/>
            </a:pPr>
            <a:r>
              <a:rPr lang="ko-KR" altLang="en-US" sz="1300" dirty="0">
                <a:solidFill>
                  <a:schemeClr val="tx1"/>
                </a:solidFill>
              </a:rPr>
              <a:t>요청 코드와 재생 코드가 분리되었다.</a:t>
            </a:r>
            <a:endParaRPr lang="ko-KR" altLang="en-US" sz="1300" dirty="0"/>
          </a:p>
        </p:txBody>
      </p:sp>
      <p:sp>
        <p:nvSpPr>
          <p:cNvPr id="30" name="box"/>
          <p:cNvSpPr/>
          <p:nvPr/>
        </p:nvSpPr>
        <p:spPr>
          <a:xfrm>
            <a:off x="4297680" y="4983480"/>
            <a:ext cx="3566160" cy="731520"/>
          </a:xfrm>
          <a:prstGeom prst="roundRect">
            <a:avLst>
              <a:gd name="adj" fmla="val 10000"/>
            </a:avLst>
          </a:prstGeom>
          <a:solidFill>
            <a:schemeClr val="bg2"/>
          </a:solidFill>
          <a:ln w="12700">
            <a:solidFill>
              <a:schemeClr val="bg2"/>
            </a:solidFill>
            <a:prstDash val="solid"/>
          </a:ln>
        </p:spPr>
      </p:sp>
      <p:sp>
        <p:nvSpPr>
          <p:cNvPr id="31" name="Text 28"/>
          <p:cNvSpPr txBox="1"/>
          <p:nvPr/>
        </p:nvSpPr>
        <p:spPr>
          <a:xfrm>
            <a:off x="4297680" y="4983480"/>
            <a:ext cx="3566160" cy="731520"/>
          </a:xfrm>
          <a:prstGeom prst="rect">
            <a:avLst/>
          </a:prstGeom>
          <a:noFill/>
          <a:ln/>
        </p:spPr>
        <p:txBody>
          <a:bodyPr wrap="square" lIns="635" tIns="635" rIns="635" bIns="635" rtlCol="0" anchor="ctr"/>
          <a:lstStyle/>
          <a:p>
            <a:pPr algn="ctr" indent="0" marL="0" eaLnBrk="0">
              <a:buNone/>
            </a:pPr>
            <a:r>
              <a:rPr lang="ko-KR" altLang="en-US" sz="1300" dirty="0">
                <a:solidFill>
                  <a:schemeClr val="tx1"/>
                </a:solidFill>
              </a:rPr>
              <a:t>둘 사이에 큐가 있다.</a:t>
            </a:r>
            <a:endParaRPr lang="ko-KR" altLang="en-US" sz="1300" dirty="0"/>
          </a:p>
        </p:txBody>
      </p:sp>
      <p:sp>
        <p:nvSpPr>
          <p:cNvPr id="32" name="box"/>
          <p:cNvSpPr/>
          <p:nvPr/>
        </p:nvSpPr>
        <p:spPr>
          <a:xfrm>
            <a:off x="8046720" y="4983480"/>
            <a:ext cx="3566160" cy="731520"/>
          </a:xfrm>
          <a:prstGeom prst="roundRect">
            <a:avLst>
              <a:gd name="adj" fmla="val 10000"/>
            </a:avLst>
          </a:prstGeom>
          <a:solidFill>
            <a:schemeClr val="bg2"/>
          </a:solidFill>
          <a:ln w="12700">
            <a:solidFill>
              <a:schemeClr val="bg2"/>
            </a:solidFill>
            <a:prstDash val="solid"/>
          </a:ln>
        </p:spPr>
      </p:sp>
      <p:sp>
        <p:nvSpPr>
          <p:cNvPr id="33" name="Text 30"/>
          <p:cNvSpPr txBox="1"/>
          <p:nvPr/>
        </p:nvSpPr>
        <p:spPr>
          <a:xfrm>
            <a:off x="8046720" y="4983480"/>
            <a:ext cx="3566160" cy="731520"/>
          </a:xfrm>
          <a:prstGeom prst="rect">
            <a:avLst/>
          </a:prstGeom>
          <a:noFill/>
          <a:ln/>
        </p:spPr>
        <p:txBody>
          <a:bodyPr wrap="square" lIns="635" tIns="635" rIns="635" bIns="635" rtlCol="0" anchor="ctr"/>
          <a:lstStyle/>
          <a:p>
            <a:pPr algn="ctr" indent="0" marL="0" eaLnBrk="0">
              <a:buNone/>
            </a:pPr>
            <a:r>
              <a:rPr lang="ko-KR" altLang="en-US" sz="1300" dirty="0">
                <a:solidFill>
                  <a:schemeClr val="tx1"/>
                </a:solidFill>
              </a:rPr>
              <a:t>큐는 Audio 안에 감춰져 있다.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4부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설계 결정</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설계 결정</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무엇을 넣나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이벤트는 이미 일어난 일, 메시지는 앞으로 할 일이다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큐에서 꺼내 읽는 쪽은 몇이어야 할까?</a:t>
            </a:r>
            <a:endParaRPr lang="ko-KR" alt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737360"/>
                <a:gridCol w="4678528"/>
                <a:gridCol w="4678528"/>
              </a:tblGrid>
              <a:tr h="457200">
                <a:tc>
                  <a:txBody>
                    <a:bodyPr/>
                    <a:lstStyle/>
                    <a:p>
                      <a:pPr indent="0" marL="0" eaLnBrk="0">
                        <a:buNone/>
                      </a:pP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이벤트(알림)</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메시지(요청)</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777240">
                <a:tc>
                  <a:txBody>
                    <a:bodyPr/>
                    <a:lstStyle/>
                    <a:p>
                      <a:pPr indent="0" marL="0" eaLnBrk="0">
                        <a:buNone/>
                      </a:pPr>
                      <a:r>
                        <a:rPr lang="ko-KR" altLang="en-US" sz="1400" b="1" dirty="0">
                          <a:solidFill>
                            <a:schemeClr val="tx1"/>
                          </a:solidFill>
                        </a:rPr>
                        <a:t>뜻</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이미 일어난 일. 예: 몬스터가 죽었다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앞으로 일어나길 바라는 일. 예: 사운드를 재생하라</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받는 쪽</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여럿일 수 있다. 보낸 쪽은 누가 받든 관심 없다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대개 하나. 오디오가 아닌 곳이 꺼내 가면 소용없다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큐의 범위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넓다. 여러 시스템에 보이도록 전역에 가깝게 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좁다. 한 서비스의 비동기 API처럼 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닮은 패턴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비동기로 동작하는 관찰자(Observer) 패턴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요청 = 명령(Command). 처리할 곳을 몰라도 되면 서비스 중개자(Service Locator)</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누가 읽나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읽는 쪽이 하나인가, 모두인가, 하나씩 나눠 받는가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반대로 큐에 넣는 쪽은 몇이어야 할까?</a:t>
            </a:r>
            <a:endParaRPr lang="ko-KR" altLang="en-US" sz="1500" dirty="0"/>
          </a:p>
        </p:txBody>
      </p:sp>
      <p:sp>
        <p:nvSpPr>
          <p:cNvPr id="6" name="card"/>
          <p:cNvSpPr/>
          <p:nvPr/>
        </p:nvSpPr>
        <p:spPr>
          <a:xfrm>
            <a:off x="548640" y="1691640"/>
            <a:ext cx="3576218" cy="4023360"/>
          </a:xfrm>
          <a:prstGeom prst="roundRect">
            <a:avLst>
              <a:gd name="adj" fmla="val 2557"/>
            </a:avLst>
          </a:prstGeom>
          <a:solidFill>
            <a:schemeClr val="bg2"/>
          </a:solidFill>
          <a:ln w="12700">
            <a:solidFill>
              <a:schemeClr val="bg2"/>
            </a:solidFill>
            <a:prstDash val="solid"/>
          </a:ln>
        </p:spPr>
      </p:sp>
      <p:sp>
        <p:nvSpPr>
          <p:cNvPr id="7" name="Shape 4"/>
          <p:cNvSpPr/>
          <p:nvPr/>
        </p:nvSpPr>
        <p:spPr>
          <a:xfrm>
            <a:off x="777240" y="189280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911096"/>
            <a:ext cx="261609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읽는 쪽이 하나</a:t>
            </a:r>
            <a:endParaRPr lang="ko-KR" altLang="en-US" sz="1700" dirty="0"/>
          </a:p>
        </p:txBody>
      </p:sp>
      <p:sp>
        <p:nvSpPr>
          <p:cNvPr id="10" name="Text 7"/>
          <p:cNvSpPr txBox="1"/>
          <p:nvPr/>
        </p:nvSpPr>
        <p:spPr>
          <a:xfrm>
            <a:off x="777240" y="2468880"/>
            <a:ext cx="3119018" cy="31089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오디오 예제처럼 클래스 API의 일부가 된다.</a:t>
            </a:r>
            <a:endParaRPr lang="ko-KR" altLang="en-US" sz="1400" dirty="0"/>
          </a:p>
          <a:p>
            <a:pPr indent="0" marL="0" eaLnBrk="0">
              <a:spcAft>
                <a:spcPts val="400"/>
              </a:spcAft>
              <a:buNone/>
            </a:pPr>
            <a:endParaRPr lang="ko-KR" altLang="en-US" sz="1400" dirty="0"/>
          </a:p>
          <a:p>
            <a:pPr indent="0" marL="0" eaLnBrk="0">
              <a:spcAft>
                <a:spcPts val="400"/>
              </a:spcAft>
              <a:buNone/>
            </a:pPr>
            <a:r>
              <a:rPr lang="ko-KR" altLang="en-US" sz="1400" dirty="0">
                <a:solidFill>
                  <a:schemeClr val="tx2"/>
                </a:solidFill>
              </a:rPr>
              <a:t>큐는 읽는 쪽의 구현 세부로 감춰진다.</a:t>
            </a:r>
            <a:endParaRPr lang="ko-KR" altLang="en-US" sz="1400" dirty="0"/>
          </a:p>
          <a:p>
            <a:pPr indent="0" marL="0" eaLnBrk="0">
              <a:spcAft>
                <a:spcPts val="400"/>
              </a:spcAft>
              <a:buNone/>
            </a:pPr>
            <a:endParaRPr lang="ko-KR" altLang="en-US" sz="1400" dirty="0"/>
          </a:p>
          <a:p>
            <a:pPr indent="0" marL="0" eaLnBrk="0">
              <a:spcAft>
                <a:spcPts val="400"/>
              </a:spcAft>
              <a:buNone/>
            </a:pPr>
            <a:r>
              <a:rPr lang="ko-KR" altLang="en-US" sz="1400" dirty="0">
                <a:solidFill>
                  <a:schemeClr val="tx2"/>
                </a:solidFill>
              </a:rPr>
              <a:t>읽는 쪽끼리 다툴 일이 없다.</a:t>
            </a:r>
            <a:endParaRPr lang="ko-KR" altLang="en-US" sz="1400" dirty="0"/>
          </a:p>
        </p:txBody>
      </p:sp>
      <p:sp>
        <p:nvSpPr>
          <p:cNvPr id="11" name="card"/>
          <p:cNvSpPr/>
          <p:nvPr/>
        </p:nvSpPr>
        <p:spPr>
          <a:xfrm>
            <a:off x="4307738" y="1691640"/>
            <a:ext cx="3576218" cy="4023360"/>
          </a:xfrm>
          <a:prstGeom prst="roundRect">
            <a:avLst>
              <a:gd name="adj" fmla="val 2557"/>
            </a:avLst>
          </a:prstGeom>
          <a:solidFill>
            <a:schemeClr val="bg2"/>
          </a:solidFill>
          <a:ln w="12700">
            <a:solidFill>
              <a:schemeClr val="bg2"/>
            </a:solidFill>
            <a:prstDash val="solid"/>
          </a:ln>
        </p:spPr>
      </p:sp>
      <p:sp>
        <p:nvSpPr>
          <p:cNvPr id="12" name="Shape 9"/>
          <p:cNvSpPr/>
          <p:nvPr/>
        </p:nvSpPr>
        <p:spPr>
          <a:xfrm>
            <a:off x="4536338" y="189280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4536338"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5084978" y="1911096"/>
            <a:ext cx="261609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모두에게 전달</a:t>
            </a:r>
            <a:endParaRPr lang="ko-KR" altLang="en-US" sz="1700" dirty="0"/>
          </a:p>
        </p:txBody>
      </p:sp>
      <p:sp>
        <p:nvSpPr>
          <p:cNvPr id="15" name="Text 12"/>
          <p:cNvSpPr txBox="1"/>
          <p:nvPr/>
        </p:nvSpPr>
        <p:spPr>
          <a:xfrm>
            <a:off x="4536338" y="2468880"/>
            <a:ext cx="3119018" cy="31089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리스너 열이면 열 모두가 본다.</a:t>
            </a:r>
            <a:endParaRPr lang="ko-KR" altLang="en-US" sz="1400" dirty="0"/>
          </a:p>
          <a:p>
            <a:pPr indent="0" marL="0" eaLnBrk="0">
              <a:spcAft>
                <a:spcPts val="400"/>
              </a:spcAft>
              <a:buNone/>
            </a:pPr>
            <a:endParaRPr lang="ko-KR" altLang="en-US" sz="1400" dirty="0"/>
          </a:p>
          <a:p>
            <a:pPr indent="0" marL="0" eaLnBrk="0">
              <a:spcAft>
                <a:spcPts val="400"/>
              </a:spcAft>
              <a:buNone/>
            </a:pPr>
            <a:r>
              <a:rPr lang="ko-KR" altLang="en-US" sz="1400" dirty="0">
                <a:solidFill>
                  <a:schemeClr val="tx2"/>
                </a:solidFill>
              </a:rPr>
              <a:t>리스너가 없으면 이벤트는 버려진다.</a:t>
            </a:r>
            <a:endParaRPr lang="ko-KR" altLang="en-US" sz="1400" dirty="0"/>
          </a:p>
          <a:p>
            <a:pPr indent="0" marL="0" eaLnBrk="0">
              <a:spcAft>
                <a:spcPts val="400"/>
              </a:spcAft>
              <a:buNone/>
            </a:pPr>
            <a:endParaRPr lang="ko-KR" altLang="en-US" sz="1400" dirty="0"/>
          </a:p>
          <a:p>
            <a:pPr indent="0" marL="0" eaLnBrk="0">
              <a:spcAft>
                <a:spcPts val="400"/>
              </a:spcAft>
              <a:buNone/>
            </a:pPr>
            <a:r>
              <a:rPr lang="ko-KR" altLang="en-US" sz="1400" dirty="0">
                <a:solidFill>
                  <a:schemeClr val="tx2"/>
                </a:solidFill>
              </a:rPr>
              <a:t>많아지면 받을 이벤트를 걸러 낸다. 예: 마우스 이벤트만.</a:t>
            </a:r>
            <a:endParaRPr lang="ko-KR" altLang="en-US" sz="1400" dirty="0"/>
          </a:p>
        </p:txBody>
      </p:sp>
      <p:sp>
        <p:nvSpPr>
          <p:cNvPr id="16" name="card"/>
          <p:cNvSpPr/>
          <p:nvPr/>
        </p:nvSpPr>
        <p:spPr>
          <a:xfrm>
            <a:off x="8066837" y="1691640"/>
            <a:ext cx="3576218" cy="4023360"/>
          </a:xfrm>
          <a:prstGeom prst="roundRect">
            <a:avLst>
              <a:gd name="adj" fmla="val 2557"/>
            </a:avLst>
          </a:prstGeom>
          <a:solidFill>
            <a:schemeClr val="bg2"/>
          </a:solidFill>
          <a:ln w="12700">
            <a:solidFill>
              <a:schemeClr val="bg2"/>
            </a:solidFill>
            <a:prstDash val="solid"/>
          </a:ln>
        </p:spPr>
      </p:sp>
      <p:sp>
        <p:nvSpPr>
          <p:cNvPr id="17" name="Shape 14"/>
          <p:cNvSpPr/>
          <p:nvPr/>
        </p:nvSpPr>
        <p:spPr>
          <a:xfrm>
            <a:off x="8295437" y="189280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8295437"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8844077" y="1911096"/>
            <a:ext cx="261609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작업 큐</a:t>
            </a:r>
            <a:endParaRPr lang="ko-KR" altLang="en-US" sz="1700" dirty="0"/>
          </a:p>
        </p:txBody>
      </p:sp>
      <p:sp>
        <p:nvSpPr>
          <p:cNvPr id="20" name="Text 17"/>
          <p:cNvSpPr txBox="1"/>
          <p:nvPr/>
        </p:nvSpPr>
        <p:spPr>
          <a:xfrm>
            <a:off x="8295437" y="2468880"/>
            <a:ext cx="3119018" cy="31089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읽는 쪽이 여럿이지만 항목은 하나에게만 간다.</a:t>
            </a:r>
            <a:endParaRPr lang="ko-KR" altLang="en-US" sz="1400" dirty="0"/>
          </a:p>
          <a:p>
            <a:pPr indent="0" marL="0" eaLnBrk="0">
              <a:spcAft>
                <a:spcPts val="400"/>
              </a:spcAft>
              <a:buNone/>
            </a:pPr>
            <a:endParaRPr lang="ko-KR" altLang="en-US" sz="1400" dirty="0"/>
          </a:p>
          <a:p>
            <a:pPr indent="0" marL="0" eaLnBrk="0">
              <a:spcAft>
                <a:spcPts val="400"/>
              </a:spcAft>
              <a:buNone/>
            </a:pPr>
            <a:r>
              <a:rPr lang="ko-KR" altLang="en-US" sz="1400" dirty="0">
                <a:solidFill>
                  <a:schemeClr val="tx2"/>
                </a:solidFill>
              </a:rPr>
              <a:t>스레드 풀에 일을 나눠 줄 때 쓴다.</a:t>
            </a:r>
            <a:endParaRPr lang="ko-KR" altLang="en-US" sz="1400" dirty="0"/>
          </a:p>
          <a:p>
            <a:pPr indent="0" marL="0" eaLnBrk="0">
              <a:spcAft>
                <a:spcPts val="400"/>
              </a:spcAft>
              <a:buNone/>
            </a:pPr>
            <a:endParaRPr lang="ko-KR" altLang="en-US" sz="1400" dirty="0"/>
          </a:p>
          <a:p>
            <a:pPr indent="0" marL="0" eaLnBrk="0">
              <a:spcAft>
                <a:spcPts val="400"/>
              </a:spcAft>
              <a:buNone/>
            </a:pPr>
            <a:r>
              <a:rPr lang="ko-KR" altLang="en-US" sz="1400" dirty="0">
                <a:solidFill>
                  <a:schemeClr val="tx2"/>
                </a:solidFill>
              </a:rPr>
              <a:t>누구에게 줄지 정해야 한다. 차례대로, 무작위, 우선순위.</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누가 쓰나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넣는 쪽이 하나면 보낸 쪽을 알고, 여럿이면 순환을 조심한다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큐에 들어간 메시지는 언제까지 살아 있어야 할까?</a:t>
            </a:r>
            <a:endParaRPr lang="ko-KR" altLang="en-US" sz="1500" dirty="0"/>
          </a:p>
        </p:txBody>
      </p:sp>
      <p:sp>
        <p:nvSpPr>
          <p:cNvPr id="6" name="Shape 3"/>
          <p:cNvSpPr/>
          <p:nvPr/>
        </p:nvSpPr>
        <p:spPr>
          <a:xfrm>
            <a:off x="548640" y="1691640"/>
            <a:ext cx="5410048" cy="4023360"/>
          </a:xfrm>
          <a:prstGeom prst="roundRect">
            <a:avLst>
              <a:gd name="adj" fmla="val 2273"/>
            </a:avLst>
          </a:prstGeom>
          <a:solidFill>
            <a:schemeClr val="bg2"/>
          </a:solidFill>
          <a:ln w="12700">
            <a:solidFill>
              <a:schemeClr val="bg2"/>
            </a:solidFill>
            <a:prstDash val="solid"/>
          </a:ln>
        </p:spPr>
      </p:sp>
      <p:sp>
        <p:nvSpPr>
          <p:cNvPr id="7" name="Text 4"/>
          <p:cNvSpPr txBox="1"/>
          <p:nvPr/>
        </p:nvSpPr>
        <p:spPr>
          <a:xfrm>
            <a:off x="822960" y="1828800"/>
            <a:ext cx="4861408" cy="411480"/>
          </a:xfrm>
          <a:prstGeom prst="rect">
            <a:avLst/>
          </a:prstGeom>
          <a:noFill/>
          <a:ln/>
        </p:spPr>
        <p:txBody>
          <a:bodyPr wrap="square" lIns="0" tIns="0" rIns="0" bIns="0" rtlCol="0" anchor="t"/>
          <a:lstStyle/>
          <a:p>
            <a:pPr indent="0" marL="0" eaLnBrk="0">
              <a:buNone/>
            </a:pPr>
            <a:r>
              <a:rPr lang="ko-KR" altLang="en-US" sz="1900" b="1" dirty="0">
                <a:solidFill>
                  <a:schemeClr val="accent2"/>
                </a:solidFill>
              </a:rPr>
              <a:t>넣는 쪽이 하나</a:t>
            </a:r>
            <a:endParaRPr lang="ko-KR" altLang="en-US" sz="1900" dirty="0"/>
          </a:p>
        </p:txBody>
      </p:sp>
      <p:sp>
        <p:nvSpPr>
          <p:cNvPr id="8" name="box"/>
          <p:cNvSpPr/>
          <p:nvPr/>
        </p:nvSpPr>
        <p:spPr>
          <a:xfrm>
            <a:off x="822960" y="2697480"/>
            <a:ext cx="1463040" cy="548640"/>
          </a:xfrm>
          <a:prstGeom prst="roundRect">
            <a:avLst>
              <a:gd name="adj" fmla="val 13333"/>
            </a:avLst>
          </a:prstGeom>
          <a:solidFill>
            <a:schemeClr val="accent2"/>
          </a:solidFill>
          <a:ln w="12700">
            <a:solidFill>
              <a:schemeClr val="accent2"/>
            </a:solidFill>
            <a:prstDash val="solid"/>
          </a:ln>
        </p:spPr>
      </p:sp>
      <p:sp>
        <p:nvSpPr>
          <p:cNvPr id="9" name="Text 6"/>
          <p:cNvSpPr txBox="1"/>
          <p:nvPr/>
        </p:nvSpPr>
        <p:spPr>
          <a:xfrm>
            <a:off x="822960" y="2697480"/>
            <a:ext cx="1463040"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보내는 쪽</a:t>
            </a:r>
            <a:endParaRPr lang="ko-KR" altLang="en-US" sz="1300" dirty="0"/>
          </a:p>
        </p:txBody>
      </p:sp>
      <p:sp>
        <p:nvSpPr>
          <p:cNvPr id="10" name="box"/>
          <p:cNvSpPr/>
          <p:nvPr/>
        </p:nvSpPr>
        <p:spPr>
          <a:xfrm>
            <a:off x="2743200" y="2697480"/>
            <a:ext cx="1005840" cy="548640"/>
          </a:xfrm>
          <a:prstGeom prst="roundRect">
            <a:avLst>
              <a:gd name="adj" fmla="val 13333"/>
            </a:avLst>
          </a:prstGeom>
          <a:solidFill>
            <a:schemeClr val="bg1"/>
          </a:solidFill>
          <a:ln w="12700">
            <a:solidFill>
              <a:schemeClr val="bg1"/>
            </a:solidFill>
            <a:prstDash val="solid"/>
          </a:ln>
        </p:spPr>
      </p:sp>
      <p:sp>
        <p:nvSpPr>
          <p:cNvPr id="11" name="Text 8"/>
          <p:cNvSpPr txBox="1"/>
          <p:nvPr/>
        </p:nvSpPr>
        <p:spPr>
          <a:xfrm>
            <a:off x="2743200" y="2697480"/>
            <a:ext cx="1005840"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큐</a:t>
            </a:r>
            <a:endParaRPr lang="ko-KR" altLang="en-US" sz="1300" dirty="0"/>
          </a:p>
        </p:txBody>
      </p:sp>
      <p:sp>
        <p:nvSpPr>
          <p:cNvPr id="12" name="Shape 9"/>
          <p:cNvSpPr/>
          <p:nvPr/>
        </p:nvSpPr>
        <p:spPr>
          <a:xfrm>
            <a:off x="2331720" y="2971800"/>
            <a:ext cx="365760" cy="914"/>
          </a:xfrm>
          <a:prstGeom prst="line">
            <a:avLst/>
          </a:prstGeom>
          <a:noFill/>
          <a:ln w="22225">
            <a:solidFill>
              <a:schemeClr val="accent3"/>
            </a:solidFill>
            <a:prstDash val="solid"/>
            <a:tailEnd type="triangle"/>
          </a:ln>
        </p:spPr>
      </p:sp>
      <p:sp>
        <p:nvSpPr>
          <p:cNvPr id="13" name="box"/>
          <p:cNvSpPr/>
          <p:nvPr/>
        </p:nvSpPr>
        <p:spPr>
          <a:xfrm>
            <a:off x="4206240" y="2377440"/>
            <a:ext cx="1371600" cy="502920"/>
          </a:xfrm>
          <a:prstGeom prst="roundRect">
            <a:avLst>
              <a:gd name="adj" fmla="val 14545"/>
            </a:avLst>
          </a:prstGeom>
          <a:solidFill>
            <a:schemeClr val="bg1"/>
          </a:solidFill>
          <a:ln w="12700">
            <a:solidFill>
              <a:schemeClr val="bg1"/>
            </a:solidFill>
            <a:prstDash val="solid"/>
          </a:ln>
        </p:spPr>
      </p:sp>
      <p:sp>
        <p:nvSpPr>
          <p:cNvPr id="14" name="Text 11"/>
          <p:cNvSpPr txBox="1"/>
          <p:nvPr/>
        </p:nvSpPr>
        <p:spPr>
          <a:xfrm>
            <a:off x="4206240" y="2377440"/>
            <a:ext cx="1371600"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받는 쪽 1</a:t>
            </a:r>
            <a:endParaRPr lang="ko-KR" altLang="en-US" sz="1200" dirty="0"/>
          </a:p>
        </p:txBody>
      </p:sp>
      <p:sp>
        <p:nvSpPr>
          <p:cNvPr id="15" name="box"/>
          <p:cNvSpPr/>
          <p:nvPr/>
        </p:nvSpPr>
        <p:spPr>
          <a:xfrm>
            <a:off x="4206240" y="3017520"/>
            <a:ext cx="1371600" cy="502920"/>
          </a:xfrm>
          <a:prstGeom prst="roundRect">
            <a:avLst>
              <a:gd name="adj" fmla="val 14545"/>
            </a:avLst>
          </a:prstGeom>
          <a:solidFill>
            <a:schemeClr val="bg1"/>
          </a:solidFill>
          <a:ln w="12700">
            <a:solidFill>
              <a:schemeClr val="bg1"/>
            </a:solidFill>
            <a:prstDash val="solid"/>
          </a:ln>
        </p:spPr>
      </p:sp>
      <p:sp>
        <p:nvSpPr>
          <p:cNvPr id="16" name="Text 13"/>
          <p:cNvSpPr txBox="1"/>
          <p:nvPr/>
        </p:nvSpPr>
        <p:spPr>
          <a:xfrm>
            <a:off x="4206240" y="3017520"/>
            <a:ext cx="1371600"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받는 쪽 2</a:t>
            </a:r>
            <a:endParaRPr lang="ko-KR" altLang="en-US" sz="1200" dirty="0"/>
          </a:p>
        </p:txBody>
      </p:sp>
      <p:sp>
        <p:nvSpPr>
          <p:cNvPr id="17" name="Shape 14"/>
          <p:cNvSpPr/>
          <p:nvPr/>
        </p:nvSpPr>
        <p:spPr>
          <a:xfrm flipV="1">
            <a:off x="3794760" y="2633472"/>
            <a:ext cx="365760" cy="246888"/>
          </a:xfrm>
          <a:prstGeom prst="line">
            <a:avLst/>
          </a:prstGeom>
          <a:noFill/>
          <a:ln w="22225">
            <a:solidFill>
              <a:schemeClr val="accent3"/>
            </a:solidFill>
            <a:prstDash val="solid"/>
            <a:tailEnd type="triangle"/>
          </a:ln>
        </p:spPr>
      </p:sp>
      <p:sp>
        <p:nvSpPr>
          <p:cNvPr id="18" name="Shape 15"/>
          <p:cNvSpPr/>
          <p:nvPr/>
        </p:nvSpPr>
        <p:spPr>
          <a:xfrm>
            <a:off x="3794760" y="3063240"/>
            <a:ext cx="365760" cy="210312"/>
          </a:xfrm>
          <a:prstGeom prst="line">
            <a:avLst/>
          </a:prstGeom>
          <a:noFill/>
          <a:ln w="22225">
            <a:solidFill>
              <a:schemeClr val="accent3"/>
            </a:solidFill>
            <a:prstDash val="solid"/>
            <a:tailEnd type="triangle"/>
          </a:ln>
        </p:spPr>
      </p:sp>
      <p:sp>
        <p:nvSpPr>
          <p:cNvPr id="19" name="Text 16"/>
          <p:cNvSpPr txBox="1"/>
          <p:nvPr/>
        </p:nvSpPr>
        <p:spPr>
          <a:xfrm>
            <a:off x="822960" y="3703320"/>
            <a:ext cx="4861408" cy="1920240"/>
          </a:xfrm>
          <a:prstGeom prst="rect">
            <a:avLst/>
          </a:prstGeom>
          <a:noFill/>
          <a:ln/>
        </p:spPr>
        <p:txBody>
          <a:bodyPr wrap="square" lIns="0" tIns="0" rIns="0" bIns="0" rtlCol="0" anchor="t"/>
          <a:lstStyle/>
          <a:p>
            <a:pPr indent="0" marL="0" eaLnBrk="0">
              <a:spcAft>
                <a:spcPts val="600"/>
              </a:spcAft>
              <a:buNone/>
            </a:pPr>
            <a:r>
              <a:rPr lang="ko-KR" altLang="en-US" sz="1400" dirty="0">
                <a:solidFill>
                  <a:schemeClr val="tx2"/>
                </a:solidFill>
              </a:rPr>
              <a:t>동기 관찰자와 가장 비슷하다.</a:t>
            </a:r>
            <a:endParaRPr lang="ko-KR" altLang="en-US" sz="1400" dirty="0"/>
          </a:p>
          <a:p>
            <a:pPr indent="0" marL="0" eaLnBrk="0">
              <a:spcAft>
                <a:spcPts val="600"/>
              </a:spcAft>
              <a:buNone/>
            </a:pPr>
            <a:r>
              <a:rPr lang="ko-KR" altLang="en-US" sz="1400" dirty="0">
                <a:solidFill>
                  <a:schemeClr val="tx2"/>
                </a:solidFill>
              </a:rPr>
              <a:t>받는 쪽은 보낸 쪽이 누구인지 안다.</a:t>
            </a:r>
            <a:endParaRPr lang="ko-KR" altLang="en-US" sz="1400" dirty="0"/>
          </a:p>
          <a:p>
            <a:pPr indent="0" marL="0" eaLnBrk="0">
              <a:spcAft>
                <a:spcPts val="600"/>
              </a:spcAft>
              <a:buNone/>
            </a:pPr>
            <a:r>
              <a:rPr lang="ko-KR" altLang="en-US" sz="1400" dirty="0">
                <a:solidFill>
                  <a:schemeClr val="tx2"/>
                </a:solidFill>
              </a:rPr>
              <a:t>보통 읽는 쪽을 여럿 둔다.</a:t>
            </a:r>
            <a:endParaRPr lang="ko-KR" altLang="en-US" sz="1400" dirty="0"/>
          </a:p>
        </p:txBody>
      </p:sp>
      <p:sp>
        <p:nvSpPr>
          <p:cNvPr id="20" name="Shape 17"/>
          <p:cNvSpPr/>
          <p:nvPr/>
        </p:nvSpPr>
        <p:spPr>
          <a:xfrm>
            <a:off x="6233008" y="1691640"/>
            <a:ext cx="5410048" cy="4023360"/>
          </a:xfrm>
          <a:prstGeom prst="roundRect">
            <a:avLst>
              <a:gd name="adj" fmla="val 2273"/>
            </a:avLst>
          </a:prstGeom>
          <a:solidFill>
            <a:schemeClr val="bg2"/>
          </a:solidFill>
          <a:ln w="12700">
            <a:solidFill>
              <a:schemeClr val="bg2"/>
            </a:solidFill>
            <a:prstDash val="solid"/>
          </a:ln>
        </p:spPr>
      </p:sp>
      <p:sp>
        <p:nvSpPr>
          <p:cNvPr id="21" name="Text 18"/>
          <p:cNvSpPr txBox="1"/>
          <p:nvPr/>
        </p:nvSpPr>
        <p:spPr>
          <a:xfrm>
            <a:off x="6507328" y="1828800"/>
            <a:ext cx="4861408" cy="411480"/>
          </a:xfrm>
          <a:prstGeom prst="rect">
            <a:avLst/>
          </a:prstGeom>
          <a:noFill/>
          <a:ln/>
        </p:spPr>
        <p:txBody>
          <a:bodyPr wrap="square" lIns="0" tIns="0" rIns="0" bIns="0" rtlCol="0" anchor="t"/>
          <a:lstStyle/>
          <a:p>
            <a:pPr indent="0" marL="0" eaLnBrk="0">
              <a:buNone/>
            </a:pPr>
            <a:r>
              <a:rPr lang="ko-KR" altLang="en-US" sz="1900" b="1" dirty="0">
                <a:solidFill>
                  <a:schemeClr val="accent6"/>
                </a:solidFill>
              </a:rPr>
              <a:t>넣는 쪽이 여럿</a:t>
            </a:r>
            <a:endParaRPr lang="ko-KR" altLang="en-US" sz="1900" dirty="0"/>
          </a:p>
        </p:txBody>
      </p:sp>
      <p:sp>
        <p:nvSpPr>
          <p:cNvPr id="22" name="box"/>
          <p:cNvSpPr/>
          <p:nvPr/>
        </p:nvSpPr>
        <p:spPr>
          <a:xfrm>
            <a:off x="6507328" y="2377440"/>
            <a:ext cx="1463040" cy="365760"/>
          </a:xfrm>
          <a:prstGeom prst="roundRect">
            <a:avLst>
              <a:gd name="adj" fmla="val 20000"/>
            </a:avLst>
          </a:prstGeom>
          <a:solidFill>
            <a:schemeClr val="accent2"/>
          </a:solidFill>
          <a:ln w="12700">
            <a:solidFill>
              <a:schemeClr val="accent2"/>
            </a:solidFill>
            <a:prstDash val="solid"/>
          </a:ln>
        </p:spPr>
      </p:sp>
      <p:sp>
        <p:nvSpPr>
          <p:cNvPr id="23" name="Text 20"/>
          <p:cNvSpPr txBox="1"/>
          <p:nvPr/>
        </p:nvSpPr>
        <p:spPr>
          <a:xfrm>
            <a:off x="6507328" y="2377440"/>
            <a:ext cx="1463040" cy="36576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메뉴</a:t>
            </a:r>
            <a:endParaRPr lang="ko-KR" altLang="en-US" sz="1200" dirty="0"/>
          </a:p>
        </p:txBody>
      </p:sp>
      <p:sp>
        <p:nvSpPr>
          <p:cNvPr id="24" name="box"/>
          <p:cNvSpPr/>
          <p:nvPr/>
        </p:nvSpPr>
        <p:spPr>
          <a:xfrm>
            <a:off x="6507328" y="2807208"/>
            <a:ext cx="1463040" cy="365760"/>
          </a:xfrm>
          <a:prstGeom prst="roundRect">
            <a:avLst>
              <a:gd name="adj" fmla="val 20000"/>
            </a:avLst>
          </a:prstGeom>
          <a:solidFill>
            <a:schemeClr val="accent2"/>
          </a:solidFill>
          <a:ln w="12700">
            <a:solidFill>
              <a:schemeClr val="accent2"/>
            </a:solidFill>
            <a:prstDash val="solid"/>
          </a:ln>
        </p:spPr>
      </p:sp>
      <p:sp>
        <p:nvSpPr>
          <p:cNvPr id="25" name="Text 22"/>
          <p:cNvSpPr txBox="1"/>
          <p:nvPr/>
        </p:nvSpPr>
        <p:spPr>
          <a:xfrm>
            <a:off x="6507328" y="2807208"/>
            <a:ext cx="1463040" cy="36576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AI</a:t>
            </a:r>
            <a:endParaRPr lang="ko-KR" altLang="en-US" sz="1200" dirty="0"/>
          </a:p>
        </p:txBody>
      </p:sp>
      <p:sp>
        <p:nvSpPr>
          <p:cNvPr id="26" name="box"/>
          <p:cNvSpPr/>
          <p:nvPr/>
        </p:nvSpPr>
        <p:spPr>
          <a:xfrm>
            <a:off x="6507328" y="3236976"/>
            <a:ext cx="1463040" cy="365760"/>
          </a:xfrm>
          <a:prstGeom prst="roundRect">
            <a:avLst>
              <a:gd name="adj" fmla="val 20000"/>
            </a:avLst>
          </a:prstGeom>
          <a:solidFill>
            <a:schemeClr val="accent2"/>
          </a:solidFill>
          <a:ln w="12700">
            <a:solidFill>
              <a:schemeClr val="accent2"/>
            </a:solidFill>
            <a:prstDash val="solid"/>
          </a:ln>
        </p:spPr>
      </p:sp>
      <p:sp>
        <p:nvSpPr>
          <p:cNvPr id="27" name="Text 24"/>
          <p:cNvSpPr txBox="1"/>
          <p:nvPr/>
        </p:nvSpPr>
        <p:spPr>
          <a:xfrm>
            <a:off x="6507328" y="3236976"/>
            <a:ext cx="1463040" cy="36576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전투</a:t>
            </a:r>
            <a:endParaRPr lang="ko-KR" altLang="en-US" sz="1200" dirty="0"/>
          </a:p>
        </p:txBody>
      </p:sp>
      <p:sp>
        <p:nvSpPr>
          <p:cNvPr id="28" name="Shape 25"/>
          <p:cNvSpPr/>
          <p:nvPr/>
        </p:nvSpPr>
        <p:spPr>
          <a:xfrm>
            <a:off x="8016088" y="2560320"/>
            <a:ext cx="731520" cy="411480"/>
          </a:xfrm>
          <a:prstGeom prst="line">
            <a:avLst/>
          </a:prstGeom>
          <a:noFill/>
          <a:ln w="22225">
            <a:solidFill>
              <a:schemeClr val="accent3"/>
            </a:solidFill>
            <a:prstDash val="solid"/>
            <a:tailEnd type="triangle"/>
          </a:ln>
        </p:spPr>
      </p:sp>
      <p:sp>
        <p:nvSpPr>
          <p:cNvPr id="29" name="Shape 26"/>
          <p:cNvSpPr/>
          <p:nvPr/>
        </p:nvSpPr>
        <p:spPr>
          <a:xfrm flipV="1">
            <a:off x="8016088" y="2971800"/>
            <a:ext cx="731520" cy="18288"/>
          </a:xfrm>
          <a:prstGeom prst="line">
            <a:avLst/>
          </a:prstGeom>
          <a:noFill/>
          <a:ln w="22225">
            <a:solidFill>
              <a:schemeClr val="accent3"/>
            </a:solidFill>
            <a:prstDash val="solid"/>
            <a:tailEnd type="triangle"/>
          </a:ln>
        </p:spPr>
      </p:sp>
      <p:sp>
        <p:nvSpPr>
          <p:cNvPr id="30" name="Shape 27"/>
          <p:cNvSpPr/>
          <p:nvPr/>
        </p:nvSpPr>
        <p:spPr>
          <a:xfrm flipV="1">
            <a:off x="8016088" y="2971800"/>
            <a:ext cx="731520" cy="448056"/>
          </a:xfrm>
          <a:prstGeom prst="line">
            <a:avLst/>
          </a:prstGeom>
          <a:noFill/>
          <a:ln w="22225">
            <a:solidFill>
              <a:schemeClr val="accent3"/>
            </a:solidFill>
            <a:prstDash val="solid"/>
            <a:tailEnd type="triangle"/>
          </a:ln>
        </p:spPr>
      </p:sp>
      <p:sp>
        <p:nvSpPr>
          <p:cNvPr id="31" name="box"/>
          <p:cNvSpPr/>
          <p:nvPr/>
        </p:nvSpPr>
        <p:spPr>
          <a:xfrm>
            <a:off x="8793328" y="2697480"/>
            <a:ext cx="1005840" cy="548640"/>
          </a:xfrm>
          <a:prstGeom prst="roundRect">
            <a:avLst>
              <a:gd name="adj" fmla="val 13333"/>
            </a:avLst>
          </a:prstGeom>
          <a:solidFill>
            <a:schemeClr val="bg1"/>
          </a:solidFill>
          <a:ln w="12700">
            <a:solidFill>
              <a:schemeClr val="bg1"/>
            </a:solidFill>
            <a:prstDash val="solid"/>
          </a:ln>
        </p:spPr>
      </p:sp>
      <p:sp>
        <p:nvSpPr>
          <p:cNvPr id="32" name="Text 29"/>
          <p:cNvSpPr txBox="1"/>
          <p:nvPr/>
        </p:nvSpPr>
        <p:spPr>
          <a:xfrm>
            <a:off x="8793328" y="2697480"/>
            <a:ext cx="1005840"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큐</a:t>
            </a:r>
            <a:endParaRPr lang="ko-KR" altLang="en-US" sz="1300" dirty="0"/>
          </a:p>
        </p:txBody>
      </p:sp>
      <p:sp>
        <p:nvSpPr>
          <p:cNvPr id="33" name="Shape 30"/>
          <p:cNvSpPr/>
          <p:nvPr/>
        </p:nvSpPr>
        <p:spPr>
          <a:xfrm>
            <a:off x="9844888" y="2971800"/>
            <a:ext cx="365760" cy="914"/>
          </a:xfrm>
          <a:prstGeom prst="line">
            <a:avLst/>
          </a:prstGeom>
          <a:noFill/>
          <a:ln w="22225">
            <a:solidFill>
              <a:schemeClr val="accent3"/>
            </a:solidFill>
            <a:prstDash val="solid"/>
            <a:tailEnd type="triangle"/>
          </a:ln>
        </p:spPr>
      </p:sp>
      <p:sp>
        <p:nvSpPr>
          <p:cNvPr id="34" name="box"/>
          <p:cNvSpPr/>
          <p:nvPr/>
        </p:nvSpPr>
        <p:spPr>
          <a:xfrm>
            <a:off x="10256368" y="2697480"/>
            <a:ext cx="1097280" cy="548640"/>
          </a:xfrm>
          <a:prstGeom prst="roundRect">
            <a:avLst>
              <a:gd name="adj" fmla="val 13333"/>
            </a:avLst>
          </a:prstGeom>
          <a:solidFill>
            <a:schemeClr val="bg1"/>
          </a:solidFill>
          <a:ln w="12700">
            <a:solidFill>
              <a:schemeClr val="bg1"/>
            </a:solidFill>
            <a:prstDash val="solid"/>
          </a:ln>
        </p:spPr>
      </p:sp>
      <p:sp>
        <p:nvSpPr>
          <p:cNvPr id="35" name="Text 32"/>
          <p:cNvSpPr txBox="1"/>
          <p:nvPr/>
        </p:nvSpPr>
        <p:spPr>
          <a:xfrm>
            <a:off x="10256368" y="2697480"/>
            <a:ext cx="1097280"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Audio</a:t>
            </a:r>
            <a:endParaRPr lang="ko-KR" altLang="en-US" sz="1300" dirty="0"/>
          </a:p>
        </p:txBody>
      </p:sp>
      <p:sp>
        <p:nvSpPr>
          <p:cNvPr id="36" name="Text 33"/>
          <p:cNvSpPr txBox="1"/>
          <p:nvPr/>
        </p:nvSpPr>
        <p:spPr>
          <a:xfrm>
            <a:off x="6507328" y="3703320"/>
            <a:ext cx="4861408" cy="1920240"/>
          </a:xfrm>
          <a:prstGeom prst="rect">
            <a:avLst/>
          </a:prstGeom>
          <a:noFill/>
          <a:ln/>
        </p:spPr>
        <p:txBody>
          <a:bodyPr wrap="square" lIns="0" tIns="0" rIns="0" bIns="0" rtlCol="0" anchor="t"/>
          <a:lstStyle/>
          <a:p>
            <a:pPr indent="0" marL="0" eaLnBrk="0">
              <a:spcAft>
                <a:spcPts val="600"/>
              </a:spcAft>
              <a:buNone/>
            </a:pPr>
            <a:r>
              <a:rPr lang="ko-KR" altLang="en-US" sz="1400" dirty="0">
                <a:solidFill>
                  <a:schemeClr val="tx2"/>
                </a:solidFill>
              </a:rPr>
              <a:t>오디오 예제와 중앙 이벤트 버스가 이렇다.</a:t>
            </a:r>
            <a:endParaRPr lang="ko-KR" altLang="en-US" sz="1400" dirty="0"/>
          </a:p>
          <a:p>
            <a:pPr indent="0" marL="0" eaLnBrk="0">
              <a:spcAft>
                <a:spcPts val="600"/>
              </a:spcAft>
              <a:buNone/>
            </a:pPr>
            <a:r>
              <a:rPr lang="ko-KR" altLang="en-US" sz="1400" dirty="0">
                <a:solidFill>
                  <a:schemeClr val="tx2"/>
                </a:solidFill>
              </a:rPr>
              <a:t>처리 도중에 또 넣어 순환이 생기기 쉽다.</a:t>
            </a:r>
            <a:endParaRPr lang="ko-KR" altLang="en-US" sz="1400" dirty="0"/>
          </a:p>
          <a:p>
            <a:pPr indent="0" marL="0" eaLnBrk="0">
              <a:spcAft>
                <a:spcPts val="600"/>
              </a:spcAft>
              <a:buNone/>
            </a:pPr>
            <a:r>
              <a:rPr lang="ko-KR" altLang="en-US" sz="1400" dirty="0">
                <a:solidFill>
                  <a:schemeClr val="tx2"/>
                </a:solidFill>
              </a:rPr>
              <a:t>보낸 쪽을 알아야 하면 이벤트에 담는다.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수명</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큐 안의 메시지는 그것을 넣은 호출보다 오래 산다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이벤트 큐는 언제 쓰고, 무엇을 조심해야 할까?</a:t>
            </a:r>
            <a:endParaRPr lang="ko-KR" alt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11680"/>
                <a:gridCol w="3566160"/>
                <a:gridCol w="1737360"/>
                <a:gridCol w="3779215"/>
              </a:tblGrid>
              <a:tr h="457200">
                <a:tc>
                  <a:txBody>
                    <a:bodyPr/>
                    <a:lstStyle/>
                    <a:p>
                      <a:pPr indent="0" marL="0" eaLnBrk="0">
                        <a:buNone/>
                      </a:pPr>
                      <a:r>
                        <a:rPr lang="ko-KR" altLang="en-US" sz="1400" b="1" dirty="0">
                          <a:solidFill>
                            <a:schemeClr val="bg1"/>
                          </a:solidFill>
                        </a:rPr>
                        <a:t>방법</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누가 해제하나</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C++의 도구</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C#에서는</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868680">
                <a:tc>
                  <a:txBody>
                    <a:bodyPr/>
                    <a:lstStyle/>
                    <a:p>
                      <a:pPr indent="0" marL="0" eaLnBrk="0">
                        <a:buNone/>
                      </a:pPr>
                      <a:r>
                        <a:rPr lang="ko-KR" altLang="en-US" sz="1400" b="1" dirty="0">
                          <a:solidFill>
                            <a:schemeClr val="tx1"/>
                          </a:solidFill>
                        </a:rPr>
                        <a:t>소유권 넘기기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넣으면 큐가, 처리하면 받는 쪽이 책임진다.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unique_ptr&lt;T&gt;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가비지 컬렉터가 해제하므로 직접 넘길 일이 거의 없다.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소유권 함께 갖기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참조가 하나라도 남아 있는 동안 살아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shared_ptr&lt;T&gt;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class 객체의 참조가 이렇게 동작한다.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1005840">
                <a:tc>
                  <a:txBody>
                    <a:bodyPr/>
                    <a:lstStyle/>
                    <a:p>
                      <a:pPr indent="0" marL="0" eaLnBrk="0">
                        <a:buNone/>
                      </a:pPr>
                      <a:r>
                        <a:rPr lang="ko-KR" altLang="en-US" sz="1400" b="1" dirty="0">
                          <a:solidFill>
                            <a:schemeClr val="tx1"/>
                          </a:solidFill>
                        </a:rPr>
                        <a:t>큐가 소유하기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보내는 쪽이 큐에게 새 칸을 받아 채운다. 저장소가 객체 풀(Object Pool)이 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직접 만든 배열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PlayMessage struct를 배열 칸에 복사해 두는 오늘 예제가 이에 가깝다.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120640"/>
            <a:ext cx="11094415" cy="548640"/>
          </a:xfrm>
          <a:prstGeom prst="rect">
            <a:avLst/>
          </a:prstGeom>
          <a:noFill/>
          <a:ln/>
        </p:spPr>
        <p:txBody>
          <a:bodyPr wrap="square" lIns="0" tIns="0" rIns="0" bIns="0" rtlCol="0" anchor="t"/>
          <a:lstStyle/>
          <a:p>
            <a:pPr indent="0" marL="0" eaLnBrk="0">
              <a:buNone/>
            </a:pPr>
            <a:r>
              <a:rPr lang="ko-KR" altLang="en-US" sz="1400" b="1" dirty="0">
                <a:solidFill>
                  <a:schemeClr val="accent1"/>
                </a:solidFill>
              </a:rPr>
              <a:t>동기 알림: 받는 쪽이 끝나야 돌아오므로 메시지를 지역 변수에 둬도 된다. 큐: 메시지가 호출보다 오래 산다.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5부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쓸 때와 주의점</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언제 쓸 것인가, 주의사항, 관련 자료</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쓸 때</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시간을 떼어 놓아야 할 때만 큐를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큐를 쓰기로 했다면 무엇을 조심해야 할까?</a:t>
            </a:r>
            <a:endParaRPr lang="ko-KR" altLang="en-US" sz="1500" dirty="0"/>
          </a:p>
        </p:txBody>
      </p:sp>
      <p:sp>
        <p:nvSpPr>
          <p:cNvPr id="6" name="box"/>
          <p:cNvSpPr/>
          <p:nvPr/>
        </p:nvSpPr>
        <p:spPr>
          <a:xfrm>
            <a:off x="548640" y="1828800"/>
            <a:ext cx="2377440" cy="914400"/>
          </a:xfrm>
          <a:prstGeom prst="roundRect">
            <a:avLst>
              <a:gd name="adj" fmla="val 8000"/>
            </a:avLst>
          </a:prstGeom>
          <a:solidFill>
            <a:schemeClr val="accent2"/>
          </a:solidFill>
          <a:ln w="12700">
            <a:solidFill>
              <a:schemeClr val="accent2"/>
            </a:solidFill>
            <a:prstDash val="solid"/>
          </a:ln>
        </p:spPr>
      </p:sp>
      <p:sp>
        <p:nvSpPr>
          <p:cNvPr id="7" name="Text 4"/>
          <p:cNvSpPr txBox="1"/>
          <p:nvPr/>
        </p:nvSpPr>
        <p:spPr>
          <a:xfrm>
            <a:off x="548640" y="1828800"/>
            <a:ext cx="2377440" cy="91440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A: 보내는 쪽</a:t>
            </a:r>
            <a:endParaRPr lang="ko-KR" altLang="en-US" sz="1600" dirty="0"/>
          </a:p>
        </p:txBody>
      </p:sp>
      <p:sp>
        <p:nvSpPr>
          <p:cNvPr id="8" name="box"/>
          <p:cNvSpPr/>
          <p:nvPr/>
        </p:nvSpPr>
        <p:spPr>
          <a:xfrm>
            <a:off x="4892040" y="1828800"/>
            <a:ext cx="2377440" cy="914400"/>
          </a:xfrm>
          <a:prstGeom prst="roundRect">
            <a:avLst>
              <a:gd name="adj" fmla="val 8000"/>
            </a:avLst>
          </a:prstGeom>
          <a:solidFill>
            <a:schemeClr val="bg2"/>
          </a:solidFill>
          <a:ln w="12700">
            <a:solidFill>
              <a:schemeClr val="bg2"/>
            </a:solidFill>
            <a:prstDash val="solid"/>
          </a:ln>
        </p:spPr>
      </p:sp>
      <p:sp>
        <p:nvSpPr>
          <p:cNvPr id="9" name="Text 6"/>
          <p:cNvSpPr txBox="1"/>
          <p:nvPr/>
        </p:nvSpPr>
        <p:spPr>
          <a:xfrm>
            <a:off x="4892040" y="1828800"/>
            <a:ext cx="2377440" cy="914400"/>
          </a:xfrm>
          <a:prstGeom prst="rect">
            <a:avLst/>
          </a:prstGeom>
          <a:noFill/>
          <a:ln/>
        </p:spPr>
        <p:txBody>
          <a:bodyPr wrap="square" lIns="635" tIns="635" rIns="635" bIns="635" rtlCol="0" anchor="ctr"/>
          <a:lstStyle/>
          <a:p>
            <a:pPr algn="ctr" indent="0" marL="0" eaLnBrk="0">
              <a:buNone/>
            </a:pPr>
            <a:r>
              <a:rPr lang="ko-KR" altLang="en-US" sz="1600" b="1" dirty="0">
                <a:solidFill>
                  <a:schemeClr val="tx1"/>
                </a:solidFill>
              </a:rPr>
              <a:t>큐</a:t>
            </a:r>
            <a:endParaRPr lang="ko-KR" altLang="en-US" sz="1600" dirty="0"/>
          </a:p>
        </p:txBody>
      </p:sp>
      <p:sp>
        <p:nvSpPr>
          <p:cNvPr id="10" name="box"/>
          <p:cNvSpPr/>
          <p:nvPr/>
        </p:nvSpPr>
        <p:spPr>
          <a:xfrm>
            <a:off x="9235440" y="1828800"/>
            <a:ext cx="2407615" cy="914400"/>
          </a:xfrm>
          <a:prstGeom prst="roundRect">
            <a:avLst>
              <a:gd name="adj" fmla="val 8000"/>
            </a:avLst>
          </a:prstGeom>
          <a:solidFill>
            <a:schemeClr val="accent1"/>
          </a:solidFill>
          <a:ln w="12700">
            <a:solidFill>
              <a:schemeClr val="accent1"/>
            </a:solidFill>
            <a:prstDash val="solid"/>
          </a:ln>
        </p:spPr>
      </p:sp>
      <p:sp>
        <p:nvSpPr>
          <p:cNvPr id="11" name="Text 8"/>
          <p:cNvSpPr txBox="1"/>
          <p:nvPr/>
        </p:nvSpPr>
        <p:spPr>
          <a:xfrm>
            <a:off x="9235440" y="1828800"/>
            <a:ext cx="2407615" cy="91440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B: 받는 쪽</a:t>
            </a:r>
            <a:endParaRPr lang="ko-KR" altLang="en-US" sz="1600" dirty="0"/>
          </a:p>
        </p:txBody>
      </p:sp>
      <p:sp>
        <p:nvSpPr>
          <p:cNvPr id="12" name="Shape 9"/>
          <p:cNvSpPr/>
          <p:nvPr/>
        </p:nvSpPr>
        <p:spPr>
          <a:xfrm>
            <a:off x="2971800" y="2286000"/>
            <a:ext cx="1874520" cy="914"/>
          </a:xfrm>
          <a:prstGeom prst="line">
            <a:avLst/>
          </a:prstGeom>
          <a:noFill/>
          <a:ln w="31750">
            <a:solidFill>
              <a:schemeClr val="accent2"/>
            </a:solidFill>
            <a:prstDash val="solid"/>
            <a:tailEnd type="triangle"/>
          </a:ln>
        </p:spPr>
      </p:sp>
      <p:sp>
        <p:nvSpPr>
          <p:cNvPr id="13" name="Shape 10"/>
          <p:cNvSpPr/>
          <p:nvPr/>
        </p:nvSpPr>
        <p:spPr>
          <a:xfrm flipH="1">
            <a:off x="7315200" y="2286000"/>
            <a:ext cx="1874520" cy="914"/>
          </a:xfrm>
          <a:prstGeom prst="line">
            <a:avLst/>
          </a:prstGeom>
          <a:noFill/>
          <a:ln w="31750">
            <a:solidFill>
              <a:schemeClr val="accent1"/>
            </a:solidFill>
            <a:prstDash val="solid"/>
            <a:tailEnd type="triangle"/>
          </a:ln>
        </p:spPr>
      </p:sp>
      <p:sp>
        <p:nvSpPr>
          <p:cNvPr id="14" name="Text 11"/>
          <p:cNvSpPr txBox="1"/>
          <p:nvPr/>
        </p:nvSpPr>
        <p:spPr>
          <a:xfrm>
            <a:off x="2971800" y="1874520"/>
            <a:ext cx="1874520" cy="320040"/>
          </a:xfrm>
          <a:prstGeom prst="rect">
            <a:avLst/>
          </a:prstGeom>
          <a:noFill/>
          <a:ln/>
        </p:spPr>
        <p:txBody>
          <a:bodyPr wrap="square" lIns="0" tIns="0" rIns="0" bIns="0" rtlCol="0" anchor="t"/>
          <a:lstStyle/>
          <a:p>
            <a:pPr algn="ctr" indent="0" marL="0" eaLnBrk="0">
              <a:buNone/>
            </a:pPr>
            <a:r>
              <a:rPr lang="ko-KR" altLang="en-US" sz="1300" b="1" dirty="0">
                <a:solidFill>
                  <a:schemeClr val="accent2"/>
                </a:solidFill>
              </a:rPr>
              <a:t>밀어 넣는다</a:t>
            </a:r>
            <a:endParaRPr lang="ko-KR" altLang="en-US" sz="1300" dirty="0"/>
          </a:p>
        </p:txBody>
      </p:sp>
      <p:sp>
        <p:nvSpPr>
          <p:cNvPr id="15" name="Text 12"/>
          <p:cNvSpPr txBox="1"/>
          <p:nvPr/>
        </p:nvSpPr>
        <p:spPr>
          <a:xfrm>
            <a:off x="7315200" y="1874520"/>
            <a:ext cx="1874520" cy="320040"/>
          </a:xfrm>
          <a:prstGeom prst="rect">
            <a:avLst/>
          </a:prstGeom>
          <a:noFill/>
          <a:ln/>
        </p:spPr>
        <p:txBody>
          <a:bodyPr wrap="square" lIns="0" tIns="0" rIns="0" bIns="0" rtlCol="0" anchor="t"/>
          <a:lstStyle/>
          <a:p>
            <a:pPr algn="ctr" indent="0" marL="0" eaLnBrk="0">
              <a:buNone/>
            </a:pPr>
            <a:r>
              <a:rPr lang="ko-KR" altLang="en-US" sz="1300" b="1" dirty="0">
                <a:solidFill>
                  <a:schemeClr val="accent1"/>
                </a:solidFill>
              </a:rPr>
              <a:t>편할 때 끌어온다</a:t>
            </a:r>
            <a:endParaRPr lang="ko-KR" altLang="en-US" sz="1300" dirty="0"/>
          </a:p>
        </p:txBody>
      </p:sp>
      <p:sp>
        <p:nvSpPr>
          <p:cNvPr id="16" name="card"/>
          <p:cNvSpPr/>
          <p:nvPr/>
        </p:nvSpPr>
        <p:spPr>
          <a:xfrm>
            <a:off x="548640" y="3108960"/>
            <a:ext cx="3576218" cy="2606040"/>
          </a:xfrm>
          <a:prstGeom prst="roundRect">
            <a:avLst>
              <a:gd name="adj" fmla="val 3509"/>
            </a:avLst>
          </a:prstGeom>
          <a:solidFill>
            <a:schemeClr val="bg2"/>
          </a:solidFill>
          <a:ln w="12700">
            <a:solidFill>
              <a:schemeClr val="bg2"/>
            </a:solidFill>
            <a:prstDash val="solid"/>
          </a:ln>
        </p:spPr>
      </p:sp>
      <p:sp>
        <p:nvSpPr>
          <p:cNvPr id="17" name="Text 14"/>
          <p:cNvSpPr txBox="1"/>
          <p:nvPr/>
        </p:nvSpPr>
        <p:spPr>
          <a:xfrm>
            <a:off x="777240" y="3328416"/>
            <a:ext cx="316473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받는 쪽만 떼려면</a:t>
            </a:r>
            <a:endParaRPr lang="ko-KR" altLang="en-US" sz="1700" dirty="0"/>
          </a:p>
        </p:txBody>
      </p:sp>
      <p:sp>
        <p:nvSpPr>
          <p:cNvPr id="18" name="Text 15"/>
          <p:cNvSpPr txBox="1"/>
          <p:nvPr/>
        </p:nvSpPr>
        <p:spPr>
          <a:xfrm>
            <a:off x="777240" y="3886200"/>
            <a:ext cx="3119018" cy="16916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관찰자 패턴이나 명령 패턴이 더 단순하다. 큐는 시간까지 떼어야 할 때 쓴다.</a:t>
            </a:r>
            <a:endParaRPr lang="ko-KR" altLang="en-US" sz="1400" dirty="0"/>
          </a:p>
        </p:txBody>
      </p:sp>
      <p:sp>
        <p:nvSpPr>
          <p:cNvPr id="19" name="card"/>
          <p:cNvSpPr/>
          <p:nvPr/>
        </p:nvSpPr>
        <p:spPr>
          <a:xfrm>
            <a:off x="4307738" y="3108960"/>
            <a:ext cx="3576218" cy="2606040"/>
          </a:xfrm>
          <a:prstGeom prst="roundRect">
            <a:avLst>
              <a:gd name="adj" fmla="val 3509"/>
            </a:avLst>
          </a:prstGeom>
          <a:solidFill>
            <a:schemeClr val="bg2"/>
          </a:solidFill>
          <a:ln w="12700">
            <a:solidFill>
              <a:schemeClr val="bg2"/>
            </a:solidFill>
            <a:prstDash val="solid"/>
          </a:ln>
        </p:spPr>
      </p:sp>
      <p:sp>
        <p:nvSpPr>
          <p:cNvPr id="20" name="Text 17"/>
          <p:cNvSpPr txBox="1"/>
          <p:nvPr/>
        </p:nvSpPr>
        <p:spPr>
          <a:xfrm>
            <a:off x="4536338" y="3328416"/>
            <a:ext cx="3164738"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받는 쪽이 얻는 것</a:t>
            </a:r>
            <a:endParaRPr lang="ko-KR" altLang="en-US" sz="1700" dirty="0"/>
          </a:p>
        </p:txBody>
      </p:sp>
      <p:sp>
        <p:nvSpPr>
          <p:cNvPr id="21" name="Text 18"/>
          <p:cNvSpPr txBox="1"/>
          <p:nvPr/>
        </p:nvSpPr>
        <p:spPr>
          <a:xfrm>
            <a:off x="4536338" y="3886200"/>
            <a:ext cx="3119018" cy="16916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처리를 미루고, 요청을 모으고, 아예 버릴 수 있다.</a:t>
            </a:r>
            <a:endParaRPr lang="ko-KR" altLang="en-US" sz="1400" dirty="0"/>
          </a:p>
        </p:txBody>
      </p:sp>
      <p:sp>
        <p:nvSpPr>
          <p:cNvPr id="22" name="card"/>
          <p:cNvSpPr/>
          <p:nvPr/>
        </p:nvSpPr>
        <p:spPr>
          <a:xfrm>
            <a:off x="8066837" y="3108960"/>
            <a:ext cx="3576218" cy="2606040"/>
          </a:xfrm>
          <a:prstGeom prst="roundRect">
            <a:avLst>
              <a:gd name="adj" fmla="val 3509"/>
            </a:avLst>
          </a:prstGeom>
          <a:solidFill>
            <a:schemeClr val="bg2"/>
          </a:solidFill>
          <a:ln w="12700">
            <a:solidFill>
              <a:schemeClr val="bg2"/>
            </a:solidFill>
            <a:prstDash val="solid"/>
          </a:ln>
        </p:spPr>
      </p:sp>
      <p:sp>
        <p:nvSpPr>
          <p:cNvPr id="23" name="Text 20"/>
          <p:cNvSpPr txBox="1"/>
          <p:nvPr/>
        </p:nvSpPr>
        <p:spPr>
          <a:xfrm>
            <a:off x="8295437" y="3328416"/>
            <a:ext cx="3164738"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보내는 쪽이 잃는 것</a:t>
            </a:r>
            <a:endParaRPr lang="ko-KR" altLang="en-US" sz="1700" dirty="0"/>
          </a:p>
        </p:txBody>
      </p:sp>
      <p:sp>
        <p:nvSpPr>
          <p:cNvPr id="24" name="Text 21"/>
          <p:cNvSpPr txBox="1"/>
          <p:nvPr/>
        </p:nvSpPr>
        <p:spPr>
          <a:xfrm>
            <a:off x="8295437" y="3886200"/>
            <a:ext cx="3119018" cy="16916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넣고 기다릴 뿐 결과를 돌려받을 수 없다. 응답이 필요하면 맞지 않는다.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주의점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중앙 큐는 전역 변수이고, 처리할 때 세상은 이미 바뀌어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이벤트끼리 서로를 계속 부르면 어떻게 될까?</a:t>
            </a:r>
            <a:endParaRPr lang="ko-KR" altLang="en-US" sz="1500" dirty="0"/>
          </a:p>
        </p:txBody>
      </p:sp>
      <p:sp>
        <p:nvSpPr>
          <p:cNvPr id="6" name="card"/>
          <p:cNvSpPr/>
          <p:nvPr/>
        </p:nvSpPr>
        <p:spPr>
          <a:xfrm>
            <a:off x="548640" y="1691640"/>
            <a:ext cx="3931920" cy="4023360"/>
          </a:xfrm>
          <a:prstGeom prst="roundRect">
            <a:avLst>
              <a:gd name="adj" fmla="val 2326"/>
            </a:avLst>
          </a:prstGeom>
          <a:solidFill>
            <a:schemeClr val="bg2"/>
          </a:solidFill>
          <a:ln w="12700">
            <a:solidFill>
              <a:schemeClr val="bg2"/>
            </a:solidFill>
            <a:prstDash val="solid"/>
          </a:ln>
        </p:spPr>
      </p:sp>
      <p:sp>
        <p:nvSpPr>
          <p:cNvPr id="7" name="Shape 4"/>
          <p:cNvSpPr/>
          <p:nvPr/>
        </p:nvSpPr>
        <p:spPr>
          <a:xfrm>
            <a:off x="777240" y="189280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911096"/>
            <a:ext cx="297180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중앙 큐는 전역 변수다</a:t>
            </a:r>
            <a:endParaRPr lang="ko-KR" altLang="en-US" sz="1700" dirty="0"/>
          </a:p>
        </p:txBody>
      </p:sp>
      <p:sp>
        <p:nvSpPr>
          <p:cNvPr id="10" name="Text 7"/>
          <p:cNvSpPr txBox="1"/>
          <p:nvPr/>
        </p:nvSpPr>
        <p:spPr>
          <a:xfrm>
            <a:off x="777240" y="2468880"/>
            <a:ext cx="3474720" cy="3108960"/>
          </a:xfrm>
          <a:prstGeom prst="rect">
            <a:avLst/>
          </a:prstGeom>
          <a:noFill/>
          <a:ln/>
        </p:spPr>
        <p:txBody>
          <a:bodyPr wrap="square" lIns="0" tIns="0" rIns="0" bIns="0" rtlCol="0" anchor="t"/>
          <a:lstStyle/>
          <a:p>
            <a:pPr indent="0" marL="0" eaLnBrk="0">
              <a:buNone/>
            </a:pPr>
            <a:r>
              <a:rPr lang="ko-KR" altLang="en-US" sz="1400" dirty="0">
                <a:solidFill>
                  <a:schemeClr val="tx2"/>
                </a:solidFill>
              </a:rPr>
              <a:t>모든 시스템이 넣고 꺼내는 큐는 누구나 건드리는 전역 상태다.</a:t>
            </a:r>
            <a:endParaRPr lang="ko-KR" altLang="en-US" sz="1400" dirty="0"/>
          </a:p>
          <a:p>
            <a:pPr indent="0" marL="0" eaLnBrk="0">
              <a:buNone/>
            </a:pPr>
            <a:endParaRPr lang="ko-KR" altLang="en-US" sz="1400" dirty="0"/>
          </a:p>
          <a:p>
            <a:pPr indent="0" marL="0" eaLnBrk="0">
              <a:buNone/>
            </a:pPr>
            <a:r>
              <a:rPr lang="ko-KR" altLang="en-US" sz="1400" dirty="0">
                <a:solidFill>
                  <a:schemeClr val="tx2"/>
                </a:solidFill>
              </a:rPr>
              <a:t>프로토콜로 감쌌을 뿐 숨은 의존이 생기는 위험은 그대로다.</a:t>
            </a:r>
            <a:endParaRPr lang="ko-KR" altLang="en-US" sz="1400" dirty="0"/>
          </a:p>
        </p:txBody>
      </p:sp>
      <p:sp>
        <p:nvSpPr>
          <p:cNvPr id="11" name="card"/>
          <p:cNvSpPr/>
          <p:nvPr/>
        </p:nvSpPr>
        <p:spPr>
          <a:xfrm>
            <a:off x="4754880" y="1691640"/>
            <a:ext cx="6888175" cy="4023360"/>
          </a:xfrm>
          <a:prstGeom prst="roundRect">
            <a:avLst>
              <a:gd name="adj" fmla="val 2273"/>
            </a:avLst>
          </a:prstGeom>
          <a:solidFill>
            <a:schemeClr val="bg2"/>
          </a:solidFill>
          <a:ln w="12700">
            <a:solidFill>
              <a:schemeClr val="bg2"/>
            </a:solidFill>
            <a:prstDash val="solid"/>
          </a:ln>
        </p:spPr>
      </p:sp>
      <p:sp>
        <p:nvSpPr>
          <p:cNvPr id="12" name="Shape 9"/>
          <p:cNvSpPr/>
          <p:nvPr/>
        </p:nvSpPr>
        <p:spPr>
          <a:xfrm>
            <a:off x="4983480" y="189280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498348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5532120" y="1911096"/>
            <a:ext cx="59280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처리할 때 세상은 바뀌어 있다</a:t>
            </a:r>
            <a:endParaRPr lang="ko-KR" altLang="en-US" sz="1700" dirty="0"/>
          </a:p>
        </p:txBody>
      </p:sp>
      <p:sp>
        <p:nvSpPr>
          <p:cNvPr id="15" name="box"/>
          <p:cNvSpPr/>
          <p:nvPr/>
        </p:nvSpPr>
        <p:spPr>
          <a:xfrm>
            <a:off x="5029200" y="2514600"/>
            <a:ext cx="2103120" cy="777240"/>
          </a:xfrm>
          <a:prstGeom prst="roundRect">
            <a:avLst>
              <a:gd name="adj" fmla="val 9412"/>
            </a:avLst>
          </a:prstGeom>
          <a:solidFill>
            <a:schemeClr val="accent2"/>
          </a:solidFill>
          <a:ln w="12700">
            <a:solidFill>
              <a:schemeClr val="accent2"/>
            </a:solidFill>
            <a:prstDash val="solid"/>
          </a:ln>
        </p:spPr>
      </p:sp>
      <p:sp>
        <p:nvSpPr>
          <p:cNvPr id="16" name="Text 13"/>
          <p:cNvSpPr txBox="1"/>
          <p:nvPr/>
        </p:nvSpPr>
        <p:spPr>
          <a:xfrm>
            <a:off x="5029200" y="2514600"/>
            <a:ext cx="2103120" cy="7772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N 프레임</a:t>
            </a:r>
            <a:endParaRPr lang="ko-KR" altLang="en-US" sz="1300" dirty="0"/>
          </a:p>
          <a:p>
            <a:pPr algn="ctr" indent="0" marL="0" eaLnBrk="0">
              <a:buNone/>
            </a:pPr>
            <a:r>
              <a:rPr lang="ko-KR" altLang="en-US" sz="1300" b="1" dirty="0">
                <a:solidFill>
                  <a:schemeClr val="bg1"/>
                </a:solidFill>
              </a:rPr>
              <a:t>하수인 사망 이벤트</a:t>
            </a:r>
            <a:endParaRPr lang="ko-KR" altLang="en-US" sz="1300" dirty="0"/>
          </a:p>
        </p:txBody>
      </p:sp>
      <p:sp>
        <p:nvSpPr>
          <p:cNvPr id="17" name="box"/>
          <p:cNvSpPr/>
          <p:nvPr/>
        </p:nvSpPr>
        <p:spPr>
          <a:xfrm>
            <a:off x="7543800" y="2514600"/>
            <a:ext cx="2103120" cy="777240"/>
          </a:xfrm>
          <a:prstGeom prst="roundRect">
            <a:avLst>
              <a:gd name="adj" fmla="val 9412"/>
            </a:avLst>
          </a:prstGeom>
          <a:solidFill>
            <a:schemeClr val="bg1"/>
          </a:solidFill>
          <a:ln w="19050">
            <a:solidFill>
              <a:schemeClr val="accent6"/>
            </a:solidFill>
            <a:prstDash val="dash"/>
          </a:ln>
        </p:spPr>
      </p:sp>
      <p:sp>
        <p:nvSpPr>
          <p:cNvPr id="18" name="Text 15"/>
          <p:cNvSpPr txBox="1"/>
          <p:nvPr/>
        </p:nvSpPr>
        <p:spPr>
          <a:xfrm>
            <a:off x="7543800" y="2514600"/>
            <a:ext cx="2103120" cy="777240"/>
          </a:xfrm>
          <a:prstGeom prst="rect">
            <a:avLst/>
          </a:prstGeom>
          <a:noFill/>
          <a:ln/>
        </p:spPr>
        <p:txBody>
          <a:bodyPr wrap="square" lIns="635" tIns="635" rIns="635" bIns="635" rtlCol="0" anchor="ctr"/>
          <a:lstStyle/>
          <a:p>
            <a:pPr algn="ctr" indent="0" marL="0" eaLnBrk="0">
              <a:buNone/>
            </a:pPr>
            <a:r>
              <a:rPr lang="ko-KR" altLang="en-US" sz="1300" b="1" dirty="0">
                <a:solidFill>
                  <a:schemeClr val="accent6"/>
                </a:solidFill>
              </a:rPr>
              <a:t>그 사이</a:t>
            </a:r>
            <a:endParaRPr lang="ko-KR" altLang="en-US" sz="1300" dirty="0"/>
          </a:p>
          <a:p>
            <a:pPr algn="ctr" indent="0" marL="0" eaLnBrk="0">
              <a:buNone/>
            </a:pPr>
            <a:r>
              <a:rPr lang="ko-KR" altLang="en-US" sz="1300" b="1" dirty="0">
                <a:solidFill>
                  <a:schemeClr val="accent6"/>
                </a:solidFill>
              </a:rPr>
              <a:t>개체 해제, 적 이동</a:t>
            </a:r>
            <a:endParaRPr lang="ko-KR" altLang="en-US" sz="1300" dirty="0"/>
          </a:p>
        </p:txBody>
      </p:sp>
      <p:sp>
        <p:nvSpPr>
          <p:cNvPr id="19" name="box"/>
          <p:cNvSpPr/>
          <p:nvPr/>
        </p:nvSpPr>
        <p:spPr>
          <a:xfrm>
            <a:off x="10058400" y="2514600"/>
            <a:ext cx="1310335" cy="777240"/>
          </a:xfrm>
          <a:prstGeom prst="roundRect">
            <a:avLst>
              <a:gd name="adj" fmla="val 9412"/>
            </a:avLst>
          </a:prstGeom>
          <a:solidFill>
            <a:schemeClr val="accent1"/>
          </a:solidFill>
          <a:ln w="12700">
            <a:solidFill>
              <a:schemeClr val="accent1"/>
            </a:solidFill>
            <a:prstDash val="solid"/>
          </a:ln>
        </p:spPr>
      </p:sp>
      <p:sp>
        <p:nvSpPr>
          <p:cNvPr id="20" name="Text 17"/>
          <p:cNvSpPr txBox="1"/>
          <p:nvPr/>
        </p:nvSpPr>
        <p:spPr>
          <a:xfrm>
            <a:off x="10058400" y="2514600"/>
            <a:ext cx="1310335" cy="7772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N + k 프레임</a:t>
            </a:r>
            <a:endParaRPr lang="ko-KR" altLang="en-US" sz="1300" dirty="0"/>
          </a:p>
          <a:p>
            <a:pPr algn="ctr" indent="0" marL="0" eaLnBrk="0">
              <a:buNone/>
            </a:pPr>
            <a:r>
              <a:rPr lang="ko-KR" altLang="en-US" sz="1300" b="1" dirty="0">
                <a:solidFill>
                  <a:schemeClr val="bg1"/>
                </a:solidFill>
              </a:rPr>
              <a:t>경험치 계산</a:t>
            </a:r>
            <a:endParaRPr lang="ko-KR" altLang="en-US" sz="1300" dirty="0"/>
          </a:p>
        </p:txBody>
      </p:sp>
      <p:sp>
        <p:nvSpPr>
          <p:cNvPr id="21" name="Shape 18"/>
          <p:cNvSpPr/>
          <p:nvPr/>
        </p:nvSpPr>
        <p:spPr>
          <a:xfrm>
            <a:off x="7159752" y="2898648"/>
            <a:ext cx="356616" cy="914"/>
          </a:xfrm>
          <a:prstGeom prst="line">
            <a:avLst/>
          </a:prstGeom>
          <a:noFill/>
          <a:ln w="22225">
            <a:solidFill>
              <a:schemeClr val="accent3"/>
            </a:solidFill>
            <a:prstDash val="solid"/>
            <a:tailEnd type="triangle"/>
          </a:ln>
        </p:spPr>
      </p:sp>
      <p:sp>
        <p:nvSpPr>
          <p:cNvPr id="22" name="Shape 19"/>
          <p:cNvSpPr/>
          <p:nvPr/>
        </p:nvSpPr>
        <p:spPr>
          <a:xfrm>
            <a:off x="9674352" y="2898648"/>
            <a:ext cx="356616" cy="914"/>
          </a:xfrm>
          <a:prstGeom prst="line">
            <a:avLst/>
          </a:prstGeom>
          <a:noFill/>
          <a:ln w="22225">
            <a:solidFill>
              <a:schemeClr val="accent3"/>
            </a:solidFill>
            <a:prstDash val="solid"/>
            <a:tailEnd type="triangle"/>
          </a:ln>
        </p:spPr>
      </p:sp>
      <p:sp>
        <p:nvSpPr>
          <p:cNvPr id="23" name="Text 20"/>
          <p:cNvSpPr txBox="1"/>
          <p:nvPr/>
        </p:nvSpPr>
        <p:spPr>
          <a:xfrm>
            <a:off x="5029200" y="3566160"/>
            <a:ext cx="6339535" cy="2011680"/>
          </a:xfrm>
          <a:prstGeom prst="rect">
            <a:avLst/>
          </a:prstGeom>
          <a:noFill/>
          <a:ln/>
        </p:spPr>
        <p:txBody>
          <a:bodyPr wrap="square" lIns="0" tIns="0" rIns="0" bIns="0" rtlCol="0" anchor="t"/>
          <a:lstStyle/>
          <a:p>
            <a:pPr indent="0" marL="0" eaLnBrk="0">
              <a:spcAft>
                <a:spcPts val="800"/>
              </a:spcAft>
              <a:buNone/>
            </a:pPr>
            <a:r>
              <a:rPr lang="ko-KR" altLang="en-US" sz="1400" b="1" dirty="0">
                <a:solidFill>
                  <a:schemeClr val="tx1"/>
                </a:solidFill>
              </a:rPr>
              <a:t>동기 알림: </a:t>
            </a:r>
            <a:pPr indent="0" marL="0" eaLnBrk="0">
              <a:spcAft>
                <a:spcPts val="800"/>
              </a:spcAft>
              <a:buNone/>
            </a:pPr>
            <a:r>
              <a:rPr lang="ko-KR" altLang="en-US" sz="1400" dirty="0">
                <a:solidFill>
                  <a:schemeClr val="tx2"/>
                </a:solidFill>
              </a:rPr>
              <a:t>무슨 일이 있었다고만 알려도 받는 쪽이 주변을 둘러보면 된다.</a:t>
            </a:r>
            <a:endParaRPr lang="ko-KR" altLang="en-US" sz="1400" dirty="0"/>
          </a:p>
          <a:p>
            <a:pPr indent="0" marL="0" eaLnBrk="0">
              <a:spcAft>
                <a:spcPts val="800"/>
              </a:spcAft>
              <a:buNone/>
            </a:pPr>
            <a:r>
              <a:rPr lang="ko-KR" altLang="en-US" sz="1400" b="1" dirty="0">
                <a:solidFill>
                  <a:schemeClr val="tx1"/>
                </a:solidFill>
              </a:rPr>
              <a:t>큐: </a:t>
            </a:r>
            <a:pPr indent="0" marL="0" eaLnBrk="0">
              <a:spcAft>
                <a:spcPts val="800"/>
              </a:spcAft>
              <a:buNone/>
            </a:pPr>
            <a:r>
              <a:rPr lang="ko-KR" altLang="en-US" sz="1400" dirty="0">
                <a:solidFill>
                  <a:schemeClr val="tx2"/>
                </a:solidFill>
              </a:rPr>
              <a:t>그때의 세부 정보가 사라질 수 있다. 보낼 때 필요한 데이터를 이벤트에 담는다.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피드백 루프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이벤트를 처리하다 이벤트를 보내면 끝없이 주고받을 수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원서는 이벤트 큐와 함께 볼 패턴으로 무엇을 소개할까?</a:t>
            </a:r>
            <a:endParaRPr lang="ko-KR" altLang="en-US" sz="1500" dirty="0"/>
          </a:p>
        </p:txBody>
      </p:sp>
      <p:sp>
        <p:nvSpPr>
          <p:cNvPr id="6" name="box"/>
          <p:cNvSpPr/>
          <p:nvPr/>
        </p:nvSpPr>
        <p:spPr>
          <a:xfrm>
            <a:off x="2103120" y="1737360"/>
            <a:ext cx="2377440" cy="731520"/>
          </a:xfrm>
          <a:prstGeom prst="roundRect">
            <a:avLst>
              <a:gd name="adj" fmla="val 10000"/>
            </a:avLst>
          </a:prstGeom>
          <a:solidFill>
            <a:schemeClr val="accent2"/>
          </a:solidFill>
          <a:ln w="12700">
            <a:solidFill>
              <a:schemeClr val="accent2"/>
            </a:solidFill>
            <a:prstDash val="solid"/>
          </a:ln>
        </p:spPr>
      </p:sp>
      <p:sp>
        <p:nvSpPr>
          <p:cNvPr id="7" name="Text 4"/>
          <p:cNvSpPr txBox="1"/>
          <p:nvPr/>
        </p:nvSpPr>
        <p:spPr>
          <a:xfrm>
            <a:off x="2103120" y="1737360"/>
            <a:ext cx="2377440" cy="7315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1. A가 이벤트를 보낸다</a:t>
            </a:r>
            <a:endParaRPr lang="ko-KR" altLang="en-US" sz="1300" dirty="0"/>
          </a:p>
        </p:txBody>
      </p:sp>
      <p:sp>
        <p:nvSpPr>
          <p:cNvPr id="8" name="box"/>
          <p:cNvSpPr/>
          <p:nvPr/>
        </p:nvSpPr>
        <p:spPr>
          <a:xfrm>
            <a:off x="3977640" y="3063240"/>
            <a:ext cx="2148840" cy="731520"/>
          </a:xfrm>
          <a:prstGeom prst="roundRect">
            <a:avLst>
              <a:gd name="adj" fmla="val 10000"/>
            </a:avLst>
          </a:prstGeom>
          <a:solidFill>
            <a:schemeClr val="accent1"/>
          </a:solidFill>
          <a:ln w="12700">
            <a:solidFill>
              <a:schemeClr val="accent1"/>
            </a:solidFill>
            <a:prstDash val="solid"/>
          </a:ln>
        </p:spPr>
      </p:sp>
      <p:sp>
        <p:nvSpPr>
          <p:cNvPr id="9" name="Text 6"/>
          <p:cNvSpPr txBox="1"/>
          <p:nvPr/>
        </p:nvSpPr>
        <p:spPr>
          <a:xfrm>
            <a:off x="3977640" y="3063240"/>
            <a:ext cx="2148840" cy="7315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2. B가 받고</a:t>
            </a:r>
            <a:endParaRPr lang="ko-KR" altLang="en-US" sz="1300" dirty="0"/>
          </a:p>
          <a:p>
            <a:pPr algn="ctr" indent="0" marL="0" eaLnBrk="0">
              <a:buNone/>
            </a:pPr>
            <a:r>
              <a:rPr lang="ko-KR" altLang="en-US" sz="1300" b="1" dirty="0">
                <a:solidFill>
                  <a:schemeClr val="bg1"/>
                </a:solidFill>
              </a:rPr>
              <a:t>이벤트를 보낸다</a:t>
            </a:r>
            <a:endParaRPr lang="ko-KR" altLang="en-US" sz="1300" dirty="0"/>
          </a:p>
        </p:txBody>
      </p:sp>
      <p:sp>
        <p:nvSpPr>
          <p:cNvPr id="10" name="box"/>
          <p:cNvSpPr/>
          <p:nvPr/>
        </p:nvSpPr>
        <p:spPr>
          <a:xfrm>
            <a:off x="2103120" y="4389120"/>
            <a:ext cx="2377440" cy="731520"/>
          </a:xfrm>
          <a:prstGeom prst="roundRect">
            <a:avLst>
              <a:gd name="adj" fmla="val 10000"/>
            </a:avLst>
          </a:prstGeom>
          <a:solidFill>
            <a:schemeClr val="accent2"/>
          </a:solidFill>
          <a:ln w="12700">
            <a:solidFill>
              <a:schemeClr val="accent2"/>
            </a:solidFill>
            <a:prstDash val="solid"/>
          </a:ln>
        </p:spPr>
      </p:sp>
      <p:sp>
        <p:nvSpPr>
          <p:cNvPr id="11" name="Text 8"/>
          <p:cNvSpPr txBox="1"/>
          <p:nvPr/>
        </p:nvSpPr>
        <p:spPr>
          <a:xfrm>
            <a:off x="2103120" y="4389120"/>
            <a:ext cx="2377440" cy="7315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3. A가 받고</a:t>
            </a:r>
            <a:endParaRPr lang="ko-KR" altLang="en-US" sz="1300" dirty="0"/>
          </a:p>
          <a:p>
            <a:pPr algn="ctr" indent="0" marL="0" eaLnBrk="0">
              <a:buNone/>
            </a:pPr>
            <a:r>
              <a:rPr lang="ko-KR" altLang="en-US" sz="1300" b="1" dirty="0">
                <a:solidFill>
                  <a:schemeClr val="bg1"/>
                </a:solidFill>
              </a:rPr>
              <a:t>또 이벤트를 보낸다</a:t>
            </a:r>
            <a:endParaRPr lang="ko-KR" altLang="en-US" sz="1300" dirty="0"/>
          </a:p>
        </p:txBody>
      </p:sp>
      <p:sp>
        <p:nvSpPr>
          <p:cNvPr id="12" name="box"/>
          <p:cNvSpPr/>
          <p:nvPr/>
        </p:nvSpPr>
        <p:spPr>
          <a:xfrm>
            <a:off x="457200" y="3063240"/>
            <a:ext cx="2148840" cy="731520"/>
          </a:xfrm>
          <a:prstGeom prst="roundRect">
            <a:avLst>
              <a:gd name="adj" fmla="val 10000"/>
            </a:avLst>
          </a:prstGeom>
          <a:solidFill>
            <a:schemeClr val="accent6"/>
          </a:solidFill>
          <a:ln w="12700">
            <a:solidFill>
              <a:schemeClr val="accent6"/>
            </a:solidFill>
            <a:prstDash val="solid"/>
          </a:ln>
        </p:spPr>
      </p:sp>
      <p:sp>
        <p:nvSpPr>
          <p:cNvPr id="13" name="Text 10"/>
          <p:cNvSpPr txBox="1"/>
          <p:nvPr/>
        </p:nvSpPr>
        <p:spPr>
          <a:xfrm>
            <a:off x="457200" y="3063240"/>
            <a:ext cx="2148840" cy="7315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4. 2로 돌아간다</a:t>
            </a:r>
            <a:endParaRPr lang="ko-KR" altLang="en-US" sz="1300" dirty="0"/>
          </a:p>
        </p:txBody>
      </p:sp>
      <p:sp>
        <p:nvSpPr>
          <p:cNvPr id="14" name="Shape 11"/>
          <p:cNvSpPr/>
          <p:nvPr/>
        </p:nvSpPr>
        <p:spPr>
          <a:xfrm>
            <a:off x="4480560" y="2103120"/>
            <a:ext cx="548640" cy="914400"/>
          </a:xfrm>
          <a:prstGeom prst="line">
            <a:avLst/>
          </a:prstGeom>
          <a:noFill/>
          <a:ln w="22225">
            <a:solidFill>
              <a:schemeClr val="accent3"/>
            </a:solidFill>
            <a:prstDash val="solid"/>
            <a:tailEnd type="triangle"/>
          </a:ln>
        </p:spPr>
      </p:sp>
      <p:sp>
        <p:nvSpPr>
          <p:cNvPr id="15" name="Shape 12"/>
          <p:cNvSpPr/>
          <p:nvPr/>
        </p:nvSpPr>
        <p:spPr>
          <a:xfrm flipH="1">
            <a:off x="4480560" y="3840480"/>
            <a:ext cx="548640" cy="914400"/>
          </a:xfrm>
          <a:prstGeom prst="line">
            <a:avLst/>
          </a:prstGeom>
          <a:noFill/>
          <a:ln w="22225">
            <a:solidFill>
              <a:schemeClr val="accent3"/>
            </a:solidFill>
            <a:prstDash val="solid"/>
            <a:tailEnd type="triangle"/>
          </a:ln>
        </p:spPr>
      </p:sp>
      <p:sp>
        <p:nvSpPr>
          <p:cNvPr id="16" name="Shape 13"/>
          <p:cNvSpPr/>
          <p:nvPr/>
        </p:nvSpPr>
        <p:spPr>
          <a:xfrm flipH="1" flipV="1">
            <a:off x="1554480" y="3840480"/>
            <a:ext cx="548640" cy="914400"/>
          </a:xfrm>
          <a:prstGeom prst="line">
            <a:avLst/>
          </a:prstGeom>
          <a:noFill/>
          <a:ln w="22225">
            <a:solidFill>
              <a:schemeClr val="accent3"/>
            </a:solidFill>
            <a:prstDash val="solid"/>
            <a:tailEnd type="triangle"/>
          </a:ln>
        </p:spPr>
      </p:sp>
      <p:sp>
        <p:nvSpPr>
          <p:cNvPr id="17" name="Shape 14"/>
          <p:cNvSpPr/>
          <p:nvPr/>
        </p:nvSpPr>
        <p:spPr>
          <a:xfrm>
            <a:off x="2651760" y="3429000"/>
            <a:ext cx="1280160" cy="914"/>
          </a:xfrm>
          <a:prstGeom prst="line">
            <a:avLst/>
          </a:prstGeom>
          <a:noFill/>
          <a:ln w="22225">
            <a:solidFill>
              <a:schemeClr val="accent6"/>
            </a:solidFill>
            <a:prstDash val="dash"/>
            <a:tailEnd type="triangle"/>
          </a:ln>
        </p:spPr>
      </p:sp>
      <p:sp>
        <p:nvSpPr>
          <p:cNvPr id="18" name="card"/>
          <p:cNvSpPr/>
          <p:nvPr/>
        </p:nvSpPr>
        <p:spPr>
          <a:xfrm>
            <a:off x="6583680" y="1691640"/>
            <a:ext cx="5059375" cy="1234440"/>
          </a:xfrm>
          <a:prstGeom prst="roundRect">
            <a:avLst>
              <a:gd name="adj" fmla="val 7407"/>
            </a:avLst>
          </a:prstGeom>
          <a:solidFill>
            <a:schemeClr val="bg2"/>
          </a:solidFill>
          <a:ln w="12700">
            <a:solidFill>
              <a:schemeClr val="bg2"/>
            </a:solidFill>
            <a:prstDash val="solid"/>
          </a:ln>
        </p:spPr>
      </p:sp>
      <p:sp>
        <p:nvSpPr>
          <p:cNvPr id="19" name="Text 16"/>
          <p:cNvSpPr txBox="1"/>
          <p:nvPr/>
        </p:nvSpPr>
        <p:spPr>
          <a:xfrm>
            <a:off x="6812280" y="1911096"/>
            <a:ext cx="46478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동기 시스템</a:t>
            </a:r>
            <a:endParaRPr lang="ko-KR" altLang="en-US" sz="1700" dirty="0"/>
          </a:p>
        </p:txBody>
      </p:sp>
      <p:sp>
        <p:nvSpPr>
          <p:cNvPr id="20" name="Text 17"/>
          <p:cNvSpPr txBox="1"/>
          <p:nvPr/>
        </p:nvSpPr>
        <p:spPr>
          <a:xfrm>
            <a:off x="8595360" y="1874520"/>
            <a:ext cx="2864815" cy="868680"/>
          </a:xfrm>
          <a:prstGeom prst="rect">
            <a:avLst/>
          </a:prstGeom>
          <a:noFill/>
          <a:ln/>
        </p:spPr>
        <p:txBody>
          <a:bodyPr wrap="square" lIns="0" tIns="0" rIns="0" bIns="0" rtlCol="0" anchor="ctr"/>
          <a:lstStyle/>
          <a:p>
            <a:pPr indent="0" marL="0" eaLnBrk="0">
              <a:buNone/>
            </a:pPr>
            <a:r>
              <a:rPr lang="ko-KR" altLang="en-US" sz="1400" dirty="0">
                <a:solidFill>
                  <a:schemeClr val="tx2"/>
                </a:solidFill>
              </a:rPr>
              <a:t>스택이 넘쳐 바로 멈춘다. 빨리 찾는다.</a:t>
            </a:r>
            <a:endParaRPr lang="ko-KR" altLang="en-US" sz="1400" dirty="0"/>
          </a:p>
        </p:txBody>
      </p:sp>
      <p:sp>
        <p:nvSpPr>
          <p:cNvPr id="21" name="card"/>
          <p:cNvSpPr/>
          <p:nvPr/>
        </p:nvSpPr>
        <p:spPr>
          <a:xfrm>
            <a:off x="6583680" y="3063240"/>
            <a:ext cx="5059375" cy="1234440"/>
          </a:xfrm>
          <a:prstGeom prst="roundRect">
            <a:avLst>
              <a:gd name="adj" fmla="val 7407"/>
            </a:avLst>
          </a:prstGeom>
          <a:solidFill>
            <a:schemeClr val="bg2"/>
          </a:solidFill>
          <a:ln w="12700">
            <a:solidFill>
              <a:schemeClr val="bg2"/>
            </a:solidFill>
            <a:prstDash val="solid"/>
          </a:ln>
        </p:spPr>
      </p:sp>
      <p:sp>
        <p:nvSpPr>
          <p:cNvPr id="22" name="Text 19"/>
          <p:cNvSpPr txBox="1"/>
          <p:nvPr/>
        </p:nvSpPr>
        <p:spPr>
          <a:xfrm>
            <a:off x="6812280" y="3282696"/>
            <a:ext cx="464789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큐</a:t>
            </a:r>
            <a:endParaRPr lang="ko-KR" altLang="en-US" sz="1700" dirty="0"/>
          </a:p>
        </p:txBody>
      </p:sp>
      <p:sp>
        <p:nvSpPr>
          <p:cNvPr id="23" name="Text 20"/>
          <p:cNvSpPr txBox="1"/>
          <p:nvPr/>
        </p:nvSpPr>
        <p:spPr>
          <a:xfrm>
            <a:off x="8595360" y="3154680"/>
            <a:ext cx="2864815" cy="1051560"/>
          </a:xfrm>
          <a:prstGeom prst="rect">
            <a:avLst/>
          </a:prstGeom>
          <a:noFill/>
          <a:ln/>
        </p:spPr>
        <p:txBody>
          <a:bodyPr wrap="square" lIns="0" tIns="0" rIns="0" bIns="0" rtlCol="0" anchor="ctr"/>
          <a:lstStyle/>
          <a:p>
            <a:pPr indent="0" marL="0" eaLnBrk="0">
              <a:buNone/>
            </a:pPr>
            <a:r>
              <a:rPr lang="ko-KR" altLang="en-US" sz="1400" dirty="0">
                <a:solidFill>
                  <a:schemeClr val="tx2"/>
                </a:solidFill>
              </a:rPr>
              <a:t>호출 스택이 풀려 게임은 계속 돈다. 쓸데없는 이벤트가 오가도 늦게 안다.</a:t>
            </a:r>
            <a:endParaRPr lang="ko-KR" altLang="en-US" sz="1400" dirty="0"/>
          </a:p>
        </p:txBody>
      </p:sp>
      <p:sp>
        <p:nvSpPr>
          <p:cNvPr id="24" name="card"/>
          <p:cNvSpPr/>
          <p:nvPr/>
        </p:nvSpPr>
        <p:spPr>
          <a:xfrm>
            <a:off x="6583680" y="4434840"/>
            <a:ext cx="5059375" cy="1280160"/>
          </a:xfrm>
          <a:prstGeom prst="roundRect">
            <a:avLst>
              <a:gd name="adj" fmla="val 7143"/>
            </a:avLst>
          </a:prstGeom>
          <a:solidFill>
            <a:schemeClr val="tx2"/>
          </a:solidFill>
          <a:ln w="12700">
            <a:solidFill>
              <a:schemeClr val="tx2"/>
            </a:solidFill>
            <a:prstDash val="solid"/>
          </a:ln>
        </p:spPr>
      </p:sp>
      <p:sp>
        <p:nvSpPr>
          <p:cNvPr id="25" name="Text 22"/>
          <p:cNvSpPr txBox="1"/>
          <p:nvPr/>
        </p:nvSpPr>
        <p:spPr>
          <a:xfrm>
            <a:off x="6812280" y="4654296"/>
            <a:ext cx="464789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흔한 규칙</a:t>
            </a:r>
            <a:endParaRPr lang="ko-KR" altLang="en-US" sz="1700" dirty="0"/>
          </a:p>
        </p:txBody>
      </p:sp>
      <p:sp>
        <p:nvSpPr>
          <p:cNvPr id="26" name="Text 23"/>
          <p:cNvSpPr txBox="1"/>
          <p:nvPr/>
        </p:nvSpPr>
        <p:spPr>
          <a:xfrm>
            <a:off x="6812280" y="5212080"/>
            <a:ext cx="4602175" cy="365760"/>
          </a:xfrm>
          <a:prstGeom prst="rect">
            <a:avLst/>
          </a:prstGeom>
          <a:noFill/>
          <a:ln/>
        </p:spPr>
        <p:txBody>
          <a:bodyPr wrap="square" lIns="0" tIns="0" rIns="0" bIns="0" rtlCol="0" anchor="t"/>
          <a:lstStyle/>
          <a:p>
            <a:pPr indent="0" marL="0" eaLnBrk="0">
              <a:buNone/>
            </a:pPr>
            <a:r>
              <a:rPr lang="ko-KR" altLang="en-US" sz="1400" dirty="0">
                <a:solidFill>
                  <a:schemeClr val="bg1"/>
                </a:solidFill>
              </a:rPr>
              <a:t>이벤트를 처리하는 코드 안에서 이벤트를 보내지 않는다. 디버그 로그도 남긴다.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관련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원서가 함께 소개하는 패턴들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Unity에서는 이 생각이 어디에 쓰이고 있을까?</a:t>
            </a:r>
            <a:endParaRPr lang="ko-KR" altLang="en-US" sz="1500" dirty="0"/>
          </a:p>
        </p:txBody>
      </p:sp>
      <p:sp>
        <p:nvSpPr>
          <p:cNvPr id="6" name="Shape 3"/>
          <p:cNvSpPr/>
          <p:nvPr/>
        </p:nvSpPr>
        <p:spPr>
          <a:xfrm>
            <a:off x="548640" y="1645920"/>
            <a:ext cx="11094415" cy="612648"/>
          </a:xfrm>
          <a:prstGeom prst="roundRect">
            <a:avLst>
              <a:gd name="adj" fmla="val 11940"/>
            </a:avLst>
          </a:prstGeom>
          <a:solidFill>
            <a:schemeClr val="bg2"/>
          </a:solidFill>
          <a:ln w="12700">
            <a:solidFill>
              <a:schemeClr val="bg2"/>
            </a:solidFill>
            <a:prstDash val="solid"/>
          </a:ln>
        </p:spPr>
      </p:sp>
      <p:sp>
        <p:nvSpPr>
          <p:cNvPr id="7" name="Text 4"/>
          <p:cNvSpPr txBox="1"/>
          <p:nvPr/>
        </p:nvSpPr>
        <p:spPr>
          <a:xfrm>
            <a:off x="777240" y="1645920"/>
            <a:ext cx="3246120" cy="612648"/>
          </a:xfrm>
          <a:prstGeom prst="rect">
            <a:avLst/>
          </a:prstGeom>
          <a:noFill/>
          <a:ln/>
        </p:spPr>
        <p:txBody>
          <a:bodyPr wrap="square" lIns="0" tIns="0" rIns="0" bIns="0" rtlCol="0" anchor="ctr"/>
          <a:lstStyle/>
          <a:p>
            <a:pPr indent="0" marL="0" eaLnBrk="0">
              <a:buNone/>
            </a:pPr>
            <a:r>
              <a:rPr lang="ko-KR" altLang="en-US" sz="1500" b="1" dirty="0">
                <a:solidFill>
                  <a:schemeClr val="tx1"/>
                </a:solidFill>
              </a:rPr>
              <a:t>관찰자(Observer)</a:t>
            </a:r>
            <a:endParaRPr lang="ko-KR" altLang="en-US" sz="1500" dirty="0"/>
          </a:p>
        </p:txBody>
      </p:sp>
      <p:sp>
        <p:nvSpPr>
          <p:cNvPr id="8" name="Shape 5"/>
          <p:cNvSpPr/>
          <p:nvPr/>
        </p:nvSpPr>
        <p:spPr>
          <a:xfrm>
            <a:off x="4069080" y="1796796"/>
            <a:ext cx="685800" cy="310896"/>
          </a:xfrm>
          <a:prstGeom prst="roundRect">
            <a:avLst>
              <a:gd name="adj" fmla="val 23529"/>
            </a:avLst>
          </a:prstGeom>
          <a:solidFill>
            <a:schemeClr val="accent1"/>
          </a:solidFill>
          <a:ln w="12700">
            <a:solidFill>
              <a:schemeClr val="accent1"/>
            </a:solidFill>
            <a:prstDash val="solid"/>
          </a:ln>
        </p:spPr>
      </p:sp>
      <p:sp>
        <p:nvSpPr>
          <p:cNvPr id="9" name="Text 6"/>
          <p:cNvSpPr txBox="1"/>
          <p:nvPr/>
        </p:nvSpPr>
        <p:spPr>
          <a:xfrm>
            <a:off x="4069080" y="1796796"/>
            <a:ext cx="68580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6강</a:t>
            </a:r>
            <a:endParaRPr lang="ko-KR" altLang="en-US" sz="1200" dirty="0"/>
          </a:p>
        </p:txBody>
      </p:sp>
      <p:sp>
        <p:nvSpPr>
          <p:cNvPr id="10" name="Text 7"/>
          <p:cNvSpPr txBox="1"/>
          <p:nvPr/>
        </p:nvSpPr>
        <p:spPr>
          <a:xfrm>
            <a:off x="4937760" y="1645920"/>
            <a:ext cx="6522415" cy="612648"/>
          </a:xfrm>
          <a:prstGeom prst="rect">
            <a:avLst/>
          </a:prstGeom>
          <a:noFill/>
          <a:ln/>
        </p:spPr>
        <p:txBody>
          <a:bodyPr wrap="square" lIns="0" tIns="0" rIns="0" bIns="0" rtlCol="0" anchor="ctr"/>
          <a:lstStyle/>
          <a:p>
            <a:pPr indent="0" marL="0" eaLnBrk="0">
              <a:buNone/>
            </a:pPr>
            <a:r>
              <a:rPr lang="ko-KR" altLang="en-US" sz="1400" dirty="0">
                <a:solidFill>
                  <a:schemeClr val="tx2"/>
                </a:solidFill>
              </a:rPr>
              <a:t>이벤트 큐는 관찰자의 비동기 사촌이다. 알림을 바로 부르지 않고 줄에 넣는다.</a:t>
            </a:r>
            <a:endParaRPr lang="ko-KR" altLang="en-US" sz="1400" dirty="0"/>
          </a:p>
        </p:txBody>
      </p:sp>
      <p:sp>
        <p:nvSpPr>
          <p:cNvPr id="11" name="Shape 8"/>
          <p:cNvSpPr/>
          <p:nvPr/>
        </p:nvSpPr>
        <p:spPr>
          <a:xfrm>
            <a:off x="548640" y="2331720"/>
            <a:ext cx="11094415" cy="612648"/>
          </a:xfrm>
          <a:prstGeom prst="roundRect">
            <a:avLst>
              <a:gd name="adj" fmla="val 11940"/>
            </a:avLst>
          </a:prstGeom>
          <a:solidFill>
            <a:schemeClr val="bg2"/>
          </a:solidFill>
          <a:ln w="12700">
            <a:solidFill>
              <a:schemeClr val="bg2"/>
            </a:solidFill>
            <a:prstDash val="solid"/>
          </a:ln>
        </p:spPr>
      </p:sp>
      <p:sp>
        <p:nvSpPr>
          <p:cNvPr id="12" name="Text 9"/>
          <p:cNvSpPr txBox="1"/>
          <p:nvPr/>
        </p:nvSpPr>
        <p:spPr>
          <a:xfrm>
            <a:off x="777240" y="2331720"/>
            <a:ext cx="3246120" cy="612648"/>
          </a:xfrm>
          <a:prstGeom prst="rect">
            <a:avLst/>
          </a:prstGeom>
          <a:noFill/>
          <a:ln/>
        </p:spPr>
        <p:txBody>
          <a:bodyPr wrap="square" lIns="0" tIns="0" rIns="0" bIns="0" rtlCol="0" anchor="ctr"/>
          <a:lstStyle/>
          <a:p>
            <a:pPr indent="0" marL="0" eaLnBrk="0">
              <a:buNone/>
            </a:pPr>
            <a:r>
              <a:rPr lang="ko-KR" altLang="en-US" sz="1500" b="1" dirty="0">
                <a:solidFill>
                  <a:schemeClr val="tx1"/>
                </a:solidFill>
              </a:rPr>
              <a:t>명령(Command)</a:t>
            </a:r>
            <a:endParaRPr lang="ko-KR" altLang="en-US" sz="1500" dirty="0"/>
          </a:p>
        </p:txBody>
      </p:sp>
      <p:sp>
        <p:nvSpPr>
          <p:cNvPr id="13" name="Shape 10"/>
          <p:cNvSpPr/>
          <p:nvPr/>
        </p:nvSpPr>
        <p:spPr>
          <a:xfrm>
            <a:off x="4069080" y="2482596"/>
            <a:ext cx="685800" cy="310896"/>
          </a:xfrm>
          <a:prstGeom prst="roundRect">
            <a:avLst>
              <a:gd name="adj" fmla="val 23529"/>
            </a:avLst>
          </a:prstGeom>
          <a:solidFill>
            <a:schemeClr val="accent1"/>
          </a:solidFill>
          <a:ln w="12700">
            <a:solidFill>
              <a:schemeClr val="accent1"/>
            </a:solidFill>
            <a:prstDash val="solid"/>
          </a:ln>
        </p:spPr>
      </p:sp>
      <p:sp>
        <p:nvSpPr>
          <p:cNvPr id="14" name="Text 11"/>
          <p:cNvSpPr txBox="1"/>
          <p:nvPr/>
        </p:nvSpPr>
        <p:spPr>
          <a:xfrm>
            <a:off x="4069080" y="2482596"/>
            <a:ext cx="68580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2강</a:t>
            </a:r>
            <a:endParaRPr lang="ko-KR" altLang="en-US" sz="1200" dirty="0"/>
          </a:p>
        </p:txBody>
      </p:sp>
      <p:sp>
        <p:nvSpPr>
          <p:cNvPr id="15" name="Text 12"/>
          <p:cNvSpPr txBox="1"/>
          <p:nvPr/>
        </p:nvSpPr>
        <p:spPr>
          <a:xfrm>
            <a:off x="4937760" y="2331720"/>
            <a:ext cx="6522415" cy="612648"/>
          </a:xfrm>
          <a:prstGeom prst="rect">
            <a:avLst/>
          </a:prstGeom>
          <a:noFill/>
          <a:ln/>
        </p:spPr>
        <p:txBody>
          <a:bodyPr wrap="square" lIns="0" tIns="0" rIns="0" bIns="0" rtlCol="0" anchor="ctr"/>
          <a:lstStyle/>
          <a:p>
            <a:pPr indent="0" marL="0" eaLnBrk="0">
              <a:buNone/>
            </a:pPr>
            <a:r>
              <a:rPr lang="ko-KR" altLang="en-US" sz="1400" dirty="0">
                <a:solidFill>
                  <a:schemeClr val="tx2"/>
                </a:solidFill>
              </a:rPr>
              <a:t>메시지, 곧 요청은 명령이라고도 부른다. 명령도 큐에 넣어 처리할 수 있다.</a:t>
            </a:r>
            <a:endParaRPr lang="ko-KR" altLang="en-US" sz="1400" dirty="0"/>
          </a:p>
        </p:txBody>
      </p:sp>
      <p:sp>
        <p:nvSpPr>
          <p:cNvPr id="16" name="Shape 13"/>
          <p:cNvSpPr/>
          <p:nvPr/>
        </p:nvSpPr>
        <p:spPr>
          <a:xfrm>
            <a:off x="548640" y="3017520"/>
            <a:ext cx="11094415" cy="612648"/>
          </a:xfrm>
          <a:prstGeom prst="roundRect">
            <a:avLst>
              <a:gd name="adj" fmla="val 11940"/>
            </a:avLst>
          </a:prstGeom>
          <a:solidFill>
            <a:schemeClr val="bg2"/>
          </a:solidFill>
          <a:ln w="12700">
            <a:solidFill>
              <a:schemeClr val="bg2"/>
            </a:solidFill>
            <a:prstDash val="solid"/>
          </a:ln>
        </p:spPr>
      </p:sp>
      <p:sp>
        <p:nvSpPr>
          <p:cNvPr id="17" name="Text 14"/>
          <p:cNvSpPr txBox="1"/>
          <p:nvPr/>
        </p:nvSpPr>
        <p:spPr>
          <a:xfrm>
            <a:off x="777240" y="3017520"/>
            <a:ext cx="3246120" cy="612648"/>
          </a:xfrm>
          <a:prstGeom prst="rect">
            <a:avLst/>
          </a:prstGeom>
          <a:noFill/>
          <a:ln/>
        </p:spPr>
        <p:txBody>
          <a:bodyPr wrap="square" lIns="0" tIns="0" rIns="0" bIns="0" rtlCol="0" anchor="ctr"/>
          <a:lstStyle/>
          <a:p>
            <a:pPr indent="0" marL="0" eaLnBrk="0">
              <a:buNone/>
            </a:pPr>
            <a:r>
              <a:rPr lang="ko-KR" altLang="en-US" sz="1500" b="1" dirty="0">
                <a:solidFill>
                  <a:schemeClr val="tx1"/>
                </a:solidFill>
              </a:rPr>
              <a:t>서비스 중개자(Service Locator)</a:t>
            </a:r>
            <a:endParaRPr lang="ko-KR" altLang="en-US" sz="1500" dirty="0"/>
          </a:p>
        </p:txBody>
      </p:sp>
      <p:sp>
        <p:nvSpPr>
          <p:cNvPr id="18" name="Shape 15"/>
          <p:cNvSpPr/>
          <p:nvPr/>
        </p:nvSpPr>
        <p:spPr>
          <a:xfrm>
            <a:off x="4069080" y="3168396"/>
            <a:ext cx="685800" cy="310896"/>
          </a:xfrm>
          <a:prstGeom prst="roundRect">
            <a:avLst>
              <a:gd name="adj" fmla="val 23529"/>
            </a:avLst>
          </a:prstGeom>
          <a:solidFill>
            <a:schemeClr val="accent1"/>
          </a:solidFill>
          <a:ln w="12700">
            <a:solidFill>
              <a:schemeClr val="accent1"/>
            </a:solidFill>
            <a:prstDash val="solid"/>
          </a:ln>
        </p:spPr>
      </p:sp>
      <p:sp>
        <p:nvSpPr>
          <p:cNvPr id="19" name="Text 16"/>
          <p:cNvSpPr txBox="1"/>
          <p:nvPr/>
        </p:nvSpPr>
        <p:spPr>
          <a:xfrm>
            <a:off x="4069080" y="3168396"/>
            <a:ext cx="68580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11강</a:t>
            </a:r>
            <a:endParaRPr lang="ko-KR" altLang="en-US" sz="1200" dirty="0"/>
          </a:p>
        </p:txBody>
      </p:sp>
      <p:sp>
        <p:nvSpPr>
          <p:cNvPr id="20" name="Text 17"/>
          <p:cNvSpPr txBox="1"/>
          <p:nvPr/>
        </p:nvSpPr>
        <p:spPr>
          <a:xfrm>
            <a:off x="4937760" y="3017520"/>
            <a:ext cx="6522415" cy="612648"/>
          </a:xfrm>
          <a:prstGeom prst="rect">
            <a:avLst/>
          </a:prstGeom>
          <a:noFill/>
          <a:ln/>
        </p:spPr>
        <p:txBody>
          <a:bodyPr wrap="square" lIns="0" tIns="0" rIns="0" bIns="0" rtlCol="0" anchor="ctr"/>
          <a:lstStyle/>
          <a:p>
            <a:pPr indent="0" marL="0" eaLnBrk="0">
              <a:buNone/>
            </a:pPr>
            <a:r>
              <a:rPr lang="ko-KR" altLang="en-US" sz="1400" dirty="0">
                <a:solidFill>
                  <a:schemeClr val="tx2"/>
                </a:solidFill>
              </a:rPr>
              <a:t>누가 처리하는지 몰라도 처리만 되면 되는 메시지는 서비스 중개자와 비슷하다.</a:t>
            </a:r>
            <a:endParaRPr lang="ko-KR" altLang="en-US" sz="1400" dirty="0"/>
          </a:p>
        </p:txBody>
      </p:sp>
      <p:sp>
        <p:nvSpPr>
          <p:cNvPr id="21" name="Shape 18"/>
          <p:cNvSpPr/>
          <p:nvPr/>
        </p:nvSpPr>
        <p:spPr>
          <a:xfrm>
            <a:off x="548640" y="3703320"/>
            <a:ext cx="11094415" cy="612648"/>
          </a:xfrm>
          <a:prstGeom prst="roundRect">
            <a:avLst>
              <a:gd name="adj" fmla="val 11940"/>
            </a:avLst>
          </a:prstGeom>
          <a:solidFill>
            <a:schemeClr val="bg2"/>
          </a:solidFill>
          <a:ln w="12700">
            <a:solidFill>
              <a:schemeClr val="bg2"/>
            </a:solidFill>
            <a:prstDash val="solid"/>
          </a:ln>
        </p:spPr>
      </p:sp>
      <p:sp>
        <p:nvSpPr>
          <p:cNvPr id="22" name="Text 19"/>
          <p:cNvSpPr txBox="1"/>
          <p:nvPr/>
        </p:nvSpPr>
        <p:spPr>
          <a:xfrm>
            <a:off x="777240" y="3703320"/>
            <a:ext cx="3246120" cy="612648"/>
          </a:xfrm>
          <a:prstGeom prst="rect">
            <a:avLst/>
          </a:prstGeom>
          <a:noFill/>
          <a:ln/>
        </p:spPr>
        <p:txBody>
          <a:bodyPr wrap="square" lIns="0" tIns="0" rIns="0" bIns="0" rtlCol="0" anchor="ctr"/>
          <a:lstStyle/>
          <a:p>
            <a:pPr indent="0" marL="0" eaLnBrk="0">
              <a:buNone/>
            </a:pPr>
            <a:r>
              <a:rPr lang="ko-KR" altLang="en-US" sz="1500" b="1" dirty="0">
                <a:solidFill>
                  <a:schemeClr val="tx1"/>
                </a:solidFill>
              </a:rPr>
              <a:t>상태(State)</a:t>
            </a:r>
            <a:endParaRPr lang="ko-KR" altLang="en-US" sz="1500" dirty="0"/>
          </a:p>
        </p:txBody>
      </p:sp>
      <p:sp>
        <p:nvSpPr>
          <p:cNvPr id="23" name="Shape 20"/>
          <p:cNvSpPr/>
          <p:nvPr/>
        </p:nvSpPr>
        <p:spPr>
          <a:xfrm>
            <a:off x="4069080" y="3854196"/>
            <a:ext cx="685800" cy="310896"/>
          </a:xfrm>
          <a:prstGeom prst="roundRect">
            <a:avLst>
              <a:gd name="adj" fmla="val 23529"/>
            </a:avLst>
          </a:prstGeom>
          <a:solidFill>
            <a:schemeClr val="accent1"/>
          </a:solidFill>
          <a:ln w="12700">
            <a:solidFill>
              <a:schemeClr val="accent1"/>
            </a:solidFill>
            <a:prstDash val="solid"/>
          </a:ln>
        </p:spPr>
      </p:sp>
      <p:sp>
        <p:nvSpPr>
          <p:cNvPr id="24" name="Text 21"/>
          <p:cNvSpPr txBox="1"/>
          <p:nvPr/>
        </p:nvSpPr>
        <p:spPr>
          <a:xfrm>
            <a:off x="4069080" y="3854196"/>
            <a:ext cx="68580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4강</a:t>
            </a:r>
            <a:endParaRPr lang="ko-KR" altLang="en-US" sz="1200" dirty="0"/>
          </a:p>
        </p:txBody>
      </p:sp>
      <p:sp>
        <p:nvSpPr>
          <p:cNvPr id="25" name="Text 22"/>
          <p:cNvSpPr txBox="1"/>
          <p:nvPr/>
        </p:nvSpPr>
        <p:spPr>
          <a:xfrm>
            <a:off x="4937760" y="3703320"/>
            <a:ext cx="6522415" cy="612648"/>
          </a:xfrm>
          <a:prstGeom prst="rect">
            <a:avLst/>
          </a:prstGeom>
          <a:noFill/>
          <a:ln/>
        </p:spPr>
        <p:txBody>
          <a:bodyPr wrap="square" lIns="0" tIns="0" rIns="0" bIns="0" rtlCol="0" anchor="ctr"/>
          <a:lstStyle/>
          <a:p>
            <a:pPr indent="0" marL="0" eaLnBrk="0">
              <a:buNone/>
            </a:pPr>
            <a:r>
              <a:rPr lang="ko-KR" altLang="en-US" sz="1400" dirty="0">
                <a:solidFill>
                  <a:schemeClr val="tx2"/>
                </a:solidFill>
              </a:rPr>
              <a:t>상태 기계에 들어오는 입력을 큐에 넣고, 상태 기계끼리 메시지를 주고받으면 액터 모델이 된다.</a:t>
            </a:r>
            <a:endParaRPr lang="ko-KR" altLang="en-US" sz="1400" dirty="0"/>
          </a:p>
        </p:txBody>
      </p:sp>
      <p:sp>
        <p:nvSpPr>
          <p:cNvPr id="26" name="Shape 23"/>
          <p:cNvSpPr/>
          <p:nvPr/>
        </p:nvSpPr>
        <p:spPr>
          <a:xfrm>
            <a:off x="548640" y="4389120"/>
            <a:ext cx="11094415" cy="612648"/>
          </a:xfrm>
          <a:prstGeom prst="roundRect">
            <a:avLst>
              <a:gd name="adj" fmla="val 11940"/>
            </a:avLst>
          </a:prstGeom>
          <a:solidFill>
            <a:schemeClr val="bg2"/>
          </a:solidFill>
          <a:ln w="12700">
            <a:solidFill>
              <a:schemeClr val="bg2"/>
            </a:solidFill>
            <a:prstDash val="solid"/>
          </a:ln>
        </p:spPr>
      </p:sp>
      <p:sp>
        <p:nvSpPr>
          <p:cNvPr id="27" name="Text 24"/>
          <p:cNvSpPr txBox="1"/>
          <p:nvPr/>
        </p:nvSpPr>
        <p:spPr>
          <a:xfrm>
            <a:off x="777240" y="4389120"/>
            <a:ext cx="3246120" cy="612648"/>
          </a:xfrm>
          <a:prstGeom prst="rect">
            <a:avLst/>
          </a:prstGeom>
          <a:noFill/>
          <a:ln/>
        </p:spPr>
        <p:txBody>
          <a:bodyPr wrap="square" lIns="0" tIns="0" rIns="0" bIns="0" rtlCol="0" anchor="ctr"/>
          <a:lstStyle/>
          <a:p>
            <a:pPr indent="0" marL="0" eaLnBrk="0">
              <a:buNone/>
            </a:pPr>
            <a:r>
              <a:rPr lang="ko-KR" altLang="en-US" sz="1500" b="1" dirty="0">
                <a:solidFill>
                  <a:schemeClr val="tx1"/>
                </a:solidFill>
              </a:rPr>
              <a:t>객체 풀(Object Pool)</a:t>
            </a:r>
            <a:endParaRPr lang="ko-KR" altLang="en-US" sz="1500" dirty="0"/>
          </a:p>
        </p:txBody>
      </p:sp>
      <p:sp>
        <p:nvSpPr>
          <p:cNvPr id="28" name="Shape 25"/>
          <p:cNvSpPr/>
          <p:nvPr/>
        </p:nvSpPr>
        <p:spPr>
          <a:xfrm>
            <a:off x="4069080" y="4539996"/>
            <a:ext cx="685800" cy="310896"/>
          </a:xfrm>
          <a:prstGeom prst="roundRect">
            <a:avLst>
              <a:gd name="adj" fmla="val 23529"/>
            </a:avLst>
          </a:prstGeom>
          <a:solidFill>
            <a:schemeClr val="accent1"/>
          </a:solidFill>
          <a:ln w="12700">
            <a:solidFill>
              <a:schemeClr val="accent1"/>
            </a:solidFill>
            <a:prstDash val="solid"/>
          </a:ln>
        </p:spPr>
      </p:sp>
      <p:sp>
        <p:nvSpPr>
          <p:cNvPr id="29" name="Text 26"/>
          <p:cNvSpPr txBox="1"/>
          <p:nvPr/>
        </p:nvSpPr>
        <p:spPr>
          <a:xfrm>
            <a:off x="4069080" y="4539996"/>
            <a:ext cx="68580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12강</a:t>
            </a:r>
            <a:endParaRPr lang="ko-KR" altLang="en-US" sz="1200" dirty="0"/>
          </a:p>
        </p:txBody>
      </p:sp>
      <p:sp>
        <p:nvSpPr>
          <p:cNvPr id="30" name="Text 27"/>
          <p:cNvSpPr txBox="1"/>
          <p:nvPr/>
        </p:nvSpPr>
        <p:spPr>
          <a:xfrm>
            <a:off x="4937760" y="4389120"/>
            <a:ext cx="6522415" cy="612648"/>
          </a:xfrm>
          <a:prstGeom prst="rect">
            <a:avLst/>
          </a:prstGeom>
          <a:noFill/>
          <a:ln/>
        </p:spPr>
        <p:txBody>
          <a:bodyPr wrap="square" lIns="0" tIns="0" rIns="0" bIns="0" rtlCol="0" anchor="ctr"/>
          <a:lstStyle/>
          <a:p>
            <a:pPr indent="0" marL="0" eaLnBrk="0">
              <a:buNone/>
            </a:pPr>
            <a:r>
              <a:rPr lang="ko-KR" altLang="en-US" sz="1400" dirty="0">
                <a:solidFill>
                  <a:schemeClr val="tx2"/>
                </a:solidFill>
              </a:rPr>
              <a:t>큐가 메시지를 소유할 때 큐의 저장소가 객체 풀이 된다.</a:t>
            </a:r>
            <a:endParaRPr lang="ko-KR" altLang="en-US" sz="1400" dirty="0"/>
          </a:p>
        </p:txBody>
      </p:sp>
      <p:sp>
        <p:nvSpPr>
          <p:cNvPr id="31" name="Shape 28"/>
          <p:cNvSpPr/>
          <p:nvPr/>
        </p:nvSpPr>
        <p:spPr>
          <a:xfrm>
            <a:off x="548640" y="5074920"/>
            <a:ext cx="11094415" cy="612648"/>
          </a:xfrm>
          <a:prstGeom prst="roundRect">
            <a:avLst>
              <a:gd name="adj" fmla="val 11940"/>
            </a:avLst>
          </a:prstGeom>
          <a:solidFill>
            <a:schemeClr val="bg2"/>
          </a:solidFill>
          <a:ln w="12700">
            <a:solidFill>
              <a:schemeClr val="bg2"/>
            </a:solidFill>
            <a:prstDash val="solid"/>
          </a:ln>
        </p:spPr>
      </p:sp>
      <p:sp>
        <p:nvSpPr>
          <p:cNvPr id="32" name="Text 29"/>
          <p:cNvSpPr txBox="1"/>
          <p:nvPr/>
        </p:nvSpPr>
        <p:spPr>
          <a:xfrm>
            <a:off x="777240" y="5074920"/>
            <a:ext cx="3246120" cy="612648"/>
          </a:xfrm>
          <a:prstGeom prst="rect">
            <a:avLst/>
          </a:prstGeom>
          <a:noFill/>
          <a:ln/>
        </p:spPr>
        <p:txBody>
          <a:bodyPr wrap="square" lIns="0" tIns="0" rIns="0" bIns="0" rtlCol="0" anchor="ctr"/>
          <a:lstStyle/>
          <a:p>
            <a:pPr indent="0" marL="0" eaLnBrk="0">
              <a:buNone/>
            </a:pPr>
            <a:r>
              <a:rPr lang="ko-KR" altLang="en-US" sz="1500" b="1" dirty="0">
                <a:solidFill>
                  <a:schemeClr val="tx1"/>
                </a:solidFill>
              </a:rPr>
              <a:t>메시지 큐, 발행과 구독</a:t>
            </a:r>
            <a:endParaRPr lang="ko-KR" altLang="en-US" sz="1500" dirty="0"/>
          </a:p>
        </p:txBody>
      </p:sp>
      <p:sp>
        <p:nvSpPr>
          <p:cNvPr id="33" name="Text 30"/>
          <p:cNvSpPr txBox="1"/>
          <p:nvPr/>
        </p:nvSpPr>
        <p:spPr>
          <a:xfrm>
            <a:off x="4937760" y="5074920"/>
            <a:ext cx="6522415" cy="612648"/>
          </a:xfrm>
          <a:prstGeom prst="rect">
            <a:avLst/>
          </a:prstGeom>
          <a:noFill/>
          <a:ln/>
        </p:spPr>
        <p:txBody>
          <a:bodyPr wrap="square" lIns="0" tIns="0" rIns="0" bIns="0" rtlCol="0" anchor="ctr"/>
          <a:lstStyle/>
          <a:p>
            <a:pPr indent="0" marL="0" eaLnBrk="0">
              <a:buNone/>
            </a:pPr>
            <a:r>
              <a:rPr lang="ko-KR" altLang="en-US" sz="1400" dirty="0">
                <a:solidFill>
                  <a:schemeClr val="tx2"/>
                </a:solidFill>
              </a:rPr>
              <a:t>같은 생각을 프로그램 사이의 통신에 쓴다. Go 언어의 채널도 사실상 이벤트 큐다.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Unity와 C#에도 큐로 시간을 떼어 놓는 곳이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마지막으로 오늘 내용을 질문으로 확인해 보자.</a:t>
            </a:r>
            <a:endParaRPr lang="ko-KR" altLang="en-US" sz="15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291840"/>
                <a:gridCol w="7802575"/>
              </a:tblGrid>
              <a:tr h="438912">
                <a:tc>
                  <a:txBody>
                    <a:bodyPr/>
                    <a:lstStyle/>
                    <a:p>
                      <a:pPr indent="0" marL="0" eaLnBrk="0">
                        <a:buNone/>
                      </a:pPr>
                      <a:r>
                        <a:rPr lang="ko-KR" altLang="en-US" sz="1400" b="1" dirty="0">
                          <a:solidFill>
                            <a:schemeClr val="bg1"/>
                          </a:solidFill>
                        </a:rPr>
                        <a:t>Unity · C# 기능</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이벤트 큐와의 관계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713232">
                <a:tc>
                  <a:txBody>
                    <a:bodyPr/>
                    <a:lstStyle/>
                    <a:p>
                      <a:pPr indent="0" marL="0" eaLnBrk="0">
                        <a:buNone/>
                      </a:pPr>
                      <a:r>
                        <a:rPr lang="ko-KR" altLang="en-US" sz="1400" b="1" dirty="0">
                          <a:solidFill>
                            <a:schemeClr val="tx1"/>
                          </a:solidFill>
                        </a:rPr>
                        <a:t>Input System의 입력 이벤트</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장치 입력을 이벤트 버퍼에 모아 두었다가 프레임마다 처리한다. (1부의 GUI 이벤트 루프)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40080">
                <a:tc>
                  <a:txBody>
                    <a:bodyPr/>
                    <a:lstStyle/>
                    <a:p>
                      <a:pPr indent="0" marL="0" eaLnBrk="0">
                        <a:buNone/>
                      </a:pPr>
                      <a:r>
                        <a:rPr lang="ko-KR" altLang="en-US" sz="1400" b="1" dirty="0">
                          <a:solidFill>
                            <a:schemeClr val="tx1"/>
                          </a:solidFill>
                        </a:rPr>
                        <a:t>Queue&lt;T&gt;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내부가 원형 배열이다. 가득 차면 더 큰 배열로 옮겨 담는다. (2부의 원형 버퍼)</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40080">
                <a:tc>
                  <a:txBody>
                    <a:bodyPr/>
                    <a:lstStyle/>
                    <a:p>
                      <a:pPr indent="0" marL="0" eaLnBrk="0">
                        <a:buNone/>
                      </a:pPr>
                      <a:r>
                        <a:rPr lang="ko-KR" altLang="en-US" sz="1400" b="1" dirty="0">
                          <a:solidFill>
                            <a:schemeClr val="tx1"/>
                          </a:solidFill>
                        </a:rPr>
                        <a:t>ConcurrentQueue&lt;T&gt;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여러 스레드가 동시에 넣고 꺼내도 안전한 큐다. (3부의 스레드)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40080">
                <a:tc>
                  <a:txBody>
                    <a:bodyPr/>
                    <a:lstStyle/>
                    <a:p>
                      <a:pPr indent="0" marL="0" eaLnBrk="0">
                        <a:buNone/>
                      </a:pPr>
                      <a:r>
                        <a:rPr lang="ko-KR" altLang="en-US" sz="1400" b="1" dirty="0">
                          <a:solidFill>
                            <a:schemeClr val="tx1"/>
                          </a:solidFill>
                        </a:rPr>
                        <a:t>UnitySynchronizationContext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다른 스레드에서 넘긴 작업을 큐에 모았다가 메인 스레드에서 실행한다.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40080">
                <a:tc>
                  <a:txBody>
                    <a:bodyPr/>
                    <a:lstStyle/>
                    <a:p>
                      <a:pPr indent="0" marL="0" eaLnBrk="0">
                        <a:buNone/>
                      </a:pPr>
                      <a:r>
                        <a:rPr lang="ko-KR" altLang="en-US" sz="1400" b="1" dirty="0">
                          <a:solidFill>
                            <a:schemeClr val="tx1"/>
                          </a:solidFill>
                        </a:rPr>
                        <a:t>C#의 event, UnityEvent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큐가 아니다. 그 자리에서 바로 부르는 동기 알림이므로 관찰자에 해당한다.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34</a:t>
            </a:fld>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확인 질문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질문으로 다시 정리한다</a:t>
            </a:r>
            <a:endParaRPr lang="ko-KR" alt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120640"/>
                <a:gridCol w="5973775"/>
              </a:tblGrid>
              <a:tr h="457200">
                <a:tc>
                  <a:txBody>
                    <a:bodyPr/>
                    <a:lstStyle/>
                    <a:p>
                      <a:pPr indent="0" marL="0" eaLnBrk="0">
                        <a:buNone/>
                      </a:pPr>
                      <a:r>
                        <a:rPr lang="ko-KR" altLang="en-US" sz="1500" b="1" dirty="0">
                          <a:solidFill>
                            <a:schemeClr val="bg1"/>
                          </a:solidFill>
                        </a:rPr>
                        <a:t>질문</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답</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58368">
                <a:tc>
                  <a:txBody>
                    <a:bodyPr/>
                    <a:lstStyle/>
                    <a:p>
                      <a:pPr indent="0" marL="0" eaLnBrk="0">
                        <a:buNone/>
                      </a:pPr>
                      <a:r>
                        <a:rPr lang="ko-KR" altLang="en-US" sz="1500" b="1" dirty="0">
                          <a:solidFill>
                            <a:schemeClr val="tx1"/>
                          </a:solidFill>
                        </a:rPr>
                        <a:t>이벤트 큐 패턴을 한 문장으로 말하면?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요청을 보내는 시점과 처리하는 시점을 큐로 떼어 놓는다.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바로 재생하는 PlaySound의 세 가지 문제는?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호출한 쪽이 멈춘다. 요청을 모아 다룰 수 없다. 잘못된 스레드에서 처리된다.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크기 4, head 2, tail 3에서 요청을 하나 넣으면 tail은?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(3 + 1) % 4 = 0. 0번 칸으로 감긴다. head == tail이면 큐가 비었다는 뜻이다.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비명을 볼륨 50, 80으로 연달아 요청하면 큐에는?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비명 하나, 볼륨 80. 넣을 때 이미 있는 요청과 합친다.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관찰자 대신 큐를 써야 할 때와 피할 때는?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시간을 떼어 놓아야 할 때 쓴다. 보낸 쪽이 응답을 받아야 하면 피한다.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70448"/>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다음 강의  </a:t>
            </a:r>
            <a:pPr indent="0" marL="0" eaLnBrk="0">
              <a:buNone/>
            </a:pPr>
            <a:r>
              <a:rPr lang="ko-KR" altLang="en-US" sz="1500" dirty="0">
                <a:solidFill>
                  <a:schemeClr val="tx2"/>
                </a:solidFill>
              </a:rPr>
              <a:t>서비스 중개자(Service Locator) 패턴: 구현 클래스를 몰라도 서비스를 찾아 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35</a:t>
            </a:fld>
            <a:endParaRPr lang="ko-KR" altLang="en-US"/>
          </a:p>
        </p:txBody>
      </p:sp>
    </p:spTree>
  </p:cSld>
  <p:clrMapOvr>
    <a:masterClrMapping/>
  </p:clrMapOvr>
</p:sld>
</file>

<file path=ppt/theme/theme1.xml><?xml version="1.0" encoding="utf-8"?>
<a:theme xmlns:a="http://schemas.openxmlformats.org/drawingml/2006/main" name="Patterns Lecture">
  <a:themeElements>
    <a:clrScheme name="Patterns Lecture">
      <a:dk1>
        <a:srgbClr val="1F2430"/>
      </a:dk1>
      <a:lt1>
        <a:srgbClr val="FFFFFF"/>
      </a:lt1>
      <a:dk2>
        <a:srgbClr val="2B2D42"/>
      </a:dk2>
      <a:lt2>
        <a:srgbClr val="F1F3F6"/>
      </a:lt2>
      <a:accent1>
        <a:srgbClr val="E07A3F"/>
      </a:accent1>
      <a:accent2>
        <a:srgbClr val="2A9D8F"/>
      </a:accent2>
      <a:accent3>
        <a:srgbClr val="8D99AE"/>
      </a:accent3>
      <a:accent4>
        <a:srgbClr val="E9C46A"/>
      </a:accent4>
      <a:accent5>
        <a:srgbClr val="5C6577"/>
      </a:accent5>
      <a:accent6>
        <a:srgbClr val="C44536"/>
      </a:accent6>
      <a:hlink>
        <a:srgbClr val="2A9D8F"/>
      </a:hlink>
      <a:folHlink>
        <a:srgbClr val="5C6577"/>
      </a:folHlink>
    </a:clrScheme>
    <a:fontScheme name="Pattern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10강 이벤트 큐(Event Queue) 패턴</dc:title>
  <dc:subject>PptxGenJS Presentation</dc:subject>
  <dc:creator>Mini Tactics 패턴 수업</dc:creator>
  <cp:lastModifiedBy>Mini Tactics 패턴 수업</cp:lastModifiedBy>
  <cp:revision>1</cp:revision>
  <dcterms:created xsi:type="dcterms:W3CDTF">2026-10-27T07:32:20Z</dcterms:created>
  <dcterms:modified xsi:type="dcterms:W3CDTF">2026-10-27T07:32:20Z</dcterms:modified>
</cp:coreProperties>
</file>