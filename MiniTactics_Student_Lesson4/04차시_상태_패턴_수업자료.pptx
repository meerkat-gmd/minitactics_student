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e80dd10a-b164-80af-b310-64cec85bab29}">
          <p14:sldIdLst>
            <p14:sldId id="256"/>
            <p14:sldId id="257"/>
            <p14:sldId id="258"/>
          </p14:sldIdLst>
        </p14:section>
        <p14:section name="1 · 플래그가 꼬이는 코드" id="{d473fc19-007c-7e92-af9c-abe0432b57c7}">
          <p14:sldIdLst>
            <p14:sldId id="259"/>
            <p14:sldId id="260"/>
            <p14:sldId id="261"/>
            <p14:sldId id="262"/>
            <p14:sldId id="263"/>
          </p14:sldIdLst>
        </p14:section>
        <p14:section name="2 · 유한 상태 기계" id="{96a6f9b6-d587-07a4-d1a5-442731ae0e47}">
          <p14:sldIdLst>
            <p14:sldId id="264"/>
            <p14:sldId id="265"/>
            <p14:sldId id="266"/>
            <p14:sldId id="267"/>
            <p14:sldId id="268"/>
            <p14:sldId id="269"/>
          </p14:sldIdLst>
        </p14:section>
        <p14:section name="3 · 상태 패턴" id="{7bdf3c2d-6bf4-1c00-083c-af53a65806cc}">
          <p14:sldIdLst>
            <p14:sldId id="270"/>
            <p14:sldId id="271"/>
            <p14:sldId id="272"/>
            <p14:sldId id="273"/>
            <p14:sldId id="274"/>
            <p14:sldId id="275"/>
            <p14:sldId id="276"/>
            <p14:sldId id="277"/>
          </p14:sldIdLst>
        </p14:section>
        <p14:section name="4 · 한계와 확장" id="{db0628c7-f4f6-60f6-303d-028b3513623a}">
          <p14:sldIdLst>
            <p14:sldId id="278"/>
            <p14:sldId id="279"/>
            <p14:sldId id="280"/>
            <p14:sldId id="281"/>
            <p14:sldId id="282"/>
          </p14:sldIdLst>
        </p14:section>
        <p14:section name="5 · 쓸 때와 주의점" id="{58a3b5b7-f581-e2d6-c1d2-e13f96c7c73b}">
          <p14:sldIdLst>
            <p14:sldId id="283"/>
            <p14:sldId id="284"/>
            <p14:sldId id="285"/>
            <p14:sldId id="286"/>
          </p14:sldIdLst>
        </p14:section>
        <p14:section name="정리" id="{e5b0c31d-2b43-66cc-30bb-18d159e88959}">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「상태」 장의 순서를 그대로 따라갑니다. 여주인공의 점프 코드가 플래그 때문에 꼬이는 데서 출발해, 유한 상태 기계로 정리하고, 상태 패턴으로 옮긴 뒤, 상태 기계의 한계와 확장까지 살펴봅니다.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상태 장은 상태 패턴만이 아니라 그 바탕인 유한 상태 기계도 함께 설명합니다. 오늘은 다섯 단계로 나눕니다. 플래그로 만든 첫 시도, 유한 상태 기계, 상태 패턴, 상태 기계의 한계와 확장, 그리고 쓸 때와 주의점입니다.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GoF의 정의는 객체의 내부 상태가 바뀌면 행동도 바뀌게 하고, 그 결과 객체의 클래스가 바뀐 것처럼 보이게 한다는 것입니다. 왼쪽처럼 조건문으로 지금 상태를 묻는 대신, 오른쪽처럼 지금 상태를 나타내는 객체에게 일을 맡깁니다. 상태를 바꾸려면 그 객체를 다른 객체로 바꿉니다.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작은 횡스크롤 플랫폼 게임에서 여주인공이 버튼 입력에 반응하게 만드는 일부터 시작합니다. 기능을 하나 더할 때마다 버그가 하나씩 생기는 과정을 따라갑니다.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B 버튼을 누르면 위로 속도를 주고 점프하는 그림으로 바꿉니다. 그런데 공중에서 B를 계속 누르면 여주인공이 계속 떠 있습니다. 공중 점프 버그입니다. 가장 쉬운 해결은 점프 중인지 기억하는 bool 필드 _isJumping을 두는 것입니다. 땅에 닿을 때 이 값을 false로 되돌리는 코드는 원서에서도 생략했습니다.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땅에 있을 때 아래를 누르면 엎드리고, 떼면 일어서게 합니다. 그런데 오른쪽 순서로 입력하면 문제가 생깁니다. 엎드린 채 점프하고, 공중에서 아래를 떼면 점프 도중에 서 있는 그림으로 바뀝니다. 아래를 뗄 때 지금 엎드려 있었는지 확인하지 않기 때문입니다.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_isDucking 플래그를 더해 엎드린 동안에는 점프하지 않고, 엎드렸을 때만 일어서게 합니다. 이어서 점프 중에 아래를 누르면 내려찍기 공격을 하게 합니다. 내려찍을 때 _isJumping을 false로 바꾸므로 B 검사를 다시 통과합니다. 내려찍는 도중에 공중 점프가 다시 가능해집니다. 또 플래그가 필요합니다.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두 플래그의 값과 실제 동작을 표로 맞춰 봅니다. 내려찍기는 서 있기와 값이 같아서 구별되지 않습니다. 둘 다 true인 조합은 어떤 동작에도 해당하지 않습니다. 원서는 복잡한 분기와 시간에 따라 바뀌는 필드가 오류를 잘 만드는 두 가지라고 말합니다. 이 코드에는 둘 다 있습니다. 아직 걷기도 더하지 않았는데 코드를 건드릴 때마다 무언가 깨집니다.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코드를 잠시 덮고 종이에 여주인공이 할 수 있는 일을 상자로 그려 봅니다. 그 그림이 유한 상태 기계입니다.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여주인공이 할 수 있는 일마다 상자를 그립니다. 서 있기, 점프, 엎드리기, 내려찍기입니다. 어떤 상태에서 버튼에 반응할 수 있으면, 그 버튼을 적은 화살표를 바뀔 상태로 긋습니다. 점선은 땅에 닿았을 때의 전환입니다. 원서의 코드에서는 생략했지만, 3부의 진입 동작에서 다시 씁니다. 이렇게 그리면 이미 유한 상태 기계를 만든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유한 상태 기계는 오토마타 이론에서 나온 개념입니다. 같은 계열에 튜링 기계가 있고, 유한 상태 기계는 그중 가장 단순합니다. 규칙은 네 가지입니다. 상태 목록이 정해져 있고, 한 번에 한 상태에만 있으며, 입력이 차례로 들어오고, 상태마다 입력에 따른 전환이 있습니다. 옛 텍스트 어드벤처 게임을 떠올리면 쉽습니다. 방이 상태이고, 지금 있는 방이 현재 상태이며, 출구가 전환, 이동 명령이 입력입니다.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_isJumping과 _isDucking은 동시에 true가 되면 안 됩니다. 여러 플래그 중 하나만 참이어야 한다면 열거형이 필요하다는 신호입니다. 이 열거형의 값이 곧 상태 그림의 상자들입니다. 플래그 대신 _state 필드 하나만 둡니다. 이제 열거형의 모든 값은 의미 있는 상태이므로 잘못된 조합이 생길 수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바깥 switch는 현재 상태를, 안쪽 if는 입력을 봅니다. 한 상태의 처리가 한곳에 모입니다. 내려찍기 상태에는 B를 처리하는 코드가 없으므로 내려찍는 도중의 B 입력은 무시됩니다. 엎드린 채 B를 눌러도 엎드리기 상태에 B 처리가 없으니 점프하지 않습니다. 1부의 버그들이 구조 때문에 사라졌습니다. 가장 단순한 상태 기계 구현이며, 이것으로 충분한 경우도 많습니다.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엎드려서 힘을 모았다가 특수 공격을 쓰는 기술을 더합니다. 모은 시간을 _chargeTime 필드에 기록합니다. 매 프레임 불리는 Update에서 엎드린 상태라면 시간을 늘리고, 엎드리기 시작할 때 0으로 초기화합니다. 기술 하나를 위해 메서드 두 곳을 고쳤고, 엎드릴 때만 의미 있는 필드가 Heroine에 생겼습니다.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이제 GoF의 상태 패턴으로 옮깁니다. switch의 case 하나하나를 클래스 하나로 만들고, 상태에 속한 데이터도 함께 옮깁니다.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상태에 따라 달라지는 행동, 즉 switch가 있던 자리마다 가상 메서드를 하나씩 둡니다. 여기서는 HandleInput과 Update입니다. 원서는 기본 동작이 비어 있는 C++ 기반 클래스를 쓰므로 C#의 추상 클래스로 옮겼습니다. C++의 가상 소멸자는 C#에서 필요 없습니다. Heroine은 현재 상태 객체를 _state에 두고, 큰 switch 대신 그 객체에 일을 맡깁니다.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엎드리기 상태를 클래스로 만듭니다. 앞의 switch에서 엎드리기 case에 있던 코드를 이 클래스의 메서드로 옮깁니다. _chargeTime도 Heroine에서 DuckingState로 옮겨 왔습니다. 엎드릴 때만 의미 있는 값이 이제 코드 구조에서도 엎드리기 상태에 속합니다. 서 있기, 점프, 내려찍기도 같은 방식으로 클래스를 만듭니다.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열거형일 때는 상태가 숫자 같은 값이어서 고민할 것이 없었습니다. 이제 상태는 클래스이므로 실제 객체가 필요합니다. 첫 번째 방법은 정적 인스턴스입니다. 필드가 없는 상태 객체는 어느 것이나 똑같으므로 하나만 만들어 두고, 같은 상태에 있는 모든 상태 기계가 그 하나를 가리키게 합니다. 원서는 이 인스턴스들을 기반 상태 클래스 안에 둡니다. 원서는 Heroine의 필드에 직접 대입하므로, C#에서는 Heroine이 State 속성으로 그 필드를 열어 둔다고 보았습니다.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엎드리기 상태는 _chargeTime이 있어서 정적으로 하나만 두면 안 됩니다. 두 사람이 함께하는 모드에서 두 여주인공이 동시에 엎드리면 같은 값을 나눠 쓰게 됩니다. 그래서 전환할 때 새 상태 객체를 만듭니다. HandleInput이 새 상태를 돌려주면 Heroine이 바꿔 끼웁니다. 원서의 C++에서는 메서드가 실행 중인 상태 객체를 그 안에서 지우면 안 되기 때문에 이렇게 했습니다. C#에서는 이전 객체를 가비지 컬렉터가 거두므로 delete 줄이 없습니다. 원서는 가능하면 정적 상태를 쓰고, 이처럼 데이터가 있는 상태에만 새 객체를 만든다고 말합니다.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지금은 엎드리기에서 일어설 때 엎드리기 상태가 서 있는 그림을 정합니다. 떠나는 상태가 다음 상태의 그림을 아는 것입니다. 상태마다 자기 그림을 정하게 하려고 진입 동작 Enter를 둡니다. Heroine은 상태를 바꾼 뒤 새 상태의 Enter를 부릅니다. 그러면 엎드리기 상태는 서 있기 상태를 돌려주기만 하면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실제 상태 그림에는 같은 상태로 들어오는 전환이 여럿 있습니다. 여주인공은 점프나 내려찍기를 마치고 착지해도 서 있기 상태가 됩니다. 진입 동작이 없으면 이 전환마다 같은 그림 설정 코드가 반복됩니다. 진입 동작은 어느 상태에서 왔는지와 상관없이 실행되므로 그 코드를 한곳에 모읍니다. 같은 방법으로 퇴장 동작도 둘 수 있습니다. 원서는 퇴장 동작을 말로만 설명하므로 오른쪽 코드는 그 설명을 옮긴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서 있기에서 시작해 입력을 하나씩 넣습니다. 새 DuckingState 객체는 생성될 때 _chargeTime이 0이므로 따로 초기화하는 코드가 필요 없습니다. 엎드린 채 B를 누르면 엎드리기 상태가 B를 처리하지 않으므로 아무 일도 없습니다. 마지막 줄에서 내려찍기 중의 B도 무시됩니다. 1부에서 플래그로 막으려던 버그들이 구조 때문에 생기지 않습니다.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유한 상태 기계의 가장 큰 장점은 그대로 가장 큰 단점이기도 합니다. 그 한계와, 한계를 넘기 위해 널리 쓰는 세 가지 확장을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상태 기계는 엉킨 코드를 아주 제한된 구조에 가두어 정리합니다. 정해진 상태 목록, 하나뿐인 현재 상태, 코드에 고정된 전환이 전부입니다. 그래서 게임 인공지능처럼 복잡한 문제에 쓰면 금방 한계에 부딪힙니다. 오토마타 이론에서 유한 상태 기계는 가장 단순한 모형이고, 튜링 완전하지도 않습니다. 오른쪽 그림처럼 더 강한 모형이 바깥에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여주인공이 총을 들 수 있게 합니다. 총을 든 채로도 하던 일을 모두 할 수 있어야 하므로, 한 기계에 넣으면 상태마다 총을 든 짝이 생겨 상태 수가 두 배가 됩니다. 무기가 늘면 곱으로 늘어납니다. 하는 일과 들고 있는 것이라는 두 가지 상태를 한 기계에 넣었기 때문입니다. 기계를 둘로 나누면 상태 수는 곱이 아니라 합이 됩니다. 입력은 두 기계 모두에게 보냅니다. 점프 중에는 쏠 수 없다 같은 상호작용은 다른 기계의 상태를 if로 확인해 맞춥니다.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서 있기, 걷기, 달리기, 미끄러지기처럼 땅 위에서의 상태들은 모두 B를 누르면 점프하고 아래를 누르면 엎드립니다. 이 처리를 상태마다 반복하는 대신, 땅 위 상태라는 상위 상태 하나에 둡니다. 하위 상태가 처리하지 않은 입력은 상위 상태로 올라갑니다. 상속받은 메서드를 재정의하는 것과 같은 모양이어서, 상태 패턴에서는 클래스 상속으로 구현합니다. 상태 패턴을 쓰지 않는다면 현재 상태와 그 상위 상태들을 스택에 쌓고, 위에서부터 처리할 상태를 찾아 내려갈 수도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유한 상태 기계는 지금 상태만 알고, 이전 상태는 기억하지 않습니다. 총을 쏘는 발사 상태를 만들면, 발사가 끝난 뒤 서 있기, 달리기, 점프, 엎드리기 중 하던 일로 돌아가야 합니다. 평범한 기계라면 서서 발사, 점프하며 발사처럼 거의 같은 상태를 여럿 만들어야 합니다. 푸시다운 오토마타는 상태를 스택에 둡니다. push는 새 상태를 위에 얹고 아래 상태를 남겨 둡니다. pop은 맨 위 상태를 버리고 그 아래 상태를 다시 현재 상태로 만듭니다. 맨 위가 현재 상태입니다.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상태 기계를 고를 때의 판단 기준과, 원서가 함께 언급하는 패턴을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세 조건이 맞을 때 유한 상태 기계가 유용하다고 정리합니다. 게임에서는 인공지능으로 잘 알려져 있지만 입력 처리, 메뉴 화면 이동, 텍스트 분석, 네트워크 프로토콜에도 흔히 쓰입니다. 반대로 원서는 모든 분기를 가상 메서드로 바꿀 필요는 없고 때로는 if 하나로 충분하다고 말합니다. 복잡한 인공지능에는 요즘 행동 트리나 계획 시스템을 더 많이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경량 패턴은 3강에서 배웠습니다. 필드가 없는 정적 상태를 하나만 두고 함께 쓰는 것이 경량 패턴입니다. 전략 패턴과 7강의 타입 객체 패턴도 주 객체가 다른 객체에 일을 맡긴다는 점에서 모양이 같습니다. 차이는 목적입니다. 상태 객체를 자주 만든다면 12강의 객체 풀로 메모리 조각화를 줄일 수 있습니다. 2부에서 매 프레임 부른 Update는 업데이트 메서드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Unity의 몇 가지 기능을 상태 기계의 관점에서 봅니다. 애니메이터 컨트롤러는 애니메이션 상태와 전환을 그림으로 그리는 상태 기계이고, 전환 조건은 매개변수로 정합니다. 레이어는 각자 상태 기계를 따로 돌리므로 병행 상태 기계와 비슷하고, 하위 상태 기계는 상태를 묶어 계층을 만듭니다. StateMachineBehaviour는 상태에 들어갈 때와 나갈 때 불리는 메서드를 제공합니다. 진입과 퇴장 동작에 해당합니다.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다음 강의는 싱글턴(Singleton)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4강 · 상태(State)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4강 · 상태(State)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객체의 행동을 현재 상태 객체에 맡기고</a:t>
            </a:r>
            <a:endParaRPr lang="ko-KR" altLang="en-US" sz="1800" dirty="0"/>
          </a:p>
          <a:p>
            <a:pPr indent="0" marL="0" eaLnBrk="0">
              <a:buNone/>
            </a:pPr>
            <a:r>
              <a:rPr lang="ko-KR" altLang="en-US" sz="1800" dirty="0">
                <a:solidFill>
                  <a:schemeClr val="accent3"/>
                </a:solidFill>
              </a:rPr>
              <a:t>상태가 바뀌면 그 객체를 바꿔 끼운다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「상태」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플래그로 꼬인 입력 코드가 상태 객체로 정리되기까지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상태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플래그가 꼬이는</a:t>
            </a:r>
            <a:endParaRPr lang="ko-KR" altLang="en-US" sz="1500" dirty="0"/>
          </a:p>
          <a:p>
            <a:pPr indent="0" marL="0" eaLnBrk="0">
              <a:buNone/>
            </a:pPr>
            <a:r>
              <a:rPr lang="ko-KR" altLang="en-US" sz="1500" b="1" dirty="0">
                <a:solidFill>
                  <a:schemeClr val="tx1"/>
                </a:solidFill>
              </a:rPr>
              <a:t>코드</a:t>
            </a:r>
            <a:endParaRPr lang="ko-KR" altLang="en-US" sz="1500" dirty="0"/>
          </a:p>
        </p:txBody>
      </p:sp>
      <p:sp>
        <p:nvSpPr>
          <p:cNvPr id="10" name="Text 7"/>
          <p:cNvSpPr txBox="1"/>
          <p:nvPr/>
        </p:nvSpPr>
        <p:spPr>
          <a:xfrm>
            <a:off x="777240" y="3291840"/>
            <a:ext cx="1691640" cy="594360"/>
          </a:xfrm>
          <a:prstGeom prst="rect">
            <a:avLst/>
          </a:prstGeom>
          <a:noFill/>
          <a:ln/>
        </p:spPr>
        <p:txBody>
          <a:bodyPr wrap="square" lIns="0" tIns="0" rIns="0" bIns="0" rtlCol="0" anchor="t"/>
          <a:lstStyle/>
          <a:p>
            <a:pPr indent="0" marL="0" eaLnBrk="0">
              <a:buNone/>
            </a:pPr>
            <a:r>
              <a:rPr lang="ko-KR" altLang="en-US" sz="1300" dirty="0">
                <a:solidFill>
                  <a:schemeClr val="accent5"/>
                </a:solidFill>
              </a:rPr>
              <a:t>첫 시도와 버그</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유한 상태 기계</a:t>
            </a:r>
            <a:endParaRPr lang="ko-KR" altLang="en-US" sz="1500" dirty="0"/>
          </a:p>
        </p:txBody>
      </p:sp>
      <p:sp>
        <p:nvSpPr>
          <p:cNvPr id="16" name="Text 13"/>
          <p:cNvSpPr txBox="1"/>
          <p:nvPr/>
        </p:nvSpPr>
        <p:spPr>
          <a:xfrm>
            <a:off x="3036494" y="3291840"/>
            <a:ext cx="1691640" cy="594360"/>
          </a:xfrm>
          <a:prstGeom prst="rect">
            <a:avLst/>
          </a:prstGeom>
          <a:noFill/>
          <a:ln/>
        </p:spPr>
        <p:txBody>
          <a:bodyPr wrap="square" lIns="0" tIns="0" rIns="0" bIns="0" rtlCol="0" anchor="t"/>
          <a:lstStyle/>
          <a:p>
            <a:pPr indent="0" marL="0" eaLnBrk="0">
              <a:buNone/>
            </a:pPr>
            <a:r>
              <a:rPr lang="ko-KR" altLang="en-US" sz="1300" dirty="0">
                <a:solidFill>
                  <a:schemeClr val="accent5"/>
                </a:solidFill>
              </a:rPr>
              <a:t>상태 그림, 열거형과 switch</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상태 패턴</a:t>
            </a:r>
            <a:endParaRPr lang="ko-KR" altLang="en-US" sz="1500" dirty="0"/>
          </a:p>
        </p:txBody>
      </p:sp>
      <p:sp>
        <p:nvSpPr>
          <p:cNvPr id="22" name="Text 19"/>
          <p:cNvSpPr txBox="1"/>
          <p:nvPr/>
        </p:nvSpPr>
        <p:spPr>
          <a:xfrm>
            <a:off x="5295748" y="3291840"/>
            <a:ext cx="1691640" cy="594360"/>
          </a:xfrm>
          <a:prstGeom prst="rect">
            <a:avLst/>
          </a:prstGeom>
          <a:noFill/>
          <a:ln/>
        </p:spPr>
        <p:txBody>
          <a:bodyPr wrap="square" lIns="0" tIns="0" rIns="0" bIns="0" rtlCol="0" anchor="t"/>
          <a:lstStyle/>
          <a:p>
            <a:pPr indent="0" marL="0" eaLnBrk="0">
              <a:buNone/>
            </a:pPr>
            <a:r>
              <a:rPr lang="ko-KR" altLang="en-US" sz="1300" dirty="0">
                <a:solidFill>
                  <a:schemeClr val="accent5"/>
                </a:solidFill>
              </a:rPr>
              <a:t>상태 클래스, 객체의 위치, 진입·퇴장 동작</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한계와 확장</a:t>
            </a:r>
            <a:endParaRPr lang="ko-KR" altLang="en-US" sz="1500" dirty="0"/>
          </a:p>
        </p:txBody>
      </p:sp>
      <p:sp>
        <p:nvSpPr>
          <p:cNvPr id="28" name="Text 25"/>
          <p:cNvSpPr txBox="1"/>
          <p:nvPr/>
        </p:nvSpPr>
        <p:spPr>
          <a:xfrm>
            <a:off x="7555001" y="3291840"/>
            <a:ext cx="1691640" cy="594360"/>
          </a:xfrm>
          <a:prstGeom prst="rect">
            <a:avLst/>
          </a:prstGeom>
          <a:noFill/>
          <a:ln/>
        </p:spPr>
        <p:txBody>
          <a:bodyPr wrap="square" lIns="0" tIns="0" rIns="0" bIns="0" rtlCol="0" anchor="t"/>
          <a:lstStyle/>
          <a:p>
            <a:pPr indent="0" marL="0" eaLnBrk="0">
              <a:buNone/>
            </a:pPr>
            <a:r>
              <a:rPr lang="ko-KR" altLang="en-US" sz="1300" dirty="0">
                <a:solidFill>
                  <a:schemeClr val="accent5"/>
                </a:solidFill>
              </a:rPr>
              <a:t>병행, 계층형, 푸시다운 오토마타</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291840"/>
            <a:ext cx="1691640" cy="59436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 Unity 대응</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횡스크롤 플랫폼 게임의 여주인공이 버튼 입력에 따라 점프하고, 엎드리고, 내려찍는다.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상태 패턴은 행동을 현재 상태 객체에 맡기는 것이다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상태를 따로 떼어 내야 할까? 여주인공의 점프 코드부터 보자.</a:t>
            </a:r>
            <a:endParaRPr lang="ko-KR" altLang="en-US" sz="1500" dirty="0"/>
          </a:p>
        </p:txBody>
      </p:sp>
      <p:sp>
        <p:nvSpPr>
          <p:cNvPr id="6" name="Shape 3"/>
          <p:cNvSpPr/>
          <p:nvPr/>
        </p:nvSpPr>
        <p:spPr>
          <a:xfrm>
            <a:off x="548640" y="1783080"/>
            <a:ext cx="4572000" cy="2377440"/>
          </a:xfrm>
          <a:prstGeom prst="roundRect">
            <a:avLst>
              <a:gd name="adj" fmla="val 3846"/>
            </a:avLst>
          </a:prstGeom>
          <a:solidFill>
            <a:schemeClr val="bg2"/>
          </a:solidFill>
          <a:ln w="12700">
            <a:solidFill>
              <a:schemeClr val="bg2"/>
            </a:solidFill>
            <a:prstDash val="solid"/>
          </a:ln>
        </p:spPr>
      </p:sp>
      <p:sp>
        <p:nvSpPr>
          <p:cNvPr id="7" name="Text 4"/>
          <p:cNvSpPr txBox="1"/>
          <p:nvPr/>
        </p:nvSpPr>
        <p:spPr>
          <a:xfrm>
            <a:off x="822960" y="1965960"/>
            <a:ext cx="402336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조건문으로 상태를 묻는다</a:t>
            </a:r>
            <a:endParaRPr lang="ko-KR" altLang="en-US" sz="1800" dirty="0"/>
          </a:p>
        </p:txBody>
      </p:sp>
      <p:sp>
        <p:nvSpPr>
          <p:cNvPr id="8" name="codePanel"/>
          <p:cNvSpPr/>
          <p:nvPr/>
        </p:nvSpPr>
        <p:spPr>
          <a:xfrm>
            <a:off x="822960" y="2514600"/>
            <a:ext cx="4023360" cy="548640"/>
          </a:xfrm>
          <a:prstGeom prst="roundRect">
            <a:avLst>
              <a:gd name="adj" fmla="val 13333"/>
            </a:avLst>
          </a:prstGeom>
          <a:solidFill>
            <a:schemeClr val="tx1"/>
          </a:solidFill>
          <a:ln w="12700">
            <a:solidFill>
              <a:schemeClr val="tx1"/>
            </a:solidFill>
            <a:prstDash val="solid"/>
          </a:ln>
        </p:spPr>
      </p:sp>
      <p:sp>
        <p:nvSpPr>
          <p:cNvPr id="9" name="code"/>
          <p:cNvSpPr txBox="1"/>
          <p:nvPr/>
        </p:nvSpPr>
        <p:spPr>
          <a:xfrm>
            <a:off x="932688" y="2606040"/>
            <a:ext cx="3803904" cy="365760"/>
          </a:xfrm>
          <a:prstGeom prst="rect">
            <a:avLst/>
          </a:prstGeom>
          <a:noFill/>
          <a:ln/>
        </p:spPr>
        <p:txBody>
          <a:bodyPr wrap="square" lIns="635" tIns="635" rIns="635" bIns="635" rtlCol="0" anchor="t"/>
          <a:lstStyle/>
          <a:p>
            <a:pPr indent="0" marL="0" eaLnBrk="0">
              <a:buNone/>
            </a:pPr>
            <a:r>
              <a:rPr lang="ko-KR" altLang="en-US" sz="1500" dirty="0">
                <a:solidFill>
                  <a:schemeClr val="bg1"/>
                </a:solidFill>
                <a:latin typeface="Consolas" pitchFamily="34" charset="0"/>
                <a:ea typeface="Consolas" pitchFamily="34" charset="-122"/>
                <a:cs typeface="Consolas" pitchFamily="34" charset="-120"/>
              </a:rPr>
              <a:t>if (_state == State.Ducking) ...</a:t>
            </a:r>
            <a:endParaRPr lang="ko-KR" altLang="en-US" sz="1500" dirty="0"/>
          </a:p>
        </p:txBody>
      </p:sp>
      <p:sp>
        <p:nvSpPr>
          <p:cNvPr id="10" name="Text 7"/>
          <p:cNvSpPr txBox="1"/>
          <p:nvPr/>
        </p:nvSpPr>
        <p:spPr>
          <a:xfrm>
            <a:off x="822960" y="3246120"/>
            <a:ext cx="402336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상태마다의 행동이</a:t>
            </a:r>
            <a:endParaRPr lang="ko-KR" altLang="en-US" sz="1400" dirty="0"/>
          </a:p>
          <a:p>
            <a:pPr indent="0" marL="0" eaLnBrk="0">
              <a:buNone/>
            </a:pPr>
            <a:r>
              <a:rPr lang="ko-KR" altLang="en-US" sz="1400" dirty="0">
                <a:solidFill>
                  <a:schemeClr val="tx2"/>
                </a:solidFill>
              </a:rPr>
              <a:t>여러 메서드의 분기 속에 흩어진다.</a:t>
            </a:r>
            <a:endParaRPr lang="ko-KR" altLang="en-US" sz="1400" dirty="0"/>
          </a:p>
        </p:txBody>
      </p:sp>
      <p:sp>
        <p:nvSpPr>
          <p:cNvPr id="11" name="Shape 8"/>
          <p:cNvSpPr/>
          <p:nvPr/>
        </p:nvSpPr>
        <p:spPr>
          <a:xfrm>
            <a:off x="5257800" y="2971800"/>
            <a:ext cx="914400" cy="914"/>
          </a:xfrm>
          <a:prstGeom prst="line">
            <a:avLst/>
          </a:prstGeom>
          <a:noFill/>
          <a:ln w="31750">
            <a:solidFill>
              <a:schemeClr val="accent1"/>
            </a:solidFill>
            <a:prstDash val="solid"/>
            <a:tailEnd type="triangle"/>
          </a:ln>
        </p:spPr>
      </p:sp>
      <p:sp>
        <p:nvSpPr>
          <p:cNvPr id="12" name="Shape 9"/>
          <p:cNvSpPr/>
          <p:nvPr/>
        </p:nvSpPr>
        <p:spPr>
          <a:xfrm>
            <a:off x="6309360" y="1783080"/>
            <a:ext cx="5333695" cy="237744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6583680" y="1965960"/>
            <a:ext cx="4785055"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상태 객체에 맡긴다</a:t>
            </a:r>
            <a:endParaRPr lang="ko-KR" altLang="en-US" sz="1800" dirty="0"/>
          </a:p>
        </p:txBody>
      </p:sp>
      <p:sp>
        <p:nvSpPr>
          <p:cNvPr id="14" name="codePanel"/>
          <p:cNvSpPr/>
          <p:nvPr/>
        </p:nvSpPr>
        <p:spPr>
          <a:xfrm>
            <a:off x="6583680" y="2514600"/>
            <a:ext cx="4785055" cy="548640"/>
          </a:xfrm>
          <a:prstGeom prst="roundRect">
            <a:avLst>
              <a:gd name="adj" fmla="val 13333"/>
            </a:avLst>
          </a:prstGeom>
          <a:solidFill>
            <a:schemeClr val="tx1"/>
          </a:solidFill>
          <a:ln w="12700">
            <a:solidFill>
              <a:schemeClr val="tx1"/>
            </a:solidFill>
            <a:prstDash val="solid"/>
          </a:ln>
        </p:spPr>
      </p:sp>
      <p:sp>
        <p:nvSpPr>
          <p:cNvPr id="15" name="code"/>
          <p:cNvSpPr txBox="1"/>
          <p:nvPr/>
        </p:nvSpPr>
        <p:spPr>
          <a:xfrm>
            <a:off x="6693408" y="2606040"/>
            <a:ext cx="4565599" cy="365760"/>
          </a:xfrm>
          <a:prstGeom prst="rect">
            <a:avLst/>
          </a:prstGeom>
          <a:noFill/>
          <a:ln/>
        </p:spPr>
        <p:txBody>
          <a:bodyPr wrap="square" lIns="635" tIns="635" rIns="635" bIns="635" rtlCol="0" anchor="t"/>
          <a:lstStyle/>
          <a:p>
            <a:pPr indent="0" marL="0" eaLnBrk="0">
              <a:buNone/>
            </a:pPr>
            <a:r>
              <a:rPr lang="ko-KR" altLang="en-US" sz="1500" dirty="0">
                <a:solidFill>
                  <a:schemeClr val="bg1"/>
                </a:solidFill>
                <a:latin typeface="Consolas" pitchFamily="34" charset="0"/>
                <a:ea typeface="Consolas" pitchFamily="34" charset="-122"/>
                <a:cs typeface="Consolas" pitchFamily="34" charset="-120"/>
              </a:rPr>
              <a:t>_state.HandleInput(this, input);</a:t>
            </a:r>
            <a:endParaRPr lang="ko-KR" altLang="en-US" sz="1500" dirty="0"/>
          </a:p>
        </p:txBody>
      </p:sp>
      <p:sp>
        <p:nvSpPr>
          <p:cNvPr id="16" name="Text 13"/>
          <p:cNvSpPr txBox="1"/>
          <p:nvPr/>
        </p:nvSpPr>
        <p:spPr>
          <a:xfrm>
            <a:off x="6583680" y="3246120"/>
            <a:ext cx="478505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지금 상태 객체가 행동을 정한다. 상태를 바꾸려면 다른 상태 객체를 넣는다.</a:t>
            </a:r>
            <a:endParaRPr lang="ko-KR" altLang="en-US" sz="1400" dirty="0"/>
          </a:p>
        </p:txBody>
      </p:sp>
      <p:sp>
        <p:nvSpPr>
          <p:cNvPr id="17" name="box"/>
          <p:cNvSpPr/>
          <p:nvPr/>
        </p:nvSpPr>
        <p:spPr>
          <a:xfrm>
            <a:off x="548640" y="4480560"/>
            <a:ext cx="11094415" cy="1051560"/>
          </a:xfrm>
          <a:prstGeom prst="roundRect">
            <a:avLst>
              <a:gd name="adj" fmla="val 6957"/>
            </a:avLst>
          </a:prstGeom>
          <a:solidFill>
            <a:schemeClr val="tx2"/>
          </a:solidFill>
          <a:ln w="12700">
            <a:solidFill>
              <a:schemeClr val="tx2"/>
            </a:solidFill>
            <a:prstDash val="solid"/>
          </a:ln>
        </p:spPr>
      </p:sp>
      <p:sp>
        <p:nvSpPr>
          <p:cNvPr id="18" name="Text 15"/>
          <p:cNvSpPr txBox="1"/>
          <p:nvPr/>
        </p:nvSpPr>
        <p:spPr>
          <a:xfrm>
            <a:off x="548640" y="4480560"/>
            <a:ext cx="11094415" cy="10515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GoF의 정의: 객체의 내부 상태가 바뀌면 행동도 바뀌게 한다. 그러면 객체의 클래스가 바뀐 것처럼 보인다.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플래그가 꼬이는 코드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다들 겪어 본 일</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B를 누르면 점프한다. 공중에서도 계속 점프한다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공중 점프를 막았으니, 이제 엎드리기를 더해 보자.</a:t>
            </a:r>
            <a:endParaRPr lang="ko-KR" altLang="en-US" sz="1500" dirty="0"/>
          </a:p>
        </p:txBody>
      </p:sp>
      <p:sp>
        <p:nvSpPr>
          <p:cNvPr id="6" name="Text 3"/>
          <p:cNvSpPr txBox="1"/>
          <p:nvPr/>
        </p:nvSpPr>
        <p:spPr>
          <a:xfrm>
            <a:off x="548640" y="1645920"/>
            <a:ext cx="5394960" cy="365760"/>
          </a:xfrm>
          <a:prstGeom prst="rect">
            <a:avLst/>
          </a:prstGeom>
          <a:noFill/>
          <a:ln/>
        </p:spPr>
        <p:txBody>
          <a:bodyPr wrap="square" lIns="0" tIns="0" rIns="0" bIns="0" rtlCol="0" anchor="t"/>
          <a:lstStyle/>
          <a:p>
            <a:pPr indent="0" marL="0" eaLnBrk="0">
              <a:buNone/>
            </a:pPr>
            <a:r>
              <a:rPr lang="ko-KR" altLang="en-US" sz="1700" b="1" dirty="0">
                <a:solidFill>
                  <a:schemeClr val="accent6"/>
                </a:solidFill>
              </a:rPr>
              <a:t>처음 코드</a:t>
            </a:r>
            <a:endParaRPr lang="ko-KR" altLang="en-US" sz="1700" dirty="0"/>
          </a:p>
        </p:txBody>
      </p:sp>
      <p:sp>
        <p:nvSpPr>
          <p:cNvPr id="7" name="codePanel"/>
          <p:cNvSpPr/>
          <p:nvPr/>
        </p:nvSpPr>
        <p:spPr>
          <a:xfrm>
            <a:off x="548640" y="2057400"/>
            <a:ext cx="5394960" cy="1737360"/>
          </a:xfrm>
          <a:prstGeom prst="roundRect">
            <a:avLst>
              <a:gd name="adj" fmla="val 4211"/>
            </a:avLst>
          </a:prstGeom>
          <a:solidFill>
            <a:schemeClr val="tx1"/>
          </a:solidFill>
          <a:ln w="12700">
            <a:solidFill>
              <a:schemeClr val="tx1"/>
            </a:solidFill>
            <a:prstDash val="solid"/>
          </a:ln>
        </p:spPr>
      </p:sp>
      <p:sp>
        <p:nvSpPr>
          <p:cNvPr id="8" name="code"/>
          <p:cNvSpPr txBox="1"/>
          <p:nvPr/>
        </p:nvSpPr>
        <p:spPr>
          <a:xfrm>
            <a:off x="658368" y="2148840"/>
            <a:ext cx="5175504" cy="155448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void HandleInput(Input input)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if (input == Input.PressB)</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_yVelocity = JumpVelocity;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SetGraphics(Image.Jump);</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9" name="codeCaption"/>
          <p:cNvSpPr txBox="1"/>
          <p:nvPr/>
        </p:nvSpPr>
        <p:spPr>
          <a:xfrm>
            <a:off x="2834640" y="21488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10" name="Text 7"/>
          <p:cNvSpPr txBox="1"/>
          <p:nvPr/>
        </p:nvSpPr>
        <p:spPr>
          <a:xfrm>
            <a:off x="6217920" y="1645920"/>
            <a:ext cx="5425135" cy="36576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점프 중이면 무시하도록 고친 코드</a:t>
            </a:r>
            <a:endParaRPr lang="ko-KR" altLang="en-US" sz="1700" dirty="0"/>
          </a:p>
        </p:txBody>
      </p:sp>
      <p:sp>
        <p:nvSpPr>
          <p:cNvPr id="11" name="codePanel"/>
          <p:cNvSpPr/>
          <p:nvPr/>
        </p:nvSpPr>
        <p:spPr>
          <a:xfrm>
            <a:off x="6217920" y="2057400"/>
            <a:ext cx="5425135" cy="2377440"/>
          </a:xfrm>
          <a:prstGeom prst="roundRect">
            <a:avLst>
              <a:gd name="adj" fmla="val 3077"/>
            </a:avLst>
          </a:prstGeom>
          <a:solidFill>
            <a:schemeClr val="tx1"/>
          </a:solidFill>
          <a:ln w="12700">
            <a:solidFill>
              <a:schemeClr val="tx1"/>
            </a:solidFill>
            <a:prstDash val="solid"/>
          </a:ln>
        </p:spPr>
      </p:sp>
      <p:sp>
        <p:nvSpPr>
          <p:cNvPr id="12" name="code"/>
          <p:cNvSpPr txBox="1"/>
          <p:nvPr/>
        </p:nvSpPr>
        <p:spPr>
          <a:xfrm>
            <a:off x="6327648" y="2148840"/>
            <a:ext cx="5205679" cy="21945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void HandleInput(Input input)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if (input == Input.PressB)</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if (!_isJumping)</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_isJumping = true;</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점프...</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13" name="card"/>
          <p:cNvSpPr/>
          <p:nvPr/>
        </p:nvSpPr>
        <p:spPr>
          <a:xfrm>
            <a:off x="548640" y="4526280"/>
            <a:ext cx="11094415" cy="1143000"/>
          </a:xfrm>
          <a:prstGeom prst="roundRect">
            <a:avLst>
              <a:gd name="adj" fmla="val 8000"/>
            </a:avLst>
          </a:prstGeom>
          <a:solidFill>
            <a:schemeClr val="bg2"/>
          </a:solidFill>
          <a:ln w="12700">
            <a:solidFill>
              <a:schemeClr val="bg2"/>
            </a:solidFill>
            <a:prstDash val="solid"/>
          </a:ln>
        </p:spPr>
      </p:sp>
      <p:sp>
        <p:nvSpPr>
          <p:cNvPr id="14" name="Shape 11"/>
          <p:cNvSpPr/>
          <p:nvPr/>
        </p:nvSpPr>
        <p:spPr>
          <a:xfrm>
            <a:off x="777240" y="472744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727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6" name="Text 13"/>
          <p:cNvSpPr txBox="1"/>
          <p:nvPr/>
        </p:nvSpPr>
        <p:spPr>
          <a:xfrm>
            <a:off x="1325880" y="4745736"/>
            <a:ext cx="101342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버그 1 · 공중 점프</a:t>
            </a:r>
            <a:endParaRPr lang="ko-KR" altLang="en-US" sz="1700" dirty="0"/>
          </a:p>
        </p:txBody>
      </p:sp>
      <p:sp>
        <p:nvSpPr>
          <p:cNvPr id="17" name="Text 14"/>
          <p:cNvSpPr txBox="1"/>
          <p:nvPr/>
        </p:nvSpPr>
        <p:spPr>
          <a:xfrm>
            <a:off x="3840480" y="4709160"/>
            <a:ext cx="7528255" cy="777240"/>
          </a:xfrm>
          <a:prstGeom prst="rect">
            <a:avLst/>
          </a:prstGeom>
          <a:noFill/>
          <a:ln/>
        </p:spPr>
        <p:txBody>
          <a:bodyPr wrap="square" lIns="0" tIns="0" rIns="0" bIns="0" rtlCol="0" anchor="ctr"/>
          <a:lstStyle/>
          <a:p>
            <a:pPr indent="0" marL="0" eaLnBrk="0">
              <a:buNone/>
            </a:pPr>
            <a:r>
              <a:rPr lang="ko-KR" altLang="en-US" sz="1500" dirty="0">
                <a:solidFill>
                  <a:schemeClr val="tx2"/>
                </a:solidFill>
              </a:rPr>
              <a:t>공중에서 B를 계속 누르면 계속 떠 있다.</a:t>
            </a:r>
            <a:endParaRPr lang="ko-KR" altLang="en-US" sz="1500" dirty="0"/>
          </a:p>
          <a:p>
            <a:pPr indent="0" marL="0" eaLnBrk="0">
              <a:buNone/>
            </a:pPr>
            <a:r>
              <a:rPr lang="ko-KR" altLang="en-US" sz="1500" dirty="0">
                <a:solidFill>
                  <a:schemeClr val="tx2"/>
                </a:solidFill>
              </a:rPr>
              <a:t>점프 중인지 기억하는 플래그 _isJumping으로 막는다.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엎드리기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아래를 누르면 엎드리고, 떼면 일어선다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엎드려 있는지 기억하는 플래그를 하나 더 두면 해결될까?</a:t>
            </a:r>
            <a:endParaRPr lang="ko-KR" altLang="en-US" sz="1500" dirty="0"/>
          </a:p>
        </p:txBody>
      </p:sp>
      <p:sp>
        <p:nvSpPr>
          <p:cNvPr id="6" name="codePanel"/>
          <p:cNvSpPr/>
          <p:nvPr/>
        </p:nvSpPr>
        <p:spPr>
          <a:xfrm>
            <a:off x="548640" y="1645920"/>
            <a:ext cx="6035040" cy="4023360"/>
          </a:xfrm>
          <a:prstGeom prst="roundRect">
            <a:avLst>
              <a:gd name="adj" fmla="val 1818"/>
            </a:avLst>
          </a:prstGeom>
          <a:solidFill>
            <a:schemeClr val="tx1"/>
          </a:solidFill>
          <a:ln w="12700">
            <a:solidFill>
              <a:schemeClr val="tx1"/>
            </a:solidFill>
            <a:prstDash val="solid"/>
          </a:ln>
        </p:spPr>
      </p:sp>
      <p:sp>
        <p:nvSpPr>
          <p:cNvPr id="7" name="code"/>
          <p:cNvSpPr txBox="1"/>
          <p:nvPr/>
        </p:nvSpPr>
        <p:spPr>
          <a:xfrm>
            <a:off x="658368" y="1737360"/>
            <a:ext cx="5815584" cy="384048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void HandleInput(Input input)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if (input == Input.PressB)</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점프 중이 아니면 점프...</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else if (input == Input.PressDown)</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if (!_isJumping)</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SetGraphics(Image.Duck);</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else if (input == Input.ReleaseDown)</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SetGraphics(Image.Stand);</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34747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6949440" y="1645920"/>
            <a:ext cx="4693615" cy="365760"/>
          </a:xfrm>
          <a:prstGeom prst="rect">
            <a:avLst/>
          </a:prstGeom>
          <a:noFill/>
          <a:ln/>
        </p:spPr>
        <p:txBody>
          <a:bodyPr wrap="square" lIns="0" tIns="0" rIns="0" bIns="0" rtlCol="0" anchor="t"/>
          <a:lstStyle/>
          <a:p>
            <a:pPr indent="0" marL="0" eaLnBrk="0">
              <a:buNone/>
            </a:pPr>
            <a:r>
              <a:rPr lang="ko-KR" altLang="en-US" sz="1700" b="1" dirty="0">
                <a:solidFill>
                  <a:schemeClr val="tx1"/>
                </a:solidFill>
              </a:rPr>
              <a:t>버그 2를 만드는 입력 순서</a:t>
            </a:r>
            <a:endParaRPr lang="ko-KR" altLang="en-US" sz="1700" dirty="0"/>
          </a:p>
        </p:txBody>
      </p:sp>
      <p:sp>
        <p:nvSpPr>
          <p:cNvPr id="10" name="Shape 7"/>
          <p:cNvSpPr/>
          <p:nvPr/>
        </p:nvSpPr>
        <p:spPr>
          <a:xfrm>
            <a:off x="6949440" y="2148840"/>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6949440" y="2148840"/>
            <a:ext cx="457200" cy="45720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2" name="Text 9"/>
          <p:cNvSpPr txBox="1"/>
          <p:nvPr/>
        </p:nvSpPr>
        <p:spPr>
          <a:xfrm>
            <a:off x="7589520" y="2148840"/>
            <a:ext cx="4053535" cy="457200"/>
          </a:xfrm>
          <a:prstGeom prst="rect">
            <a:avLst/>
          </a:prstGeom>
          <a:noFill/>
          <a:ln/>
        </p:spPr>
        <p:txBody>
          <a:bodyPr wrap="square" lIns="0" tIns="0" rIns="0" bIns="0" rtlCol="0" anchor="ctr"/>
          <a:lstStyle/>
          <a:p>
            <a:pPr indent="0" marL="0" eaLnBrk="0">
              <a:buNone/>
            </a:pPr>
            <a:r>
              <a:rPr lang="ko-KR" altLang="en-US" sz="1500" dirty="0">
                <a:solidFill>
                  <a:schemeClr val="tx2"/>
                </a:solidFill>
              </a:rPr>
              <a:t>아래를 눌러 엎드린다.</a:t>
            </a:r>
            <a:endParaRPr lang="ko-KR" altLang="en-US" sz="1500" dirty="0"/>
          </a:p>
        </p:txBody>
      </p:sp>
      <p:sp>
        <p:nvSpPr>
          <p:cNvPr id="13" name="Shape 10"/>
          <p:cNvSpPr/>
          <p:nvPr/>
        </p:nvSpPr>
        <p:spPr>
          <a:xfrm>
            <a:off x="6949440" y="29260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6949440" y="2926080"/>
            <a:ext cx="457200" cy="45720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7589520" y="2926080"/>
            <a:ext cx="4053535" cy="457200"/>
          </a:xfrm>
          <a:prstGeom prst="rect">
            <a:avLst/>
          </a:prstGeom>
          <a:noFill/>
          <a:ln/>
        </p:spPr>
        <p:txBody>
          <a:bodyPr wrap="square" lIns="0" tIns="0" rIns="0" bIns="0" rtlCol="0" anchor="ctr"/>
          <a:lstStyle/>
          <a:p>
            <a:pPr indent="0" marL="0" eaLnBrk="0">
              <a:buNone/>
            </a:pPr>
            <a:r>
              <a:rPr lang="ko-KR" altLang="en-US" sz="1500" dirty="0">
                <a:solidFill>
                  <a:schemeClr val="tx2"/>
                </a:solidFill>
              </a:rPr>
              <a:t>엎드린 채 B를 눌러 점프한다.</a:t>
            </a:r>
            <a:endParaRPr lang="ko-KR" altLang="en-US" sz="1500" dirty="0"/>
          </a:p>
        </p:txBody>
      </p:sp>
      <p:sp>
        <p:nvSpPr>
          <p:cNvPr id="16" name="Shape 13"/>
          <p:cNvSpPr/>
          <p:nvPr/>
        </p:nvSpPr>
        <p:spPr>
          <a:xfrm>
            <a:off x="6949440" y="370332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6949440" y="3703320"/>
            <a:ext cx="457200" cy="457200"/>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8" name="Text 15"/>
          <p:cNvSpPr txBox="1"/>
          <p:nvPr/>
        </p:nvSpPr>
        <p:spPr>
          <a:xfrm>
            <a:off x="7589520" y="3703320"/>
            <a:ext cx="4053535" cy="457200"/>
          </a:xfrm>
          <a:prstGeom prst="rect">
            <a:avLst/>
          </a:prstGeom>
          <a:noFill/>
          <a:ln/>
        </p:spPr>
        <p:txBody>
          <a:bodyPr wrap="square" lIns="0" tIns="0" rIns="0" bIns="0" rtlCol="0" anchor="ctr"/>
          <a:lstStyle/>
          <a:p>
            <a:pPr indent="0" marL="0" eaLnBrk="0">
              <a:buNone/>
            </a:pPr>
            <a:r>
              <a:rPr lang="ko-KR" altLang="en-US" sz="1500" dirty="0">
                <a:solidFill>
                  <a:schemeClr val="tx2"/>
                </a:solidFill>
              </a:rPr>
              <a:t>공중에서 아래를 뗀다.</a:t>
            </a:r>
            <a:endParaRPr lang="ko-KR" altLang="en-US" sz="1500" dirty="0"/>
          </a:p>
        </p:txBody>
      </p:sp>
      <p:sp>
        <p:nvSpPr>
          <p:cNvPr id="19" name="card"/>
          <p:cNvSpPr/>
          <p:nvPr/>
        </p:nvSpPr>
        <p:spPr>
          <a:xfrm>
            <a:off x="6949440" y="4572000"/>
            <a:ext cx="4693615" cy="1097280"/>
          </a:xfrm>
          <a:prstGeom prst="roundRect">
            <a:avLst>
              <a:gd name="adj" fmla="val 8333"/>
            </a:avLst>
          </a:prstGeom>
          <a:solidFill>
            <a:schemeClr val="tx2"/>
          </a:solidFill>
          <a:ln w="12700">
            <a:solidFill>
              <a:schemeClr val="tx2"/>
            </a:solidFill>
            <a:prstDash val="solid"/>
          </a:ln>
        </p:spPr>
      </p:sp>
      <p:sp>
        <p:nvSpPr>
          <p:cNvPr id="20" name="Text 17"/>
          <p:cNvSpPr txBox="1"/>
          <p:nvPr/>
        </p:nvSpPr>
        <p:spPr>
          <a:xfrm>
            <a:off x="7178040" y="4791456"/>
            <a:ext cx="42821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결과: 점프 도중에 서 있는 그림</a:t>
            </a:r>
            <a:endParaRPr lang="ko-KR" altLang="en-US" sz="1700" dirty="0"/>
          </a:p>
        </p:txBody>
      </p:sp>
      <p:sp>
        <p:nvSpPr>
          <p:cNvPr id="21" name="Text 18"/>
          <p:cNvSpPr txBox="1"/>
          <p:nvPr/>
        </p:nvSpPr>
        <p:spPr>
          <a:xfrm>
            <a:off x="7178040" y="5349240"/>
            <a:ext cx="4236415" cy="182880"/>
          </a:xfrm>
          <a:prstGeom prst="rect">
            <a:avLst/>
          </a:prstGeom>
          <a:noFill/>
          <a:ln/>
        </p:spPr>
        <p:txBody>
          <a:bodyPr wrap="square" lIns="0" tIns="0" rIns="0" bIns="0" rtlCol="0" anchor="t"/>
          <a:lstStyle/>
          <a:p>
            <a:pPr indent="0" marL="0" eaLnBrk="0">
              <a:buNone/>
            </a:pP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플래그 하나 더</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플래그를 늘려 막아도 새 기능이 다시 버그를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고칠 때마다 새 버그가 생길까?</a:t>
            </a:r>
            <a:endParaRPr lang="ko-KR" altLang="en-US" sz="1500" dirty="0"/>
          </a:p>
        </p:txBody>
      </p:sp>
      <p:sp>
        <p:nvSpPr>
          <p:cNvPr id="6" name="codePanel"/>
          <p:cNvSpPr/>
          <p:nvPr/>
        </p:nvSpPr>
        <p:spPr>
          <a:xfrm>
            <a:off x="548640" y="1600200"/>
            <a:ext cx="630936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08990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if (input == Input.PressB)</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if (!_isJumping &amp;&amp; !_isDucking)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점프...</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else if (input == Input.PressDown)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(!_isJumping)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_isDucking = true;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SetGraphics(Image.Duck);</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else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_isJumping = false;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SetGraphics(Image.Dive);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아래를 뗄 때: _isDucking이면 일어선다...</a:t>
            </a:r>
            <a:endParaRPr lang="ko-KR" altLang="en-US" sz="1200" dirty="0"/>
          </a:p>
        </p:txBody>
      </p:sp>
      <p:sp>
        <p:nvSpPr>
          <p:cNvPr id="8" name="codeCaption"/>
          <p:cNvSpPr txBox="1"/>
          <p:nvPr/>
        </p:nvSpPr>
        <p:spPr>
          <a:xfrm>
            <a:off x="37490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HandleInput 일부 · 원서 예제를 C#으로 옮긴 코드</a:t>
            </a:r>
            <a:endParaRPr lang="ko-KR" altLang="en-US" sz="1000" dirty="0"/>
          </a:p>
        </p:txBody>
      </p:sp>
      <p:sp>
        <p:nvSpPr>
          <p:cNvPr id="9" name="card"/>
          <p:cNvSpPr/>
          <p:nvPr/>
        </p:nvSpPr>
        <p:spPr>
          <a:xfrm>
            <a:off x="7223760" y="1600200"/>
            <a:ext cx="4419295" cy="1874520"/>
          </a:xfrm>
          <a:prstGeom prst="roundRect">
            <a:avLst>
              <a:gd name="adj" fmla="val 4878"/>
            </a:avLst>
          </a:prstGeom>
          <a:solidFill>
            <a:schemeClr val="bg2"/>
          </a:solidFill>
          <a:ln w="12700">
            <a:solidFill>
              <a:schemeClr val="bg2"/>
            </a:solidFill>
            <a:prstDash val="solid"/>
          </a:ln>
        </p:spPr>
      </p:sp>
      <p:sp>
        <p:nvSpPr>
          <p:cNvPr id="10" name="Shape 7"/>
          <p:cNvSpPr/>
          <p:nvPr/>
        </p:nvSpPr>
        <p:spPr>
          <a:xfrm>
            <a:off x="7452360" y="1801368"/>
            <a:ext cx="420624" cy="420624"/>
          </a:xfrm>
          <a:prstGeom prst="ellipse">
            <a:avLst/>
          </a:prstGeom>
          <a:solidFill>
            <a:schemeClr val="accent1"/>
          </a:solidFill>
          <a:ln w="12700">
            <a:solidFill>
              <a:schemeClr val="accent1"/>
            </a:solidFill>
            <a:prstDash val="solid"/>
          </a:ln>
        </p:spPr>
      </p:sp>
      <p:sp>
        <p:nvSpPr>
          <p:cNvPr id="11" name="Text 8"/>
          <p:cNvSpPr txBox="1"/>
          <p:nvPr/>
        </p:nvSpPr>
        <p:spPr>
          <a:xfrm>
            <a:off x="7452360" y="18013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2" name="Text 9"/>
          <p:cNvSpPr txBox="1"/>
          <p:nvPr/>
        </p:nvSpPr>
        <p:spPr>
          <a:xfrm>
            <a:off x="8001000" y="1819656"/>
            <a:ext cx="34591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두 번째 플래그</a:t>
            </a:r>
            <a:endParaRPr lang="ko-KR" altLang="en-US" sz="1700" dirty="0"/>
          </a:p>
        </p:txBody>
      </p:sp>
      <p:sp>
        <p:nvSpPr>
          <p:cNvPr id="13" name="Text 10"/>
          <p:cNvSpPr txBox="1"/>
          <p:nvPr/>
        </p:nvSpPr>
        <p:spPr>
          <a:xfrm>
            <a:off x="8001000" y="2221992"/>
            <a:ext cx="345917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_isDucking을 더한다. 엎드린 동안에는 점프하지 않고, 엎드렸을 때만 일어선다.</a:t>
            </a:r>
            <a:endParaRPr lang="ko-KR" altLang="en-US" sz="1400" dirty="0"/>
          </a:p>
        </p:txBody>
      </p:sp>
      <p:sp>
        <p:nvSpPr>
          <p:cNvPr id="14" name="card"/>
          <p:cNvSpPr/>
          <p:nvPr/>
        </p:nvSpPr>
        <p:spPr>
          <a:xfrm>
            <a:off x="7223760" y="3657600"/>
            <a:ext cx="4419295" cy="2057400"/>
          </a:xfrm>
          <a:prstGeom prst="roundRect">
            <a:avLst>
              <a:gd name="adj" fmla="val 4444"/>
            </a:avLst>
          </a:prstGeom>
          <a:solidFill>
            <a:schemeClr val="bg2"/>
          </a:solidFill>
          <a:ln w="12700">
            <a:solidFill>
              <a:schemeClr val="bg2"/>
            </a:solidFill>
            <a:prstDash val="solid"/>
          </a:ln>
        </p:spPr>
      </p:sp>
      <p:sp>
        <p:nvSpPr>
          <p:cNvPr id="15" name="Shape 12"/>
          <p:cNvSpPr/>
          <p:nvPr/>
        </p:nvSpPr>
        <p:spPr>
          <a:xfrm>
            <a:off x="7452360" y="3858768"/>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7452360" y="38587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7" name="Text 14"/>
          <p:cNvSpPr txBox="1"/>
          <p:nvPr/>
        </p:nvSpPr>
        <p:spPr>
          <a:xfrm>
            <a:off x="8001000" y="3877056"/>
            <a:ext cx="34591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버그 3 · 내려찍기 중 점프</a:t>
            </a:r>
            <a:endParaRPr lang="ko-KR" altLang="en-US" sz="1700" dirty="0"/>
          </a:p>
        </p:txBody>
      </p:sp>
      <p:sp>
        <p:nvSpPr>
          <p:cNvPr id="18" name="Text 15"/>
          <p:cNvSpPr txBox="1"/>
          <p:nvPr/>
        </p:nvSpPr>
        <p:spPr>
          <a:xfrm>
            <a:off x="8001000" y="4279392"/>
            <a:ext cx="3459175" cy="1325880"/>
          </a:xfrm>
          <a:prstGeom prst="rect">
            <a:avLst/>
          </a:prstGeom>
          <a:noFill/>
          <a:ln/>
        </p:spPr>
        <p:txBody>
          <a:bodyPr wrap="square" lIns="0" tIns="0" rIns="0" bIns="0" rtlCol="0" anchor="t"/>
          <a:lstStyle/>
          <a:p>
            <a:pPr indent="0" marL="0" eaLnBrk="0">
              <a:buNone/>
            </a:pPr>
            <a:r>
              <a:rPr lang="ko-KR" altLang="en-US" sz="1400" dirty="0">
                <a:solidFill>
                  <a:schemeClr val="tx2"/>
                </a:solidFill>
              </a:rPr>
              <a:t>내려찍을 때 _isJumping을 false로 바꾼다.</a:t>
            </a:r>
            <a:endParaRPr lang="ko-KR" altLang="en-US" sz="1400" dirty="0"/>
          </a:p>
          <a:p>
            <a:pPr indent="0" marL="0" eaLnBrk="0">
              <a:buNone/>
            </a:pPr>
            <a:r>
              <a:rPr lang="ko-KR" altLang="en-US" sz="1400" dirty="0">
                <a:solidFill>
                  <a:schemeClr val="tx2"/>
                </a:solidFill>
              </a:rPr>
              <a:t>그래서 B 검사를 다시 통과한다.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플래그 조합으로는 지금 무엇을 하는지 정확히 말할 수 없다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펜과 종이로 여주인공이 할 수 있는 일을 그려 보면 어떨까?</a:t>
            </a:r>
            <a:endParaRPr lang="ko-KR" alt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1371600"/>
                <a:gridCol w="1280160"/>
                <a:gridCol w="1280160"/>
                <a:gridCol w="3017520"/>
              </a:tblGrid>
              <a:tr h="530352">
                <a:tc>
                  <a:txBody>
                    <a:bodyPr/>
                    <a:lstStyle/>
                    <a:p>
                      <a:pPr indent="0" marL="0" eaLnBrk="0">
                        <a:buNone/>
                      </a:pPr>
                      <a:r>
                        <a:rPr lang="ko-KR" altLang="en-US" sz="1400" b="1" dirty="0">
                          <a:solidFill>
                            <a:schemeClr val="bg1"/>
                          </a:solidFill>
                        </a:rPr>
                        <a:t>실제 동작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_isJumping</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_isDucking</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판정</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30352">
                <a:tc>
                  <a:txBody>
                    <a:bodyPr/>
                    <a:lstStyle/>
                    <a:p>
                      <a:pPr indent="0" marL="0" eaLnBrk="0">
                        <a:buNone/>
                      </a:pPr>
                      <a:r>
                        <a:rPr lang="ko-KR" altLang="en-US" sz="1400" b="1" dirty="0">
                          <a:solidFill>
                            <a:schemeClr val="tx1"/>
                          </a:solidFill>
                        </a:rPr>
                        <a:t>서 있기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false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false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30352">
                <a:tc>
                  <a:txBody>
                    <a:bodyPr/>
                    <a:lstStyle/>
                    <a:p>
                      <a:pPr indent="0" marL="0" eaLnBrk="0">
                        <a:buNone/>
                      </a:pPr>
                      <a:r>
                        <a:rPr lang="ko-KR" altLang="en-US" sz="1400" b="1" dirty="0">
                          <a:solidFill>
                            <a:schemeClr val="tx1"/>
                          </a:solidFill>
                        </a:rPr>
                        <a:t>점프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true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false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30352">
                <a:tc>
                  <a:txBody>
                    <a:bodyPr/>
                    <a:lstStyle/>
                    <a:p>
                      <a:pPr indent="0" marL="0" eaLnBrk="0">
                        <a:buNone/>
                      </a:pPr>
                      <a:r>
                        <a:rPr lang="ko-KR" altLang="en-US" sz="1400" b="1" dirty="0">
                          <a:solidFill>
                            <a:schemeClr val="tx1"/>
                          </a:solidFill>
                        </a:rPr>
                        <a:t>엎드리기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false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true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30352">
                <a:tc>
                  <a:txBody>
                    <a:bodyPr/>
                    <a:lstStyle/>
                    <a:p>
                      <a:pPr indent="0" marL="0" eaLnBrk="0">
                        <a:buNone/>
                      </a:pPr>
                      <a:r>
                        <a:rPr lang="ko-KR" altLang="en-US" sz="1400" b="1" dirty="0">
                          <a:solidFill>
                            <a:schemeClr val="tx1"/>
                          </a:solidFill>
                        </a:rPr>
                        <a:t>내려찍기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false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false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서 있기와 값이 같다.</a:t>
                      </a:r>
                      <a:endParaRPr lang="ko-KR" altLang="en-US" sz="1400" dirty="0"/>
                    </a:p>
                    <a:p>
                      <a:pPr indent="0" marL="0" eaLnBrk="0">
                        <a:buNone/>
                      </a:pPr>
                      <a:r>
                        <a:rPr lang="ko-KR" altLang="en-US" sz="1400" dirty="0">
                          <a:solidFill>
                            <a:schemeClr val="tx2"/>
                          </a:solidFill>
                        </a:rPr>
                        <a:t>B를 누르면 점프한다.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30352">
                <a:tc>
                  <a:txBody>
                    <a:bodyPr/>
                    <a:lstStyle/>
                    <a:p>
                      <a:pPr indent="0" marL="0" eaLnBrk="0">
                        <a:buNone/>
                      </a:pPr>
                      <a:r>
                        <a:rPr lang="ko-KR" altLang="en-US" sz="1400" b="1" dirty="0">
                          <a:solidFill>
                            <a:schemeClr val="tx1"/>
                          </a:solidFill>
                        </a:rPr>
                        <a:t>(없음)</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true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true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의미 없는 조합이다.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7863840" y="1645920"/>
            <a:ext cx="3779215" cy="2148840"/>
          </a:xfrm>
          <a:prstGeom prst="roundRect">
            <a:avLst>
              <a:gd name="adj" fmla="val 4255"/>
            </a:avLst>
          </a:prstGeom>
          <a:solidFill>
            <a:schemeClr val="tx2"/>
          </a:solidFill>
          <a:ln w="12700">
            <a:solidFill>
              <a:schemeClr val="tx2"/>
            </a:solidFill>
            <a:prstDash val="solid"/>
          </a:ln>
        </p:spPr>
      </p:sp>
      <p:sp>
        <p:nvSpPr>
          <p:cNvPr id="8" name="Text 4"/>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오류를 잘 만드는 두 가지</a:t>
            </a:r>
            <a:endParaRPr lang="ko-KR" altLang="en-US" sz="1700" dirty="0"/>
          </a:p>
        </p:txBody>
      </p:sp>
      <p:sp>
        <p:nvSpPr>
          <p:cNvPr id="9" name="Text 5"/>
          <p:cNvSpPr txBox="1"/>
          <p:nvPr/>
        </p:nvSpPr>
        <p:spPr>
          <a:xfrm>
            <a:off x="8092440" y="2423160"/>
            <a:ext cx="3322015" cy="1234440"/>
          </a:xfrm>
          <a:prstGeom prst="rect">
            <a:avLst/>
          </a:prstGeom>
          <a:noFill/>
          <a:ln/>
        </p:spPr>
        <p:txBody>
          <a:bodyPr wrap="square" lIns="0" tIns="0" rIns="0" bIns="0" rtlCol="0" anchor="t"/>
          <a:lstStyle/>
          <a:p>
            <a:pPr indent="0" marL="0" eaLnBrk="0">
              <a:buNone/>
            </a:pPr>
            <a:r>
              <a:rPr lang="ko-KR" altLang="en-US" sz="1400" dirty="0">
                <a:solidFill>
                  <a:schemeClr val="bg1"/>
                </a:solidFill>
              </a:rPr>
              <a:t>여러 갈래로 얽힌 분기, 그리고 시간에 따라 바뀌는 필드. 이 코드에는 둘 다 있다.</a:t>
            </a:r>
            <a:endParaRPr lang="ko-KR" altLang="en-US" sz="1400" dirty="0"/>
          </a:p>
        </p:txBody>
      </p:sp>
      <p:sp>
        <p:nvSpPr>
          <p:cNvPr id="10" name="card"/>
          <p:cNvSpPr/>
          <p:nvPr/>
        </p:nvSpPr>
        <p:spPr>
          <a:xfrm>
            <a:off x="7863840" y="3977640"/>
            <a:ext cx="3779215" cy="1691640"/>
          </a:xfrm>
          <a:prstGeom prst="roundRect">
            <a:avLst>
              <a:gd name="adj" fmla="val 5405"/>
            </a:avLst>
          </a:prstGeom>
          <a:solidFill>
            <a:schemeClr val="bg2"/>
          </a:solidFill>
          <a:ln w="12700">
            <a:solidFill>
              <a:schemeClr val="bg2"/>
            </a:solidFill>
            <a:prstDash val="solid"/>
          </a:ln>
        </p:spPr>
      </p:sp>
      <p:sp>
        <p:nvSpPr>
          <p:cNvPr id="11" name="Text 7"/>
          <p:cNvSpPr txBox="1"/>
          <p:nvPr/>
        </p:nvSpPr>
        <p:spPr>
          <a:xfrm>
            <a:off x="8092440" y="41970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문제는 구조다</a:t>
            </a:r>
            <a:endParaRPr lang="ko-KR" altLang="en-US" sz="1700" dirty="0"/>
          </a:p>
        </p:txBody>
      </p:sp>
      <p:sp>
        <p:nvSpPr>
          <p:cNvPr id="12" name="Text 8"/>
          <p:cNvSpPr txBox="1"/>
          <p:nvPr/>
        </p:nvSpPr>
        <p:spPr>
          <a:xfrm>
            <a:off x="8092440" y="4754880"/>
            <a:ext cx="3322015" cy="7772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버그를 하나씩 막는 것으로는 끝나지 않는다. 걷기를 더하면 또 깨진다.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유한 상태 기계</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유한 상태 기계, 열거형과 switch 문</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상태 그림</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할 수 있는 일을 상자로, 버튼 입력을 화살표로 그린다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그림을 규칙으로 정리하면 무엇일까?</a:t>
            </a:r>
            <a:endParaRPr lang="ko-KR" altLang="en-US" sz="1500" dirty="0"/>
          </a:p>
        </p:txBody>
      </p:sp>
      <p:sp>
        <p:nvSpPr>
          <p:cNvPr id="6" name="Shape 3"/>
          <p:cNvSpPr/>
          <p:nvPr/>
        </p:nvSpPr>
        <p:spPr>
          <a:xfrm flipV="1">
            <a:off x="1874520" y="1965960"/>
            <a:ext cx="2697480" cy="960120"/>
          </a:xfrm>
          <a:prstGeom prst="line">
            <a:avLst/>
          </a:prstGeom>
          <a:noFill/>
          <a:ln w="22225">
            <a:solidFill>
              <a:schemeClr val="tx2"/>
            </a:solidFill>
            <a:prstDash val="solid"/>
            <a:tailEnd type="triangle"/>
          </a:ln>
        </p:spPr>
      </p:sp>
      <p:sp>
        <p:nvSpPr>
          <p:cNvPr id="7" name="Text 4"/>
          <p:cNvSpPr txBox="1"/>
          <p:nvPr/>
        </p:nvSpPr>
        <p:spPr>
          <a:xfrm>
            <a:off x="1737360" y="2103120"/>
            <a:ext cx="1280160" cy="292608"/>
          </a:xfrm>
          <a:prstGeom prst="rect">
            <a:avLst/>
          </a:prstGeom>
          <a:noFill/>
          <a:ln/>
        </p:spPr>
        <p:txBody>
          <a:bodyPr wrap="square" lIns="0" tIns="0" rIns="0" bIns="0" rtlCol="0" anchor="t"/>
          <a:lstStyle/>
          <a:p>
            <a:pPr indent="0" marL="0" eaLnBrk="0">
              <a:buNone/>
            </a:pPr>
            <a:r>
              <a:rPr lang="ko-KR" altLang="en-US" sz="1300" b="1" dirty="0">
                <a:solidFill>
                  <a:schemeClr val="accent5"/>
                </a:solidFill>
              </a:rPr>
              <a:t>B 누름</a:t>
            </a:r>
            <a:endParaRPr lang="ko-KR" altLang="en-US" sz="1300" dirty="0"/>
          </a:p>
        </p:txBody>
      </p:sp>
      <p:sp>
        <p:nvSpPr>
          <p:cNvPr id="8" name="Shape 5"/>
          <p:cNvSpPr/>
          <p:nvPr/>
        </p:nvSpPr>
        <p:spPr>
          <a:xfrm flipH="1">
            <a:off x="2926080" y="2286000"/>
            <a:ext cx="1645920" cy="822960"/>
          </a:xfrm>
          <a:prstGeom prst="line">
            <a:avLst/>
          </a:prstGeom>
          <a:noFill/>
          <a:ln w="22225">
            <a:solidFill>
              <a:schemeClr val="accent3"/>
            </a:solidFill>
            <a:prstDash val="dash"/>
            <a:tailEnd type="triangle"/>
          </a:ln>
        </p:spPr>
      </p:sp>
      <p:sp>
        <p:nvSpPr>
          <p:cNvPr id="9" name="Shape 6"/>
          <p:cNvSpPr/>
          <p:nvPr/>
        </p:nvSpPr>
        <p:spPr>
          <a:xfrm flipH="1">
            <a:off x="2926080" y="2468880"/>
            <a:ext cx="6035040" cy="1005840"/>
          </a:xfrm>
          <a:prstGeom prst="line">
            <a:avLst/>
          </a:prstGeom>
          <a:noFill/>
          <a:ln w="22225">
            <a:solidFill>
              <a:schemeClr val="accent3"/>
            </a:solidFill>
            <a:prstDash val="dash"/>
            <a:tailEnd type="triangle"/>
          </a:ln>
        </p:spPr>
      </p:sp>
      <p:sp>
        <p:nvSpPr>
          <p:cNvPr id="10" name="Shape 7"/>
          <p:cNvSpPr/>
          <p:nvPr/>
        </p:nvSpPr>
        <p:spPr>
          <a:xfrm>
            <a:off x="1874520" y="4160520"/>
            <a:ext cx="2697480" cy="685800"/>
          </a:xfrm>
          <a:prstGeom prst="line">
            <a:avLst/>
          </a:prstGeom>
          <a:noFill/>
          <a:ln w="22225">
            <a:solidFill>
              <a:schemeClr val="tx2"/>
            </a:solidFill>
            <a:prstDash val="solid"/>
            <a:tailEnd type="triangle"/>
          </a:ln>
        </p:spPr>
      </p:sp>
      <p:sp>
        <p:nvSpPr>
          <p:cNvPr id="11" name="Text 8"/>
          <p:cNvSpPr txBox="1"/>
          <p:nvPr/>
        </p:nvSpPr>
        <p:spPr>
          <a:xfrm>
            <a:off x="1005840" y="4709160"/>
            <a:ext cx="1463040" cy="292608"/>
          </a:xfrm>
          <a:prstGeom prst="rect">
            <a:avLst/>
          </a:prstGeom>
          <a:noFill/>
          <a:ln/>
        </p:spPr>
        <p:txBody>
          <a:bodyPr wrap="square" lIns="0" tIns="0" rIns="0" bIns="0" rtlCol="0" anchor="t"/>
          <a:lstStyle/>
          <a:p>
            <a:pPr indent="0" marL="0" eaLnBrk="0">
              <a:buNone/>
            </a:pPr>
            <a:r>
              <a:rPr lang="ko-KR" altLang="en-US" sz="1300" b="1" dirty="0">
                <a:solidFill>
                  <a:schemeClr val="accent5"/>
                </a:solidFill>
              </a:rPr>
              <a:t>아래 누름</a:t>
            </a:r>
            <a:endParaRPr lang="ko-KR" altLang="en-US" sz="1300" dirty="0"/>
          </a:p>
        </p:txBody>
      </p:sp>
      <p:sp>
        <p:nvSpPr>
          <p:cNvPr id="12" name="Shape 9"/>
          <p:cNvSpPr/>
          <p:nvPr/>
        </p:nvSpPr>
        <p:spPr>
          <a:xfrm flipH="1" flipV="1">
            <a:off x="2926080" y="3886200"/>
            <a:ext cx="1645920" cy="731520"/>
          </a:xfrm>
          <a:prstGeom prst="line">
            <a:avLst/>
          </a:prstGeom>
          <a:noFill/>
          <a:ln w="22225">
            <a:solidFill>
              <a:schemeClr val="tx2"/>
            </a:solidFill>
            <a:prstDash val="solid"/>
            <a:tailEnd type="triangle"/>
          </a:ln>
        </p:spPr>
      </p:sp>
      <p:sp>
        <p:nvSpPr>
          <p:cNvPr id="13" name="Text 10"/>
          <p:cNvSpPr txBox="1"/>
          <p:nvPr/>
        </p:nvSpPr>
        <p:spPr>
          <a:xfrm>
            <a:off x="3657600" y="3886200"/>
            <a:ext cx="1097280" cy="292608"/>
          </a:xfrm>
          <a:prstGeom prst="rect">
            <a:avLst/>
          </a:prstGeom>
          <a:noFill/>
          <a:ln/>
        </p:spPr>
        <p:txBody>
          <a:bodyPr wrap="square" lIns="0" tIns="0" rIns="0" bIns="0" rtlCol="0" anchor="t"/>
          <a:lstStyle/>
          <a:p>
            <a:pPr indent="0" marL="0" eaLnBrk="0">
              <a:buNone/>
            </a:pPr>
            <a:r>
              <a:rPr lang="ko-KR" altLang="en-US" sz="1300" b="1" dirty="0">
                <a:solidFill>
                  <a:schemeClr val="accent5"/>
                </a:solidFill>
              </a:rPr>
              <a:t>아래 뗌</a:t>
            </a:r>
            <a:endParaRPr lang="ko-KR" altLang="en-US" sz="1300" dirty="0"/>
          </a:p>
        </p:txBody>
      </p:sp>
      <p:sp>
        <p:nvSpPr>
          <p:cNvPr id="14" name="Shape 11"/>
          <p:cNvSpPr/>
          <p:nvPr/>
        </p:nvSpPr>
        <p:spPr>
          <a:xfrm>
            <a:off x="6675120" y="2075688"/>
            <a:ext cx="1920240" cy="914"/>
          </a:xfrm>
          <a:prstGeom prst="line">
            <a:avLst/>
          </a:prstGeom>
          <a:noFill/>
          <a:ln w="22225">
            <a:solidFill>
              <a:schemeClr val="tx2"/>
            </a:solidFill>
            <a:prstDash val="solid"/>
            <a:tailEnd type="triangle"/>
          </a:ln>
        </p:spPr>
      </p:sp>
      <p:sp>
        <p:nvSpPr>
          <p:cNvPr id="15" name="Text 12"/>
          <p:cNvSpPr txBox="1"/>
          <p:nvPr/>
        </p:nvSpPr>
        <p:spPr>
          <a:xfrm>
            <a:off x="6949440" y="1719072"/>
            <a:ext cx="1463040" cy="292608"/>
          </a:xfrm>
          <a:prstGeom prst="rect">
            <a:avLst/>
          </a:prstGeom>
          <a:noFill/>
          <a:ln/>
        </p:spPr>
        <p:txBody>
          <a:bodyPr wrap="square" lIns="0" tIns="0" rIns="0" bIns="0" rtlCol="0" anchor="t"/>
          <a:lstStyle/>
          <a:p>
            <a:pPr indent="0" marL="0" eaLnBrk="0">
              <a:buNone/>
            </a:pPr>
            <a:r>
              <a:rPr lang="ko-KR" altLang="en-US" sz="1300" b="1" dirty="0">
                <a:solidFill>
                  <a:schemeClr val="accent5"/>
                </a:solidFill>
              </a:rPr>
              <a:t>아래 누름</a:t>
            </a:r>
            <a:endParaRPr lang="ko-KR" altLang="en-US" sz="1300" dirty="0"/>
          </a:p>
        </p:txBody>
      </p:sp>
      <p:sp>
        <p:nvSpPr>
          <p:cNvPr id="16" name="box"/>
          <p:cNvSpPr/>
          <p:nvPr/>
        </p:nvSpPr>
        <p:spPr>
          <a:xfrm>
            <a:off x="822960" y="2926080"/>
            <a:ext cx="2103120" cy="1234440"/>
          </a:xfrm>
          <a:prstGeom prst="roundRect">
            <a:avLst>
              <a:gd name="adj" fmla="val 5926"/>
            </a:avLst>
          </a:prstGeom>
          <a:solidFill>
            <a:schemeClr val="accent1"/>
          </a:solidFill>
          <a:ln w="12700">
            <a:solidFill>
              <a:schemeClr val="accent1"/>
            </a:solidFill>
            <a:prstDash val="solid"/>
          </a:ln>
        </p:spPr>
      </p:sp>
      <p:sp>
        <p:nvSpPr>
          <p:cNvPr id="17" name="Text 14"/>
          <p:cNvSpPr txBox="1"/>
          <p:nvPr/>
        </p:nvSpPr>
        <p:spPr>
          <a:xfrm>
            <a:off x="822960" y="2926080"/>
            <a:ext cx="2103120" cy="12344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서 있기</a:t>
            </a:r>
            <a:endParaRPr lang="ko-KR" altLang="en-US" sz="1600" dirty="0"/>
          </a:p>
        </p:txBody>
      </p:sp>
      <p:sp>
        <p:nvSpPr>
          <p:cNvPr id="18" name="box"/>
          <p:cNvSpPr/>
          <p:nvPr/>
        </p:nvSpPr>
        <p:spPr>
          <a:xfrm>
            <a:off x="4572000" y="1691640"/>
            <a:ext cx="2103120" cy="777240"/>
          </a:xfrm>
          <a:prstGeom prst="roundRect">
            <a:avLst>
              <a:gd name="adj" fmla="val 9412"/>
            </a:avLst>
          </a:prstGeom>
          <a:solidFill>
            <a:schemeClr val="accent1"/>
          </a:solidFill>
          <a:ln w="12700">
            <a:solidFill>
              <a:schemeClr val="accent1"/>
            </a:solidFill>
            <a:prstDash val="solid"/>
          </a:ln>
        </p:spPr>
      </p:sp>
      <p:sp>
        <p:nvSpPr>
          <p:cNvPr id="19" name="Text 16"/>
          <p:cNvSpPr txBox="1"/>
          <p:nvPr/>
        </p:nvSpPr>
        <p:spPr>
          <a:xfrm>
            <a:off x="4572000" y="1691640"/>
            <a:ext cx="210312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점프</a:t>
            </a:r>
            <a:endParaRPr lang="ko-KR" altLang="en-US" sz="1600" dirty="0"/>
          </a:p>
        </p:txBody>
      </p:sp>
      <p:sp>
        <p:nvSpPr>
          <p:cNvPr id="20" name="box"/>
          <p:cNvSpPr/>
          <p:nvPr/>
        </p:nvSpPr>
        <p:spPr>
          <a:xfrm>
            <a:off x="4572000" y="4572000"/>
            <a:ext cx="2103120" cy="777240"/>
          </a:xfrm>
          <a:prstGeom prst="roundRect">
            <a:avLst>
              <a:gd name="adj" fmla="val 9412"/>
            </a:avLst>
          </a:prstGeom>
          <a:solidFill>
            <a:schemeClr val="accent1"/>
          </a:solidFill>
          <a:ln w="12700">
            <a:solidFill>
              <a:schemeClr val="accent1"/>
            </a:solidFill>
            <a:prstDash val="solid"/>
          </a:ln>
        </p:spPr>
      </p:sp>
      <p:sp>
        <p:nvSpPr>
          <p:cNvPr id="21" name="Text 18"/>
          <p:cNvSpPr txBox="1"/>
          <p:nvPr/>
        </p:nvSpPr>
        <p:spPr>
          <a:xfrm>
            <a:off x="4572000" y="4572000"/>
            <a:ext cx="210312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엎드리기</a:t>
            </a:r>
            <a:endParaRPr lang="ko-KR" altLang="en-US" sz="1600" dirty="0"/>
          </a:p>
        </p:txBody>
      </p:sp>
      <p:sp>
        <p:nvSpPr>
          <p:cNvPr id="22" name="box"/>
          <p:cNvSpPr/>
          <p:nvPr/>
        </p:nvSpPr>
        <p:spPr>
          <a:xfrm>
            <a:off x="8595360" y="1691640"/>
            <a:ext cx="2103120" cy="777240"/>
          </a:xfrm>
          <a:prstGeom prst="roundRect">
            <a:avLst>
              <a:gd name="adj" fmla="val 9412"/>
            </a:avLst>
          </a:prstGeom>
          <a:solidFill>
            <a:schemeClr val="accent1"/>
          </a:solidFill>
          <a:ln w="12700">
            <a:solidFill>
              <a:schemeClr val="accent1"/>
            </a:solidFill>
            <a:prstDash val="solid"/>
          </a:ln>
        </p:spPr>
      </p:sp>
      <p:sp>
        <p:nvSpPr>
          <p:cNvPr id="23" name="Text 20"/>
          <p:cNvSpPr txBox="1"/>
          <p:nvPr/>
        </p:nvSpPr>
        <p:spPr>
          <a:xfrm>
            <a:off x="8595360" y="1691640"/>
            <a:ext cx="210312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내려찍기</a:t>
            </a:r>
            <a:endParaRPr lang="ko-KR" altLang="en-US" sz="1600" dirty="0"/>
          </a:p>
        </p:txBody>
      </p:sp>
      <p:sp>
        <p:nvSpPr>
          <p:cNvPr id="24" name="card"/>
          <p:cNvSpPr/>
          <p:nvPr/>
        </p:nvSpPr>
        <p:spPr>
          <a:xfrm>
            <a:off x="7498080" y="3108960"/>
            <a:ext cx="4144975" cy="2560320"/>
          </a:xfrm>
          <a:prstGeom prst="roundRect">
            <a:avLst>
              <a:gd name="adj" fmla="val 3571"/>
            </a:avLst>
          </a:prstGeom>
          <a:solidFill>
            <a:schemeClr val="bg2"/>
          </a:solidFill>
          <a:ln w="12700">
            <a:solidFill>
              <a:schemeClr val="bg2"/>
            </a:solidFill>
            <a:prstDash val="solid"/>
          </a:ln>
        </p:spPr>
      </p:sp>
      <p:sp>
        <p:nvSpPr>
          <p:cNvPr id="25" name="Text 22"/>
          <p:cNvSpPr txBox="1"/>
          <p:nvPr/>
        </p:nvSpPr>
        <p:spPr>
          <a:xfrm>
            <a:off x="7726680" y="332841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읽는 법</a:t>
            </a:r>
            <a:endParaRPr lang="ko-KR" altLang="en-US" sz="1700" dirty="0"/>
          </a:p>
        </p:txBody>
      </p:sp>
      <p:sp>
        <p:nvSpPr>
          <p:cNvPr id="26" name="Text 23"/>
          <p:cNvSpPr txBox="1"/>
          <p:nvPr/>
        </p:nvSpPr>
        <p:spPr>
          <a:xfrm>
            <a:off x="7726680" y="3886200"/>
            <a:ext cx="3687775" cy="16459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실선: 버튼 입력으로 바뀐다.</a:t>
            </a:r>
            <a:endParaRPr lang="ko-KR" altLang="en-US" sz="1400" dirty="0"/>
          </a:p>
          <a:p>
            <a:pPr indent="0" marL="0" eaLnBrk="0">
              <a:spcAft>
                <a:spcPts val="400"/>
              </a:spcAft>
              <a:buNone/>
            </a:pPr>
            <a:r>
              <a:rPr lang="ko-KR" altLang="en-US" sz="1400" dirty="0">
                <a:solidFill>
                  <a:schemeClr val="tx2"/>
                </a:solidFill>
              </a:rPr>
              <a:t>점선: 땅에 닿으면 서 있기로 돌아온다.</a:t>
            </a:r>
            <a:endParaRPr lang="ko-KR" altLang="en-US" sz="1400" dirty="0"/>
          </a:p>
          <a:p>
            <a:pPr indent="0" marL="0" eaLnBrk="0">
              <a:spcAft>
                <a:spcPts val="400"/>
              </a:spcAft>
              <a:buNone/>
            </a:pPr>
            <a:r>
              <a:rPr lang="ko-KR" altLang="en-US" sz="1400" dirty="0">
                <a:solidFill>
                  <a:schemeClr val="tx2"/>
                </a:solidFill>
              </a:rPr>
              <a:t>그림에 없는 입력은 무시한다. 점프 중의 B 입력이 그렇다.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유한 상태 기계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상태, 입력, 전환. 규칙은 이것이 전부이다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그림을 코드로 옮기는 가장 단순한 방법은 무엇일까?</a:t>
            </a:r>
            <a:endParaRPr lang="ko-KR" altLang="en-US" sz="1500" dirty="0"/>
          </a:p>
        </p:txBody>
      </p:sp>
      <p:sp>
        <p:nvSpPr>
          <p:cNvPr id="6" name="card"/>
          <p:cNvSpPr/>
          <p:nvPr/>
        </p:nvSpPr>
        <p:spPr>
          <a:xfrm>
            <a:off x="548640" y="1645920"/>
            <a:ext cx="3474720" cy="1828800"/>
          </a:xfrm>
          <a:prstGeom prst="roundRect">
            <a:avLst>
              <a:gd name="adj" fmla="val 5000"/>
            </a:avLst>
          </a:prstGeom>
          <a:solidFill>
            <a:schemeClr val="bg2"/>
          </a:solidFill>
          <a:ln w="12700">
            <a:solidFill>
              <a:schemeClr val="bg2"/>
            </a:solidFill>
            <a:prstDash val="solid"/>
          </a:ln>
        </p:spPr>
      </p:sp>
      <p:sp>
        <p:nvSpPr>
          <p:cNvPr id="7" name="Shape 4"/>
          <p:cNvSpPr/>
          <p:nvPr/>
        </p:nvSpPr>
        <p:spPr>
          <a:xfrm>
            <a:off x="777240" y="184708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65376"/>
            <a:ext cx="25146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정해진 상태 목록</a:t>
            </a:r>
            <a:endParaRPr lang="ko-KR" altLang="en-US" sz="1700" dirty="0"/>
          </a:p>
        </p:txBody>
      </p:sp>
      <p:sp>
        <p:nvSpPr>
          <p:cNvPr id="10" name="Text 7"/>
          <p:cNvSpPr txBox="1"/>
          <p:nvPr/>
        </p:nvSpPr>
        <p:spPr>
          <a:xfrm>
            <a:off x="1325880" y="2267712"/>
            <a:ext cx="2514600"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상태는 서 있기, 점프, 엎드리기, 내려찍기 넷뿐이다.</a:t>
            </a:r>
            <a:endParaRPr lang="ko-KR" altLang="en-US" sz="1400" dirty="0"/>
          </a:p>
        </p:txBody>
      </p:sp>
      <p:sp>
        <p:nvSpPr>
          <p:cNvPr id="11" name="card"/>
          <p:cNvSpPr/>
          <p:nvPr/>
        </p:nvSpPr>
        <p:spPr>
          <a:xfrm>
            <a:off x="4206240" y="1645920"/>
            <a:ext cx="3474720" cy="1828800"/>
          </a:xfrm>
          <a:prstGeom prst="roundRect">
            <a:avLst>
              <a:gd name="adj" fmla="val 5000"/>
            </a:avLst>
          </a:prstGeom>
          <a:solidFill>
            <a:schemeClr val="bg2"/>
          </a:solidFill>
          <a:ln w="12700">
            <a:solidFill>
              <a:schemeClr val="bg2"/>
            </a:solidFill>
            <a:prstDash val="solid"/>
          </a:ln>
        </p:spPr>
      </p:sp>
      <p:sp>
        <p:nvSpPr>
          <p:cNvPr id="12" name="Shape 9"/>
          <p:cNvSpPr/>
          <p:nvPr/>
        </p:nvSpPr>
        <p:spPr>
          <a:xfrm>
            <a:off x="4434840" y="18470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4434840"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4983480" y="1865376"/>
            <a:ext cx="25146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한 번에 한 상태</a:t>
            </a:r>
            <a:endParaRPr lang="ko-KR" altLang="en-US" sz="1700" dirty="0"/>
          </a:p>
        </p:txBody>
      </p:sp>
      <p:sp>
        <p:nvSpPr>
          <p:cNvPr id="15" name="Text 12"/>
          <p:cNvSpPr txBox="1"/>
          <p:nvPr/>
        </p:nvSpPr>
        <p:spPr>
          <a:xfrm>
            <a:off x="4983480" y="2267712"/>
            <a:ext cx="2514600"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점프하면서 동시에</a:t>
            </a:r>
            <a:endParaRPr lang="ko-KR" altLang="en-US" sz="1400" dirty="0"/>
          </a:p>
          <a:p>
            <a:pPr indent="0" marL="0" eaLnBrk="0">
              <a:buNone/>
            </a:pPr>
            <a:r>
              <a:rPr lang="ko-KR" altLang="en-US" sz="1400" dirty="0">
                <a:solidFill>
                  <a:schemeClr val="tx2"/>
                </a:solidFill>
              </a:rPr>
              <a:t>서 있을 수는 없다.</a:t>
            </a:r>
            <a:endParaRPr lang="ko-KR" altLang="en-US" sz="1400" dirty="0"/>
          </a:p>
        </p:txBody>
      </p:sp>
      <p:sp>
        <p:nvSpPr>
          <p:cNvPr id="16" name="card"/>
          <p:cNvSpPr/>
          <p:nvPr/>
        </p:nvSpPr>
        <p:spPr>
          <a:xfrm>
            <a:off x="548640" y="3657600"/>
            <a:ext cx="3474720" cy="1828800"/>
          </a:xfrm>
          <a:prstGeom prst="roundRect">
            <a:avLst>
              <a:gd name="adj" fmla="val 5000"/>
            </a:avLst>
          </a:prstGeom>
          <a:solidFill>
            <a:schemeClr val="bg2"/>
          </a:solidFill>
          <a:ln w="12700">
            <a:solidFill>
              <a:schemeClr val="bg2"/>
            </a:solidFill>
            <a:prstDash val="solid"/>
          </a:ln>
        </p:spPr>
      </p:sp>
      <p:sp>
        <p:nvSpPr>
          <p:cNvPr id="17" name="Shape 14"/>
          <p:cNvSpPr/>
          <p:nvPr/>
        </p:nvSpPr>
        <p:spPr>
          <a:xfrm>
            <a:off x="777240" y="385876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38587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3877056"/>
            <a:ext cx="25146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차례로 들어오는 입력</a:t>
            </a:r>
            <a:endParaRPr lang="ko-KR" altLang="en-US" sz="1700" dirty="0"/>
          </a:p>
        </p:txBody>
      </p:sp>
      <p:sp>
        <p:nvSpPr>
          <p:cNvPr id="20" name="Text 17"/>
          <p:cNvSpPr txBox="1"/>
          <p:nvPr/>
        </p:nvSpPr>
        <p:spPr>
          <a:xfrm>
            <a:off x="1325880" y="4279392"/>
            <a:ext cx="2514600"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버튼을 누르고 떼는 사건이 하나씩 들어온다.</a:t>
            </a:r>
            <a:endParaRPr lang="ko-KR" altLang="en-US" sz="1400" dirty="0"/>
          </a:p>
        </p:txBody>
      </p:sp>
      <p:sp>
        <p:nvSpPr>
          <p:cNvPr id="21" name="card"/>
          <p:cNvSpPr/>
          <p:nvPr/>
        </p:nvSpPr>
        <p:spPr>
          <a:xfrm>
            <a:off x="4206240" y="3657600"/>
            <a:ext cx="3474720" cy="1828800"/>
          </a:xfrm>
          <a:prstGeom prst="roundRect">
            <a:avLst>
              <a:gd name="adj" fmla="val 5000"/>
            </a:avLst>
          </a:prstGeom>
          <a:solidFill>
            <a:schemeClr val="bg2"/>
          </a:solidFill>
          <a:ln w="12700">
            <a:solidFill>
              <a:schemeClr val="bg2"/>
            </a:solidFill>
            <a:prstDash val="solid"/>
          </a:ln>
        </p:spPr>
      </p:sp>
      <p:sp>
        <p:nvSpPr>
          <p:cNvPr id="22" name="Shape 19"/>
          <p:cNvSpPr/>
          <p:nvPr/>
        </p:nvSpPr>
        <p:spPr>
          <a:xfrm>
            <a:off x="4434840" y="3858768"/>
            <a:ext cx="420624" cy="420624"/>
          </a:xfrm>
          <a:prstGeom prst="ellipse">
            <a:avLst/>
          </a:prstGeom>
          <a:solidFill>
            <a:schemeClr val="accent1"/>
          </a:solidFill>
          <a:ln w="12700">
            <a:solidFill>
              <a:schemeClr val="accent1"/>
            </a:solidFill>
            <a:prstDash val="solid"/>
          </a:ln>
        </p:spPr>
      </p:sp>
      <p:sp>
        <p:nvSpPr>
          <p:cNvPr id="23" name="Text 20"/>
          <p:cNvSpPr txBox="1"/>
          <p:nvPr/>
        </p:nvSpPr>
        <p:spPr>
          <a:xfrm>
            <a:off x="4434840" y="38587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4" name="Text 21"/>
          <p:cNvSpPr txBox="1"/>
          <p:nvPr/>
        </p:nvSpPr>
        <p:spPr>
          <a:xfrm>
            <a:off x="4983480" y="3877056"/>
            <a:ext cx="25146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상태마다의 전환</a:t>
            </a:r>
            <a:endParaRPr lang="ko-KR" altLang="en-US" sz="1700" dirty="0"/>
          </a:p>
        </p:txBody>
      </p:sp>
      <p:sp>
        <p:nvSpPr>
          <p:cNvPr id="25" name="Text 22"/>
          <p:cNvSpPr txBox="1"/>
          <p:nvPr/>
        </p:nvSpPr>
        <p:spPr>
          <a:xfrm>
            <a:off x="4983480" y="4279392"/>
            <a:ext cx="2514600"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입력이 현재 상태의 전환과 맞으면 그 상태로 바뀐다. 맞는 전환이 없으면 무시한다.</a:t>
            </a:r>
            <a:endParaRPr lang="ko-KR" altLang="en-US" sz="1400" dirty="0"/>
          </a:p>
        </p:txBody>
      </p:sp>
      <p:sp>
        <p:nvSpPr>
          <p:cNvPr id="26" name="card"/>
          <p:cNvSpPr/>
          <p:nvPr/>
        </p:nvSpPr>
        <p:spPr>
          <a:xfrm>
            <a:off x="8046720" y="1645920"/>
            <a:ext cx="3596335" cy="3840480"/>
          </a:xfrm>
          <a:prstGeom prst="roundRect">
            <a:avLst>
              <a:gd name="adj" fmla="val 2543"/>
            </a:avLst>
          </a:prstGeom>
          <a:solidFill>
            <a:schemeClr val="tx2"/>
          </a:solidFill>
          <a:ln w="12700">
            <a:solidFill>
              <a:schemeClr val="tx2"/>
            </a:solidFill>
            <a:prstDash val="solid"/>
          </a:ln>
        </p:spPr>
      </p:sp>
      <p:sp>
        <p:nvSpPr>
          <p:cNvPr id="27" name="Text 24"/>
          <p:cNvSpPr txBox="1"/>
          <p:nvPr/>
        </p:nvSpPr>
        <p:spPr>
          <a:xfrm>
            <a:off x="8275320" y="1865376"/>
            <a:ext cx="318485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텍스트 어드벤처로 보면</a:t>
            </a:r>
            <a:endParaRPr lang="ko-KR" altLang="en-US" sz="1700" dirty="0"/>
          </a:p>
        </p:txBody>
      </p:sp>
      <p:sp>
        <p:nvSpPr>
          <p:cNvPr id="28" name="Text 25"/>
          <p:cNvSpPr txBox="1"/>
          <p:nvPr/>
        </p:nvSpPr>
        <p:spPr>
          <a:xfrm>
            <a:off x="8275320" y="2423160"/>
            <a:ext cx="3139135" cy="2926080"/>
          </a:xfrm>
          <a:prstGeom prst="rect">
            <a:avLst/>
          </a:prstGeom>
          <a:noFill/>
          <a:ln/>
        </p:spPr>
        <p:txBody>
          <a:bodyPr wrap="square" lIns="0" tIns="0" rIns="0" bIns="0" rtlCol="0" anchor="t"/>
          <a:lstStyle/>
          <a:p>
            <a:pPr indent="0" marL="0" eaLnBrk="0">
              <a:buNone/>
            </a:pPr>
            <a:r>
              <a:rPr lang="ko-KR" altLang="en-US" sz="1400" dirty="0">
                <a:solidFill>
                  <a:schemeClr val="bg1"/>
                </a:solidFill>
              </a:rPr>
              <a:t>방 하나가 상태 하나이다.</a:t>
            </a:r>
            <a:endParaRPr lang="ko-KR" altLang="en-US" sz="1400" dirty="0"/>
          </a:p>
          <a:p>
            <a:pPr indent="0" marL="0" eaLnBrk="0">
              <a:buNone/>
            </a:pPr>
            <a:r>
              <a:rPr lang="ko-KR" altLang="en-US" sz="1400" dirty="0">
                <a:solidFill>
                  <a:schemeClr val="bg1"/>
                </a:solidFill>
              </a:rPr>
              <a:t>지금 있는 방이 현재 상태이다.</a:t>
            </a:r>
            <a:endParaRPr lang="ko-KR" altLang="en-US" sz="1400" dirty="0"/>
          </a:p>
          <a:p>
            <a:pPr indent="0" marL="0" eaLnBrk="0">
              <a:buNone/>
            </a:pPr>
            <a:r>
              <a:rPr lang="ko-KR" altLang="en-US" sz="1400" dirty="0">
                <a:solidFill>
                  <a:schemeClr val="bg1"/>
                </a:solidFill>
              </a:rPr>
              <a:t>방의 출구가 전환이다.</a:t>
            </a:r>
            <a:endParaRPr lang="ko-KR" altLang="en-US" sz="1400" dirty="0"/>
          </a:p>
          <a:p>
            <a:pPr indent="0" marL="0" eaLnBrk="0">
              <a:buNone/>
            </a:pPr>
            <a:r>
              <a:rPr lang="ko-KR" altLang="en-US" sz="1400" dirty="0">
                <a:solidFill>
                  <a:schemeClr val="bg1"/>
                </a:solidFill>
              </a:rPr>
              <a:t>‘북쪽으로 가기’ 같은 명령이 입력이다.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열거형</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동시에 하나만 참인 플래그들은 열거형 하나로 바꾼다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그럼 상태마다의 처리는 코드에서 어떻게 묶을까?</a:t>
            </a:r>
            <a:endParaRPr lang="ko-KR" altLang="en-US" sz="1500" dirty="0"/>
          </a:p>
        </p:txBody>
      </p:sp>
      <p:sp>
        <p:nvSpPr>
          <p:cNvPr id="6" name="codePanel"/>
          <p:cNvSpPr/>
          <p:nvPr/>
        </p:nvSpPr>
        <p:spPr>
          <a:xfrm>
            <a:off x="548640" y="1645920"/>
            <a:ext cx="5760720" cy="3108960"/>
          </a:xfrm>
          <a:prstGeom prst="roundRect">
            <a:avLst>
              <a:gd name="adj" fmla="val 2353"/>
            </a:avLst>
          </a:prstGeom>
          <a:solidFill>
            <a:schemeClr val="tx1"/>
          </a:solidFill>
          <a:ln w="12700">
            <a:solidFill>
              <a:schemeClr val="tx1"/>
            </a:solidFill>
            <a:prstDash val="solid"/>
          </a:ln>
        </p:spPr>
      </p:sp>
      <p:sp>
        <p:nvSpPr>
          <p:cNvPr id="7" name="code"/>
          <p:cNvSpPr txBox="1"/>
          <p:nvPr/>
        </p:nvSpPr>
        <p:spPr>
          <a:xfrm>
            <a:off x="658368" y="1737360"/>
            <a:ext cx="5541264" cy="29260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enum State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Standing,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Jumping,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Ducking,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Diving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Heroine: 플래그 두 개 대신 필드 하나</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State _state = State.Standing;</a:t>
            </a:r>
            <a:endParaRPr lang="ko-KR" altLang="en-US" sz="1400" dirty="0"/>
          </a:p>
        </p:txBody>
      </p:sp>
      <p:sp>
        <p:nvSpPr>
          <p:cNvPr id="8" name="codeCaption"/>
          <p:cNvSpPr txBox="1"/>
          <p:nvPr/>
        </p:nvSpPr>
        <p:spPr>
          <a:xfrm>
            <a:off x="320040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Shape 6"/>
          <p:cNvSpPr/>
          <p:nvPr/>
        </p:nvSpPr>
        <p:spPr>
          <a:xfrm>
            <a:off x="6675120" y="1645920"/>
            <a:ext cx="4967935" cy="1463040"/>
          </a:xfrm>
          <a:prstGeom prst="roundRect">
            <a:avLst>
              <a:gd name="adj" fmla="val 6250"/>
            </a:avLst>
          </a:prstGeom>
          <a:solidFill>
            <a:schemeClr val="bg2"/>
          </a:solidFill>
          <a:ln w="12700">
            <a:solidFill>
              <a:schemeClr val="bg2"/>
            </a:solidFill>
            <a:prstDash val="solid"/>
          </a:ln>
        </p:spPr>
      </p:sp>
      <p:sp>
        <p:nvSpPr>
          <p:cNvPr id="10" name="Text 7"/>
          <p:cNvSpPr txBox="1"/>
          <p:nvPr/>
        </p:nvSpPr>
        <p:spPr>
          <a:xfrm>
            <a:off x="6949440" y="1810512"/>
            <a:ext cx="4419295" cy="411480"/>
          </a:xfrm>
          <a:prstGeom prst="rect">
            <a:avLst/>
          </a:prstGeom>
          <a:noFill/>
          <a:ln/>
        </p:spPr>
        <p:txBody>
          <a:bodyPr wrap="square" lIns="0" tIns="0" rIns="0" bIns="0" rtlCol="0" anchor="t"/>
          <a:lstStyle/>
          <a:p>
            <a:pPr indent="0" marL="0" eaLnBrk="0">
              <a:buNone/>
            </a:pPr>
            <a:r>
              <a:rPr lang="ko-KR" altLang="en-US" sz="1700" b="1" dirty="0">
                <a:solidFill>
                  <a:schemeClr val="accent6"/>
                </a:solidFill>
              </a:rPr>
              <a:t>bool 플래그 두 개</a:t>
            </a:r>
            <a:endParaRPr lang="ko-KR" altLang="en-US" sz="1700" dirty="0"/>
          </a:p>
        </p:txBody>
      </p:sp>
      <p:sp>
        <p:nvSpPr>
          <p:cNvPr id="11" name="Text 8"/>
          <p:cNvSpPr txBox="1"/>
          <p:nvPr/>
        </p:nvSpPr>
        <p:spPr>
          <a:xfrm>
            <a:off x="6949440" y="2286000"/>
            <a:ext cx="441929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값의 조합이 4가지이다. 그중 true, true는 의미가 없다.</a:t>
            </a:r>
            <a:endParaRPr lang="ko-KR" altLang="en-US" sz="1400" dirty="0"/>
          </a:p>
        </p:txBody>
      </p:sp>
      <p:sp>
        <p:nvSpPr>
          <p:cNvPr id="12" name="Shape 9"/>
          <p:cNvSpPr/>
          <p:nvPr/>
        </p:nvSpPr>
        <p:spPr>
          <a:xfrm>
            <a:off x="6675120" y="3291840"/>
            <a:ext cx="4967935" cy="1463040"/>
          </a:xfrm>
          <a:prstGeom prst="roundRect">
            <a:avLst>
              <a:gd name="adj" fmla="val 6250"/>
            </a:avLst>
          </a:prstGeom>
          <a:solidFill>
            <a:schemeClr val="bg2"/>
          </a:solidFill>
          <a:ln w="12700">
            <a:solidFill>
              <a:schemeClr val="bg2"/>
            </a:solidFill>
            <a:prstDash val="solid"/>
          </a:ln>
        </p:spPr>
      </p:sp>
      <p:sp>
        <p:nvSpPr>
          <p:cNvPr id="13" name="Text 10"/>
          <p:cNvSpPr txBox="1"/>
          <p:nvPr/>
        </p:nvSpPr>
        <p:spPr>
          <a:xfrm>
            <a:off x="6949440" y="3456432"/>
            <a:ext cx="4419295" cy="41148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열거형 하나</a:t>
            </a:r>
            <a:endParaRPr lang="ko-KR" altLang="en-US" sz="1700" dirty="0"/>
          </a:p>
        </p:txBody>
      </p:sp>
      <p:sp>
        <p:nvSpPr>
          <p:cNvPr id="14" name="Text 11"/>
          <p:cNvSpPr txBox="1"/>
          <p:nvPr/>
        </p:nvSpPr>
        <p:spPr>
          <a:xfrm>
            <a:off x="6949440" y="3931920"/>
            <a:ext cx="441929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값이 4가지이고, 모두 실제 상태이다.</a:t>
            </a:r>
            <a:endParaRPr lang="ko-KR" altLang="en-US" sz="1400" dirty="0"/>
          </a:p>
          <a:p>
            <a:pPr indent="0" marL="0" eaLnBrk="0">
              <a:buNone/>
            </a:pPr>
            <a:r>
              <a:rPr lang="ko-KR" altLang="en-US" sz="1400" dirty="0">
                <a:solidFill>
                  <a:schemeClr val="tx2"/>
                </a:solidFill>
              </a:rPr>
              <a:t>잘못된 조합이 생길 수 없다.</a:t>
            </a:r>
            <a:endParaRPr lang="ko-KR" altLang="en-US" sz="1400" dirty="0"/>
          </a:p>
        </p:txBody>
      </p:sp>
      <p:sp>
        <p:nvSpPr>
          <p:cNvPr id="15" name="Text 12"/>
          <p:cNvSpPr txBox="1"/>
          <p:nvPr/>
        </p:nvSpPr>
        <p:spPr>
          <a:xfrm>
            <a:off x="548640" y="5029200"/>
            <a:ext cx="11094415" cy="548640"/>
          </a:xfrm>
          <a:prstGeom prst="rect">
            <a:avLst/>
          </a:prstGeom>
          <a:noFill/>
          <a:ln/>
        </p:spPr>
        <p:txBody>
          <a:bodyPr wrap="square" lIns="0" tIns="0" rIns="0" bIns="0" rtlCol="0" anchor="t"/>
          <a:lstStyle/>
          <a:p>
            <a:pPr indent="0" marL="0" eaLnBrk="0">
              <a:buNone/>
            </a:pPr>
            <a:r>
              <a:rPr lang="ko-KR" altLang="en-US" sz="1500" dirty="0">
                <a:solidFill>
                  <a:schemeClr val="tx2"/>
                </a:solidFill>
              </a:rPr>
              <a:t>분기 순서도 바꾼다. 입력을 먼저 묻던 코드를, 상태를 먼저 묻는 코드로 바꾼다.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switch</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상태를 먼저 묻고, 그 안에서 입력을 묻는다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엎드려서 힘을 모으는 공격을 더하면 어떻게 될까?</a:t>
            </a:r>
            <a:endParaRPr lang="ko-KR" altLang="en-US" sz="1500" dirty="0"/>
          </a:p>
        </p:txBody>
      </p:sp>
      <p:sp>
        <p:nvSpPr>
          <p:cNvPr id="6" name="codePanel"/>
          <p:cNvSpPr/>
          <p:nvPr/>
        </p:nvSpPr>
        <p:spPr>
          <a:xfrm>
            <a:off x="548640" y="1600200"/>
            <a:ext cx="5440680" cy="3520440"/>
          </a:xfrm>
          <a:prstGeom prst="roundRect">
            <a:avLst>
              <a:gd name="adj" fmla="val 2078"/>
            </a:avLst>
          </a:prstGeom>
          <a:solidFill>
            <a:schemeClr val="tx1"/>
          </a:solidFill>
          <a:ln w="12700">
            <a:solidFill>
              <a:schemeClr val="tx1"/>
            </a:solidFill>
            <a:prstDash val="solid"/>
          </a:ln>
        </p:spPr>
      </p:sp>
      <p:sp>
        <p:nvSpPr>
          <p:cNvPr id="7" name="code"/>
          <p:cNvSpPr txBox="1"/>
          <p:nvPr/>
        </p:nvSpPr>
        <p:spPr>
          <a:xfrm>
            <a:off x="658368" y="1691640"/>
            <a:ext cx="5221224" cy="333756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void HandleInput(Input input)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switch (_state)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case State.Standing: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(input == Input.PressB)</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_state = State.Jumping;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_yVelocity = JumpVelocity;</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SetGraphics(Image.Jump);</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else if (input == Input.PressDown)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_state = State.Ducking;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SetGraphics(Image.Duck);</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break;</a:t>
            </a:r>
            <a:endParaRPr lang="ko-KR" altLang="en-US" sz="1200" dirty="0"/>
          </a:p>
        </p:txBody>
      </p:sp>
      <p:sp>
        <p:nvSpPr>
          <p:cNvPr id="8" name="codeCaption"/>
          <p:cNvSpPr txBox="1"/>
          <p:nvPr/>
        </p:nvSpPr>
        <p:spPr>
          <a:xfrm>
            <a:off x="28803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6199632" y="1600200"/>
            <a:ext cx="5443423" cy="3520440"/>
          </a:xfrm>
          <a:prstGeom prst="roundRect">
            <a:avLst>
              <a:gd name="adj" fmla="val 2078"/>
            </a:avLst>
          </a:prstGeom>
          <a:solidFill>
            <a:schemeClr val="tx1"/>
          </a:solidFill>
          <a:ln w="12700">
            <a:solidFill>
              <a:schemeClr val="tx1"/>
            </a:solidFill>
            <a:prstDash val="solid"/>
          </a:ln>
        </p:spPr>
      </p:sp>
      <p:sp>
        <p:nvSpPr>
          <p:cNvPr id="10" name="code"/>
          <p:cNvSpPr txBox="1"/>
          <p:nvPr/>
        </p:nvSpPr>
        <p:spPr>
          <a:xfrm>
            <a:off x="6309360" y="1691640"/>
            <a:ext cx="5223967" cy="3337560"/>
          </a:xfrm>
          <a:prstGeom prst="rect">
            <a:avLst/>
          </a:prstGeom>
          <a:noFill/>
          <a:ln/>
        </p:spPr>
        <p:txBody>
          <a:bodyPr wrap="square" lIns="635" tIns="635" rIns="635" bIns="635" rtlCol="0" anchor="t"/>
          <a:lstStyle/>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case State.Jumping: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(input == Input.PressDown)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_state = State.Diving;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SetGraphics(Image.Dive);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break;</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case State.Ducking: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(input == Input.ReleaseDown)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_state = State.Standing;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SetGraphics(Image.Stand);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break;</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11" name="Text 8"/>
          <p:cNvSpPr txBox="1"/>
          <p:nvPr/>
        </p:nvSpPr>
        <p:spPr>
          <a:xfrm>
            <a:off x="548640" y="5303520"/>
            <a:ext cx="11094415" cy="457200"/>
          </a:xfrm>
          <a:prstGeom prst="rect">
            <a:avLst/>
          </a:prstGeom>
          <a:noFill/>
          <a:ln/>
        </p:spPr>
        <p:txBody>
          <a:bodyPr wrap="square" lIns="0" tIns="0" rIns="0" bIns="0" rtlCol="0" anchor="t"/>
          <a:lstStyle/>
          <a:p>
            <a:pPr indent="0" marL="0" eaLnBrk="0">
              <a:buNone/>
            </a:pPr>
            <a:r>
              <a:rPr lang="ko-KR" altLang="en-US" sz="1500" b="1" dirty="0">
                <a:solidFill>
                  <a:schemeClr val="tx1"/>
                </a:solidFill>
              </a:rPr>
              <a:t>내려찍기에는 B 처리가 없다. </a:t>
            </a:r>
            <a:pPr indent="0" marL="0" eaLnBrk="0">
              <a:buNone/>
            </a:pPr>
            <a:r>
              <a:rPr lang="ko-KR" altLang="en-US" sz="1500" dirty="0">
                <a:solidFill>
                  <a:schemeClr val="tx2"/>
                </a:solidFill>
              </a:rPr>
              <a:t>그래서 내려찍는 도중의 B는 무시되고, 공중 점프 버그가 구조적으로 사라진다.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엎드릴 때만 쓰는 값이 Heroine 전체에 퍼진다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한 상태의 코드와 데이터를 한곳에 모으려면 어떻게 해야 할까?</a:t>
            </a:r>
            <a:endParaRPr lang="ko-KR" altLang="en-US" sz="1500" dirty="0"/>
          </a:p>
        </p:txBody>
      </p:sp>
      <p:sp>
        <p:nvSpPr>
          <p:cNvPr id="6" name="codePanel"/>
          <p:cNvSpPr/>
          <p:nvPr/>
        </p:nvSpPr>
        <p:spPr>
          <a:xfrm>
            <a:off x="548640" y="1600200"/>
            <a:ext cx="5120640" cy="2240280"/>
          </a:xfrm>
          <a:prstGeom prst="roundRect">
            <a:avLst>
              <a:gd name="adj" fmla="val 3265"/>
            </a:avLst>
          </a:prstGeom>
          <a:solidFill>
            <a:schemeClr val="tx1"/>
          </a:solidFill>
          <a:ln w="12700">
            <a:solidFill>
              <a:schemeClr val="tx1"/>
            </a:solidFill>
            <a:prstDash val="solid"/>
          </a:ln>
        </p:spPr>
      </p:sp>
      <p:sp>
        <p:nvSpPr>
          <p:cNvPr id="7" name="code"/>
          <p:cNvSpPr txBox="1"/>
          <p:nvPr/>
        </p:nvSpPr>
        <p:spPr>
          <a:xfrm>
            <a:off x="658368" y="1691640"/>
            <a:ext cx="4901184" cy="205740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void Update()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(_state == State.Ducking)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_chargeTime++;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(_chargeTime &gt; MaxCharge)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SuperBomb();</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256032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3931920"/>
            <a:ext cx="5120640" cy="1828800"/>
          </a:xfrm>
          <a:prstGeom prst="roundRect">
            <a:avLst>
              <a:gd name="adj" fmla="val 4000"/>
            </a:avLst>
          </a:prstGeom>
          <a:solidFill>
            <a:schemeClr val="tx1"/>
          </a:solidFill>
          <a:ln w="12700">
            <a:solidFill>
              <a:schemeClr val="tx1"/>
            </a:solidFill>
            <a:prstDash val="solid"/>
          </a:ln>
        </p:spPr>
      </p:sp>
      <p:sp>
        <p:nvSpPr>
          <p:cNvPr id="10" name="code"/>
          <p:cNvSpPr txBox="1"/>
          <p:nvPr/>
        </p:nvSpPr>
        <p:spPr>
          <a:xfrm>
            <a:off x="658368" y="4023360"/>
            <a:ext cx="4901184" cy="1645920"/>
          </a:xfrm>
          <a:prstGeom prst="rect">
            <a:avLst/>
          </a:prstGeom>
          <a:noFill/>
          <a:ln/>
        </p:spPr>
        <p:txBody>
          <a:bodyPr wrap="square" lIns="635" tIns="635" rIns="635" bIns="635" rtlCol="0" anchor="t"/>
          <a:lstStyle/>
          <a:p>
            <a:pPr indent="0" marL="0" eaLnBrk="0">
              <a:buNone/>
            </a:pPr>
            <a:r>
              <a:rPr lang="ko-KR" altLang="en-US" sz="1100" dirty="0">
                <a:solidFill>
                  <a:schemeClr val="accent3"/>
                </a:solidFill>
                <a:latin typeface="Consolas" pitchFamily="34" charset="0"/>
                <a:ea typeface="Consolas" pitchFamily="34" charset="-122"/>
                <a:cs typeface="Consolas" pitchFamily="34" charset="-120"/>
              </a:rPr>
              <a:t>// HandleInput의 switch 안</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case State.Standing:</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(input == Input.PressDown)</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_state = State.Ducking;</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_chargeTime = 0;</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SetGraphics(Image.Duck);</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다른 입력 처리...</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break;</a:t>
            </a:r>
            <a:endParaRPr lang="ko-KR" altLang="en-US" sz="1100" dirty="0"/>
          </a:p>
        </p:txBody>
      </p:sp>
      <p:sp>
        <p:nvSpPr>
          <p:cNvPr id="11" name="card"/>
          <p:cNvSpPr/>
          <p:nvPr/>
        </p:nvSpPr>
        <p:spPr>
          <a:xfrm>
            <a:off x="6035040" y="1600200"/>
            <a:ext cx="5608015" cy="1920240"/>
          </a:xfrm>
          <a:prstGeom prst="roundRect">
            <a:avLst>
              <a:gd name="adj" fmla="val 4762"/>
            </a:avLst>
          </a:prstGeom>
          <a:solidFill>
            <a:schemeClr val="bg2"/>
          </a:solidFill>
          <a:ln w="12700">
            <a:solidFill>
              <a:schemeClr val="bg2"/>
            </a:solidFill>
            <a:prstDash val="solid"/>
          </a:ln>
        </p:spPr>
      </p:sp>
      <p:sp>
        <p:nvSpPr>
          <p:cNvPr id="12" name="Shape 9"/>
          <p:cNvSpPr/>
          <p:nvPr/>
        </p:nvSpPr>
        <p:spPr>
          <a:xfrm>
            <a:off x="6263640" y="180136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6263640" y="18013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4" name="Text 11"/>
          <p:cNvSpPr txBox="1"/>
          <p:nvPr/>
        </p:nvSpPr>
        <p:spPr>
          <a:xfrm>
            <a:off x="6812280" y="1819656"/>
            <a:ext cx="46478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고친 곳이 두 군데</a:t>
            </a:r>
            <a:endParaRPr lang="ko-KR" altLang="en-US" sz="1700" dirty="0"/>
          </a:p>
        </p:txBody>
      </p:sp>
      <p:sp>
        <p:nvSpPr>
          <p:cNvPr id="15" name="Text 12"/>
          <p:cNvSpPr txBox="1"/>
          <p:nvPr/>
        </p:nvSpPr>
        <p:spPr>
          <a:xfrm>
            <a:off x="6812280" y="2221992"/>
            <a:ext cx="4647895" cy="1188720"/>
          </a:xfrm>
          <a:prstGeom prst="rect">
            <a:avLst/>
          </a:prstGeom>
          <a:noFill/>
          <a:ln/>
        </p:spPr>
        <p:txBody>
          <a:bodyPr wrap="square" lIns="0" tIns="0" rIns="0" bIns="0" rtlCol="0" anchor="t"/>
          <a:lstStyle/>
          <a:p>
            <a:pPr indent="0" marL="0" eaLnBrk="0">
              <a:buNone/>
            </a:pPr>
            <a:r>
              <a:rPr lang="ko-KR" altLang="en-US" sz="1400" dirty="0">
                <a:solidFill>
                  <a:schemeClr val="tx2"/>
                </a:solidFill>
              </a:rPr>
              <a:t>힘 모으기 하나를 더하려고</a:t>
            </a:r>
            <a:endParaRPr lang="ko-KR" altLang="en-US" sz="1400" dirty="0"/>
          </a:p>
          <a:p>
            <a:pPr indent="0" marL="0" eaLnBrk="0">
              <a:buNone/>
            </a:pPr>
            <a:r>
              <a:rPr lang="ko-KR" altLang="en-US" sz="1400" dirty="0">
                <a:solidFill>
                  <a:schemeClr val="tx2"/>
                </a:solidFill>
              </a:rPr>
              <a:t>Update와 HandleInput을 모두 고쳤다.</a:t>
            </a:r>
            <a:endParaRPr lang="ko-KR" altLang="en-US" sz="1400" dirty="0"/>
          </a:p>
        </p:txBody>
      </p:sp>
      <p:sp>
        <p:nvSpPr>
          <p:cNvPr id="16" name="card"/>
          <p:cNvSpPr/>
          <p:nvPr/>
        </p:nvSpPr>
        <p:spPr>
          <a:xfrm>
            <a:off x="6035040" y="3703320"/>
            <a:ext cx="5608015" cy="2011680"/>
          </a:xfrm>
          <a:prstGeom prst="roundRect">
            <a:avLst>
              <a:gd name="adj" fmla="val 4545"/>
            </a:avLst>
          </a:prstGeom>
          <a:solidFill>
            <a:schemeClr val="bg2"/>
          </a:solidFill>
          <a:ln w="12700">
            <a:solidFill>
              <a:schemeClr val="bg2"/>
            </a:solidFill>
            <a:prstDash val="solid"/>
          </a:ln>
        </p:spPr>
      </p:sp>
      <p:sp>
        <p:nvSpPr>
          <p:cNvPr id="17" name="Shape 14"/>
          <p:cNvSpPr/>
          <p:nvPr/>
        </p:nvSpPr>
        <p:spPr>
          <a:xfrm>
            <a:off x="6263640" y="390448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6263640" y="39044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9" name="Text 16"/>
          <p:cNvSpPr txBox="1"/>
          <p:nvPr/>
        </p:nvSpPr>
        <p:spPr>
          <a:xfrm>
            <a:off x="6812280" y="3922776"/>
            <a:ext cx="46478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엉뚱한 곳에 있는 데이터</a:t>
            </a:r>
            <a:endParaRPr lang="ko-KR" altLang="en-US" sz="1700" dirty="0"/>
          </a:p>
        </p:txBody>
      </p:sp>
      <p:sp>
        <p:nvSpPr>
          <p:cNvPr id="20" name="Text 17"/>
          <p:cNvSpPr txBox="1"/>
          <p:nvPr/>
        </p:nvSpPr>
        <p:spPr>
          <a:xfrm>
            <a:off x="6812280" y="4325112"/>
            <a:ext cx="4647895" cy="1280160"/>
          </a:xfrm>
          <a:prstGeom prst="rect">
            <a:avLst/>
          </a:prstGeom>
          <a:noFill/>
          <a:ln/>
        </p:spPr>
        <p:txBody>
          <a:bodyPr wrap="square" lIns="0" tIns="0" rIns="0" bIns="0" rtlCol="0" anchor="t"/>
          <a:lstStyle/>
          <a:p>
            <a:pPr indent="0" marL="0" eaLnBrk="0">
              <a:buNone/>
            </a:pPr>
            <a:r>
              <a:rPr lang="ko-KR" altLang="en-US" sz="1400" dirty="0">
                <a:solidFill>
                  <a:schemeClr val="tx2"/>
                </a:solidFill>
              </a:rPr>
              <a:t>_chargeTime은 엎드릴 때만 의미가 있는데 Heroine 전체의 필드가 되었다.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상태 패턴</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상태 패턴, 상태 객체는 어디에 둘까?, 진입과 퇴장 동작</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상태 인터페이스와 위임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switch가 있던 곳마다 가상 메서드를 두고, 현재 상태 객체에 맡긴다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그럼 각 상태 클래스는 어떻게 생겼을까?</a:t>
            </a:r>
            <a:endParaRPr lang="ko-KR" altLang="en-US" sz="1500" dirty="0"/>
          </a:p>
        </p:txBody>
      </p:sp>
      <p:sp>
        <p:nvSpPr>
          <p:cNvPr id="6" name="codePanel"/>
          <p:cNvSpPr/>
          <p:nvPr/>
        </p:nvSpPr>
        <p:spPr>
          <a:xfrm>
            <a:off x="548640" y="1600200"/>
            <a:ext cx="6766560" cy="1280160"/>
          </a:xfrm>
          <a:prstGeom prst="roundRect">
            <a:avLst>
              <a:gd name="adj" fmla="val 5714"/>
            </a:avLst>
          </a:prstGeom>
          <a:solidFill>
            <a:schemeClr val="tx1"/>
          </a:solidFill>
          <a:ln w="12700">
            <a:solidFill>
              <a:schemeClr val="tx1"/>
            </a:solidFill>
            <a:prstDash val="solid"/>
          </a:ln>
        </p:spPr>
      </p:sp>
      <p:sp>
        <p:nvSpPr>
          <p:cNvPr id="7" name="code"/>
          <p:cNvSpPr txBox="1"/>
          <p:nvPr/>
        </p:nvSpPr>
        <p:spPr>
          <a:xfrm>
            <a:off x="658368" y="1691640"/>
            <a:ext cx="6547104" cy="109728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abstract class HeroineState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virtual void HandleInput(Heroine heroine, Input input) {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virtual void Update(Heroine heroine)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2062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2999232"/>
            <a:ext cx="6766560" cy="2715768"/>
          </a:xfrm>
          <a:prstGeom prst="roundRect">
            <a:avLst>
              <a:gd name="adj" fmla="val 2694"/>
            </a:avLst>
          </a:prstGeom>
          <a:solidFill>
            <a:schemeClr val="tx1"/>
          </a:solidFill>
          <a:ln w="12700">
            <a:solidFill>
              <a:schemeClr val="tx1"/>
            </a:solidFill>
            <a:prstDash val="solid"/>
          </a:ln>
        </p:spPr>
      </p:sp>
      <p:sp>
        <p:nvSpPr>
          <p:cNvPr id="10" name="code"/>
          <p:cNvSpPr txBox="1"/>
          <p:nvPr/>
        </p:nvSpPr>
        <p:spPr>
          <a:xfrm>
            <a:off x="658368" y="3090672"/>
            <a:ext cx="6547104" cy="2532888"/>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Heroine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HeroineState _state;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HandleInput(Input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_state.HandleInput(this,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Update()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_state.Update(this);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다른 메서드...</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1" name="card"/>
          <p:cNvSpPr/>
          <p:nvPr/>
        </p:nvSpPr>
        <p:spPr>
          <a:xfrm>
            <a:off x="7680960" y="1600200"/>
            <a:ext cx="3962095" cy="1920240"/>
          </a:xfrm>
          <a:prstGeom prst="roundRect">
            <a:avLst>
              <a:gd name="adj" fmla="val 4762"/>
            </a:avLst>
          </a:prstGeom>
          <a:solidFill>
            <a:schemeClr val="bg2"/>
          </a:solidFill>
          <a:ln w="12700">
            <a:solidFill>
              <a:schemeClr val="bg2"/>
            </a:solidFill>
            <a:prstDash val="solid"/>
          </a:ln>
        </p:spPr>
      </p:sp>
      <p:sp>
        <p:nvSpPr>
          <p:cNvPr id="12" name="Text 9"/>
          <p:cNvSpPr txBox="1"/>
          <p:nvPr/>
        </p:nvSpPr>
        <p:spPr>
          <a:xfrm>
            <a:off x="7909560" y="18196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상태 인터페이스</a:t>
            </a:r>
            <a:endParaRPr lang="ko-KR" altLang="en-US" sz="1700" dirty="0"/>
          </a:p>
        </p:txBody>
      </p:sp>
      <p:sp>
        <p:nvSpPr>
          <p:cNvPr id="13" name="Text 10"/>
          <p:cNvSpPr txBox="1"/>
          <p:nvPr/>
        </p:nvSpPr>
        <p:spPr>
          <a:xfrm>
            <a:off x="7909560" y="2377440"/>
            <a:ext cx="350489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switch 문이 있던 HandleInput과 상태를 묻던 Update가 가상 메서드가 된다.</a:t>
            </a:r>
            <a:endParaRPr lang="ko-KR" altLang="en-US" sz="1400" dirty="0"/>
          </a:p>
        </p:txBody>
      </p:sp>
      <p:sp>
        <p:nvSpPr>
          <p:cNvPr id="14" name="card"/>
          <p:cNvSpPr/>
          <p:nvPr/>
        </p:nvSpPr>
        <p:spPr>
          <a:xfrm>
            <a:off x="7680960" y="3703320"/>
            <a:ext cx="3962095" cy="2011680"/>
          </a:xfrm>
          <a:prstGeom prst="roundRect">
            <a:avLst>
              <a:gd name="adj" fmla="val 4545"/>
            </a:avLst>
          </a:prstGeom>
          <a:solidFill>
            <a:schemeClr val="bg2"/>
          </a:solidFill>
          <a:ln w="12700">
            <a:solidFill>
              <a:schemeClr val="bg2"/>
            </a:solidFill>
            <a:prstDash val="solid"/>
          </a:ln>
        </p:spPr>
      </p:sp>
      <p:sp>
        <p:nvSpPr>
          <p:cNvPr id="15" name="Text 12"/>
          <p:cNvSpPr txBox="1"/>
          <p:nvPr/>
        </p:nvSpPr>
        <p:spPr>
          <a:xfrm>
            <a:off x="7909560" y="39227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위임</a:t>
            </a:r>
            <a:endParaRPr lang="ko-KR" altLang="en-US" sz="1700" dirty="0"/>
          </a:p>
        </p:txBody>
      </p:sp>
      <p:sp>
        <p:nvSpPr>
          <p:cNvPr id="16" name="Text 13"/>
          <p:cNvSpPr txBox="1"/>
          <p:nvPr/>
        </p:nvSpPr>
        <p:spPr>
          <a:xfrm>
            <a:off x="7909560" y="4480560"/>
            <a:ext cx="3504895" cy="10972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Heroine은 현재 상태 객체에 맡기기만 한다.</a:t>
            </a:r>
            <a:endParaRPr lang="ko-KR" altLang="en-US" sz="1400" dirty="0"/>
          </a:p>
          <a:p>
            <a:pPr indent="0" marL="0" eaLnBrk="0">
              <a:spcAft>
                <a:spcPts val="400"/>
              </a:spcAft>
              <a:buNone/>
            </a:pPr>
            <a:r>
              <a:rPr lang="ko-KR" altLang="en-US" sz="1400" dirty="0">
                <a:solidFill>
                  <a:schemeClr val="tx2"/>
                </a:solidFill>
              </a:rPr>
              <a:t>상태를 바꿀 때는 _state에</a:t>
            </a:r>
            <a:endParaRPr lang="ko-KR" altLang="en-US" sz="1400" dirty="0"/>
          </a:p>
          <a:p>
            <a:pPr indent="0" marL="0" eaLnBrk="0">
              <a:spcAft>
                <a:spcPts val="400"/>
              </a:spcAft>
              <a:buNone/>
            </a:pPr>
            <a:r>
              <a:rPr lang="ko-KR" altLang="en-US" sz="1400" dirty="0">
                <a:solidFill>
                  <a:schemeClr val="tx2"/>
                </a:solidFill>
              </a:rPr>
              <a:t>다른 상태 객체를 넣는다.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상태 클래스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case 하나가 클래스 하나가 되고, 그 상태의 데이터도 따라온다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_state에 넣을 상태 객체는 어디서 올까?</a:t>
            </a:r>
            <a:endParaRPr lang="ko-KR" altLang="en-US" sz="1500" dirty="0"/>
          </a:p>
        </p:txBody>
      </p:sp>
      <p:sp>
        <p:nvSpPr>
          <p:cNvPr id="6" name="codePanel"/>
          <p:cNvSpPr/>
          <p:nvPr/>
        </p:nvSpPr>
        <p:spPr>
          <a:xfrm>
            <a:off x="548640" y="1600200"/>
            <a:ext cx="676656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547104" cy="393192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DuckingState : HeroineState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int _chargeTime = 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override void HandleInput(Heroine heroine, Input input)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if (input == Input.ReleaseDown)</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서 있기 상태로 바꾼다...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heroine.SetGraphics(Image.Stand);</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override void Update(Heroine heroine)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_chargeTime++;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if (_chargeTime &gt; MaxCharge)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heroine.SuperBomb();</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8" name="codeCaption"/>
          <p:cNvSpPr txBox="1"/>
          <p:nvPr/>
        </p:nvSpPr>
        <p:spPr>
          <a:xfrm>
            <a:off x="42062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box"/>
          <p:cNvSpPr/>
          <p:nvPr/>
        </p:nvSpPr>
        <p:spPr>
          <a:xfrm>
            <a:off x="8229600" y="1600200"/>
            <a:ext cx="2864815" cy="594360"/>
          </a:xfrm>
          <a:prstGeom prst="roundRect">
            <a:avLst>
              <a:gd name="adj" fmla="val 12308"/>
            </a:avLst>
          </a:prstGeom>
          <a:solidFill>
            <a:schemeClr val="accent2"/>
          </a:solidFill>
          <a:ln w="12700">
            <a:solidFill>
              <a:schemeClr val="accent2"/>
            </a:solidFill>
            <a:prstDash val="solid"/>
          </a:ln>
        </p:spPr>
      </p:sp>
      <p:sp>
        <p:nvSpPr>
          <p:cNvPr id="10" name="Text 7"/>
          <p:cNvSpPr txBox="1"/>
          <p:nvPr/>
        </p:nvSpPr>
        <p:spPr>
          <a:xfrm>
            <a:off x="8229600" y="1600200"/>
            <a:ext cx="2864815" cy="59436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Heroine</a:t>
            </a:r>
            <a:endParaRPr lang="ko-KR" altLang="en-US" sz="1500" dirty="0"/>
          </a:p>
        </p:txBody>
      </p:sp>
      <p:sp>
        <p:nvSpPr>
          <p:cNvPr id="11" name="Shape 8"/>
          <p:cNvSpPr/>
          <p:nvPr/>
        </p:nvSpPr>
        <p:spPr>
          <a:xfrm>
            <a:off x="9662008" y="2194560"/>
            <a:ext cx="914" cy="502920"/>
          </a:xfrm>
          <a:prstGeom prst="line">
            <a:avLst/>
          </a:prstGeom>
          <a:noFill/>
          <a:ln w="22225">
            <a:solidFill>
              <a:schemeClr val="accent5"/>
            </a:solidFill>
            <a:prstDash val="solid"/>
            <a:tailEnd type="triangle"/>
          </a:ln>
        </p:spPr>
      </p:sp>
      <p:sp>
        <p:nvSpPr>
          <p:cNvPr id="12" name="Text 9"/>
          <p:cNvSpPr txBox="1"/>
          <p:nvPr/>
        </p:nvSpPr>
        <p:spPr>
          <a:xfrm>
            <a:off x="9753448" y="2286000"/>
            <a:ext cx="109728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_state</a:t>
            </a:r>
            <a:endParaRPr lang="ko-KR" altLang="en-US" sz="1200" dirty="0"/>
          </a:p>
        </p:txBody>
      </p:sp>
      <p:sp>
        <p:nvSpPr>
          <p:cNvPr id="13" name="box"/>
          <p:cNvSpPr/>
          <p:nvPr/>
        </p:nvSpPr>
        <p:spPr>
          <a:xfrm>
            <a:off x="8229600" y="2697480"/>
            <a:ext cx="2864815" cy="594360"/>
          </a:xfrm>
          <a:prstGeom prst="roundRect">
            <a:avLst>
              <a:gd name="adj" fmla="val 12308"/>
            </a:avLst>
          </a:prstGeom>
          <a:solidFill>
            <a:schemeClr val="tx2"/>
          </a:solidFill>
          <a:ln w="12700">
            <a:solidFill>
              <a:schemeClr val="tx2"/>
            </a:solidFill>
            <a:prstDash val="solid"/>
          </a:ln>
        </p:spPr>
      </p:sp>
      <p:sp>
        <p:nvSpPr>
          <p:cNvPr id="14" name="Text 11"/>
          <p:cNvSpPr txBox="1"/>
          <p:nvPr/>
        </p:nvSpPr>
        <p:spPr>
          <a:xfrm>
            <a:off x="8229600" y="2697480"/>
            <a:ext cx="2864815" cy="59436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HeroineState</a:t>
            </a:r>
            <a:endParaRPr lang="ko-KR" altLang="en-US" sz="1500" dirty="0"/>
          </a:p>
        </p:txBody>
      </p:sp>
      <p:sp>
        <p:nvSpPr>
          <p:cNvPr id="15" name="box"/>
          <p:cNvSpPr/>
          <p:nvPr/>
        </p:nvSpPr>
        <p:spPr>
          <a:xfrm>
            <a:off x="7680960" y="3749040"/>
            <a:ext cx="1912468" cy="548640"/>
          </a:xfrm>
          <a:prstGeom prst="roundRect">
            <a:avLst>
              <a:gd name="adj" fmla="val 13333"/>
            </a:avLst>
          </a:prstGeom>
          <a:solidFill>
            <a:schemeClr val="bg2"/>
          </a:solidFill>
          <a:ln w="12700">
            <a:solidFill>
              <a:schemeClr val="bg2"/>
            </a:solidFill>
            <a:prstDash val="solid"/>
          </a:ln>
        </p:spPr>
      </p:sp>
      <p:sp>
        <p:nvSpPr>
          <p:cNvPr id="16" name="Text 13"/>
          <p:cNvSpPr txBox="1"/>
          <p:nvPr/>
        </p:nvSpPr>
        <p:spPr>
          <a:xfrm>
            <a:off x="7680960" y="3749040"/>
            <a:ext cx="1912468"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StandingState</a:t>
            </a:r>
            <a:endParaRPr lang="ko-KR" altLang="en-US" sz="1200" dirty="0"/>
          </a:p>
        </p:txBody>
      </p:sp>
      <p:sp>
        <p:nvSpPr>
          <p:cNvPr id="17" name="box"/>
          <p:cNvSpPr/>
          <p:nvPr/>
        </p:nvSpPr>
        <p:spPr>
          <a:xfrm>
            <a:off x="9730588" y="3749040"/>
            <a:ext cx="1912468" cy="548640"/>
          </a:xfrm>
          <a:prstGeom prst="roundRect">
            <a:avLst>
              <a:gd name="adj" fmla="val 13333"/>
            </a:avLst>
          </a:prstGeom>
          <a:solidFill>
            <a:schemeClr val="bg2"/>
          </a:solidFill>
          <a:ln w="12700">
            <a:solidFill>
              <a:schemeClr val="bg2"/>
            </a:solidFill>
            <a:prstDash val="solid"/>
          </a:ln>
        </p:spPr>
      </p:sp>
      <p:sp>
        <p:nvSpPr>
          <p:cNvPr id="18" name="Text 15"/>
          <p:cNvSpPr txBox="1"/>
          <p:nvPr/>
        </p:nvSpPr>
        <p:spPr>
          <a:xfrm>
            <a:off x="9730588" y="3749040"/>
            <a:ext cx="1912468"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JumpingState</a:t>
            </a:r>
            <a:endParaRPr lang="ko-KR" altLang="en-US" sz="1200" dirty="0"/>
          </a:p>
        </p:txBody>
      </p:sp>
      <p:sp>
        <p:nvSpPr>
          <p:cNvPr id="19" name="box"/>
          <p:cNvSpPr/>
          <p:nvPr/>
        </p:nvSpPr>
        <p:spPr>
          <a:xfrm>
            <a:off x="7680960" y="4434840"/>
            <a:ext cx="1912468" cy="548640"/>
          </a:xfrm>
          <a:prstGeom prst="roundRect">
            <a:avLst>
              <a:gd name="adj" fmla="val 13333"/>
            </a:avLst>
          </a:prstGeom>
          <a:solidFill>
            <a:schemeClr val="accent1"/>
          </a:solidFill>
          <a:ln w="12700">
            <a:solidFill>
              <a:schemeClr val="accent1"/>
            </a:solidFill>
            <a:prstDash val="solid"/>
          </a:ln>
        </p:spPr>
      </p:sp>
      <p:sp>
        <p:nvSpPr>
          <p:cNvPr id="20" name="Text 17"/>
          <p:cNvSpPr txBox="1"/>
          <p:nvPr/>
        </p:nvSpPr>
        <p:spPr>
          <a:xfrm>
            <a:off x="7680960" y="4434840"/>
            <a:ext cx="1912468"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DuckingState</a:t>
            </a:r>
            <a:endParaRPr lang="ko-KR" altLang="en-US" sz="1200" dirty="0"/>
          </a:p>
        </p:txBody>
      </p:sp>
      <p:sp>
        <p:nvSpPr>
          <p:cNvPr id="21" name="box"/>
          <p:cNvSpPr/>
          <p:nvPr/>
        </p:nvSpPr>
        <p:spPr>
          <a:xfrm>
            <a:off x="9730588" y="4434840"/>
            <a:ext cx="1912468" cy="548640"/>
          </a:xfrm>
          <a:prstGeom prst="roundRect">
            <a:avLst>
              <a:gd name="adj" fmla="val 13333"/>
            </a:avLst>
          </a:prstGeom>
          <a:solidFill>
            <a:schemeClr val="bg2"/>
          </a:solidFill>
          <a:ln w="12700">
            <a:solidFill>
              <a:schemeClr val="bg2"/>
            </a:solidFill>
            <a:prstDash val="solid"/>
          </a:ln>
        </p:spPr>
      </p:sp>
      <p:sp>
        <p:nvSpPr>
          <p:cNvPr id="22" name="Text 19"/>
          <p:cNvSpPr txBox="1"/>
          <p:nvPr/>
        </p:nvSpPr>
        <p:spPr>
          <a:xfrm>
            <a:off x="9730588" y="4434840"/>
            <a:ext cx="1912468"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DivingState</a:t>
            </a:r>
            <a:endParaRPr lang="ko-KR" altLang="en-US" sz="1200" dirty="0"/>
          </a:p>
        </p:txBody>
      </p:sp>
      <p:sp>
        <p:nvSpPr>
          <p:cNvPr id="23" name="Shape 20"/>
          <p:cNvSpPr/>
          <p:nvPr/>
        </p:nvSpPr>
        <p:spPr>
          <a:xfrm flipV="1">
            <a:off x="9662008" y="3291840"/>
            <a:ext cx="914" cy="457200"/>
          </a:xfrm>
          <a:prstGeom prst="line">
            <a:avLst/>
          </a:prstGeom>
          <a:noFill/>
          <a:ln w="22225">
            <a:solidFill>
              <a:schemeClr val="accent3"/>
            </a:solidFill>
            <a:prstDash val="solid"/>
            <a:tailEnd type="triangle"/>
          </a:ln>
        </p:spPr>
      </p:sp>
      <p:sp>
        <p:nvSpPr>
          <p:cNvPr id="24" name="Text 21"/>
          <p:cNvSpPr txBox="1"/>
          <p:nvPr/>
        </p:nvSpPr>
        <p:spPr>
          <a:xfrm>
            <a:off x="7680960" y="5166360"/>
            <a:ext cx="396209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상태마다 클래스가 하나씩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정적 상태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필드가 없는 상태는 하나만 만들어 모두 함께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_chargeTime을 가진 엎드리기 상태도 하나만 두어도 될까?</a:t>
            </a:r>
            <a:endParaRPr lang="ko-KR" altLang="en-US" sz="1500" dirty="0"/>
          </a:p>
        </p:txBody>
      </p:sp>
      <p:sp>
        <p:nvSpPr>
          <p:cNvPr id="6" name="codePanel"/>
          <p:cNvSpPr/>
          <p:nvPr/>
        </p:nvSpPr>
        <p:spPr>
          <a:xfrm>
            <a:off x="548640" y="1600200"/>
            <a:ext cx="7223760" cy="2057400"/>
          </a:xfrm>
          <a:prstGeom prst="roundRect">
            <a:avLst>
              <a:gd name="adj" fmla="val 3556"/>
            </a:avLst>
          </a:prstGeom>
          <a:solidFill>
            <a:schemeClr val="tx1"/>
          </a:solidFill>
          <a:ln w="12700">
            <a:solidFill>
              <a:schemeClr val="tx1"/>
            </a:solidFill>
            <a:prstDash val="solid"/>
          </a:ln>
        </p:spPr>
      </p:sp>
      <p:sp>
        <p:nvSpPr>
          <p:cNvPr id="7" name="code"/>
          <p:cNvSpPr txBox="1"/>
          <p:nvPr/>
        </p:nvSpPr>
        <p:spPr>
          <a:xfrm>
            <a:off x="658368" y="1691640"/>
            <a:ext cx="7004304" cy="18745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abstract class HeroineState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static readonly StandingState Standing = new StandingState();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static readonly DuckingState Ducking = new DuckingState();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static readonly JumpingState Jumping = new JumpingState();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static readonly DivingState Diving = new DivingState();</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다른 코드...</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6634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3840480"/>
            <a:ext cx="7223760" cy="1508760"/>
          </a:xfrm>
          <a:prstGeom prst="roundRect">
            <a:avLst>
              <a:gd name="adj" fmla="val 4848"/>
            </a:avLst>
          </a:prstGeom>
          <a:solidFill>
            <a:schemeClr val="tx1"/>
          </a:solidFill>
          <a:ln w="12700">
            <a:solidFill>
              <a:schemeClr val="tx1"/>
            </a:solidFill>
            <a:prstDash val="solid"/>
          </a:ln>
        </p:spPr>
      </p:sp>
      <p:sp>
        <p:nvSpPr>
          <p:cNvPr id="10" name="code"/>
          <p:cNvSpPr txBox="1"/>
          <p:nvPr/>
        </p:nvSpPr>
        <p:spPr>
          <a:xfrm>
            <a:off x="658368" y="3931920"/>
            <a:ext cx="7004304" cy="132588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StandingState.HandleInput 안에서: 점프하게 한다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if (input == Input.PressB)</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heroine.State = HeroineState.Jumping;</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heroine.SetGraphics(Image.Jump);</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11" name="Text 8"/>
          <p:cNvSpPr txBox="1"/>
          <p:nvPr/>
        </p:nvSpPr>
        <p:spPr>
          <a:xfrm>
            <a:off x="548640" y="5440680"/>
            <a:ext cx="7223760" cy="320040"/>
          </a:xfrm>
          <a:prstGeom prst="rect">
            <a:avLst/>
          </a:prstGeom>
          <a:noFill/>
          <a:ln/>
        </p:spPr>
        <p:txBody>
          <a:bodyPr wrap="square" lIns="0" tIns="0" rIns="0" bIns="0" rtlCol="0" anchor="t"/>
          <a:lstStyle/>
          <a:p>
            <a:pPr indent="0" marL="0" eaLnBrk="0">
              <a:buNone/>
            </a:pPr>
            <a:r>
              <a:rPr lang="ko-KR" altLang="en-US" sz="1300" dirty="0">
                <a:solidFill>
                  <a:schemeClr val="accent5"/>
                </a:solidFill>
              </a:rPr>
              <a:t>C#에서는 Heroine이 _state를 State 속성으로 열어 둔다고 본다.</a:t>
            </a:r>
            <a:endParaRPr lang="ko-KR" altLang="en-US" sz="1300" dirty="0"/>
          </a:p>
        </p:txBody>
      </p:sp>
      <p:sp>
        <p:nvSpPr>
          <p:cNvPr id="12" name="card"/>
          <p:cNvSpPr/>
          <p:nvPr/>
        </p:nvSpPr>
        <p:spPr>
          <a:xfrm>
            <a:off x="8138160" y="1600200"/>
            <a:ext cx="3504895" cy="2057400"/>
          </a:xfrm>
          <a:prstGeom prst="roundRect">
            <a:avLst>
              <a:gd name="adj" fmla="val 4444"/>
            </a:avLst>
          </a:prstGeom>
          <a:solidFill>
            <a:schemeClr val="bg2"/>
          </a:solidFill>
          <a:ln w="12700">
            <a:solidFill>
              <a:schemeClr val="bg2"/>
            </a:solidFill>
            <a:prstDash val="solid"/>
          </a:ln>
        </p:spPr>
      </p:sp>
      <p:sp>
        <p:nvSpPr>
          <p:cNvPr id="13" name="Text 10"/>
          <p:cNvSpPr txBox="1"/>
          <p:nvPr/>
        </p:nvSpPr>
        <p:spPr>
          <a:xfrm>
            <a:off x="8366760" y="1819656"/>
            <a:ext cx="30934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왜 하나로 충분한가</a:t>
            </a:r>
            <a:endParaRPr lang="ko-KR" altLang="en-US" sz="1700" dirty="0"/>
          </a:p>
        </p:txBody>
      </p:sp>
      <p:sp>
        <p:nvSpPr>
          <p:cNvPr id="14" name="Text 11"/>
          <p:cNvSpPr txBox="1"/>
          <p:nvPr/>
        </p:nvSpPr>
        <p:spPr>
          <a:xfrm>
            <a:off x="8366760" y="2377440"/>
            <a:ext cx="3047695" cy="11430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필드가 없으면 객체마다 다른 것이 없다. 여주인공이 여럿이어도 같은 객체를 가리키면 된다.</a:t>
            </a:r>
            <a:endParaRPr lang="ko-KR" altLang="en-US" sz="1400" dirty="0"/>
          </a:p>
        </p:txBody>
      </p:sp>
      <p:sp>
        <p:nvSpPr>
          <p:cNvPr id="15" name="card"/>
          <p:cNvSpPr/>
          <p:nvPr/>
        </p:nvSpPr>
        <p:spPr>
          <a:xfrm>
            <a:off x="8138160" y="3840480"/>
            <a:ext cx="3504895" cy="1874520"/>
          </a:xfrm>
          <a:prstGeom prst="roundRect">
            <a:avLst>
              <a:gd name="adj" fmla="val 4878"/>
            </a:avLst>
          </a:prstGeom>
          <a:solidFill>
            <a:schemeClr val="bg2"/>
          </a:solidFill>
          <a:ln w="12700">
            <a:solidFill>
              <a:schemeClr val="bg2"/>
            </a:solidFill>
            <a:prstDash val="solid"/>
          </a:ln>
        </p:spPr>
      </p:sp>
      <p:sp>
        <p:nvSpPr>
          <p:cNvPr id="16" name="Text 13"/>
          <p:cNvSpPr txBox="1"/>
          <p:nvPr/>
        </p:nvSpPr>
        <p:spPr>
          <a:xfrm>
            <a:off x="8366760" y="4059936"/>
            <a:ext cx="30934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더 줄이면</a:t>
            </a:r>
            <a:endParaRPr lang="ko-KR" altLang="en-US" sz="1700" dirty="0"/>
          </a:p>
        </p:txBody>
      </p:sp>
      <p:sp>
        <p:nvSpPr>
          <p:cNvPr id="17" name="Text 14"/>
          <p:cNvSpPr txBox="1"/>
          <p:nvPr/>
        </p:nvSpPr>
        <p:spPr>
          <a:xfrm>
            <a:off x="8366760" y="4617720"/>
            <a:ext cx="3047695" cy="9601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메서드 하나뿐인 상태라면 클래스 대신 함수로 만들고 _state에 델리게이트를 담는다.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매번 만드는 상태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상태마다 다른 데이터가 있으면 전환할 때마다 새로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상태가 바뀔 때 그림은 누가 바꿔야 할까?</a:t>
            </a:r>
            <a:endParaRPr lang="ko-KR" altLang="en-US" sz="1500" dirty="0"/>
          </a:p>
        </p:txBody>
      </p:sp>
      <p:sp>
        <p:nvSpPr>
          <p:cNvPr id="6" name="codePanel"/>
          <p:cNvSpPr/>
          <p:nvPr/>
        </p:nvSpPr>
        <p:spPr>
          <a:xfrm>
            <a:off x="548640" y="1600200"/>
            <a:ext cx="6400800" cy="1828800"/>
          </a:xfrm>
          <a:prstGeom prst="roundRect">
            <a:avLst>
              <a:gd name="adj" fmla="val 4000"/>
            </a:avLst>
          </a:prstGeom>
          <a:solidFill>
            <a:schemeClr val="tx1"/>
          </a:solidFill>
          <a:ln w="12700">
            <a:solidFill>
              <a:schemeClr val="tx1"/>
            </a:solidFill>
            <a:prstDash val="solid"/>
          </a:ln>
        </p:spPr>
      </p:sp>
      <p:sp>
        <p:nvSpPr>
          <p:cNvPr id="7" name="code"/>
          <p:cNvSpPr txBox="1"/>
          <p:nvPr/>
        </p:nvSpPr>
        <p:spPr>
          <a:xfrm>
            <a:off x="658368" y="1691640"/>
            <a:ext cx="6181344" cy="164592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Heroine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void HandleInput(Input input)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HeroineState state = _state.HandleInput(this, input);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(state != null)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_state = state;   // 이전 객체는 GC가 거둔다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384048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3566160"/>
            <a:ext cx="6400800" cy="2148840"/>
          </a:xfrm>
          <a:prstGeom prst="roundRect">
            <a:avLst>
              <a:gd name="adj" fmla="val 3404"/>
            </a:avLst>
          </a:prstGeom>
          <a:solidFill>
            <a:schemeClr val="tx1"/>
          </a:solidFill>
          <a:ln w="12700">
            <a:solidFill>
              <a:schemeClr val="tx1"/>
            </a:solidFill>
            <a:prstDash val="solid"/>
          </a:ln>
        </p:spPr>
      </p:sp>
      <p:sp>
        <p:nvSpPr>
          <p:cNvPr id="10" name="code"/>
          <p:cNvSpPr txBox="1"/>
          <p:nvPr/>
        </p:nvSpPr>
        <p:spPr>
          <a:xfrm>
            <a:off x="658368" y="3657600"/>
            <a:ext cx="6181344" cy="1965960"/>
          </a:xfrm>
          <a:prstGeom prst="rect">
            <a:avLst/>
          </a:prstGeom>
          <a:noFill/>
          <a:ln/>
        </p:spPr>
        <p:txBody>
          <a:bodyPr wrap="square" lIns="635" tIns="635" rIns="635" bIns="635" rtlCol="0" anchor="t"/>
          <a:lstStyle/>
          <a:p>
            <a:pPr indent="0" marL="0" eaLnBrk="0">
              <a:buNone/>
            </a:pPr>
            <a:r>
              <a:rPr lang="ko-KR" altLang="en-US" sz="1150" dirty="0">
                <a:solidFill>
                  <a:schemeClr val="accent3"/>
                </a:solidFill>
                <a:latin typeface="Consolas" pitchFamily="34" charset="0"/>
                <a:ea typeface="Consolas" pitchFamily="34" charset="-122"/>
                <a:cs typeface="Consolas" pitchFamily="34" charset="-120"/>
              </a:rPr>
              <a:t>// StandingState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override HeroineState HandleInput(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Heroine heroine, Input input)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if (input == Input.PressDown)</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다른 코드...</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return new DuckingState();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return null;   // 이 상태에 머문다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11" name="Text 8"/>
          <p:cNvSpPr txBox="1"/>
          <p:nvPr/>
        </p:nvSpPr>
        <p:spPr>
          <a:xfrm>
            <a:off x="7315200" y="1600200"/>
            <a:ext cx="4327855"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두 여주인공이 동시에 엎드리면</a:t>
            </a:r>
            <a:endParaRPr lang="ko-KR" altLang="en-US" sz="1500" dirty="0"/>
          </a:p>
        </p:txBody>
      </p:sp>
      <p:sp>
        <p:nvSpPr>
          <p:cNvPr id="12" name="box"/>
          <p:cNvSpPr/>
          <p:nvPr/>
        </p:nvSpPr>
        <p:spPr>
          <a:xfrm>
            <a:off x="7315200" y="2103120"/>
            <a:ext cx="1691640" cy="594360"/>
          </a:xfrm>
          <a:prstGeom prst="roundRect">
            <a:avLst>
              <a:gd name="adj" fmla="val 12308"/>
            </a:avLst>
          </a:prstGeom>
          <a:solidFill>
            <a:schemeClr val="accent2"/>
          </a:solidFill>
          <a:ln w="12700">
            <a:solidFill>
              <a:schemeClr val="accent2"/>
            </a:solidFill>
            <a:prstDash val="solid"/>
          </a:ln>
        </p:spPr>
      </p:sp>
      <p:sp>
        <p:nvSpPr>
          <p:cNvPr id="13" name="Text 10"/>
          <p:cNvSpPr txBox="1"/>
          <p:nvPr/>
        </p:nvSpPr>
        <p:spPr>
          <a:xfrm>
            <a:off x="7315200" y="2103120"/>
            <a:ext cx="1691640" cy="59436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1P 여주인공</a:t>
            </a:r>
            <a:endParaRPr lang="ko-KR" altLang="en-US" sz="1300" dirty="0"/>
          </a:p>
        </p:txBody>
      </p:sp>
      <p:sp>
        <p:nvSpPr>
          <p:cNvPr id="14" name="Shape 11"/>
          <p:cNvSpPr/>
          <p:nvPr/>
        </p:nvSpPr>
        <p:spPr>
          <a:xfrm>
            <a:off x="9052560" y="2404872"/>
            <a:ext cx="457200" cy="914"/>
          </a:xfrm>
          <a:prstGeom prst="line">
            <a:avLst/>
          </a:prstGeom>
          <a:noFill/>
          <a:ln w="22225">
            <a:solidFill>
              <a:schemeClr val="accent5"/>
            </a:solidFill>
            <a:prstDash val="solid"/>
            <a:tailEnd type="triangle"/>
          </a:ln>
        </p:spPr>
      </p:sp>
      <p:sp>
        <p:nvSpPr>
          <p:cNvPr id="15" name="box"/>
          <p:cNvSpPr/>
          <p:nvPr/>
        </p:nvSpPr>
        <p:spPr>
          <a:xfrm>
            <a:off x="9555480" y="2103120"/>
            <a:ext cx="2087575" cy="594360"/>
          </a:xfrm>
          <a:prstGeom prst="roundRect">
            <a:avLst>
              <a:gd name="adj" fmla="val 12308"/>
            </a:avLst>
          </a:prstGeom>
          <a:solidFill>
            <a:schemeClr val="accent1"/>
          </a:solidFill>
          <a:ln w="12700">
            <a:solidFill>
              <a:schemeClr val="accent1"/>
            </a:solidFill>
            <a:prstDash val="solid"/>
          </a:ln>
        </p:spPr>
      </p:sp>
      <p:sp>
        <p:nvSpPr>
          <p:cNvPr id="16" name="Text 13"/>
          <p:cNvSpPr txBox="1"/>
          <p:nvPr/>
        </p:nvSpPr>
        <p:spPr>
          <a:xfrm>
            <a:off x="9555480" y="2103120"/>
            <a:ext cx="2087575" cy="59436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DuckingState</a:t>
            </a:r>
            <a:endParaRPr lang="ko-KR" altLang="en-US" sz="1200" dirty="0"/>
          </a:p>
          <a:p>
            <a:pPr algn="ctr" indent="0" marL="0" eaLnBrk="0">
              <a:buNone/>
            </a:pPr>
            <a:r>
              <a:rPr lang="ko-KR" altLang="en-US" sz="1200" b="1" dirty="0">
                <a:solidFill>
                  <a:schemeClr val="bg1"/>
                </a:solidFill>
              </a:rPr>
              <a:t>_chargeTime = 12</a:t>
            </a:r>
            <a:endParaRPr lang="ko-KR" altLang="en-US" sz="1200" dirty="0"/>
          </a:p>
        </p:txBody>
      </p:sp>
      <p:sp>
        <p:nvSpPr>
          <p:cNvPr id="17" name="box"/>
          <p:cNvSpPr/>
          <p:nvPr/>
        </p:nvSpPr>
        <p:spPr>
          <a:xfrm>
            <a:off x="7315200" y="2880360"/>
            <a:ext cx="1691640" cy="594360"/>
          </a:xfrm>
          <a:prstGeom prst="roundRect">
            <a:avLst>
              <a:gd name="adj" fmla="val 12308"/>
            </a:avLst>
          </a:prstGeom>
          <a:solidFill>
            <a:schemeClr val="accent2"/>
          </a:solidFill>
          <a:ln w="12700">
            <a:solidFill>
              <a:schemeClr val="accent2"/>
            </a:solidFill>
            <a:prstDash val="solid"/>
          </a:ln>
        </p:spPr>
      </p:sp>
      <p:sp>
        <p:nvSpPr>
          <p:cNvPr id="18" name="Text 15"/>
          <p:cNvSpPr txBox="1"/>
          <p:nvPr/>
        </p:nvSpPr>
        <p:spPr>
          <a:xfrm>
            <a:off x="7315200" y="2880360"/>
            <a:ext cx="1691640" cy="59436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2P 여주인공</a:t>
            </a:r>
            <a:endParaRPr lang="ko-KR" altLang="en-US" sz="1300" dirty="0"/>
          </a:p>
        </p:txBody>
      </p:sp>
      <p:sp>
        <p:nvSpPr>
          <p:cNvPr id="19" name="Shape 16"/>
          <p:cNvSpPr/>
          <p:nvPr/>
        </p:nvSpPr>
        <p:spPr>
          <a:xfrm>
            <a:off x="9052560" y="3182112"/>
            <a:ext cx="457200" cy="914"/>
          </a:xfrm>
          <a:prstGeom prst="line">
            <a:avLst/>
          </a:prstGeom>
          <a:noFill/>
          <a:ln w="22225">
            <a:solidFill>
              <a:schemeClr val="accent5"/>
            </a:solidFill>
            <a:prstDash val="solid"/>
            <a:tailEnd type="triangle"/>
          </a:ln>
        </p:spPr>
      </p:sp>
      <p:sp>
        <p:nvSpPr>
          <p:cNvPr id="20" name="box"/>
          <p:cNvSpPr/>
          <p:nvPr/>
        </p:nvSpPr>
        <p:spPr>
          <a:xfrm>
            <a:off x="9555480" y="2880360"/>
            <a:ext cx="2087575" cy="594360"/>
          </a:xfrm>
          <a:prstGeom prst="roundRect">
            <a:avLst>
              <a:gd name="adj" fmla="val 12308"/>
            </a:avLst>
          </a:prstGeom>
          <a:solidFill>
            <a:schemeClr val="accent1"/>
          </a:solidFill>
          <a:ln w="12700">
            <a:solidFill>
              <a:schemeClr val="accent1"/>
            </a:solidFill>
            <a:prstDash val="solid"/>
          </a:ln>
        </p:spPr>
      </p:sp>
      <p:sp>
        <p:nvSpPr>
          <p:cNvPr id="21" name="Text 18"/>
          <p:cNvSpPr txBox="1"/>
          <p:nvPr/>
        </p:nvSpPr>
        <p:spPr>
          <a:xfrm>
            <a:off x="9555480" y="2880360"/>
            <a:ext cx="2087575" cy="59436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DuckingState</a:t>
            </a:r>
            <a:endParaRPr lang="ko-KR" altLang="en-US" sz="1200" dirty="0"/>
          </a:p>
          <a:p>
            <a:pPr algn="ctr" indent="0" marL="0" eaLnBrk="0">
              <a:buNone/>
            </a:pPr>
            <a:r>
              <a:rPr lang="ko-KR" altLang="en-US" sz="1200" b="1" dirty="0">
                <a:solidFill>
                  <a:schemeClr val="bg1"/>
                </a:solidFill>
              </a:rPr>
              <a:t>_chargeTime = 3</a:t>
            </a:r>
            <a:endParaRPr lang="ko-KR" altLang="en-US" sz="1200" dirty="0"/>
          </a:p>
        </p:txBody>
      </p:sp>
      <p:sp>
        <p:nvSpPr>
          <p:cNvPr id="22" name="card"/>
          <p:cNvSpPr/>
          <p:nvPr/>
        </p:nvSpPr>
        <p:spPr>
          <a:xfrm>
            <a:off x="7315200" y="3703320"/>
            <a:ext cx="4327855" cy="2011680"/>
          </a:xfrm>
          <a:prstGeom prst="roundRect">
            <a:avLst>
              <a:gd name="adj" fmla="val 4545"/>
            </a:avLst>
          </a:prstGeom>
          <a:solidFill>
            <a:schemeClr val="bg2"/>
          </a:solidFill>
          <a:ln w="12700">
            <a:solidFill>
              <a:schemeClr val="bg2"/>
            </a:solidFill>
            <a:prstDash val="solid"/>
          </a:ln>
        </p:spPr>
      </p:sp>
      <p:sp>
        <p:nvSpPr>
          <p:cNvPr id="23" name="Text 20"/>
          <p:cNvSpPr txBox="1"/>
          <p:nvPr/>
        </p:nvSpPr>
        <p:spPr>
          <a:xfrm>
            <a:off x="7543800" y="392277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정적과 생성</a:t>
            </a:r>
            <a:endParaRPr lang="ko-KR" altLang="en-US" sz="1700" dirty="0"/>
          </a:p>
        </p:txBody>
      </p:sp>
      <p:sp>
        <p:nvSpPr>
          <p:cNvPr id="24" name="Text 21"/>
          <p:cNvSpPr txBox="1"/>
          <p:nvPr/>
        </p:nvSpPr>
        <p:spPr>
          <a:xfrm>
            <a:off x="7543800" y="4480560"/>
            <a:ext cx="3870655" cy="1097280"/>
          </a:xfrm>
          <a:prstGeom prst="rect">
            <a:avLst/>
          </a:prstGeom>
          <a:noFill/>
          <a:ln/>
        </p:spPr>
        <p:txBody>
          <a:bodyPr wrap="square" lIns="0" tIns="0" rIns="0" bIns="0" rtlCol="0" anchor="t"/>
          <a:lstStyle/>
          <a:p>
            <a:pPr indent="0" marL="0" eaLnBrk="0">
              <a:spcAft>
                <a:spcPts val="400"/>
              </a:spcAft>
              <a:buNone/>
            </a:pPr>
            <a:r>
              <a:rPr lang="ko-KR" altLang="en-US" sz="1300" dirty="0">
                <a:solidFill>
                  <a:schemeClr val="tx2"/>
                </a:solidFill>
              </a:rPr>
              <a:t>정적 상태: 객체를 만들지 않아 메모리와 시간이 들지 않는다.</a:t>
            </a:r>
            <a:endParaRPr lang="ko-KR" altLang="en-US" sz="1300" dirty="0"/>
          </a:p>
          <a:p>
            <a:pPr indent="0" marL="0" eaLnBrk="0">
              <a:spcAft>
                <a:spcPts val="400"/>
              </a:spcAft>
              <a:buNone/>
            </a:pPr>
            <a:r>
              <a:rPr lang="ko-KR" altLang="en-US" sz="1300" dirty="0">
                <a:solidFill>
                  <a:schemeClr val="tx2"/>
                </a:solidFill>
              </a:rPr>
              <a:t>생성하는 상태: 상태 기계마다 값을 따로 가진다.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진입 동작</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그림 설정은 떠나는 상태가 아니라 들어오는 상태가 맡는다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진입 동작은 상태 그림의 어디에서 특히 쓸모가 있을까?</a:t>
            </a:r>
            <a:endParaRPr lang="ko-KR" altLang="en-US" sz="1500" dirty="0"/>
          </a:p>
        </p:txBody>
      </p:sp>
      <p:sp>
        <p:nvSpPr>
          <p:cNvPr id="6" name="codePanel"/>
          <p:cNvSpPr/>
          <p:nvPr/>
        </p:nvSpPr>
        <p:spPr>
          <a:xfrm>
            <a:off x="548640" y="1600200"/>
            <a:ext cx="5440680" cy="2011680"/>
          </a:xfrm>
          <a:prstGeom prst="roundRect">
            <a:avLst>
              <a:gd name="adj" fmla="val 3636"/>
            </a:avLst>
          </a:prstGeom>
          <a:solidFill>
            <a:schemeClr val="tx1"/>
          </a:solidFill>
          <a:ln w="12700">
            <a:solidFill>
              <a:schemeClr val="tx1"/>
            </a:solidFill>
            <a:prstDash val="solid"/>
          </a:ln>
        </p:spPr>
      </p:sp>
      <p:sp>
        <p:nvSpPr>
          <p:cNvPr id="7" name="code"/>
          <p:cNvSpPr txBox="1"/>
          <p:nvPr/>
        </p:nvSpPr>
        <p:spPr>
          <a:xfrm>
            <a:off x="658368" y="1691640"/>
            <a:ext cx="5221224" cy="1828800"/>
          </a:xfrm>
          <a:prstGeom prst="rect">
            <a:avLst/>
          </a:prstGeom>
          <a:noFill/>
          <a:ln/>
        </p:spPr>
        <p:txBody>
          <a:bodyPr wrap="square" lIns="635" tIns="635" rIns="635" bIns="635" rtlCol="0" anchor="t"/>
          <a:lstStyle/>
          <a:p>
            <a:pPr indent="0" marL="0" eaLnBrk="0">
              <a:buNone/>
            </a:pPr>
            <a:r>
              <a:rPr lang="ko-KR" altLang="en-US" sz="1100" dirty="0">
                <a:solidFill>
                  <a:schemeClr val="accent3"/>
                </a:solidFill>
                <a:latin typeface="Consolas" pitchFamily="34" charset="0"/>
                <a:ea typeface="Consolas" pitchFamily="34" charset="-122"/>
                <a:cs typeface="Consolas" pitchFamily="34" charset="-120"/>
              </a:rPr>
              <a:t>// 전: 떠나는 상태가 그림을 정한다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override HeroineState HandleInput(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Heroine heroine, Input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(input == Input.ReleaseDown)</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heroine.SetGraphics(Image.Stand);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return new StandingState();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다른 코드...</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Panel"/>
          <p:cNvSpPr/>
          <p:nvPr/>
        </p:nvSpPr>
        <p:spPr>
          <a:xfrm>
            <a:off x="548640" y="3730752"/>
            <a:ext cx="5440680" cy="1984248"/>
          </a:xfrm>
          <a:prstGeom prst="roundRect">
            <a:avLst>
              <a:gd name="adj" fmla="val 3687"/>
            </a:avLst>
          </a:prstGeom>
          <a:solidFill>
            <a:schemeClr val="tx1"/>
          </a:solidFill>
          <a:ln w="12700">
            <a:solidFill>
              <a:schemeClr val="tx1"/>
            </a:solidFill>
            <a:prstDash val="solid"/>
          </a:ln>
        </p:spPr>
      </p:sp>
      <p:sp>
        <p:nvSpPr>
          <p:cNvPr id="9" name="code"/>
          <p:cNvSpPr txBox="1"/>
          <p:nvPr/>
        </p:nvSpPr>
        <p:spPr>
          <a:xfrm>
            <a:off x="658368" y="3822192"/>
            <a:ext cx="5221224" cy="1801368"/>
          </a:xfrm>
          <a:prstGeom prst="rect">
            <a:avLst/>
          </a:prstGeom>
          <a:noFill/>
          <a:ln/>
        </p:spPr>
        <p:txBody>
          <a:bodyPr wrap="square" lIns="635" tIns="635" rIns="635" bIns="635" rtlCol="0" anchor="t"/>
          <a:lstStyle/>
          <a:p>
            <a:pPr indent="0" marL="0" eaLnBrk="0">
              <a:buNone/>
            </a:pPr>
            <a:r>
              <a:rPr lang="ko-KR" altLang="en-US" sz="1100" dirty="0">
                <a:solidFill>
                  <a:schemeClr val="accent3"/>
                </a:solidFill>
                <a:latin typeface="Consolas" pitchFamily="34" charset="0"/>
                <a:ea typeface="Consolas" pitchFamily="34" charset="-122"/>
                <a:cs typeface="Consolas" pitchFamily="34" charset="-120"/>
              </a:rPr>
              <a:t>// 후: 서 있기 상태를 돌려주기만 한다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override HeroineState HandleInput(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Heroine heroine, Input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(input == Input.ReleaseDown)</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return new StandingState();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다른 코드...</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0" name="codePanel"/>
          <p:cNvSpPr/>
          <p:nvPr/>
        </p:nvSpPr>
        <p:spPr>
          <a:xfrm>
            <a:off x="6199632" y="1600200"/>
            <a:ext cx="5443423" cy="2011680"/>
          </a:xfrm>
          <a:prstGeom prst="roundRect">
            <a:avLst>
              <a:gd name="adj" fmla="val 3636"/>
            </a:avLst>
          </a:prstGeom>
          <a:solidFill>
            <a:schemeClr val="tx1"/>
          </a:solidFill>
          <a:ln w="12700">
            <a:solidFill>
              <a:schemeClr val="tx1"/>
            </a:solidFill>
            <a:prstDash val="solid"/>
          </a:ln>
        </p:spPr>
      </p:sp>
      <p:sp>
        <p:nvSpPr>
          <p:cNvPr id="11" name="code"/>
          <p:cNvSpPr txBox="1"/>
          <p:nvPr/>
        </p:nvSpPr>
        <p:spPr>
          <a:xfrm>
            <a:off x="6309360" y="1691640"/>
            <a:ext cx="5223967" cy="182880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StandingState : HeroineState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override void Enter(Heroine heroine)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heroine.SetGraphics(Image.Stand);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다른 코드...</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2" name="codePanel"/>
          <p:cNvSpPr/>
          <p:nvPr/>
        </p:nvSpPr>
        <p:spPr>
          <a:xfrm>
            <a:off x="6199632" y="3730752"/>
            <a:ext cx="5443423" cy="1984248"/>
          </a:xfrm>
          <a:prstGeom prst="roundRect">
            <a:avLst>
              <a:gd name="adj" fmla="val 3687"/>
            </a:avLst>
          </a:prstGeom>
          <a:solidFill>
            <a:schemeClr val="tx1"/>
          </a:solidFill>
          <a:ln w="12700">
            <a:solidFill>
              <a:schemeClr val="tx1"/>
            </a:solidFill>
            <a:prstDash val="solid"/>
          </a:ln>
        </p:spPr>
      </p:sp>
      <p:sp>
        <p:nvSpPr>
          <p:cNvPr id="13" name="code"/>
          <p:cNvSpPr txBox="1"/>
          <p:nvPr/>
        </p:nvSpPr>
        <p:spPr>
          <a:xfrm>
            <a:off x="6309360" y="3822192"/>
            <a:ext cx="5223967" cy="1801368"/>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void HandleInput(Input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HeroineState state = _state.HandleInput(this,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(state != null)</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_state = state;</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새 상태의 진입 동작을 부른다</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_state.Enter(this);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4" name="codeCaption"/>
          <p:cNvSpPr txBox="1"/>
          <p:nvPr/>
        </p:nvSpPr>
        <p:spPr>
          <a:xfrm>
            <a:off x="8534095" y="3822192"/>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진입과 퇴장</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어디서 들어오든 같은 진입 동작이 한 번 실행된다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지금까지 만든 상태 기계에 입력을 차례로 넣어 따라가 보자.</a:t>
            </a:r>
            <a:endParaRPr lang="ko-KR" altLang="en-US" sz="1500" dirty="0"/>
          </a:p>
        </p:txBody>
      </p:sp>
      <p:sp>
        <p:nvSpPr>
          <p:cNvPr id="6" name="box"/>
          <p:cNvSpPr/>
          <p:nvPr/>
        </p:nvSpPr>
        <p:spPr>
          <a:xfrm>
            <a:off x="548640" y="1691640"/>
            <a:ext cx="2103120" cy="685800"/>
          </a:xfrm>
          <a:prstGeom prst="roundRect">
            <a:avLst>
              <a:gd name="adj" fmla="val 10667"/>
            </a:avLst>
          </a:prstGeom>
          <a:solidFill>
            <a:schemeClr val="bg2"/>
          </a:solidFill>
          <a:ln w="12700">
            <a:solidFill>
              <a:schemeClr val="bg2"/>
            </a:solidFill>
            <a:prstDash val="solid"/>
          </a:ln>
        </p:spPr>
      </p:sp>
      <p:sp>
        <p:nvSpPr>
          <p:cNvPr id="7" name="Text 4"/>
          <p:cNvSpPr txBox="1"/>
          <p:nvPr/>
        </p:nvSpPr>
        <p:spPr>
          <a:xfrm>
            <a:off x="548640" y="1691640"/>
            <a:ext cx="2103120" cy="68580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점프</a:t>
            </a:r>
            <a:endParaRPr lang="ko-KR" altLang="en-US" sz="1500" dirty="0"/>
          </a:p>
        </p:txBody>
      </p:sp>
      <p:sp>
        <p:nvSpPr>
          <p:cNvPr id="8" name="Shape 5"/>
          <p:cNvSpPr/>
          <p:nvPr/>
        </p:nvSpPr>
        <p:spPr>
          <a:xfrm>
            <a:off x="2697480" y="2039112"/>
            <a:ext cx="1965960" cy="658368"/>
          </a:xfrm>
          <a:prstGeom prst="line">
            <a:avLst/>
          </a:prstGeom>
          <a:noFill/>
          <a:ln w="22225">
            <a:solidFill>
              <a:schemeClr val="accent5"/>
            </a:solidFill>
            <a:prstDash val="solid"/>
            <a:tailEnd type="triangle"/>
          </a:ln>
        </p:spPr>
      </p:sp>
      <p:sp>
        <p:nvSpPr>
          <p:cNvPr id="9" name="Text 6"/>
          <p:cNvSpPr txBox="1"/>
          <p:nvPr/>
        </p:nvSpPr>
        <p:spPr>
          <a:xfrm>
            <a:off x="2834640" y="1645920"/>
            <a:ext cx="118872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착지</a:t>
            </a:r>
            <a:endParaRPr lang="ko-KR" altLang="en-US" sz="1200" dirty="0"/>
          </a:p>
        </p:txBody>
      </p:sp>
      <p:sp>
        <p:nvSpPr>
          <p:cNvPr id="10" name="box"/>
          <p:cNvSpPr/>
          <p:nvPr/>
        </p:nvSpPr>
        <p:spPr>
          <a:xfrm>
            <a:off x="548640" y="2697480"/>
            <a:ext cx="2103120" cy="685800"/>
          </a:xfrm>
          <a:prstGeom prst="roundRect">
            <a:avLst>
              <a:gd name="adj" fmla="val 10667"/>
            </a:avLst>
          </a:prstGeom>
          <a:solidFill>
            <a:schemeClr val="bg2"/>
          </a:solidFill>
          <a:ln w="12700">
            <a:solidFill>
              <a:schemeClr val="bg2"/>
            </a:solidFill>
            <a:prstDash val="solid"/>
          </a:ln>
        </p:spPr>
      </p:sp>
      <p:sp>
        <p:nvSpPr>
          <p:cNvPr id="11" name="Text 8"/>
          <p:cNvSpPr txBox="1"/>
          <p:nvPr/>
        </p:nvSpPr>
        <p:spPr>
          <a:xfrm>
            <a:off x="548640" y="2697480"/>
            <a:ext cx="2103120" cy="68580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내려찍기</a:t>
            </a:r>
            <a:endParaRPr lang="ko-KR" altLang="en-US" sz="1500" dirty="0"/>
          </a:p>
        </p:txBody>
      </p:sp>
      <p:sp>
        <p:nvSpPr>
          <p:cNvPr id="12" name="Shape 9"/>
          <p:cNvSpPr/>
          <p:nvPr/>
        </p:nvSpPr>
        <p:spPr>
          <a:xfrm flipV="1">
            <a:off x="2697480" y="2990088"/>
            <a:ext cx="1965960" cy="54864"/>
          </a:xfrm>
          <a:prstGeom prst="line">
            <a:avLst/>
          </a:prstGeom>
          <a:noFill/>
          <a:ln w="22225">
            <a:solidFill>
              <a:schemeClr val="accent5"/>
            </a:solidFill>
            <a:prstDash val="solid"/>
            <a:tailEnd type="triangle"/>
          </a:ln>
        </p:spPr>
      </p:sp>
      <p:sp>
        <p:nvSpPr>
          <p:cNvPr id="13" name="Text 10"/>
          <p:cNvSpPr txBox="1"/>
          <p:nvPr/>
        </p:nvSpPr>
        <p:spPr>
          <a:xfrm>
            <a:off x="2834640" y="2651760"/>
            <a:ext cx="118872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착지</a:t>
            </a:r>
            <a:endParaRPr lang="ko-KR" altLang="en-US" sz="1200" dirty="0"/>
          </a:p>
        </p:txBody>
      </p:sp>
      <p:sp>
        <p:nvSpPr>
          <p:cNvPr id="14" name="box"/>
          <p:cNvSpPr/>
          <p:nvPr/>
        </p:nvSpPr>
        <p:spPr>
          <a:xfrm>
            <a:off x="548640" y="3703320"/>
            <a:ext cx="2103120" cy="685800"/>
          </a:xfrm>
          <a:prstGeom prst="roundRect">
            <a:avLst>
              <a:gd name="adj" fmla="val 10667"/>
            </a:avLst>
          </a:prstGeom>
          <a:solidFill>
            <a:schemeClr val="bg2"/>
          </a:solidFill>
          <a:ln w="12700">
            <a:solidFill>
              <a:schemeClr val="bg2"/>
            </a:solidFill>
            <a:prstDash val="solid"/>
          </a:ln>
        </p:spPr>
      </p:sp>
      <p:sp>
        <p:nvSpPr>
          <p:cNvPr id="15" name="Text 12"/>
          <p:cNvSpPr txBox="1"/>
          <p:nvPr/>
        </p:nvSpPr>
        <p:spPr>
          <a:xfrm>
            <a:off x="548640" y="3703320"/>
            <a:ext cx="2103120" cy="68580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엎드리기</a:t>
            </a:r>
            <a:endParaRPr lang="ko-KR" altLang="en-US" sz="1500" dirty="0"/>
          </a:p>
        </p:txBody>
      </p:sp>
      <p:sp>
        <p:nvSpPr>
          <p:cNvPr id="16" name="Shape 13"/>
          <p:cNvSpPr/>
          <p:nvPr/>
        </p:nvSpPr>
        <p:spPr>
          <a:xfrm flipV="1">
            <a:off x="2697480" y="3282696"/>
            <a:ext cx="1965960" cy="768096"/>
          </a:xfrm>
          <a:prstGeom prst="line">
            <a:avLst/>
          </a:prstGeom>
          <a:noFill/>
          <a:ln w="22225">
            <a:solidFill>
              <a:schemeClr val="accent5"/>
            </a:solidFill>
            <a:prstDash val="solid"/>
            <a:tailEnd type="triangle"/>
          </a:ln>
        </p:spPr>
      </p:sp>
      <p:sp>
        <p:nvSpPr>
          <p:cNvPr id="17" name="Text 14"/>
          <p:cNvSpPr txBox="1"/>
          <p:nvPr/>
        </p:nvSpPr>
        <p:spPr>
          <a:xfrm>
            <a:off x="2834640" y="4087368"/>
            <a:ext cx="1188720" cy="274320"/>
          </a:xfrm>
          <a:prstGeom prst="rect">
            <a:avLst/>
          </a:prstGeom>
          <a:noFill/>
          <a:ln/>
        </p:spPr>
        <p:txBody>
          <a:bodyPr wrap="square" lIns="0" tIns="0" rIns="0" bIns="0" rtlCol="0" anchor="t"/>
          <a:lstStyle/>
          <a:p>
            <a:pPr indent="0" marL="0" eaLnBrk="0">
              <a:buNone/>
            </a:pPr>
            <a:r>
              <a:rPr lang="ko-KR" altLang="en-US" sz="1200" b="1" dirty="0">
                <a:solidFill>
                  <a:schemeClr val="accent5"/>
                </a:solidFill>
              </a:rPr>
              <a:t>아래 뗌</a:t>
            </a:r>
            <a:endParaRPr lang="ko-KR" altLang="en-US" sz="1200" dirty="0"/>
          </a:p>
        </p:txBody>
      </p:sp>
      <p:sp>
        <p:nvSpPr>
          <p:cNvPr id="18" name="box"/>
          <p:cNvSpPr/>
          <p:nvPr/>
        </p:nvSpPr>
        <p:spPr>
          <a:xfrm>
            <a:off x="4663440" y="2377440"/>
            <a:ext cx="2286000" cy="1234440"/>
          </a:xfrm>
          <a:prstGeom prst="roundRect">
            <a:avLst>
              <a:gd name="adj" fmla="val 5926"/>
            </a:avLst>
          </a:prstGeom>
          <a:solidFill>
            <a:schemeClr val="accent1"/>
          </a:solidFill>
          <a:ln w="12700">
            <a:solidFill>
              <a:schemeClr val="accent1"/>
            </a:solidFill>
            <a:prstDash val="solid"/>
          </a:ln>
        </p:spPr>
      </p:sp>
      <p:sp>
        <p:nvSpPr>
          <p:cNvPr id="19" name="Text 16"/>
          <p:cNvSpPr txBox="1"/>
          <p:nvPr/>
        </p:nvSpPr>
        <p:spPr>
          <a:xfrm>
            <a:off x="4663440" y="2377440"/>
            <a:ext cx="2286000" cy="123444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서 있기</a:t>
            </a:r>
            <a:endParaRPr lang="ko-KR" altLang="en-US" sz="1500" dirty="0"/>
          </a:p>
          <a:p>
            <a:pPr algn="ctr" indent="0" marL="0" eaLnBrk="0">
              <a:buNone/>
            </a:pPr>
            <a:r>
              <a:rPr lang="ko-KR" altLang="en-US" sz="1500" b="1" dirty="0">
                <a:solidFill>
                  <a:schemeClr val="bg1"/>
                </a:solidFill>
              </a:rPr>
              <a:t>Enter(): 서 있는 그림</a:t>
            </a:r>
            <a:endParaRPr lang="ko-KR" altLang="en-US" sz="1500" dirty="0"/>
          </a:p>
        </p:txBody>
      </p:sp>
      <p:sp>
        <p:nvSpPr>
          <p:cNvPr id="20" name="Shape 17"/>
          <p:cNvSpPr/>
          <p:nvPr/>
        </p:nvSpPr>
        <p:spPr>
          <a:xfrm>
            <a:off x="7498080" y="1691640"/>
            <a:ext cx="4144975" cy="2743200"/>
          </a:xfrm>
          <a:prstGeom prst="roundRect">
            <a:avLst>
              <a:gd name="adj" fmla="val 3333"/>
            </a:avLst>
          </a:prstGeom>
          <a:solidFill>
            <a:schemeClr val="bg2"/>
          </a:solidFill>
          <a:ln w="12700">
            <a:solidFill>
              <a:schemeClr val="bg2"/>
            </a:solidFill>
            <a:prstDash val="solid"/>
          </a:ln>
        </p:spPr>
      </p:sp>
      <p:sp>
        <p:nvSpPr>
          <p:cNvPr id="21" name="Text 18"/>
          <p:cNvSpPr txBox="1"/>
          <p:nvPr/>
        </p:nvSpPr>
        <p:spPr>
          <a:xfrm>
            <a:off x="7726680" y="1828800"/>
            <a:ext cx="3687775"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퇴장 동작(Exit)</a:t>
            </a:r>
            <a:endParaRPr lang="ko-KR" altLang="en-US" sz="1700" dirty="0"/>
          </a:p>
        </p:txBody>
      </p:sp>
      <p:sp>
        <p:nvSpPr>
          <p:cNvPr id="22" name="Text 19"/>
          <p:cNvSpPr txBox="1"/>
          <p:nvPr/>
        </p:nvSpPr>
        <p:spPr>
          <a:xfrm>
            <a:off x="7726680" y="2286000"/>
            <a:ext cx="3687775"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떠나는 상태에 대해, 새 상태로</a:t>
            </a:r>
            <a:endParaRPr lang="ko-KR" altLang="en-US" sz="1400" dirty="0"/>
          </a:p>
          <a:p>
            <a:pPr indent="0" marL="0" eaLnBrk="0">
              <a:buNone/>
            </a:pPr>
            <a:r>
              <a:rPr lang="ko-KR" altLang="en-US" sz="1400" dirty="0">
                <a:solidFill>
                  <a:schemeClr val="tx2"/>
                </a:solidFill>
              </a:rPr>
              <a:t>바꾸기 바로 전에 부르는 메서드이다.</a:t>
            </a:r>
            <a:endParaRPr lang="ko-KR" altLang="en-US" sz="1400" dirty="0"/>
          </a:p>
        </p:txBody>
      </p:sp>
      <p:sp>
        <p:nvSpPr>
          <p:cNvPr id="23" name="codePanel"/>
          <p:cNvSpPr/>
          <p:nvPr/>
        </p:nvSpPr>
        <p:spPr>
          <a:xfrm>
            <a:off x="7680960" y="3017520"/>
            <a:ext cx="3779215" cy="960120"/>
          </a:xfrm>
          <a:prstGeom prst="roundRect">
            <a:avLst>
              <a:gd name="adj" fmla="val 7619"/>
            </a:avLst>
          </a:prstGeom>
          <a:solidFill>
            <a:schemeClr val="tx1"/>
          </a:solidFill>
          <a:ln w="12700">
            <a:solidFill>
              <a:schemeClr val="tx1"/>
            </a:solidFill>
            <a:prstDash val="solid"/>
          </a:ln>
        </p:spPr>
      </p:sp>
      <p:sp>
        <p:nvSpPr>
          <p:cNvPr id="24" name="code"/>
          <p:cNvSpPr txBox="1"/>
          <p:nvPr/>
        </p:nvSpPr>
        <p:spPr>
          <a:xfrm>
            <a:off x="7790688" y="3108960"/>
            <a:ext cx="3559759" cy="777240"/>
          </a:xfrm>
          <a:prstGeom prst="rect">
            <a:avLst/>
          </a:prstGeom>
          <a:noFill/>
          <a:ln/>
        </p:spPr>
        <p:txBody>
          <a:bodyPr wrap="square" lIns="635" tIns="635" rIns="635" bIns="635" rtlCol="0" anchor="t"/>
          <a:lstStyle/>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_state.Exit(this);    // 떠나는 상태</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_state = state;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_state.Enter(this);   // 들어오는 상태</a:t>
            </a:r>
            <a:endParaRPr lang="ko-KR" altLang="en-US" sz="1200" dirty="0"/>
          </a:p>
        </p:txBody>
      </p:sp>
      <p:sp>
        <p:nvSpPr>
          <p:cNvPr id="25" name="Text 22"/>
          <p:cNvSpPr txBox="1"/>
          <p:nvPr/>
        </p:nvSpPr>
        <p:spPr>
          <a:xfrm>
            <a:off x="7726680" y="4050792"/>
            <a:ext cx="3687775" cy="274320"/>
          </a:xfrm>
          <a:prstGeom prst="rect">
            <a:avLst/>
          </a:prstGeom>
          <a:noFill/>
          <a:ln/>
        </p:spPr>
        <p:txBody>
          <a:bodyPr wrap="square" lIns="0" tIns="0" rIns="0" bIns="0" rtlCol="0" anchor="t"/>
          <a:lstStyle/>
          <a:p>
            <a:pPr indent="0" marL="0" eaLnBrk="0">
              <a:buNone/>
            </a:pPr>
            <a:r>
              <a:rPr lang="ko-KR" altLang="en-US" sz="1200" dirty="0">
                <a:solidFill>
                  <a:schemeClr val="accent5"/>
                </a:solidFill>
              </a:rPr>
              <a:t>원서의 설명을 코드로 옮긴 것이다.</a:t>
            </a:r>
            <a:endParaRPr lang="ko-KR" altLang="en-US" sz="1200" dirty="0"/>
          </a:p>
        </p:txBody>
      </p:sp>
      <p:sp>
        <p:nvSpPr>
          <p:cNvPr id="26" name="box"/>
          <p:cNvSpPr/>
          <p:nvPr/>
        </p:nvSpPr>
        <p:spPr>
          <a:xfrm>
            <a:off x="548640" y="4709160"/>
            <a:ext cx="11094415" cy="960120"/>
          </a:xfrm>
          <a:prstGeom prst="roundRect">
            <a:avLst>
              <a:gd name="adj" fmla="val 7619"/>
            </a:avLst>
          </a:prstGeom>
          <a:solidFill>
            <a:schemeClr val="tx2"/>
          </a:solidFill>
          <a:ln w="12700">
            <a:solidFill>
              <a:schemeClr val="tx2"/>
            </a:solidFill>
            <a:prstDash val="solid"/>
          </a:ln>
        </p:spPr>
      </p:sp>
      <p:sp>
        <p:nvSpPr>
          <p:cNvPr id="27" name="Text 24"/>
          <p:cNvSpPr txBox="1"/>
          <p:nvPr/>
        </p:nvSpPr>
        <p:spPr>
          <a:xfrm>
            <a:off x="548640" y="4709160"/>
            <a:ext cx="11094415" cy="96012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서 있는 그림을 정하는 코드는 StandingState.Enter 한 곳에만 있다.</a:t>
            </a:r>
            <a:endParaRPr lang="ko-KR" altLang="en-US" sz="1600" dirty="0"/>
          </a:p>
          <a:p>
            <a:pPr algn="ctr" indent="0" marL="0" eaLnBrk="0">
              <a:buNone/>
            </a:pPr>
            <a:r>
              <a:rPr lang="ko-KR" altLang="en-US" sz="1600" dirty="0">
                <a:solidFill>
                  <a:schemeClr val="bg1"/>
                </a:solidFill>
              </a:rPr>
              <a:t>진입 동작은 어느 상태에서 들어왔는지와 상관없이 실행된다.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입력을 차례로 넣어 상태 객체가 바뀌는 과정을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유한 상태 기계는 모든 문제에 잘 맞을까?</a:t>
            </a:r>
            <a:endParaRPr lang="ko-KR" alt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783080"/>
                <a:gridCol w="1874520"/>
                <a:gridCol w="2331720"/>
                <a:gridCol w="2103120"/>
                <a:gridCol w="3001975"/>
              </a:tblGrid>
              <a:tr h="438912">
                <a:tc>
                  <a:txBody>
                    <a:bodyPr/>
                    <a:lstStyle/>
                    <a:p>
                      <a:pPr indent="0" marL="0" eaLnBrk="0">
                        <a:buNone/>
                      </a:pPr>
                      <a:r>
                        <a:rPr lang="ko-KR" altLang="en-US" sz="1300" b="1" dirty="0">
                          <a:solidFill>
                            <a:schemeClr val="bg1"/>
                          </a:solidFill>
                        </a:rPr>
                        <a:t>입력</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현재 상태 객체</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HandleInput이 돌려준 값</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Enter 호출</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결과</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438912">
                <a:tc>
                  <a:txBody>
                    <a:bodyPr/>
                    <a:lstStyle/>
                    <a:p>
                      <a:pPr indent="0" marL="0" eaLnBrk="0">
                        <a:buNone/>
                      </a:pPr>
                      <a:r>
                        <a:rPr lang="ko-KR" altLang="en-US" sz="1300" b="1" dirty="0">
                          <a:solidFill>
                            <a:schemeClr val="tx1"/>
                          </a:solidFill>
                        </a:rPr>
                        <a:t>시작</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StandingState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서 있는 그림</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아래 누름</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StandingState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새 DuckingState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DuckingState.Enter</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엎드린 그림, _chargeTime = 0</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매 프레임 Update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DuckingState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_chargeTime이 늘어난다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B 누름</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DuckingState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null</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전환 없음. 엎드린 채 그대로</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아래 뗌</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DuckingState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새 StandingState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StandingState.Enter</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서 있는 그림</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B 누름</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StandingState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새 JumpingState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JumpingState.Enter</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점프하는 그림</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아래 누름</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JumpingState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새 DivingState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DivingState.Enter</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내려찍는 그림</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38912">
                <a:tc>
                  <a:txBody>
                    <a:bodyPr/>
                    <a:lstStyle/>
                    <a:p>
                      <a:pPr indent="0" marL="0" eaLnBrk="0">
                        <a:buNone/>
                      </a:pPr>
                      <a:r>
                        <a:rPr lang="ko-KR" altLang="en-US" sz="1300" b="1" dirty="0">
                          <a:solidFill>
                            <a:schemeClr val="tx1"/>
                          </a:solidFill>
                        </a:rPr>
                        <a:t>B 누름</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DivingState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null</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전환 없음. 공중 점프가 없다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한계와 확장</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단점은?, 병행 상태 기계, 계층형 상태 기계, 푸시다운 오토마타</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단점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엄격한 구조가 장점이자 한계이다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여주인공에게 총을 들게 하면 상태는 몇 개가 될까?</a:t>
            </a:r>
            <a:endParaRPr lang="ko-KR" altLang="en-US" sz="1500" dirty="0"/>
          </a:p>
        </p:txBody>
      </p:sp>
      <p:sp>
        <p:nvSpPr>
          <p:cNvPr id="6" name="card"/>
          <p:cNvSpPr/>
          <p:nvPr/>
        </p:nvSpPr>
        <p:spPr>
          <a:xfrm>
            <a:off x="548640" y="1645920"/>
            <a:ext cx="5852160" cy="1234440"/>
          </a:xfrm>
          <a:prstGeom prst="roundRect">
            <a:avLst>
              <a:gd name="adj" fmla="val 7407"/>
            </a:avLst>
          </a:prstGeom>
          <a:solidFill>
            <a:schemeClr val="bg2"/>
          </a:solidFill>
          <a:ln w="12700">
            <a:solidFill>
              <a:schemeClr val="bg2"/>
            </a:solidFill>
            <a:prstDash val="solid"/>
          </a:ln>
        </p:spPr>
      </p:sp>
      <p:sp>
        <p:nvSpPr>
          <p:cNvPr id="7" name="Shape 4"/>
          <p:cNvSpPr/>
          <p:nvPr/>
        </p:nvSpPr>
        <p:spPr>
          <a:xfrm>
            <a:off x="777240" y="184708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65376"/>
            <a:ext cx="48920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정해진 상태 목록</a:t>
            </a:r>
            <a:endParaRPr lang="ko-KR" altLang="en-US" sz="1700" dirty="0"/>
          </a:p>
        </p:txBody>
      </p:sp>
      <p:sp>
        <p:nvSpPr>
          <p:cNvPr id="10" name="Text 7"/>
          <p:cNvSpPr txBox="1"/>
          <p:nvPr/>
        </p:nvSpPr>
        <p:spPr>
          <a:xfrm>
            <a:off x="1325880" y="2267712"/>
            <a:ext cx="4892040"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실행 중에 새 상태를 만들 수 없다.</a:t>
            </a:r>
            <a:endParaRPr lang="ko-KR" altLang="en-US" sz="1400" dirty="0"/>
          </a:p>
        </p:txBody>
      </p:sp>
      <p:sp>
        <p:nvSpPr>
          <p:cNvPr id="11" name="card"/>
          <p:cNvSpPr/>
          <p:nvPr/>
        </p:nvSpPr>
        <p:spPr>
          <a:xfrm>
            <a:off x="548640" y="3017520"/>
            <a:ext cx="5852160" cy="1234440"/>
          </a:xfrm>
          <a:prstGeom prst="roundRect">
            <a:avLst>
              <a:gd name="adj" fmla="val 7407"/>
            </a:avLst>
          </a:prstGeom>
          <a:solidFill>
            <a:schemeClr val="bg2"/>
          </a:solidFill>
          <a:ln w="12700">
            <a:solidFill>
              <a:schemeClr val="bg2"/>
            </a:solidFill>
            <a:prstDash val="solid"/>
          </a:ln>
        </p:spPr>
      </p:sp>
      <p:sp>
        <p:nvSpPr>
          <p:cNvPr id="12" name="Shape 9"/>
          <p:cNvSpPr/>
          <p:nvPr/>
        </p:nvSpPr>
        <p:spPr>
          <a:xfrm>
            <a:off x="777240" y="32186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2186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3236976"/>
            <a:ext cx="48920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현재 상태는 하나</a:t>
            </a:r>
            <a:endParaRPr lang="ko-KR" altLang="en-US" sz="1700" dirty="0"/>
          </a:p>
        </p:txBody>
      </p:sp>
      <p:sp>
        <p:nvSpPr>
          <p:cNvPr id="15" name="Text 12"/>
          <p:cNvSpPr txBox="1"/>
          <p:nvPr/>
        </p:nvSpPr>
        <p:spPr>
          <a:xfrm>
            <a:off x="1325880" y="3639312"/>
            <a:ext cx="4892040"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두 가지 일을 동시에 나타내기 어렵다.</a:t>
            </a:r>
            <a:endParaRPr lang="ko-KR" altLang="en-US" sz="1400" dirty="0"/>
          </a:p>
        </p:txBody>
      </p:sp>
      <p:sp>
        <p:nvSpPr>
          <p:cNvPr id="16" name="card"/>
          <p:cNvSpPr/>
          <p:nvPr/>
        </p:nvSpPr>
        <p:spPr>
          <a:xfrm>
            <a:off x="548640" y="4389120"/>
            <a:ext cx="5852160" cy="1234440"/>
          </a:xfrm>
          <a:prstGeom prst="roundRect">
            <a:avLst>
              <a:gd name="adj" fmla="val 7407"/>
            </a:avLst>
          </a:prstGeom>
          <a:solidFill>
            <a:schemeClr val="bg2"/>
          </a:solidFill>
          <a:ln w="12700">
            <a:solidFill>
              <a:schemeClr val="bg2"/>
            </a:solidFill>
            <a:prstDash val="solid"/>
          </a:ln>
        </p:spPr>
      </p:sp>
      <p:sp>
        <p:nvSpPr>
          <p:cNvPr id="17" name="Shape 14"/>
          <p:cNvSpPr/>
          <p:nvPr/>
        </p:nvSpPr>
        <p:spPr>
          <a:xfrm>
            <a:off x="777240" y="459028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4590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4608576"/>
            <a:ext cx="48920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코드에 고정된 전환</a:t>
            </a:r>
            <a:endParaRPr lang="ko-KR" altLang="en-US" sz="1700" dirty="0"/>
          </a:p>
        </p:txBody>
      </p:sp>
      <p:sp>
        <p:nvSpPr>
          <p:cNvPr id="20" name="Text 17"/>
          <p:cNvSpPr txBox="1"/>
          <p:nvPr/>
        </p:nvSpPr>
        <p:spPr>
          <a:xfrm>
            <a:off x="1325880" y="5010912"/>
            <a:ext cx="4892040"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이전에 어느 상태였는지 기억하지 않는다.</a:t>
            </a:r>
            <a:endParaRPr lang="ko-KR" altLang="en-US" sz="1400" dirty="0"/>
          </a:p>
        </p:txBody>
      </p:sp>
      <p:sp>
        <p:nvSpPr>
          <p:cNvPr id="21" name="Shape 18"/>
          <p:cNvSpPr/>
          <p:nvPr/>
        </p:nvSpPr>
        <p:spPr>
          <a:xfrm>
            <a:off x="6858000" y="1645920"/>
            <a:ext cx="4785055" cy="3977640"/>
          </a:xfrm>
          <a:prstGeom prst="roundRect">
            <a:avLst>
              <a:gd name="adj" fmla="val 2299"/>
            </a:avLst>
          </a:prstGeom>
          <a:solidFill>
            <a:schemeClr val="tx2"/>
          </a:solidFill>
          <a:ln w="12700">
            <a:solidFill>
              <a:schemeClr val="tx2"/>
            </a:solidFill>
            <a:prstDash val="solid"/>
          </a:ln>
        </p:spPr>
      </p:sp>
      <p:sp>
        <p:nvSpPr>
          <p:cNvPr id="22" name="Text 19"/>
          <p:cNvSpPr txBox="1"/>
          <p:nvPr/>
        </p:nvSpPr>
        <p:spPr>
          <a:xfrm>
            <a:off x="7086600" y="1783080"/>
            <a:ext cx="4327855" cy="365760"/>
          </a:xfrm>
          <a:prstGeom prst="rect">
            <a:avLst/>
          </a:prstGeom>
          <a:noFill/>
          <a:ln/>
        </p:spPr>
        <p:txBody>
          <a:bodyPr wrap="square" lIns="0" tIns="0" rIns="0" bIns="0" rtlCol="0" anchor="t"/>
          <a:lstStyle/>
          <a:p>
            <a:pPr indent="0" marL="0" eaLnBrk="0">
              <a:buNone/>
            </a:pPr>
            <a:r>
              <a:rPr lang="ko-KR" altLang="en-US" sz="1500" b="1" dirty="0">
                <a:solidFill>
                  <a:schemeClr val="accent4"/>
                </a:solidFill>
              </a:rPr>
              <a:t>튜링 기계</a:t>
            </a:r>
            <a:endParaRPr lang="ko-KR" altLang="en-US" sz="1500" dirty="0"/>
          </a:p>
        </p:txBody>
      </p:sp>
      <p:sp>
        <p:nvSpPr>
          <p:cNvPr id="23" name="Shape 20"/>
          <p:cNvSpPr/>
          <p:nvPr/>
        </p:nvSpPr>
        <p:spPr>
          <a:xfrm>
            <a:off x="7178040" y="2286000"/>
            <a:ext cx="4144975" cy="3154680"/>
          </a:xfrm>
          <a:prstGeom prst="roundRect">
            <a:avLst>
              <a:gd name="adj" fmla="val 2899"/>
            </a:avLst>
          </a:prstGeom>
          <a:solidFill>
            <a:schemeClr val="accent5"/>
          </a:solidFill>
          <a:ln w="12700">
            <a:solidFill>
              <a:schemeClr val="accent5"/>
            </a:solidFill>
            <a:prstDash val="solid"/>
          </a:ln>
        </p:spPr>
      </p:sp>
      <p:sp>
        <p:nvSpPr>
          <p:cNvPr id="24" name="Text 21"/>
          <p:cNvSpPr txBox="1"/>
          <p:nvPr/>
        </p:nvSpPr>
        <p:spPr>
          <a:xfrm>
            <a:off x="7406640" y="2423160"/>
            <a:ext cx="3687775" cy="365760"/>
          </a:xfrm>
          <a:prstGeom prst="rect">
            <a:avLst/>
          </a:prstGeom>
          <a:noFill/>
          <a:ln/>
        </p:spPr>
        <p:txBody>
          <a:bodyPr wrap="square" lIns="0" tIns="0" rIns="0" bIns="0" rtlCol="0" anchor="t"/>
          <a:lstStyle/>
          <a:p>
            <a:pPr indent="0" marL="0" eaLnBrk="0">
              <a:buNone/>
            </a:pPr>
            <a:r>
              <a:rPr lang="ko-KR" altLang="en-US" sz="1500" b="1" dirty="0">
                <a:solidFill>
                  <a:schemeClr val="bg1"/>
                </a:solidFill>
              </a:rPr>
              <a:t>푸시다운 오토마타</a:t>
            </a:r>
            <a:endParaRPr lang="ko-KR" altLang="en-US" sz="1500" dirty="0"/>
          </a:p>
        </p:txBody>
      </p:sp>
      <p:sp>
        <p:nvSpPr>
          <p:cNvPr id="25" name="Shape 22"/>
          <p:cNvSpPr/>
          <p:nvPr/>
        </p:nvSpPr>
        <p:spPr>
          <a:xfrm>
            <a:off x="7498080" y="2926080"/>
            <a:ext cx="3504895" cy="2286000"/>
          </a:xfrm>
          <a:prstGeom prst="roundRect">
            <a:avLst>
              <a:gd name="adj" fmla="val 4000"/>
            </a:avLst>
          </a:prstGeom>
          <a:solidFill>
            <a:schemeClr val="accent1"/>
          </a:solidFill>
          <a:ln w="12700">
            <a:solidFill>
              <a:schemeClr val="accent1"/>
            </a:solidFill>
            <a:prstDash val="solid"/>
          </a:ln>
        </p:spPr>
      </p:sp>
      <p:sp>
        <p:nvSpPr>
          <p:cNvPr id="26" name="Text 23"/>
          <p:cNvSpPr txBox="1"/>
          <p:nvPr/>
        </p:nvSpPr>
        <p:spPr>
          <a:xfrm>
            <a:off x="7726680" y="3063240"/>
            <a:ext cx="3047695" cy="365760"/>
          </a:xfrm>
          <a:prstGeom prst="rect">
            <a:avLst/>
          </a:prstGeom>
          <a:noFill/>
          <a:ln/>
        </p:spPr>
        <p:txBody>
          <a:bodyPr wrap="square" lIns="0" tIns="0" rIns="0" bIns="0" rtlCol="0" anchor="t"/>
          <a:lstStyle/>
          <a:p>
            <a:pPr indent="0" marL="0" eaLnBrk="0">
              <a:buNone/>
            </a:pPr>
            <a:r>
              <a:rPr lang="ko-KR" altLang="en-US" sz="1500" b="1" dirty="0">
                <a:solidFill>
                  <a:schemeClr val="bg1"/>
                </a:solidFill>
              </a:rPr>
              <a:t>유한 상태 기계</a:t>
            </a:r>
            <a:endParaRPr lang="ko-KR" altLang="en-US" sz="1500" dirty="0"/>
          </a:p>
        </p:txBody>
      </p:sp>
      <p:sp>
        <p:nvSpPr>
          <p:cNvPr id="27" name="Text 24"/>
          <p:cNvSpPr txBox="1"/>
          <p:nvPr/>
        </p:nvSpPr>
        <p:spPr>
          <a:xfrm>
            <a:off x="7726680" y="3566160"/>
            <a:ext cx="3047695" cy="914400"/>
          </a:xfrm>
          <a:prstGeom prst="rect">
            <a:avLst/>
          </a:prstGeom>
          <a:noFill/>
          <a:ln/>
        </p:spPr>
        <p:txBody>
          <a:bodyPr wrap="square" lIns="0" tIns="0" rIns="0" bIns="0" rtlCol="0" anchor="t"/>
          <a:lstStyle/>
          <a:p>
            <a:pPr indent="0" marL="0" eaLnBrk="0">
              <a:buNone/>
            </a:pPr>
            <a:r>
              <a:rPr lang="ko-KR" altLang="en-US" sz="1400" dirty="0">
                <a:solidFill>
                  <a:schemeClr val="bg1"/>
                </a:solidFill>
              </a:rPr>
              <a:t>가장 단순하다.</a:t>
            </a:r>
            <a:endParaRPr lang="ko-KR" altLang="en-US" sz="1400" dirty="0"/>
          </a:p>
          <a:p>
            <a:pPr indent="0" marL="0" eaLnBrk="0">
              <a:buNone/>
            </a:pPr>
            <a:r>
              <a:rPr lang="ko-KR" altLang="en-US" sz="1400" dirty="0">
                <a:solidFill>
                  <a:schemeClr val="bg1"/>
                </a:solidFill>
              </a:rPr>
              <a:t>튜링 완전하지 않다.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병행 상태 기계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하는 일과 들고 있는 것을 두 기계로 나눈다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비슷한 상태들이 같은 처리를 반복하면 어떻게 할까?</a:t>
            </a:r>
            <a:endParaRPr lang="ko-KR" altLang="en-US" sz="1500" dirty="0"/>
          </a:p>
        </p:txBody>
      </p:sp>
      <p:sp>
        <p:nvSpPr>
          <p:cNvPr id="6" name="codePanel"/>
          <p:cNvSpPr/>
          <p:nvPr/>
        </p:nvSpPr>
        <p:spPr>
          <a:xfrm>
            <a:off x="548640" y="1600200"/>
            <a:ext cx="5760720" cy="1828800"/>
          </a:xfrm>
          <a:prstGeom prst="roundRect">
            <a:avLst>
              <a:gd name="adj" fmla="val 4000"/>
            </a:avLst>
          </a:prstGeom>
          <a:solidFill>
            <a:schemeClr val="tx1"/>
          </a:solidFill>
          <a:ln w="12700">
            <a:solidFill>
              <a:schemeClr val="tx1"/>
            </a:solidFill>
            <a:prstDash val="solid"/>
          </a:ln>
        </p:spPr>
      </p:sp>
      <p:sp>
        <p:nvSpPr>
          <p:cNvPr id="7" name="code"/>
          <p:cNvSpPr txBox="1"/>
          <p:nvPr/>
        </p:nvSpPr>
        <p:spPr>
          <a:xfrm>
            <a:off x="658368" y="1691640"/>
            <a:ext cx="5541264" cy="16459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Heroine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다른 코드...</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HeroineState _state;</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HeroineState _equipment;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320040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3611880"/>
            <a:ext cx="5760720" cy="1417320"/>
          </a:xfrm>
          <a:prstGeom prst="roundRect">
            <a:avLst>
              <a:gd name="adj" fmla="val 5161"/>
            </a:avLst>
          </a:prstGeom>
          <a:solidFill>
            <a:schemeClr val="tx1"/>
          </a:solidFill>
          <a:ln w="12700">
            <a:solidFill>
              <a:schemeClr val="tx1"/>
            </a:solidFill>
            <a:prstDash val="solid"/>
          </a:ln>
        </p:spPr>
      </p:sp>
      <p:sp>
        <p:nvSpPr>
          <p:cNvPr id="10" name="code"/>
          <p:cNvSpPr txBox="1"/>
          <p:nvPr/>
        </p:nvSpPr>
        <p:spPr>
          <a:xfrm>
            <a:off x="658368" y="3703320"/>
            <a:ext cx="5541264" cy="123444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void HandleInput(Input input)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_state.HandleInput(this, input);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_equipment.HandleInput(this, input);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11" name="Text 8"/>
          <p:cNvSpPr txBox="1"/>
          <p:nvPr/>
        </p:nvSpPr>
        <p:spPr>
          <a:xfrm>
            <a:off x="548640" y="5212080"/>
            <a:ext cx="5760720"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입력은 두 기계 모두에게 보낸다. 두 기계는 각자 상태를 바꾼다.</a:t>
            </a:r>
            <a:endParaRPr lang="ko-KR" altLang="en-US" sz="1400" dirty="0"/>
          </a:p>
        </p:txBody>
      </p:sp>
      <p:sp>
        <p:nvSpPr>
          <p:cNvPr id="12" name="Text 9"/>
          <p:cNvSpPr txBox="1"/>
          <p:nvPr/>
        </p:nvSpPr>
        <p:spPr>
          <a:xfrm>
            <a:off x="6675120" y="1600200"/>
            <a:ext cx="4967935" cy="365760"/>
          </a:xfrm>
          <a:prstGeom prst="rect">
            <a:avLst/>
          </a:prstGeom>
          <a:noFill/>
          <a:ln/>
        </p:spPr>
        <p:txBody>
          <a:bodyPr wrap="square" lIns="0" tIns="0" rIns="0" bIns="0" rtlCol="0" anchor="t"/>
          <a:lstStyle/>
          <a:p>
            <a:pPr indent="0" marL="0" eaLnBrk="0">
              <a:buNone/>
            </a:pPr>
            <a:r>
              <a:rPr lang="ko-KR" altLang="en-US" sz="1500" b="1" dirty="0">
                <a:solidFill>
                  <a:schemeClr val="accent6"/>
                </a:solidFill>
              </a:rPr>
              <a:t>한 기계에 모두 넣으면: 4 × 2 = 8개</a:t>
            </a:r>
            <a:endParaRPr lang="ko-KR" altLang="en-US" sz="1500" dirty="0"/>
          </a:p>
        </p:txBody>
      </p:sp>
      <p:sp>
        <p:nvSpPr>
          <p:cNvPr id="13" name="box"/>
          <p:cNvSpPr/>
          <p:nvPr/>
        </p:nvSpPr>
        <p:spPr>
          <a:xfrm>
            <a:off x="6675120" y="2011680"/>
            <a:ext cx="1173404" cy="402336"/>
          </a:xfrm>
          <a:prstGeom prst="roundRect">
            <a:avLst>
              <a:gd name="adj" fmla="val 18182"/>
            </a:avLst>
          </a:prstGeom>
          <a:solidFill>
            <a:schemeClr val="bg2"/>
          </a:solidFill>
          <a:ln w="12700">
            <a:solidFill>
              <a:schemeClr val="bg2"/>
            </a:solidFill>
            <a:prstDash val="solid"/>
          </a:ln>
        </p:spPr>
      </p:sp>
      <p:sp>
        <p:nvSpPr>
          <p:cNvPr id="14" name="Text 11"/>
          <p:cNvSpPr txBox="1"/>
          <p:nvPr/>
        </p:nvSpPr>
        <p:spPr>
          <a:xfrm>
            <a:off x="6675120" y="201168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서 있기</a:t>
            </a:r>
            <a:endParaRPr lang="ko-KR" altLang="en-US" sz="1100" dirty="0"/>
          </a:p>
        </p:txBody>
      </p:sp>
      <p:sp>
        <p:nvSpPr>
          <p:cNvPr id="15" name="box"/>
          <p:cNvSpPr/>
          <p:nvPr/>
        </p:nvSpPr>
        <p:spPr>
          <a:xfrm>
            <a:off x="7939964" y="2011680"/>
            <a:ext cx="1173404" cy="402336"/>
          </a:xfrm>
          <a:prstGeom prst="roundRect">
            <a:avLst>
              <a:gd name="adj" fmla="val 18182"/>
            </a:avLst>
          </a:prstGeom>
          <a:solidFill>
            <a:schemeClr val="bg2"/>
          </a:solidFill>
          <a:ln w="12700">
            <a:solidFill>
              <a:schemeClr val="bg2"/>
            </a:solidFill>
            <a:prstDash val="solid"/>
          </a:ln>
        </p:spPr>
      </p:sp>
      <p:sp>
        <p:nvSpPr>
          <p:cNvPr id="16" name="Text 13"/>
          <p:cNvSpPr txBox="1"/>
          <p:nvPr/>
        </p:nvSpPr>
        <p:spPr>
          <a:xfrm>
            <a:off x="7939964" y="201168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점프</a:t>
            </a:r>
            <a:endParaRPr lang="ko-KR" altLang="en-US" sz="1100" dirty="0"/>
          </a:p>
        </p:txBody>
      </p:sp>
      <p:sp>
        <p:nvSpPr>
          <p:cNvPr id="17" name="box"/>
          <p:cNvSpPr/>
          <p:nvPr/>
        </p:nvSpPr>
        <p:spPr>
          <a:xfrm>
            <a:off x="9204808" y="2011680"/>
            <a:ext cx="1173404" cy="402336"/>
          </a:xfrm>
          <a:prstGeom prst="roundRect">
            <a:avLst>
              <a:gd name="adj" fmla="val 18182"/>
            </a:avLst>
          </a:prstGeom>
          <a:solidFill>
            <a:schemeClr val="bg2"/>
          </a:solidFill>
          <a:ln w="12700">
            <a:solidFill>
              <a:schemeClr val="bg2"/>
            </a:solidFill>
            <a:prstDash val="solid"/>
          </a:ln>
        </p:spPr>
      </p:sp>
      <p:sp>
        <p:nvSpPr>
          <p:cNvPr id="18" name="Text 15"/>
          <p:cNvSpPr txBox="1"/>
          <p:nvPr/>
        </p:nvSpPr>
        <p:spPr>
          <a:xfrm>
            <a:off x="9204808" y="201168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엎드리기</a:t>
            </a:r>
            <a:endParaRPr lang="ko-KR" altLang="en-US" sz="1100" dirty="0"/>
          </a:p>
        </p:txBody>
      </p:sp>
      <p:sp>
        <p:nvSpPr>
          <p:cNvPr id="19" name="box"/>
          <p:cNvSpPr/>
          <p:nvPr/>
        </p:nvSpPr>
        <p:spPr>
          <a:xfrm>
            <a:off x="10469651" y="2011680"/>
            <a:ext cx="1173404" cy="402336"/>
          </a:xfrm>
          <a:prstGeom prst="roundRect">
            <a:avLst>
              <a:gd name="adj" fmla="val 18182"/>
            </a:avLst>
          </a:prstGeom>
          <a:solidFill>
            <a:schemeClr val="bg2"/>
          </a:solidFill>
          <a:ln w="12700">
            <a:solidFill>
              <a:schemeClr val="bg2"/>
            </a:solidFill>
            <a:prstDash val="solid"/>
          </a:ln>
        </p:spPr>
      </p:sp>
      <p:sp>
        <p:nvSpPr>
          <p:cNvPr id="20" name="Text 17"/>
          <p:cNvSpPr txBox="1"/>
          <p:nvPr/>
        </p:nvSpPr>
        <p:spPr>
          <a:xfrm>
            <a:off x="10469651" y="201168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내려찍기</a:t>
            </a:r>
            <a:endParaRPr lang="ko-KR" altLang="en-US" sz="1100" dirty="0"/>
          </a:p>
        </p:txBody>
      </p:sp>
      <p:sp>
        <p:nvSpPr>
          <p:cNvPr id="21" name="box"/>
          <p:cNvSpPr/>
          <p:nvPr/>
        </p:nvSpPr>
        <p:spPr>
          <a:xfrm>
            <a:off x="6675120" y="2487168"/>
            <a:ext cx="1173404" cy="402336"/>
          </a:xfrm>
          <a:prstGeom prst="roundRect">
            <a:avLst>
              <a:gd name="adj" fmla="val 18182"/>
            </a:avLst>
          </a:prstGeom>
          <a:solidFill>
            <a:schemeClr val="accent4"/>
          </a:solidFill>
          <a:ln w="12700">
            <a:solidFill>
              <a:schemeClr val="accent4"/>
            </a:solidFill>
            <a:prstDash val="solid"/>
          </a:ln>
        </p:spPr>
      </p:sp>
      <p:sp>
        <p:nvSpPr>
          <p:cNvPr id="22" name="Text 19"/>
          <p:cNvSpPr txBox="1"/>
          <p:nvPr/>
        </p:nvSpPr>
        <p:spPr>
          <a:xfrm>
            <a:off x="6675120" y="2487168"/>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서 있기+총</a:t>
            </a:r>
            <a:endParaRPr lang="ko-KR" altLang="en-US" sz="1100" dirty="0"/>
          </a:p>
        </p:txBody>
      </p:sp>
      <p:sp>
        <p:nvSpPr>
          <p:cNvPr id="23" name="box"/>
          <p:cNvSpPr/>
          <p:nvPr/>
        </p:nvSpPr>
        <p:spPr>
          <a:xfrm>
            <a:off x="7939964" y="2487168"/>
            <a:ext cx="1173404" cy="402336"/>
          </a:xfrm>
          <a:prstGeom prst="roundRect">
            <a:avLst>
              <a:gd name="adj" fmla="val 18182"/>
            </a:avLst>
          </a:prstGeom>
          <a:solidFill>
            <a:schemeClr val="accent4"/>
          </a:solidFill>
          <a:ln w="12700">
            <a:solidFill>
              <a:schemeClr val="accent4"/>
            </a:solidFill>
            <a:prstDash val="solid"/>
          </a:ln>
        </p:spPr>
      </p:sp>
      <p:sp>
        <p:nvSpPr>
          <p:cNvPr id="24" name="Text 21"/>
          <p:cNvSpPr txBox="1"/>
          <p:nvPr/>
        </p:nvSpPr>
        <p:spPr>
          <a:xfrm>
            <a:off x="7939964" y="2487168"/>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점프+총</a:t>
            </a:r>
            <a:endParaRPr lang="ko-KR" altLang="en-US" sz="1100" dirty="0"/>
          </a:p>
        </p:txBody>
      </p:sp>
      <p:sp>
        <p:nvSpPr>
          <p:cNvPr id="25" name="box"/>
          <p:cNvSpPr/>
          <p:nvPr/>
        </p:nvSpPr>
        <p:spPr>
          <a:xfrm>
            <a:off x="9204808" y="2487168"/>
            <a:ext cx="1173404" cy="402336"/>
          </a:xfrm>
          <a:prstGeom prst="roundRect">
            <a:avLst>
              <a:gd name="adj" fmla="val 18182"/>
            </a:avLst>
          </a:prstGeom>
          <a:solidFill>
            <a:schemeClr val="accent4"/>
          </a:solidFill>
          <a:ln w="12700">
            <a:solidFill>
              <a:schemeClr val="accent4"/>
            </a:solidFill>
            <a:prstDash val="solid"/>
          </a:ln>
        </p:spPr>
      </p:sp>
      <p:sp>
        <p:nvSpPr>
          <p:cNvPr id="26" name="Text 23"/>
          <p:cNvSpPr txBox="1"/>
          <p:nvPr/>
        </p:nvSpPr>
        <p:spPr>
          <a:xfrm>
            <a:off x="9204808" y="2487168"/>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엎드리기+총</a:t>
            </a:r>
            <a:endParaRPr lang="ko-KR" altLang="en-US" sz="1100" dirty="0"/>
          </a:p>
        </p:txBody>
      </p:sp>
      <p:sp>
        <p:nvSpPr>
          <p:cNvPr id="27" name="box"/>
          <p:cNvSpPr/>
          <p:nvPr/>
        </p:nvSpPr>
        <p:spPr>
          <a:xfrm>
            <a:off x="10469651" y="2487168"/>
            <a:ext cx="1173404" cy="402336"/>
          </a:xfrm>
          <a:prstGeom prst="roundRect">
            <a:avLst>
              <a:gd name="adj" fmla="val 18182"/>
            </a:avLst>
          </a:prstGeom>
          <a:solidFill>
            <a:schemeClr val="accent4"/>
          </a:solidFill>
          <a:ln w="12700">
            <a:solidFill>
              <a:schemeClr val="accent4"/>
            </a:solidFill>
            <a:prstDash val="solid"/>
          </a:ln>
        </p:spPr>
      </p:sp>
      <p:sp>
        <p:nvSpPr>
          <p:cNvPr id="28" name="Text 25"/>
          <p:cNvSpPr txBox="1"/>
          <p:nvPr/>
        </p:nvSpPr>
        <p:spPr>
          <a:xfrm>
            <a:off x="10469651" y="2487168"/>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내려찍기+총</a:t>
            </a:r>
            <a:endParaRPr lang="ko-KR" altLang="en-US" sz="1100" dirty="0"/>
          </a:p>
        </p:txBody>
      </p:sp>
      <p:sp>
        <p:nvSpPr>
          <p:cNvPr id="29" name="Text 26"/>
          <p:cNvSpPr txBox="1"/>
          <p:nvPr/>
        </p:nvSpPr>
        <p:spPr>
          <a:xfrm>
            <a:off x="6675120" y="3108960"/>
            <a:ext cx="4967935" cy="365760"/>
          </a:xfrm>
          <a:prstGeom prst="rect">
            <a:avLst/>
          </a:prstGeom>
          <a:noFill/>
          <a:ln/>
        </p:spPr>
        <p:txBody>
          <a:bodyPr wrap="square" lIns="0" tIns="0" rIns="0" bIns="0" rtlCol="0" anchor="t"/>
          <a:lstStyle/>
          <a:p>
            <a:pPr indent="0" marL="0" eaLnBrk="0">
              <a:buNone/>
            </a:pPr>
            <a:r>
              <a:rPr lang="ko-KR" altLang="en-US" sz="1500" b="1" dirty="0">
                <a:solidFill>
                  <a:schemeClr val="accent2"/>
                </a:solidFill>
              </a:rPr>
              <a:t>두 기계로 나누면: 4 + 2 = 6개</a:t>
            </a:r>
            <a:endParaRPr lang="ko-KR" altLang="en-US" sz="1500" dirty="0"/>
          </a:p>
        </p:txBody>
      </p:sp>
      <p:sp>
        <p:nvSpPr>
          <p:cNvPr id="30" name="box"/>
          <p:cNvSpPr/>
          <p:nvPr/>
        </p:nvSpPr>
        <p:spPr>
          <a:xfrm>
            <a:off x="6675120" y="3520440"/>
            <a:ext cx="1173404" cy="402336"/>
          </a:xfrm>
          <a:prstGeom prst="roundRect">
            <a:avLst>
              <a:gd name="adj" fmla="val 18182"/>
            </a:avLst>
          </a:prstGeom>
          <a:solidFill>
            <a:schemeClr val="bg2"/>
          </a:solidFill>
          <a:ln w="12700">
            <a:solidFill>
              <a:schemeClr val="bg2"/>
            </a:solidFill>
            <a:prstDash val="solid"/>
          </a:ln>
        </p:spPr>
      </p:sp>
      <p:sp>
        <p:nvSpPr>
          <p:cNvPr id="31" name="Text 28"/>
          <p:cNvSpPr txBox="1"/>
          <p:nvPr/>
        </p:nvSpPr>
        <p:spPr>
          <a:xfrm>
            <a:off x="6675120" y="352044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서 있기</a:t>
            </a:r>
            <a:endParaRPr lang="ko-KR" altLang="en-US" sz="1100" dirty="0"/>
          </a:p>
        </p:txBody>
      </p:sp>
      <p:sp>
        <p:nvSpPr>
          <p:cNvPr id="32" name="box"/>
          <p:cNvSpPr/>
          <p:nvPr/>
        </p:nvSpPr>
        <p:spPr>
          <a:xfrm>
            <a:off x="7939964" y="3520440"/>
            <a:ext cx="1173404" cy="402336"/>
          </a:xfrm>
          <a:prstGeom prst="roundRect">
            <a:avLst>
              <a:gd name="adj" fmla="val 18182"/>
            </a:avLst>
          </a:prstGeom>
          <a:solidFill>
            <a:schemeClr val="bg2"/>
          </a:solidFill>
          <a:ln w="12700">
            <a:solidFill>
              <a:schemeClr val="bg2"/>
            </a:solidFill>
            <a:prstDash val="solid"/>
          </a:ln>
        </p:spPr>
      </p:sp>
      <p:sp>
        <p:nvSpPr>
          <p:cNvPr id="33" name="Text 30"/>
          <p:cNvSpPr txBox="1"/>
          <p:nvPr/>
        </p:nvSpPr>
        <p:spPr>
          <a:xfrm>
            <a:off x="7939964" y="352044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점프</a:t>
            </a:r>
            <a:endParaRPr lang="ko-KR" altLang="en-US" sz="1100" dirty="0"/>
          </a:p>
        </p:txBody>
      </p:sp>
      <p:sp>
        <p:nvSpPr>
          <p:cNvPr id="34" name="box"/>
          <p:cNvSpPr/>
          <p:nvPr/>
        </p:nvSpPr>
        <p:spPr>
          <a:xfrm>
            <a:off x="9204808" y="3520440"/>
            <a:ext cx="1173404" cy="402336"/>
          </a:xfrm>
          <a:prstGeom prst="roundRect">
            <a:avLst>
              <a:gd name="adj" fmla="val 18182"/>
            </a:avLst>
          </a:prstGeom>
          <a:solidFill>
            <a:schemeClr val="bg2"/>
          </a:solidFill>
          <a:ln w="12700">
            <a:solidFill>
              <a:schemeClr val="bg2"/>
            </a:solidFill>
            <a:prstDash val="solid"/>
          </a:ln>
        </p:spPr>
      </p:sp>
      <p:sp>
        <p:nvSpPr>
          <p:cNvPr id="35" name="Text 32"/>
          <p:cNvSpPr txBox="1"/>
          <p:nvPr/>
        </p:nvSpPr>
        <p:spPr>
          <a:xfrm>
            <a:off x="9204808" y="352044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엎드리기</a:t>
            </a:r>
            <a:endParaRPr lang="ko-KR" altLang="en-US" sz="1100" dirty="0"/>
          </a:p>
        </p:txBody>
      </p:sp>
      <p:sp>
        <p:nvSpPr>
          <p:cNvPr id="36" name="box"/>
          <p:cNvSpPr/>
          <p:nvPr/>
        </p:nvSpPr>
        <p:spPr>
          <a:xfrm>
            <a:off x="10469651" y="3520440"/>
            <a:ext cx="1173404" cy="402336"/>
          </a:xfrm>
          <a:prstGeom prst="roundRect">
            <a:avLst>
              <a:gd name="adj" fmla="val 18182"/>
            </a:avLst>
          </a:prstGeom>
          <a:solidFill>
            <a:schemeClr val="bg2"/>
          </a:solidFill>
          <a:ln w="12700">
            <a:solidFill>
              <a:schemeClr val="bg2"/>
            </a:solidFill>
            <a:prstDash val="solid"/>
          </a:ln>
        </p:spPr>
      </p:sp>
      <p:sp>
        <p:nvSpPr>
          <p:cNvPr id="37" name="Text 34"/>
          <p:cNvSpPr txBox="1"/>
          <p:nvPr/>
        </p:nvSpPr>
        <p:spPr>
          <a:xfrm>
            <a:off x="10469651" y="3520440"/>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내려찍기</a:t>
            </a:r>
            <a:endParaRPr lang="ko-KR" altLang="en-US" sz="1100" dirty="0"/>
          </a:p>
        </p:txBody>
      </p:sp>
      <p:sp>
        <p:nvSpPr>
          <p:cNvPr id="38" name="box"/>
          <p:cNvSpPr/>
          <p:nvPr/>
        </p:nvSpPr>
        <p:spPr>
          <a:xfrm>
            <a:off x="6675120" y="3995928"/>
            <a:ext cx="1173404" cy="402336"/>
          </a:xfrm>
          <a:prstGeom prst="roundRect">
            <a:avLst>
              <a:gd name="adj" fmla="val 18182"/>
            </a:avLst>
          </a:prstGeom>
          <a:solidFill>
            <a:schemeClr val="accent4"/>
          </a:solidFill>
          <a:ln w="12700">
            <a:solidFill>
              <a:schemeClr val="accent4"/>
            </a:solidFill>
            <a:prstDash val="solid"/>
          </a:ln>
        </p:spPr>
      </p:sp>
      <p:sp>
        <p:nvSpPr>
          <p:cNvPr id="39" name="Text 36"/>
          <p:cNvSpPr txBox="1"/>
          <p:nvPr/>
        </p:nvSpPr>
        <p:spPr>
          <a:xfrm>
            <a:off x="6675120" y="3995928"/>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맨손</a:t>
            </a:r>
            <a:endParaRPr lang="ko-KR" altLang="en-US" sz="1100" dirty="0"/>
          </a:p>
        </p:txBody>
      </p:sp>
      <p:sp>
        <p:nvSpPr>
          <p:cNvPr id="40" name="box"/>
          <p:cNvSpPr/>
          <p:nvPr/>
        </p:nvSpPr>
        <p:spPr>
          <a:xfrm>
            <a:off x="7939964" y="3995928"/>
            <a:ext cx="1173404" cy="402336"/>
          </a:xfrm>
          <a:prstGeom prst="roundRect">
            <a:avLst>
              <a:gd name="adj" fmla="val 18182"/>
            </a:avLst>
          </a:prstGeom>
          <a:solidFill>
            <a:schemeClr val="accent4"/>
          </a:solidFill>
          <a:ln w="12700">
            <a:solidFill>
              <a:schemeClr val="accent4"/>
            </a:solidFill>
            <a:prstDash val="solid"/>
          </a:ln>
        </p:spPr>
      </p:sp>
      <p:sp>
        <p:nvSpPr>
          <p:cNvPr id="41" name="Text 38"/>
          <p:cNvSpPr txBox="1"/>
          <p:nvPr/>
        </p:nvSpPr>
        <p:spPr>
          <a:xfrm>
            <a:off x="7939964" y="3995928"/>
            <a:ext cx="1173404" cy="402336"/>
          </a:xfrm>
          <a:prstGeom prst="rect">
            <a:avLst/>
          </a:prstGeom>
          <a:noFill/>
          <a:ln/>
        </p:spPr>
        <p:txBody>
          <a:bodyPr wrap="square" lIns="635" tIns="635" rIns="635" bIns="635" rtlCol="0" anchor="ctr"/>
          <a:lstStyle/>
          <a:p>
            <a:pPr algn="ctr" indent="0" marL="0" eaLnBrk="0">
              <a:buNone/>
            </a:pPr>
            <a:r>
              <a:rPr lang="ko-KR" altLang="en-US" sz="1100" b="1" dirty="0">
                <a:solidFill>
                  <a:schemeClr val="tx1"/>
                </a:solidFill>
              </a:rPr>
              <a:t>총</a:t>
            </a:r>
            <a:endParaRPr lang="ko-KR" altLang="en-US" sz="1100" dirty="0"/>
          </a:p>
        </p:txBody>
      </p:sp>
      <p:sp>
        <p:nvSpPr>
          <p:cNvPr id="42" name="Text 39"/>
          <p:cNvSpPr txBox="1"/>
          <p:nvPr/>
        </p:nvSpPr>
        <p:spPr>
          <a:xfrm>
            <a:off x="6675120" y="4617720"/>
            <a:ext cx="4967935" cy="685800"/>
          </a:xfrm>
          <a:prstGeom prst="rect">
            <a:avLst/>
          </a:prstGeom>
          <a:noFill/>
          <a:ln/>
        </p:spPr>
        <p:txBody>
          <a:bodyPr wrap="square" lIns="0" tIns="0" rIns="0" bIns="0" rtlCol="0" anchor="t"/>
          <a:lstStyle/>
          <a:p>
            <a:pPr indent="0" marL="0" eaLnBrk="0">
              <a:buNone/>
            </a:pPr>
            <a:r>
              <a:rPr lang="ko-KR" altLang="en-US" sz="1300" dirty="0">
                <a:solidFill>
                  <a:schemeClr val="tx2"/>
                </a:solidFill>
              </a:rPr>
              <a:t>하는 일이 n개, 든 것이 m개일 때</a:t>
            </a:r>
            <a:endParaRPr lang="ko-KR" altLang="en-US" sz="1300" dirty="0"/>
          </a:p>
          <a:p>
            <a:pPr indent="0" marL="0" eaLnBrk="0">
              <a:buNone/>
            </a:pPr>
            <a:r>
              <a:rPr lang="ko-KR" altLang="en-US" sz="1300" dirty="0">
                <a:solidFill>
                  <a:schemeClr val="tx2"/>
                </a:solidFill>
              </a:rPr>
              <a:t>한 기계는 n × m개, 두 기계는 n + m개이다.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계층형 상태 기계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공통 처리는 상위 상태에 두고, 처리하지 못한 입력을 위로 올린다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발사가 끝난 뒤 하던 일로 돌아가려면 어떻게 할까?</a:t>
            </a:r>
            <a:endParaRPr lang="ko-KR" altLang="en-US" sz="1500" dirty="0"/>
          </a:p>
        </p:txBody>
      </p:sp>
      <p:sp>
        <p:nvSpPr>
          <p:cNvPr id="6" name="codePanel"/>
          <p:cNvSpPr/>
          <p:nvPr/>
        </p:nvSpPr>
        <p:spPr>
          <a:xfrm>
            <a:off x="548640" y="1600200"/>
            <a:ext cx="5455768" cy="2880360"/>
          </a:xfrm>
          <a:prstGeom prst="roundRect">
            <a:avLst>
              <a:gd name="adj" fmla="val 2540"/>
            </a:avLst>
          </a:prstGeom>
          <a:solidFill>
            <a:schemeClr val="tx1"/>
          </a:solidFill>
          <a:ln w="12700">
            <a:solidFill>
              <a:schemeClr val="tx1"/>
            </a:solidFill>
            <a:prstDash val="solid"/>
          </a:ln>
        </p:spPr>
      </p:sp>
      <p:sp>
        <p:nvSpPr>
          <p:cNvPr id="7" name="code"/>
          <p:cNvSpPr txBox="1"/>
          <p:nvPr/>
        </p:nvSpPr>
        <p:spPr>
          <a:xfrm>
            <a:off x="658368" y="1691640"/>
            <a:ext cx="5236312" cy="2697480"/>
          </a:xfrm>
          <a:prstGeom prst="rect">
            <a:avLst/>
          </a:prstGeom>
          <a:noFill/>
          <a:ln/>
        </p:spPr>
        <p:txBody>
          <a:bodyPr wrap="square" lIns="635" tIns="635" rIns="635" bIns="635" rtlCol="0" anchor="t"/>
          <a:lstStyle/>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public class OnGroundState : HeroineState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override void HandleInput(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Heroine heroine, Input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(input == Input.PressB)</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점프...</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else if (input == Input.PressDown)</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엎드린다...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2895448"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6187288" y="1600200"/>
            <a:ext cx="5455768" cy="2880360"/>
          </a:xfrm>
          <a:prstGeom prst="roundRect">
            <a:avLst>
              <a:gd name="adj" fmla="val 2540"/>
            </a:avLst>
          </a:prstGeom>
          <a:solidFill>
            <a:schemeClr val="tx1"/>
          </a:solidFill>
          <a:ln w="12700">
            <a:solidFill>
              <a:schemeClr val="tx1"/>
            </a:solidFill>
            <a:prstDash val="solid"/>
          </a:ln>
        </p:spPr>
      </p:sp>
      <p:sp>
        <p:nvSpPr>
          <p:cNvPr id="10" name="code"/>
          <p:cNvSpPr txBox="1"/>
          <p:nvPr/>
        </p:nvSpPr>
        <p:spPr>
          <a:xfrm>
            <a:off x="6297016" y="1691640"/>
            <a:ext cx="5236312" cy="2697480"/>
          </a:xfrm>
          <a:prstGeom prst="rect">
            <a:avLst/>
          </a:prstGeom>
          <a:noFill/>
          <a:ln/>
        </p:spPr>
        <p:txBody>
          <a:bodyPr wrap="square" lIns="635" tIns="635" rIns="635" bIns="635" rtlCol="0" anchor="t"/>
          <a:lstStyle/>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public class DuckingState : OnGroundState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override void HandleInput(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Heroine heroine, Input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(input == Input.ReleaseDown)</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일어선다...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else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처리하지 않은 입력은 상위 상태로 올린다</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base.HandleInput(heroine, input);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1" name="box"/>
          <p:cNvSpPr/>
          <p:nvPr/>
        </p:nvSpPr>
        <p:spPr>
          <a:xfrm>
            <a:off x="548640" y="4617720"/>
            <a:ext cx="6949440" cy="457200"/>
          </a:xfrm>
          <a:prstGeom prst="roundRect">
            <a:avLst>
              <a:gd name="adj" fmla="val 16000"/>
            </a:avLst>
          </a:prstGeom>
          <a:solidFill>
            <a:schemeClr val="tx2"/>
          </a:solidFill>
          <a:ln w="12700">
            <a:solidFill>
              <a:schemeClr val="tx2"/>
            </a:solidFill>
            <a:prstDash val="solid"/>
          </a:ln>
        </p:spPr>
      </p:sp>
      <p:sp>
        <p:nvSpPr>
          <p:cNvPr id="12" name="Text 9"/>
          <p:cNvSpPr txBox="1"/>
          <p:nvPr/>
        </p:nvSpPr>
        <p:spPr>
          <a:xfrm>
            <a:off x="548640" y="4617720"/>
            <a:ext cx="6949440" cy="4572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OnGroundState · B: 점프, 아래: 엎드리기</a:t>
            </a:r>
            <a:endParaRPr lang="ko-KR" altLang="en-US" sz="1400" dirty="0"/>
          </a:p>
        </p:txBody>
      </p:sp>
      <p:sp>
        <p:nvSpPr>
          <p:cNvPr id="13" name="box"/>
          <p:cNvSpPr/>
          <p:nvPr/>
        </p:nvSpPr>
        <p:spPr>
          <a:xfrm>
            <a:off x="548640" y="5303520"/>
            <a:ext cx="1316736" cy="411480"/>
          </a:xfrm>
          <a:prstGeom prst="roundRect">
            <a:avLst>
              <a:gd name="adj" fmla="val 17778"/>
            </a:avLst>
          </a:prstGeom>
          <a:solidFill>
            <a:schemeClr val="bg2"/>
          </a:solidFill>
          <a:ln w="12700">
            <a:solidFill>
              <a:schemeClr val="bg2"/>
            </a:solidFill>
            <a:prstDash val="solid"/>
          </a:ln>
        </p:spPr>
      </p:sp>
      <p:sp>
        <p:nvSpPr>
          <p:cNvPr id="14" name="Text 11"/>
          <p:cNvSpPr txBox="1"/>
          <p:nvPr/>
        </p:nvSpPr>
        <p:spPr>
          <a:xfrm>
            <a:off x="548640" y="5303520"/>
            <a:ext cx="1316736" cy="41148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서 있기</a:t>
            </a:r>
            <a:endParaRPr lang="ko-KR" altLang="en-US" sz="1200" dirty="0"/>
          </a:p>
        </p:txBody>
      </p:sp>
      <p:sp>
        <p:nvSpPr>
          <p:cNvPr id="15" name="Shape 12"/>
          <p:cNvSpPr/>
          <p:nvPr/>
        </p:nvSpPr>
        <p:spPr>
          <a:xfrm flipV="1">
            <a:off x="1207008" y="5093208"/>
            <a:ext cx="914" cy="210312"/>
          </a:xfrm>
          <a:prstGeom prst="line">
            <a:avLst/>
          </a:prstGeom>
          <a:noFill/>
          <a:ln w="22225">
            <a:solidFill>
              <a:schemeClr val="accent3"/>
            </a:solidFill>
            <a:prstDash val="solid"/>
            <a:tailEnd type="triangle"/>
          </a:ln>
        </p:spPr>
      </p:sp>
      <p:sp>
        <p:nvSpPr>
          <p:cNvPr id="16" name="box"/>
          <p:cNvSpPr/>
          <p:nvPr/>
        </p:nvSpPr>
        <p:spPr>
          <a:xfrm>
            <a:off x="1956816" y="5303520"/>
            <a:ext cx="1316736" cy="411480"/>
          </a:xfrm>
          <a:prstGeom prst="roundRect">
            <a:avLst>
              <a:gd name="adj" fmla="val 17778"/>
            </a:avLst>
          </a:prstGeom>
          <a:solidFill>
            <a:schemeClr val="bg2"/>
          </a:solidFill>
          <a:ln w="12700">
            <a:solidFill>
              <a:schemeClr val="bg2"/>
            </a:solidFill>
            <a:prstDash val="solid"/>
          </a:ln>
        </p:spPr>
      </p:sp>
      <p:sp>
        <p:nvSpPr>
          <p:cNvPr id="17" name="Text 14"/>
          <p:cNvSpPr txBox="1"/>
          <p:nvPr/>
        </p:nvSpPr>
        <p:spPr>
          <a:xfrm>
            <a:off x="1956816" y="5303520"/>
            <a:ext cx="1316736" cy="41148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걷기</a:t>
            </a:r>
            <a:endParaRPr lang="ko-KR" altLang="en-US" sz="1200" dirty="0"/>
          </a:p>
        </p:txBody>
      </p:sp>
      <p:sp>
        <p:nvSpPr>
          <p:cNvPr id="18" name="Shape 15"/>
          <p:cNvSpPr/>
          <p:nvPr/>
        </p:nvSpPr>
        <p:spPr>
          <a:xfrm flipV="1">
            <a:off x="2615184" y="5093208"/>
            <a:ext cx="914" cy="210312"/>
          </a:xfrm>
          <a:prstGeom prst="line">
            <a:avLst/>
          </a:prstGeom>
          <a:noFill/>
          <a:ln w="22225">
            <a:solidFill>
              <a:schemeClr val="accent3"/>
            </a:solidFill>
            <a:prstDash val="solid"/>
            <a:tailEnd type="triangle"/>
          </a:ln>
        </p:spPr>
      </p:sp>
      <p:sp>
        <p:nvSpPr>
          <p:cNvPr id="19" name="box"/>
          <p:cNvSpPr/>
          <p:nvPr/>
        </p:nvSpPr>
        <p:spPr>
          <a:xfrm>
            <a:off x="3364992" y="5303520"/>
            <a:ext cx="1316736" cy="411480"/>
          </a:xfrm>
          <a:prstGeom prst="roundRect">
            <a:avLst>
              <a:gd name="adj" fmla="val 17778"/>
            </a:avLst>
          </a:prstGeom>
          <a:solidFill>
            <a:schemeClr val="bg2"/>
          </a:solidFill>
          <a:ln w="12700">
            <a:solidFill>
              <a:schemeClr val="bg2"/>
            </a:solidFill>
            <a:prstDash val="solid"/>
          </a:ln>
        </p:spPr>
      </p:sp>
      <p:sp>
        <p:nvSpPr>
          <p:cNvPr id="20" name="Text 17"/>
          <p:cNvSpPr txBox="1"/>
          <p:nvPr/>
        </p:nvSpPr>
        <p:spPr>
          <a:xfrm>
            <a:off x="3364992" y="5303520"/>
            <a:ext cx="1316736" cy="41148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달리기</a:t>
            </a:r>
            <a:endParaRPr lang="ko-KR" altLang="en-US" sz="1200" dirty="0"/>
          </a:p>
        </p:txBody>
      </p:sp>
      <p:sp>
        <p:nvSpPr>
          <p:cNvPr id="21" name="Shape 18"/>
          <p:cNvSpPr/>
          <p:nvPr/>
        </p:nvSpPr>
        <p:spPr>
          <a:xfrm flipV="1">
            <a:off x="4023360" y="5093208"/>
            <a:ext cx="914" cy="210312"/>
          </a:xfrm>
          <a:prstGeom prst="line">
            <a:avLst/>
          </a:prstGeom>
          <a:noFill/>
          <a:ln w="22225">
            <a:solidFill>
              <a:schemeClr val="accent3"/>
            </a:solidFill>
            <a:prstDash val="solid"/>
            <a:tailEnd type="triangle"/>
          </a:ln>
        </p:spPr>
      </p:sp>
      <p:sp>
        <p:nvSpPr>
          <p:cNvPr id="22" name="box"/>
          <p:cNvSpPr/>
          <p:nvPr/>
        </p:nvSpPr>
        <p:spPr>
          <a:xfrm>
            <a:off x="4773168" y="5303520"/>
            <a:ext cx="1316736" cy="411480"/>
          </a:xfrm>
          <a:prstGeom prst="roundRect">
            <a:avLst>
              <a:gd name="adj" fmla="val 17778"/>
            </a:avLst>
          </a:prstGeom>
          <a:solidFill>
            <a:schemeClr val="bg2"/>
          </a:solidFill>
          <a:ln w="12700">
            <a:solidFill>
              <a:schemeClr val="bg2"/>
            </a:solidFill>
            <a:prstDash val="solid"/>
          </a:ln>
        </p:spPr>
      </p:sp>
      <p:sp>
        <p:nvSpPr>
          <p:cNvPr id="23" name="Text 20"/>
          <p:cNvSpPr txBox="1"/>
          <p:nvPr/>
        </p:nvSpPr>
        <p:spPr>
          <a:xfrm>
            <a:off x="4773168" y="5303520"/>
            <a:ext cx="1316736" cy="41148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미끄러지기</a:t>
            </a:r>
            <a:endParaRPr lang="ko-KR" altLang="en-US" sz="1200" dirty="0"/>
          </a:p>
        </p:txBody>
      </p:sp>
      <p:sp>
        <p:nvSpPr>
          <p:cNvPr id="24" name="Shape 21"/>
          <p:cNvSpPr/>
          <p:nvPr/>
        </p:nvSpPr>
        <p:spPr>
          <a:xfrm flipV="1">
            <a:off x="5431536" y="5093208"/>
            <a:ext cx="914" cy="210312"/>
          </a:xfrm>
          <a:prstGeom prst="line">
            <a:avLst/>
          </a:prstGeom>
          <a:noFill/>
          <a:ln w="22225">
            <a:solidFill>
              <a:schemeClr val="accent3"/>
            </a:solidFill>
            <a:prstDash val="solid"/>
            <a:tailEnd type="triangle"/>
          </a:ln>
        </p:spPr>
      </p:sp>
      <p:sp>
        <p:nvSpPr>
          <p:cNvPr id="25" name="box"/>
          <p:cNvSpPr/>
          <p:nvPr/>
        </p:nvSpPr>
        <p:spPr>
          <a:xfrm>
            <a:off x="6181344" y="5303520"/>
            <a:ext cx="1316736" cy="411480"/>
          </a:xfrm>
          <a:prstGeom prst="roundRect">
            <a:avLst>
              <a:gd name="adj" fmla="val 17778"/>
            </a:avLst>
          </a:prstGeom>
          <a:solidFill>
            <a:schemeClr val="accent1"/>
          </a:solidFill>
          <a:ln w="12700">
            <a:solidFill>
              <a:schemeClr val="accent1"/>
            </a:solidFill>
            <a:prstDash val="solid"/>
          </a:ln>
        </p:spPr>
      </p:sp>
      <p:sp>
        <p:nvSpPr>
          <p:cNvPr id="26" name="Text 23"/>
          <p:cNvSpPr txBox="1"/>
          <p:nvPr/>
        </p:nvSpPr>
        <p:spPr>
          <a:xfrm>
            <a:off x="6181344" y="5303520"/>
            <a:ext cx="1316736" cy="41148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엎드리기</a:t>
            </a:r>
            <a:endParaRPr lang="ko-KR" altLang="en-US" sz="1200" dirty="0"/>
          </a:p>
        </p:txBody>
      </p:sp>
      <p:sp>
        <p:nvSpPr>
          <p:cNvPr id="27" name="Shape 24"/>
          <p:cNvSpPr/>
          <p:nvPr/>
        </p:nvSpPr>
        <p:spPr>
          <a:xfrm flipV="1">
            <a:off x="6839712" y="5093208"/>
            <a:ext cx="914" cy="210312"/>
          </a:xfrm>
          <a:prstGeom prst="line">
            <a:avLst/>
          </a:prstGeom>
          <a:noFill/>
          <a:ln w="22225">
            <a:solidFill>
              <a:schemeClr val="accent3"/>
            </a:solidFill>
            <a:prstDash val="solid"/>
            <a:tailEnd type="triangle"/>
          </a:ln>
        </p:spPr>
      </p:sp>
      <p:sp>
        <p:nvSpPr>
          <p:cNvPr id="28" name="card"/>
          <p:cNvSpPr/>
          <p:nvPr/>
        </p:nvSpPr>
        <p:spPr>
          <a:xfrm>
            <a:off x="7772400" y="4617720"/>
            <a:ext cx="3870655" cy="1097280"/>
          </a:xfrm>
          <a:prstGeom prst="roundRect">
            <a:avLst>
              <a:gd name="adj" fmla="val 8333"/>
            </a:avLst>
          </a:prstGeom>
          <a:solidFill>
            <a:schemeClr val="bg2"/>
          </a:solidFill>
          <a:ln w="12700">
            <a:solidFill>
              <a:schemeClr val="bg2"/>
            </a:solidFill>
            <a:prstDash val="solid"/>
          </a:ln>
        </p:spPr>
      </p:sp>
      <p:sp>
        <p:nvSpPr>
          <p:cNvPr id="29" name="Text 26"/>
          <p:cNvSpPr txBox="1"/>
          <p:nvPr/>
        </p:nvSpPr>
        <p:spPr>
          <a:xfrm>
            <a:off x="8001000" y="4663440"/>
            <a:ext cx="3413455" cy="1005840"/>
          </a:xfrm>
          <a:prstGeom prst="rect">
            <a:avLst/>
          </a:prstGeom>
          <a:noFill/>
          <a:ln/>
        </p:spPr>
        <p:txBody>
          <a:bodyPr wrap="square" lIns="0" tIns="0" rIns="0" bIns="0" rtlCol="0" anchor="ctr"/>
          <a:lstStyle/>
          <a:p>
            <a:pPr indent="0" marL="0" eaLnBrk="0">
              <a:buNone/>
            </a:pPr>
            <a:r>
              <a:rPr lang="ko-KR" altLang="en-US" sz="1300" dirty="0">
                <a:solidFill>
                  <a:schemeClr val="tx2"/>
                </a:solidFill>
              </a:rPr>
              <a:t>상태 패턴이 아니라면 상태 스택으로도 만든다. 위에서부터 처리할 상태를 찾는다.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푸시다운 오토마타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상태를 스택에 쌓아 이전 상태로 돌아간다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상태 기계는 언제 쓰고, 무엇을 조심해야 할까?</a:t>
            </a:r>
            <a:endParaRPr lang="ko-KR" altLang="en-US" sz="1500" dirty="0"/>
          </a:p>
        </p:txBody>
      </p:sp>
      <p:sp>
        <p:nvSpPr>
          <p:cNvPr id="6" name="card"/>
          <p:cNvSpPr/>
          <p:nvPr/>
        </p:nvSpPr>
        <p:spPr>
          <a:xfrm>
            <a:off x="548640" y="1600200"/>
            <a:ext cx="4114800" cy="1280160"/>
          </a:xfrm>
          <a:prstGeom prst="roundRect">
            <a:avLst>
              <a:gd name="adj" fmla="val 7143"/>
            </a:avLst>
          </a:prstGeom>
          <a:solidFill>
            <a:schemeClr val="bg2"/>
          </a:solidFill>
          <a:ln w="12700">
            <a:solidFill>
              <a:schemeClr val="bg2"/>
            </a:solidFill>
            <a:prstDash val="solid"/>
          </a:ln>
        </p:spPr>
      </p:sp>
      <p:sp>
        <p:nvSpPr>
          <p:cNvPr id="7" name="Shape 4"/>
          <p:cNvSpPr/>
          <p:nvPr/>
        </p:nvSpPr>
        <p:spPr>
          <a:xfrm>
            <a:off x="777240" y="18013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013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19656"/>
            <a:ext cx="31546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문제</a:t>
            </a:r>
            <a:endParaRPr lang="ko-KR" altLang="en-US" sz="1700" dirty="0"/>
          </a:p>
        </p:txBody>
      </p:sp>
      <p:sp>
        <p:nvSpPr>
          <p:cNvPr id="10" name="Text 7"/>
          <p:cNvSpPr txBox="1"/>
          <p:nvPr/>
        </p:nvSpPr>
        <p:spPr>
          <a:xfrm>
            <a:off x="1325880" y="2221992"/>
            <a:ext cx="3154680" cy="548640"/>
          </a:xfrm>
          <a:prstGeom prst="rect">
            <a:avLst/>
          </a:prstGeom>
          <a:noFill/>
          <a:ln/>
        </p:spPr>
        <p:txBody>
          <a:bodyPr wrap="square" lIns="0" tIns="0" rIns="0" bIns="0" rtlCol="0" anchor="t"/>
          <a:lstStyle/>
          <a:p>
            <a:pPr indent="0" marL="0" eaLnBrk="0">
              <a:buNone/>
            </a:pPr>
            <a:r>
              <a:rPr lang="ko-KR" altLang="en-US" sz="1300" dirty="0">
                <a:solidFill>
                  <a:schemeClr val="tx2"/>
                </a:solidFill>
              </a:rPr>
              <a:t>평범한 기계는 발사가 끝난 뒤</a:t>
            </a:r>
            <a:endParaRPr lang="ko-KR" altLang="en-US" sz="1300" dirty="0"/>
          </a:p>
          <a:p>
            <a:pPr indent="0" marL="0" eaLnBrk="0">
              <a:buNone/>
            </a:pPr>
            <a:r>
              <a:rPr lang="ko-KR" altLang="en-US" sz="1300" dirty="0">
                <a:solidFill>
                  <a:schemeClr val="tx2"/>
                </a:solidFill>
              </a:rPr>
              <a:t>돌아갈 상태를 모른다.</a:t>
            </a:r>
            <a:endParaRPr lang="ko-KR" altLang="en-US" sz="1300" dirty="0"/>
          </a:p>
        </p:txBody>
      </p:sp>
      <p:sp>
        <p:nvSpPr>
          <p:cNvPr id="11" name="card"/>
          <p:cNvSpPr/>
          <p:nvPr/>
        </p:nvSpPr>
        <p:spPr>
          <a:xfrm>
            <a:off x="548640" y="3017520"/>
            <a:ext cx="4114800" cy="1280160"/>
          </a:xfrm>
          <a:prstGeom prst="roundRect">
            <a:avLst>
              <a:gd name="adj" fmla="val 7143"/>
            </a:avLst>
          </a:prstGeom>
          <a:solidFill>
            <a:schemeClr val="bg2"/>
          </a:solidFill>
          <a:ln w="12700">
            <a:solidFill>
              <a:schemeClr val="bg2"/>
            </a:solidFill>
            <a:prstDash val="solid"/>
          </a:ln>
        </p:spPr>
      </p:sp>
      <p:sp>
        <p:nvSpPr>
          <p:cNvPr id="12" name="Shape 9"/>
          <p:cNvSpPr/>
          <p:nvPr/>
        </p:nvSpPr>
        <p:spPr>
          <a:xfrm>
            <a:off x="777240" y="32186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2186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3236976"/>
            <a:ext cx="31546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push</a:t>
            </a:r>
            <a:endParaRPr lang="ko-KR" altLang="en-US" sz="1700" dirty="0"/>
          </a:p>
        </p:txBody>
      </p:sp>
      <p:sp>
        <p:nvSpPr>
          <p:cNvPr id="15" name="Text 12"/>
          <p:cNvSpPr txBox="1"/>
          <p:nvPr/>
        </p:nvSpPr>
        <p:spPr>
          <a:xfrm>
            <a:off x="1325880" y="3639312"/>
            <a:ext cx="3154680" cy="548640"/>
          </a:xfrm>
          <a:prstGeom prst="rect">
            <a:avLst/>
          </a:prstGeom>
          <a:noFill/>
          <a:ln/>
        </p:spPr>
        <p:txBody>
          <a:bodyPr wrap="square" lIns="0" tIns="0" rIns="0" bIns="0" rtlCol="0" anchor="t"/>
          <a:lstStyle/>
          <a:p>
            <a:pPr indent="0" marL="0" eaLnBrk="0">
              <a:buNone/>
            </a:pPr>
            <a:r>
              <a:rPr lang="ko-KR" altLang="en-US" sz="1300" dirty="0">
                <a:solidFill>
                  <a:schemeClr val="tx2"/>
                </a:solidFill>
              </a:rPr>
              <a:t>새 상태를 위에 얹는다.</a:t>
            </a:r>
            <a:endParaRPr lang="ko-KR" altLang="en-US" sz="1300" dirty="0"/>
          </a:p>
          <a:p>
            <a:pPr indent="0" marL="0" eaLnBrk="0">
              <a:buNone/>
            </a:pPr>
            <a:r>
              <a:rPr lang="ko-KR" altLang="en-US" sz="1300" dirty="0">
                <a:solidFill>
                  <a:schemeClr val="tx2"/>
                </a:solidFill>
              </a:rPr>
              <a:t>아래 상태는 그대로 남는다.</a:t>
            </a:r>
            <a:endParaRPr lang="ko-KR" altLang="en-US" sz="1300" dirty="0"/>
          </a:p>
        </p:txBody>
      </p:sp>
      <p:sp>
        <p:nvSpPr>
          <p:cNvPr id="16" name="card"/>
          <p:cNvSpPr/>
          <p:nvPr/>
        </p:nvSpPr>
        <p:spPr>
          <a:xfrm>
            <a:off x="548640" y="4434840"/>
            <a:ext cx="4114800" cy="1280160"/>
          </a:xfrm>
          <a:prstGeom prst="roundRect">
            <a:avLst>
              <a:gd name="adj" fmla="val 7143"/>
            </a:avLst>
          </a:prstGeom>
          <a:solidFill>
            <a:schemeClr val="bg2"/>
          </a:solidFill>
          <a:ln w="12700">
            <a:solidFill>
              <a:schemeClr val="bg2"/>
            </a:solidFill>
            <a:prstDash val="solid"/>
          </a:ln>
        </p:spPr>
      </p:sp>
      <p:sp>
        <p:nvSpPr>
          <p:cNvPr id="17" name="Shape 14"/>
          <p:cNvSpPr/>
          <p:nvPr/>
        </p:nvSpPr>
        <p:spPr>
          <a:xfrm>
            <a:off x="777240" y="463600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4636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4654296"/>
            <a:ext cx="315468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pop</a:t>
            </a:r>
            <a:endParaRPr lang="ko-KR" altLang="en-US" sz="1700" dirty="0"/>
          </a:p>
        </p:txBody>
      </p:sp>
      <p:sp>
        <p:nvSpPr>
          <p:cNvPr id="20" name="Text 17"/>
          <p:cNvSpPr txBox="1"/>
          <p:nvPr/>
        </p:nvSpPr>
        <p:spPr>
          <a:xfrm>
            <a:off x="1325880" y="5056632"/>
            <a:ext cx="3154680" cy="548640"/>
          </a:xfrm>
          <a:prstGeom prst="rect">
            <a:avLst/>
          </a:prstGeom>
          <a:noFill/>
          <a:ln/>
        </p:spPr>
        <p:txBody>
          <a:bodyPr wrap="square" lIns="0" tIns="0" rIns="0" bIns="0" rtlCol="0" anchor="t"/>
          <a:lstStyle/>
          <a:p>
            <a:pPr indent="0" marL="0" eaLnBrk="0">
              <a:buNone/>
            </a:pPr>
            <a:r>
              <a:rPr lang="ko-KR" altLang="en-US" sz="1300" dirty="0">
                <a:solidFill>
                  <a:schemeClr val="tx2"/>
                </a:solidFill>
              </a:rPr>
              <a:t>맨 위 상태를 버린다.</a:t>
            </a:r>
            <a:endParaRPr lang="ko-KR" altLang="en-US" sz="1300" dirty="0"/>
          </a:p>
          <a:p>
            <a:pPr indent="0" marL="0" eaLnBrk="0">
              <a:buNone/>
            </a:pPr>
            <a:r>
              <a:rPr lang="ko-KR" altLang="en-US" sz="1300" dirty="0">
                <a:solidFill>
                  <a:schemeClr val="tx2"/>
                </a:solidFill>
              </a:rPr>
              <a:t>아래 상태가 다시 현재 상태가 된다.</a:t>
            </a:r>
            <a:endParaRPr lang="ko-KR" altLang="en-US" sz="1300" dirty="0"/>
          </a:p>
        </p:txBody>
      </p:sp>
      <p:sp>
        <p:nvSpPr>
          <p:cNvPr id="21" name="Text 18"/>
          <p:cNvSpPr txBox="1"/>
          <p:nvPr/>
        </p:nvSpPr>
        <p:spPr>
          <a:xfrm>
            <a:off x="4983480" y="1600200"/>
            <a:ext cx="6659575" cy="347472"/>
          </a:xfrm>
          <a:prstGeom prst="rect">
            <a:avLst/>
          </a:prstGeom>
          <a:noFill/>
          <a:ln/>
        </p:spPr>
        <p:txBody>
          <a:bodyPr wrap="square" lIns="0" tIns="0" rIns="0" bIns="0" rtlCol="0" anchor="t"/>
          <a:lstStyle/>
          <a:p>
            <a:pPr indent="0" marL="0" eaLnBrk="0">
              <a:buNone/>
            </a:pPr>
            <a:r>
              <a:rPr lang="ko-KR" altLang="en-US" sz="1500" b="1" dirty="0">
                <a:solidFill>
                  <a:schemeClr val="tx1"/>
                </a:solidFill>
              </a:rPr>
              <a:t>서 있다가 쏘면 서 있기로 돌아온다</a:t>
            </a:r>
            <a:endParaRPr lang="ko-KR" altLang="en-US" sz="1500" dirty="0"/>
          </a:p>
        </p:txBody>
      </p:sp>
      <p:sp>
        <p:nvSpPr>
          <p:cNvPr id="22" name="Shape 19"/>
          <p:cNvSpPr/>
          <p:nvPr/>
        </p:nvSpPr>
        <p:spPr>
          <a:xfrm>
            <a:off x="4928616" y="2011680"/>
            <a:ext cx="1618488" cy="1280160"/>
          </a:xfrm>
          <a:prstGeom prst="rect">
            <a:avLst/>
          </a:prstGeom>
          <a:solidFill>
            <a:schemeClr val="bg1"/>
          </a:solidFill>
          <a:ln w="12700">
            <a:solidFill>
              <a:schemeClr val="accent3"/>
            </a:solidFill>
            <a:prstDash val="solid"/>
          </a:ln>
        </p:spPr>
      </p:sp>
      <p:sp>
        <p:nvSpPr>
          <p:cNvPr id="23" name="box"/>
          <p:cNvSpPr/>
          <p:nvPr/>
        </p:nvSpPr>
        <p:spPr>
          <a:xfrm>
            <a:off x="4983480" y="2697480"/>
            <a:ext cx="1508760" cy="475488"/>
          </a:xfrm>
          <a:prstGeom prst="roundRect">
            <a:avLst>
              <a:gd name="adj" fmla="val 15385"/>
            </a:avLst>
          </a:prstGeom>
          <a:solidFill>
            <a:schemeClr val="accent1"/>
          </a:solidFill>
          <a:ln w="12700">
            <a:solidFill>
              <a:schemeClr val="accent1"/>
            </a:solidFill>
            <a:prstDash val="solid"/>
          </a:ln>
        </p:spPr>
      </p:sp>
      <p:sp>
        <p:nvSpPr>
          <p:cNvPr id="24" name="Text 21"/>
          <p:cNvSpPr txBox="1"/>
          <p:nvPr/>
        </p:nvSpPr>
        <p:spPr>
          <a:xfrm>
            <a:off x="4983480" y="269748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서 있기</a:t>
            </a:r>
            <a:endParaRPr lang="ko-KR" altLang="en-US" sz="1300" dirty="0"/>
          </a:p>
        </p:txBody>
      </p:sp>
      <p:sp>
        <p:nvSpPr>
          <p:cNvPr id="25" name="Shape 22"/>
          <p:cNvSpPr/>
          <p:nvPr/>
        </p:nvSpPr>
        <p:spPr>
          <a:xfrm>
            <a:off x="6601968" y="2651760"/>
            <a:ext cx="847192" cy="914"/>
          </a:xfrm>
          <a:prstGeom prst="line">
            <a:avLst/>
          </a:prstGeom>
          <a:noFill/>
          <a:ln w="22225">
            <a:solidFill>
              <a:schemeClr val="accent5"/>
            </a:solidFill>
            <a:prstDash val="solid"/>
            <a:tailEnd type="triangle"/>
          </a:ln>
        </p:spPr>
      </p:sp>
      <p:sp>
        <p:nvSpPr>
          <p:cNvPr id="26" name="Text 23"/>
          <p:cNvSpPr txBox="1"/>
          <p:nvPr/>
        </p:nvSpPr>
        <p:spPr>
          <a:xfrm>
            <a:off x="6510528" y="2240280"/>
            <a:ext cx="1030072"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발사: push</a:t>
            </a:r>
            <a:endParaRPr lang="ko-KR" altLang="en-US" sz="1200" dirty="0"/>
          </a:p>
        </p:txBody>
      </p:sp>
      <p:sp>
        <p:nvSpPr>
          <p:cNvPr id="27" name="Shape 24"/>
          <p:cNvSpPr/>
          <p:nvPr/>
        </p:nvSpPr>
        <p:spPr>
          <a:xfrm>
            <a:off x="7504024" y="2011680"/>
            <a:ext cx="1618488" cy="1280160"/>
          </a:xfrm>
          <a:prstGeom prst="rect">
            <a:avLst/>
          </a:prstGeom>
          <a:solidFill>
            <a:schemeClr val="bg1"/>
          </a:solidFill>
          <a:ln w="12700">
            <a:solidFill>
              <a:schemeClr val="accent3"/>
            </a:solidFill>
            <a:prstDash val="solid"/>
          </a:ln>
        </p:spPr>
      </p:sp>
      <p:sp>
        <p:nvSpPr>
          <p:cNvPr id="28" name="box"/>
          <p:cNvSpPr/>
          <p:nvPr/>
        </p:nvSpPr>
        <p:spPr>
          <a:xfrm>
            <a:off x="7558888" y="2697480"/>
            <a:ext cx="1508760" cy="475488"/>
          </a:xfrm>
          <a:prstGeom prst="roundRect">
            <a:avLst>
              <a:gd name="adj" fmla="val 15385"/>
            </a:avLst>
          </a:prstGeom>
          <a:solidFill>
            <a:schemeClr val="bg2"/>
          </a:solidFill>
          <a:ln w="12700">
            <a:solidFill>
              <a:schemeClr val="bg2"/>
            </a:solidFill>
            <a:prstDash val="solid"/>
          </a:ln>
        </p:spPr>
      </p:sp>
      <p:sp>
        <p:nvSpPr>
          <p:cNvPr id="29" name="Text 26"/>
          <p:cNvSpPr txBox="1"/>
          <p:nvPr/>
        </p:nvSpPr>
        <p:spPr>
          <a:xfrm>
            <a:off x="7558888" y="269748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accent5"/>
                </a:solidFill>
              </a:rPr>
              <a:t>서 있기</a:t>
            </a:r>
            <a:endParaRPr lang="ko-KR" altLang="en-US" sz="1300" dirty="0"/>
          </a:p>
        </p:txBody>
      </p:sp>
      <p:sp>
        <p:nvSpPr>
          <p:cNvPr id="30" name="box"/>
          <p:cNvSpPr/>
          <p:nvPr/>
        </p:nvSpPr>
        <p:spPr>
          <a:xfrm>
            <a:off x="7558888" y="2148840"/>
            <a:ext cx="1508760" cy="475488"/>
          </a:xfrm>
          <a:prstGeom prst="roundRect">
            <a:avLst>
              <a:gd name="adj" fmla="val 15385"/>
            </a:avLst>
          </a:prstGeom>
          <a:solidFill>
            <a:schemeClr val="accent1"/>
          </a:solidFill>
          <a:ln w="12700">
            <a:solidFill>
              <a:schemeClr val="accent1"/>
            </a:solidFill>
            <a:prstDash val="solid"/>
          </a:ln>
        </p:spPr>
      </p:sp>
      <p:sp>
        <p:nvSpPr>
          <p:cNvPr id="31" name="Text 28"/>
          <p:cNvSpPr txBox="1"/>
          <p:nvPr/>
        </p:nvSpPr>
        <p:spPr>
          <a:xfrm>
            <a:off x="7558888" y="214884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발사</a:t>
            </a:r>
            <a:endParaRPr lang="ko-KR" altLang="en-US" sz="1300" dirty="0"/>
          </a:p>
        </p:txBody>
      </p:sp>
      <p:sp>
        <p:nvSpPr>
          <p:cNvPr id="32" name="Shape 29"/>
          <p:cNvSpPr/>
          <p:nvPr/>
        </p:nvSpPr>
        <p:spPr>
          <a:xfrm>
            <a:off x="9177376" y="2651760"/>
            <a:ext cx="847192" cy="914"/>
          </a:xfrm>
          <a:prstGeom prst="line">
            <a:avLst/>
          </a:prstGeom>
          <a:noFill/>
          <a:ln w="22225">
            <a:solidFill>
              <a:schemeClr val="accent5"/>
            </a:solidFill>
            <a:prstDash val="solid"/>
            <a:tailEnd type="triangle"/>
          </a:ln>
        </p:spPr>
      </p:sp>
      <p:sp>
        <p:nvSpPr>
          <p:cNvPr id="33" name="Text 30"/>
          <p:cNvSpPr txBox="1"/>
          <p:nvPr/>
        </p:nvSpPr>
        <p:spPr>
          <a:xfrm>
            <a:off x="9085936" y="2240280"/>
            <a:ext cx="1030072"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끝: pop</a:t>
            </a:r>
            <a:endParaRPr lang="ko-KR" altLang="en-US" sz="1200" dirty="0"/>
          </a:p>
        </p:txBody>
      </p:sp>
      <p:sp>
        <p:nvSpPr>
          <p:cNvPr id="34" name="Shape 31"/>
          <p:cNvSpPr/>
          <p:nvPr/>
        </p:nvSpPr>
        <p:spPr>
          <a:xfrm>
            <a:off x="10079431" y="2011680"/>
            <a:ext cx="1618488" cy="1280160"/>
          </a:xfrm>
          <a:prstGeom prst="rect">
            <a:avLst/>
          </a:prstGeom>
          <a:solidFill>
            <a:schemeClr val="bg1"/>
          </a:solidFill>
          <a:ln w="12700">
            <a:solidFill>
              <a:schemeClr val="accent3"/>
            </a:solidFill>
            <a:prstDash val="solid"/>
          </a:ln>
        </p:spPr>
      </p:sp>
      <p:sp>
        <p:nvSpPr>
          <p:cNvPr id="35" name="box"/>
          <p:cNvSpPr/>
          <p:nvPr/>
        </p:nvSpPr>
        <p:spPr>
          <a:xfrm>
            <a:off x="10134295" y="2697480"/>
            <a:ext cx="1508760" cy="475488"/>
          </a:xfrm>
          <a:prstGeom prst="roundRect">
            <a:avLst>
              <a:gd name="adj" fmla="val 15385"/>
            </a:avLst>
          </a:prstGeom>
          <a:solidFill>
            <a:schemeClr val="accent1"/>
          </a:solidFill>
          <a:ln w="12700">
            <a:solidFill>
              <a:schemeClr val="accent1"/>
            </a:solidFill>
            <a:prstDash val="solid"/>
          </a:ln>
        </p:spPr>
      </p:sp>
      <p:sp>
        <p:nvSpPr>
          <p:cNvPr id="36" name="Text 33"/>
          <p:cNvSpPr txBox="1"/>
          <p:nvPr/>
        </p:nvSpPr>
        <p:spPr>
          <a:xfrm>
            <a:off x="10134295" y="269748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서 있기</a:t>
            </a:r>
            <a:endParaRPr lang="ko-KR" altLang="en-US" sz="1300" dirty="0"/>
          </a:p>
        </p:txBody>
      </p:sp>
      <p:sp>
        <p:nvSpPr>
          <p:cNvPr id="37" name="Text 34"/>
          <p:cNvSpPr txBox="1"/>
          <p:nvPr/>
        </p:nvSpPr>
        <p:spPr>
          <a:xfrm>
            <a:off x="4983480" y="3749040"/>
            <a:ext cx="6659575" cy="347472"/>
          </a:xfrm>
          <a:prstGeom prst="rect">
            <a:avLst/>
          </a:prstGeom>
          <a:noFill/>
          <a:ln/>
        </p:spPr>
        <p:txBody>
          <a:bodyPr wrap="square" lIns="0" tIns="0" rIns="0" bIns="0" rtlCol="0" anchor="t"/>
          <a:lstStyle/>
          <a:p>
            <a:pPr indent="0" marL="0" eaLnBrk="0">
              <a:buNone/>
            </a:pPr>
            <a:r>
              <a:rPr lang="ko-KR" altLang="en-US" sz="1500" b="1" dirty="0">
                <a:solidFill>
                  <a:schemeClr val="tx1"/>
                </a:solidFill>
              </a:rPr>
              <a:t>점프하다가 쏘면 점프로 돌아온다</a:t>
            </a:r>
            <a:endParaRPr lang="ko-KR" altLang="en-US" sz="1500" dirty="0"/>
          </a:p>
        </p:txBody>
      </p:sp>
      <p:sp>
        <p:nvSpPr>
          <p:cNvPr id="38" name="Shape 35"/>
          <p:cNvSpPr/>
          <p:nvPr/>
        </p:nvSpPr>
        <p:spPr>
          <a:xfrm>
            <a:off x="4928616" y="4160520"/>
            <a:ext cx="1618488" cy="1280160"/>
          </a:xfrm>
          <a:prstGeom prst="rect">
            <a:avLst/>
          </a:prstGeom>
          <a:solidFill>
            <a:schemeClr val="bg1"/>
          </a:solidFill>
          <a:ln w="12700">
            <a:solidFill>
              <a:schemeClr val="accent3"/>
            </a:solidFill>
            <a:prstDash val="solid"/>
          </a:ln>
        </p:spPr>
      </p:sp>
      <p:sp>
        <p:nvSpPr>
          <p:cNvPr id="39" name="box"/>
          <p:cNvSpPr/>
          <p:nvPr/>
        </p:nvSpPr>
        <p:spPr>
          <a:xfrm>
            <a:off x="4983480" y="4846320"/>
            <a:ext cx="1508760" cy="475488"/>
          </a:xfrm>
          <a:prstGeom prst="roundRect">
            <a:avLst>
              <a:gd name="adj" fmla="val 15385"/>
            </a:avLst>
          </a:prstGeom>
          <a:solidFill>
            <a:schemeClr val="accent1"/>
          </a:solidFill>
          <a:ln w="12700">
            <a:solidFill>
              <a:schemeClr val="accent1"/>
            </a:solidFill>
            <a:prstDash val="solid"/>
          </a:ln>
        </p:spPr>
      </p:sp>
      <p:sp>
        <p:nvSpPr>
          <p:cNvPr id="40" name="Text 37"/>
          <p:cNvSpPr txBox="1"/>
          <p:nvPr/>
        </p:nvSpPr>
        <p:spPr>
          <a:xfrm>
            <a:off x="4983480" y="484632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점프</a:t>
            </a:r>
            <a:endParaRPr lang="ko-KR" altLang="en-US" sz="1300" dirty="0"/>
          </a:p>
        </p:txBody>
      </p:sp>
      <p:sp>
        <p:nvSpPr>
          <p:cNvPr id="41" name="Shape 38"/>
          <p:cNvSpPr/>
          <p:nvPr/>
        </p:nvSpPr>
        <p:spPr>
          <a:xfrm>
            <a:off x="6601968" y="4800600"/>
            <a:ext cx="847192" cy="914"/>
          </a:xfrm>
          <a:prstGeom prst="line">
            <a:avLst/>
          </a:prstGeom>
          <a:noFill/>
          <a:ln w="22225">
            <a:solidFill>
              <a:schemeClr val="accent5"/>
            </a:solidFill>
            <a:prstDash val="solid"/>
            <a:tailEnd type="triangle"/>
          </a:ln>
        </p:spPr>
      </p:sp>
      <p:sp>
        <p:nvSpPr>
          <p:cNvPr id="42" name="Text 39"/>
          <p:cNvSpPr txBox="1"/>
          <p:nvPr/>
        </p:nvSpPr>
        <p:spPr>
          <a:xfrm>
            <a:off x="6510528" y="4389120"/>
            <a:ext cx="1030072"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발사: push</a:t>
            </a:r>
            <a:endParaRPr lang="ko-KR" altLang="en-US" sz="1200" dirty="0"/>
          </a:p>
        </p:txBody>
      </p:sp>
      <p:sp>
        <p:nvSpPr>
          <p:cNvPr id="43" name="Shape 40"/>
          <p:cNvSpPr/>
          <p:nvPr/>
        </p:nvSpPr>
        <p:spPr>
          <a:xfrm>
            <a:off x="7504024" y="4160520"/>
            <a:ext cx="1618488" cy="1280160"/>
          </a:xfrm>
          <a:prstGeom prst="rect">
            <a:avLst/>
          </a:prstGeom>
          <a:solidFill>
            <a:schemeClr val="bg1"/>
          </a:solidFill>
          <a:ln w="12700">
            <a:solidFill>
              <a:schemeClr val="accent3"/>
            </a:solidFill>
            <a:prstDash val="solid"/>
          </a:ln>
        </p:spPr>
      </p:sp>
      <p:sp>
        <p:nvSpPr>
          <p:cNvPr id="44" name="box"/>
          <p:cNvSpPr/>
          <p:nvPr/>
        </p:nvSpPr>
        <p:spPr>
          <a:xfrm>
            <a:off x="7558888" y="4846320"/>
            <a:ext cx="1508760" cy="475488"/>
          </a:xfrm>
          <a:prstGeom prst="roundRect">
            <a:avLst>
              <a:gd name="adj" fmla="val 15385"/>
            </a:avLst>
          </a:prstGeom>
          <a:solidFill>
            <a:schemeClr val="bg2"/>
          </a:solidFill>
          <a:ln w="12700">
            <a:solidFill>
              <a:schemeClr val="bg2"/>
            </a:solidFill>
            <a:prstDash val="solid"/>
          </a:ln>
        </p:spPr>
      </p:sp>
      <p:sp>
        <p:nvSpPr>
          <p:cNvPr id="45" name="Text 42"/>
          <p:cNvSpPr txBox="1"/>
          <p:nvPr/>
        </p:nvSpPr>
        <p:spPr>
          <a:xfrm>
            <a:off x="7558888" y="484632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accent5"/>
                </a:solidFill>
              </a:rPr>
              <a:t>점프</a:t>
            </a:r>
            <a:endParaRPr lang="ko-KR" altLang="en-US" sz="1300" dirty="0"/>
          </a:p>
        </p:txBody>
      </p:sp>
      <p:sp>
        <p:nvSpPr>
          <p:cNvPr id="46" name="box"/>
          <p:cNvSpPr/>
          <p:nvPr/>
        </p:nvSpPr>
        <p:spPr>
          <a:xfrm>
            <a:off x="7558888" y="4297680"/>
            <a:ext cx="1508760" cy="475488"/>
          </a:xfrm>
          <a:prstGeom prst="roundRect">
            <a:avLst>
              <a:gd name="adj" fmla="val 15385"/>
            </a:avLst>
          </a:prstGeom>
          <a:solidFill>
            <a:schemeClr val="accent1"/>
          </a:solidFill>
          <a:ln w="12700">
            <a:solidFill>
              <a:schemeClr val="accent1"/>
            </a:solidFill>
            <a:prstDash val="solid"/>
          </a:ln>
        </p:spPr>
      </p:sp>
      <p:sp>
        <p:nvSpPr>
          <p:cNvPr id="47" name="Text 44"/>
          <p:cNvSpPr txBox="1"/>
          <p:nvPr/>
        </p:nvSpPr>
        <p:spPr>
          <a:xfrm>
            <a:off x="7558888" y="429768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발사</a:t>
            </a:r>
            <a:endParaRPr lang="ko-KR" altLang="en-US" sz="1300" dirty="0"/>
          </a:p>
        </p:txBody>
      </p:sp>
      <p:sp>
        <p:nvSpPr>
          <p:cNvPr id="48" name="Shape 45"/>
          <p:cNvSpPr/>
          <p:nvPr/>
        </p:nvSpPr>
        <p:spPr>
          <a:xfrm>
            <a:off x="9177376" y="4800600"/>
            <a:ext cx="847192" cy="914"/>
          </a:xfrm>
          <a:prstGeom prst="line">
            <a:avLst/>
          </a:prstGeom>
          <a:noFill/>
          <a:ln w="22225">
            <a:solidFill>
              <a:schemeClr val="accent5"/>
            </a:solidFill>
            <a:prstDash val="solid"/>
            <a:tailEnd type="triangle"/>
          </a:ln>
        </p:spPr>
      </p:sp>
      <p:sp>
        <p:nvSpPr>
          <p:cNvPr id="49" name="Text 46"/>
          <p:cNvSpPr txBox="1"/>
          <p:nvPr/>
        </p:nvSpPr>
        <p:spPr>
          <a:xfrm>
            <a:off x="9085936" y="4389120"/>
            <a:ext cx="1030072"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끝: pop</a:t>
            </a:r>
            <a:endParaRPr lang="ko-KR" altLang="en-US" sz="1200" dirty="0"/>
          </a:p>
        </p:txBody>
      </p:sp>
      <p:sp>
        <p:nvSpPr>
          <p:cNvPr id="50" name="Shape 47"/>
          <p:cNvSpPr/>
          <p:nvPr/>
        </p:nvSpPr>
        <p:spPr>
          <a:xfrm>
            <a:off x="10079431" y="4160520"/>
            <a:ext cx="1618488" cy="1280160"/>
          </a:xfrm>
          <a:prstGeom prst="rect">
            <a:avLst/>
          </a:prstGeom>
          <a:solidFill>
            <a:schemeClr val="bg1"/>
          </a:solidFill>
          <a:ln w="12700">
            <a:solidFill>
              <a:schemeClr val="accent3"/>
            </a:solidFill>
            <a:prstDash val="solid"/>
          </a:ln>
        </p:spPr>
      </p:sp>
      <p:sp>
        <p:nvSpPr>
          <p:cNvPr id="51" name="box"/>
          <p:cNvSpPr/>
          <p:nvPr/>
        </p:nvSpPr>
        <p:spPr>
          <a:xfrm>
            <a:off x="10134295" y="4846320"/>
            <a:ext cx="1508760" cy="475488"/>
          </a:xfrm>
          <a:prstGeom prst="roundRect">
            <a:avLst>
              <a:gd name="adj" fmla="val 15385"/>
            </a:avLst>
          </a:prstGeom>
          <a:solidFill>
            <a:schemeClr val="accent1"/>
          </a:solidFill>
          <a:ln w="12700">
            <a:solidFill>
              <a:schemeClr val="accent1"/>
            </a:solidFill>
            <a:prstDash val="solid"/>
          </a:ln>
        </p:spPr>
      </p:sp>
      <p:sp>
        <p:nvSpPr>
          <p:cNvPr id="52" name="Text 49"/>
          <p:cNvSpPr txBox="1"/>
          <p:nvPr/>
        </p:nvSpPr>
        <p:spPr>
          <a:xfrm>
            <a:off x="10134295" y="4846320"/>
            <a:ext cx="1508760" cy="475488"/>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점프</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얼마나 유용한가?, 관련 패턴과 Unity 대응</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행동이 몇 가지 상태에 따라 바뀌고 입력이 차례로 들어올 때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상태 패턴과 닮았거나 함께 쓰는 패턴은 무엇일까?</a:t>
            </a:r>
            <a:endParaRPr lang="ko-KR" altLang="en-US" sz="1500" dirty="0"/>
          </a:p>
        </p:txBody>
      </p:sp>
      <p:sp>
        <p:nvSpPr>
          <p:cNvPr id="6" name="Text 3"/>
          <p:cNvSpPr txBox="1"/>
          <p:nvPr/>
        </p:nvSpPr>
        <p:spPr>
          <a:xfrm>
            <a:off x="548640" y="164592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148840"/>
            <a:ext cx="5349240" cy="960120"/>
          </a:xfrm>
          <a:prstGeom prst="roundRect">
            <a:avLst>
              <a:gd name="adj" fmla="val 9524"/>
            </a:avLst>
          </a:prstGeom>
          <a:solidFill>
            <a:schemeClr val="bg2"/>
          </a:solidFill>
          <a:ln w="12700">
            <a:solidFill>
              <a:schemeClr val="bg2"/>
            </a:solidFill>
            <a:prstDash val="solid"/>
          </a:ln>
        </p:spPr>
      </p:sp>
      <p:sp>
        <p:nvSpPr>
          <p:cNvPr id="8" name="Shape 5"/>
          <p:cNvSpPr/>
          <p:nvPr/>
        </p:nvSpPr>
        <p:spPr>
          <a:xfrm>
            <a:off x="777240" y="235000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350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card"/>
          <p:cNvSpPr/>
          <p:nvPr/>
        </p:nvSpPr>
        <p:spPr>
          <a:xfrm>
            <a:off x="548640" y="3246120"/>
            <a:ext cx="5349240" cy="960120"/>
          </a:xfrm>
          <a:prstGeom prst="roundRect">
            <a:avLst>
              <a:gd name="adj" fmla="val 9524"/>
            </a:avLst>
          </a:prstGeom>
          <a:solidFill>
            <a:schemeClr val="bg2"/>
          </a:solidFill>
          <a:ln w="12700">
            <a:solidFill>
              <a:schemeClr val="bg2"/>
            </a:solidFill>
            <a:prstDash val="solid"/>
          </a:ln>
        </p:spPr>
      </p:sp>
      <p:sp>
        <p:nvSpPr>
          <p:cNvPr id="11" name="Shape 8"/>
          <p:cNvSpPr/>
          <p:nvPr/>
        </p:nvSpPr>
        <p:spPr>
          <a:xfrm>
            <a:off x="777240" y="3447288"/>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 y="3447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3" name="card"/>
          <p:cNvSpPr/>
          <p:nvPr/>
        </p:nvSpPr>
        <p:spPr>
          <a:xfrm>
            <a:off x="548640" y="4343400"/>
            <a:ext cx="5349240" cy="960120"/>
          </a:xfrm>
          <a:prstGeom prst="roundRect">
            <a:avLst>
              <a:gd name="adj" fmla="val 9524"/>
            </a:avLst>
          </a:prstGeom>
          <a:solidFill>
            <a:schemeClr val="bg2"/>
          </a:solidFill>
          <a:ln w="12700">
            <a:solidFill>
              <a:schemeClr val="bg2"/>
            </a:solidFill>
            <a:prstDash val="solid"/>
          </a:ln>
        </p:spPr>
      </p:sp>
      <p:sp>
        <p:nvSpPr>
          <p:cNvPr id="14" name="Shape 11"/>
          <p:cNvSpPr/>
          <p:nvPr/>
        </p:nvSpPr>
        <p:spPr>
          <a:xfrm>
            <a:off x="777240" y="454456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5445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6" name="Text 13"/>
          <p:cNvSpPr txBox="1"/>
          <p:nvPr/>
        </p:nvSpPr>
        <p:spPr>
          <a:xfrm>
            <a:off x="1371600" y="2240280"/>
            <a:ext cx="4389120" cy="777240"/>
          </a:xfrm>
          <a:prstGeom prst="rect">
            <a:avLst/>
          </a:prstGeom>
          <a:noFill/>
          <a:ln/>
        </p:spPr>
        <p:txBody>
          <a:bodyPr wrap="square" lIns="0" tIns="0" rIns="0" bIns="0" rtlCol="0" anchor="ctr"/>
          <a:lstStyle/>
          <a:p>
            <a:pPr indent="0" marL="0" eaLnBrk="0">
              <a:buNone/>
            </a:pPr>
            <a:r>
              <a:rPr lang="ko-KR" altLang="en-US" sz="1400" dirty="0">
                <a:solidFill>
                  <a:schemeClr val="tx2"/>
                </a:solidFill>
              </a:rPr>
              <a:t>객체의 행동이 내부 상태에 따라 바뀐다.</a:t>
            </a:r>
            <a:endParaRPr lang="ko-KR" altLang="en-US" sz="1400" dirty="0"/>
          </a:p>
        </p:txBody>
      </p:sp>
      <p:sp>
        <p:nvSpPr>
          <p:cNvPr id="17" name="Text 14"/>
          <p:cNvSpPr txBox="1"/>
          <p:nvPr/>
        </p:nvSpPr>
        <p:spPr>
          <a:xfrm>
            <a:off x="1371600" y="3337560"/>
            <a:ext cx="4389120" cy="777240"/>
          </a:xfrm>
          <a:prstGeom prst="rect">
            <a:avLst/>
          </a:prstGeom>
          <a:noFill/>
          <a:ln/>
        </p:spPr>
        <p:txBody>
          <a:bodyPr wrap="square" lIns="0" tIns="0" rIns="0" bIns="0" rtlCol="0" anchor="ctr"/>
          <a:lstStyle/>
          <a:p>
            <a:pPr indent="0" marL="0" eaLnBrk="0">
              <a:buNone/>
            </a:pPr>
            <a:r>
              <a:rPr lang="ko-KR" altLang="en-US" sz="1400" dirty="0">
                <a:solidFill>
                  <a:schemeClr val="tx2"/>
                </a:solidFill>
              </a:rPr>
              <a:t>그 상태를 적은 수의 뚜렷한 경우로 나눌 수 있다.</a:t>
            </a:r>
            <a:endParaRPr lang="ko-KR" altLang="en-US" sz="1400" dirty="0"/>
          </a:p>
        </p:txBody>
      </p:sp>
      <p:sp>
        <p:nvSpPr>
          <p:cNvPr id="18" name="Text 15"/>
          <p:cNvSpPr txBox="1"/>
          <p:nvPr/>
        </p:nvSpPr>
        <p:spPr>
          <a:xfrm>
            <a:off x="1371600" y="4434840"/>
            <a:ext cx="4389120" cy="777240"/>
          </a:xfrm>
          <a:prstGeom prst="rect">
            <a:avLst/>
          </a:prstGeom>
          <a:noFill/>
          <a:ln/>
        </p:spPr>
        <p:txBody>
          <a:bodyPr wrap="square" lIns="0" tIns="0" rIns="0" bIns="0" rtlCol="0" anchor="ctr"/>
          <a:lstStyle/>
          <a:p>
            <a:pPr indent="0" marL="0" eaLnBrk="0">
              <a:buNone/>
            </a:pPr>
            <a:r>
              <a:rPr lang="ko-KR" altLang="en-US" sz="1400" dirty="0">
                <a:solidFill>
                  <a:schemeClr val="tx2"/>
                </a:solidFill>
              </a:rPr>
              <a:t>입력이나 사건이 시간에 따라 차례로 들어온다.</a:t>
            </a:r>
            <a:endParaRPr lang="ko-KR" altLang="en-US" sz="1400" dirty="0"/>
          </a:p>
        </p:txBody>
      </p:sp>
      <p:sp>
        <p:nvSpPr>
          <p:cNvPr id="19" name="Text 16"/>
          <p:cNvSpPr txBox="1"/>
          <p:nvPr/>
        </p:nvSpPr>
        <p:spPr>
          <a:xfrm>
            <a:off x="6263640" y="164592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0" name="card"/>
          <p:cNvSpPr/>
          <p:nvPr/>
        </p:nvSpPr>
        <p:spPr>
          <a:xfrm>
            <a:off x="6263640" y="2148840"/>
            <a:ext cx="5349240" cy="960120"/>
          </a:xfrm>
          <a:prstGeom prst="roundRect">
            <a:avLst>
              <a:gd name="adj" fmla="val 9524"/>
            </a:avLst>
          </a:prstGeom>
          <a:solidFill>
            <a:schemeClr val="bg2"/>
          </a:solidFill>
          <a:ln w="12700">
            <a:solidFill>
              <a:schemeClr val="bg2"/>
            </a:solidFill>
            <a:prstDash val="solid"/>
          </a:ln>
        </p:spPr>
      </p:sp>
      <p:sp>
        <p:nvSpPr>
          <p:cNvPr id="21" name="Shape 18"/>
          <p:cNvSpPr/>
          <p:nvPr/>
        </p:nvSpPr>
        <p:spPr>
          <a:xfrm>
            <a:off x="6492240" y="235000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492240" y="2350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3" name="card"/>
          <p:cNvSpPr/>
          <p:nvPr/>
        </p:nvSpPr>
        <p:spPr>
          <a:xfrm>
            <a:off x="6263640" y="3246120"/>
            <a:ext cx="5349240" cy="960120"/>
          </a:xfrm>
          <a:prstGeom prst="roundRect">
            <a:avLst>
              <a:gd name="adj" fmla="val 9524"/>
            </a:avLst>
          </a:prstGeom>
          <a:solidFill>
            <a:schemeClr val="bg2"/>
          </a:solidFill>
          <a:ln w="12700">
            <a:solidFill>
              <a:schemeClr val="bg2"/>
            </a:solidFill>
            <a:prstDash val="solid"/>
          </a:ln>
        </p:spPr>
      </p:sp>
      <p:sp>
        <p:nvSpPr>
          <p:cNvPr id="24" name="Shape 21"/>
          <p:cNvSpPr/>
          <p:nvPr/>
        </p:nvSpPr>
        <p:spPr>
          <a:xfrm>
            <a:off x="6492240" y="344728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492240" y="3447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card"/>
          <p:cNvSpPr/>
          <p:nvPr/>
        </p:nvSpPr>
        <p:spPr>
          <a:xfrm>
            <a:off x="6263640" y="4343400"/>
            <a:ext cx="5349240" cy="960120"/>
          </a:xfrm>
          <a:prstGeom prst="roundRect">
            <a:avLst>
              <a:gd name="adj" fmla="val 9524"/>
            </a:avLst>
          </a:prstGeom>
          <a:solidFill>
            <a:schemeClr val="bg2"/>
          </a:solidFill>
          <a:ln w="12700">
            <a:solidFill>
              <a:schemeClr val="bg2"/>
            </a:solidFill>
            <a:prstDash val="solid"/>
          </a:ln>
        </p:spPr>
      </p:sp>
      <p:sp>
        <p:nvSpPr>
          <p:cNvPr id="27" name="Shape 24"/>
          <p:cNvSpPr/>
          <p:nvPr/>
        </p:nvSpPr>
        <p:spPr>
          <a:xfrm>
            <a:off x="6492240" y="454456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6492240" y="45445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9" name="Text 26"/>
          <p:cNvSpPr txBox="1"/>
          <p:nvPr/>
        </p:nvSpPr>
        <p:spPr>
          <a:xfrm>
            <a:off x="7086600" y="2240280"/>
            <a:ext cx="4389120" cy="777240"/>
          </a:xfrm>
          <a:prstGeom prst="rect">
            <a:avLst/>
          </a:prstGeom>
          <a:noFill/>
          <a:ln/>
        </p:spPr>
        <p:txBody>
          <a:bodyPr wrap="square" lIns="0" tIns="0" rIns="0" bIns="0" rtlCol="0" anchor="ctr"/>
          <a:lstStyle/>
          <a:p>
            <a:pPr indent="0" marL="0" eaLnBrk="0">
              <a:buNone/>
            </a:pPr>
            <a:r>
              <a:rPr lang="ko-KR" altLang="en-US" sz="1400" dirty="0">
                <a:solidFill>
                  <a:schemeClr val="tx2"/>
                </a:solidFill>
              </a:rPr>
              <a:t>분기가 몇 개뿐이면 if나 열거형과 switch로 충분하다.</a:t>
            </a:r>
            <a:endParaRPr lang="ko-KR" altLang="en-US" sz="1400" dirty="0"/>
          </a:p>
        </p:txBody>
      </p:sp>
      <p:sp>
        <p:nvSpPr>
          <p:cNvPr id="30" name="Text 27"/>
          <p:cNvSpPr txBox="1"/>
          <p:nvPr/>
        </p:nvSpPr>
        <p:spPr>
          <a:xfrm>
            <a:off x="7086600" y="3337560"/>
            <a:ext cx="4389120" cy="777240"/>
          </a:xfrm>
          <a:prstGeom prst="rect">
            <a:avLst/>
          </a:prstGeom>
          <a:noFill/>
          <a:ln/>
        </p:spPr>
        <p:txBody>
          <a:bodyPr wrap="square" lIns="0" tIns="0" rIns="0" bIns="0" rtlCol="0" anchor="ctr"/>
          <a:lstStyle/>
          <a:p>
            <a:pPr indent="0" marL="0" eaLnBrk="0">
              <a:buNone/>
            </a:pPr>
            <a:r>
              <a:rPr lang="ko-KR" altLang="en-US" sz="1400" dirty="0">
                <a:solidFill>
                  <a:schemeClr val="tx2"/>
                </a:solidFill>
              </a:rPr>
              <a:t>데이터를 가진 상태를 정적으로 공유하면 여러 객체의 값이 섞인다.</a:t>
            </a:r>
            <a:endParaRPr lang="ko-KR" altLang="en-US" sz="1400" dirty="0"/>
          </a:p>
        </p:txBody>
      </p:sp>
      <p:sp>
        <p:nvSpPr>
          <p:cNvPr id="31" name="Text 28"/>
          <p:cNvSpPr txBox="1"/>
          <p:nvPr/>
        </p:nvSpPr>
        <p:spPr>
          <a:xfrm>
            <a:off x="7086600" y="4434840"/>
            <a:ext cx="4389120" cy="777240"/>
          </a:xfrm>
          <a:prstGeom prst="rect">
            <a:avLst/>
          </a:prstGeom>
          <a:noFill/>
          <a:ln/>
        </p:spPr>
        <p:txBody>
          <a:bodyPr wrap="square" lIns="0" tIns="0" rIns="0" bIns="0" rtlCol="0" anchor="ctr"/>
          <a:lstStyle/>
          <a:p>
            <a:pPr indent="0" marL="0" eaLnBrk="0">
              <a:buNone/>
            </a:pPr>
            <a:r>
              <a:rPr lang="ko-KR" altLang="en-US" sz="1400" dirty="0">
                <a:solidFill>
                  <a:schemeClr val="tx2"/>
                </a:solidFill>
              </a:rPr>
              <a:t>복잡한 인공지능에는 한계가 있다. 행동 트리나 계획 시스템을 살펴본다.</a:t>
            </a:r>
            <a:endParaRPr lang="ko-KR" altLang="en-US" sz="1400" dirty="0"/>
          </a:p>
        </p:txBody>
      </p:sp>
      <p:sp>
        <p:nvSpPr>
          <p:cNvPr id="32" name="Text 29"/>
          <p:cNvSpPr txBox="1"/>
          <p:nvPr/>
        </p:nvSpPr>
        <p:spPr>
          <a:xfrm>
            <a:off x="548640" y="5440680"/>
            <a:ext cx="11094415" cy="320040"/>
          </a:xfrm>
          <a:prstGeom prst="rect">
            <a:avLst/>
          </a:prstGeom>
          <a:noFill/>
          <a:ln/>
        </p:spPr>
        <p:txBody>
          <a:bodyPr wrap="square" lIns="0" tIns="0" rIns="0" bIns="0" rtlCol="0" anchor="t"/>
          <a:lstStyle/>
          <a:p>
            <a:pPr indent="0" marL="0" eaLnBrk="0">
              <a:buNone/>
            </a:pPr>
            <a:r>
              <a:rPr lang="ko-KR" altLang="en-US" sz="1400" dirty="0">
                <a:solidFill>
                  <a:schemeClr val="accent5"/>
                </a:solidFill>
              </a:rPr>
              <a:t>쓰이는 곳: 인공지능, 입력 처리, 메뉴 화면 이동, 텍스트 분석, 네트워크 프로토콜</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언급하는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645920"/>
            <a:ext cx="11094415" cy="914400"/>
          </a:xfrm>
          <a:prstGeom prst="roundRect">
            <a:avLst>
              <a:gd name="adj" fmla="val 10000"/>
            </a:avLst>
          </a:prstGeom>
          <a:solidFill>
            <a:schemeClr val="bg2"/>
          </a:solidFill>
          <a:ln w="12700">
            <a:solidFill>
              <a:schemeClr val="bg2"/>
            </a:solidFill>
            <a:prstDash val="solid"/>
          </a:ln>
        </p:spPr>
      </p:sp>
      <p:sp>
        <p:nvSpPr>
          <p:cNvPr id="7" name="Text 4"/>
          <p:cNvSpPr txBox="1"/>
          <p:nvPr/>
        </p:nvSpPr>
        <p:spPr>
          <a:xfrm>
            <a:off x="822960" y="1737360"/>
            <a:ext cx="310896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경량(Flyweight)</a:t>
            </a:r>
            <a:endParaRPr lang="ko-KR" altLang="en-US" sz="1700" dirty="0"/>
          </a:p>
        </p:txBody>
      </p:sp>
      <p:sp>
        <p:nvSpPr>
          <p:cNvPr id="8" name="Shape 5"/>
          <p:cNvSpPr/>
          <p:nvPr/>
        </p:nvSpPr>
        <p:spPr>
          <a:xfrm>
            <a:off x="822960" y="2157984"/>
            <a:ext cx="822960" cy="310896"/>
          </a:xfrm>
          <a:prstGeom prst="roundRect">
            <a:avLst>
              <a:gd name="adj" fmla="val 23529"/>
            </a:avLst>
          </a:prstGeom>
          <a:solidFill>
            <a:schemeClr val="accent1"/>
          </a:solidFill>
          <a:ln w="12700">
            <a:solidFill>
              <a:schemeClr val="accent1"/>
            </a:solidFill>
            <a:prstDash val="solid"/>
          </a:ln>
        </p:spPr>
      </p:sp>
      <p:sp>
        <p:nvSpPr>
          <p:cNvPr id="9" name="Text 6"/>
          <p:cNvSpPr txBox="1"/>
          <p:nvPr/>
        </p:nvSpPr>
        <p:spPr>
          <a:xfrm>
            <a:off x="822960" y="2157984"/>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3강</a:t>
            </a:r>
            <a:endParaRPr lang="ko-KR" altLang="en-US" sz="1200" dirty="0"/>
          </a:p>
        </p:txBody>
      </p:sp>
      <p:sp>
        <p:nvSpPr>
          <p:cNvPr id="10" name="Text 7"/>
          <p:cNvSpPr txBox="1"/>
          <p:nvPr/>
        </p:nvSpPr>
        <p:spPr>
          <a:xfrm>
            <a:off x="4114800" y="1719072"/>
            <a:ext cx="7253935" cy="768096"/>
          </a:xfrm>
          <a:prstGeom prst="rect">
            <a:avLst/>
          </a:prstGeom>
          <a:noFill/>
          <a:ln/>
        </p:spPr>
        <p:txBody>
          <a:bodyPr wrap="square" lIns="0" tIns="0" rIns="0" bIns="0" rtlCol="0" anchor="ctr"/>
          <a:lstStyle/>
          <a:p>
            <a:pPr indent="0" marL="0" eaLnBrk="0">
              <a:buNone/>
            </a:pPr>
            <a:r>
              <a:rPr lang="ko-KR" altLang="en-US" sz="1400" dirty="0">
                <a:solidFill>
                  <a:schemeClr val="tx2"/>
                </a:solidFill>
              </a:rPr>
              <a:t>필드가 없는 정적 상태 객체를 하나만 만들어 모든 상태 기계가 함께 쓴다.</a:t>
            </a:r>
            <a:endParaRPr lang="ko-KR" altLang="en-US" sz="1400" dirty="0"/>
          </a:p>
        </p:txBody>
      </p:sp>
      <p:sp>
        <p:nvSpPr>
          <p:cNvPr id="11" name="Shape 8"/>
          <p:cNvSpPr/>
          <p:nvPr/>
        </p:nvSpPr>
        <p:spPr>
          <a:xfrm>
            <a:off x="548640" y="2670048"/>
            <a:ext cx="11094415" cy="914400"/>
          </a:xfrm>
          <a:prstGeom prst="roundRect">
            <a:avLst>
              <a:gd name="adj" fmla="val 10000"/>
            </a:avLst>
          </a:prstGeom>
          <a:solidFill>
            <a:schemeClr val="bg2"/>
          </a:solidFill>
          <a:ln w="12700">
            <a:solidFill>
              <a:schemeClr val="bg2"/>
            </a:solidFill>
            <a:prstDash val="solid"/>
          </a:ln>
        </p:spPr>
      </p:sp>
      <p:sp>
        <p:nvSpPr>
          <p:cNvPr id="12" name="Text 9"/>
          <p:cNvSpPr txBox="1"/>
          <p:nvPr/>
        </p:nvSpPr>
        <p:spPr>
          <a:xfrm>
            <a:off x="822960" y="2761488"/>
            <a:ext cx="310896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타입 객체 · 전략</a:t>
            </a:r>
            <a:endParaRPr lang="ko-KR" altLang="en-US" sz="1700" dirty="0"/>
          </a:p>
        </p:txBody>
      </p:sp>
      <p:sp>
        <p:nvSpPr>
          <p:cNvPr id="13" name="Shape 10"/>
          <p:cNvSpPr/>
          <p:nvPr/>
        </p:nvSpPr>
        <p:spPr>
          <a:xfrm>
            <a:off x="822960" y="3182112"/>
            <a:ext cx="822960" cy="310896"/>
          </a:xfrm>
          <a:prstGeom prst="roundRect">
            <a:avLst>
              <a:gd name="adj" fmla="val 23529"/>
            </a:avLst>
          </a:prstGeom>
          <a:solidFill>
            <a:schemeClr val="accent1"/>
          </a:solidFill>
          <a:ln w="12700">
            <a:solidFill>
              <a:schemeClr val="accent1"/>
            </a:solidFill>
            <a:prstDash val="solid"/>
          </a:ln>
        </p:spPr>
      </p:sp>
      <p:sp>
        <p:nvSpPr>
          <p:cNvPr id="14" name="Text 11"/>
          <p:cNvSpPr txBox="1"/>
          <p:nvPr/>
        </p:nvSpPr>
        <p:spPr>
          <a:xfrm>
            <a:off x="822960" y="3182112"/>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7강</a:t>
            </a:r>
            <a:endParaRPr lang="ko-KR" altLang="en-US" sz="1200" dirty="0"/>
          </a:p>
        </p:txBody>
      </p:sp>
      <p:sp>
        <p:nvSpPr>
          <p:cNvPr id="15" name="Text 12"/>
          <p:cNvSpPr txBox="1"/>
          <p:nvPr/>
        </p:nvSpPr>
        <p:spPr>
          <a:xfrm>
            <a:off x="4114800" y="2743200"/>
            <a:ext cx="7253935" cy="768096"/>
          </a:xfrm>
          <a:prstGeom prst="rect">
            <a:avLst/>
          </a:prstGeom>
          <a:noFill/>
          <a:ln/>
        </p:spPr>
        <p:txBody>
          <a:bodyPr wrap="square" lIns="0" tIns="0" rIns="0" bIns="0" rtlCol="0" anchor="ctr"/>
          <a:lstStyle/>
          <a:p>
            <a:pPr indent="0" marL="0" eaLnBrk="0">
              <a:buNone/>
            </a:pPr>
            <a:r>
              <a:rPr lang="ko-KR" altLang="en-US" sz="1400" dirty="0">
                <a:solidFill>
                  <a:schemeClr val="tx2"/>
                </a:solidFill>
              </a:rPr>
              <a:t>셋 다 다른 객체에 일을 맡긴다. 타입 객체는 같은 타입을 공유해 비슷하게 행동하고, 전략은 행동 일부를 떼어 내고, 상태는 맡길 객체를 바꿔 행동을 바꾼다.</a:t>
            </a:r>
            <a:endParaRPr lang="ko-KR" altLang="en-US" sz="1400" dirty="0"/>
          </a:p>
        </p:txBody>
      </p:sp>
      <p:sp>
        <p:nvSpPr>
          <p:cNvPr id="16" name="Shape 13"/>
          <p:cNvSpPr/>
          <p:nvPr/>
        </p:nvSpPr>
        <p:spPr>
          <a:xfrm>
            <a:off x="548640" y="3694176"/>
            <a:ext cx="11094415" cy="914400"/>
          </a:xfrm>
          <a:prstGeom prst="roundRect">
            <a:avLst>
              <a:gd name="adj" fmla="val 10000"/>
            </a:avLst>
          </a:prstGeom>
          <a:solidFill>
            <a:schemeClr val="bg2"/>
          </a:solidFill>
          <a:ln w="12700">
            <a:solidFill>
              <a:schemeClr val="bg2"/>
            </a:solidFill>
            <a:prstDash val="solid"/>
          </a:ln>
        </p:spPr>
      </p:sp>
      <p:sp>
        <p:nvSpPr>
          <p:cNvPr id="17" name="Text 14"/>
          <p:cNvSpPr txBox="1"/>
          <p:nvPr/>
        </p:nvSpPr>
        <p:spPr>
          <a:xfrm>
            <a:off x="822960" y="3785616"/>
            <a:ext cx="310896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객체 풀(Object Pool)</a:t>
            </a:r>
            <a:endParaRPr lang="ko-KR" altLang="en-US" sz="1700" dirty="0"/>
          </a:p>
        </p:txBody>
      </p:sp>
      <p:sp>
        <p:nvSpPr>
          <p:cNvPr id="18" name="Shape 15"/>
          <p:cNvSpPr/>
          <p:nvPr/>
        </p:nvSpPr>
        <p:spPr>
          <a:xfrm>
            <a:off x="822960" y="4206240"/>
            <a:ext cx="822960" cy="310896"/>
          </a:xfrm>
          <a:prstGeom prst="roundRect">
            <a:avLst>
              <a:gd name="adj" fmla="val 23529"/>
            </a:avLst>
          </a:prstGeom>
          <a:solidFill>
            <a:schemeClr val="accent1"/>
          </a:solidFill>
          <a:ln w="12700">
            <a:solidFill>
              <a:schemeClr val="accent1"/>
            </a:solidFill>
            <a:prstDash val="solid"/>
          </a:ln>
        </p:spPr>
      </p:sp>
      <p:sp>
        <p:nvSpPr>
          <p:cNvPr id="19" name="Text 16"/>
          <p:cNvSpPr txBox="1"/>
          <p:nvPr/>
        </p:nvSpPr>
        <p:spPr>
          <a:xfrm>
            <a:off x="822960" y="4206240"/>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12강</a:t>
            </a:r>
            <a:endParaRPr lang="ko-KR" altLang="en-US" sz="1200" dirty="0"/>
          </a:p>
        </p:txBody>
      </p:sp>
      <p:sp>
        <p:nvSpPr>
          <p:cNvPr id="20" name="Text 17"/>
          <p:cNvSpPr txBox="1"/>
          <p:nvPr/>
        </p:nvSpPr>
        <p:spPr>
          <a:xfrm>
            <a:off x="4114800" y="3767328"/>
            <a:ext cx="7253935" cy="768096"/>
          </a:xfrm>
          <a:prstGeom prst="rect">
            <a:avLst/>
          </a:prstGeom>
          <a:noFill/>
          <a:ln/>
        </p:spPr>
        <p:txBody>
          <a:bodyPr wrap="square" lIns="0" tIns="0" rIns="0" bIns="0" rtlCol="0" anchor="ctr"/>
          <a:lstStyle/>
          <a:p>
            <a:pPr indent="0" marL="0" eaLnBrk="0">
              <a:buNone/>
            </a:pPr>
            <a:r>
              <a:rPr lang="ko-KR" altLang="en-US" sz="1400" dirty="0">
                <a:solidFill>
                  <a:schemeClr val="tx2"/>
                </a:solidFill>
              </a:rPr>
              <a:t>전환할 때마다 상태 객체를 만들면 메모리가 조각난다. 풀에서 꺼내 쓰면 줄일 수 있다.</a:t>
            </a:r>
            <a:endParaRPr lang="ko-KR" altLang="en-US" sz="1400" dirty="0"/>
          </a:p>
        </p:txBody>
      </p:sp>
      <p:sp>
        <p:nvSpPr>
          <p:cNvPr id="21" name="Shape 18"/>
          <p:cNvSpPr/>
          <p:nvPr/>
        </p:nvSpPr>
        <p:spPr>
          <a:xfrm>
            <a:off x="548640" y="4718304"/>
            <a:ext cx="11094415" cy="914400"/>
          </a:xfrm>
          <a:prstGeom prst="roundRect">
            <a:avLst>
              <a:gd name="adj" fmla="val 10000"/>
            </a:avLst>
          </a:prstGeom>
          <a:solidFill>
            <a:schemeClr val="bg2"/>
          </a:solidFill>
          <a:ln w="12700">
            <a:solidFill>
              <a:schemeClr val="bg2"/>
            </a:solidFill>
            <a:prstDash val="solid"/>
          </a:ln>
        </p:spPr>
      </p:sp>
      <p:sp>
        <p:nvSpPr>
          <p:cNvPr id="22" name="Text 19"/>
          <p:cNvSpPr txBox="1"/>
          <p:nvPr/>
        </p:nvSpPr>
        <p:spPr>
          <a:xfrm>
            <a:off x="822960" y="4809744"/>
            <a:ext cx="310896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업데이트 메서드</a:t>
            </a:r>
            <a:endParaRPr lang="ko-KR" altLang="en-US" sz="1700" dirty="0"/>
          </a:p>
        </p:txBody>
      </p:sp>
      <p:sp>
        <p:nvSpPr>
          <p:cNvPr id="23" name="Text 20"/>
          <p:cNvSpPr txBox="1"/>
          <p:nvPr/>
        </p:nvSpPr>
        <p:spPr>
          <a:xfrm>
            <a:off x="4114800" y="4791456"/>
            <a:ext cx="7253935" cy="768096"/>
          </a:xfrm>
          <a:prstGeom prst="rect">
            <a:avLst/>
          </a:prstGeom>
          <a:noFill/>
          <a:ln/>
        </p:spPr>
        <p:txBody>
          <a:bodyPr wrap="square" lIns="0" tIns="0" rIns="0" bIns="0" rtlCol="0" anchor="ctr"/>
          <a:lstStyle/>
          <a:p>
            <a:pPr indent="0" marL="0" eaLnBrk="0">
              <a:buNone/>
            </a:pPr>
            <a:r>
              <a:rPr lang="ko-KR" altLang="en-US" sz="1400" dirty="0">
                <a:solidFill>
                  <a:schemeClr val="tx2"/>
                </a:solidFill>
              </a:rPr>
              <a:t>매 프레임 부르는 Update()에서 상태가 한 프레임만큼 일한다.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Unity의 애니메이터는 상태 기계를 그림으로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383280"/>
                <a:gridCol w="7711135"/>
              </a:tblGrid>
              <a:tr h="475488">
                <a:tc>
                  <a:txBody>
                    <a:bodyPr/>
                    <a:lstStyle/>
                    <a:p>
                      <a:pPr indent="0" marL="0" eaLnBrk="0">
                        <a:buNone/>
                      </a:pPr>
                      <a:r>
                        <a:rPr lang="ko-KR" altLang="en-US" sz="1500" b="1" dirty="0">
                          <a:solidFill>
                            <a:schemeClr val="bg1"/>
                          </a:solidFill>
                        </a:rPr>
                        <a:t>Unity 기능</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상태 기계와의 관계</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841248">
                <a:tc>
                  <a:txBody>
                    <a:bodyPr/>
                    <a:lstStyle/>
                    <a:p>
                      <a:pPr indent="0" marL="0" eaLnBrk="0">
                        <a:buNone/>
                      </a:pPr>
                      <a:r>
                        <a:rPr lang="ko-KR" altLang="en-US" sz="1500" b="1" dirty="0">
                          <a:solidFill>
                            <a:schemeClr val="tx1"/>
                          </a:solidFill>
                        </a:rPr>
                        <a:t>Animator Controller</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애니메이션 상태와 전환을 그림으로 그리는 상태 기계이다. 전환 조건은 Trigger, Bool 같은 매개변수로 정한다. (2부의 상태 그림)</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841248">
                <a:tc>
                  <a:txBody>
                    <a:bodyPr/>
                    <a:lstStyle/>
                    <a:p>
                      <a:pPr indent="0" marL="0" eaLnBrk="0">
                        <a:buNone/>
                      </a:pPr>
                      <a:r>
                        <a:rPr lang="ko-KR" altLang="en-US" sz="1500" b="1" dirty="0">
                          <a:solidFill>
                            <a:schemeClr val="tx1"/>
                          </a:solidFill>
                        </a:rPr>
                        <a:t>Animator 레이어와 하위 상태 기계</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레이어마다 상태 기계가 따로 돌아 병행 상태 기계와 비슷하다. 하위 상태 기계(Sub-State Machine)는 상태를 묶어 계층을 만든다. (4부)</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21792">
                <a:tc>
                  <a:txBody>
                    <a:bodyPr/>
                    <a:lstStyle/>
                    <a:p>
                      <a:pPr indent="0" marL="0" eaLnBrk="0">
                        <a:buNone/>
                      </a:pPr>
                      <a:r>
                        <a:rPr lang="ko-KR" altLang="en-US" sz="1500" b="1" dirty="0">
                          <a:solidFill>
                            <a:schemeClr val="tx1"/>
                          </a:solidFill>
                        </a:rPr>
                        <a:t>StateMachineBehaviour</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OnStateEnter, OnStateUpdate, OnStateExit를 제공한다. (3부의 진입·퇴장 동작)</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30352">
                <a:tc>
                  <a:txBody>
                    <a:bodyPr/>
                    <a:lstStyle/>
                    <a:p>
                      <a:pPr indent="0" marL="0" eaLnBrk="0">
                        <a:buNone/>
                      </a:pPr>
                      <a:r>
                        <a:rPr lang="ko-KR" altLang="en-US" sz="1500" b="1" dirty="0">
                          <a:solidFill>
                            <a:schemeClr val="tx1"/>
                          </a:solidFill>
                        </a:rPr>
                        <a:t>C#의 enum과 switch</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가장 단순한 상태 기계를 만든다. (2부)</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21792">
                <a:tc>
                  <a:txBody>
                    <a:bodyPr/>
                    <a:lstStyle/>
                    <a:p>
                      <a:pPr indent="0" marL="0" eaLnBrk="0">
                        <a:buNone/>
                      </a:pPr>
                      <a:r>
                        <a:rPr lang="ko-KR" altLang="en-US" sz="1500" b="1" dirty="0">
                          <a:solidFill>
                            <a:schemeClr val="tx1"/>
                          </a:solidFill>
                        </a:rPr>
                        <a:t>C#의 Stack&lt;T&gt;</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상태 객체를 쌓아 두고 Push, Pop으로 이전 상태로 돌아간다. (4부의 푸시다운 오토마타)</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029200"/>
                <a:gridCol w="606521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상태 패턴을 한 문장으로 말하면?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현재 상태 객체에 행동을 맡기고, 상태가 바뀌면 객체를 바꾼다.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bool 플래그 두 개 대신 열거형을 쓰면 무엇이 좋아지나?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한 번에 한 상태만 나타내므로 의미 없는 조합이 사라진다.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엎드리기 상태를 정적 인스턴스로 두면 안 되는 이유는?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_chargeTime이 여주인공마다 달라야 한다.</a:t>
                      </a:r>
                      <a:endParaRPr lang="ko-KR" altLang="en-US" sz="1500" dirty="0"/>
                    </a:p>
                    <a:p>
                      <a:pPr indent="0" marL="0" eaLnBrk="0">
                        <a:buNone/>
                      </a:pPr>
                      <a:r>
                        <a:rPr lang="ko-KR" altLang="en-US" sz="1500" dirty="0">
                          <a:solidFill>
                            <a:schemeClr val="tx2"/>
                          </a:solidFill>
                        </a:rPr>
                        <a:t>그래서 전환할 때마다 새로 만든다.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진입 동작(Enter)을 두면 무엇이 좋아지나?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어느 상태에서 들어오든 같은 코드가 한곳에서 실행된다.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발사가 끝난 뒤 하던 일로 돌아가려면?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푸시다운 오토마타: 발사 상태를 push했다가 끝나면 pop한다.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싱글턴(Singleton) 패턴: 인스턴스를 하나만 두고 어디서든 접근하게 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4강 상태(State) 패턴</dc:title>
  <dc:subject>PptxGenJS Presentation</dc:subject>
  <dc:creator>Mini Tactics 패턴 수업</dc:creator>
  <cp:lastModifiedBy>Mini Tactics 패턴 수업</cp:lastModifiedBy>
  <cp:revision>1</cp:revision>
  <dcterms:created xsi:type="dcterms:W3CDTF">2026-10-27T07:28:46Z</dcterms:created>
  <dcterms:modified xsi:type="dcterms:W3CDTF">2026-10-27T07:28:46Z</dcterms:modified>
</cp:coreProperties>
</file>