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e44f8aaf-10a6-4371-3a4e-397e1a265deb}">
          <p14:sldIdLst>
            <p14:sldId id="256"/>
            <p14:sldId id="257"/>
            <p14:sldId id="258"/>
          </p14:sldIdLst>
        </p14:section>
        <p14:section name="1 · 어디서나 쓰이는 서비스" id="{3313d76a-4743-1d1a-b048-61c775697d24}">
          <p14:sldIdLst>
            <p14:sldId id="259"/>
            <p14:sldId id="260"/>
            <p14:sldId id="261"/>
            <p14:sldId id="262"/>
          </p14:sldIdLst>
        </p14:section>
        <p14:section name="2 · 중개자로 서비스 찾기" id="{daf7e9f6-58bf-3288-0373-e6539fe10aa8}">
          <p14:sldIdLst>
            <p14:sldId id="263"/>
            <p14:sldId id="264"/>
            <p14:sldId id="265"/>
            <p14:sldId id="266"/>
            <p14:sldId id="267"/>
            <p14:sldId id="268"/>
          </p14:sldIdLst>
        </p14:section>
        <p14:section name="3 · 서비스가 없을 때" id="{6581077a-5b65-f518-300b-73c20f6a02ac}">
          <p14:sldIdLst>
            <p14:sldId id="269"/>
            <p14:sldId id="270"/>
            <p14:sldId id="271"/>
            <p14:sldId id="272"/>
            <p14:sldId id="273"/>
            <p14:sldId id="274"/>
          </p14:sldIdLst>
        </p14:section>
        <p14:section name="4 · 설계 결정" id="{8bd28a25-a00a-99f1-2400-67691fb7ebdc}">
          <p14:sldIdLst>
            <p14:sldId id="275"/>
            <p14:sldId id="276"/>
            <p14:sldId id="277"/>
            <p14:sldId id="278"/>
            <p14:sldId id="279"/>
            <p14:sldId id="280"/>
          </p14:sldIdLst>
        </p14:section>
        <p14:section name="5 · 쓸 때와 주의점" id="{a6377ae2-2333-3879-83d0-c3d707b9b0af}">
          <p14:sldIdLst>
            <p14:sldId id="281"/>
            <p14:sldId id="282"/>
            <p14:sldId id="283"/>
            <p14:sldId id="284"/>
          </p14:sldIdLst>
        </p14:section>
        <p14:section name="정리" id="{076e31d7-5d10-41a4-9247-1169360c228c}">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오늘은 원서 「서비스 중개자」 장의 순서를 따라갑니다. 게임 곳곳에서 소리를 내는 오디오 시스템을 예로, 구체 클래스를 직접 부르는 코드에서 출발해 중개자, 널 서비스, 로깅 데코레이터, 그리고 설계 결정까지 살펴봅니다.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오늘은 다섯 단계로 진행합니다. 먼저 어디서나 쓰이는 서비스를 직접 부를 때의 문제를 봅니다. 다음으로 중개자를 두어 서비스를 찾는 구조를 만들고, 서비스가 없을 때를 위한 널 서비스와 기록을 덧붙이는 로깅 데코레이터를 봅니다. 마지막으로 원서의 설계 결정과 쓸 때의 주의점을 정리합니다.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원서가 밝히는 이 패턴의 의도는, 서비스를 구현한 구체 클래스와 쓰는 코드를 묶지 않으면서 어디서나 그 서비스에 접근할 수 있는 지점을 제공하는 것입니다. 왼쪽처럼 구체 클래스를 직접 부르면 쓰는 코드가 그 클래스 이름을 압니다. 오른쪽처럼 중개자를 거치면 쓰는 코드는 서비스의 약속만 압니다.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게임에는 거의 모든 곳에서 쓰이는 기능이 있습니다. 오디오가 대표적인 예입니다. 이런 기능을 어떻게 부르는지에서 출발합니다.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세 장면을 듭니다. 바위가 땅에 떨어지며 쿵 하는 소리는 물리 코드가 냅니다. 저격수 NPC가 총을 쏘는 소리는 AI 코드가 냅니다. 메뉴를 고를 때 나는 효과음은 사용자 인터페이스 코드가 냅니다. 서로 관계없는 시스템들이 모두 오디오 시스템을 불러야 합니다. 로깅이나 메모리 관리도 이런 기능입니다.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가장 쉬운 방법은 오디오 시스템을 정적 클래스로 만들거나, 5강에서 배운 싱글턴으로 만들어 어디서나 직접 부르는 것입니다. 원서도 이 두 가지를 먼저 보여 줍니다. 둘 다 원하는 소리를 내는 데는 문제가 없습니다.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원서가 지적하는 문제는 결합입니다. 소리를 내는 모든 곳이 AudioSystem이라는 구체 클래스를 알고, 그 클래스에 접근하는 방법, 즉 정적 메서드인지 싱글턴인지도 압니다. 다른 오디오 구현으로 바꾸거나 소리를 끄고 싶으면, 부르는 곳을 모두 고쳐야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쓰는 코드가 구체 클래스 대신 서비스를 찾아 주는 곳에 물어보도록 바꿉니다.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패턴은 세 역할로 이루어집니다. 서비스는 기능의 약속을 정한 추상 인터페이스입니다. 서비스 제공자는 그 약속을 구현한 구체 클래스입니다. 서비스 중개자는 제공자를 찾아 돌려주면서, 제공자의 구체 타입과 찾는 과정을 숨깁니다. 쓰는 코드는 중개자와 서비스만 압니다.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서비스는 소리를 재생하고, 멈추고, 모든 소리를 멈추는 세 메서드를 가진 인터페이스입니다. 원서는 C++ 추상 클래스로 만들었지만 C#에서는 인터페이스로 옮깁니다. ConsoleAudio는 게임기의 오디오 기능으로 이 약속을 구현합니다. 원서처럼 실제 오디오 코드는 주석으로 남깁니다.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가장 단순한 중개자입니다. 정적 필드 하나에 서비스를 담아 둡니다. Provide는 서비스를 등록하고, GetAudio는 등록된 서비스를 돌려줍니다. 게임을 시작할 때 초기화 코드가 ConsoleAudio를 만들어 등록하고, 소리가 필요한 곳은 어디서나 GetAudio로 서비스를 얻어 부릅니다.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PlaySound를 부르는 코드는 IAudio 인터페이스만 압니다. 중개자인 Locator도 ConsoleAudio를 모릅니다. 구체 클래스를 아는 곳은 서비스를 등록하는 초기화 코드 하나뿐입니다. 원서는 바깥 코드가 필요한 객체를 넣어 주는 이 방식을 의존성 주입이라고 부르며, 중개자와 함께 쓰인다고 설명합니다.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게임이 시작될 때 _service는 아직 비어 있습니다. 초기화 코드가 ConsoleAudio를 등록하면 그때부터 물리 코드와 메뉴 코드가 같은 서비스를 얻어 소리를 냅니다. 두 코드 모두 ConsoleAudio라는 이름을 쓰지 않았다는 점을 확인합니다.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등록 전에 서비스를 찾으면 무엇을 돌려줄지 정합니다. 같은 생각으로 서비스에 기록 기능을 덧붙이는 방법도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Provide보다 GetAudio가 먼저 실행되면 _service는 null이고, PlaySound를 부르는 순간 NullReferenceException이 납니다. 두 코드가 정해진 순서로 실행되어야만 프로그램이 동작하는 상태를 원서는 시간적 결합이라고 부릅니다. 부르는 곳마다 null을 확인하는 방법도 있지만 확인 코드가 곳곳에 늘어납니다.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NullAudio는 IAudio의 약속을 지키지만 아무 일도 하지 않습니다. 2강에서 본 널 객체와 같은 생각입니다. Initialize는 처음부터 널 서비스를 담아 두고, Provide에 null이 들어오면 널 서비스로 되돌립니다. 원서는 포인터 대신 참조를 돌려주어 결과가 null이 아님을 알립니다. C#에서는 Initialize와 Provide가 null이 담기지 않게 지킵니다. Initialize는 누군가 서비스를 쓰기 전에, 게임 시작 때 가장 먼저 부릅니다.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Initialize 뒤에는 _service가 언제나 무언가를 가리킵니다. 등록 전에 소리를 내면 아무 일도 일어나지 않을 뿐 예외는 나지 않습니다. 원서는 덤으로, 개발 중에 오디오를 등록하지 않으면 소리를 쉽게 끌 수 있다고 말합니다. 메모리와 CPU를 아끼고, 디버거로 멈춘 순간 큰 소리가 계속 울리는 일도 막습니다.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개발하다 보면 어떤 소리가 어떤 순서로 재생되는지 기록을 보고 싶을 때가 있습니다. 하지만 기록은 필요한 사람에게만 보여야 하고, 출시 버전에는 없어야 합니다. LoggedAudio는 IAudio를 구현하면서 다른 IAudio를 안에 담습니다. 메서드마다 기록을 남긴 뒤 안에 담은 서비스에 그대로 넘깁니다. 이렇게 같은 약속을 지키며 감싸는 방식을 데코레이터 패턴이라고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EnableAudioLogging은 지금 등록된 서비스를 LoggedAudio로 감싸서 다시 등록합니다. 쓰는 코드는 아무것도 바뀌지 않았는데 모든 소리 호출이 기록됩니다. 감싼 대상이 NullAudio여도 됩니다. 소리를 꺼 둔 채로도 어떤 소리를 내려 했는지 기록을 볼 수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세 가지를 묻습니다. 서비스를 어떻게 찾을지, 찾지 못하면 어떻게 할지, 서비스를 어디까지 보이게 할지입니다.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지금까지는 바깥 코드가 Provide로 등록했습니다. 원서는 다른 방법으로, 어떤 제공자를 쓸지 컴파일할 때 전처리기로 정하는 예를 보여 줍니다. C#의 #if 지시문으로 옮겼습니다. 디버그 빌드와 출시 빌드가 서로 다른 오디오를 씁니다. 실행 중에 등록할 필요가 없으므로 서비스가 반드시 있습니다. 대신 바꾸려면 다시 컴파일해야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바깥 코드가 등록하는 방식은 빠르고 단순하며, 게임기 오디오나 네트워크 주소처럼 제공자를 어떻게 만들지 바깥에서 정할 수 있습니다. 로깅처럼 실행 중에 바꿔 끼울 수도 있습니다. 대신 등록을 잊으면 문제가 생깁니다. 실행 중 설정은 설정 파일과 리플렉션으로 제공자를 고릅니다. 다시 컴파일하지 않고 바꿀 수 있지만 복잡하고 찾는 데 시간이 걸립니다.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첫째는 null을 돌려주고 쓰는 쪽에 처리를 맡기는 방법입니다. 둘째는 중개자가 서비스를 찾았는지 단언으로 확인하고, 못 찾았으면 게임을 멈추는 방법입니다. 셋째는 3부에서 본 널 서비스를 돌려주는 방법입니다.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사용자에게 맡기면 못 찾았을 때 어떻게 할지 쓰는 쪽이 정할 수 있지만, 확인 코드가 곳곳에 반복됩니다. 게임을 멈추면 못 찾은 것이 중개자 쪽의 버그로 분명히 드러나지만, 고칠 때까지 다른 사람도 게임을 실행할 수 없습니다. 원서의 경험으로는 단언이 가장 흔합니다. 출시하는 게임은 충분히 시험하므로 서비스가 있다고 믿을 수 있기 때문입니다. 큰 팀에서는 널 서비스를 권합니다. 서비스 하나가 없어도 다른 사람의 작업이 멈추지 않고, 문제가 있는 서비스를 쉽게 끌 수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지금까지의 Locator는 어디서나 접근할 수 있는 전역이었습니다. 원서는 서비스를 한 기본 클래스와 그 하위 클래스에서만 쓰게 하는 방법도 보여 줍니다. GetAudio를 protected로 두면 하위 클래스만 서비스를 얻을 수 있습니다. 원서의 기준은, 특정 영역에서만 쓰는 서비스는 클래스로 한정하고 로깅처럼 어디서나 쓰는 서비스는 전역에 두라는 것입니다.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전역 접근을 허용하는 패턴이므로 원서는 아껴서 쓰라고 말합니다. 판단 기준과 관련 패턴을 정리합니다.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어디서나 접근할 수 있는 것은 싱글턴과 같은 문제를 낳습니다. 그래서 원서는 먼저 필요한 객체를 그냥 넘겨주는 방법을 생각하라고 말합니다. 로깅이나 메모리 관리처럼 모듈의 공개 API를 어지럽히는 기능, 오디오 장치나 화면처럼 본래 하나뿐인 기능에 이 패턴이 어울립니다. 쓸 때는 서비스를 실제로 찾아야 한다는 점, 서비스는 누가 자신을 찾는지 모르므로 어느 상황에서 불려도 제대로 동작해야 한다는 점을 기억해야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서비스 중개자가 싱글턴과 매우 비슷하다고 말합니다. 싱글턴은 5강에서 배웠습니다. 클래스 한정 범위는 기본 클래스가 하위 클래스에 기능을 제공하는 하위 클래스 샌드박스와 이어지며, 8강에서 배웁니다. 로깅 래퍼는 데코레이터 패턴이고, 바깥 코드가 제공자를 넣어 주는 방식은 의존성 주입입니다.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Unity와 C#에서 중개자의 생각이 보이는 곳입니다. 정적 클래스로 만든 중개자는 오늘 본 Locator 그대로입니다. 원서도 Unity의 GetComponent를 비슷한 예로 듭니다. 게임 오브젝트에 붙은 컴포넌트를 타입으로 찾아 주므로 범위가 한 게임 오브젝트로 한정된 중개자로 볼 수 있습니다. Debug.unityLogger의 logHandler는 로그를 처리하는 객체를 바꿔 끼울 수 있게 열어 둔 접근 지점입니다. Inspector에서 참조를 연결하거나 의존성 주입 도구를 쓰는 것은 찾지 않고 넣어 받는 방식입니다.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답을 가리고 먼저 학생에게 물어본 뒤 확인합니다. 다음 강의는 객체 풀(Object Pool) 패턴입니다.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lstStyle>
            <a:lvl1pPr algn="l" indent="0" marL="0" eaLnBrk="0">
              <a:buNone/>
              <a:defRPr lang="ko-KR" altLang="en-US" sz="4000" b="1" dirty="0">
                <a:solidFill>
                  <a:schemeClr val="bg1"/>
                </a:solidFill>
              </a:defRPr>
            </a:lvl1pPr>
          </a:lstStyle>
          <a:p>
            <a:pPr algn="l" indent="0" marL="0" eaLnBrk="0">
              <a:buNone/>
            </a:pP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1094415" cy="1097280"/>
          </a:xfrm>
          <a:prstGeom prst="rect">
            <a:avLst/>
          </a:prstGeom>
          <a:noFill/>
          <a:ln/>
        </p:spPr>
        <p:txBody>
          <a:bodyPr wrap="square" rtlCol="0"/>
          <a:lstStyle>
            <a:lvl1pPr algn="l" indent="0" marL="0" eaLnBrk="0">
              <a:buNone/>
              <a:defRPr lang="ko-KR" altLang="en-US" sz="3600" b="1" dirty="0">
                <a:solidFill>
                  <a:schemeClr val="bg1"/>
                </a:solidFill>
              </a:defRPr>
            </a:lvl1pPr>
          </a:lstStyle>
          <a:p>
            <a:pPr algn="l" indent="0" marL="0" eaLnBrk="0">
              <a:buNone/>
            </a:pPr>
            <a:endParaRPr lang="ko-KR" altLang="en-US" sz="3600" dirty="0"/>
          </a:p>
        </p:txBody>
      </p:sp>
      <p:sp>
        <p:nvSpPr>
          <p:cNvPr id="3" name="Text 0"/>
          <p:cNvSpPr/>
          <p:nvPr>
            <p:ph idx="101" type="body" hasCustomPrompt="1"/>
          </p:nvPr>
        </p:nvSpPr>
        <p:spPr>
          <a:xfrm>
            <a:off x="548640" y="3794760"/>
            <a:ext cx="11094415" cy="73152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rtlCol="0"/>
          <a:lstStyle>
            <a:lvl1pPr algn="l" indent="0" marL="0" eaLnBrk="0">
              <a:buNone/>
              <a:defRPr lang="ko-KR" altLang="en-US" sz="2600" b="1" dirty="0">
                <a:solidFill>
                  <a:schemeClr val="tx1"/>
                </a:solidFill>
              </a:defRPr>
            </a:lvl1pPr>
          </a:lstStyle>
          <a:p>
            <a:pPr algn="l" indent="0" marL="0" eaLnBrk="0">
              <a:buNone/>
            </a:pPr>
            <a:endParaRPr lang="ko-KR" alt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eaLnBrk="0">
              <a:buNone/>
            </a:pPr>
            <a:r>
              <a:rPr lang="ko-KR" altLang="en-US" sz="1000" dirty="0">
                <a:solidFill>
                  <a:schemeClr val="accent3"/>
                </a:solidFill>
              </a:rPr>
              <a:t>11강 · 서비스 중개자(Service Locator) 패턴</a:t>
            </a:r>
            <a:endParaRPr lang="ko-KR" alt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eaLnBrk="0">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nchor="b"/>
          <a:lstStyle/>
          <a:p>
            <a:pPr algn="l" indent="0" marL="0" eaLnBrk="0">
              <a:buNone/>
            </a:pPr>
            <a:r>
              <a:rPr lang="ko-KR" altLang="en-US" sz="4000" b="1" dirty="0">
                <a:solidFill>
                  <a:schemeClr val="bg1"/>
                </a:solidFill>
              </a:rPr>
              <a:t>11강 · 서비스 중개자(Service Locator) 패턴</a:t>
            </a: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nchor="t"/>
          <a:lstStyle/>
          <a:p>
            <a:pPr indent="0" marL="0" eaLnBrk="0">
              <a:buNone/>
            </a:pPr>
            <a:r>
              <a:rPr lang="ko-KR" altLang="en-US" sz="1800" dirty="0">
                <a:solidFill>
                  <a:schemeClr val="accent3"/>
                </a:solidFill>
              </a:rPr>
              <a:t>서비스를 쓰는 코드와 구현한 클래스 사이에</a:t>
            </a:r>
            <a:endParaRPr lang="ko-KR" altLang="en-US" sz="1800" dirty="0"/>
          </a:p>
          <a:p>
            <a:pPr indent="0" marL="0" eaLnBrk="0">
              <a:buNone/>
            </a:pPr>
            <a:r>
              <a:rPr lang="ko-KR" altLang="en-US" sz="1800" dirty="0">
                <a:solidFill>
                  <a:schemeClr val="accent3"/>
                </a:solidFill>
              </a:rPr>
              <a:t>서비스를 찾아 주는 곳을 하나 둔다</a:t>
            </a:r>
            <a:endParaRPr lang="ko-KR" altLang="en-US" sz="1800" dirty="0"/>
          </a:p>
          <a:p>
            <a:pPr indent="0" marL="0" eaLnBrk="0">
              <a:buNone/>
            </a:pPr>
            <a:endParaRPr lang="ko-KR" altLang="en-US" sz="1800" dirty="0"/>
          </a:p>
          <a:p>
            <a:pPr indent="0" marL="0" eaLnBrk="0">
              <a:buNone/>
            </a:pPr>
            <a:r>
              <a:rPr lang="ko-KR" altLang="en-US" sz="1800" dirty="0">
                <a:solidFill>
                  <a:schemeClr val="accent3"/>
                </a:solidFill>
              </a:rPr>
              <a:t>교재: 로버트 나이스트롬, 『게임 프로그래밍 패턴』</a:t>
            </a:r>
            <a:endParaRPr lang="ko-KR" altLang="en-US" sz="1800" dirty="0"/>
          </a:p>
          <a:p>
            <a:pPr indent="0" marL="0" eaLnBrk="0">
              <a:buNone/>
            </a:pPr>
            <a:r>
              <a:rPr lang="ko-KR" altLang="en-US" sz="1800" dirty="0">
                <a:solidFill>
                  <a:schemeClr val="accent3"/>
                </a:solidFill>
              </a:rPr>
              <a:t>「서비스 중개자」 장</a:t>
            </a:r>
            <a:endParaRPr lang="ko-KR" alt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오늘의 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어디서나 부르는 서비스를 구체 클래스와 떼어 놓기까지</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먼저, 서비스 중개자 패턴은 한 문장으로 무엇일까?</a:t>
            </a:r>
            <a:endParaRPr lang="ko-KR" altLang="en-US" sz="1500" dirty="0"/>
          </a:p>
        </p:txBody>
      </p:sp>
      <p:sp>
        <p:nvSpPr>
          <p:cNvPr id="6" name="card"/>
          <p:cNvSpPr/>
          <p:nvPr/>
        </p:nvSpPr>
        <p:spPr>
          <a:xfrm>
            <a:off x="548640" y="1828800"/>
            <a:ext cx="2057400" cy="2103120"/>
          </a:xfrm>
          <a:prstGeom prst="roundRect">
            <a:avLst>
              <a:gd name="adj" fmla="val 4444"/>
            </a:avLst>
          </a:prstGeom>
          <a:solidFill>
            <a:schemeClr val="bg2"/>
          </a:solidFill>
          <a:ln w="12700">
            <a:solidFill>
              <a:schemeClr val="bg2"/>
            </a:solidFill>
            <a:prstDash val="solid"/>
          </a:ln>
        </p:spPr>
      </p:sp>
      <p:sp>
        <p:nvSpPr>
          <p:cNvPr id="7" name="Shape 4"/>
          <p:cNvSpPr/>
          <p:nvPr/>
        </p:nvSpPr>
        <p:spPr>
          <a:xfrm>
            <a:off x="777240" y="202996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777240"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어디서나 쓰이는</a:t>
            </a:r>
            <a:endParaRPr lang="ko-KR" altLang="en-US" sz="1500" dirty="0"/>
          </a:p>
          <a:p>
            <a:pPr indent="0" marL="0" eaLnBrk="0">
              <a:buNone/>
            </a:pPr>
            <a:r>
              <a:rPr lang="ko-KR" altLang="en-US" sz="1500" b="1" dirty="0">
                <a:solidFill>
                  <a:schemeClr val="tx1"/>
                </a:solidFill>
              </a:rPr>
              <a:t>서비스</a:t>
            </a:r>
            <a:endParaRPr lang="ko-KR" altLang="en-US" sz="1500" dirty="0"/>
          </a:p>
        </p:txBody>
      </p:sp>
      <p:sp>
        <p:nvSpPr>
          <p:cNvPr id="10" name="Text 7"/>
          <p:cNvSpPr txBox="1"/>
          <p:nvPr/>
        </p:nvSpPr>
        <p:spPr>
          <a:xfrm>
            <a:off x="777240"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구체 클래스에 묶인다</a:t>
            </a:r>
            <a:endParaRPr lang="ko-KR" altLang="en-US" sz="1300" dirty="0"/>
          </a:p>
        </p:txBody>
      </p:sp>
      <p:sp>
        <p:nvSpPr>
          <p:cNvPr id="11" name="Shape 8"/>
          <p:cNvSpPr/>
          <p:nvPr/>
        </p:nvSpPr>
        <p:spPr>
          <a:xfrm>
            <a:off x="2651760" y="2880360"/>
            <a:ext cx="110414" cy="914"/>
          </a:xfrm>
          <a:prstGeom prst="line">
            <a:avLst/>
          </a:prstGeom>
          <a:noFill/>
          <a:ln w="22225">
            <a:solidFill>
              <a:schemeClr val="accent3"/>
            </a:solidFill>
            <a:prstDash val="solid"/>
            <a:tailEnd type="triangle"/>
          </a:ln>
        </p:spPr>
      </p:sp>
      <p:sp>
        <p:nvSpPr>
          <p:cNvPr id="12" name="card"/>
          <p:cNvSpPr/>
          <p:nvPr/>
        </p:nvSpPr>
        <p:spPr>
          <a:xfrm>
            <a:off x="2807894" y="1828800"/>
            <a:ext cx="2057400" cy="2103120"/>
          </a:xfrm>
          <a:prstGeom prst="roundRect">
            <a:avLst>
              <a:gd name="adj" fmla="val 4444"/>
            </a:avLst>
          </a:prstGeom>
          <a:solidFill>
            <a:schemeClr val="bg2"/>
          </a:solidFill>
          <a:ln w="12700">
            <a:solidFill>
              <a:schemeClr val="bg2"/>
            </a:solidFill>
            <a:prstDash val="solid"/>
          </a:ln>
        </p:spPr>
      </p:sp>
      <p:sp>
        <p:nvSpPr>
          <p:cNvPr id="13" name="Shape 10"/>
          <p:cNvSpPr/>
          <p:nvPr/>
        </p:nvSpPr>
        <p:spPr>
          <a:xfrm>
            <a:off x="3036494" y="2029968"/>
            <a:ext cx="420624" cy="420624"/>
          </a:xfrm>
          <a:prstGeom prst="ellipse">
            <a:avLst/>
          </a:prstGeom>
          <a:solidFill>
            <a:schemeClr val="accent1"/>
          </a:solidFill>
          <a:ln w="12700">
            <a:solidFill>
              <a:schemeClr val="accent1"/>
            </a:solidFill>
            <a:prstDash val="solid"/>
          </a:ln>
        </p:spPr>
      </p:sp>
      <p:sp>
        <p:nvSpPr>
          <p:cNvPr id="14" name="Text 11"/>
          <p:cNvSpPr txBox="1"/>
          <p:nvPr/>
        </p:nvSpPr>
        <p:spPr>
          <a:xfrm>
            <a:off x="3036494"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5" name="Text 12"/>
          <p:cNvSpPr txBox="1"/>
          <p:nvPr/>
        </p:nvSpPr>
        <p:spPr>
          <a:xfrm>
            <a:off x="3036494"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중개자로</a:t>
            </a:r>
            <a:endParaRPr lang="ko-KR" altLang="en-US" sz="1500" dirty="0"/>
          </a:p>
          <a:p>
            <a:pPr indent="0" marL="0" eaLnBrk="0">
              <a:buNone/>
            </a:pPr>
            <a:r>
              <a:rPr lang="ko-KR" altLang="en-US" sz="1500" b="1" dirty="0">
                <a:solidFill>
                  <a:schemeClr val="tx1"/>
                </a:solidFill>
              </a:rPr>
              <a:t>서비스 찾기</a:t>
            </a:r>
            <a:endParaRPr lang="ko-KR" altLang="en-US" sz="1500" dirty="0"/>
          </a:p>
        </p:txBody>
      </p:sp>
      <p:sp>
        <p:nvSpPr>
          <p:cNvPr id="16" name="Text 13"/>
          <p:cNvSpPr txBox="1"/>
          <p:nvPr/>
        </p:nvSpPr>
        <p:spPr>
          <a:xfrm>
            <a:off x="3036494"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서비스, 제공자, 중개자</a:t>
            </a:r>
            <a:endParaRPr lang="ko-KR" altLang="en-US" sz="1300" dirty="0"/>
          </a:p>
        </p:txBody>
      </p:sp>
      <p:sp>
        <p:nvSpPr>
          <p:cNvPr id="17" name="Shape 14"/>
          <p:cNvSpPr/>
          <p:nvPr/>
        </p:nvSpPr>
        <p:spPr>
          <a:xfrm>
            <a:off x="4911014" y="2880360"/>
            <a:ext cx="110414" cy="914"/>
          </a:xfrm>
          <a:prstGeom prst="line">
            <a:avLst/>
          </a:prstGeom>
          <a:noFill/>
          <a:ln w="22225">
            <a:solidFill>
              <a:schemeClr val="accent3"/>
            </a:solidFill>
            <a:prstDash val="solid"/>
            <a:tailEnd type="triangle"/>
          </a:ln>
        </p:spPr>
      </p:sp>
      <p:sp>
        <p:nvSpPr>
          <p:cNvPr id="18" name="card"/>
          <p:cNvSpPr/>
          <p:nvPr/>
        </p:nvSpPr>
        <p:spPr>
          <a:xfrm>
            <a:off x="5067148" y="1828800"/>
            <a:ext cx="2057400" cy="2103120"/>
          </a:xfrm>
          <a:prstGeom prst="roundRect">
            <a:avLst>
              <a:gd name="adj" fmla="val 4444"/>
            </a:avLst>
          </a:prstGeom>
          <a:solidFill>
            <a:schemeClr val="bg2"/>
          </a:solidFill>
          <a:ln w="12700">
            <a:solidFill>
              <a:schemeClr val="bg2"/>
            </a:solidFill>
            <a:prstDash val="solid"/>
          </a:ln>
        </p:spPr>
      </p:sp>
      <p:sp>
        <p:nvSpPr>
          <p:cNvPr id="19" name="Shape 16"/>
          <p:cNvSpPr/>
          <p:nvPr/>
        </p:nvSpPr>
        <p:spPr>
          <a:xfrm>
            <a:off x="5295748" y="2029968"/>
            <a:ext cx="420624" cy="420624"/>
          </a:xfrm>
          <a:prstGeom prst="ellipse">
            <a:avLst/>
          </a:prstGeom>
          <a:solidFill>
            <a:schemeClr val="accent1"/>
          </a:solidFill>
          <a:ln w="12700">
            <a:solidFill>
              <a:schemeClr val="accent1"/>
            </a:solidFill>
            <a:prstDash val="solid"/>
          </a:ln>
        </p:spPr>
      </p:sp>
      <p:sp>
        <p:nvSpPr>
          <p:cNvPr id="20" name="Text 17"/>
          <p:cNvSpPr txBox="1"/>
          <p:nvPr/>
        </p:nvSpPr>
        <p:spPr>
          <a:xfrm>
            <a:off x="5295748"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1" name="Text 18"/>
          <p:cNvSpPr txBox="1"/>
          <p:nvPr/>
        </p:nvSpPr>
        <p:spPr>
          <a:xfrm>
            <a:off x="5295748"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서비스가</a:t>
            </a:r>
            <a:endParaRPr lang="ko-KR" altLang="en-US" sz="1500" dirty="0"/>
          </a:p>
          <a:p>
            <a:pPr indent="0" marL="0" eaLnBrk="0">
              <a:buNone/>
            </a:pPr>
            <a:r>
              <a:rPr lang="ko-KR" altLang="en-US" sz="1500" b="1" dirty="0">
                <a:solidFill>
                  <a:schemeClr val="tx1"/>
                </a:solidFill>
              </a:rPr>
              <a:t>없을 때</a:t>
            </a:r>
            <a:endParaRPr lang="ko-KR" altLang="en-US" sz="1500" dirty="0"/>
          </a:p>
        </p:txBody>
      </p:sp>
      <p:sp>
        <p:nvSpPr>
          <p:cNvPr id="22" name="Text 19"/>
          <p:cNvSpPr txBox="1"/>
          <p:nvPr/>
        </p:nvSpPr>
        <p:spPr>
          <a:xfrm>
            <a:off x="5295748"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널 서비스와 로깅 데코레이터</a:t>
            </a:r>
            <a:endParaRPr lang="ko-KR" altLang="en-US" sz="1300" dirty="0"/>
          </a:p>
        </p:txBody>
      </p:sp>
      <p:sp>
        <p:nvSpPr>
          <p:cNvPr id="23" name="Shape 20"/>
          <p:cNvSpPr/>
          <p:nvPr/>
        </p:nvSpPr>
        <p:spPr>
          <a:xfrm>
            <a:off x="7170268" y="2880360"/>
            <a:ext cx="110414" cy="914"/>
          </a:xfrm>
          <a:prstGeom prst="line">
            <a:avLst/>
          </a:prstGeom>
          <a:noFill/>
          <a:ln w="22225">
            <a:solidFill>
              <a:schemeClr val="accent3"/>
            </a:solidFill>
            <a:prstDash val="solid"/>
            <a:tailEnd type="triangle"/>
          </a:ln>
        </p:spPr>
      </p:sp>
      <p:sp>
        <p:nvSpPr>
          <p:cNvPr id="24" name="card"/>
          <p:cNvSpPr/>
          <p:nvPr/>
        </p:nvSpPr>
        <p:spPr>
          <a:xfrm>
            <a:off x="7326401" y="1828800"/>
            <a:ext cx="2057400" cy="2103120"/>
          </a:xfrm>
          <a:prstGeom prst="roundRect">
            <a:avLst>
              <a:gd name="adj" fmla="val 4444"/>
            </a:avLst>
          </a:prstGeom>
          <a:solidFill>
            <a:schemeClr val="bg2"/>
          </a:solidFill>
          <a:ln w="12700">
            <a:solidFill>
              <a:schemeClr val="bg2"/>
            </a:solidFill>
            <a:prstDash val="solid"/>
          </a:ln>
        </p:spPr>
      </p:sp>
      <p:sp>
        <p:nvSpPr>
          <p:cNvPr id="25" name="Shape 22"/>
          <p:cNvSpPr/>
          <p:nvPr/>
        </p:nvSpPr>
        <p:spPr>
          <a:xfrm>
            <a:off x="7555001" y="2029968"/>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7555001"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7" name="Text 24"/>
          <p:cNvSpPr txBox="1"/>
          <p:nvPr/>
        </p:nvSpPr>
        <p:spPr>
          <a:xfrm>
            <a:off x="7555001"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설계 결정</a:t>
            </a:r>
            <a:endParaRPr lang="ko-KR" altLang="en-US" sz="1500" dirty="0"/>
          </a:p>
        </p:txBody>
      </p:sp>
      <p:sp>
        <p:nvSpPr>
          <p:cNvPr id="28" name="Text 25"/>
          <p:cNvSpPr txBox="1"/>
          <p:nvPr/>
        </p:nvSpPr>
        <p:spPr>
          <a:xfrm>
            <a:off x="7555001"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찾는 방법, 실패 처리, 범위</a:t>
            </a:r>
            <a:endParaRPr lang="ko-KR" altLang="en-US" sz="1300" dirty="0"/>
          </a:p>
        </p:txBody>
      </p:sp>
      <p:sp>
        <p:nvSpPr>
          <p:cNvPr id="29" name="Shape 26"/>
          <p:cNvSpPr/>
          <p:nvPr/>
        </p:nvSpPr>
        <p:spPr>
          <a:xfrm>
            <a:off x="9429521" y="2880360"/>
            <a:ext cx="110414" cy="914"/>
          </a:xfrm>
          <a:prstGeom prst="line">
            <a:avLst/>
          </a:prstGeom>
          <a:noFill/>
          <a:ln w="22225">
            <a:solidFill>
              <a:schemeClr val="accent3"/>
            </a:solidFill>
            <a:prstDash val="solid"/>
            <a:tailEnd type="triangle"/>
          </a:ln>
        </p:spPr>
      </p:sp>
      <p:sp>
        <p:nvSpPr>
          <p:cNvPr id="30" name="card"/>
          <p:cNvSpPr/>
          <p:nvPr/>
        </p:nvSpPr>
        <p:spPr>
          <a:xfrm>
            <a:off x="9585655" y="1828800"/>
            <a:ext cx="2057400" cy="2103120"/>
          </a:xfrm>
          <a:prstGeom prst="roundRect">
            <a:avLst>
              <a:gd name="adj" fmla="val 4444"/>
            </a:avLst>
          </a:prstGeom>
          <a:solidFill>
            <a:schemeClr val="bg2"/>
          </a:solidFill>
          <a:ln w="12700">
            <a:solidFill>
              <a:schemeClr val="bg2"/>
            </a:solidFill>
            <a:prstDash val="solid"/>
          </a:ln>
        </p:spPr>
      </p:sp>
      <p:sp>
        <p:nvSpPr>
          <p:cNvPr id="31" name="Shape 28"/>
          <p:cNvSpPr/>
          <p:nvPr/>
        </p:nvSpPr>
        <p:spPr>
          <a:xfrm>
            <a:off x="9814255" y="2029968"/>
            <a:ext cx="420624" cy="420624"/>
          </a:xfrm>
          <a:prstGeom prst="ellipse">
            <a:avLst/>
          </a:prstGeom>
          <a:solidFill>
            <a:schemeClr val="accent1"/>
          </a:solidFill>
          <a:ln w="12700">
            <a:solidFill>
              <a:schemeClr val="accent1"/>
            </a:solidFill>
            <a:prstDash val="solid"/>
          </a:ln>
        </p:spPr>
      </p:sp>
      <p:sp>
        <p:nvSpPr>
          <p:cNvPr id="32" name="Text 29"/>
          <p:cNvSpPr txBox="1"/>
          <p:nvPr/>
        </p:nvSpPr>
        <p:spPr>
          <a:xfrm>
            <a:off x="9814255"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5</a:t>
            </a:r>
            <a:endParaRPr lang="ko-KR" altLang="en-US" sz="1500" dirty="0"/>
          </a:p>
        </p:txBody>
      </p:sp>
      <p:sp>
        <p:nvSpPr>
          <p:cNvPr id="33" name="Text 30"/>
          <p:cNvSpPr txBox="1"/>
          <p:nvPr/>
        </p:nvSpPr>
        <p:spPr>
          <a:xfrm>
            <a:off x="9814255"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쓸 때와 주의점</a:t>
            </a:r>
            <a:endParaRPr lang="ko-KR" altLang="en-US" sz="1500" dirty="0"/>
          </a:p>
        </p:txBody>
      </p:sp>
      <p:sp>
        <p:nvSpPr>
          <p:cNvPr id="34" name="Text 31"/>
          <p:cNvSpPr txBox="1"/>
          <p:nvPr/>
        </p:nvSpPr>
        <p:spPr>
          <a:xfrm>
            <a:off x="9814255"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관련 패턴, Unity 대응</a:t>
            </a:r>
            <a:endParaRPr lang="ko-KR" altLang="en-US" sz="1300" dirty="0"/>
          </a:p>
        </p:txBody>
      </p:sp>
      <p:sp>
        <p:nvSpPr>
          <p:cNvPr id="35" name="Text 32"/>
          <p:cNvSpPr txBox="1"/>
          <p:nvPr/>
        </p:nvSpPr>
        <p:spPr>
          <a:xfrm>
            <a:off x="548640" y="4434840"/>
            <a:ext cx="11094415" cy="548640"/>
          </a:xfrm>
          <a:prstGeom prst="rect">
            <a:avLst/>
          </a:prstGeom>
          <a:noFill/>
          <a:ln/>
        </p:spPr>
        <p:txBody>
          <a:bodyPr wrap="square" lIns="0" tIns="0" rIns="0" bIns="0" rtlCol="0" anchor="t"/>
          <a:lstStyle/>
          <a:p>
            <a:pPr indent="0" marL="0" eaLnBrk="0">
              <a:buNone/>
            </a:pPr>
            <a:r>
              <a:rPr lang="ko-KR" altLang="en-US" sz="1600" dirty="0">
                <a:solidFill>
                  <a:schemeClr val="tx2"/>
                </a:solidFill>
              </a:rPr>
              <a:t>오늘 예제는 원서와 같다: 물리, AI, 메뉴 화면 등 게임 곳곳에서 소리를 내는 오디오 시스템.</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정의</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서비스를 찾아 주는 곳을 두어, 쓰는 코드가 구현 클래스를 모르게 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왜 구현 클래스를 몰라야 할까? 어디서나 쓰이는 오디오부터 보자.</a:t>
            </a:r>
            <a:endParaRPr lang="ko-KR" altLang="en-US" sz="1500" dirty="0"/>
          </a:p>
        </p:txBody>
      </p:sp>
      <p:sp>
        <p:nvSpPr>
          <p:cNvPr id="6" name="Shape 3"/>
          <p:cNvSpPr/>
          <p:nvPr/>
        </p:nvSpPr>
        <p:spPr>
          <a:xfrm>
            <a:off x="548640" y="1783080"/>
            <a:ext cx="5029200" cy="2377440"/>
          </a:xfrm>
          <a:prstGeom prst="roundRect">
            <a:avLst>
              <a:gd name="adj" fmla="val 3846"/>
            </a:avLst>
          </a:prstGeom>
          <a:solidFill>
            <a:schemeClr val="bg2"/>
          </a:solidFill>
          <a:ln w="12700">
            <a:solidFill>
              <a:schemeClr val="bg2"/>
            </a:solidFill>
            <a:prstDash val="solid"/>
          </a:ln>
        </p:spPr>
      </p:sp>
      <p:sp>
        <p:nvSpPr>
          <p:cNvPr id="7" name="Text 4"/>
          <p:cNvSpPr txBox="1"/>
          <p:nvPr/>
        </p:nvSpPr>
        <p:spPr>
          <a:xfrm>
            <a:off x="822960" y="1965960"/>
            <a:ext cx="4480560" cy="411480"/>
          </a:xfrm>
          <a:prstGeom prst="rect">
            <a:avLst/>
          </a:prstGeom>
          <a:noFill/>
          <a:ln/>
        </p:spPr>
        <p:txBody>
          <a:bodyPr wrap="square" lIns="0" tIns="0" rIns="0" bIns="0" rtlCol="0" anchor="t"/>
          <a:lstStyle/>
          <a:p>
            <a:pPr indent="0" marL="0" eaLnBrk="0">
              <a:buNone/>
            </a:pPr>
            <a:r>
              <a:rPr lang="ko-KR" altLang="en-US" sz="1800" b="1" dirty="0">
                <a:solidFill>
                  <a:schemeClr val="accent6"/>
                </a:solidFill>
              </a:rPr>
              <a:t>구체 클래스를 직접 부르기</a:t>
            </a:r>
            <a:endParaRPr lang="ko-KR" altLang="en-US" sz="1800" dirty="0"/>
          </a:p>
        </p:txBody>
      </p:sp>
      <p:sp>
        <p:nvSpPr>
          <p:cNvPr id="8" name="codePanel"/>
          <p:cNvSpPr/>
          <p:nvPr/>
        </p:nvSpPr>
        <p:spPr>
          <a:xfrm>
            <a:off x="822960" y="2514600"/>
            <a:ext cx="4480560" cy="548640"/>
          </a:xfrm>
          <a:prstGeom prst="roundRect">
            <a:avLst>
              <a:gd name="adj" fmla="val 13333"/>
            </a:avLst>
          </a:prstGeom>
          <a:solidFill>
            <a:schemeClr val="tx1"/>
          </a:solidFill>
          <a:ln w="12700">
            <a:solidFill>
              <a:schemeClr val="tx1"/>
            </a:solidFill>
            <a:prstDash val="solid"/>
          </a:ln>
        </p:spPr>
      </p:sp>
      <p:sp>
        <p:nvSpPr>
          <p:cNvPr id="9" name="code"/>
          <p:cNvSpPr txBox="1"/>
          <p:nvPr/>
        </p:nvSpPr>
        <p:spPr>
          <a:xfrm>
            <a:off x="932688" y="2606040"/>
            <a:ext cx="4261104" cy="36576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AudioSystem.Instance.PlaySound(id);</a:t>
            </a:r>
            <a:endParaRPr lang="ko-KR" altLang="en-US" sz="1400" dirty="0"/>
          </a:p>
        </p:txBody>
      </p:sp>
      <p:sp>
        <p:nvSpPr>
          <p:cNvPr id="10" name="Text 7"/>
          <p:cNvSpPr txBox="1"/>
          <p:nvPr/>
        </p:nvSpPr>
        <p:spPr>
          <a:xfrm>
            <a:off x="822960" y="3246120"/>
            <a:ext cx="4480560"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쓰는 코드가 구체 클래스의 이름과 찾는 방법을 모두 안다.</a:t>
            </a:r>
            <a:endParaRPr lang="ko-KR" altLang="en-US" sz="1400" dirty="0"/>
          </a:p>
        </p:txBody>
      </p:sp>
      <p:sp>
        <p:nvSpPr>
          <p:cNvPr id="11" name="Shape 8"/>
          <p:cNvSpPr/>
          <p:nvPr/>
        </p:nvSpPr>
        <p:spPr>
          <a:xfrm>
            <a:off x="5715000" y="2971800"/>
            <a:ext cx="640080" cy="914"/>
          </a:xfrm>
          <a:prstGeom prst="line">
            <a:avLst/>
          </a:prstGeom>
          <a:noFill/>
          <a:ln w="31750">
            <a:solidFill>
              <a:schemeClr val="accent1"/>
            </a:solidFill>
            <a:prstDash val="solid"/>
            <a:tailEnd type="triangle"/>
          </a:ln>
        </p:spPr>
      </p:sp>
      <p:sp>
        <p:nvSpPr>
          <p:cNvPr id="12" name="Shape 9"/>
          <p:cNvSpPr/>
          <p:nvPr/>
        </p:nvSpPr>
        <p:spPr>
          <a:xfrm>
            <a:off x="6492240" y="1783080"/>
            <a:ext cx="5150815" cy="2377440"/>
          </a:xfrm>
          <a:prstGeom prst="roundRect">
            <a:avLst>
              <a:gd name="adj" fmla="val 3846"/>
            </a:avLst>
          </a:prstGeom>
          <a:solidFill>
            <a:schemeClr val="bg2"/>
          </a:solidFill>
          <a:ln w="12700">
            <a:solidFill>
              <a:schemeClr val="bg2"/>
            </a:solidFill>
            <a:prstDash val="solid"/>
          </a:ln>
        </p:spPr>
      </p:sp>
      <p:sp>
        <p:nvSpPr>
          <p:cNvPr id="13" name="Text 10"/>
          <p:cNvSpPr txBox="1"/>
          <p:nvPr/>
        </p:nvSpPr>
        <p:spPr>
          <a:xfrm>
            <a:off x="6766560" y="1965960"/>
            <a:ext cx="4602175" cy="411480"/>
          </a:xfrm>
          <a:prstGeom prst="rect">
            <a:avLst/>
          </a:prstGeom>
          <a:noFill/>
          <a:ln/>
        </p:spPr>
        <p:txBody>
          <a:bodyPr wrap="square" lIns="0" tIns="0" rIns="0" bIns="0" rtlCol="0" anchor="t"/>
          <a:lstStyle/>
          <a:p>
            <a:pPr indent="0" marL="0" eaLnBrk="0">
              <a:buNone/>
            </a:pPr>
            <a:r>
              <a:rPr lang="ko-KR" altLang="en-US" sz="1800" b="1" dirty="0">
                <a:solidFill>
                  <a:schemeClr val="accent2"/>
                </a:solidFill>
              </a:rPr>
              <a:t>중개자를 거쳐 부르기</a:t>
            </a:r>
            <a:endParaRPr lang="ko-KR" altLang="en-US" sz="1800" dirty="0"/>
          </a:p>
        </p:txBody>
      </p:sp>
      <p:sp>
        <p:nvSpPr>
          <p:cNvPr id="14" name="codePanel"/>
          <p:cNvSpPr/>
          <p:nvPr/>
        </p:nvSpPr>
        <p:spPr>
          <a:xfrm>
            <a:off x="6766560" y="2514600"/>
            <a:ext cx="4602175" cy="548640"/>
          </a:xfrm>
          <a:prstGeom prst="roundRect">
            <a:avLst>
              <a:gd name="adj" fmla="val 13333"/>
            </a:avLst>
          </a:prstGeom>
          <a:solidFill>
            <a:schemeClr val="tx1"/>
          </a:solidFill>
          <a:ln w="12700">
            <a:solidFill>
              <a:schemeClr val="tx1"/>
            </a:solidFill>
            <a:prstDash val="solid"/>
          </a:ln>
        </p:spPr>
      </p:sp>
      <p:sp>
        <p:nvSpPr>
          <p:cNvPr id="15" name="code"/>
          <p:cNvSpPr txBox="1"/>
          <p:nvPr/>
        </p:nvSpPr>
        <p:spPr>
          <a:xfrm>
            <a:off x="6876288" y="2606040"/>
            <a:ext cx="4382719" cy="36576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Locator.GetAudio().PlaySound(id);</a:t>
            </a:r>
            <a:endParaRPr lang="ko-KR" altLang="en-US" sz="1400" dirty="0"/>
          </a:p>
        </p:txBody>
      </p:sp>
      <p:sp>
        <p:nvSpPr>
          <p:cNvPr id="16" name="Text 13"/>
          <p:cNvSpPr txBox="1"/>
          <p:nvPr/>
        </p:nvSpPr>
        <p:spPr>
          <a:xfrm>
            <a:off x="6766560" y="3246120"/>
            <a:ext cx="460217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쓰는 코드는 서비스의 약속만 안다. 어떤 구현이 들어 있는지는 등록하는 한 곳이 정한다.</a:t>
            </a:r>
            <a:endParaRPr lang="ko-KR" altLang="en-US" sz="1400" dirty="0"/>
          </a:p>
        </p:txBody>
      </p:sp>
      <p:sp>
        <p:nvSpPr>
          <p:cNvPr id="17" name="box"/>
          <p:cNvSpPr/>
          <p:nvPr/>
        </p:nvSpPr>
        <p:spPr>
          <a:xfrm>
            <a:off x="548640" y="4480560"/>
            <a:ext cx="11094415" cy="1051560"/>
          </a:xfrm>
          <a:prstGeom prst="roundRect">
            <a:avLst>
              <a:gd name="adj" fmla="val 6957"/>
            </a:avLst>
          </a:prstGeom>
          <a:solidFill>
            <a:schemeClr val="tx2"/>
          </a:solidFill>
          <a:ln w="12700">
            <a:solidFill>
              <a:schemeClr val="tx2"/>
            </a:solidFill>
            <a:prstDash val="solid"/>
          </a:ln>
        </p:spPr>
      </p:sp>
      <p:sp>
        <p:nvSpPr>
          <p:cNvPr id="18" name="Text 15"/>
          <p:cNvSpPr txBox="1"/>
          <p:nvPr/>
        </p:nvSpPr>
        <p:spPr>
          <a:xfrm>
            <a:off x="548640" y="4480560"/>
            <a:ext cx="11094415" cy="1051560"/>
          </a:xfrm>
          <a:prstGeom prst="rect">
            <a:avLst/>
          </a:prstGeom>
          <a:noFill/>
          <a:ln/>
        </p:spPr>
        <p:txBody>
          <a:bodyPr wrap="square" lIns="635" tIns="635" rIns="635" bIns="635" rtlCol="0" anchor="ctr"/>
          <a:lstStyle/>
          <a:p>
            <a:pPr algn="ctr" indent="0" marL="0" eaLnBrk="0">
              <a:buNone/>
            </a:pPr>
            <a:r>
              <a:rPr lang="ko-KR" altLang="en-US" sz="1700" dirty="0">
                <a:solidFill>
                  <a:schemeClr val="bg1"/>
                </a:solidFill>
              </a:rPr>
              <a:t>원서의 의도: 서비스를 구현한 구체 클래스와 쓰는 코드를 묶지 않으면서, 어디서나 그 서비스에 접근할 수 있는 지점을 제공한다.</a:t>
            </a:r>
            <a:endParaRPr lang="ko-KR" alt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1부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어디서나 쓰이는 서비스</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동기</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문제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소리는 게임 곳곳에서 필요하다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이렇게 여러 곳에서 쓰는 기능을 가장 쉽게 부르는 방법은 무엇일까?</a:t>
            </a:r>
            <a:endParaRPr lang="ko-KR" altLang="en-US" sz="1500" dirty="0"/>
          </a:p>
        </p:txBody>
      </p:sp>
      <p:sp>
        <p:nvSpPr>
          <p:cNvPr id="6" name="Shape 3"/>
          <p:cNvSpPr/>
          <p:nvPr/>
        </p:nvSpPr>
        <p:spPr>
          <a:xfrm>
            <a:off x="548640" y="1737360"/>
            <a:ext cx="3931920" cy="960120"/>
          </a:xfrm>
          <a:prstGeom prst="roundRect">
            <a:avLst>
              <a:gd name="adj" fmla="val 7619"/>
            </a:avLst>
          </a:prstGeom>
          <a:solidFill>
            <a:schemeClr val="bg2"/>
          </a:solidFill>
          <a:ln w="12700">
            <a:solidFill>
              <a:schemeClr val="bg2"/>
            </a:solidFill>
            <a:prstDash val="solid"/>
          </a:ln>
        </p:spPr>
      </p:sp>
      <p:sp>
        <p:nvSpPr>
          <p:cNvPr id="7" name="Text 4"/>
          <p:cNvSpPr txBox="1"/>
          <p:nvPr/>
        </p:nvSpPr>
        <p:spPr>
          <a:xfrm>
            <a:off x="777240" y="1847088"/>
            <a:ext cx="3474720"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물리</a:t>
            </a:r>
            <a:endParaRPr lang="ko-KR" altLang="en-US" sz="1600" dirty="0"/>
          </a:p>
        </p:txBody>
      </p:sp>
      <p:sp>
        <p:nvSpPr>
          <p:cNvPr id="8" name="Text 5"/>
          <p:cNvSpPr txBox="1"/>
          <p:nvPr/>
        </p:nvSpPr>
        <p:spPr>
          <a:xfrm>
            <a:off x="777240" y="2240280"/>
            <a:ext cx="3474720" cy="365760"/>
          </a:xfrm>
          <a:prstGeom prst="rect">
            <a:avLst/>
          </a:prstGeom>
          <a:noFill/>
          <a:ln/>
        </p:spPr>
        <p:txBody>
          <a:bodyPr wrap="square" lIns="0" tIns="0" rIns="0" bIns="0" rtlCol="0" anchor="t"/>
          <a:lstStyle/>
          <a:p>
            <a:pPr indent="0" marL="0" eaLnBrk="0">
              <a:buNone/>
            </a:pPr>
            <a:r>
              <a:rPr lang="ko-KR" altLang="en-US" sz="1300" dirty="0">
                <a:solidFill>
                  <a:schemeClr val="accent5"/>
                </a:solidFill>
              </a:rPr>
              <a:t>바위가 땅에 떨어지는 소리</a:t>
            </a:r>
            <a:endParaRPr lang="ko-KR" altLang="en-US" sz="1300" dirty="0"/>
          </a:p>
        </p:txBody>
      </p:sp>
      <p:sp>
        <p:nvSpPr>
          <p:cNvPr id="9" name="Shape 6"/>
          <p:cNvSpPr/>
          <p:nvPr/>
        </p:nvSpPr>
        <p:spPr>
          <a:xfrm>
            <a:off x="4526280" y="2217420"/>
            <a:ext cx="1143000" cy="1028700"/>
          </a:xfrm>
          <a:prstGeom prst="line">
            <a:avLst/>
          </a:prstGeom>
          <a:noFill/>
          <a:ln w="22225">
            <a:solidFill>
              <a:schemeClr val="accent3"/>
            </a:solidFill>
            <a:prstDash val="solid"/>
            <a:tailEnd type="triangle"/>
          </a:ln>
        </p:spPr>
      </p:sp>
      <p:sp>
        <p:nvSpPr>
          <p:cNvPr id="10" name="Shape 7"/>
          <p:cNvSpPr/>
          <p:nvPr/>
        </p:nvSpPr>
        <p:spPr>
          <a:xfrm>
            <a:off x="548640" y="2971800"/>
            <a:ext cx="3931920" cy="960120"/>
          </a:xfrm>
          <a:prstGeom prst="roundRect">
            <a:avLst>
              <a:gd name="adj" fmla="val 7619"/>
            </a:avLst>
          </a:prstGeom>
          <a:solidFill>
            <a:schemeClr val="bg2"/>
          </a:solidFill>
          <a:ln w="12700">
            <a:solidFill>
              <a:schemeClr val="bg2"/>
            </a:solidFill>
            <a:prstDash val="solid"/>
          </a:ln>
        </p:spPr>
      </p:sp>
      <p:sp>
        <p:nvSpPr>
          <p:cNvPr id="11" name="Text 8"/>
          <p:cNvSpPr txBox="1"/>
          <p:nvPr/>
        </p:nvSpPr>
        <p:spPr>
          <a:xfrm>
            <a:off x="777240" y="3081528"/>
            <a:ext cx="3474720"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AI</a:t>
            </a:r>
            <a:endParaRPr lang="ko-KR" altLang="en-US" sz="1600" dirty="0"/>
          </a:p>
        </p:txBody>
      </p:sp>
      <p:sp>
        <p:nvSpPr>
          <p:cNvPr id="12" name="Text 9"/>
          <p:cNvSpPr txBox="1"/>
          <p:nvPr/>
        </p:nvSpPr>
        <p:spPr>
          <a:xfrm>
            <a:off x="777240" y="3474720"/>
            <a:ext cx="3474720" cy="365760"/>
          </a:xfrm>
          <a:prstGeom prst="rect">
            <a:avLst/>
          </a:prstGeom>
          <a:noFill/>
          <a:ln/>
        </p:spPr>
        <p:txBody>
          <a:bodyPr wrap="square" lIns="0" tIns="0" rIns="0" bIns="0" rtlCol="0" anchor="t"/>
          <a:lstStyle/>
          <a:p>
            <a:pPr indent="0" marL="0" eaLnBrk="0">
              <a:buNone/>
            </a:pPr>
            <a:r>
              <a:rPr lang="ko-KR" altLang="en-US" sz="1300" dirty="0">
                <a:solidFill>
                  <a:schemeClr val="accent5"/>
                </a:solidFill>
              </a:rPr>
              <a:t>NPC가 총을 쏘는 소리</a:t>
            </a:r>
            <a:endParaRPr lang="ko-KR" altLang="en-US" sz="1300" dirty="0"/>
          </a:p>
        </p:txBody>
      </p:sp>
      <p:sp>
        <p:nvSpPr>
          <p:cNvPr id="13" name="Shape 10"/>
          <p:cNvSpPr/>
          <p:nvPr/>
        </p:nvSpPr>
        <p:spPr>
          <a:xfrm flipV="1">
            <a:off x="4526280" y="3246120"/>
            <a:ext cx="1143000" cy="205740"/>
          </a:xfrm>
          <a:prstGeom prst="line">
            <a:avLst/>
          </a:prstGeom>
          <a:noFill/>
          <a:ln w="22225">
            <a:solidFill>
              <a:schemeClr val="accent3"/>
            </a:solidFill>
            <a:prstDash val="solid"/>
            <a:tailEnd type="triangle"/>
          </a:ln>
        </p:spPr>
      </p:sp>
      <p:sp>
        <p:nvSpPr>
          <p:cNvPr id="14" name="Shape 11"/>
          <p:cNvSpPr/>
          <p:nvPr/>
        </p:nvSpPr>
        <p:spPr>
          <a:xfrm>
            <a:off x="548640" y="4206240"/>
            <a:ext cx="3931920" cy="960120"/>
          </a:xfrm>
          <a:prstGeom prst="roundRect">
            <a:avLst>
              <a:gd name="adj" fmla="val 7619"/>
            </a:avLst>
          </a:prstGeom>
          <a:solidFill>
            <a:schemeClr val="bg2"/>
          </a:solidFill>
          <a:ln w="12700">
            <a:solidFill>
              <a:schemeClr val="bg2"/>
            </a:solidFill>
            <a:prstDash val="solid"/>
          </a:ln>
        </p:spPr>
      </p:sp>
      <p:sp>
        <p:nvSpPr>
          <p:cNvPr id="15" name="Text 12"/>
          <p:cNvSpPr txBox="1"/>
          <p:nvPr/>
        </p:nvSpPr>
        <p:spPr>
          <a:xfrm>
            <a:off x="777240" y="4315968"/>
            <a:ext cx="3474720"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사용자 인터페이스</a:t>
            </a:r>
            <a:endParaRPr lang="ko-KR" altLang="en-US" sz="1600" dirty="0"/>
          </a:p>
        </p:txBody>
      </p:sp>
      <p:sp>
        <p:nvSpPr>
          <p:cNvPr id="16" name="Text 13"/>
          <p:cNvSpPr txBox="1"/>
          <p:nvPr/>
        </p:nvSpPr>
        <p:spPr>
          <a:xfrm>
            <a:off x="777240" y="4709160"/>
            <a:ext cx="3474720" cy="365760"/>
          </a:xfrm>
          <a:prstGeom prst="rect">
            <a:avLst/>
          </a:prstGeom>
          <a:noFill/>
          <a:ln/>
        </p:spPr>
        <p:txBody>
          <a:bodyPr wrap="square" lIns="0" tIns="0" rIns="0" bIns="0" rtlCol="0" anchor="t"/>
          <a:lstStyle/>
          <a:p>
            <a:pPr indent="0" marL="0" eaLnBrk="0">
              <a:buNone/>
            </a:pPr>
            <a:r>
              <a:rPr lang="ko-KR" altLang="en-US" sz="1300" dirty="0">
                <a:solidFill>
                  <a:schemeClr val="accent5"/>
                </a:solidFill>
              </a:rPr>
              <a:t>메뉴를 고를 때 나는 효과음</a:t>
            </a:r>
            <a:endParaRPr lang="ko-KR" altLang="en-US" sz="1300" dirty="0"/>
          </a:p>
        </p:txBody>
      </p:sp>
      <p:sp>
        <p:nvSpPr>
          <p:cNvPr id="17" name="Shape 14"/>
          <p:cNvSpPr/>
          <p:nvPr/>
        </p:nvSpPr>
        <p:spPr>
          <a:xfrm flipV="1">
            <a:off x="4526280" y="3246120"/>
            <a:ext cx="1143000" cy="1440180"/>
          </a:xfrm>
          <a:prstGeom prst="line">
            <a:avLst/>
          </a:prstGeom>
          <a:noFill/>
          <a:ln w="22225">
            <a:solidFill>
              <a:schemeClr val="accent3"/>
            </a:solidFill>
            <a:prstDash val="solid"/>
            <a:tailEnd type="triangle"/>
          </a:ln>
        </p:spPr>
      </p:sp>
      <p:sp>
        <p:nvSpPr>
          <p:cNvPr id="18" name="box"/>
          <p:cNvSpPr/>
          <p:nvPr/>
        </p:nvSpPr>
        <p:spPr>
          <a:xfrm>
            <a:off x="5715000" y="2788920"/>
            <a:ext cx="2377440" cy="914400"/>
          </a:xfrm>
          <a:prstGeom prst="roundRect">
            <a:avLst>
              <a:gd name="adj" fmla="val 8000"/>
            </a:avLst>
          </a:prstGeom>
          <a:solidFill>
            <a:schemeClr val="accent1"/>
          </a:solidFill>
          <a:ln w="12700">
            <a:solidFill>
              <a:schemeClr val="accent1"/>
            </a:solidFill>
            <a:prstDash val="solid"/>
          </a:ln>
        </p:spPr>
      </p:sp>
      <p:sp>
        <p:nvSpPr>
          <p:cNvPr id="19" name="Text 16"/>
          <p:cNvSpPr txBox="1"/>
          <p:nvPr/>
        </p:nvSpPr>
        <p:spPr>
          <a:xfrm>
            <a:off x="5715000" y="2788920"/>
            <a:ext cx="2377440" cy="914400"/>
          </a:xfrm>
          <a:prstGeom prst="rect">
            <a:avLst/>
          </a:prstGeom>
          <a:noFill/>
          <a:ln/>
        </p:spPr>
        <p:txBody>
          <a:bodyPr wrap="square" lIns="635" tIns="635" rIns="635" bIns="635" rtlCol="0" anchor="ctr"/>
          <a:lstStyle/>
          <a:p>
            <a:pPr algn="ctr" indent="0" marL="0" eaLnBrk="0">
              <a:buNone/>
            </a:pPr>
            <a:r>
              <a:rPr lang="ko-KR" altLang="en-US" sz="1700" b="1" dirty="0">
                <a:solidFill>
                  <a:schemeClr val="bg1"/>
                </a:solidFill>
              </a:rPr>
              <a:t>오디오 시스템</a:t>
            </a:r>
            <a:endParaRPr lang="ko-KR" altLang="en-US" sz="1700" dirty="0"/>
          </a:p>
        </p:txBody>
      </p:sp>
      <p:sp>
        <p:nvSpPr>
          <p:cNvPr id="20" name="card"/>
          <p:cNvSpPr/>
          <p:nvPr/>
        </p:nvSpPr>
        <p:spPr>
          <a:xfrm>
            <a:off x="8503920" y="1737360"/>
            <a:ext cx="3139135" cy="1783080"/>
          </a:xfrm>
          <a:prstGeom prst="roundRect">
            <a:avLst>
              <a:gd name="adj" fmla="val 5128"/>
            </a:avLst>
          </a:prstGeom>
          <a:solidFill>
            <a:schemeClr val="bg2"/>
          </a:solidFill>
          <a:ln w="12700">
            <a:solidFill>
              <a:schemeClr val="bg2"/>
            </a:solidFill>
            <a:prstDash val="solid"/>
          </a:ln>
        </p:spPr>
      </p:sp>
      <p:sp>
        <p:nvSpPr>
          <p:cNvPr id="21" name="Text 18"/>
          <p:cNvSpPr txBox="1"/>
          <p:nvPr/>
        </p:nvSpPr>
        <p:spPr>
          <a:xfrm>
            <a:off x="8732520" y="1956816"/>
            <a:ext cx="27276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공통점</a:t>
            </a:r>
            <a:endParaRPr lang="ko-KR" altLang="en-US" sz="1700" dirty="0"/>
          </a:p>
        </p:txBody>
      </p:sp>
      <p:sp>
        <p:nvSpPr>
          <p:cNvPr id="22" name="Text 19"/>
          <p:cNvSpPr txBox="1"/>
          <p:nvPr/>
        </p:nvSpPr>
        <p:spPr>
          <a:xfrm>
            <a:off x="8732520" y="2514600"/>
            <a:ext cx="2681935" cy="86868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서로 관계없는 시스템들이 같은 기능 하나를 부른다.</a:t>
            </a:r>
            <a:endParaRPr lang="ko-KR" altLang="en-US" sz="1400" dirty="0"/>
          </a:p>
        </p:txBody>
      </p:sp>
      <p:sp>
        <p:nvSpPr>
          <p:cNvPr id="23" name="card"/>
          <p:cNvSpPr/>
          <p:nvPr/>
        </p:nvSpPr>
        <p:spPr>
          <a:xfrm>
            <a:off x="8503920" y="3703320"/>
            <a:ext cx="3139135" cy="1920240"/>
          </a:xfrm>
          <a:prstGeom prst="roundRect">
            <a:avLst>
              <a:gd name="adj" fmla="val 4762"/>
            </a:avLst>
          </a:prstGeom>
          <a:solidFill>
            <a:schemeClr val="bg2"/>
          </a:solidFill>
          <a:ln w="12700">
            <a:solidFill>
              <a:schemeClr val="bg2"/>
            </a:solidFill>
            <a:prstDash val="solid"/>
          </a:ln>
        </p:spPr>
      </p:sp>
      <p:sp>
        <p:nvSpPr>
          <p:cNvPr id="24" name="Text 21"/>
          <p:cNvSpPr txBox="1"/>
          <p:nvPr/>
        </p:nvSpPr>
        <p:spPr>
          <a:xfrm>
            <a:off x="8732520" y="3922776"/>
            <a:ext cx="27276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다른 예</a:t>
            </a:r>
            <a:endParaRPr lang="ko-KR" altLang="en-US" sz="1700" dirty="0"/>
          </a:p>
        </p:txBody>
      </p:sp>
      <p:sp>
        <p:nvSpPr>
          <p:cNvPr id="25" name="Text 22"/>
          <p:cNvSpPr txBox="1"/>
          <p:nvPr/>
        </p:nvSpPr>
        <p:spPr>
          <a:xfrm>
            <a:off x="8732520" y="4480560"/>
            <a:ext cx="2681935" cy="10058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로깅, 메모리 관리도 게임 전체에서 쓰인다.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첫 시도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정적 클래스나 싱글턴으로 오디오 시스템을 직접 부른다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이렇게 부르면 무엇이 무엇에 묶일까?</a:t>
            </a:r>
            <a:endParaRPr lang="ko-KR" altLang="en-US" sz="1500" dirty="0"/>
          </a:p>
        </p:txBody>
      </p:sp>
      <p:sp>
        <p:nvSpPr>
          <p:cNvPr id="6" name="codePanel"/>
          <p:cNvSpPr/>
          <p:nvPr/>
        </p:nvSpPr>
        <p:spPr>
          <a:xfrm>
            <a:off x="548640" y="1691640"/>
            <a:ext cx="6949440" cy="2011680"/>
          </a:xfrm>
          <a:prstGeom prst="roundRect">
            <a:avLst>
              <a:gd name="adj" fmla="val 3636"/>
            </a:avLst>
          </a:prstGeom>
          <a:solidFill>
            <a:schemeClr val="tx1"/>
          </a:solidFill>
          <a:ln w="12700">
            <a:solidFill>
              <a:schemeClr val="tx1"/>
            </a:solidFill>
            <a:prstDash val="solid"/>
          </a:ln>
        </p:spPr>
      </p:sp>
      <p:sp>
        <p:nvSpPr>
          <p:cNvPr id="7" name="code"/>
          <p:cNvSpPr txBox="1"/>
          <p:nvPr/>
        </p:nvSpPr>
        <p:spPr>
          <a:xfrm>
            <a:off x="658368" y="1783080"/>
            <a:ext cx="6729984" cy="1828800"/>
          </a:xfrm>
          <a:prstGeom prst="rect">
            <a:avLst/>
          </a:prstGeom>
          <a:noFill/>
          <a:ln/>
        </p:spPr>
        <p:txBody>
          <a:bodyPr wrap="square" lIns="635" tIns="635" rIns="635" bIns="635" rtlCol="0" anchor="t"/>
          <a:lstStyle/>
          <a:p>
            <a:pPr indent="0" marL="0" eaLnBrk="0">
              <a:buNone/>
            </a:pPr>
            <a:r>
              <a:rPr lang="ko-KR" altLang="en-US" sz="1500" dirty="0">
                <a:solidFill>
                  <a:schemeClr val="accent3"/>
                </a:solidFill>
                <a:latin typeface="Consolas" pitchFamily="34" charset="0"/>
                <a:ea typeface="Consolas" pitchFamily="34" charset="-122"/>
                <a:cs typeface="Consolas" pitchFamily="34" charset="-120"/>
              </a:rPr>
              <a:t>// 정적 클래스를 쓸까?</a:t>
            </a:r>
            <a:endParaRPr lang="ko-KR" altLang="en-US" sz="1500" dirty="0"/>
          </a:p>
          <a:p>
            <a:pPr indent="0" marL="0" eaLnBrk="0">
              <a:buNone/>
            </a:pPr>
            <a:r>
              <a:rPr lang="ko-KR" altLang="en-US" sz="1500" b="1" dirty="0">
                <a:solidFill>
                  <a:schemeClr val="accent4"/>
                </a:solidFill>
                <a:latin typeface="Consolas" pitchFamily="34" charset="0"/>
                <a:ea typeface="Consolas" pitchFamily="34" charset="-122"/>
                <a:cs typeface="Consolas" pitchFamily="34" charset="-120"/>
              </a:rPr>
              <a:t>AudioSystem.PlaySound(VeryLoudBang);</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 </a:t>
            </a:r>
            <a:endParaRPr lang="ko-KR" altLang="en-US" sz="1500" dirty="0"/>
          </a:p>
          <a:p>
            <a:pPr indent="0" marL="0" eaLnBrk="0">
              <a:buNone/>
            </a:pPr>
            <a:r>
              <a:rPr lang="ko-KR" altLang="en-US" sz="1500" dirty="0">
                <a:solidFill>
                  <a:schemeClr val="accent3"/>
                </a:solidFill>
                <a:latin typeface="Consolas" pitchFamily="34" charset="0"/>
                <a:ea typeface="Consolas" pitchFamily="34" charset="-122"/>
                <a:cs typeface="Consolas" pitchFamily="34" charset="-120"/>
              </a:rPr>
              <a:t>// 아니면 싱글턴을 쓸까?</a:t>
            </a:r>
            <a:endParaRPr lang="ko-KR" altLang="en-US" sz="1500" dirty="0"/>
          </a:p>
          <a:p>
            <a:pPr indent="0" marL="0" eaLnBrk="0">
              <a:buNone/>
            </a:pPr>
            <a:r>
              <a:rPr lang="ko-KR" altLang="en-US" sz="1500" b="1" dirty="0">
                <a:solidFill>
                  <a:schemeClr val="accent4"/>
                </a:solidFill>
                <a:latin typeface="Consolas" pitchFamily="34" charset="0"/>
                <a:ea typeface="Consolas" pitchFamily="34" charset="-122"/>
                <a:cs typeface="Consolas" pitchFamily="34" charset="-120"/>
              </a:rPr>
              <a:t>AudioSystem.Instance.PlaySound(VeryLoudBang);</a:t>
            </a:r>
            <a:endParaRPr lang="ko-KR" altLang="en-US" sz="1500" dirty="0"/>
          </a:p>
        </p:txBody>
      </p:sp>
      <p:sp>
        <p:nvSpPr>
          <p:cNvPr id="8" name="codeCaption"/>
          <p:cNvSpPr txBox="1"/>
          <p:nvPr/>
        </p:nvSpPr>
        <p:spPr>
          <a:xfrm>
            <a:off x="4389120" y="178308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548640" y="3977640"/>
            <a:ext cx="6949440" cy="1645920"/>
          </a:xfrm>
          <a:prstGeom prst="roundRect">
            <a:avLst>
              <a:gd name="adj" fmla="val 5556"/>
            </a:avLst>
          </a:prstGeom>
          <a:solidFill>
            <a:schemeClr val="bg2"/>
          </a:solidFill>
          <a:ln w="12700">
            <a:solidFill>
              <a:schemeClr val="bg2"/>
            </a:solidFill>
            <a:prstDash val="solid"/>
          </a:ln>
        </p:spPr>
      </p:sp>
      <p:sp>
        <p:nvSpPr>
          <p:cNvPr id="10" name="Text 7"/>
          <p:cNvSpPr txBox="1"/>
          <p:nvPr/>
        </p:nvSpPr>
        <p:spPr>
          <a:xfrm>
            <a:off x="777240" y="4197096"/>
            <a:ext cx="653796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잘 동작한다</a:t>
            </a:r>
            <a:endParaRPr lang="ko-KR" altLang="en-US" sz="1700" dirty="0"/>
          </a:p>
        </p:txBody>
      </p:sp>
      <p:sp>
        <p:nvSpPr>
          <p:cNvPr id="11" name="Text 8"/>
          <p:cNvSpPr txBox="1"/>
          <p:nvPr/>
        </p:nvSpPr>
        <p:spPr>
          <a:xfrm>
            <a:off x="777240" y="4754880"/>
            <a:ext cx="6492240" cy="73152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물리, AI, 메뉴 화면 어디서든 한 줄로 소리를 낼 수 있다.</a:t>
            </a:r>
            <a:endParaRPr lang="ko-KR" altLang="en-US" sz="1400" dirty="0"/>
          </a:p>
        </p:txBody>
      </p:sp>
      <p:sp>
        <p:nvSpPr>
          <p:cNvPr id="12" name="card"/>
          <p:cNvSpPr/>
          <p:nvPr/>
        </p:nvSpPr>
        <p:spPr>
          <a:xfrm>
            <a:off x="7863840" y="1691640"/>
            <a:ext cx="3779215" cy="1828800"/>
          </a:xfrm>
          <a:prstGeom prst="roundRect">
            <a:avLst>
              <a:gd name="adj" fmla="val 5000"/>
            </a:avLst>
          </a:prstGeom>
          <a:solidFill>
            <a:schemeClr val="bg2"/>
          </a:solidFill>
          <a:ln w="12700">
            <a:solidFill>
              <a:schemeClr val="bg2"/>
            </a:solidFill>
            <a:prstDash val="solid"/>
          </a:ln>
        </p:spPr>
      </p:sp>
      <p:sp>
        <p:nvSpPr>
          <p:cNvPr id="13" name="Text 10"/>
          <p:cNvSpPr txBox="1"/>
          <p:nvPr/>
        </p:nvSpPr>
        <p:spPr>
          <a:xfrm>
            <a:off x="8092440" y="191109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정적 클래스</a:t>
            </a:r>
            <a:endParaRPr lang="ko-KR" altLang="en-US" sz="1700" dirty="0"/>
          </a:p>
        </p:txBody>
      </p:sp>
      <p:sp>
        <p:nvSpPr>
          <p:cNvPr id="14" name="Text 11"/>
          <p:cNvSpPr txBox="1"/>
          <p:nvPr/>
        </p:nvSpPr>
        <p:spPr>
          <a:xfrm>
            <a:off x="8092440" y="2468880"/>
            <a:ext cx="3322015" cy="91440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AudioSystem의 정적 메서드를 바로 부른다.</a:t>
            </a:r>
            <a:endParaRPr lang="ko-KR" altLang="en-US" sz="1400" dirty="0"/>
          </a:p>
        </p:txBody>
      </p:sp>
      <p:sp>
        <p:nvSpPr>
          <p:cNvPr id="15" name="card"/>
          <p:cNvSpPr/>
          <p:nvPr/>
        </p:nvSpPr>
        <p:spPr>
          <a:xfrm>
            <a:off x="7863840" y="3703320"/>
            <a:ext cx="3779215" cy="1920240"/>
          </a:xfrm>
          <a:prstGeom prst="roundRect">
            <a:avLst>
              <a:gd name="adj" fmla="val 4762"/>
            </a:avLst>
          </a:prstGeom>
          <a:solidFill>
            <a:schemeClr val="bg2"/>
          </a:solidFill>
          <a:ln w="12700">
            <a:solidFill>
              <a:schemeClr val="bg2"/>
            </a:solidFill>
            <a:prstDash val="solid"/>
          </a:ln>
        </p:spPr>
      </p:sp>
      <p:sp>
        <p:nvSpPr>
          <p:cNvPr id="16" name="Text 13"/>
          <p:cNvSpPr txBox="1"/>
          <p:nvPr/>
        </p:nvSpPr>
        <p:spPr>
          <a:xfrm>
            <a:off x="8092440" y="39227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싱글턴 (5강)</a:t>
            </a:r>
            <a:endParaRPr lang="ko-KR" altLang="en-US" sz="1700" dirty="0"/>
          </a:p>
        </p:txBody>
      </p:sp>
      <p:sp>
        <p:nvSpPr>
          <p:cNvPr id="17" name="Text 14"/>
          <p:cNvSpPr txBox="1"/>
          <p:nvPr/>
        </p:nvSpPr>
        <p:spPr>
          <a:xfrm>
            <a:off x="8092440" y="4480560"/>
            <a:ext cx="3322015" cy="10058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하나뿐인 인스턴스를 Instance로 얻어 부른다.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한계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부르는 코드 전부가 구체 클래스 AudioSystem에 묶인다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부르는 코드와 구체 클래스 사이에 서비스를 찾아 주는 곳을 하나 두면 어떨까?</a:t>
            </a:r>
            <a:endParaRPr lang="ko-KR" altLang="en-US" sz="1500" dirty="0"/>
          </a:p>
        </p:txBody>
      </p:sp>
      <p:sp>
        <p:nvSpPr>
          <p:cNvPr id="6" name="box"/>
          <p:cNvSpPr/>
          <p:nvPr/>
        </p:nvSpPr>
        <p:spPr>
          <a:xfrm>
            <a:off x="548640" y="1737360"/>
            <a:ext cx="2377440" cy="731520"/>
          </a:xfrm>
          <a:prstGeom prst="roundRect">
            <a:avLst>
              <a:gd name="adj" fmla="val 10000"/>
            </a:avLst>
          </a:prstGeom>
          <a:solidFill>
            <a:schemeClr val="bg2"/>
          </a:solidFill>
          <a:ln w="12700">
            <a:solidFill>
              <a:schemeClr val="bg2"/>
            </a:solidFill>
            <a:prstDash val="solid"/>
          </a:ln>
        </p:spPr>
      </p:sp>
      <p:sp>
        <p:nvSpPr>
          <p:cNvPr id="7" name="Text 4"/>
          <p:cNvSpPr txBox="1"/>
          <p:nvPr/>
        </p:nvSpPr>
        <p:spPr>
          <a:xfrm>
            <a:off x="548640" y="1737360"/>
            <a:ext cx="2377440" cy="731520"/>
          </a:xfrm>
          <a:prstGeom prst="rect">
            <a:avLst/>
          </a:prstGeom>
          <a:noFill/>
          <a:ln/>
        </p:spPr>
        <p:txBody>
          <a:bodyPr wrap="square" lIns="635" tIns="635" rIns="635" bIns="635" rtlCol="0" anchor="ctr"/>
          <a:lstStyle/>
          <a:p>
            <a:pPr algn="ctr" indent="0" marL="0" eaLnBrk="0">
              <a:buNone/>
            </a:pPr>
            <a:r>
              <a:rPr lang="ko-KR" altLang="en-US" sz="1500" b="1" dirty="0">
                <a:solidFill>
                  <a:schemeClr val="tx1"/>
                </a:solidFill>
              </a:rPr>
              <a:t>물리</a:t>
            </a:r>
            <a:endParaRPr lang="ko-KR" altLang="en-US" sz="1500" dirty="0"/>
          </a:p>
        </p:txBody>
      </p:sp>
      <p:sp>
        <p:nvSpPr>
          <p:cNvPr id="8" name="Shape 5"/>
          <p:cNvSpPr/>
          <p:nvPr/>
        </p:nvSpPr>
        <p:spPr>
          <a:xfrm>
            <a:off x="2971800" y="2103120"/>
            <a:ext cx="1188720" cy="1234440"/>
          </a:xfrm>
          <a:prstGeom prst="line">
            <a:avLst/>
          </a:prstGeom>
          <a:noFill/>
          <a:ln w="22225">
            <a:solidFill>
              <a:schemeClr val="accent6"/>
            </a:solidFill>
            <a:prstDash val="solid"/>
            <a:tailEnd type="triangle"/>
          </a:ln>
        </p:spPr>
      </p:sp>
      <p:sp>
        <p:nvSpPr>
          <p:cNvPr id="9" name="box"/>
          <p:cNvSpPr/>
          <p:nvPr/>
        </p:nvSpPr>
        <p:spPr>
          <a:xfrm>
            <a:off x="548640" y="2697480"/>
            <a:ext cx="2377440" cy="731520"/>
          </a:xfrm>
          <a:prstGeom prst="roundRect">
            <a:avLst>
              <a:gd name="adj" fmla="val 10000"/>
            </a:avLst>
          </a:prstGeom>
          <a:solidFill>
            <a:schemeClr val="bg2"/>
          </a:solidFill>
          <a:ln w="12700">
            <a:solidFill>
              <a:schemeClr val="bg2"/>
            </a:solidFill>
            <a:prstDash val="solid"/>
          </a:ln>
        </p:spPr>
      </p:sp>
      <p:sp>
        <p:nvSpPr>
          <p:cNvPr id="10" name="Text 7"/>
          <p:cNvSpPr txBox="1"/>
          <p:nvPr/>
        </p:nvSpPr>
        <p:spPr>
          <a:xfrm>
            <a:off x="548640" y="2697480"/>
            <a:ext cx="2377440" cy="731520"/>
          </a:xfrm>
          <a:prstGeom prst="rect">
            <a:avLst/>
          </a:prstGeom>
          <a:noFill/>
          <a:ln/>
        </p:spPr>
        <p:txBody>
          <a:bodyPr wrap="square" lIns="635" tIns="635" rIns="635" bIns="635" rtlCol="0" anchor="ctr"/>
          <a:lstStyle/>
          <a:p>
            <a:pPr algn="ctr" indent="0" marL="0" eaLnBrk="0">
              <a:buNone/>
            </a:pPr>
            <a:r>
              <a:rPr lang="ko-KR" altLang="en-US" sz="1500" b="1" dirty="0">
                <a:solidFill>
                  <a:schemeClr val="tx1"/>
                </a:solidFill>
              </a:rPr>
              <a:t>AI</a:t>
            </a:r>
            <a:endParaRPr lang="ko-KR" altLang="en-US" sz="1500" dirty="0"/>
          </a:p>
        </p:txBody>
      </p:sp>
      <p:sp>
        <p:nvSpPr>
          <p:cNvPr id="11" name="Shape 8"/>
          <p:cNvSpPr/>
          <p:nvPr/>
        </p:nvSpPr>
        <p:spPr>
          <a:xfrm>
            <a:off x="2971800" y="3063240"/>
            <a:ext cx="1188720" cy="274320"/>
          </a:xfrm>
          <a:prstGeom prst="line">
            <a:avLst/>
          </a:prstGeom>
          <a:noFill/>
          <a:ln w="22225">
            <a:solidFill>
              <a:schemeClr val="accent6"/>
            </a:solidFill>
            <a:prstDash val="solid"/>
            <a:tailEnd type="triangle"/>
          </a:ln>
        </p:spPr>
      </p:sp>
      <p:sp>
        <p:nvSpPr>
          <p:cNvPr id="12" name="box"/>
          <p:cNvSpPr/>
          <p:nvPr/>
        </p:nvSpPr>
        <p:spPr>
          <a:xfrm>
            <a:off x="548640" y="3657600"/>
            <a:ext cx="2377440" cy="731520"/>
          </a:xfrm>
          <a:prstGeom prst="roundRect">
            <a:avLst>
              <a:gd name="adj" fmla="val 10000"/>
            </a:avLst>
          </a:prstGeom>
          <a:solidFill>
            <a:schemeClr val="bg2"/>
          </a:solidFill>
          <a:ln w="12700">
            <a:solidFill>
              <a:schemeClr val="bg2"/>
            </a:solidFill>
            <a:prstDash val="solid"/>
          </a:ln>
        </p:spPr>
      </p:sp>
      <p:sp>
        <p:nvSpPr>
          <p:cNvPr id="13" name="Text 10"/>
          <p:cNvSpPr txBox="1"/>
          <p:nvPr/>
        </p:nvSpPr>
        <p:spPr>
          <a:xfrm>
            <a:off x="548640" y="3657600"/>
            <a:ext cx="2377440" cy="731520"/>
          </a:xfrm>
          <a:prstGeom prst="rect">
            <a:avLst/>
          </a:prstGeom>
          <a:noFill/>
          <a:ln/>
        </p:spPr>
        <p:txBody>
          <a:bodyPr wrap="square" lIns="635" tIns="635" rIns="635" bIns="635" rtlCol="0" anchor="ctr"/>
          <a:lstStyle/>
          <a:p>
            <a:pPr algn="ctr" indent="0" marL="0" eaLnBrk="0">
              <a:buNone/>
            </a:pPr>
            <a:r>
              <a:rPr lang="ko-KR" altLang="en-US" sz="1500" b="1" dirty="0">
                <a:solidFill>
                  <a:schemeClr val="tx1"/>
                </a:solidFill>
              </a:rPr>
              <a:t>메뉴 화면</a:t>
            </a:r>
            <a:endParaRPr lang="ko-KR" altLang="en-US" sz="1500" dirty="0"/>
          </a:p>
        </p:txBody>
      </p:sp>
      <p:sp>
        <p:nvSpPr>
          <p:cNvPr id="14" name="Shape 11"/>
          <p:cNvSpPr/>
          <p:nvPr/>
        </p:nvSpPr>
        <p:spPr>
          <a:xfrm flipV="1">
            <a:off x="2971800" y="3337560"/>
            <a:ext cx="1188720" cy="685800"/>
          </a:xfrm>
          <a:prstGeom prst="line">
            <a:avLst/>
          </a:prstGeom>
          <a:noFill/>
          <a:ln w="22225">
            <a:solidFill>
              <a:schemeClr val="accent6"/>
            </a:solidFill>
            <a:prstDash val="solid"/>
            <a:tailEnd type="triangle"/>
          </a:ln>
        </p:spPr>
      </p:sp>
      <p:sp>
        <p:nvSpPr>
          <p:cNvPr id="15" name="box"/>
          <p:cNvSpPr/>
          <p:nvPr/>
        </p:nvSpPr>
        <p:spPr>
          <a:xfrm>
            <a:off x="548640" y="4617720"/>
            <a:ext cx="2377440" cy="731520"/>
          </a:xfrm>
          <a:prstGeom prst="roundRect">
            <a:avLst>
              <a:gd name="adj" fmla="val 10000"/>
            </a:avLst>
          </a:prstGeom>
          <a:solidFill>
            <a:schemeClr val="bg2"/>
          </a:solidFill>
          <a:ln w="12700">
            <a:solidFill>
              <a:schemeClr val="bg2"/>
            </a:solidFill>
            <a:prstDash val="solid"/>
          </a:ln>
        </p:spPr>
      </p:sp>
      <p:sp>
        <p:nvSpPr>
          <p:cNvPr id="16" name="Text 13"/>
          <p:cNvSpPr txBox="1"/>
          <p:nvPr/>
        </p:nvSpPr>
        <p:spPr>
          <a:xfrm>
            <a:off x="548640" y="4617720"/>
            <a:ext cx="2377440" cy="731520"/>
          </a:xfrm>
          <a:prstGeom prst="rect">
            <a:avLst/>
          </a:prstGeom>
          <a:noFill/>
          <a:ln/>
        </p:spPr>
        <p:txBody>
          <a:bodyPr wrap="square" lIns="635" tIns="635" rIns="635" bIns="635" rtlCol="0" anchor="ctr"/>
          <a:lstStyle/>
          <a:p>
            <a:pPr algn="ctr" indent="0" marL="0" eaLnBrk="0">
              <a:buNone/>
            </a:pPr>
            <a:r>
              <a:rPr lang="ko-KR" altLang="en-US" sz="1500" b="1" dirty="0">
                <a:solidFill>
                  <a:schemeClr val="tx1"/>
                </a:solidFill>
              </a:rPr>
              <a:t>그 밖의 곳</a:t>
            </a:r>
            <a:endParaRPr lang="ko-KR" altLang="en-US" sz="1500" dirty="0"/>
          </a:p>
        </p:txBody>
      </p:sp>
      <p:sp>
        <p:nvSpPr>
          <p:cNvPr id="17" name="Shape 14"/>
          <p:cNvSpPr/>
          <p:nvPr/>
        </p:nvSpPr>
        <p:spPr>
          <a:xfrm flipV="1">
            <a:off x="2971800" y="3337560"/>
            <a:ext cx="1188720" cy="1645920"/>
          </a:xfrm>
          <a:prstGeom prst="line">
            <a:avLst/>
          </a:prstGeom>
          <a:noFill/>
          <a:ln w="22225">
            <a:solidFill>
              <a:schemeClr val="accent6"/>
            </a:solidFill>
            <a:prstDash val="solid"/>
            <a:tailEnd type="triangle"/>
          </a:ln>
        </p:spPr>
      </p:sp>
      <p:sp>
        <p:nvSpPr>
          <p:cNvPr id="18" name="box"/>
          <p:cNvSpPr/>
          <p:nvPr/>
        </p:nvSpPr>
        <p:spPr>
          <a:xfrm>
            <a:off x="4206240" y="2926080"/>
            <a:ext cx="2103120" cy="822960"/>
          </a:xfrm>
          <a:prstGeom prst="roundRect">
            <a:avLst>
              <a:gd name="adj" fmla="val 8889"/>
            </a:avLst>
          </a:prstGeom>
          <a:solidFill>
            <a:schemeClr val="accent1"/>
          </a:solidFill>
          <a:ln w="12700">
            <a:solidFill>
              <a:schemeClr val="accent1"/>
            </a:solidFill>
            <a:prstDash val="solid"/>
          </a:ln>
        </p:spPr>
      </p:sp>
      <p:sp>
        <p:nvSpPr>
          <p:cNvPr id="19" name="Text 16"/>
          <p:cNvSpPr txBox="1"/>
          <p:nvPr/>
        </p:nvSpPr>
        <p:spPr>
          <a:xfrm>
            <a:off x="4206240" y="2926080"/>
            <a:ext cx="2103120" cy="82296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AudioSystem</a:t>
            </a:r>
            <a:endParaRPr lang="ko-KR" altLang="en-US" sz="1600" dirty="0"/>
          </a:p>
        </p:txBody>
      </p:sp>
      <p:sp>
        <p:nvSpPr>
          <p:cNvPr id="20" name="card"/>
          <p:cNvSpPr/>
          <p:nvPr/>
        </p:nvSpPr>
        <p:spPr>
          <a:xfrm>
            <a:off x="6766560" y="1737360"/>
            <a:ext cx="4876495" cy="1783080"/>
          </a:xfrm>
          <a:prstGeom prst="roundRect">
            <a:avLst>
              <a:gd name="adj" fmla="val 5128"/>
            </a:avLst>
          </a:prstGeom>
          <a:solidFill>
            <a:schemeClr val="bg2"/>
          </a:solidFill>
          <a:ln w="12700">
            <a:solidFill>
              <a:schemeClr val="bg2"/>
            </a:solidFill>
            <a:prstDash val="solid"/>
          </a:ln>
        </p:spPr>
      </p:sp>
      <p:sp>
        <p:nvSpPr>
          <p:cNvPr id="21" name="Shape 18"/>
          <p:cNvSpPr/>
          <p:nvPr/>
        </p:nvSpPr>
        <p:spPr>
          <a:xfrm>
            <a:off x="6995160" y="1938528"/>
            <a:ext cx="420624" cy="420624"/>
          </a:xfrm>
          <a:prstGeom prst="ellipse">
            <a:avLst/>
          </a:prstGeom>
          <a:solidFill>
            <a:schemeClr val="accent1"/>
          </a:solidFill>
          <a:ln w="12700">
            <a:solidFill>
              <a:schemeClr val="accent1"/>
            </a:solidFill>
            <a:prstDash val="solid"/>
          </a:ln>
        </p:spPr>
      </p:sp>
      <p:sp>
        <p:nvSpPr>
          <p:cNvPr id="22" name="Text 19"/>
          <p:cNvSpPr txBox="1"/>
          <p:nvPr/>
        </p:nvSpPr>
        <p:spPr>
          <a:xfrm>
            <a:off x="6995160" y="193852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3" name="Text 20"/>
          <p:cNvSpPr txBox="1"/>
          <p:nvPr/>
        </p:nvSpPr>
        <p:spPr>
          <a:xfrm>
            <a:off x="7543800" y="1956816"/>
            <a:ext cx="39163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무엇이 묶였나</a:t>
            </a:r>
            <a:endParaRPr lang="ko-KR" altLang="en-US" sz="1700" dirty="0"/>
          </a:p>
        </p:txBody>
      </p:sp>
      <p:sp>
        <p:nvSpPr>
          <p:cNvPr id="24" name="Text 21"/>
          <p:cNvSpPr txBox="1"/>
          <p:nvPr/>
        </p:nvSpPr>
        <p:spPr>
          <a:xfrm>
            <a:off x="7543800" y="2331720"/>
            <a:ext cx="3916375" cy="1005840"/>
          </a:xfrm>
          <a:prstGeom prst="rect">
            <a:avLst/>
          </a:prstGeom>
          <a:noFill/>
          <a:ln/>
        </p:spPr>
        <p:txBody>
          <a:bodyPr wrap="square" lIns="0" tIns="0" rIns="0" bIns="0" rtlCol="0" anchor="t"/>
          <a:lstStyle/>
          <a:p>
            <a:pPr indent="0" marL="0" eaLnBrk="0">
              <a:buNone/>
            </a:pPr>
            <a:r>
              <a:rPr lang="ko-KR" altLang="en-US" sz="1400" dirty="0">
                <a:solidFill>
                  <a:schemeClr val="tx2"/>
                </a:solidFill>
              </a:rPr>
              <a:t>부르는 코드가 구체 클래스의 이름과, 그 클래스에 접근하는 방법을 모두 안다.</a:t>
            </a:r>
            <a:endParaRPr lang="ko-KR" altLang="en-US" sz="1400" dirty="0"/>
          </a:p>
        </p:txBody>
      </p:sp>
      <p:sp>
        <p:nvSpPr>
          <p:cNvPr id="25" name="card"/>
          <p:cNvSpPr/>
          <p:nvPr/>
        </p:nvSpPr>
        <p:spPr>
          <a:xfrm>
            <a:off x="6766560" y="3703320"/>
            <a:ext cx="4876495" cy="1920240"/>
          </a:xfrm>
          <a:prstGeom prst="roundRect">
            <a:avLst>
              <a:gd name="adj" fmla="val 4762"/>
            </a:avLst>
          </a:prstGeom>
          <a:solidFill>
            <a:schemeClr val="bg2"/>
          </a:solidFill>
          <a:ln w="12700">
            <a:solidFill>
              <a:schemeClr val="bg2"/>
            </a:solidFill>
            <a:prstDash val="solid"/>
          </a:ln>
        </p:spPr>
      </p:sp>
      <p:sp>
        <p:nvSpPr>
          <p:cNvPr id="26" name="Shape 23"/>
          <p:cNvSpPr/>
          <p:nvPr/>
        </p:nvSpPr>
        <p:spPr>
          <a:xfrm>
            <a:off x="6995160" y="3904488"/>
            <a:ext cx="420624" cy="420624"/>
          </a:xfrm>
          <a:prstGeom prst="ellipse">
            <a:avLst/>
          </a:prstGeom>
          <a:solidFill>
            <a:schemeClr val="accent1"/>
          </a:solidFill>
          <a:ln w="12700">
            <a:solidFill>
              <a:schemeClr val="accent1"/>
            </a:solidFill>
            <a:prstDash val="solid"/>
          </a:ln>
        </p:spPr>
      </p:sp>
      <p:sp>
        <p:nvSpPr>
          <p:cNvPr id="27" name="Text 24"/>
          <p:cNvSpPr txBox="1"/>
          <p:nvPr/>
        </p:nvSpPr>
        <p:spPr>
          <a:xfrm>
            <a:off x="6995160" y="39044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28" name="Text 25"/>
          <p:cNvSpPr txBox="1"/>
          <p:nvPr/>
        </p:nvSpPr>
        <p:spPr>
          <a:xfrm>
            <a:off x="7543800" y="3922776"/>
            <a:ext cx="39163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바꾸고 싶을 때</a:t>
            </a:r>
            <a:endParaRPr lang="ko-KR" altLang="en-US" sz="1700" dirty="0"/>
          </a:p>
        </p:txBody>
      </p:sp>
      <p:sp>
        <p:nvSpPr>
          <p:cNvPr id="29" name="Text 26"/>
          <p:cNvSpPr txBox="1"/>
          <p:nvPr/>
        </p:nvSpPr>
        <p:spPr>
          <a:xfrm>
            <a:off x="7543800" y="4297680"/>
            <a:ext cx="3916375"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다른 오디오 구현으로 바꾸거나 소리를 끄려면 부르는 곳을 모두 고쳐야 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2부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중개자로 서비스 찾기</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패턴, 예제 코드</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패턴 구조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서비스, 서비스 제공자, 서비스 중개자의 세 역할로 나눈다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먼저 서비스의 약속과 그 구현을 코드로 보자.</a:t>
            </a:r>
            <a:endParaRPr lang="ko-KR" altLang="en-US" sz="1500" dirty="0"/>
          </a:p>
        </p:txBody>
      </p:sp>
      <p:sp>
        <p:nvSpPr>
          <p:cNvPr id="6" name="box"/>
          <p:cNvSpPr/>
          <p:nvPr/>
        </p:nvSpPr>
        <p:spPr>
          <a:xfrm>
            <a:off x="548640" y="1783080"/>
            <a:ext cx="2560320" cy="777240"/>
          </a:xfrm>
          <a:prstGeom prst="roundRect">
            <a:avLst>
              <a:gd name="adj" fmla="val 9412"/>
            </a:avLst>
          </a:prstGeom>
          <a:solidFill>
            <a:schemeClr val="accent2"/>
          </a:solidFill>
          <a:ln w="12700">
            <a:solidFill>
              <a:schemeClr val="accent2"/>
            </a:solidFill>
            <a:prstDash val="solid"/>
          </a:ln>
        </p:spPr>
      </p:sp>
      <p:sp>
        <p:nvSpPr>
          <p:cNvPr id="7" name="Text 4"/>
          <p:cNvSpPr txBox="1"/>
          <p:nvPr/>
        </p:nvSpPr>
        <p:spPr>
          <a:xfrm>
            <a:off x="548640" y="1783080"/>
            <a:ext cx="2560320" cy="77724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쓰는 코드</a:t>
            </a:r>
            <a:endParaRPr lang="ko-KR" altLang="en-US" sz="1400" dirty="0"/>
          </a:p>
          <a:p>
            <a:pPr algn="ctr" indent="0" marL="0" eaLnBrk="0">
              <a:buNone/>
            </a:pPr>
            <a:r>
              <a:rPr lang="ko-KR" altLang="en-US" sz="1400" b="1" dirty="0">
                <a:solidFill>
                  <a:schemeClr val="bg1"/>
                </a:solidFill>
              </a:rPr>
              <a:t>물리 · AI · 메뉴</a:t>
            </a:r>
            <a:endParaRPr lang="ko-KR" altLang="en-US" sz="1400" dirty="0"/>
          </a:p>
        </p:txBody>
      </p:sp>
      <p:sp>
        <p:nvSpPr>
          <p:cNvPr id="8" name="box"/>
          <p:cNvSpPr/>
          <p:nvPr/>
        </p:nvSpPr>
        <p:spPr>
          <a:xfrm>
            <a:off x="4297680" y="1783080"/>
            <a:ext cx="2926080" cy="777240"/>
          </a:xfrm>
          <a:prstGeom prst="roundRect">
            <a:avLst>
              <a:gd name="adj" fmla="val 9412"/>
            </a:avLst>
          </a:prstGeom>
          <a:solidFill>
            <a:schemeClr val="accent1"/>
          </a:solidFill>
          <a:ln w="12700">
            <a:solidFill>
              <a:schemeClr val="accent1"/>
            </a:solidFill>
            <a:prstDash val="solid"/>
          </a:ln>
        </p:spPr>
      </p:sp>
      <p:sp>
        <p:nvSpPr>
          <p:cNvPr id="9" name="Text 6"/>
          <p:cNvSpPr txBox="1"/>
          <p:nvPr/>
        </p:nvSpPr>
        <p:spPr>
          <a:xfrm>
            <a:off x="4297680" y="1783080"/>
            <a:ext cx="2926080" cy="77724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서비스 중개자</a:t>
            </a:r>
            <a:endParaRPr lang="ko-KR" altLang="en-US" sz="1500" dirty="0"/>
          </a:p>
          <a:p>
            <a:pPr algn="ctr" indent="0" marL="0" eaLnBrk="0">
              <a:buNone/>
            </a:pPr>
            <a:r>
              <a:rPr lang="ko-KR" altLang="en-US" sz="1500" b="1" dirty="0">
                <a:solidFill>
                  <a:schemeClr val="bg1"/>
                </a:solidFill>
              </a:rPr>
              <a:t>Locator</a:t>
            </a:r>
            <a:endParaRPr lang="ko-KR" altLang="en-US" sz="1500" dirty="0"/>
          </a:p>
        </p:txBody>
      </p:sp>
      <p:sp>
        <p:nvSpPr>
          <p:cNvPr id="10" name="box"/>
          <p:cNvSpPr/>
          <p:nvPr/>
        </p:nvSpPr>
        <p:spPr>
          <a:xfrm>
            <a:off x="8412480" y="1783080"/>
            <a:ext cx="3200400" cy="777240"/>
          </a:xfrm>
          <a:prstGeom prst="roundRect">
            <a:avLst>
              <a:gd name="adj" fmla="val 9412"/>
            </a:avLst>
          </a:prstGeom>
          <a:solidFill>
            <a:schemeClr val="tx2"/>
          </a:solidFill>
          <a:ln w="12700">
            <a:solidFill>
              <a:schemeClr val="tx2"/>
            </a:solidFill>
            <a:prstDash val="solid"/>
          </a:ln>
        </p:spPr>
      </p:sp>
      <p:sp>
        <p:nvSpPr>
          <p:cNvPr id="11" name="Text 8"/>
          <p:cNvSpPr txBox="1"/>
          <p:nvPr/>
        </p:nvSpPr>
        <p:spPr>
          <a:xfrm>
            <a:off x="8412480" y="1783080"/>
            <a:ext cx="3200400" cy="77724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서비스</a:t>
            </a:r>
            <a:endParaRPr lang="ko-KR" altLang="en-US" sz="1500" dirty="0"/>
          </a:p>
          <a:p>
            <a:pPr algn="ctr" indent="0" marL="0" eaLnBrk="0">
              <a:buNone/>
            </a:pPr>
            <a:r>
              <a:rPr lang="ko-KR" altLang="en-US" sz="1500" b="1" dirty="0">
                <a:solidFill>
                  <a:schemeClr val="bg1"/>
                </a:solidFill>
              </a:rPr>
              <a:t>IAudio</a:t>
            </a:r>
            <a:endParaRPr lang="ko-KR" altLang="en-US" sz="1500" dirty="0"/>
          </a:p>
        </p:txBody>
      </p:sp>
      <p:sp>
        <p:nvSpPr>
          <p:cNvPr id="12" name="box"/>
          <p:cNvSpPr/>
          <p:nvPr/>
        </p:nvSpPr>
        <p:spPr>
          <a:xfrm>
            <a:off x="8412480" y="3063240"/>
            <a:ext cx="3200400" cy="777240"/>
          </a:xfrm>
          <a:prstGeom prst="roundRect">
            <a:avLst>
              <a:gd name="adj" fmla="val 9412"/>
            </a:avLst>
          </a:prstGeom>
          <a:solidFill>
            <a:schemeClr val="bg2"/>
          </a:solidFill>
          <a:ln w="12700">
            <a:solidFill>
              <a:schemeClr val="bg2"/>
            </a:solidFill>
            <a:prstDash val="solid"/>
          </a:ln>
        </p:spPr>
      </p:sp>
      <p:sp>
        <p:nvSpPr>
          <p:cNvPr id="13" name="Text 10"/>
          <p:cNvSpPr txBox="1"/>
          <p:nvPr/>
        </p:nvSpPr>
        <p:spPr>
          <a:xfrm>
            <a:off x="8412480" y="3063240"/>
            <a:ext cx="3200400" cy="777240"/>
          </a:xfrm>
          <a:prstGeom prst="rect">
            <a:avLst/>
          </a:prstGeom>
          <a:noFill/>
          <a:ln/>
        </p:spPr>
        <p:txBody>
          <a:bodyPr wrap="square" lIns="635" tIns="635" rIns="635" bIns="635" rtlCol="0" anchor="ctr"/>
          <a:lstStyle/>
          <a:p>
            <a:pPr algn="ctr" indent="0" marL="0" eaLnBrk="0">
              <a:buNone/>
            </a:pPr>
            <a:r>
              <a:rPr lang="ko-KR" altLang="en-US" sz="1500" b="1" dirty="0">
                <a:solidFill>
                  <a:schemeClr val="tx1"/>
                </a:solidFill>
              </a:rPr>
              <a:t>서비스 제공자</a:t>
            </a:r>
            <a:endParaRPr lang="ko-KR" altLang="en-US" sz="1500" dirty="0"/>
          </a:p>
          <a:p>
            <a:pPr algn="ctr" indent="0" marL="0" eaLnBrk="0">
              <a:buNone/>
            </a:pPr>
            <a:r>
              <a:rPr lang="ko-KR" altLang="en-US" sz="1500" b="1" dirty="0">
                <a:solidFill>
                  <a:schemeClr val="tx1"/>
                </a:solidFill>
              </a:rPr>
              <a:t>ConsoleAudio</a:t>
            </a:r>
            <a:endParaRPr lang="ko-KR" altLang="en-US" sz="1500" dirty="0"/>
          </a:p>
        </p:txBody>
      </p:sp>
      <p:sp>
        <p:nvSpPr>
          <p:cNvPr id="14" name="box"/>
          <p:cNvSpPr/>
          <p:nvPr/>
        </p:nvSpPr>
        <p:spPr>
          <a:xfrm>
            <a:off x="548640" y="3063240"/>
            <a:ext cx="2560320" cy="777240"/>
          </a:xfrm>
          <a:prstGeom prst="roundRect">
            <a:avLst>
              <a:gd name="adj" fmla="val 9412"/>
            </a:avLst>
          </a:prstGeom>
          <a:solidFill>
            <a:schemeClr val="bg2"/>
          </a:solidFill>
          <a:ln w="12700">
            <a:solidFill>
              <a:schemeClr val="bg2"/>
            </a:solidFill>
            <a:prstDash val="solid"/>
          </a:ln>
        </p:spPr>
      </p:sp>
      <p:sp>
        <p:nvSpPr>
          <p:cNvPr id="15" name="Text 12"/>
          <p:cNvSpPr txBox="1"/>
          <p:nvPr/>
        </p:nvSpPr>
        <p:spPr>
          <a:xfrm>
            <a:off x="548640" y="3063240"/>
            <a:ext cx="2560320" cy="777240"/>
          </a:xfrm>
          <a:prstGeom prst="rect">
            <a:avLst/>
          </a:prstGeom>
          <a:noFill/>
          <a:ln/>
        </p:spPr>
        <p:txBody>
          <a:bodyPr wrap="square" lIns="635" tIns="635" rIns="635" bIns="635" rtlCol="0" anchor="ctr"/>
          <a:lstStyle/>
          <a:p>
            <a:pPr algn="ctr" indent="0" marL="0" eaLnBrk="0">
              <a:buNone/>
            </a:pPr>
            <a:r>
              <a:rPr lang="ko-KR" altLang="en-US" sz="1500" b="1" dirty="0">
                <a:solidFill>
                  <a:schemeClr val="tx1"/>
                </a:solidFill>
              </a:rPr>
              <a:t>초기화 코드</a:t>
            </a:r>
            <a:endParaRPr lang="ko-KR" altLang="en-US" sz="1500" dirty="0"/>
          </a:p>
        </p:txBody>
      </p:sp>
      <p:sp>
        <p:nvSpPr>
          <p:cNvPr id="16" name="Shape 13"/>
          <p:cNvSpPr/>
          <p:nvPr/>
        </p:nvSpPr>
        <p:spPr>
          <a:xfrm>
            <a:off x="3154680" y="2167128"/>
            <a:ext cx="1097280" cy="914"/>
          </a:xfrm>
          <a:prstGeom prst="line">
            <a:avLst/>
          </a:prstGeom>
          <a:noFill/>
          <a:ln w="22225">
            <a:solidFill>
              <a:schemeClr val="accent3"/>
            </a:solidFill>
            <a:prstDash val="solid"/>
            <a:tailEnd type="triangle"/>
          </a:ln>
        </p:spPr>
      </p:sp>
      <p:sp>
        <p:nvSpPr>
          <p:cNvPr id="17" name="Text 14"/>
          <p:cNvSpPr txBox="1"/>
          <p:nvPr/>
        </p:nvSpPr>
        <p:spPr>
          <a:xfrm>
            <a:off x="3063240" y="1490472"/>
            <a:ext cx="1280160" cy="274320"/>
          </a:xfrm>
          <a:prstGeom prst="rect">
            <a:avLst/>
          </a:prstGeom>
          <a:noFill/>
          <a:ln/>
        </p:spPr>
        <p:txBody>
          <a:bodyPr wrap="square" lIns="0" tIns="0" rIns="0" bIns="0" rtlCol="0" anchor="t"/>
          <a:lstStyle/>
          <a:p>
            <a:pPr algn="ctr" indent="0" marL="0" eaLnBrk="0">
              <a:buNone/>
            </a:pPr>
            <a:r>
              <a:rPr lang="ko-KR" altLang="en-US" sz="1200" b="1" dirty="0">
                <a:solidFill>
                  <a:schemeClr val="accent5"/>
                </a:solidFill>
              </a:rPr>
              <a:t>GetAudio()</a:t>
            </a:r>
            <a:endParaRPr lang="ko-KR" altLang="en-US" sz="1200" dirty="0"/>
          </a:p>
        </p:txBody>
      </p:sp>
      <p:sp>
        <p:nvSpPr>
          <p:cNvPr id="18" name="Shape 15"/>
          <p:cNvSpPr/>
          <p:nvPr/>
        </p:nvSpPr>
        <p:spPr>
          <a:xfrm>
            <a:off x="7269480" y="2167128"/>
            <a:ext cx="1097280" cy="914"/>
          </a:xfrm>
          <a:prstGeom prst="line">
            <a:avLst/>
          </a:prstGeom>
          <a:noFill/>
          <a:ln w="22225">
            <a:solidFill>
              <a:schemeClr val="accent3"/>
            </a:solidFill>
            <a:prstDash val="solid"/>
            <a:tailEnd type="triangle"/>
          </a:ln>
        </p:spPr>
      </p:sp>
      <p:sp>
        <p:nvSpPr>
          <p:cNvPr id="19" name="Text 16"/>
          <p:cNvSpPr txBox="1"/>
          <p:nvPr/>
        </p:nvSpPr>
        <p:spPr>
          <a:xfrm>
            <a:off x="7223760" y="1490472"/>
            <a:ext cx="1188720" cy="274320"/>
          </a:xfrm>
          <a:prstGeom prst="rect">
            <a:avLst/>
          </a:prstGeom>
          <a:noFill/>
          <a:ln/>
        </p:spPr>
        <p:txBody>
          <a:bodyPr wrap="square" lIns="0" tIns="0" rIns="0" bIns="0" rtlCol="0" anchor="t"/>
          <a:lstStyle/>
          <a:p>
            <a:pPr algn="ctr" indent="0" marL="0" eaLnBrk="0">
              <a:buNone/>
            </a:pPr>
            <a:r>
              <a:rPr lang="ko-KR" altLang="en-US" sz="1200" b="1" dirty="0">
                <a:solidFill>
                  <a:schemeClr val="accent5"/>
                </a:solidFill>
              </a:rPr>
              <a:t>돌려준다</a:t>
            </a:r>
            <a:endParaRPr lang="ko-KR" altLang="en-US" sz="1200" dirty="0"/>
          </a:p>
        </p:txBody>
      </p:sp>
      <p:sp>
        <p:nvSpPr>
          <p:cNvPr id="20" name="Shape 17"/>
          <p:cNvSpPr/>
          <p:nvPr/>
        </p:nvSpPr>
        <p:spPr>
          <a:xfrm flipV="1">
            <a:off x="10012680" y="2606040"/>
            <a:ext cx="914" cy="411480"/>
          </a:xfrm>
          <a:prstGeom prst="line">
            <a:avLst/>
          </a:prstGeom>
          <a:noFill/>
          <a:ln w="22225">
            <a:solidFill>
              <a:schemeClr val="accent3"/>
            </a:solidFill>
            <a:prstDash val="dash"/>
            <a:tailEnd type="triangle"/>
          </a:ln>
        </p:spPr>
      </p:sp>
      <p:sp>
        <p:nvSpPr>
          <p:cNvPr id="21" name="Text 18"/>
          <p:cNvSpPr txBox="1"/>
          <p:nvPr/>
        </p:nvSpPr>
        <p:spPr>
          <a:xfrm>
            <a:off x="10104120" y="2743200"/>
            <a:ext cx="1097280" cy="274320"/>
          </a:xfrm>
          <a:prstGeom prst="rect">
            <a:avLst/>
          </a:prstGeom>
          <a:noFill/>
          <a:ln/>
        </p:spPr>
        <p:txBody>
          <a:bodyPr wrap="square" lIns="0" tIns="0" rIns="0" bIns="0" rtlCol="0" anchor="t"/>
          <a:lstStyle/>
          <a:p>
            <a:pPr algn="ctr" indent="0" marL="0" eaLnBrk="0">
              <a:buNone/>
            </a:pPr>
            <a:r>
              <a:rPr lang="ko-KR" altLang="en-US" sz="1200" b="1" dirty="0">
                <a:solidFill>
                  <a:schemeClr val="accent5"/>
                </a:solidFill>
              </a:rPr>
              <a:t>구현한다</a:t>
            </a:r>
            <a:endParaRPr lang="ko-KR" altLang="en-US" sz="1200" dirty="0"/>
          </a:p>
        </p:txBody>
      </p:sp>
      <p:sp>
        <p:nvSpPr>
          <p:cNvPr id="22" name="Shape 19"/>
          <p:cNvSpPr/>
          <p:nvPr/>
        </p:nvSpPr>
        <p:spPr>
          <a:xfrm flipV="1">
            <a:off x="3154680" y="2606040"/>
            <a:ext cx="2606040" cy="841248"/>
          </a:xfrm>
          <a:prstGeom prst="line">
            <a:avLst/>
          </a:prstGeom>
          <a:noFill/>
          <a:ln w="22225">
            <a:solidFill>
              <a:schemeClr val="accent3"/>
            </a:solidFill>
            <a:prstDash val="solid"/>
            <a:tailEnd type="triangle"/>
          </a:ln>
        </p:spPr>
      </p:sp>
      <p:sp>
        <p:nvSpPr>
          <p:cNvPr id="23" name="Text 20"/>
          <p:cNvSpPr txBox="1"/>
          <p:nvPr/>
        </p:nvSpPr>
        <p:spPr>
          <a:xfrm>
            <a:off x="4434840" y="3200400"/>
            <a:ext cx="1280160" cy="274320"/>
          </a:xfrm>
          <a:prstGeom prst="rect">
            <a:avLst/>
          </a:prstGeom>
          <a:noFill/>
          <a:ln/>
        </p:spPr>
        <p:txBody>
          <a:bodyPr wrap="square" lIns="0" tIns="0" rIns="0" bIns="0" rtlCol="0" anchor="t"/>
          <a:lstStyle/>
          <a:p>
            <a:pPr algn="ctr" indent="0" marL="0" eaLnBrk="0">
              <a:buNone/>
            </a:pPr>
            <a:r>
              <a:rPr lang="ko-KR" altLang="en-US" sz="1200" b="1" dirty="0">
                <a:solidFill>
                  <a:schemeClr val="accent5"/>
                </a:solidFill>
              </a:rPr>
              <a:t>Provide()</a:t>
            </a:r>
            <a:endParaRPr lang="ko-KR" altLang="en-US" sz="1200" dirty="0"/>
          </a:p>
        </p:txBody>
      </p:sp>
      <p:sp>
        <p:nvSpPr>
          <p:cNvPr id="24" name="card"/>
          <p:cNvSpPr/>
          <p:nvPr/>
        </p:nvSpPr>
        <p:spPr>
          <a:xfrm>
            <a:off x="548640" y="4114800"/>
            <a:ext cx="3545738" cy="1554480"/>
          </a:xfrm>
          <a:prstGeom prst="roundRect">
            <a:avLst>
              <a:gd name="adj" fmla="val 5882"/>
            </a:avLst>
          </a:prstGeom>
          <a:solidFill>
            <a:schemeClr val="bg2"/>
          </a:solidFill>
          <a:ln w="12700">
            <a:solidFill>
              <a:schemeClr val="bg2"/>
            </a:solidFill>
            <a:prstDash val="solid"/>
          </a:ln>
        </p:spPr>
      </p:sp>
      <p:sp>
        <p:nvSpPr>
          <p:cNvPr id="25" name="Text 22"/>
          <p:cNvSpPr txBox="1"/>
          <p:nvPr/>
        </p:nvSpPr>
        <p:spPr>
          <a:xfrm>
            <a:off x="777240" y="4334256"/>
            <a:ext cx="313425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서비스</a:t>
            </a:r>
            <a:endParaRPr lang="ko-KR" altLang="en-US" sz="1700" dirty="0"/>
          </a:p>
        </p:txBody>
      </p:sp>
      <p:sp>
        <p:nvSpPr>
          <p:cNvPr id="26" name="Text 23"/>
          <p:cNvSpPr txBox="1"/>
          <p:nvPr/>
        </p:nvSpPr>
        <p:spPr>
          <a:xfrm>
            <a:off x="777240" y="4892040"/>
            <a:ext cx="3088538" cy="64008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기능의 약속. 어떤 메서드가 있는지만 정한다.</a:t>
            </a:r>
            <a:endParaRPr lang="ko-KR" altLang="en-US" sz="1400" dirty="0"/>
          </a:p>
        </p:txBody>
      </p:sp>
      <p:sp>
        <p:nvSpPr>
          <p:cNvPr id="27" name="card"/>
          <p:cNvSpPr/>
          <p:nvPr/>
        </p:nvSpPr>
        <p:spPr>
          <a:xfrm>
            <a:off x="4322978" y="4114800"/>
            <a:ext cx="3545738" cy="1554480"/>
          </a:xfrm>
          <a:prstGeom prst="roundRect">
            <a:avLst>
              <a:gd name="adj" fmla="val 5882"/>
            </a:avLst>
          </a:prstGeom>
          <a:solidFill>
            <a:schemeClr val="bg2"/>
          </a:solidFill>
          <a:ln w="12700">
            <a:solidFill>
              <a:schemeClr val="bg2"/>
            </a:solidFill>
            <a:prstDash val="solid"/>
          </a:ln>
        </p:spPr>
      </p:sp>
      <p:sp>
        <p:nvSpPr>
          <p:cNvPr id="28" name="Text 25"/>
          <p:cNvSpPr txBox="1"/>
          <p:nvPr/>
        </p:nvSpPr>
        <p:spPr>
          <a:xfrm>
            <a:off x="4551578" y="4334256"/>
            <a:ext cx="313425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서비스 제공자</a:t>
            </a:r>
            <a:endParaRPr lang="ko-KR" altLang="en-US" sz="1700" dirty="0"/>
          </a:p>
        </p:txBody>
      </p:sp>
      <p:sp>
        <p:nvSpPr>
          <p:cNvPr id="29" name="Text 26"/>
          <p:cNvSpPr txBox="1"/>
          <p:nvPr/>
        </p:nvSpPr>
        <p:spPr>
          <a:xfrm>
            <a:off x="4551578" y="4892040"/>
            <a:ext cx="3088538" cy="64008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약속을 실제로 구현한 구체 클래스.</a:t>
            </a:r>
            <a:endParaRPr lang="ko-KR" altLang="en-US" sz="1400" dirty="0"/>
          </a:p>
        </p:txBody>
      </p:sp>
      <p:sp>
        <p:nvSpPr>
          <p:cNvPr id="30" name="card"/>
          <p:cNvSpPr/>
          <p:nvPr/>
        </p:nvSpPr>
        <p:spPr>
          <a:xfrm>
            <a:off x="8097317" y="4114800"/>
            <a:ext cx="3545738" cy="1554480"/>
          </a:xfrm>
          <a:prstGeom prst="roundRect">
            <a:avLst>
              <a:gd name="adj" fmla="val 5882"/>
            </a:avLst>
          </a:prstGeom>
          <a:solidFill>
            <a:schemeClr val="bg2"/>
          </a:solidFill>
          <a:ln w="12700">
            <a:solidFill>
              <a:schemeClr val="bg2"/>
            </a:solidFill>
            <a:prstDash val="solid"/>
          </a:ln>
        </p:spPr>
      </p:sp>
      <p:sp>
        <p:nvSpPr>
          <p:cNvPr id="31" name="Text 28"/>
          <p:cNvSpPr txBox="1"/>
          <p:nvPr/>
        </p:nvSpPr>
        <p:spPr>
          <a:xfrm>
            <a:off x="8325917" y="4334256"/>
            <a:ext cx="313425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서비스 중개자</a:t>
            </a:r>
            <a:endParaRPr lang="ko-KR" altLang="en-US" sz="1700" dirty="0"/>
          </a:p>
        </p:txBody>
      </p:sp>
      <p:sp>
        <p:nvSpPr>
          <p:cNvPr id="32" name="Text 29"/>
          <p:cNvSpPr txBox="1"/>
          <p:nvPr/>
        </p:nvSpPr>
        <p:spPr>
          <a:xfrm>
            <a:off x="8325917" y="4892040"/>
            <a:ext cx="3088538" cy="64008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제공자를 찾아 돌려준다. 구체 타입과 찾는 과정을 숨긴다.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서비스와 제공자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IAudio가 약속을 정하고, ConsoleAudio가 그 약속을 구현한다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쓰는 코드는 이 제공자를 어디서 얻을까?</a:t>
            </a:r>
            <a:endParaRPr lang="ko-KR" altLang="en-US" sz="1500" dirty="0"/>
          </a:p>
        </p:txBody>
      </p:sp>
      <p:sp>
        <p:nvSpPr>
          <p:cNvPr id="6" name="codePanel"/>
          <p:cNvSpPr/>
          <p:nvPr/>
        </p:nvSpPr>
        <p:spPr>
          <a:xfrm>
            <a:off x="548640" y="1691640"/>
            <a:ext cx="4754880" cy="1828800"/>
          </a:xfrm>
          <a:prstGeom prst="roundRect">
            <a:avLst>
              <a:gd name="adj" fmla="val 4000"/>
            </a:avLst>
          </a:prstGeom>
          <a:solidFill>
            <a:schemeClr val="tx1"/>
          </a:solidFill>
          <a:ln w="12700">
            <a:solidFill>
              <a:schemeClr val="tx1"/>
            </a:solidFill>
            <a:prstDash val="solid"/>
          </a:ln>
        </p:spPr>
      </p:sp>
      <p:sp>
        <p:nvSpPr>
          <p:cNvPr id="7" name="code"/>
          <p:cNvSpPr txBox="1"/>
          <p:nvPr/>
        </p:nvSpPr>
        <p:spPr>
          <a:xfrm>
            <a:off x="658368" y="1783080"/>
            <a:ext cx="4535424" cy="164592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interface IAudio</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void PlaySound(int soundId);</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void StopSound(int soundId);</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void StopAllSounds();</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ard"/>
          <p:cNvSpPr/>
          <p:nvPr/>
        </p:nvSpPr>
        <p:spPr>
          <a:xfrm>
            <a:off x="548640" y="3749040"/>
            <a:ext cx="4754880" cy="1874520"/>
          </a:xfrm>
          <a:prstGeom prst="roundRect">
            <a:avLst>
              <a:gd name="adj" fmla="val 4878"/>
            </a:avLst>
          </a:prstGeom>
          <a:solidFill>
            <a:schemeClr val="bg2"/>
          </a:solidFill>
          <a:ln w="12700">
            <a:solidFill>
              <a:schemeClr val="bg2"/>
            </a:solidFill>
            <a:prstDash val="solid"/>
          </a:ln>
        </p:spPr>
      </p:sp>
      <p:sp>
        <p:nvSpPr>
          <p:cNvPr id="9" name="Text 6"/>
          <p:cNvSpPr txBox="1"/>
          <p:nvPr/>
        </p:nvSpPr>
        <p:spPr>
          <a:xfrm>
            <a:off x="777240" y="3968496"/>
            <a:ext cx="434340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서비스</a:t>
            </a:r>
            <a:endParaRPr lang="ko-KR" altLang="en-US" sz="1700" dirty="0"/>
          </a:p>
        </p:txBody>
      </p:sp>
      <p:sp>
        <p:nvSpPr>
          <p:cNvPr id="10" name="Text 7"/>
          <p:cNvSpPr txBox="1"/>
          <p:nvPr/>
        </p:nvSpPr>
        <p:spPr>
          <a:xfrm>
            <a:off x="777240" y="4526280"/>
            <a:ext cx="4297680" cy="96012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무엇을 할 수 있는지만 정한다. 어떻게 소리를 내는지는 모른다.</a:t>
            </a:r>
            <a:endParaRPr lang="ko-KR" altLang="en-US" sz="1400" dirty="0"/>
          </a:p>
        </p:txBody>
      </p:sp>
      <p:sp>
        <p:nvSpPr>
          <p:cNvPr id="11" name="codePanel"/>
          <p:cNvSpPr/>
          <p:nvPr/>
        </p:nvSpPr>
        <p:spPr>
          <a:xfrm>
            <a:off x="5577840" y="1691640"/>
            <a:ext cx="6065215" cy="3611880"/>
          </a:xfrm>
          <a:prstGeom prst="roundRect">
            <a:avLst>
              <a:gd name="adj" fmla="val 2025"/>
            </a:avLst>
          </a:prstGeom>
          <a:solidFill>
            <a:schemeClr val="tx1"/>
          </a:solidFill>
          <a:ln w="12700">
            <a:solidFill>
              <a:schemeClr val="tx1"/>
            </a:solidFill>
            <a:prstDash val="solid"/>
          </a:ln>
        </p:spPr>
      </p:sp>
      <p:sp>
        <p:nvSpPr>
          <p:cNvPr id="12" name="code"/>
          <p:cNvSpPr txBox="1"/>
          <p:nvPr/>
        </p:nvSpPr>
        <p:spPr>
          <a:xfrm>
            <a:off x="5687568" y="1783080"/>
            <a:ext cx="5845759" cy="3429000"/>
          </a:xfrm>
          <a:prstGeom prst="rect">
            <a:avLst/>
          </a:prstGeom>
          <a:noFill/>
          <a:ln/>
        </p:spPr>
        <p:txBody>
          <a:bodyPr wrap="square" lIns="635" tIns="635" rIns="635" bIns="635" rtlCol="0" anchor="t"/>
          <a:lstStyle/>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public class ConsoleAudio : IAudio</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void PlaySound(int soundId)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게임기의 오디오 기능으로 소리를 낸다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void StopSound(int soundId)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게임기의 오디오 기능으로 소리를 멈춘다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void StopAllSounds()</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게임기의 오디오 기능으로 모든 소리를 멈춘다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13" name="Text 10"/>
          <p:cNvSpPr txBox="1"/>
          <p:nvPr/>
        </p:nvSpPr>
        <p:spPr>
          <a:xfrm>
            <a:off x="5577840" y="5349240"/>
            <a:ext cx="6065215" cy="256032"/>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 예제를 C#으로 옮긴 코드</a:t>
            </a:r>
            <a:endParaRPr lang="ko-KR" alt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중개자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Locator는 제공자를 담아 두었다가 달라는 곳에 돌려준다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구조에서 ConsoleAudio를 아는 코드는 어디일까?</a:t>
            </a:r>
            <a:endParaRPr lang="ko-KR" altLang="en-US" sz="1500" dirty="0"/>
          </a:p>
        </p:txBody>
      </p:sp>
      <p:sp>
        <p:nvSpPr>
          <p:cNvPr id="6" name="codePanel"/>
          <p:cNvSpPr/>
          <p:nvPr/>
        </p:nvSpPr>
        <p:spPr>
          <a:xfrm>
            <a:off x="548640" y="1691640"/>
            <a:ext cx="6217920" cy="3108960"/>
          </a:xfrm>
          <a:prstGeom prst="roundRect">
            <a:avLst>
              <a:gd name="adj" fmla="val 2353"/>
            </a:avLst>
          </a:prstGeom>
          <a:solidFill>
            <a:schemeClr val="tx1"/>
          </a:solidFill>
          <a:ln w="12700">
            <a:solidFill>
              <a:schemeClr val="tx1"/>
            </a:solidFill>
            <a:prstDash val="solid"/>
          </a:ln>
        </p:spPr>
      </p:sp>
      <p:sp>
        <p:nvSpPr>
          <p:cNvPr id="7" name="code"/>
          <p:cNvSpPr txBox="1"/>
          <p:nvPr/>
        </p:nvSpPr>
        <p:spPr>
          <a:xfrm>
            <a:off x="658368" y="1783080"/>
            <a:ext cx="5998464" cy="292608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public static class Locator</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static IAudio _service;</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public static IAudio GetAudio() { return _service;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public static void Provide(IAudio service)</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_service = service;</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p:txBody>
      </p:sp>
      <p:sp>
        <p:nvSpPr>
          <p:cNvPr id="8" name="codeCaption"/>
          <p:cNvSpPr txBox="1"/>
          <p:nvPr/>
        </p:nvSpPr>
        <p:spPr>
          <a:xfrm>
            <a:off x="3657600" y="178308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548640" y="4983480"/>
            <a:ext cx="6217920" cy="731520"/>
          </a:xfrm>
          <a:prstGeom prst="roundRect">
            <a:avLst>
              <a:gd name="adj" fmla="val 12500"/>
            </a:avLst>
          </a:prstGeom>
          <a:solidFill>
            <a:schemeClr val="bg2"/>
          </a:solidFill>
          <a:ln w="12700">
            <a:solidFill>
              <a:schemeClr val="bg2"/>
            </a:solidFill>
            <a:prstDash val="solid"/>
          </a:ln>
        </p:spPr>
      </p:sp>
      <p:sp>
        <p:nvSpPr>
          <p:cNvPr id="10" name="Text 7"/>
          <p:cNvSpPr txBox="1"/>
          <p:nvPr/>
        </p:nvSpPr>
        <p:spPr>
          <a:xfrm>
            <a:off x="777240" y="5202936"/>
            <a:ext cx="580644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정적 필드 하나에 서비스를 담는다.</a:t>
            </a:r>
            <a:endParaRPr lang="ko-KR" altLang="en-US" sz="1700" dirty="0"/>
          </a:p>
        </p:txBody>
      </p:sp>
      <p:sp>
        <p:nvSpPr>
          <p:cNvPr id="11" name="Text 8"/>
          <p:cNvSpPr txBox="1"/>
          <p:nvPr/>
        </p:nvSpPr>
        <p:spPr>
          <a:xfrm>
            <a:off x="7132320" y="1691640"/>
            <a:ext cx="4510735"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게임을 시작할 때 한 번</a:t>
            </a:r>
            <a:endParaRPr lang="ko-KR" altLang="en-US" sz="1600" dirty="0"/>
          </a:p>
        </p:txBody>
      </p:sp>
      <p:sp>
        <p:nvSpPr>
          <p:cNvPr id="12" name="codePanel"/>
          <p:cNvSpPr/>
          <p:nvPr/>
        </p:nvSpPr>
        <p:spPr>
          <a:xfrm>
            <a:off x="7132320" y="2103120"/>
            <a:ext cx="4510735" cy="914400"/>
          </a:xfrm>
          <a:prstGeom prst="roundRect">
            <a:avLst>
              <a:gd name="adj" fmla="val 8000"/>
            </a:avLst>
          </a:prstGeom>
          <a:solidFill>
            <a:schemeClr val="tx1"/>
          </a:solidFill>
          <a:ln w="12700">
            <a:solidFill>
              <a:schemeClr val="tx1"/>
            </a:solidFill>
            <a:prstDash val="solid"/>
          </a:ln>
        </p:spPr>
      </p:sp>
      <p:sp>
        <p:nvSpPr>
          <p:cNvPr id="13" name="code"/>
          <p:cNvSpPr txBox="1"/>
          <p:nvPr/>
        </p:nvSpPr>
        <p:spPr>
          <a:xfrm>
            <a:off x="7242048" y="2194560"/>
            <a:ext cx="4291279" cy="73152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ConsoleAudio audio = new ConsoleAudio();</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Locator.Provide(audio);</a:t>
            </a:r>
            <a:endParaRPr lang="ko-KR" altLang="en-US" sz="1300" dirty="0"/>
          </a:p>
        </p:txBody>
      </p:sp>
      <p:sp>
        <p:nvSpPr>
          <p:cNvPr id="14" name="Text 11"/>
          <p:cNvSpPr txBox="1"/>
          <p:nvPr/>
        </p:nvSpPr>
        <p:spPr>
          <a:xfrm>
            <a:off x="7132320" y="3291840"/>
            <a:ext cx="4510735"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소리가 필요한 곳 어디서나</a:t>
            </a:r>
            <a:endParaRPr lang="ko-KR" altLang="en-US" sz="1600" dirty="0"/>
          </a:p>
        </p:txBody>
      </p:sp>
      <p:sp>
        <p:nvSpPr>
          <p:cNvPr id="15" name="codePanel"/>
          <p:cNvSpPr/>
          <p:nvPr/>
        </p:nvSpPr>
        <p:spPr>
          <a:xfrm>
            <a:off x="7132320" y="3703320"/>
            <a:ext cx="4510735" cy="914400"/>
          </a:xfrm>
          <a:prstGeom prst="roundRect">
            <a:avLst>
              <a:gd name="adj" fmla="val 8000"/>
            </a:avLst>
          </a:prstGeom>
          <a:solidFill>
            <a:schemeClr val="tx1"/>
          </a:solidFill>
          <a:ln w="12700">
            <a:solidFill>
              <a:schemeClr val="tx1"/>
            </a:solidFill>
            <a:prstDash val="solid"/>
          </a:ln>
        </p:spPr>
      </p:sp>
      <p:sp>
        <p:nvSpPr>
          <p:cNvPr id="16" name="code"/>
          <p:cNvSpPr txBox="1"/>
          <p:nvPr/>
        </p:nvSpPr>
        <p:spPr>
          <a:xfrm>
            <a:off x="7242048" y="3794760"/>
            <a:ext cx="4291279" cy="731520"/>
          </a:xfrm>
          <a:prstGeom prst="rect">
            <a:avLst/>
          </a:prstGeom>
          <a:noFill/>
          <a:ln/>
        </p:spPr>
        <p:txBody>
          <a:bodyPr wrap="square" lIns="635" tIns="635" rIns="635" bIns="635" rtlCol="0" anchor="t"/>
          <a:lstStyle/>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IAudio audio = Locator.GetAudio();</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audio.PlaySound(VeryLoudBang);</a:t>
            </a:r>
            <a:endParaRPr lang="ko-KR" altLang="en-US" sz="1300" dirty="0"/>
          </a:p>
        </p:txBody>
      </p:sp>
      <p:sp>
        <p:nvSpPr>
          <p:cNvPr id="17" name="Text 14"/>
          <p:cNvSpPr txBox="1"/>
          <p:nvPr/>
        </p:nvSpPr>
        <p:spPr>
          <a:xfrm>
            <a:off x="7132320" y="4846320"/>
            <a:ext cx="4510735" cy="457200"/>
          </a:xfrm>
          <a:prstGeom prst="rect">
            <a:avLst/>
          </a:prstGeom>
          <a:noFill/>
          <a:ln/>
        </p:spPr>
        <p:txBody>
          <a:bodyPr wrap="square" lIns="0" tIns="0" rIns="0" bIns="0" rtlCol="0" anchor="t"/>
          <a:lstStyle/>
          <a:p>
            <a:pPr indent="0" marL="0" eaLnBrk="0">
              <a:buNone/>
            </a:pPr>
            <a:r>
              <a:rPr lang="ko-KR" altLang="en-US" sz="1400" dirty="0">
                <a:solidFill>
                  <a:schemeClr val="accent5"/>
                </a:solidFill>
              </a:rPr>
              <a:t>두 코드는 서로 다른 곳에 있다.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아는 것과 모르는 것</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구체 클래스를 아는 곳은 초기화 코드 한 곳뿐이다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등록부터 재생까지 값을 따라가 보자.</a:t>
            </a:r>
            <a:endParaRPr lang="ko-KR" alt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657600"/>
                <a:gridCol w="3657600"/>
                <a:gridCol w="3779215"/>
              </a:tblGrid>
              <a:tr h="502920">
                <a:tc>
                  <a:txBody>
                    <a:bodyPr/>
                    <a:lstStyle/>
                    <a:p>
                      <a:pPr indent="0" marL="0" eaLnBrk="0">
                        <a:buNone/>
                      </a:pPr>
                      <a:r>
                        <a:rPr lang="ko-KR" altLang="en-US" sz="1500" b="1" dirty="0">
                          <a:solidFill>
                            <a:schemeClr val="bg1"/>
                          </a:solidFill>
                        </a:rPr>
                        <a:t>코드</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아는 것</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모르는 것</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02920">
                <a:tc>
                  <a:txBody>
                    <a:bodyPr/>
                    <a:lstStyle/>
                    <a:p>
                      <a:pPr indent="0" marL="0" eaLnBrk="0">
                        <a:buNone/>
                      </a:pPr>
                      <a:r>
                        <a:rPr lang="ko-KR" altLang="en-US" sz="1500" b="1" dirty="0">
                          <a:solidFill>
                            <a:schemeClr val="tx1"/>
                          </a:solidFill>
                        </a:rPr>
                        <a:t>쓰는 코드 (물리 · AI · 메뉴)</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Locator, IAudio</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ConsoleAudio</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500" b="1" dirty="0">
                          <a:solidFill>
                            <a:schemeClr val="tx1"/>
                          </a:solidFill>
                        </a:rPr>
                        <a:t>중개자 Locator</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IAudio</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ConsoleAudio</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500" b="1" dirty="0">
                          <a:solidFill>
                            <a:schemeClr val="tx1"/>
                          </a:solidFill>
                        </a:rPr>
                        <a:t>초기화 코드</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Locator, ConsoleAudio</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누가 소리를 내는지</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card"/>
          <p:cNvSpPr/>
          <p:nvPr/>
        </p:nvSpPr>
        <p:spPr>
          <a:xfrm>
            <a:off x="548640" y="3931920"/>
            <a:ext cx="5394960" cy="1737360"/>
          </a:xfrm>
          <a:prstGeom prst="roundRect">
            <a:avLst>
              <a:gd name="adj" fmla="val 5263"/>
            </a:avLst>
          </a:prstGeom>
          <a:solidFill>
            <a:schemeClr val="tx2"/>
          </a:solidFill>
          <a:ln w="12700">
            <a:solidFill>
              <a:schemeClr val="tx2"/>
            </a:solidFill>
            <a:prstDash val="solid"/>
          </a:ln>
        </p:spPr>
      </p:sp>
      <p:sp>
        <p:nvSpPr>
          <p:cNvPr id="8" name="Text 4"/>
          <p:cNvSpPr txBox="1"/>
          <p:nvPr/>
        </p:nvSpPr>
        <p:spPr>
          <a:xfrm>
            <a:off x="777240" y="4151376"/>
            <a:ext cx="4983480"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바꿀 곳이 한 곳이다</a:t>
            </a:r>
            <a:endParaRPr lang="ko-KR" altLang="en-US" sz="1700" dirty="0"/>
          </a:p>
        </p:txBody>
      </p:sp>
      <p:sp>
        <p:nvSpPr>
          <p:cNvPr id="9" name="Text 5"/>
          <p:cNvSpPr txBox="1"/>
          <p:nvPr/>
        </p:nvSpPr>
        <p:spPr>
          <a:xfrm>
            <a:off x="777240" y="4709160"/>
            <a:ext cx="4937760" cy="822960"/>
          </a:xfrm>
          <a:prstGeom prst="rect">
            <a:avLst/>
          </a:prstGeom>
          <a:noFill/>
          <a:ln/>
        </p:spPr>
        <p:txBody>
          <a:bodyPr wrap="square" lIns="0" tIns="0" rIns="0" bIns="0" rtlCol="0" anchor="t"/>
          <a:lstStyle/>
          <a:p>
            <a:pPr indent="0" marL="0" eaLnBrk="0">
              <a:buNone/>
            </a:pPr>
            <a:r>
              <a:rPr lang="ko-KR" altLang="en-US" sz="1400" dirty="0">
                <a:solidFill>
                  <a:schemeClr val="bg1"/>
                </a:solidFill>
              </a:rPr>
              <a:t>다른 오디오 구현으로 바꾸려면 초기화 코드에서 Provide에 넘기는 객체만 바꾸면 된다.</a:t>
            </a:r>
            <a:endParaRPr lang="ko-KR" altLang="en-US" sz="1400" dirty="0"/>
          </a:p>
        </p:txBody>
      </p:sp>
      <p:sp>
        <p:nvSpPr>
          <p:cNvPr id="10" name="card"/>
          <p:cNvSpPr/>
          <p:nvPr/>
        </p:nvSpPr>
        <p:spPr>
          <a:xfrm>
            <a:off x="6217920" y="3931920"/>
            <a:ext cx="5425135" cy="1737360"/>
          </a:xfrm>
          <a:prstGeom prst="roundRect">
            <a:avLst>
              <a:gd name="adj" fmla="val 5263"/>
            </a:avLst>
          </a:prstGeom>
          <a:solidFill>
            <a:schemeClr val="tx2"/>
          </a:solidFill>
          <a:ln w="12700">
            <a:solidFill>
              <a:schemeClr val="tx2"/>
            </a:solidFill>
            <a:prstDash val="solid"/>
          </a:ln>
        </p:spPr>
      </p:sp>
      <p:sp>
        <p:nvSpPr>
          <p:cNvPr id="11" name="Text 7"/>
          <p:cNvSpPr txBox="1"/>
          <p:nvPr/>
        </p:nvSpPr>
        <p:spPr>
          <a:xfrm>
            <a:off x="6446520" y="4151376"/>
            <a:ext cx="501365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의존성 주입</a:t>
            </a:r>
            <a:endParaRPr lang="ko-KR" altLang="en-US" sz="1700" dirty="0"/>
          </a:p>
        </p:txBody>
      </p:sp>
      <p:sp>
        <p:nvSpPr>
          <p:cNvPr id="12" name="Text 8"/>
          <p:cNvSpPr txBox="1"/>
          <p:nvPr/>
        </p:nvSpPr>
        <p:spPr>
          <a:xfrm>
            <a:off x="6446520" y="4709160"/>
            <a:ext cx="4967935" cy="822960"/>
          </a:xfrm>
          <a:prstGeom prst="rect">
            <a:avLst/>
          </a:prstGeom>
          <a:noFill/>
          <a:ln/>
        </p:spPr>
        <p:txBody>
          <a:bodyPr wrap="square" lIns="0" tIns="0" rIns="0" bIns="0" rtlCol="0" anchor="t"/>
          <a:lstStyle/>
          <a:p>
            <a:pPr indent="0" marL="0" eaLnBrk="0">
              <a:buNone/>
            </a:pPr>
            <a:r>
              <a:rPr lang="ko-KR" altLang="en-US" sz="1400" dirty="0">
                <a:solidFill>
                  <a:schemeClr val="bg1"/>
                </a:solidFill>
              </a:rPr>
              <a:t>Locator는 제공자를 스스로 만들지 않는다. 바깥 코드가 만들어 넣어 준다.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등록부터 재생까지 _service의 값을 따라간다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그런데 2번 줄보다 3번 줄이 먼저 실행되면 어떻게 될까?</a:t>
            </a:r>
            <a:endParaRPr lang="ko-KR" alt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822960"/>
                <a:gridCol w="4937760"/>
                <a:gridCol w="1828800"/>
                <a:gridCol w="3504895"/>
              </a:tblGrid>
              <a:tr h="566928">
                <a:tc>
                  <a:txBody>
                    <a:bodyPr/>
                    <a:lstStyle/>
                    <a:p>
                      <a:pPr indent="0" marL="0" eaLnBrk="0">
                        <a:buNone/>
                      </a:pPr>
                      <a:r>
                        <a:rPr lang="ko-KR" altLang="en-US" sz="1400" b="1" dirty="0">
                          <a:solidFill>
                            <a:schemeClr val="bg1"/>
                          </a:solidFill>
                        </a:rPr>
                        <a:t>순서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실행한 코드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_service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결과</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66928">
                <a:tc>
                  <a:txBody>
                    <a:bodyPr/>
                    <a:lstStyle/>
                    <a:p>
                      <a:pPr indent="0" marL="0" eaLnBrk="0">
                        <a:buNone/>
                      </a:pPr>
                      <a:r>
                        <a:rPr lang="ko-KR" altLang="en-US" sz="1400" b="1" dirty="0">
                          <a:solidFill>
                            <a:schemeClr val="tx1"/>
                          </a:solidFill>
                        </a:rPr>
                        <a:t>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게임 시작</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null</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아직 등록된 서비스가 없다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66928">
                <a:tc>
                  <a:txBody>
                    <a:bodyPr/>
                    <a:lstStyle/>
                    <a:p>
                      <a:pPr indent="0" marL="0" eaLnBrk="0">
                        <a:buNone/>
                      </a:pPr>
                      <a:r>
                        <a:rPr lang="ko-KR" altLang="en-US" sz="1400" b="1" dirty="0">
                          <a:solidFill>
                            <a:schemeClr val="tx1"/>
                          </a:solidFill>
                        </a:rPr>
                        <a:t>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Locator.Provide(new ConsoleAudio())</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ConsoleAudio</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초기화 코드가 등록한다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66928">
                <a:tc>
                  <a:txBody>
                    <a:bodyPr/>
                    <a:lstStyle/>
                    <a:p>
                      <a:pPr indent="0" marL="0" eaLnBrk="0">
                        <a:buNone/>
                      </a:pPr>
                      <a:r>
                        <a:rPr lang="ko-KR" altLang="en-US" sz="1400" b="1" dirty="0">
                          <a:solidFill>
                            <a:schemeClr val="tx1"/>
                          </a:solidFill>
                        </a:rPr>
                        <a:t>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물리: Locator.GetAudio().PlaySound(바위 소리)</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ConsoleAudio</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ConsoleAudio.PlaySound가 실행된다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66928">
                <a:tc>
                  <a:txBody>
                    <a:bodyPr/>
                    <a:lstStyle/>
                    <a:p>
                      <a:pPr indent="0" marL="0" eaLnBrk="0">
                        <a:buNone/>
                      </a:pPr>
                      <a:r>
                        <a:rPr lang="ko-KR" altLang="en-US" sz="1400" b="1" dirty="0">
                          <a:solidFill>
                            <a:schemeClr val="tx1"/>
                          </a:solidFill>
                        </a:rPr>
                        <a:t>4</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메뉴: Locator.GetAudio().PlaySound(효과음)</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ConsoleAudio</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같은 서비스로 소리를 낸다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4800600"/>
            <a:ext cx="11094415" cy="548640"/>
          </a:xfrm>
          <a:prstGeom prst="rect">
            <a:avLst/>
          </a:prstGeom>
          <a:noFill/>
          <a:ln/>
        </p:spPr>
        <p:txBody>
          <a:bodyPr wrap="square" lIns="0" tIns="0" rIns="0" bIns="0" rtlCol="0" anchor="t"/>
          <a:lstStyle/>
          <a:p>
            <a:pPr indent="0" marL="0" eaLnBrk="0">
              <a:buNone/>
            </a:pPr>
            <a:r>
              <a:rPr lang="ko-KR" altLang="en-US" sz="1500" dirty="0">
                <a:solidFill>
                  <a:schemeClr val="tx2"/>
                </a:solidFill>
              </a:rPr>
              <a:t>물리 코드와 메뉴 코드는 IAudio와 Locator만 썼다. ConsoleAudio라는 이름은 2번 줄에만 나온다.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3부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서비스가 없을 때</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널 서비스, 로깅 데코레이터</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새 문제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등록하기 전에 부르면 null을 받는다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null 대신 언제든 쓸 수 있는 서비스를 돌려주면 어떨까?</a:t>
            </a:r>
            <a:endParaRPr lang="ko-KR" altLang="en-US" sz="1500" dirty="0"/>
          </a:p>
        </p:txBody>
      </p:sp>
      <p:sp>
        <p:nvSpPr>
          <p:cNvPr id="6" name="codePanel"/>
          <p:cNvSpPr/>
          <p:nvPr/>
        </p:nvSpPr>
        <p:spPr>
          <a:xfrm>
            <a:off x="548640" y="1691640"/>
            <a:ext cx="6766560" cy="1325880"/>
          </a:xfrm>
          <a:prstGeom prst="roundRect">
            <a:avLst>
              <a:gd name="adj" fmla="val 5517"/>
            </a:avLst>
          </a:prstGeom>
          <a:solidFill>
            <a:schemeClr val="tx1"/>
          </a:solidFill>
          <a:ln w="12700">
            <a:solidFill>
              <a:schemeClr val="tx1"/>
            </a:solidFill>
            <a:prstDash val="solid"/>
          </a:ln>
        </p:spPr>
      </p:sp>
      <p:sp>
        <p:nvSpPr>
          <p:cNvPr id="7" name="code"/>
          <p:cNvSpPr txBox="1"/>
          <p:nvPr/>
        </p:nvSpPr>
        <p:spPr>
          <a:xfrm>
            <a:off x="658368" y="1783080"/>
            <a:ext cx="6547104" cy="1143000"/>
          </a:xfrm>
          <a:prstGeom prst="rect">
            <a:avLst/>
          </a:prstGeom>
          <a:noFill/>
          <a:ln/>
        </p:spPr>
        <p:txBody>
          <a:bodyPr wrap="square" lIns="635" tIns="635" rIns="635" bIns="635" rtlCol="0" anchor="t"/>
          <a:lstStyle/>
          <a:p>
            <a:pPr indent="0" marL="0" eaLnBrk="0">
              <a:buNone/>
            </a:pPr>
            <a:r>
              <a:rPr lang="ko-KR" altLang="en-US" sz="1400" dirty="0">
                <a:solidFill>
                  <a:schemeClr val="accent3"/>
                </a:solidFill>
                <a:latin typeface="Consolas" pitchFamily="34" charset="0"/>
                <a:ea typeface="Consolas" pitchFamily="34" charset="-122"/>
                <a:cs typeface="Consolas" pitchFamily="34" charset="-120"/>
              </a:rPr>
              <a:t>// Provide보다 먼저 실행되면</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IAudio audio = Locator.GetAudio();   // null</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audio.PlaySound(VeryLoudBang);       // NullReferenceException</a:t>
            </a:r>
            <a:endParaRPr lang="ko-KR" alt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6766560" cy="914400"/>
        </p:xfrm>
        <a:graphic>
          <a:graphicData uri="http://schemas.openxmlformats.org/drawingml/2006/table">
            <a:tbl>
              <a:tblPr/>
              <a:tblGrid>
                <a:gridCol w="822960"/>
                <a:gridCol w="4023360"/>
                <a:gridCol w="1920240"/>
              </a:tblGrid>
              <a:tr h="502920">
                <a:tc>
                  <a:txBody>
                    <a:bodyPr/>
                    <a:lstStyle/>
                    <a:p>
                      <a:pPr indent="0" marL="0" eaLnBrk="0">
                        <a:buNone/>
                      </a:pPr>
                      <a:r>
                        <a:rPr lang="ko-KR" altLang="en-US" sz="1400" b="1" dirty="0">
                          <a:solidFill>
                            <a:schemeClr val="bg1"/>
                          </a:solidFill>
                        </a:rPr>
                        <a:t>순서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실행한 코드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_service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02920">
                <a:tc>
                  <a:txBody>
                    <a:bodyPr/>
                    <a:lstStyle/>
                    <a:p>
                      <a:pPr indent="0" marL="0" eaLnBrk="0">
                        <a:buNone/>
                      </a:pPr>
                      <a:r>
                        <a:rPr lang="ko-KR" altLang="en-US" sz="1400" b="1" dirty="0">
                          <a:solidFill>
                            <a:schemeClr val="tx1"/>
                          </a:solidFill>
                        </a:rPr>
                        <a:t>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물리: GetAudio().PlaySound(...)</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null (예외)</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Locator.Provide(...)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ConsoleAudio</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9" name="card"/>
          <p:cNvSpPr/>
          <p:nvPr/>
        </p:nvSpPr>
        <p:spPr>
          <a:xfrm>
            <a:off x="7680960" y="1691640"/>
            <a:ext cx="3962095" cy="1965960"/>
          </a:xfrm>
          <a:prstGeom prst="roundRect">
            <a:avLst>
              <a:gd name="adj" fmla="val 4651"/>
            </a:avLst>
          </a:prstGeom>
          <a:solidFill>
            <a:schemeClr val="bg2"/>
          </a:solidFill>
          <a:ln w="12700">
            <a:solidFill>
              <a:schemeClr val="bg2"/>
            </a:solidFill>
            <a:prstDash val="solid"/>
          </a:ln>
        </p:spPr>
      </p:sp>
      <p:sp>
        <p:nvSpPr>
          <p:cNvPr id="10" name="Shape 6"/>
          <p:cNvSpPr/>
          <p:nvPr/>
        </p:nvSpPr>
        <p:spPr>
          <a:xfrm>
            <a:off x="7909560" y="1892808"/>
            <a:ext cx="420624" cy="420624"/>
          </a:xfrm>
          <a:prstGeom prst="ellipse">
            <a:avLst/>
          </a:prstGeom>
          <a:solidFill>
            <a:schemeClr val="accent1"/>
          </a:solidFill>
          <a:ln w="12700">
            <a:solidFill>
              <a:schemeClr val="accent1"/>
            </a:solidFill>
            <a:prstDash val="solid"/>
          </a:ln>
        </p:spPr>
      </p:sp>
      <p:sp>
        <p:nvSpPr>
          <p:cNvPr id="11" name="Text 7"/>
          <p:cNvSpPr txBox="1"/>
          <p:nvPr/>
        </p:nvSpPr>
        <p:spPr>
          <a:xfrm>
            <a:off x="7909560"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2" name="Text 8"/>
          <p:cNvSpPr txBox="1"/>
          <p:nvPr/>
        </p:nvSpPr>
        <p:spPr>
          <a:xfrm>
            <a:off x="8458200" y="1911096"/>
            <a:ext cx="30019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시간적 결합</a:t>
            </a:r>
            <a:endParaRPr lang="ko-KR" altLang="en-US" sz="1700" dirty="0"/>
          </a:p>
        </p:txBody>
      </p:sp>
      <p:sp>
        <p:nvSpPr>
          <p:cNvPr id="13" name="Text 9"/>
          <p:cNvSpPr txBox="1"/>
          <p:nvPr/>
        </p:nvSpPr>
        <p:spPr>
          <a:xfrm>
            <a:off x="8458200" y="2286000"/>
            <a:ext cx="3001975" cy="1188720"/>
          </a:xfrm>
          <a:prstGeom prst="rect">
            <a:avLst/>
          </a:prstGeom>
          <a:noFill/>
          <a:ln/>
        </p:spPr>
        <p:txBody>
          <a:bodyPr wrap="square" lIns="0" tIns="0" rIns="0" bIns="0" rtlCol="0" anchor="t"/>
          <a:lstStyle/>
          <a:p>
            <a:pPr indent="0" marL="0" eaLnBrk="0">
              <a:buNone/>
            </a:pPr>
            <a:r>
              <a:rPr lang="ko-KR" altLang="en-US" sz="1400" dirty="0">
                <a:solidFill>
                  <a:schemeClr val="tx2"/>
                </a:solidFill>
              </a:rPr>
              <a:t>두 코드가 정해진 순서로 실행되어야만 동작한다. 순서가 바뀌면 멈춘다.</a:t>
            </a:r>
            <a:endParaRPr lang="ko-KR" altLang="en-US" sz="1400" dirty="0"/>
          </a:p>
        </p:txBody>
      </p:sp>
      <p:sp>
        <p:nvSpPr>
          <p:cNvPr id="14" name="card"/>
          <p:cNvSpPr/>
          <p:nvPr/>
        </p:nvSpPr>
        <p:spPr>
          <a:xfrm>
            <a:off x="7680960" y="3840480"/>
            <a:ext cx="3962095" cy="1783080"/>
          </a:xfrm>
          <a:prstGeom prst="roundRect">
            <a:avLst>
              <a:gd name="adj" fmla="val 5128"/>
            </a:avLst>
          </a:prstGeom>
          <a:solidFill>
            <a:schemeClr val="bg2"/>
          </a:solidFill>
          <a:ln w="12700">
            <a:solidFill>
              <a:schemeClr val="bg2"/>
            </a:solidFill>
            <a:prstDash val="solid"/>
          </a:ln>
        </p:spPr>
      </p:sp>
      <p:sp>
        <p:nvSpPr>
          <p:cNvPr id="15" name="Shape 11"/>
          <p:cNvSpPr/>
          <p:nvPr/>
        </p:nvSpPr>
        <p:spPr>
          <a:xfrm>
            <a:off x="7909560" y="4041648"/>
            <a:ext cx="420624" cy="420624"/>
          </a:xfrm>
          <a:prstGeom prst="ellipse">
            <a:avLst/>
          </a:prstGeom>
          <a:solidFill>
            <a:schemeClr val="accent1"/>
          </a:solidFill>
          <a:ln w="12700">
            <a:solidFill>
              <a:schemeClr val="accent1"/>
            </a:solidFill>
            <a:prstDash val="solid"/>
          </a:ln>
        </p:spPr>
      </p:sp>
      <p:sp>
        <p:nvSpPr>
          <p:cNvPr id="16" name="Text 12"/>
          <p:cNvSpPr txBox="1"/>
          <p:nvPr/>
        </p:nvSpPr>
        <p:spPr>
          <a:xfrm>
            <a:off x="7909560" y="40416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7" name="Text 13"/>
          <p:cNvSpPr txBox="1"/>
          <p:nvPr/>
        </p:nvSpPr>
        <p:spPr>
          <a:xfrm>
            <a:off x="8458200" y="4059936"/>
            <a:ext cx="30019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매번 확인하면</a:t>
            </a:r>
            <a:endParaRPr lang="ko-KR" altLang="en-US" sz="1700" dirty="0"/>
          </a:p>
        </p:txBody>
      </p:sp>
      <p:sp>
        <p:nvSpPr>
          <p:cNvPr id="18" name="Text 14"/>
          <p:cNvSpPr txBox="1"/>
          <p:nvPr/>
        </p:nvSpPr>
        <p:spPr>
          <a:xfrm>
            <a:off x="8458200" y="4434840"/>
            <a:ext cx="3001975" cy="1005840"/>
          </a:xfrm>
          <a:prstGeom prst="rect">
            <a:avLst/>
          </a:prstGeom>
          <a:noFill/>
          <a:ln/>
        </p:spPr>
        <p:txBody>
          <a:bodyPr wrap="square" lIns="0" tIns="0" rIns="0" bIns="0" rtlCol="0" anchor="t"/>
          <a:lstStyle/>
          <a:p>
            <a:pPr indent="0" marL="0" eaLnBrk="0">
              <a:buNone/>
            </a:pPr>
            <a:r>
              <a:rPr lang="ko-KR" altLang="en-US" sz="1400" dirty="0">
                <a:solidFill>
                  <a:schemeClr val="tx2"/>
                </a:solidFill>
              </a:rPr>
              <a:t>부르는 곳마다 null을 확인하는 코드가 늘어난다.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널 서비스</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아무 일도 하지 않는 NullAudio를 기본 서비스로 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널 서비스가 들어가면 실행 순서에 따라 결과가 어떻게 달라질까?</a:t>
            </a:r>
            <a:endParaRPr lang="ko-KR" altLang="en-US" sz="1500" dirty="0"/>
          </a:p>
        </p:txBody>
      </p:sp>
      <p:sp>
        <p:nvSpPr>
          <p:cNvPr id="6" name="codePanel"/>
          <p:cNvSpPr/>
          <p:nvPr/>
        </p:nvSpPr>
        <p:spPr>
          <a:xfrm>
            <a:off x="548640" y="1691640"/>
            <a:ext cx="4572000" cy="1783080"/>
          </a:xfrm>
          <a:prstGeom prst="roundRect">
            <a:avLst>
              <a:gd name="adj" fmla="val 4103"/>
            </a:avLst>
          </a:prstGeom>
          <a:solidFill>
            <a:schemeClr val="tx1"/>
          </a:solidFill>
          <a:ln w="12700">
            <a:solidFill>
              <a:schemeClr val="tx1"/>
            </a:solidFill>
            <a:prstDash val="solid"/>
          </a:ln>
        </p:spPr>
      </p:sp>
      <p:sp>
        <p:nvSpPr>
          <p:cNvPr id="7" name="code"/>
          <p:cNvSpPr txBox="1"/>
          <p:nvPr/>
        </p:nvSpPr>
        <p:spPr>
          <a:xfrm>
            <a:off x="658368" y="1783080"/>
            <a:ext cx="4352544" cy="1600200"/>
          </a:xfrm>
          <a:prstGeom prst="rect">
            <a:avLst/>
          </a:prstGeom>
          <a:noFill/>
          <a:ln/>
        </p:spPr>
        <p:txBody>
          <a:bodyPr wrap="square" lIns="635" tIns="635" rIns="635" bIns="635" rtlCol="0" anchor="t"/>
          <a:lstStyle/>
          <a:p>
            <a:pPr indent="0" marL="0" eaLnBrk="0">
              <a:buNone/>
            </a:pPr>
            <a:r>
              <a:rPr lang="ko-KR" altLang="en-US" sz="1200" dirty="0">
                <a:solidFill>
                  <a:schemeClr val="accent3"/>
                </a:solidFill>
                <a:latin typeface="Consolas" pitchFamily="34" charset="0"/>
                <a:ea typeface="Consolas" pitchFamily="34" charset="-122"/>
                <a:cs typeface="Consolas" pitchFamily="34" charset="-120"/>
              </a:rPr>
              <a:t>// 널 서비스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class NullAudio : IAudio</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void PlaySound(int soundId) {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void StopSound(int soundId) {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void StopAllSounds() {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Caption"/>
          <p:cNvSpPr txBox="1"/>
          <p:nvPr/>
        </p:nvSpPr>
        <p:spPr>
          <a:xfrm>
            <a:off x="2011680" y="178308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548640" y="3703320"/>
            <a:ext cx="4572000" cy="1965960"/>
          </a:xfrm>
          <a:prstGeom prst="roundRect">
            <a:avLst>
              <a:gd name="adj" fmla="val 4651"/>
            </a:avLst>
          </a:prstGeom>
          <a:solidFill>
            <a:schemeClr val="bg2"/>
          </a:solidFill>
          <a:ln w="12700">
            <a:solidFill>
              <a:schemeClr val="bg2"/>
            </a:solidFill>
            <a:prstDash val="solid"/>
          </a:ln>
        </p:spPr>
      </p:sp>
      <p:sp>
        <p:nvSpPr>
          <p:cNvPr id="10" name="Text 7"/>
          <p:cNvSpPr txBox="1"/>
          <p:nvPr/>
        </p:nvSpPr>
        <p:spPr>
          <a:xfrm>
            <a:off x="777240" y="3922776"/>
            <a:ext cx="416052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C#으로 옮기며</a:t>
            </a:r>
            <a:endParaRPr lang="ko-KR" altLang="en-US" sz="1700" dirty="0"/>
          </a:p>
        </p:txBody>
      </p:sp>
      <p:sp>
        <p:nvSpPr>
          <p:cNvPr id="11" name="Text 8"/>
          <p:cNvSpPr txBox="1"/>
          <p:nvPr/>
        </p:nvSpPr>
        <p:spPr>
          <a:xfrm>
            <a:off x="777240" y="4480560"/>
            <a:ext cx="4114800" cy="105156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원서는 참조를 돌려주어 null이 아님을 알린다. C#에서는 Locator가 null을 담지 않게 지킨다.</a:t>
            </a:r>
            <a:endParaRPr lang="ko-KR" altLang="en-US" sz="1400" dirty="0"/>
          </a:p>
        </p:txBody>
      </p:sp>
      <p:sp>
        <p:nvSpPr>
          <p:cNvPr id="12" name="codePanel"/>
          <p:cNvSpPr/>
          <p:nvPr/>
        </p:nvSpPr>
        <p:spPr>
          <a:xfrm>
            <a:off x="5394960" y="1691640"/>
            <a:ext cx="6248095" cy="3977640"/>
          </a:xfrm>
          <a:prstGeom prst="roundRect">
            <a:avLst>
              <a:gd name="adj" fmla="val 1839"/>
            </a:avLst>
          </a:prstGeom>
          <a:solidFill>
            <a:schemeClr val="tx1"/>
          </a:solidFill>
          <a:ln w="12700">
            <a:solidFill>
              <a:schemeClr val="tx1"/>
            </a:solidFill>
            <a:prstDash val="solid"/>
          </a:ln>
        </p:spPr>
      </p:sp>
      <p:sp>
        <p:nvSpPr>
          <p:cNvPr id="13" name="code"/>
          <p:cNvSpPr txBox="1"/>
          <p:nvPr/>
        </p:nvSpPr>
        <p:spPr>
          <a:xfrm>
            <a:off x="5504688" y="1783080"/>
            <a:ext cx="6028639" cy="3794760"/>
          </a:xfrm>
          <a:prstGeom prst="rect">
            <a:avLst/>
          </a:prstGeom>
          <a:noFill/>
          <a:ln/>
        </p:spPr>
        <p:txBody>
          <a:bodyPr wrap="square" lIns="635" tIns="635" rIns="635" bIns="635" rtlCol="0" anchor="t"/>
          <a:lstStyle/>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static class Locator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static IAudio _service;</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static readonly NullAudio _nullService = new NullAudio();</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public static void Initialize() { _service = _nullService;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static IAudio GetAudio() { return _service;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static void Provide(IAudio service)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if (service == null)</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널 서비스로 되돌린다</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_service = _nullService;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else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_service = service;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14" name="codeCaption"/>
          <p:cNvSpPr txBox="1"/>
          <p:nvPr/>
        </p:nvSpPr>
        <p:spPr>
          <a:xfrm>
            <a:off x="8534095" y="178308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널 서비스가 있으면 순서가 바뀌어도 멈추지 않는다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같은 방식으로 서비스에 기능을 덧붙일 수도 있을까?</a:t>
            </a:r>
            <a:endParaRPr lang="ko-KR" alt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822960"/>
                <a:gridCol w="4480560"/>
                <a:gridCol w="1828800"/>
                <a:gridCol w="3962095"/>
              </a:tblGrid>
              <a:tr h="502920">
                <a:tc>
                  <a:txBody>
                    <a:bodyPr/>
                    <a:lstStyle/>
                    <a:p>
                      <a:pPr indent="0" marL="0" eaLnBrk="0">
                        <a:buNone/>
                      </a:pPr>
                      <a:r>
                        <a:rPr lang="ko-KR" altLang="en-US" sz="1400" b="1" dirty="0">
                          <a:solidFill>
                            <a:schemeClr val="bg1"/>
                          </a:solidFill>
                        </a:rPr>
                        <a:t>순서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실행한 코드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_service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PlaySound의 결과</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02920">
                <a:tc>
                  <a:txBody>
                    <a:bodyPr/>
                    <a:lstStyle/>
                    <a:p>
                      <a:pPr indent="0" marL="0" eaLnBrk="0">
                        <a:buNone/>
                      </a:pPr>
                      <a:r>
                        <a:rPr lang="ko-KR" altLang="en-US" sz="1400" b="1" dirty="0">
                          <a:solidFill>
                            <a:schemeClr val="tx1"/>
                          </a:solidFill>
                        </a:rPr>
                        <a:t>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Locator.Initialize()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NullAudio</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아직 아무 소리도 내지 않는다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물리: GetAudio().PlaySound(바위 소리)</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NullAudio</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아무 일도 없다. 예외도 없다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Locator.Provide(new ConsoleAudio())</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ConsoleAudio</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이제부터 소리가 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4</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Locator.Provide(null)</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NullAudio</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다시 소리가 꺼진다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card"/>
          <p:cNvSpPr/>
          <p:nvPr/>
        </p:nvSpPr>
        <p:spPr>
          <a:xfrm>
            <a:off x="548640" y="4434840"/>
            <a:ext cx="11094415" cy="1234440"/>
          </a:xfrm>
          <a:prstGeom prst="roundRect">
            <a:avLst>
              <a:gd name="adj" fmla="val 7407"/>
            </a:avLst>
          </a:prstGeom>
          <a:solidFill>
            <a:schemeClr val="tx2"/>
          </a:solidFill>
          <a:ln w="12700">
            <a:solidFill>
              <a:schemeClr val="tx2"/>
            </a:solidFill>
            <a:prstDash val="solid"/>
          </a:ln>
        </p:spPr>
      </p:sp>
      <p:sp>
        <p:nvSpPr>
          <p:cNvPr id="8" name="Text 4"/>
          <p:cNvSpPr txBox="1"/>
          <p:nvPr/>
        </p:nvSpPr>
        <p:spPr>
          <a:xfrm>
            <a:off x="777240" y="465429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덤: 소리를 쉽게 끈다</a:t>
            </a:r>
            <a:endParaRPr lang="ko-KR" altLang="en-US" sz="1700" dirty="0"/>
          </a:p>
        </p:txBody>
      </p:sp>
      <p:sp>
        <p:nvSpPr>
          <p:cNvPr id="9" name="Text 5"/>
          <p:cNvSpPr txBox="1"/>
          <p:nvPr/>
        </p:nvSpPr>
        <p:spPr>
          <a:xfrm>
            <a:off x="777240" y="5212080"/>
            <a:ext cx="10637215" cy="320040"/>
          </a:xfrm>
          <a:prstGeom prst="rect">
            <a:avLst/>
          </a:prstGeom>
          <a:noFill/>
          <a:ln/>
        </p:spPr>
        <p:txBody>
          <a:bodyPr wrap="square" lIns="0" tIns="0" rIns="0" bIns="0" rtlCol="0" anchor="t"/>
          <a:lstStyle/>
          <a:p>
            <a:pPr indent="0" marL="0" eaLnBrk="0">
              <a:buNone/>
            </a:pPr>
            <a:r>
              <a:rPr lang="ko-KR" altLang="en-US" sz="1400" dirty="0">
                <a:solidFill>
                  <a:schemeClr val="bg1"/>
                </a:solidFill>
              </a:rPr>
              <a:t>개발 중에 오디오를 등록하지 않으면 소리 없이 게임을 실행할 수 있다. 디버거로 멈춘 순간 큰 소리가 계속 울리는 일도 없다.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로깅 데코레이터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서비스를 감싸서 호출마다 기록을 남긴다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만든 LoggedAudio를 어떻게 끼워 넣을까?</a:t>
            </a:r>
            <a:endParaRPr lang="ko-KR" altLang="en-US" sz="1500" dirty="0"/>
          </a:p>
        </p:txBody>
      </p:sp>
      <p:sp>
        <p:nvSpPr>
          <p:cNvPr id="6" name="codePanel"/>
          <p:cNvSpPr/>
          <p:nvPr/>
        </p:nvSpPr>
        <p:spPr>
          <a:xfrm>
            <a:off x="548640" y="1554480"/>
            <a:ext cx="6583680" cy="4160520"/>
          </a:xfrm>
          <a:prstGeom prst="roundRect">
            <a:avLst>
              <a:gd name="adj" fmla="val 1758"/>
            </a:avLst>
          </a:prstGeom>
          <a:solidFill>
            <a:schemeClr val="tx1"/>
          </a:solidFill>
          <a:ln w="12700">
            <a:solidFill>
              <a:schemeClr val="tx1"/>
            </a:solidFill>
            <a:prstDash val="solid"/>
          </a:ln>
        </p:spPr>
      </p:sp>
      <p:sp>
        <p:nvSpPr>
          <p:cNvPr id="7" name="code"/>
          <p:cNvSpPr txBox="1"/>
          <p:nvPr/>
        </p:nvSpPr>
        <p:spPr>
          <a:xfrm>
            <a:off x="658368" y="1645920"/>
            <a:ext cx="6364224" cy="3977640"/>
          </a:xfrm>
          <a:prstGeom prst="rect">
            <a:avLst/>
          </a:prstGeom>
          <a:noFill/>
          <a:ln/>
        </p:spPr>
        <p:txBody>
          <a:bodyPr wrap="square" lIns="635" tIns="635" rIns="635" bIns="635" rtlCol="0" anchor="t"/>
          <a:lstStyle/>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class LoggedAudio : IAudio</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readonly IAudio _wrapped;</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LoggedAudio(IAudio wrapped) { _wrapped = wrapped;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void PlaySound(int soundId)</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Log("소리 재생");</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_wrapped.PlaySound(soundId);</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void StopSound(int soundId)</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Log("소리 정지");</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_wrapped.StopSound(soundId);</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void StopAllSounds()</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Log("모든 소리 정지");</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_wrapped.StopAllSounds();</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void Log(string message) { /* 기록을 남긴다 */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8" name="codeCaption"/>
          <p:cNvSpPr txBox="1"/>
          <p:nvPr/>
        </p:nvSpPr>
        <p:spPr>
          <a:xfrm>
            <a:off x="4023360" y="164592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498080" y="1600200"/>
            <a:ext cx="4144975" cy="1920240"/>
          </a:xfrm>
          <a:prstGeom prst="roundRect">
            <a:avLst>
              <a:gd name="adj" fmla="val 4762"/>
            </a:avLst>
          </a:prstGeom>
          <a:solidFill>
            <a:schemeClr val="bg2"/>
          </a:solidFill>
          <a:ln w="12700">
            <a:solidFill>
              <a:schemeClr val="bg2"/>
            </a:solidFill>
            <a:prstDash val="solid"/>
          </a:ln>
        </p:spPr>
      </p:sp>
      <p:sp>
        <p:nvSpPr>
          <p:cNvPr id="10" name="Text 7"/>
          <p:cNvSpPr txBox="1"/>
          <p:nvPr/>
        </p:nvSpPr>
        <p:spPr>
          <a:xfrm>
            <a:off x="7726680" y="181965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요구</a:t>
            </a:r>
            <a:endParaRPr lang="ko-KR" altLang="en-US" sz="1700" dirty="0"/>
          </a:p>
        </p:txBody>
      </p:sp>
      <p:sp>
        <p:nvSpPr>
          <p:cNvPr id="11" name="Text 8"/>
          <p:cNvSpPr txBox="1"/>
          <p:nvPr/>
        </p:nvSpPr>
        <p:spPr>
          <a:xfrm>
            <a:off x="7726680" y="2377440"/>
            <a:ext cx="3687775" cy="10058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어떤 소리가 언제 나는지 보고 싶다. 필요할 때만 켜고, 출시 버전에서는 뺀다.</a:t>
            </a:r>
            <a:endParaRPr lang="ko-KR" altLang="en-US" sz="1400" dirty="0"/>
          </a:p>
        </p:txBody>
      </p:sp>
      <p:sp>
        <p:nvSpPr>
          <p:cNvPr id="12" name="card"/>
          <p:cNvSpPr/>
          <p:nvPr/>
        </p:nvSpPr>
        <p:spPr>
          <a:xfrm>
            <a:off x="7498080" y="3703320"/>
            <a:ext cx="4144975" cy="2011680"/>
          </a:xfrm>
          <a:prstGeom prst="roundRect">
            <a:avLst>
              <a:gd name="adj" fmla="val 4545"/>
            </a:avLst>
          </a:prstGeom>
          <a:solidFill>
            <a:schemeClr val="bg2"/>
          </a:solidFill>
          <a:ln w="12700">
            <a:solidFill>
              <a:schemeClr val="bg2"/>
            </a:solidFill>
            <a:prstDash val="solid"/>
          </a:ln>
        </p:spPr>
      </p:sp>
      <p:sp>
        <p:nvSpPr>
          <p:cNvPr id="13" name="Text 10"/>
          <p:cNvSpPr txBox="1"/>
          <p:nvPr/>
        </p:nvSpPr>
        <p:spPr>
          <a:xfrm>
            <a:off x="7726680" y="392277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데코레이터</a:t>
            </a:r>
            <a:endParaRPr lang="ko-KR" altLang="en-US" sz="1700" dirty="0"/>
          </a:p>
        </p:txBody>
      </p:sp>
      <p:sp>
        <p:nvSpPr>
          <p:cNvPr id="14" name="Text 11"/>
          <p:cNvSpPr txBox="1"/>
          <p:nvPr/>
        </p:nvSpPr>
        <p:spPr>
          <a:xfrm>
            <a:off x="7726680" y="4480560"/>
            <a:ext cx="3687775" cy="109728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같은 IAudio 약속을 지키며 다른 IAudio를 감싼다. 기록하고 그대로 넘긴다.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바꿔 끼우기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지금 서비스를 감싸서 다시 등록한다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지금까지는 바깥 코드가 서비스를 등록했다. 서비스를 찾는 다른 방법은 없을까?</a:t>
            </a:r>
            <a:endParaRPr lang="ko-KR" altLang="en-US" sz="1500" dirty="0"/>
          </a:p>
        </p:txBody>
      </p:sp>
      <p:sp>
        <p:nvSpPr>
          <p:cNvPr id="6" name="codePanel"/>
          <p:cNvSpPr/>
          <p:nvPr/>
        </p:nvSpPr>
        <p:spPr>
          <a:xfrm>
            <a:off x="548640" y="1691640"/>
            <a:ext cx="6400800" cy="2514600"/>
          </a:xfrm>
          <a:prstGeom prst="roundRect">
            <a:avLst>
              <a:gd name="adj" fmla="val 2909"/>
            </a:avLst>
          </a:prstGeom>
          <a:solidFill>
            <a:schemeClr val="tx1"/>
          </a:solidFill>
          <a:ln w="12700">
            <a:solidFill>
              <a:schemeClr val="tx1"/>
            </a:solidFill>
            <a:prstDash val="solid"/>
          </a:ln>
        </p:spPr>
      </p:sp>
      <p:sp>
        <p:nvSpPr>
          <p:cNvPr id="7" name="code"/>
          <p:cNvSpPr txBox="1"/>
          <p:nvPr/>
        </p:nvSpPr>
        <p:spPr>
          <a:xfrm>
            <a:off x="658368" y="1783080"/>
            <a:ext cx="6181344" cy="233172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public static void EnableAudioLogging()</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dirty="0">
                <a:solidFill>
                  <a:schemeClr val="accent3"/>
                </a:solidFill>
                <a:latin typeface="Consolas" pitchFamily="34" charset="0"/>
                <a:ea typeface="Consolas" pitchFamily="34" charset="-122"/>
                <a:cs typeface="Consolas" pitchFamily="34" charset="-120"/>
              </a:rPr>
              <a:t>    // 지금 서비스를 감싼다</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IAudio service = new LoggedAudio(Locator.GetAudio());</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accent3"/>
                </a:solidFill>
                <a:latin typeface="Consolas" pitchFamily="34" charset="0"/>
                <a:ea typeface="Consolas" pitchFamily="34" charset="-122"/>
                <a:cs typeface="Consolas" pitchFamily="34" charset="-120"/>
              </a:rPr>
              <a:t>    // 감싼 것으로 바꿔 끼운다</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Locator.Provide(service);</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p:txBody>
      </p:sp>
      <p:sp>
        <p:nvSpPr>
          <p:cNvPr id="8" name="Text 5"/>
          <p:cNvSpPr txBox="1"/>
          <p:nvPr/>
        </p:nvSpPr>
        <p:spPr>
          <a:xfrm>
            <a:off x="548640" y="4251960"/>
            <a:ext cx="6400800" cy="256032"/>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 예제를 C#으로 옮긴 코드</a:t>
            </a:r>
            <a:endParaRPr lang="ko-KR" altLang="en-US" sz="1100" dirty="0"/>
          </a:p>
        </p:txBody>
      </p:sp>
      <p:sp>
        <p:nvSpPr>
          <p:cNvPr id="9" name="Text 6"/>
          <p:cNvSpPr txBox="1"/>
          <p:nvPr/>
        </p:nvSpPr>
        <p:spPr>
          <a:xfrm>
            <a:off x="7315200" y="1600200"/>
            <a:ext cx="4327855" cy="320040"/>
          </a:xfrm>
          <a:prstGeom prst="rect">
            <a:avLst/>
          </a:prstGeom>
          <a:noFill/>
          <a:ln/>
        </p:spPr>
        <p:txBody>
          <a:bodyPr wrap="square" lIns="0" tIns="0" rIns="0" bIns="0" rtlCol="0" anchor="t"/>
          <a:lstStyle/>
          <a:p>
            <a:pPr indent="0" marL="0" eaLnBrk="0">
              <a:buNone/>
            </a:pPr>
            <a:r>
              <a:rPr lang="ko-KR" altLang="en-US" sz="1400" b="1" dirty="0">
                <a:solidFill>
                  <a:schemeClr val="tx1"/>
                </a:solidFill>
              </a:rPr>
              <a:t>소리를 켠 상태</a:t>
            </a:r>
            <a:endParaRPr lang="ko-KR" altLang="en-US" sz="1400" dirty="0"/>
          </a:p>
        </p:txBody>
      </p:sp>
      <p:sp>
        <p:nvSpPr>
          <p:cNvPr id="10" name="box"/>
          <p:cNvSpPr/>
          <p:nvPr/>
        </p:nvSpPr>
        <p:spPr>
          <a:xfrm>
            <a:off x="7315200" y="1965960"/>
            <a:ext cx="4327855" cy="502920"/>
          </a:xfrm>
          <a:prstGeom prst="roundRect">
            <a:avLst>
              <a:gd name="adj" fmla="val 14545"/>
            </a:avLst>
          </a:prstGeom>
          <a:solidFill>
            <a:schemeClr val="accent1"/>
          </a:solidFill>
          <a:ln w="12700">
            <a:solidFill>
              <a:schemeClr val="accent1"/>
            </a:solidFill>
            <a:prstDash val="solid"/>
          </a:ln>
        </p:spPr>
      </p:sp>
      <p:sp>
        <p:nvSpPr>
          <p:cNvPr id="11" name="Text 8"/>
          <p:cNvSpPr txBox="1"/>
          <p:nvPr/>
        </p:nvSpPr>
        <p:spPr>
          <a:xfrm>
            <a:off x="7315200" y="1965960"/>
            <a:ext cx="4327855" cy="50292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Locator</a:t>
            </a:r>
            <a:endParaRPr lang="ko-KR" altLang="en-US" sz="1400" dirty="0"/>
          </a:p>
        </p:txBody>
      </p:sp>
      <p:sp>
        <p:nvSpPr>
          <p:cNvPr id="12" name="Shape 9"/>
          <p:cNvSpPr/>
          <p:nvPr/>
        </p:nvSpPr>
        <p:spPr>
          <a:xfrm>
            <a:off x="9479128" y="2468880"/>
            <a:ext cx="914" cy="182880"/>
          </a:xfrm>
          <a:prstGeom prst="line">
            <a:avLst/>
          </a:prstGeom>
          <a:noFill/>
          <a:ln w="22225">
            <a:solidFill>
              <a:schemeClr val="accent3"/>
            </a:solidFill>
            <a:prstDash val="solid"/>
            <a:tailEnd type="triangle"/>
          </a:ln>
        </p:spPr>
      </p:sp>
      <p:sp>
        <p:nvSpPr>
          <p:cNvPr id="13" name="box"/>
          <p:cNvSpPr/>
          <p:nvPr/>
        </p:nvSpPr>
        <p:spPr>
          <a:xfrm>
            <a:off x="7315200" y="2651760"/>
            <a:ext cx="4327855" cy="502920"/>
          </a:xfrm>
          <a:prstGeom prst="roundRect">
            <a:avLst>
              <a:gd name="adj" fmla="val 14545"/>
            </a:avLst>
          </a:prstGeom>
          <a:solidFill>
            <a:schemeClr val="tx2"/>
          </a:solidFill>
          <a:ln w="12700">
            <a:solidFill>
              <a:schemeClr val="tx2"/>
            </a:solidFill>
            <a:prstDash val="solid"/>
          </a:ln>
        </p:spPr>
      </p:sp>
      <p:sp>
        <p:nvSpPr>
          <p:cNvPr id="14" name="Text 11"/>
          <p:cNvSpPr txBox="1"/>
          <p:nvPr/>
        </p:nvSpPr>
        <p:spPr>
          <a:xfrm>
            <a:off x="7315200" y="2651760"/>
            <a:ext cx="4327855" cy="50292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LoggedAudio: 기록한다</a:t>
            </a:r>
            <a:endParaRPr lang="ko-KR" altLang="en-US" sz="1400" dirty="0"/>
          </a:p>
        </p:txBody>
      </p:sp>
      <p:sp>
        <p:nvSpPr>
          <p:cNvPr id="15" name="Shape 12"/>
          <p:cNvSpPr/>
          <p:nvPr/>
        </p:nvSpPr>
        <p:spPr>
          <a:xfrm>
            <a:off x="9479128" y="3154680"/>
            <a:ext cx="914" cy="182880"/>
          </a:xfrm>
          <a:prstGeom prst="line">
            <a:avLst/>
          </a:prstGeom>
          <a:noFill/>
          <a:ln w="22225">
            <a:solidFill>
              <a:schemeClr val="accent3"/>
            </a:solidFill>
            <a:prstDash val="solid"/>
            <a:tailEnd type="triangle"/>
          </a:ln>
        </p:spPr>
      </p:sp>
      <p:sp>
        <p:nvSpPr>
          <p:cNvPr id="16" name="box"/>
          <p:cNvSpPr/>
          <p:nvPr/>
        </p:nvSpPr>
        <p:spPr>
          <a:xfrm>
            <a:off x="7315200" y="3337560"/>
            <a:ext cx="4327855" cy="502920"/>
          </a:xfrm>
          <a:prstGeom prst="roundRect">
            <a:avLst>
              <a:gd name="adj" fmla="val 14545"/>
            </a:avLst>
          </a:prstGeom>
          <a:solidFill>
            <a:schemeClr val="bg2"/>
          </a:solidFill>
          <a:ln w="12700">
            <a:solidFill>
              <a:schemeClr val="bg2"/>
            </a:solidFill>
            <a:prstDash val="solid"/>
          </a:ln>
        </p:spPr>
      </p:sp>
      <p:sp>
        <p:nvSpPr>
          <p:cNvPr id="17" name="Text 14"/>
          <p:cNvSpPr txBox="1"/>
          <p:nvPr/>
        </p:nvSpPr>
        <p:spPr>
          <a:xfrm>
            <a:off x="7315200" y="3337560"/>
            <a:ext cx="4327855" cy="50292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ConsoleAudio: 소리를 낸다</a:t>
            </a:r>
            <a:endParaRPr lang="ko-KR" altLang="en-US" sz="1400" dirty="0"/>
          </a:p>
        </p:txBody>
      </p:sp>
      <p:sp>
        <p:nvSpPr>
          <p:cNvPr id="18" name="Text 15"/>
          <p:cNvSpPr txBox="1"/>
          <p:nvPr/>
        </p:nvSpPr>
        <p:spPr>
          <a:xfrm>
            <a:off x="7315200" y="4069080"/>
            <a:ext cx="4327855" cy="640080"/>
          </a:xfrm>
          <a:prstGeom prst="rect">
            <a:avLst/>
          </a:prstGeom>
          <a:noFill/>
          <a:ln/>
        </p:spPr>
        <p:txBody>
          <a:bodyPr wrap="square" lIns="0" tIns="0" rIns="0" bIns="0" rtlCol="0" anchor="t"/>
          <a:lstStyle/>
          <a:p>
            <a:pPr indent="0" marL="0" eaLnBrk="0">
              <a:buNone/>
            </a:pPr>
            <a:r>
              <a:rPr lang="ko-KR" altLang="en-US" sz="1400" dirty="0">
                <a:solidFill>
                  <a:schemeClr val="tx2"/>
                </a:solidFill>
              </a:rPr>
              <a:t>NullAudio를 감싸면 소리 없이 기록만 남는다.</a:t>
            </a:r>
            <a:endParaRPr lang="ko-KR" altLang="en-US" sz="1400" dirty="0"/>
          </a:p>
        </p:txBody>
      </p:sp>
      <p:sp>
        <p:nvSpPr>
          <p:cNvPr id="19" name="card"/>
          <p:cNvSpPr/>
          <p:nvPr/>
        </p:nvSpPr>
        <p:spPr>
          <a:xfrm>
            <a:off x="548640" y="4663440"/>
            <a:ext cx="11094415" cy="1005840"/>
          </a:xfrm>
          <a:prstGeom prst="roundRect">
            <a:avLst>
              <a:gd name="adj" fmla="val 9091"/>
            </a:avLst>
          </a:prstGeom>
          <a:solidFill>
            <a:schemeClr val="bg2"/>
          </a:solidFill>
          <a:ln w="12700">
            <a:solidFill>
              <a:schemeClr val="bg2"/>
            </a:solidFill>
            <a:prstDash val="solid"/>
          </a:ln>
        </p:spPr>
      </p:sp>
      <p:sp>
        <p:nvSpPr>
          <p:cNvPr id="20" name="Text 17"/>
          <p:cNvSpPr txBox="1"/>
          <p:nvPr/>
        </p:nvSpPr>
        <p:spPr>
          <a:xfrm>
            <a:off x="777240" y="488289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쓰는 코드는 그대로</a:t>
            </a:r>
            <a:endParaRPr lang="ko-KR" altLang="en-US" sz="1700" dirty="0"/>
          </a:p>
        </p:txBody>
      </p:sp>
      <p:sp>
        <p:nvSpPr>
          <p:cNvPr id="21" name="Text 18"/>
          <p:cNvSpPr txBox="1"/>
          <p:nvPr/>
        </p:nvSpPr>
        <p:spPr>
          <a:xfrm>
            <a:off x="3291840" y="4864608"/>
            <a:ext cx="8076895" cy="548640"/>
          </a:xfrm>
          <a:prstGeom prst="rect">
            <a:avLst/>
          </a:prstGeom>
          <a:noFill/>
          <a:ln/>
        </p:spPr>
        <p:txBody>
          <a:bodyPr wrap="square" lIns="0" tIns="0" rIns="0" bIns="0" rtlCol="0" anchor="ctr"/>
          <a:lstStyle/>
          <a:p>
            <a:pPr indent="0" marL="0" eaLnBrk="0">
              <a:buNone/>
            </a:pPr>
            <a:r>
              <a:rPr lang="ko-KR" altLang="en-US" sz="1500" dirty="0">
                <a:solidFill>
                  <a:schemeClr val="tx2"/>
                </a:solidFill>
              </a:rPr>
              <a:t>GetAudio().PlaySound(...)는 한 줄도 바뀌지 않는다. 실행 중에 기록을 켜고 끌 수 있다.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4부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설계 결정</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설계 결정</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찾는 방법</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어떤 서비스를 쓸지 컴파일할 때 정할 수도 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바깥 코드가 등록하는 방법까지, 세 가지 찾는 방법을 비교해 보자.</a:t>
            </a:r>
            <a:endParaRPr lang="ko-KR" altLang="en-US" sz="1500" dirty="0"/>
          </a:p>
        </p:txBody>
      </p:sp>
      <p:sp>
        <p:nvSpPr>
          <p:cNvPr id="6" name="codePanel"/>
          <p:cNvSpPr/>
          <p:nvPr/>
        </p:nvSpPr>
        <p:spPr>
          <a:xfrm>
            <a:off x="548640" y="1691640"/>
            <a:ext cx="6949440" cy="2834640"/>
          </a:xfrm>
          <a:prstGeom prst="roundRect">
            <a:avLst>
              <a:gd name="adj" fmla="val 2581"/>
            </a:avLst>
          </a:prstGeom>
          <a:solidFill>
            <a:schemeClr val="tx1"/>
          </a:solidFill>
          <a:ln w="12700">
            <a:solidFill>
              <a:schemeClr val="tx1"/>
            </a:solidFill>
            <a:prstDash val="solid"/>
          </a:ln>
        </p:spPr>
      </p:sp>
      <p:sp>
        <p:nvSpPr>
          <p:cNvPr id="7" name="code"/>
          <p:cNvSpPr txBox="1"/>
          <p:nvPr/>
        </p:nvSpPr>
        <p:spPr>
          <a:xfrm>
            <a:off x="658368" y="1783080"/>
            <a:ext cx="6729984" cy="265176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static class Locator</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#if DEBUG</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static readonly DebugAudio _service = new DebugAudio();</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#else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static readonly ReleaseAudio _service = new ReleaseAudio();</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#endif</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public static IAudio GetAudio() { return _service;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4389120" y="178308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Text 6"/>
          <p:cNvSpPr txBox="1"/>
          <p:nvPr/>
        </p:nvSpPr>
        <p:spPr>
          <a:xfrm>
            <a:off x="548640" y="4663440"/>
            <a:ext cx="6949440" cy="411480"/>
          </a:xfrm>
          <a:prstGeom prst="rect">
            <a:avLst/>
          </a:prstGeom>
          <a:noFill/>
          <a:ln/>
        </p:spPr>
        <p:txBody>
          <a:bodyPr wrap="square" lIns="0" tIns="0" rIns="0" bIns="0" rtlCol="0" anchor="t"/>
          <a:lstStyle/>
          <a:p>
            <a:pPr indent="0" marL="0" eaLnBrk="0">
              <a:buNone/>
            </a:pPr>
            <a:r>
              <a:rPr lang="ko-KR" altLang="en-US" sz="1400" dirty="0">
                <a:solidFill>
                  <a:schemeClr val="accent5"/>
                </a:solidFill>
              </a:rPr>
              <a:t>원서의 C++ 전처리기를 C#의 #if 지시문으로 옮겼다.</a:t>
            </a:r>
            <a:endParaRPr lang="ko-KR" altLang="en-US" sz="1400" dirty="0"/>
          </a:p>
        </p:txBody>
      </p:sp>
      <p:sp>
        <p:nvSpPr>
          <p:cNvPr id="10" name="card"/>
          <p:cNvSpPr/>
          <p:nvPr/>
        </p:nvSpPr>
        <p:spPr>
          <a:xfrm>
            <a:off x="7863840" y="1691640"/>
            <a:ext cx="3779215" cy="1874520"/>
          </a:xfrm>
          <a:prstGeom prst="roundRect">
            <a:avLst>
              <a:gd name="adj" fmla="val 4878"/>
            </a:avLst>
          </a:prstGeom>
          <a:solidFill>
            <a:schemeClr val="bg2"/>
          </a:solidFill>
          <a:ln w="12700">
            <a:solidFill>
              <a:schemeClr val="bg2"/>
            </a:solidFill>
            <a:prstDash val="solid"/>
          </a:ln>
        </p:spPr>
      </p:sp>
      <p:sp>
        <p:nvSpPr>
          <p:cNvPr id="11" name="Text 8"/>
          <p:cNvSpPr txBox="1"/>
          <p:nvPr/>
        </p:nvSpPr>
        <p:spPr>
          <a:xfrm>
            <a:off x="8092440" y="191109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얻는 것</a:t>
            </a:r>
            <a:endParaRPr lang="ko-KR" altLang="en-US" sz="1700" dirty="0"/>
          </a:p>
        </p:txBody>
      </p:sp>
      <p:sp>
        <p:nvSpPr>
          <p:cNvPr id="12" name="Text 9"/>
          <p:cNvSpPr txBox="1"/>
          <p:nvPr/>
        </p:nvSpPr>
        <p:spPr>
          <a:xfrm>
            <a:off x="8092440" y="2468880"/>
            <a:ext cx="3322015" cy="96012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찾는 일이 빠르다. 서비스가 반드시 있다.</a:t>
            </a:r>
            <a:endParaRPr lang="ko-KR" altLang="en-US" sz="1400" dirty="0"/>
          </a:p>
        </p:txBody>
      </p:sp>
      <p:sp>
        <p:nvSpPr>
          <p:cNvPr id="13" name="card"/>
          <p:cNvSpPr/>
          <p:nvPr/>
        </p:nvSpPr>
        <p:spPr>
          <a:xfrm>
            <a:off x="7863840" y="3749040"/>
            <a:ext cx="3779215" cy="1874520"/>
          </a:xfrm>
          <a:prstGeom prst="roundRect">
            <a:avLst>
              <a:gd name="adj" fmla="val 4878"/>
            </a:avLst>
          </a:prstGeom>
          <a:solidFill>
            <a:schemeClr val="bg2"/>
          </a:solidFill>
          <a:ln w="12700">
            <a:solidFill>
              <a:schemeClr val="bg2"/>
            </a:solidFill>
            <a:prstDash val="solid"/>
          </a:ln>
        </p:spPr>
      </p:sp>
      <p:sp>
        <p:nvSpPr>
          <p:cNvPr id="14" name="Text 11"/>
          <p:cNvSpPr txBox="1"/>
          <p:nvPr/>
        </p:nvSpPr>
        <p:spPr>
          <a:xfrm>
            <a:off x="8092440" y="396849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잃는 것</a:t>
            </a:r>
            <a:endParaRPr lang="ko-KR" altLang="en-US" sz="1700" dirty="0"/>
          </a:p>
        </p:txBody>
      </p:sp>
      <p:sp>
        <p:nvSpPr>
          <p:cNvPr id="15" name="Text 12"/>
          <p:cNvSpPr txBox="1"/>
          <p:nvPr/>
        </p:nvSpPr>
        <p:spPr>
          <a:xfrm>
            <a:off x="8092440" y="4526280"/>
            <a:ext cx="3322015" cy="96012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서비스를 바꾸려면 다시 컴파일해야 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찾는 방법 비교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등록, 컴파일, 실행 중 설정은 유연함과 단순함을 맞바꾼다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그런데 서비스를 찾는 데 실패하면 어떻게 해야 할까?</a:t>
            </a:r>
            <a:endParaRPr lang="ko-KR" alt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743200"/>
                <a:gridCol w="4389120"/>
                <a:gridCol w="3962095"/>
              </a:tblGrid>
              <a:tr h="457200">
                <a:tc>
                  <a:txBody>
                    <a:bodyPr/>
                    <a:lstStyle/>
                    <a:p>
                      <a:pPr indent="0" marL="0" eaLnBrk="0">
                        <a:buNone/>
                      </a:pPr>
                      <a:r>
                        <a:rPr lang="ko-KR" altLang="en-US" sz="1400" b="1" dirty="0">
                          <a:solidFill>
                            <a:schemeClr val="bg1"/>
                          </a:solidFill>
                        </a:rPr>
                        <a:t>찾는 방법</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장점</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단점</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1051560">
                <a:tc>
                  <a:txBody>
                    <a:bodyPr/>
                    <a:lstStyle/>
                    <a:p>
                      <a:pPr indent="0" marL="0" eaLnBrk="0">
                        <a:buNone/>
                      </a:pPr>
                      <a:r>
                        <a:rPr lang="ko-KR" altLang="en-US" sz="1400" b="1" dirty="0">
                          <a:solidFill>
                            <a:schemeClr val="tx1"/>
                          </a:solidFill>
                        </a:rPr>
                        <a:t>바깥 코드가 등록</a:t>
                      </a:r>
                      <a:endParaRPr lang="ko-KR" altLang="en-US" sz="1400" dirty="0"/>
                    </a:p>
                    <a:p>
                      <a:pPr indent="0" marL="0" eaLnBrk="0">
                        <a:buNone/>
                      </a:pPr>
                      <a:r>
                        <a:rPr lang="ko-KR" altLang="en-US" sz="1400" b="1" dirty="0">
                          <a:solidFill>
                            <a:schemeClr val="tx1"/>
                          </a:solidFill>
                        </a:rPr>
                        <a:t>(지금까지의 방식)</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빠르고 단순하다. 제공자를 어떻게 만들지 바깥에서 정한다. 실행 중에 바꿔 끼울 수 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중개자가 바깥 코드에 기댄다. 등록을 잊으면 멈추거나 잘못 동작한다.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40080">
                <a:tc>
                  <a:txBody>
                    <a:bodyPr/>
                    <a:lstStyle/>
                    <a:p>
                      <a:pPr indent="0" marL="0" eaLnBrk="0">
                        <a:buNone/>
                      </a:pPr>
                      <a:r>
                        <a:rPr lang="ko-KR" altLang="en-US" sz="1400" b="1" dirty="0">
                          <a:solidFill>
                            <a:schemeClr val="tx1"/>
                          </a:solidFill>
                        </a:rPr>
                        <a:t>컴파일할 때 결정</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빠르다. 서비스가 반드시 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바꾸려면 다시 컴파일해야 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1051560">
                <a:tc>
                  <a:txBody>
                    <a:bodyPr/>
                    <a:lstStyle/>
                    <a:p>
                      <a:pPr indent="0" marL="0" eaLnBrk="0">
                        <a:buNone/>
                      </a:pPr>
                      <a:r>
                        <a:rPr lang="ko-KR" altLang="en-US" sz="1400" b="1" dirty="0">
                          <a:solidFill>
                            <a:schemeClr val="tx1"/>
                          </a:solidFill>
                        </a:rPr>
                        <a:t>실행 중 설정</a:t>
                      </a:r>
                      <a:endParaRPr lang="ko-KR" altLang="en-US" sz="1400" dirty="0"/>
                    </a:p>
                    <a:p>
                      <a:pPr indent="0" marL="0" eaLnBrk="0">
                        <a:buNone/>
                      </a:pPr>
                      <a:r>
                        <a:rPr lang="ko-KR" altLang="en-US" sz="1400" b="1" dirty="0">
                          <a:solidFill>
                            <a:schemeClr val="tx1"/>
                          </a:solidFill>
                        </a:rPr>
                        <a:t>(설정 파일, 리플렉션)</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다시 컴파일하지 않고 바꾼다. 프로그래머가 아니어도 바꿀 수 있다. 같은 코드로 여러 설정을 지원한다.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만들기 복잡하다. 찾는 데 시간이 걸린다. 찾은 결과를 저장해 두면 줄어든다.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못 찾으면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찾지 못했을 때의 처리는 세 가지다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세 처리 방법은 각각 무엇을 얻고 무엇을 잃을까?</a:t>
            </a:r>
            <a:endParaRPr lang="ko-KR" altLang="en-US" sz="1500" dirty="0"/>
          </a:p>
        </p:txBody>
      </p:sp>
      <p:sp>
        <p:nvSpPr>
          <p:cNvPr id="6" name="Text 3"/>
          <p:cNvSpPr txBox="1"/>
          <p:nvPr/>
        </p:nvSpPr>
        <p:spPr>
          <a:xfrm>
            <a:off x="548640" y="1691640"/>
            <a:ext cx="5486400"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1. 사용자에게 맡긴다</a:t>
            </a:r>
            <a:endParaRPr lang="ko-KR" altLang="en-US" sz="1600" dirty="0"/>
          </a:p>
        </p:txBody>
      </p:sp>
      <p:sp>
        <p:nvSpPr>
          <p:cNvPr id="7" name="codePanel"/>
          <p:cNvSpPr/>
          <p:nvPr/>
        </p:nvSpPr>
        <p:spPr>
          <a:xfrm>
            <a:off x="548640" y="2103120"/>
            <a:ext cx="5486400" cy="868680"/>
          </a:xfrm>
          <a:prstGeom prst="roundRect">
            <a:avLst>
              <a:gd name="adj" fmla="val 8421"/>
            </a:avLst>
          </a:prstGeom>
          <a:solidFill>
            <a:schemeClr val="tx1"/>
          </a:solidFill>
          <a:ln w="12700">
            <a:solidFill>
              <a:schemeClr val="tx1"/>
            </a:solidFill>
            <a:prstDash val="solid"/>
          </a:ln>
        </p:spPr>
      </p:sp>
      <p:sp>
        <p:nvSpPr>
          <p:cNvPr id="8" name="code"/>
          <p:cNvSpPr txBox="1"/>
          <p:nvPr/>
        </p:nvSpPr>
        <p:spPr>
          <a:xfrm>
            <a:off x="658368" y="2194560"/>
            <a:ext cx="5266944" cy="68580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IAudio audio = Locator.GetAudio();</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if (audio != null) audio.PlaySound(VeryLoudBang);</a:t>
            </a:r>
            <a:endParaRPr lang="ko-KR" altLang="en-US" sz="1200" dirty="0"/>
          </a:p>
        </p:txBody>
      </p:sp>
      <p:sp>
        <p:nvSpPr>
          <p:cNvPr id="9" name="Text 6"/>
          <p:cNvSpPr txBox="1"/>
          <p:nvPr/>
        </p:nvSpPr>
        <p:spPr>
          <a:xfrm>
            <a:off x="548640" y="3063240"/>
            <a:ext cx="5486400" cy="365760"/>
          </a:xfrm>
          <a:prstGeom prst="rect">
            <a:avLst/>
          </a:prstGeom>
          <a:noFill/>
          <a:ln/>
        </p:spPr>
        <p:txBody>
          <a:bodyPr wrap="square" lIns="0" tIns="0" rIns="0" bIns="0" rtlCol="0" anchor="t"/>
          <a:lstStyle/>
          <a:p>
            <a:pPr indent="0" marL="0" eaLnBrk="0">
              <a:buNone/>
            </a:pPr>
            <a:r>
              <a:rPr lang="ko-KR" altLang="en-US" sz="1300" dirty="0">
                <a:solidFill>
                  <a:schemeClr val="accent5"/>
                </a:solidFill>
              </a:rPr>
              <a:t>부르는 곳마다 확인한다.</a:t>
            </a:r>
            <a:endParaRPr lang="ko-KR" altLang="en-US" sz="1300" dirty="0"/>
          </a:p>
        </p:txBody>
      </p:sp>
      <p:sp>
        <p:nvSpPr>
          <p:cNvPr id="10" name="Text 7"/>
          <p:cNvSpPr txBox="1"/>
          <p:nvPr/>
        </p:nvSpPr>
        <p:spPr>
          <a:xfrm>
            <a:off x="548640" y="3749040"/>
            <a:ext cx="5486400"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3. 널 서비스를 돌려준다</a:t>
            </a:r>
            <a:endParaRPr lang="ko-KR" altLang="en-US" sz="1600" dirty="0"/>
          </a:p>
        </p:txBody>
      </p:sp>
      <p:sp>
        <p:nvSpPr>
          <p:cNvPr id="11" name="card"/>
          <p:cNvSpPr/>
          <p:nvPr/>
        </p:nvSpPr>
        <p:spPr>
          <a:xfrm>
            <a:off x="548640" y="4160520"/>
            <a:ext cx="5486400" cy="1508760"/>
          </a:xfrm>
          <a:prstGeom prst="roundRect">
            <a:avLst>
              <a:gd name="adj" fmla="val 6061"/>
            </a:avLst>
          </a:prstGeom>
          <a:solidFill>
            <a:schemeClr val="bg2"/>
          </a:solidFill>
          <a:ln w="12700">
            <a:solidFill>
              <a:schemeClr val="bg2"/>
            </a:solidFill>
            <a:prstDash val="solid"/>
          </a:ln>
        </p:spPr>
      </p:sp>
      <p:sp>
        <p:nvSpPr>
          <p:cNvPr id="12" name="Text 9"/>
          <p:cNvSpPr txBox="1"/>
          <p:nvPr/>
        </p:nvSpPr>
        <p:spPr>
          <a:xfrm>
            <a:off x="777240" y="4379976"/>
            <a:ext cx="507492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3부의 NullAudio</a:t>
            </a:r>
            <a:endParaRPr lang="ko-KR" altLang="en-US" sz="1700" dirty="0"/>
          </a:p>
        </p:txBody>
      </p:sp>
      <p:sp>
        <p:nvSpPr>
          <p:cNvPr id="13" name="Text 10"/>
          <p:cNvSpPr txBox="1"/>
          <p:nvPr/>
        </p:nvSpPr>
        <p:spPr>
          <a:xfrm>
            <a:off x="777240" y="4892040"/>
            <a:ext cx="5029200"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쓰는 쪽은 확인하지 않는다. 게임도 계속 실행된다.</a:t>
            </a:r>
            <a:endParaRPr lang="ko-KR" altLang="en-US" sz="1400" dirty="0"/>
          </a:p>
        </p:txBody>
      </p:sp>
      <p:sp>
        <p:nvSpPr>
          <p:cNvPr id="14" name="Text 11"/>
          <p:cNvSpPr txBox="1"/>
          <p:nvPr/>
        </p:nvSpPr>
        <p:spPr>
          <a:xfrm>
            <a:off x="6355080" y="1691640"/>
            <a:ext cx="5287975"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2. 게임을 멈춘다</a:t>
            </a:r>
            <a:endParaRPr lang="ko-KR" altLang="en-US" sz="1600" dirty="0"/>
          </a:p>
        </p:txBody>
      </p:sp>
      <p:sp>
        <p:nvSpPr>
          <p:cNvPr id="15" name="codePanel"/>
          <p:cNvSpPr/>
          <p:nvPr/>
        </p:nvSpPr>
        <p:spPr>
          <a:xfrm>
            <a:off x="6355080" y="2103120"/>
            <a:ext cx="5287975" cy="3108960"/>
          </a:xfrm>
          <a:prstGeom prst="roundRect">
            <a:avLst>
              <a:gd name="adj" fmla="val 2353"/>
            </a:avLst>
          </a:prstGeom>
          <a:solidFill>
            <a:schemeClr val="tx1"/>
          </a:solidFill>
          <a:ln w="12700">
            <a:solidFill>
              <a:schemeClr val="tx1"/>
            </a:solidFill>
            <a:prstDash val="solid"/>
          </a:ln>
        </p:spPr>
      </p:sp>
      <p:sp>
        <p:nvSpPr>
          <p:cNvPr id="16" name="code"/>
          <p:cNvSpPr txBox="1"/>
          <p:nvPr/>
        </p:nvSpPr>
        <p:spPr>
          <a:xfrm>
            <a:off x="6464808" y="2194560"/>
            <a:ext cx="5068519" cy="292608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static class Locator</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public static IAudio GetAudio()</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IAudio service = null;</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여기서 서비스를 찾는다...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Debug.Assert(service != null);</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return service;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17" name="Text 14"/>
          <p:cNvSpPr txBox="1"/>
          <p:nvPr/>
        </p:nvSpPr>
        <p:spPr>
          <a:xfrm>
            <a:off x="6355080" y="5303520"/>
            <a:ext cx="5287975" cy="256032"/>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 예제를 C#으로 옮긴 코드</a:t>
            </a:r>
            <a:endParaRPr lang="ko-KR" alt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실패 처리 비교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단언은 버그를 드러내고, 널 서비스는 게임을 계속 돌린다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마지막 결정은 서비스를 어디까지 보이게 할지이다.</a:t>
            </a:r>
            <a:endParaRPr lang="ko-KR" altLang="en-US" sz="15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743200"/>
                <a:gridCol w="4023360"/>
                <a:gridCol w="4327855"/>
              </a:tblGrid>
              <a:tr h="457200">
                <a:tc>
                  <a:txBody>
                    <a:bodyPr/>
                    <a:lstStyle/>
                    <a:p>
                      <a:pPr indent="0" marL="0" eaLnBrk="0">
                        <a:buNone/>
                      </a:pPr>
                      <a:r>
                        <a:rPr lang="ko-KR" altLang="en-US" sz="1400" b="1" dirty="0">
                          <a:solidFill>
                            <a:schemeClr val="bg1"/>
                          </a:solidFill>
                        </a:rPr>
                        <a:t>처리</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장점</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단점</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868680">
                <a:tc>
                  <a:txBody>
                    <a:bodyPr/>
                    <a:lstStyle/>
                    <a:p>
                      <a:pPr indent="0" marL="0" eaLnBrk="0">
                        <a:buNone/>
                      </a:pPr>
                      <a:r>
                        <a:rPr lang="ko-KR" altLang="en-US" sz="1400" b="1" dirty="0">
                          <a:solidFill>
                            <a:schemeClr val="tx1"/>
                          </a:solidFill>
                        </a:rPr>
                        <a:t>사용자에게 맡긴다</a:t>
                      </a:r>
                      <a:endParaRPr lang="ko-KR" altLang="en-US" sz="1400" dirty="0"/>
                    </a:p>
                    <a:p>
                      <a:pPr indent="0" marL="0" eaLnBrk="0">
                        <a:buNone/>
                      </a:pPr>
                      <a:r>
                        <a:rPr lang="ko-KR" altLang="en-US" sz="1400" b="1" dirty="0">
                          <a:solidFill>
                            <a:schemeClr val="tx1"/>
                          </a:solidFill>
                        </a:rPr>
                        <a:t>(null 반환)</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못 찾았을 때 어떻게 할지 쓰는 쪽이 정한다.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부르는 곳마다 확인 코드가 반복된다. 하나라도 빠뜨리면 멈춘다.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868680">
                <a:tc>
                  <a:txBody>
                    <a:bodyPr/>
                    <a:lstStyle/>
                    <a:p>
                      <a:pPr indent="0" marL="0" eaLnBrk="0">
                        <a:buNone/>
                      </a:pPr>
                      <a:r>
                        <a:rPr lang="ko-KR" altLang="en-US" sz="1400" b="1" dirty="0">
                          <a:solidFill>
                            <a:schemeClr val="tx1"/>
                          </a:solidFill>
                        </a:rPr>
                        <a:t>게임을 멈춘다</a:t>
                      </a:r>
                      <a:endParaRPr lang="ko-KR" altLang="en-US" sz="1400" dirty="0"/>
                    </a:p>
                    <a:p>
                      <a:pPr indent="0" marL="0" eaLnBrk="0">
                        <a:buNone/>
                      </a:pPr>
                      <a:r>
                        <a:rPr lang="ko-KR" altLang="en-US" sz="1400" b="1" dirty="0">
                          <a:solidFill>
                            <a:schemeClr val="tx1"/>
                          </a:solidFill>
                        </a:rPr>
                        <a:t>(단언)</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쓰는 쪽은 처리하지 않는다. 못 찾은 것이 중개자 쪽 버그로 드러난다.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서비스가 없으면 게임 전체가 멈춘다. 고칠 때까지 다른 사람의 작업도 막힌다.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널 서비스를 돌려준다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쓰는 쪽은 처리하지 않는다. 게임이 계속 실행된다.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실수로 등록을 빠뜨려도 조용히 넘어가므로 원인을 찾기 어렵다.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4983480"/>
            <a:ext cx="11094415" cy="594360"/>
          </a:xfrm>
          <a:prstGeom prst="rect">
            <a:avLst/>
          </a:prstGeom>
          <a:noFill/>
          <a:ln/>
        </p:spPr>
        <p:txBody>
          <a:bodyPr wrap="square" lIns="0" tIns="0" rIns="0" bIns="0" rtlCol="0" anchor="t"/>
          <a:lstStyle/>
          <a:p>
            <a:pPr indent="0" marL="0" eaLnBrk="0">
              <a:buNone/>
            </a:pPr>
            <a:r>
              <a:rPr lang="ko-KR" altLang="en-US" sz="1500" b="1" dirty="0">
                <a:solidFill>
                  <a:schemeClr val="tx1"/>
                </a:solidFill>
              </a:rPr>
              <a:t>원서의 정리: </a:t>
            </a:r>
            <a:pPr indent="0" marL="0" eaLnBrk="0">
              <a:buNone/>
            </a:pPr>
            <a:r>
              <a:rPr lang="ko-KR" altLang="en-US" sz="1500" dirty="0">
                <a:solidFill>
                  <a:schemeClr val="tx2"/>
                </a:solidFill>
              </a:rPr>
              <a:t>가장 흔한 것은 단언이다. 큰 팀에서는 다른 사람의 작업을 막지 않는 널 서비스를 권한다.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범위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서비스를 전역에 둘지, 한 클래스 계층에만 보일지 정한다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이 패턴은 언제 쓰고, 무엇을 조심해야 할까?</a:t>
            </a:r>
            <a:endParaRPr lang="ko-KR" altLang="en-US" sz="1500" dirty="0"/>
          </a:p>
        </p:txBody>
      </p:sp>
      <p:sp>
        <p:nvSpPr>
          <p:cNvPr id="6" name="codePanel"/>
          <p:cNvSpPr/>
          <p:nvPr/>
        </p:nvSpPr>
        <p:spPr>
          <a:xfrm>
            <a:off x="548640" y="1691640"/>
            <a:ext cx="5852160" cy="2560320"/>
          </a:xfrm>
          <a:prstGeom prst="roundRect">
            <a:avLst>
              <a:gd name="adj" fmla="val 2857"/>
            </a:avLst>
          </a:prstGeom>
          <a:solidFill>
            <a:schemeClr val="tx1"/>
          </a:solidFill>
          <a:ln w="12700">
            <a:solidFill>
              <a:schemeClr val="tx1"/>
            </a:solidFill>
            <a:prstDash val="solid"/>
          </a:ln>
        </p:spPr>
      </p:sp>
      <p:sp>
        <p:nvSpPr>
          <p:cNvPr id="7" name="code"/>
          <p:cNvSpPr txBox="1"/>
          <p:nvPr/>
        </p:nvSpPr>
        <p:spPr>
          <a:xfrm>
            <a:off x="658368" y="1783080"/>
            <a:ext cx="5632704" cy="237744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class Base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서비스를 찾아 _service에 넣는 코드...</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하위 클래스만 서비스를 쓸 수 있다</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protected static IAudio GetAudio() { return _service;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static IAudio _service;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Text 5"/>
          <p:cNvSpPr txBox="1"/>
          <p:nvPr/>
        </p:nvSpPr>
        <p:spPr>
          <a:xfrm>
            <a:off x="548640" y="4297680"/>
            <a:ext cx="5852160" cy="256032"/>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 예제를 C#으로 옮긴 코드</a:t>
            </a:r>
            <a:endParaRPr lang="ko-KR" altLang="en-US" sz="1100" dirty="0"/>
          </a:p>
        </p:txBody>
      </p:sp>
      <p:sp>
        <p:nvSpPr>
          <p:cNvPr id="9" name="card"/>
          <p:cNvSpPr/>
          <p:nvPr/>
        </p:nvSpPr>
        <p:spPr>
          <a:xfrm>
            <a:off x="6766560" y="1691640"/>
            <a:ext cx="4876495" cy="1325880"/>
          </a:xfrm>
          <a:prstGeom prst="roundRect">
            <a:avLst>
              <a:gd name="adj" fmla="val 6897"/>
            </a:avLst>
          </a:prstGeom>
          <a:solidFill>
            <a:schemeClr val="bg2"/>
          </a:solidFill>
          <a:ln w="12700">
            <a:solidFill>
              <a:schemeClr val="bg2"/>
            </a:solidFill>
            <a:prstDash val="solid"/>
          </a:ln>
        </p:spPr>
      </p:sp>
      <p:sp>
        <p:nvSpPr>
          <p:cNvPr id="10" name="Text 7"/>
          <p:cNvSpPr txBox="1"/>
          <p:nvPr/>
        </p:nvSpPr>
        <p:spPr>
          <a:xfrm>
            <a:off x="6995160" y="1911096"/>
            <a:ext cx="44650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전역</a:t>
            </a:r>
            <a:endParaRPr lang="ko-KR" altLang="en-US" sz="1700" dirty="0"/>
          </a:p>
        </p:txBody>
      </p:sp>
      <p:sp>
        <p:nvSpPr>
          <p:cNvPr id="11" name="Text 8"/>
          <p:cNvSpPr txBox="1"/>
          <p:nvPr/>
        </p:nvSpPr>
        <p:spPr>
          <a:xfrm>
            <a:off x="8138160" y="1783080"/>
            <a:ext cx="3322015" cy="1143000"/>
          </a:xfrm>
          <a:prstGeom prst="rect">
            <a:avLst/>
          </a:prstGeom>
          <a:noFill/>
          <a:ln/>
        </p:spPr>
        <p:txBody>
          <a:bodyPr wrap="square" lIns="0" tIns="0" rIns="0" bIns="0" rtlCol="0" anchor="ctr"/>
          <a:lstStyle/>
          <a:p>
            <a:pPr indent="0" marL="0" eaLnBrk="0">
              <a:buNone/>
            </a:pPr>
            <a:r>
              <a:rPr lang="ko-KR" altLang="en-US" sz="1400" dirty="0">
                <a:solidFill>
                  <a:schemeClr val="tx2"/>
                </a:solidFill>
              </a:rPr>
              <a:t>서비스가 하나로 모인다. 대신 어디서 언제 쓰는지 통제하지 못한다.</a:t>
            </a:r>
            <a:endParaRPr lang="ko-KR" altLang="en-US" sz="1400" dirty="0"/>
          </a:p>
        </p:txBody>
      </p:sp>
      <p:sp>
        <p:nvSpPr>
          <p:cNvPr id="12" name="card"/>
          <p:cNvSpPr/>
          <p:nvPr/>
        </p:nvSpPr>
        <p:spPr>
          <a:xfrm>
            <a:off x="6766560" y="3154680"/>
            <a:ext cx="4876495" cy="1325880"/>
          </a:xfrm>
          <a:prstGeom prst="roundRect">
            <a:avLst>
              <a:gd name="adj" fmla="val 6897"/>
            </a:avLst>
          </a:prstGeom>
          <a:solidFill>
            <a:schemeClr val="bg2"/>
          </a:solidFill>
          <a:ln w="12700">
            <a:solidFill>
              <a:schemeClr val="bg2"/>
            </a:solidFill>
            <a:prstDash val="solid"/>
          </a:ln>
        </p:spPr>
      </p:sp>
      <p:sp>
        <p:nvSpPr>
          <p:cNvPr id="13" name="Text 10"/>
          <p:cNvSpPr txBox="1"/>
          <p:nvPr/>
        </p:nvSpPr>
        <p:spPr>
          <a:xfrm>
            <a:off x="6995160" y="3374136"/>
            <a:ext cx="44650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클래스 한정</a:t>
            </a:r>
            <a:endParaRPr lang="ko-KR" altLang="en-US" sz="1700" dirty="0"/>
          </a:p>
        </p:txBody>
      </p:sp>
      <p:sp>
        <p:nvSpPr>
          <p:cNvPr id="14" name="Text 11"/>
          <p:cNvSpPr txBox="1"/>
          <p:nvPr/>
        </p:nvSpPr>
        <p:spPr>
          <a:xfrm>
            <a:off x="8778240" y="3246120"/>
            <a:ext cx="2681935" cy="1143000"/>
          </a:xfrm>
          <a:prstGeom prst="rect">
            <a:avLst/>
          </a:prstGeom>
          <a:noFill/>
          <a:ln/>
        </p:spPr>
        <p:txBody>
          <a:bodyPr wrap="square" lIns="0" tIns="0" rIns="0" bIns="0" rtlCol="0" anchor="ctr"/>
          <a:lstStyle/>
          <a:p>
            <a:pPr indent="0" marL="0" eaLnBrk="0">
              <a:buNone/>
            </a:pPr>
            <a:r>
              <a:rPr lang="ko-KR" altLang="en-US" sz="1400" dirty="0">
                <a:solidFill>
                  <a:schemeClr val="tx2"/>
                </a:solidFill>
              </a:rPr>
              <a:t>결합을 통제한다. 대신 관계없는 클래스들이 각자 찾는 코드를 반복한다.</a:t>
            </a:r>
            <a:endParaRPr lang="ko-KR" altLang="en-US" sz="1400" dirty="0"/>
          </a:p>
        </p:txBody>
      </p:sp>
      <p:sp>
        <p:nvSpPr>
          <p:cNvPr id="15" name="box"/>
          <p:cNvSpPr/>
          <p:nvPr/>
        </p:nvSpPr>
        <p:spPr>
          <a:xfrm>
            <a:off x="548640" y="4709160"/>
            <a:ext cx="11094415" cy="914400"/>
          </a:xfrm>
          <a:prstGeom prst="roundRect">
            <a:avLst>
              <a:gd name="adj" fmla="val 8000"/>
            </a:avLst>
          </a:prstGeom>
          <a:solidFill>
            <a:schemeClr val="tx2"/>
          </a:solidFill>
          <a:ln w="12700">
            <a:solidFill>
              <a:schemeClr val="tx2"/>
            </a:solidFill>
            <a:prstDash val="solid"/>
          </a:ln>
        </p:spPr>
      </p:sp>
      <p:sp>
        <p:nvSpPr>
          <p:cNvPr id="16" name="Text 13"/>
          <p:cNvSpPr txBox="1"/>
          <p:nvPr/>
        </p:nvSpPr>
        <p:spPr>
          <a:xfrm>
            <a:off x="548640" y="4709160"/>
            <a:ext cx="11094415" cy="914400"/>
          </a:xfrm>
          <a:prstGeom prst="rect">
            <a:avLst/>
          </a:prstGeom>
          <a:noFill/>
          <a:ln/>
        </p:spPr>
        <p:txBody>
          <a:bodyPr wrap="square" lIns="635" tIns="635" rIns="635" bIns="635" rtlCol="0" anchor="ctr"/>
          <a:lstStyle/>
          <a:p>
            <a:pPr algn="ctr" indent="0" marL="0" eaLnBrk="0">
              <a:buNone/>
            </a:pPr>
            <a:r>
              <a:rPr lang="ko-KR" altLang="en-US" sz="1600" dirty="0">
                <a:solidFill>
                  <a:schemeClr val="bg1"/>
                </a:solidFill>
              </a:rPr>
              <a:t>원서의 기준: 한 영역에서만 쓰는 서비스는 클래스로 한정하고, 로깅처럼 어디서나 쓰는 서비스는 전역에 둔다.</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5부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쓸 때와 주의점</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관련 패턴과 Unity 대응</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쓸 때와 주의점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먼저 객체를 넘겨줄 수 있는지 보고, 그래도 어려울 때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원서는 서비스 중개자와 함께 볼 패턴으로 무엇을 소개할까?</a:t>
            </a:r>
            <a:endParaRPr lang="ko-KR" altLang="en-US" sz="1500" dirty="0"/>
          </a:p>
        </p:txBody>
      </p:sp>
      <p:sp>
        <p:nvSpPr>
          <p:cNvPr id="6" name="Text 3"/>
          <p:cNvSpPr txBox="1"/>
          <p:nvPr/>
        </p:nvSpPr>
        <p:spPr>
          <a:xfrm>
            <a:off x="548640" y="169164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2"/>
                </a:solidFill>
              </a:rPr>
              <a:t>이럴 때 쓴다</a:t>
            </a:r>
            <a:endParaRPr lang="ko-KR" altLang="en-US" sz="2000" dirty="0"/>
          </a:p>
        </p:txBody>
      </p:sp>
      <p:sp>
        <p:nvSpPr>
          <p:cNvPr id="7" name="card"/>
          <p:cNvSpPr/>
          <p:nvPr/>
        </p:nvSpPr>
        <p:spPr>
          <a:xfrm>
            <a:off x="548640" y="2240280"/>
            <a:ext cx="5349240" cy="1051560"/>
          </a:xfrm>
          <a:prstGeom prst="roundRect">
            <a:avLst>
              <a:gd name="adj" fmla="val 8696"/>
            </a:avLst>
          </a:prstGeom>
          <a:solidFill>
            <a:schemeClr val="bg2"/>
          </a:solidFill>
          <a:ln w="12700">
            <a:solidFill>
              <a:schemeClr val="bg2"/>
            </a:solidFill>
            <a:prstDash val="solid"/>
          </a:ln>
        </p:spPr>
      </p:sp>
      <p:sp>
        <p:nvSpPr>
          <p:cNvPr id="8" name="Shape 5"/>
          <p:cNvSpPr/>
          <p:nvPr/>
        </p:nvSpPr>
        <p:spPr>
          <a:xfrm>
            <a:off x="777240" y="2441448"/>
            <a:ext cx="420624" cy="420624"/>
          </a:xfrm>
          <a:prstGeom prst="ellipse">
            <a:avLst/>
          </a:prstGeom>
          <a:solidFill>
            <a:schemeClr val="accent1"/>
          </a:solidFill>
          <a:ln w="12700">
            <a:solidFill>
              <a:schemeClr val="accent1"/>
            </a:solidFill>
            <a:prstDash val="solid"/>
          </a:ln>
        </p:spPr>
      </p:sp>
      <p:sp>
        <p:nvSpPr>
          <p:cNvPr id="9" name="Text 6"/>
          <p:cNvSpPr txBox="1"/>
          <p:nvPr/>
        </p:nvSpPr>
        <p:spPr>
          <a:xfrm>
            <a:off x="777240" y="24414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0" name="card"/>
          <p:cNvSpPr/>
          <p:nvPr/>
        </p:nvSpPr>
        <p:spPr>
          <a:xfrm>
            <a:off x="548640" y="3429000"/>
            <a:ext cx="5349240" cy="1051560"/>
          </a:xfrm>
          <a:prstGeom prst="roundRect">
            <a:avLst>
              <a:gd name="adj" fmla="val 8696"/>
            </a:avLst>
          </a:prstGeom>
          <a:solidFill>
            <a:schemeClr val="bg2"/>
          </a:solidFill>
          <a:ln w="12700">
            <a:solidFill>
              <a:schemeClr val="bg2"/>
            </a:solidFill>
            <a:prstDash val="solid"/>
          </a:ln>
        </p:spPr>
      </p:sp>
      <p:sp>
        <p:nvSpPr>
          <p:cNvPr id="11" name="Shape 8"/>
          <p:cNvSpPr/>
          <p:nvPr/>
        </p:nvSpPr>
        <p:spPr>
          <a:xfrm>
            <a:off x="777240" y="3630168"/>
            <a:ext cx="420624" cy="420624"/>
          </a:xfrm>
          <a:prstGeom prst="ellipse">
            <a:avLst/>
          </a:prstGeom>
          <a:solidFill>
            <a:schemeClr val="accent1"/>
          </a:solidFill>
          <a:ln w="12700">
            <a:solidFill>
              <a:schemeClr val="accent1"/>
            </a:solidFill>
            <a:prstDash val="solid"/>
          </a:ln>
        </p:spPr>
      </p:sp>
      <p:sp>
        <p:nvSpPr>
          <p:cNvPr id="12" name="Text 9"/>
          <p:cNvSpPr txBox="1"/>
          <p:nvPr/>
        </p:nvSpPr>
        <p:spPr>
          <a:xfrm>
            <a:off x="777240" y="36301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3" name="card"/>
          <p:cNvSpPr/>
          <p:nvPr/>
        </p:nvSpPr>
        <p:spPr>
          <a:xfrm>
            <a:off x="548640" y="4617720"/>
            <a:ext cx="5349240" cy="1051560"/>
          </a:xfrm>
          <a:prstGeom prst="roundRect">
            <a:avLst>
              <a:gd name="adj" fmla="val 8696"/>
            </a:avLst>
          </a:prstGeom>
          <a:solidFill>
            <a:schemeClr val="bg2"/>
          </a:solidFill>
          <a:ln w="12700">
            <a:solidFill>
              <a:schemeClr val="bg2"/>
            </a:solidFill>
            <a:prstDash val="solid"/>
          </a:ln>
        </p:spPr>
      </p:sp>
      <p:sp>
        <p:nvSpPr>
          <p:cNvPr id="14" name="Shape 11"/>
          <p:cNvSpPr/>
          <p:nvPr/>
        </p:nvSpPr>
        <p:spPr>
          <a:xfrm>
            <a:off x="777240" y="4818888"/>
            <a:ext cx="420624" cy="420624"/>
          </a:xfrm>
          <a:prstGeom prst="ellipse">
            <a:avLst/>
          </a:prstGeom>
          <a:solidFill>
            <a:schemeClr val="accent1"/>
          </a:solidFill>
          <a:ln w="12700">
            <a:solidFill>
              <a:schemeClr val="accent1"/>
            </a:solidFill>
            <a:prstDash val="solid"/>
          </a:ln>
        </p:spPr>
      </p:sp>
      <p:sp>
        <p:nvSpPr>
          <p:cNvPr id="15" name="Text 12"/>
          <p:cNvSpPr txBox="1"/>
          <p:nvPr/>
        </p:nvSpPr>
        <p:spPr>
          <a:xfrm>
            <a:off x="777240" y="48188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6" name="Text 13"/>
          <p:cNvSpPr txBox="1"/>
          <p:nvPr/>
        </p:nvSpPr>
        <p:spPr>
          <a:xfrm>
            <a:off x="1371600" y="237744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필요한 객체를 넘겨주면 상관없는 코드까지 그 객체를 거쳐 가야 할 때.</a:t>
            </a:r>
            <a:endParaRPr lang="ko-KR" altLang="en-US" sz="1400" dirty="0"/>
          </a:p>
        </p:txBody>
      </p:sp>
      <p:sp>
        <p:nvSpPr>
          <p:cNvPr id="17" name="Text 14"/>
          <p:cNvSpPr txBox="1"/>
          <p:nvPr/>
        </p:nvSpPr>
        <p:spPr>
          <a:xfrm>
            <a:off x="1371600" y="356616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로깅, 메모리 관리처럼 모듈의 API에 드러내기 싫은 기능.</a:t>
            </a:r>
            <a:endParaRPr lang="ko-KR" altLang="en-US" sz="1400" dirty="0"/>
          </a:p>
        </p:txBody>
      </p:sp>
      <p:sp>
        <p:nvSpPr>
          <p:cNvPr id="18" name="Text 15"/>
          <p:cNvSpPr txBox="1"/>
          <p:nvPr/>
        </p:nvSpPr>
        <p:spPr>
          <a:xfrm>
            <a:off x="1371600" y="475488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오디오 장치, 화면처럼 본래 하나뿐인 기능.</a:t>
            </a:r>
            <a:endParaRPr lang="ko-KR" altLang="en-US" sz="1400" dirty="0"/>
          </a:p>
        </p:txBody>
      </p:sp>
      <p:sp>
        <p:nvSpPr>
          <p:cNvPr id="19" name="Text 16"/>
          <p:cNvSpPr txBox="1"/>
          <p:nvPr/>
        </p:nvSpPr>
        <p:spPr>
          <a:xfrm>
            <a:off x="6263640" y="169164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6"/>
                </a:solidFill>
              </a:rPr>
              <a:t>이것을 조심한다</a:t>
            </a:r>
            <a:endParaRPr lang="ko-KR" altLang="en-US" sz="2000" dirty="0"/>
          </a:p>
        </p:txBody>
      </p:sp>
      <p:sp>
        <p:nvSpPr>
          <p:cNvPr id="20" name="card"/>
          <p:cNvSpPr/>
          <p:nvPr/>
        </p:nvSpPr>
        <p:spPr>
          <a:xfrm>
            <a:off x="6263640" y="2240280"/>
            <a:ext cx="5349240" cy="1051560"/>
          </a:xfrm>
          <a:prstGeom prst="roundRect">
            <a:avLst>
              <a:gd name="adj" fmla="val 8696"/>
            </a:avLst>
          </a:prstGeom>
          <a:solidFill>
            <a:schemeClr val="bg2"/>
          </a:solidFill>
          <a:ln w="12700">
            <a:solidFill>
              <a:schemeClr val="bg2"/>
            </a:solidFill>
            <a:prstDash val="solid"/>
          </a:ln>
        </p:spPr>
      </p:sp>
      <p:sp>
        <p:nvSpPr>
          <p:cNvPr id="21" name="Shape 18"/>
          <p:cNvSpPr/>
          <p:nvPr/>
        </p:nvSpPr>
        <p:spPr>
          <a:xfrm>
            <a:off x="6492240" y="2441448"/>
            <a:ext cx="420624" cy="420624"/>
          </a:xfrm>
          <a:prstGeom prst="ellipse">
            <a:avLst/>
          </a:prstGeom>
          <a:solidFill>
            <a:schemeClr val="accent1"/>
          </a:solidFill>
          <a:ln w="12700">
            <a:solidFill>
              <a:schemeClr val="accent1"/>
            </a:solidFill>
            <a:prstDash val="solid"/>
          </a:ln>
        </p:spPr>
      </p:sp>
      <p:sp>
        <p:nvSpPr>
          <p:cNvPr id="22" name="Text 19"/>
          <p:cNvSpPr txBox="1"/>
          <p:nvPr/>
        </p:nvSpPr>
        <p:spPr>
          <a:xfrm>
            <a:off x="6492240" y="24414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3" name="card"/>
          <p:cNvSpPr/>
          <p:nvPr/>
        </p:nvSpPr>
        <p:spPr>
          <a:xfrm>
            <a:off x="6263640" y="3429000"/>
            <a:ext cx="5349240" cy="1051560"/>
          </a:xfrm>
          <a:prstGeom prst="roundRect">
            <a:avLst>
              <a:gd name="adj" fmla="val 8696"/>
            </a:avLst>
          </a:prstGeom>
          <a:solidFill>
            <a:schemeClr val="bg2"/>
          </a:solidFill>
          <a:ln w="12700">
            <a:solidFill>
              <a:schemeClr val="bg2"/>
            </a:solidFill>
            <a:prstDash val="solid"/>
          </a:ln>
        </p:spPr>
      </p:sp>
      <p:sp>
        <p:nvSpPr>
          <p:cNvPr id="24" name="Shape 21"/>
          <p:cNvSpPr/>
          <p:nvPr/>
        </p:nvSpPr>
        <p:spPr>
          <a:xfrm>
            <a:off x="6492240" y="3630168"/>
            <a:ext cx="420624" cy="420624"/>
          </a:xfrm>
          <a:prstGeom prst="ellipse">
            <a:avLst/>
          </a:prstGeom>
          <a:solidFill>
            <a:schemeClr val="accent1"/>
          </a:solidFill>
          <a:ln w="12700">
            <a:solidFill>
              <a:schemeClr val="accent1"/>
            </a:solidFill>
            <a:prstDash val="solid"/>
          </a:ln>
        </p:spPr>
      </p:sp>
      <p:sp>
        <p:nvSpPr>
          <p:cNvPr id="25" name="Text 22"/>
          <p:cNvSpPr txBox="1"/>
          <p:nvPr/>
        </p:nvSpPr>
        <p:spPr>
          <a:xfrm>
            <a:off x="6492240" y="36301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26" name="card"/>
          <p:cNvSpPr/>
          <p:nvPr/>
        </p:nvSpPr>
        <p:spPr>
          <a:xfrm>
            <a:off x="6263640" y="4617720"/>
            <a:ext cx="5349240" cy="1051560"/>
          </a:xfrm>
          <a:prstGeom prst="roundRect">
            <a:avLst>
              <a:gd name="adj" fmla="val 8696"/>
            </a:avLst>
          </a:prstGeom>
          <a:solidFill>
            <a:schemeClr val="bg2"/>
          </a:solidFill>
          <a:ln w="12700">
            <a:solidFill>
              <a:schemeClr val="bg2"/>
            </a:solidFill>
            <a:prstDash val="solid"/>
          </a:ln>
        </p:spPr>
      </p:sp>
      <p:sp>
        <p:nvSpPr>
          <p:cNvPr id="27" name="Shape 24"/>
          <p:cNvSpPr/>
          <p:nvPr/>
        </p:nvSpPr>
        <p:spPr>
          <a:xfrm>
            <a:off x="6492240" y="4818888"/>
            <a:ext cx="420624" cy="420624"/>
          </a:xfrm>
          <a:prstGeom prst="ellipse">
            <a:avLst/>
          </a:prstGeom>
          <a:solidFill>
            <a:schemeClr val="accent1"/>
          </a:solidFill>
          <a:ln w="12700">
            <a:solidFill>
              <a:schemeClr val="accent1"/>
            </a:solidFill>
            <a:prstDash val="solid"/>
          </a:ln>
        </p:spPr>
      </p:sp>
      <p:sp>
        <p:nvSpPr>
          <p:cNvPr id="28" name="Text 25"/>
          <p:cNvSpPr txBox="1"/>
          <p:nvPr/>
        </p:nvSpPr>
        <p:spPr>
          <a:xfrm>
            <a:off x="6492240" y="48188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9" name="Text 26"/>
          <p:cNvSpPr txBox="1"/>
          <p:nvPr/>
        </p:nvSpPr>
        <p:spPr>
          <a:xfrm>
            <a:off x="7086600" y="237744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무엇에 의존하는지가 실행할 때 정해지므로 코드만 읽어서는 잘 보이지 않는다.</a:t>
            </a:r>
            <a:endParaRPr lang="ko-KR" altLang="en-US" sz="1400" dirty="0"/>
          </a:p>
        </p:txBody>
      </p:sp>
      <p:sp>
        <p:nvSpPr>
          <p:cNvPr id="30" name="Text 27"/>
          <p:cNvSpPr txBox="1"/>
          <p:nvPr/>
        </p:nvSpPr>
        <p:spPr>
          <a:xfrm>
            <a:off x="7086600" y="356616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서비스를 실제로 찾아야 한다. 못 찾을 때의 처리를 정한다.</a:t>
            </a:r>
            <a:endParaRPr lang="ko-KR" altLang="en-US" sz="1400" dirty="0"/>
          </a:p>
        </p:txBody>
      </p:sp>
      <p:sp>
        <p:nvSpPr>
          <p:cNvPr id="31" name="Text 28"/>
          <p:cNvSpPr txBox="1"/>
          <p:nvPr/>
        </p:nvSpPr>
        <p:spPr>
          <a:xfrm>
            <a:off x="7086600" y="475488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서비스는 누가 부르는지 모른다. 어느 상황에서 불려도 제대로 동작해야 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관련 패턴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원서가 함께 언급하는 패턴들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Unity에서는 이 생각이 어디에 쓰이고 있을까?</a:t>
            </a:r>
            <a:endParaRPr lang="ko-KR" altLang="en-US" sz="1500" dirty="0"/>
          </a:p>
        </p:txBody>
      </p:sp>
      <p:sp>
        <p:nvSpPr>
          <p:cNvPr id="6" name="Shape 3"/>
          <p:cNvSpPr/>
          <p:nvPr/>
        </p:nvSpPr>
        <p:spPr>
          <a:xfrm>
            <a:off x="548640" y="1691640"/>
            <a:ext cx="11094415" cy="914400"/>
          </a:xfrm>
          <a:prstGeom prst="roundRect">
            <a:avLst>
              <a:gd name="adj" fmla="val 10000"/>
            </a:avLst>
          </a:prstGeom>
          <a:solidFill>
            <a:schemeClr val="bg2"/>
          </a:solidFill>
          <a:ln w="12700">
            <a:solidFill>
              <a:schemeClr val="bg2"/>
            </a:solidFill>
            <a:prstDash val="solid"/>
          </a:ln>
        </p:spPr>
      </p:sp>
      <p:sp>
        <p:nvSpPr>
          <p:cNvPr id="7" name="Text 4"/>
          <p:cNvSpPr txBox="1"/>
          <p:nvPr/>
        </p:nvSpPr>
        <p:spPr>
          <a:xfrm>
            <a:off x="822960" y="1783080"/>
            <a:ext cx="3291840" cy="411480"/>
          </a:xfrm>
          <a:prstGeom prst="rect">
            <a:avLst/>
          </a:prstGeom>
          <a:noFill/>
          <a:ln/>
        </p:spPr>
        <p:txBody>
          <a:bodyPr wrap="square" lIns="0" tIns="0" rIns="0" bIns="0" rtlCol="0" anchor="t"/>
          <a:lstStyle/>
          <a:p>
            <a:pPr indent="0" marL="0" eaLnBrk="0">
              <a:buNone/>
            </a:pPr>
            <a:r>
              <a:rPr lang="ko-KR" altLang="en-US" sz="1700" b="1" dirty="0">
                <a:solidFill>
                  <a:schemeClr val="tx1"/>
                </a:solidFill>
              </a:rPr>
              <a:t>싱글턴(Singleton)</a:t>
            </a:r>
            <a:endParaRPr lang="ko-KR" altLang="en-US" sz="1700" dirty="0"/>
          </a:p>
        </p:txBody>
      </p:sp>
      <p:sp>
        <p:nvSpPr>
          <p:cNvPr id="8" name="Shape 5"/>
          <p:cNvSpPr/>
          <p:nvPr/>
        </p:nvSpPr>
        <p:spPr>
          <a:xfrm>
            <a:off x="822960" y="2194560"/>
            <a:ext cx="822960" cy="310896"/>
          </a:xfrm>
          <a:prstGeom prst="roundRect">
            <a:avLst>
              <a:gd name="adj" fmla="val 23529"/>
            </a:avLst>
          </a:prstGeom>
          <a:solidFill>
            <a:schemeClr val="accent1"/>
          </a:solidFill>
          <a:ln w="12700">
            <a:solidFill>
              <a:schemeClr val="accent1"/>
            </a:solidFill>
            <a:prstDash val="solid"/>
          </a:ln>
        </p:spPr>
      </p:sp>
      <p:sp>
        <p:nvSpPr>
          <p:cNvPr id="9" name="Text 6"/>
          <p:cNvSpPr txBox="1"/>
          <p:nvPr/>
        </p:nvSpPr>
        <p:spPr>
          <a:xfrm>
            <a:off x="822960" y="2194560"/>
            <a:ext cx="822960"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5강</a:t>
            </a:r>
            <a:endParaRPr lang="ko-KR" altLang="en-US" sz="1200" dirty="0"/>
          </a:p>
        </p:txBody>
      </p:sp>
      <p:sp>
        <p:nvSpPr>
          <p:cNvPr id="10" name="Text 7"/>
          <p:cNvSpPr txBox="1"/>
          <p:nvPr/>
        </p:nvSpPr>
        <p:spPr>
          <a:xfrm>
            <a:off x="4297680" y="1764792"/>
            <a:ext cx="7071055" cy="768096"/>
          </a:xfrm>
          <a:prstGeom prst="rect">
            <a:avLst/>
          </a:prstGeom>
          <a:noFill/>
          <a:ln/>
        </p:spPr>
        <p:txBody>
          <a:bodyPr wrap="square" lIns="0" tIns="0" rIns="0" bIns="0" rtlCol="0" anchor="ctr"/>
          <a:lstStyle/>
          <a:p>
            <a:pPr indent="0" marL="0" eaLnBrk="0">
              <a:buNone/>
            </a:pPr>
            <a:r>
              <a:rPr lang="ko-KR" altLang="en-US" sz="1500" dirty="0">
                <a:solidFill>
                  <a:schemeClr val="tx2"/>
                </a:solidFill>
              </a:rPr>
              <a:t>둘 다 어디서나 접근할 수 있다. 싱글턴은 구체 클래스 하나에 묶이고, 중개자는 서비스의 약속만 드러낸다.</a:t>
            </a:r>
            <a:endParaRPr lang="ko-KR" altLang="en-US" sz="1500" dirty="0"/>
          </a:p>
        </p:txBody>
      </p:sp>
      <p:sp>
        <p:nvSpPr>
          <p:cNvPr id="11" name="Shape 8"/>
          <p:cNvSpPr/>
          <p:nvPr/>
        </p:nvSpPr>
        <p:spPr>
          <a:xfrm>
            <a:off x="548640" y="2715768"/>
            <a:ext cx="11094415" cy="914400"/>
          </a:xfrm>
          <a:prstGeom prst="roundRect">
            <a:avLst>
              <a:gd name="adj" fmla="val 10000"/>
            </a:avLst>
          </a:prstGeom>
          <a:solidFill>
            <a:schemeClr val="bg2"/>
          </a:solidFill>
          <a:ln w="12700">
            <a:solidFill>
              <a:schemeClr val="bg2"/>
            </a:solidFill>
            <a:prstDash val="solid"/>
          </a:ln>
        </p:spPr>
      </p:sp>
      <p:sp>
        <p:nvSpPr>
          <p:cNvPr id="12" name="Text 9"/>
          <p:cNvSpPr txBox="1"/>
          <p:nvPr/>
        </p:nvSpPr>
        <p:spPr>
          <a:xfrm>
            <a:off x="822960" y="2807208"/>
            <a:ext cx="3291840" cy="411480"/>
          </a:xfrm>
          <a:prstGeom prst="rect">
            <a:avLst/>
          </a:prstGeom>
          <a:noFill/>
          <a:ln/>
        </p:spPr>
        <p:txBody>
          <a:bodyPr wrap="square" lIns="0" tIns="0" rIns="0" bIns="0" rtlCol="0" anchor="t"/>
          <a:lstStyle/>
          <a:p>
            <a:pPr indent="0" marL="0" eaLnBrk="0">
              <a:buNone/>
            </a:pPr>
            <a:r>
              <a:rPr lang="ko-KR" altLang="en-US" sz="1700" b="1" dirty="0">
                <a:solidFill>
                  <a:schemeClr val="tx1"/>
                </a:solidFill>
              </a:rPr>
              <a:t>하위 클래스 샌드박스</a:t>
            </a:r>
            <a:endParaRPr lang="ko-KR" altLang="en-US" sz="1700" dirty="0"/>
          </a:p>
        </p:txBody>
      </p:sp>
      <p:sp>
        <p:nvSpPr>
          <p:cNvPr id="13" name="Shape 10"/>
          <p:cNvSpPr/>
          <p:nvPr/>
        </p:nvSpPr>
        <p:spPr>
          <a:xfrm>
            <a:off x="822960" y="3218688"/>
            <a:ext cx="822960" cy="310896"/>
          </a:xfrm>
          <a:prstGeom prst="roundRect">
            <a:avLst>
              <a:gd name="adj" fmla="val 23529"/>
            </a:avLst>
          </a:prstGeom>
          <a:solidFill>
            <a:schemeClr val="accent1"/>
          </a:solidFill>
          <a:ln w="12700">
            <a:solidFill>
              <a:schemeClr val="accent1"/>
            </a:solidFill>
            <a:prstDash val="solid"/>
          </a:ln>
        </p:spPr>
      </p:sp>
      <p:sp>
        <p:nvSpPr>
          <p:cNvPr id="14" name="Text 11"/>
          <p:cNvSpPr txBox="1"/>
          <p:nvPr/>
        </p:nvSpPr>
        <p:spPr>
          <a:xfrm>
            <a:off x="822960" y="3218688"/>
            <a:ext cx="822960"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8강</a:t>
            </a:r>
            <a:endParaRPr lang="ko-KR" altLang="en-US" sz="1200" dirty="0"/>
          </a:p>
        </p:txBody>
      </p:sp>
      <p:sp>
        <p:nvSpPr>
          <p:cNvPr id="15" name="Text 12"/>
          <p:cNvSpPr txBox="1"/>
          <p:nvPr/>
        </p:nvSpPr>
        <p:spPr>
          <a:xfrm>
            <a:off x="4297680" y="2788920"/>
            <a:ext cx="7071055" cy="768096"/>
          </a:xfrm>
          <a:prstGeom prst="rect">
            <a:avLst/>
          </a:prstGeom>
          <a:noFill/>
          <a:ln/>
        </p:spPr>
        <p:txBody>
          <a:bodyPr wrap="square" lIns="0" tIns="0" rIns="0" bIns="0" rtlCol="0" anchor="ctr"/>
          <a:lstStyle/>
          <a:p>
            <a:pPr indent="0" marL="0" eaLnBrk="0">
              <a:buNone/>
            </a:pPr>
            <a:r>
              <a:rPr lang="ko-KR" altLang="en-US" sz="1500" dirty="0">
                <a:solidFill>
                  <a:schemeClr val="tx2"/>
                </a:solidFill>
              </a:rPr>
              <a:t>기본 클래스가 protected 메서드로 서비스를 제공하면 범위를 하위 클래스로 한정할 수 있다.</a:t>
            </a:r>
            <a:endParaRPr lang="ko-KR" altLang="en-US" sz="1500" dirty="0"/>
          </a:p>
        </p:txBody>
      </p:sp>
      <p:sp>
        <p:nvSpPr>
          <p:cNvPr id="16" name="Shape 13"/>
          <p:cNvSpPr/>
          <p:nvPr/>
        </p:nvSpPr>
        <p:spPr>
          <a:xfrm>
            <a:off x="548640" y="3739896"/>
            <a:ext cx="11094415" cy="914400"/>
          </a:xfrm>
          <a:prstGeom prst="roundRect">
            <a:avLst>
              <a:gd name="adj" fmla="val 10000"/>
            </a:avLst>
          </a:prstGeom>
          <a:solidFill>
            <a:schemeClr val="bg2"/>
          </a:solidFill>
          <a:ln w="12700">
            <a:solidFill>
              <a:schemeClr val="bg2"/>
            </a:solidFill>
            <a:prstDash val="solid"/>
          </a:ln>
        </p:spPr>
      </p:sp>
      <p:sp>
        <p:nvSpPr>
          <p:cNvPr id="17" name="Text 14"/>
          <p:cNvSpPr txBox="1"/>
          <p:nvPr/>
        </p:nvSpPr>
        <p:spPr>
          <a:xfrm>
            <a:off x="822960" y="3831336"/>
            <a:ext cx="3291840" cy="411480"/>
          </a:xfrm>
          <a:prstGeom prst="rect">
            <a:avLst/>
          </a:prstGeom>
          <a:noFill/>
          <a:ln/>
        </p:spPr>
        <p:txBody>
          <a:bodyPr wrap="square" lIns="0" tIns="0" rIns="0" bIns="0" rtlCol="0" anchor="t"/>
          <a:lstStyle/>
          <a:p>
            <a:pPr indent="0" marL="0" eaLnBrk="0">
              <a:buNone/>
            </a:pPr>
            <a:r>
              <a:rPr lang="ko-KR" altLang="en-US" sz="1700" b="1" dirty="0">
                <a:solidFill>
                  <a:schemeClr val="tx1"/>
                </a:solidFill>
              </a:rPr>
              <a:t>데코레이터(Decorator)</a:t>
            </a:r>
            <a:endParaRPr lang="ko-KR" altLang="en-US" sz="1700" dirty="0"/>
          </a:p>
        </p:txBody>
      </p:sp>
      <p:sp>
        <p:nvSpPr>
          <p:cNvPr id="18" name="Text 15"/>
          <p:cNvSpPr txBox="1"/>
          <p:nvPr/>
        </p:nvSpPr>
        <p:spPr>
          <a:xfrm>
            <a:off x="4297680" y="3813048"/>
            <a:ext cx="7071055" cy="768096"/>
          </a:xfrm>
          <a:prstGeom prst="rect">
            <a:avLst/>
          </a:prstGeom>
          <a:noFill/>
          <a:ln/>
        </p:spPr>
        <p:txBody>
          <a:bodyPr wrap="square" lIns="0" tIns="0" rIns="0" bIns="0" rtlCol="0" anchor="ctr"/>
          <a:lstStyle/>
          <a:p>
            <a:pPr indent="0" marL="0" eaLnBrk="0">
              <a:buNone/>
            </a:pPr>
            <a:r>
              <a:rPr lang="ko-KR" altLang="en-US" sz="1500" dirty="0">
                <a:solidFill>
                  <a:schemeClr val="tx2"/>
                </a:solidFill>
              </a:rPr>
              <a:t>LoggedAudio처럼 같은 약속을 지키며 다른 객체를 감싸 기능을 덧붙인다.</a:t>
            </a:r>
            <a:endParaRPr lang="ko-KR" altLang="en-US" sz="1500" dirty="0"/>
          </a:p>
        </p:txBody>
      </p:sp>
      <p:sp>
        <p:nvSpPr>
          <p:cNvPr id="19" name="Shape 16"/>
          <p:cNvSpPr/>
          <p:nvPr/>
        </p:nvSpPr>
        <p:spPr>
          <a:xfrm>
            <a:off x="548640" y="4764024"/>
            <a:ext cx="11094415" cy="914400"/>
          </a:xfrm>
          <a:prstGeom prst="roundRect">
            <a:avLst>
              <a:gd name="adj" fmla="val 10000"/>
            </a:avLst>
          </a:prstGeom>
          <a:solidFill>
            <a:schemeClr val="bg2"/>
          </a:solidFill>
          <a:ln w="12700">
            <a:solidFill>
              <a:schemeClr val="bg2"/>
            </a:solidFill>
            <a:prstDash val="solid"/>
          </a:ln>
        </p:spPr>
      </p:sp>
      <p:sp>
        <p:nvSpPr>
          <p:cNvPr id="20" name="Text 17"/>
          <p:cNvSpPr txBox="1"/>
          <p:nvPr/>
        </p:nvSpPr>
        <p:spPr>
          <a:xfrm>
            <a:off x="822960" y="4855464"/>
            <a:ext cx="3291840" cy="411480"/>
          </a:xfrm>
          <a:prstGeom prst="rect">
            <a:avLst/>
          </a:prstGeom>
          <a:noFill/>
          <a:ln/>
        </p:spPr>
        <p:txBody>
          <a:bodyPr wrap="square" lIns="0" tIns="0" rIns="0" bIns="0" rtlCol="0" anchor="t"/>
          <a:lstStyle/>
          <a:p>
            <a:pPr indent="0" marL="0" eaLnBrk="0">
              <a:buNone/>
            </a:pPr>
            <a:r>
              <a:rPr lang="ko-KR" altLang="en-US" sz="1700" b="1" dirty="0">
                <a:solidFill>
                  <a:schemeClr val="tx1"/>
                </a:solidFill>
              </a:rPr>
              <a:t>의존성 주입</a:t>
            </a:r>
            <a:endParaRPr lang="ko-KR" altLang="en-US" sz="1700" dirty="0"/>
          </a:p>
        </p:txBody>
      </p:sp>
      <p:sp>
        <p:nvSpPr>
          <p:cNvPr id="21" name="Text 18"/>
          <p:cNvSpPr txBox="1"/>
          <p:nvPr/>
        </p:nvSpPr>
        <p:spPr>
          <a:xfrm>
            <a:off x="4297680" y="4837176"/>
            <a:ext cx="7071055" cy="768096"/>
          </a:xfrm>
          <a:prstGeom prst="rect">
            <a:avLst/>
          </a:prstGeom>
          <a:noFill/>
          <a:ln/>
        </p:spPr>
        <p:txBody>
          <a:bodyPr wrap="square" lIns="0" tIns="0" rIns="0" bIns="0" rtlCol="0" anchor="ctr"/>
          <a:lstStyle/>
          <a:p>
            <a:pPr indent="0" marL="0" eaLnBrk="0">
              <a:buNone/>
            </a:pPr>
            <a:r>
              <a:rPr lang="ko-KR" altLang="en-US" sz="1500" dirty="0">
                <a:solidFill>
                  <a:schemeClr val="tx2"/>
                </a:solidFill>
              </a:rPr>
              <a:t>쓰는 쪽이 찾지 않고 바깥 코드가 넣어 준다. 원서는 먼저 객체를 넘겨주는 방법을 생각하라고 권한다.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Unity에서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Unity에도 서비스를 찾아 쓰는 방법이 여럿 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마지막으로 오늘 내용을 질문으로 확인해 보자.</a:t>
            </a:r>
            <a:endParaRPr lang="ko-KR" altLang="en-US" sz="1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566160"/>
                <a:gridCol w="7528255"/>
              </a:tblGrid>
              <a:tr h="457200">
                <a:tc>
                  <a:txBody>
                    <a:bodyPr/>
                    <a:lstStyle/>
                    <a:p>
                      <a:pPr indent="0" marL="0" eaLnBrk="0">
                        <a:buNone/>
                      </a:pPr>
                      <a:r>
                        <a:rPr lang="ko-KR" altLang="en-US" sz="1400" b="1" dirty="0">
                          <a:solidFill>
                            <a:schemeClr val="bg1"/>
                          </a:solidFill>
                        </a:rPr>
                        <a:t>Unity와 C#</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서비스 중개자와의 관계</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777240">
                <a:tc>
                  <a:txBody>
                    <a:bodyPr/>
                    <a:lstStyle/>
                    <a:p>
                      <a:pPr indent="0" marL="0" eaLnBrk="0">
                        <a:buNone/>
                      </a:pPr>
                      <a:r>
                        <a:rPr lang="ko-KR" altLang="en-US" sz="1400" b="1" dirty="0">
                          <a:solidFill>
                            <a:schemeClr val="tx1"/>
                          </a:solidFill>
                        </a:rPr>
                        <a:t>정적 클래스로 만든 중개자</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오늘 본 Locator와 같다. 정적 필드에 서비스를 담고 Provide와 GetAudio로 등록하고 찾는다.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GetComponent&lt;T&gt;()</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게임 오브젝트에 붙은 컴포넌트를 타입으로 찾는다. 인터페이스 타입으로도 찾는다. 범위가 한 게임 오브젝트로 한정된 중개자에 가깝다.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Debug.unityLogger.logHandler</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로그 처리 객체(ILogHandler)를 실행 중에 바꿔 끼운다. 기존 처리기를 감싸 넣으면 로깅 데코레이터와 같은 모양이 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Inspector 참조 연결, 의존성 주입</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쓰는 쪽이 찾지 않고 바깥에서 넣어 받는다. 원서가 먼저 생각하라고 한 ‘객체를 넘겨주는’ 방법이다.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확인 질문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질문으로 다시 정리한다</a:t>
            </a:r>
            <a:endParaRPr lang="ko-KR" altLang="en-US" sz="2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394960"/>
                <a:gridCol w="5699455"/>
              </a:tblGrid>
              <a:tr h="457200">
                <a:tc>
                  <a:txBody>
                    <a:bodyPr/>
                    <a:lstStyle/>
                    <a:p>
                      <a:pPr indent="0" marL="0" eaLnBrk="0">
                        <a:buNone/>
                      </a:pPr>
                      <a:r>
                        <a:rPr lang="ko-KR" altLang="en-US" sz="1500" b="1" dirty="0">
                          <a:solidFill>
                            <a:schemeClr val="bg1"/>
                          </a:solidFill>
                        </a:rPr>
                        <a:t>질문</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답</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658368">
                <a:tc>
                  <a:txBody>
                    <a:bodyPr/>
                    <a:lstStyle/>
                    <a:p>
                      <a:pPr indent="0" marL="0" eaLnBrk="0">
                        <a:buNone/>
                      </a:pPr>
                      <a:r>
                        <a:rPr lang="ko-KR" altLang="en-US" sz="1500" b="1" dirty="0">
                          <a:solidFill>
                            <a:schemeClr val="tx1"/>
                          </a:solidFill>
                        </a:rPr>
                        <a:t>서비스 중개자 패턴의 세 역할은?</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서비스(IAudio), 서비스 제공자(ConsoleAudio), 서비스 중개자(Locator).</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구체 클래스 ConsoleAudio를 아는 코드는 어디인가?</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Provide로 서비스를 등록하는 초기화 코드 한 곳뿐이다.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등록 전에 GetAudio를 불러도 멈추지 않게 하려면?</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아무 일도 하지 않는 널 서비스(NullAudio)를 기본으로 돌려준다.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쓰는 코드를 고치지 않고 소리 호출을 기록하려면?</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지금 서비스를 LoggedAudio로 감싸 Provide로 다시 등록한다.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서비스를 찾지 못했을 때의 세 가지 처리는?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null을 돌려 사용자에게 맡기기, 단언으로 게임 멈추기, 널 서비스 돌려주기.</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5870448"/>
            <a:ext cx="11094415" cy="411480"/>
          </a:xfrm>
          <a:prstGeom prst="rect">
            <a:avLst/>
          </a:prstGeom>
          <a:noFill/>
          <a:ln/>
        </p:spPr>
        <p:txBody>
          <a:bodyPr wrap="square" lIns="0" tIns="0" rIns="0" bIns="0" rtlCol="0" anchor="t"/>
          <a:lstStyle/>
          <a:p>
            <a:pPr indent="0" marL="0" eaLnBrk="0">
              <a:buNone/>
            </a:pPr>
            <a:r>
              <a:rPr lang="ko-KR" altLang="en-US" sz="1500" b="1" dirty="0">
                <a:solidFill>
                  <a:schemeClr val="accent1"/>
                </a:solidFill>
              </a:rPr>
              <a:t>다음 강의  </a:t>
            </a:r>
            <a:pPr indent="0" marL="0" eaLnBrk="0">
              <a:buNone/>
            </a:pPr>
            <a:r>
              <a:rPr lang="ko-KR" altLang="en-US" sz="1500" dirty="0">
                <a:solidFill>
                  <a:schemeClr val="tx2"/>
                </a:solidFill>
              </a:rPr>
              <a:t>객체 풀(Object Pool) 패턴: 객체를 미리 만들어 두고 다시 쓴다.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30</a:t>
            </a:fld>
            <a:endParaRPr lang="ko-KR" altLang="en-US"/>
          </a:p>
        </p:txBody>
      </p:sp>
    </p:spTree>
  </p:cSld>
  <p:clrMapOvr>
    <a:masterClrMapping/>
  </p:clrMapOvr>
</p:sld>
</file>

<file path=ppt/theme/theme1.xml><?xml version="1.0" encoding="utf-8"?>
<a:theme xmlns:a="http://schemas.openxmlformats.org/drawingml/2006/main" name="Patterns Lecture">
  <a:themeElements>
    <a:clrScheme name="Patterns Lecture">
      <a:dk1>
        <a:srgbClr val="1F2430"/>
      </a:dk1>
      <a:lt1>
        <a:srgbClr val="FFFFFF"/>
      </a:lt1>
      <a:dk2>
        <a:srgbClr val="2B2D42"/>
      </a:dk2>
      <a:lt2>
        <a:srgbClr val="F1F3F6"/>
      </a:lt2>
      <a:accent1>
        <a:srgbClr val="E07A3F"/>
      </a:accent1>
      <a:accent2>
        <a:srgbClr val="2A9D8F"/>
      </a:accent2>
      <a:accent3>
        <a:srgbClr val="8D99AE"/>
      </a:accent3>
      <a:accent4>
        <a:srgbClr val="E9C46A"/>
      </a:accent4>
      <a:accent5>
        <a:srgbClr val="5C6577"/>
      </a:accent5>
      <a:accent6>
        <a:srgbClr val="C44536"/>
      </a:accent6>
      <a:hlink>
        <a:srgbClr val="2A9D8F"/>
      </a:hlink>
      <a:folHlink>
        <a:srgbClr val="5C6577"/>
      </a:folHlink>
    </a:clrScheme>
    <a:fontScheme name="Patterns Lectur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11강 서비스 중개자(Service Locator) 패턴</dc:title>
  <dc:subject>PptxGenJS Presentation</dc:subject>
  <dc:creator>Mini Tactics 패턴 수업</dc:creator>
  <cp:lastModifiedBy>Mini Tactics 패턴 수업</cp:lastModifiedBy>
  <cp:revision>1</cp:revision>
  <dcterms:created xsi:type="dcterms:W3CDTF">2026-10-27T07:28:34Z</dcterms:created>
  <dcterms:modified xsi:type="dcterms:W3CDTF">2026-10-27T07:28:34Z</dcterms:modified>
</cp:coreProperties>
</file>