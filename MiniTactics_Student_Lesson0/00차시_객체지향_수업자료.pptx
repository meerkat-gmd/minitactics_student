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403dbdec-3dbf-33ab-5045-19571dc94533}">
          <p14:sldIdLst>
            <p14:sldId id="256"/>
            <p14:sldId id="257"/>
            <p14:sldId id="258"/>
          </p14:sldIdLst>
        </p14:section>
        <p14:section name="1교시 · 도입" id="{39b0f873-f344-5f44-305d-e2585d9af516}">
          <p14:sldIdLst>
            <p14:sldId id="259"/>
            <p14:sldId id="260"/>
            <p14:sldId id="261"/>
            <p14:sldId id="262"/>
            <p14:sldId id="263"/>
            <p14:sldId id="264"/>
          </p14:sldIdLst>
        </p14:section>
        <p14:section name="1교시 · 객체와 클래스" id="{16a8b88b-4350-9b6f-e1e2-b277fc42933f}">
          <p14:sldIdLst>
            <p14:sldId id="265"/>
            <p14:sldId id="266"/>
            <p14:sldId id="267"/>
            <p14:sldId id="268"/>
            <p14:sldId id="269"/>
          </p14:sldIdLst>
        </p14:section>
        <p14:section name="1교시 · 캡슐화" id="{4ec20d89-1242-bf0b-dae1-d9c432a34f12}">
          <p14:sldIdLst>
            <p14:sldId id="270"/>
            <p14:sldId id="271"/>
            <p14:sldId id="272"/>
            <p14:sldId id="273"/>
            <p14:sldId id="274"/>
            <p14:sldId id="275"/>
          </p14:sldIdLst>
        </p14:section>
        <p14:section name="1교시 · 상속" id="{7e304941-5d6e-4b67-8a9a-75dca4090a7d}">
          <p14:sldIdLst>
            <p14:sldId id="276"/>
            <p14:sldId id="277"/>
            <p14:sldId id="278"/>
            <p14:sldId id="279"/>
            <p14:sldId id="280"/>
            <p14:sldId id="281"/>
            <p14:sldId id="282"/>
            <p14:sldId id="283"/>
          </p14:sldIdLst>
        </p14:section>
        <p14:section name="2교시 · 다형성" id="{435a09a8-b8ad-cf86-f706-3bac1f4236e8}">
          <p14:sldIdLst>
            <p14:sldId id="284"/>
            <p14:sldId id="285"/>
            <p14:sldId id="286"/>
            <p14:sldId id="287"/>
            <p14:sldId id="288"/>
            <p14:sldId id="289"/>
            <p14:sldId id="290"/>
            <p14:sldId id="291"/>
          </p14:sldIdLst>
        </p14:section>
        <p14:section name="2교시 · 추상화" id="{297fc3a0-391f-9fc7-9e40-ce75ed2b8be6}">
          <p14:sldIdLst>
            <p14:sldId id="292"/>
            <p14:sldId id="293"/>
            <p14:sldId id="294"/>
            <p14:sldId id="295"/>
            <p14:sldId id="296"/>
            <p14:sldId id="297"/>
            <p14:sldId id="298"/>
          </p14:sldIdLst>
        </p14:section>
        <p14:section name="2교시 · 실습" id="{6290d49c-02ac-00c8-fafc-a11770322caa}">
          <p14:sldIdLst>
            <p14:sldId id="299"/>
            <p14:sldId id="300"/>
            <p14:sldId id="301"/>
            <p14:sldId id="302"/>
          </p14:sldIdLst>
        </p14:section>
        <p14:section name="마무리" id="{ac28ace2-3536-a858-f43d-35c1b67e17f9}">
          <p14:sldIdLst>
            <p14:sldId id="303"/>
            <p14:sldId id="304"/>
            <p14:sldId id="305"/>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[0:00–0:01] 인사하고 오늘 수업이 0차시라는 점을 알립니다.
학생들은 class, 상속, 인터페이스 문법을 이미 배웠습니다. 오늘은 새 문법을 가르치는 시간이 아니라, 이미 아는 문법이 '어떤 문제를 해결하려고' 만들어졌는지 연결하는 시간이라고 말합니다.
오른쪽 네 칸이 오늘 다룰 4대 특성입니다. 지금은 이름만 소개하고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[0:01–0:03] 오늘의 목표를 읽어 줍니다.
1번이 가장 중요합니다. '캡슐화란 무엇인가'라는 정의보다 '캡슐화가 없으면 무엇이 깨지는가'를 설명할 수 있는 것이 목표입니다.
2번은 2교시 실습에서 직접 확인합니다. 3번은 다음 1차시에서 Unity 코드를 읽기 위한 준비입니다.
오른쪽 시간표로 1교시와 2교시에 무엇을 하는지 미리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[0:03–0:06] 2~3명에게 대답을 듣습니다. 맞고 틀림을 판단하지 말고 칠판에 적어 둡니다.
예상되는 대답: '정리하려고', '재사용하려고', '교수님이 그렇게 하라고 해서', '유니티가 그렇게 되어 있어서'.
마지막 대답이 나오면 좋습니다. '오늘 수업이 끝나면 이 질문에 더 구체적으로 답할 수 있다'고 말하고, 적어 둔 답을 수업 마지막에 다시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1교시의 순서를 보여 줍니다. 먼저 클래스 없이 작성한 코드가 어디에서 무너지는지 확인하고, 그 문제를 하나씩 해결하면서 객체, 캡슐화, 상속을 소개합니다.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 도입. 클래스 없이 배열로 작성한 코드에서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[0:06–0:08] 클래스를 쓰지 않고 작성한 전투 코드입니다. 학생들이 처음 C#을 배울 때 작성했던 방식과 비슷합니다.
인덱스 0은 검사, 1은 궁수입니다. Attack(0, 1)은 검사가 궁수를 공격한다는 뜻입니다.
질문: '이 코드에 문제가 있나요?' → 지금은 잘 동작합니다. 실제로 실행하면 궁수 HP가 14가 됩니다. 문제는 유닛과 기능이 늘어날 때 드러납니다.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[0:08–0:10] 성채 탈환에 등장할 유닛 네 명과 스킬, 상태 이상을 추가하면 배열이 일곱 개가 됩니다.
궁수 한 명의 정보가 노란 열처럼 일곱 개의 배열에 흩어집니다. 창병이 쓰러져서 목록에서 지우면, 일곱 개 배열에서 모두 같은 인덱스를 지워야 합니다. 하나라도 빠뜨리면 궁수의 HP로 힐러의 사거리를 읽게 됩니다.
질문: '배열을 하나 빠뜨리고 지우면 어떤 버그가 생길까요?'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[0:10–0:13] 앞의 코드에서 생기는 문제를 세 가지로 정리합니다. 이 세 문제가 오늘 수업의 지도입니다.
1번은 객체와 클래스로, 2번은 캡슐화로, 3번은 상속과 다형성, 추상화로 해결합니다.
각 개념을 배울 때마다 이 슬라이드의 번호를 다시 언급하면 학생들이 지금 어느 문제를 풀고 있는지 따라오기 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[0:13–0:15] 객체지향의 정의를 읽어 줍니다. 정의에서 중요한 부분은 '데이터와 행동을 묶는다'와 '객체끼리 메서드를 호출한다'입니다.
아래 세 칸은 오늘 다룰 내용 중 객체, 캡슐화, 다형성을 한 줄씩 미리 보여 줍니다.
객체끼리의 협력은 1차시부터 자세히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객체와 클래스. 도입의 1번 문제(흩어진 정보)를 해결합니다.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[0:15–0:18] 1번 문제의 해결입니다. 흩어진 배열 대신, 유닛 한 명에 필요한 정보를 Unit 클래스 하나로 묶습니다.
Unit 클래스는 '유닛이라면 이런 값과 행동을 가진다'는 설계도입니다. new를 호출할 때마다 실제 유닛, 즉 인스턴스가 하나씩 만들어집니다.
검사와 궁수는 같은 설계도로 만들었지만 HP와 공격력이 다릅니다. 이제 궁수의 정보는 archer 하나에 모여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[0:18–0:20] Unit 클래스를 상태와 행동으로 나누어 읽습니다.
상태는 객체가 기억하는 값입니다. 모든 유닛이 같은 속성을 가지지만 값은 유닛마다 다릅니다.
행동은 객체가 할 수 있는 일입니다. 여기서 중요한 점은 '자기 HP를 바꾸는 방법을 Unit 자신이 안다'는 것입니다. 이 점이 잠시 뒤 캡슐화로 이어집니다.
{ ... }로 줄인 메서드 내용은 캡슐화에서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[0:20–0:22] 학생들이 매일 작성하던 Program도 클래스였다는 점을 짚습니다.
C#에서는 모든 메서드가 클래스나 구조체 같은 타입 안에 있어야 합니다. Console.WriteLine도 Console 클래스의 메서드입니다. 즉 학생들은 처음부터 객체지향 언어를 쓰고 있었습니다.
static의 차이도 여기서 정리합니다. Main은 객체 없이 바로 실행되지만, TakeDamage는 특정 유닛 인스턴스에게 호출합니다.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[0:22–0:24] 정답: swordsman의 CurrentHp는 30 그대로입니다.
이유: 클래스는 하나지만 인스턴스는 둘입니다. 각 인스턴스는 자기 상태를 따로 가집니다. archer의 HP만 20에서 14로 줄어듭니다.
배열 코드와 비교해 봅니다. 배열에서는 인덱스를 잘못 쓰면 다른 유닛의 HP가 줄었습니다. 객체에서는 '누구에게 요청하는가'가 변수 이름으로 드러나기 때문에 이런 실수가 줄어듭니다.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 캡슐화. 도입의 2번 문제(누구나 HP를 바꿀 수 있음)를 해결합니다.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[0:24–0:26] 2번 문제입니다. 객체로 묶었지만 HP를 public 필드로 열어 두면, 누구나 값을 마음대로 바꿀 수 있습니다.
궁수의 HP 20에서 100을 빼면 -80이 됩니다. 질문: 'HP가 -80인 궁수는 살아 있나요?' 'HP를 0 이하인지 검사하는 코드와 0인지 검사하는 코드가 섞여 있으면 어떻게 될까요?'
이런 값은 다른 코드까지 잘못 동작하게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[0:26–0:29] '0 ≤ CurrentHp ≤ MaxHp'처럼 항상 참이어야 하는 규칙을 불변 조건이라고 합니다.
왼쪽: HP가 public 필드이면 공격, 스킬, 상태 이상, 아이템 코드가 모두 이 규칙을 직접 지켜야 합니다. 한 곳이라도 잊으면 규칙이 깨집니다.
오른쪽: HP를 바꾸는 방법을 Unit의 메서드 두 개로 모으면, 규칙은 그 두 메서드에만 있으면 됩니다. 호출하는 쪽이 몇 개로 늘어나도 규칙을 지키는 곳은 늘어나지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[0:29–0:32] 캡슐화의 해결 방법입니다.
get은 공개하고 set은 private으로 막습니다. 바깥에서는 HP를 읽을 수만 있고, 바꾸려면 TakeDamage나 Heal을 호출해야 합니다.
두 메서드 안에서 규칙을 지킵니다. Math.Max(0, ...)는 HP가 0 아래로 내려가지 않게 하고, Math.Min(MaxHp, ...)은 최대 HP를 넘지 않게 합니다.
오른쪽 아래처럼 바깥에서 값을 넣으려고 하면 컴파일러가 막아 줍니다. 실수를 '실행 중'이 아니라 '컴파일할 때' 발견한다는 점을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[0:32–0:34] 캡슐화를 코드 습관으로 바꾸면 'Tell, Don't Ask'가 됩니다.
왼쪽처럼 값을 꺼내서 바깥에서 계산하면 규칙이 호출하는 쪽에 복사됩니다. 오른쪽처럼 '피해를 받아라'고 요청하면 규칙은 Unit 안에만 있습니다.
학생들에게 이렇게 정리해 줍니다: '객체의 값을 꺼내서 if 문을 쓰고 있다면, 그 if 문이 객체 안으로 들어가야 하는지 생각해 보자.'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[0:34–0:36] 정답: ③은 컴파일되지 않습니다. CurrentHp의 set이 private이기 때문입니다(오류 CS0272).
④는 컴파일되지만 Heal 안의 'amount &lt;= 0이면 return' 때문에 아무 일도 일어나지 않습니다.
①은 읽기만 하므로 가능하고, ②는 HP를 15로 줄입니다.
추가 질문: '④를 막는 규칙은 어디에 있나요?' → Unit.Heal 안에 있습니다. 호출하는 쪽은 이 규칙을 몰라도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 상속. 도입의 3번 문제 중 스킬 클래스의 중복 코드를 해결합니다.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[0:36–0:38] 3번 문제의 첫 부분입니다. 성채 탈환에는 강타(PowerStrikeSkill)와 치유(HealSkill) 스킬이 있습니다.
두 스킬 모두 화면에 보여 줄 이름과 사거리가 필요합니다. 빨간 줄이 두 클래스에 똑같이 들어 있습니다.
질문: '스킬이 열 개가 되고 사거리 규칙이 바뀌면 몇 개 파일을 고쳐야 하나요?'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[0:38–0:41] 공통된 이름과 사거리를 부모 클래스 Skill로 옮깁니다. 자식 클래스는 ': Skill'을 적어서 Skill의 멤버를 물려받습니다.
자식 생성자의 ': base("강타", 1)'은 부모 생성자에게 이름과 사거리를 넘깁니다. 이제 자식 클래스에는 자기만의 차이, 즉 Use의 내용만 남습니다.
'강타는 Skill이다'라는 문장이 자연스럽게 읽힌다는 점도 짚어 둡니다. 이 점은 잠시 뒤 is-a 검사에서 다시 다룹니다.
지금은 Skill을 일반 class로 두었습니다. 추상화 단원에서 abstract로 바꿉니다.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[0:41–0:43] 접근 제한자 세 가지를 표로 정리합니다. protected는 public과 private의 중간입니다.
Skill의 생성자를 protected로 둔 이유: 게임에는 '그냥 스킬'이 존재하지 않습니다. 강타나 치유처럼 구체적인 스킬만 존재합니다. 생성자를 protected로 두면 자식 클래스만 Skill을 만들 수 있습니다.
아래 코드의 두 번째 줄은 오류 CS0122(보호 수준 때문에 접근할 수 없음)가 발생합니다.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[0:43–0:45] 상속을 남용하지 않는 가장 간단한 방법은 문장으로 읽어 보는 것입니다.
'강타는 스킬이다'는 자연스럽습니다. 상속을 써도 됩니다.
'체력바는 유닛이다', '궁수는 활이다'는 어색합니다. 이 관계는 '가진다'로 읽어야 자연스럽습니다. 이런 경우에는 상속이 아니라 조합을 씁니다.
학생들이 공통점이 보이면 무조건 상속하려는 경향이 있으므로, 이 슬라이드에서 확실히 짚습니다.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[0:45–0:47] 조합은 객체가 다른 객체를 부품처럼 가지는 방식입니다. 오늘은 맛보기로 한 장만 다룹니다.
상속은 코드를 작성할 때 관계가 고정됩니다. 조합은 실행 중에도 부품을 바꿔 끼울 수 있습니다.
중요: 이 과정의 검사, 창병, 궁수, 힐러는 Unit을 상속하지 않습니다. 같은 Unit에 서로 다른 직업 데이터(UnitClass)를 끼워서 구분합니다. 학생이 'Swordsman : Unit'을 떠올렸다면, 7차시 Type Object 패턴에서 왜 그렇게 하지 않는지 배운다고 예고합니다.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[0:47–0:49] 정답: ① 상속(치유는 스킬이다) ② 조합(유닛은 스킬을 가진다) ③ 상속(독은 상태 이상이다) ④ 조합(전장은 칸을 가진다).
③은 2교시 실습에서 그대로 사용합니다. '독은 상태 이상이다'라는 문장을 기억해 두라고 말합니다.
④의 전장과 칸은 1차시의 BoardView와 MovementCell로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[0:49–0:50] 1교시를 정리합니다. 도입에서 본 세 문제 중 1번과 2번을 해결했고, 3번은 상속으로 중복만 해결했습니다.
아직 남은 문제가 있습니다. 스킬을 '사용하는 쪽'에는 여전히 스킬 종류마다 분기하는 코드가 필요합니다. 이 문제를 2교시에 다형성으로 해결합니다.
쉬는 시간을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쉬는 시간이 끝나면 1교시 정리 슬라이드의 '남은 문제'를 한 번 더 언급하고 시작합니다.
2교시에는 다형성과 추상화를 배우고, 실습에서 직접 절차적 코드를 객체 구조로 바꿉니다. 마지막으로 오늘 배운 개념이 Unity 코드에서 어떻게 보이는지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다형성. 스킬을 사용하는 쪽에 남은 switch 문을 해결합니다.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[0:50–0:53] 상속으로 스킬 클래스의 중복은 없앴지만, 스킬을 사용하는 코드는 여전히 스킬이 무엇인지 확인하고 형변환해야 합니다.
((PowerStrikeSkill)skill)은 'skill 변수를 PowerStrikeSkill로 바꿔서 본다'는 형변환입니다. Skill에는 Use가 없기 때문에 이렇게 해야만 호출할 수 있습니다.
스킬을 추가할 때마다 이 switch뿐 아니라 적 AI와 메뉴 UI의 switch까지 고쳐야 합니다. 하나라도 빠뜨리면 그 스킬은 조용히 아무 일도 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[0:53–0:55] 상속에는 '자식 객체를 부모 타입으로 다룰 수 있다'는 성질이 있습니다. 강타는 Skill이므로 List&lt;Skill&gt;에 넣을 수 있습니다.
그런데 foreach 안에서 skill.Use를 호출하면 컴파일 오류 CS1061이 발생합니다. 컴파일러는 변수의 타입인 Skill만 보고 판단하는데, Skill에는 Use가 없기 때문입니다.
질문: '그렇다면 Skill에 무엇을 추가해야 할까요?' → '모든 스킬은 Use할 수 있다'는 약속입니다.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[0:55–0:58] Skill에 virtual Use를 추가합니다. virtual은 '자식이 이 메서드를 다시 정의해도 된다'는 표시입니다.
자식은 override로 Use를 자기 방식으로 다시 정의합니다. 치유는 Heal을 호출하고, 강타는 TakeDamage를 호출합니다.
이제 앞 슬라이드의 skill.Use(...)가 컴파일됩니다. Skill이 'Use할 수 있다'고 약속했기 때문입니다.
부모의 Use 몸체가 비어 있다는 점을 눈여겨보게 합니다. 이 빈 몸체가 추상화 단원의 문제로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[0:58–1:00] 이것이 다형성입니다. 호출하는 코드는 skill.Use(...) 한 줄이지만, 실제로 실행되는 메서드는 skill에 담긴 객체가 결정합니다.
강타가 담겨 있으면 검사의 공격력 6에 보너스 4를 더한 10만큼 피해를 줍니다. 치유가 담겨 있으면 HP를 5 회복합니다.
아래 결과는 강의 예제 코드를 실제로 실행한 결과입니다. 궁수 HP 20 → 10 → 15.
도입의 3번 문제를 다시 보여 주며, 호출하는 쪽에서 switch가 사라졌다는 점을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[1:00–1:02] 다형성의 실제 이득을 정리합니다.
switch 방식에서는 새 스킬마다 사용하는 쪽의 switch를 모두 찾아서 고쳐야 합니다. 다형성을 적용하면 새 클래스를 하나 만들고 목록에 넣기만 하면 됩니다. 기존 클래스는 수정하지 않습니다.
'기존 코드를 고치지 않고 기능을 추가한다'는 문장을 기억하게 합니다. 2교시 실습의 완료 조건이기도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[1:02–1:04] 정답: FireballSkill.cs를 새로 만듭니다. Skill을 상속하고 Use를 override합니다. 그리고 skills 목록에 new FireballSkill()을 추가하는 한 줄만 씁니다.
foreach 문, Skill, PowerStrikeSkill, HealSkill은 고치지 않습니다.
추가 질문: 'FireballSkill에서 Use를 override하는 것을 잊으면 어떻게 될까요?' → 다음 슬라이드로 넘어가는 질문입니다. 학생들의 예상을 들어 본 뒤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 추상화. abstract 클래스와 인터페이스를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[1:04–1:06] 앞의 질문에 대한 답입니다. FireballSkill이 Use를 override하지 않으면 부모의 빈 Use가 실행됩니다. 오류도 경고도 없고, 화염구는 조용히 아무 일도 하지 않습니다.
이런 실수는 게임을 실행해서 화염구를 직접 써 봐야 발견됩니다.
질문: '부모가 Use의 몸체를 정할 수 없다면, 차라리 몸체를 비워 두지 말고 무엇을 해야 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[1:06–1:09] Skill을 abstract 클래스로 바꾸고, Use를 abstract 메서드로 바꿉니다. abstract 메서드는 몸체 없이 세미콜론으로 끝납니다.
abstract 클래스는 new로 직접 만들 수 없습니다. '그냥 스킬'이 존재하면 안 된다는 의도를 타입에 직접 적은 것입니다.
자식이 abstract 메서드를 override하지 않으면 컴파일 오류 CS0534가 발생합니다. 앞 슬라이드의 실수를 이제 컴파일할 때 발견합니다.
추상화의 의미도 정리합니다: 호출하는 쪽은 '스킬은 Use할 수 있다'는 핵심만 알고, 강타가 피해를 어떻게 계산하는지 같은 세부 사항은 몰라도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[1:09–1:12] 인터페이스는 몸체 없이 '이런 일을 할 수 있다'는 약속만 정합니다. ICommand는 'Execute할 수 있다'는 약속입니다.
스킬 사용과 턴 종료는 서로 관계가 없는 행동이고, 공통된 데이터도 없습니다. 그래도 둘 다 ICommand를 구현하면 하나의 목록에 담아서 같은 방식으로 실행할 수 있습니다.
UseSkillCommand는 Execute 안에서 스킬의 Use를 호출합니다.
이 인터페이스는 2차시 Command 패턴에서 다시 만납니다. 오늘은 '인터페이스가 무엇인가'까지만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[1:12–1:14] 학생들이 가장 많이 헷갈리는 질문입니다. 표의 첫 줄인 '관계를 읽는 문장'을 기준으로 삼게 합니다.
추상 클래스는 'A는 B이다'로 읽히고, 공통 데이터와 코드를 물려줄 수 있습니다. 대신 한 클래스는 하나만 상속할 수 있습니다.
인터페이스는 'A는 ~할 수 있다'로 읽히고, 한 클래스가 여러 개를 구현할 수 있습니다.
참고: 최신 C#의 인터페이스는 기본 구현도 가질 수 있지만, 입문 단계에서는 '약속만 정한다'고 이해해도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[1:14–1:16] 정답: ① 추상 클래스. 모든 상태 이상이 이름이라는 공통 데이터를 가지고, '독은 상태 이상이다'로 읽힙니다. 바로 이어지는 실습에서 이 StatusEffect를 만듭니다.
② 인터페이스. 유닛, 상자, 문은 서로 관계가 없고 공통 데이터도 없습니다. '공격받을 수 있다'는 행동만 같습니다.
③ 추상 클래스. 오늘 만든 Skill입니다.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[1:16–1:18] 4대 특성을 '해결하는 문제'와 함께 정리합니다. 수업 목표 1번이 바로 이 표를 자기 말로 설명하는 것입니다.
학생들에게 표의 가운데 열을 가린 채 '캡슐화가 없으면 무엇이 깨지나요?'라고 물어보고 대답하게 해도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 실습. 상태 이상 switch 코드를 클래스 구조로 바꿉니다.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[1:18–1:20] 실습_학생용 폴더를 엽니다. Program.cs에는 이름을 고르는 GetEffectName과 효과를 적용하는 ApplyEffect, 두 개의 switch가 있습니다.
먼저 그대로 실행해서 오른쪽 결과가 나오는지 확인하게 합니다. 이 결과가 리팩터링 후에도 같아야 합니다.
Unit.cs는 오늘 강의에서 만든 캡슐화된 Unit이고, 수정하지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[1:20–1:36] 실습 시간은 약 15분입니다. 화면에 이 슬라이드를 띄워 둡니다.
1~3단계는 오늘 Skill로 본 과정을 그대로 따라 하면 됩니다. 막히는 학생에게는 '독은 상태 이상이다'라는 문장을 다시 떠올리게 합니다.
4단계가 핵심입니다. 출혈은 턴마다 피해가 1, 2, 3으로 늘어나야 하므로 '지금 피해가 몇인지'를 기억해야 합니다. 힌트가 필요하면 '그 값은 누가 가지고 있어야 할까요?'라고 묻습니다.
빨리 끝낸 학생에게는 '기절처럼 Unit을 고쳐야만 만들 수 있는 효과는 무엇이 다를까?'를 생각해 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[1:36–1:40] 정답 코드(실습_교사용정답 폴더)를 함께 봅니다. StatusEffect와 세 효과 클래스는 Skill과 같은 구조이므로 빠르게 넘어갑니다.
출혈에 집중합니다. _damage 필드가 '지금 출혈 피해가 몇인지'를 기억하고, Apply를 호출할 때마다 1씩 늘어납니다.
질문: 'switch 방식이었다면 이 값을 어디에 저장했을까요?' → static 변수나 또 하나의 배열이 필요합니다. 도입에서 본 '흩어진 배열' 문제로 되돌아간다는 점을 짚습니다.
오른쪽은 정답 코드의 3턴 실행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마무리. Unity 코드와 연결하고 1차시를 예고합니다.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[1:40–1:44] 1차시에서 학생들이 작성할 Unit 클래스입니다. 오늘 배운 개념이 모두 들어 있습니다.
': MonoBehaviour'는 상속입니다. Unit은 MonoBehaviour이고, 그래서 GameObject에 붙일 수 있습니다.
GameObject는 Transform, Unit, UnitAnimator 같은 컴포넌트를 가집니다. 이것이 조합입니다. Unity는 기능을 상속이 아니라 컴포넌트 조합으로 만들게 설계되어 있습니다.
[SerializeField] private 필드는 바깥 코드에는 감추면서 Inspector에서만 값을 조정하게 해 줍니다. 캡슐화를 지키는 Unity의 방식입니다.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[1:44–1:47] 1차시를 예고합니다. 1차시에는 12×10 전장 위에서 유닛을 선택하고 이동 범위를 표시합니다.
이 기능을 클래스 하나에 모두 넣지 않고, 네 객체에게 책임을 나눕니다. Unit은 자기 이동 정보와 위치, BoardView는 좌표와 이동 범위, BattleController는 마우스 입력과 선택, MovementCell은 이동 범위의 칸 하나를 담당합니다.
오늘 던진 질문을 1차시에도 계속 던진다고 말하며 마무리 슬라이드로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[1:47–1:50] 수업을 시작할 때 칠판에 적어 둔 대답('왜 클래스로 나누어 쓸까?')을 다시 봅니다. 이제는 '규칙을 지키려고', '중복을 없애려고', '기능을 추가할 때 기존 코드를 고치지 않으려고'처럼 더 구체적으로 대답할 수 있는지 확인합니다.
이후 차시에서 배우는 디자인 패턴은 오늘 배운 4대 특성을 특정 문제에 맞게 조합한 것이라고 말하며 마칩니다.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91526"/>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AFBED1"/>
                </a:solidFill>
              </a:rPr>
              <a:t>0차시 · 객체지향 프로그래밍</a:t>
            </a:r>
            <a:endParaRPr lang="en-US" sz="1000" dirty="0"/>
          </a:p>
        </p:txBody>
      </p:sp>
      <p:sp>
        <p:nvSpPr>
          <p:cNvPr id="3" name="Text 1"/>
          <p:cNvSpPr/>
          <p:nvPr>
            <p:ph idx="101" type="title" hasCustomPrompt="1"/>
          </p:nvPr>
        </p:nvSpPr>
        <p:spPr>
          <a:xfrm>
            <a:off x="548640" y="731520"/>
            <a:ext cx="11064240" cy="868680"/>
          </a:xfrm>
          <a:prstGeom prst="rect">
            <a:avLst/>
          </a:prstGeom>
          <a:noFill/>
          <a:ln/>
        </p:spPr>
        <p:txBody>
          <a:bodyPr wrap="square" rtlCol="0"/>
          <a:lstStyle>
            <a:lvl1pPr algn="l" indent="0" marL="0">
              <a:buNone/>
              <a:defRPr lang="en-US" sz="2800" b="1" dirty="0">
                <a:solidFill>
                  <a:srgbClr val="EEF5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UESTION">
    <p:bg>
      <p:bgPr>
        <a:solidFill>
          <a:srgbClr val="091526"/>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AFBED1"/>
                </a:solidFill>
              </a:rPr>
              <a:t>0차시 · 객체지향 프로그래밍</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040A13"/>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AFBED1"/>
                </a:solidFill>
              </a:rPr>
              <a:t>0차시 · 객체지향 프로그래밍</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09152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17320"/>
            <a:ext cx="6766560" cy="365760"/>
          </a:xfrm>
          <a:prstGeom prst="rect">
            <a:avLst/>
          </a:prstGeom>
          <a:noFill/>
          <a:ln/>
        </p:spPr>
        <p:txBody>
          <a:bodyPr wrap="square" lIns="0" tIns="0" rIns="0" bIns="0" rtlCol="0" anchor="t"/>
          <a:lstStyle/>
          <a:p>
            <a:pPr indent="0" marL="0">
              <a:buNone/>
            </a:pPr>
            <a:r>
              <a:rPr lang="en-US" sz="1400" b="1" spc="200" kern="0" dirty="0">
                <a:solidFill>
                  <a:srgbClr val="55E4CF"/>
                </a:solidFill>
              </a:rPr>
              <a:t>LESSON 00 · OBJECT-ORIENTED PROGRAMMING</a:t>
            </a:r>
            <a:endParaRPr lang="en-US" sz="1400" dirty="0"/>
          </a:p>
        </p:txBody>
      </p:sp>
      <p:sp>
        <p:nvSpPr>
          <p:cNvPr id="3" name="Text 1"/>
          <p:cNvSpPr txBox="1"/>
          <p:nvPr/>
        </p:nvSpPr>
        <p:spPr>
          <a:xfrm>
            <a:off x="731520" y="1874520"/>
            <a:ext cx="6766560" cy="1737360"/>
          </a:xfrm>
          <a:prstGeom prst="rect">
            <a:avLst/>
          </a:prstGeom>
          <a:noFill/>
          <a:ln/>
        </p:spPr>
        <p:txBody>
          <a:bodyPr wrap="square" lIns="0" tIns="0" rIns="0" bIns="0" rtlCol="0" anchor="t"/>
          <a:lstStyle/>
          <a:p>
            <a:pPr indent="0" marL="0">
              <a:lnSpc>
                <a:spcPct val="105000"/>
              </a:lnSpc>
              <a:buNone/>
            </a:pPr>
            <a:r>
              <a:rPr lang="en-US" sz="4400" b="1" dirty="0">
                <a:solidFill>
                  <a:srgbClr val="EEF5FF"/>
                </a:solidFill>
              </a:rPr>
              <a:t>객체지향 프로그래밍이란</a:t>
            </a:r>
            <a:endParaRPr lang="en-US" sz="4400" dirty="0"/>
          </a:p>
        </p:txBody>
      </p:sp>
      <p:sp>
        <p:nvSpPr>
          <p:cNvPr id="4" name="Text 2"/>
          <p:cNvSpPr txBox="1"/>
          <p:nvPr/>
        </p:nvSpPr>
        <p:spPr>
          <a:xfrm>
            <a:off x="731520" y="5806440"/>
            <a:ext cx="7315200" cy="365760"/>
          </a:xfrm>
          <a:prstGeom prst="rect">
            <a:avLst/>
          </a:prstGeom>
          <a:noFill/>
          <a:ln/>
        </p:spPr>
        <p:txBody>
          <a:bodyPr wrap="square" lIns="0" tIns="0" rIns="0" bIns="0" rtlCol="0" anchor="t"/>
          <a:lstStyle/>
          <a:p>
            <a:pPr indent="0" marL="0">
              <a:buNone/>
            </a:pPr>
            <a:r>
              <a:rPr lang="en-US" sz="1300" dirty="0">
                <a:solidFill>
                  <a:srgbClr val="AFBED1"/>
                </a:solidFill>
              </a:rPr>
              <a:t>유니티 프로그래밍 패턴 · 「성채 탈환」 제작 과정 0차시 · 100분</a:t>
            </a:r>
            <a:endParaRPr lang="en-US" sz="1300" dirty="0"/>
          </a:p>
        </p:txBody>
      </p:sp>
      <p:sp>
        <p:nvSpPr>
          <p:cNvPr id="5" name="Shape 3"/>
          <p:cNvSpPr/>
          <p:nvPr/>
        </p:nvSpPr>
        <p:spPr>
          <a:xfrm>
            <a:off x="7818120" y="1417320"/>
            <a:ext cx="1783080" cy="1783080"/>
          </a:xfrm>
          <a:prstGeom prst="roundRect">
            <a:avLst>
              <a:gd name="adj" fmla="val 9231"/>
            </a:avLst>
          </a:prstGeom>
          <a:solidFill>
            <a:srgbClr val="10233A"/>
          </a:solidFill>
          <a:ln w="12700">
            <a:solidFill>
              <a:srgbClr val="2A405B"/>
            </a:solidFill>
            <a:prstDash val="solid"/>
          </a:ln>
        </p:spPr>
      </p:sp>
      <p:sp>
        <p:nvSpPr>
          <p:cNvPr id="6" name="Shape 4"/>
          <p:cNvSpPr/>
          <p:nvPr/>
        </p:nvSpPr>
        <p:spPr>
          <a:xfrm>
            <a:off x="8046720" y="1645920"/>
            <a:ext cx="292608" cy="292608"/>
          </a:xfrm>
          <a:prstGeom prst="ellipse">
            <a:avLst/>
          </a:prstGeom>
          <a:solidFill>
            <a:srgbClr val="83E58F"/>
          </a:solidFill>
          <a:ln w="12700">
            <a:solidFill>
              <a:srgbClr val="83E58F"/>
            </a:solidFill>
            <a:prstDash val="solid"/>
          </a:ln>
        </p:spPr>
      </p:sp>
      <p:sp>
        <p:nvSpPr>
          <p:cNvPr id="7" name="Text 5"/>
          <p:cNvSpPr txBox="1"/>
          <p:nvPr/>
        </p:nvSpPr>
        <p:spPr>
          <a:xfrm>
            <a:off x="8046720" y="2194560"/>
            <a:ext cx="1463040" cy="411480"/>
          </a:xfrm>
          <a:prstGeom prst="rect">
            <a:avLst/>
          </a:prstGeom>
          <a:noFill/>
          <a:ln/>
        </p:spPr>
        <p:txBody>
          <a:bodyPr wrap="square" lIns="0" tIns="0" rIns="0" bIns="0" rtlCol="0" anchor="t"/>
          <a:lstStyle/>
          <a:p>
            <a:pPr indent="0" marL="0">
              <a:buNone/>
            </a:pPr>
            <a:r>
              <a:rPr lang="en-US" sz="2000" b="1" dirty="0">
                <a:solidFill>
                  <a:srgbClr val="EEF5FF"/>
                </a:solidFill>
              </a:rPr>
              <a:t>캡슐화</a:t>
            </a:r>
            <a:endParaRPr lang="en-US" sz="2000" dirty="0"/>
          </a:p>
        </p:txBody>
      </p:sp>
      <p:sp>
        <p:nvSpPr>
          <p:cNvPr id="8" name="Text 6"/>
          <p:cNvSpPr txBox="1"/>
          <p:nvPr/>
        </p:nvSpPr>
        <p:spPr>
          <a:xfrm>
            <a:off x="8046720" y="2624328"/>
            <a:ext cx="1463040" cy="320040"/>
          </a:xfrm>
          <a:prstGeom prst="rect">
            <a:avLst/>
          </a:prstGeom>
          <a:noFill/>
          <a:ln/>
        </p:spPr>
        <p:txBody>
          <a:bodyPr wrap="square" lIns="0" tIns="0" rIns="0" bIns="0" rtlCol="0" anchor="t"/>
          <a:lstStyle/>
          <a:p>
            <a:pPr indent="0" marL="0">
              <a:buNone/>
            </a:pPr>
            <a:r>
              <a:rPr lang="en-US" sz="1200" dirty="0">
                <a:solidFill>
                  <a:srgbClr val="83E58F"/>
                </a:solidFill>
              </a:rPr>
              <a:t>Encapsulation</a:t>
            </a:r>
            <a:endParaRPr lang="en-US" sz="1200" dirty="0"/>
          </a:p>
        </p:txBody>
      </p:sp>
      <p:sp>
        <p:nvSpPr>
          <p:cNvPr id="9" name="Shape 7"/>
          <p:cNvSpPr/>
          <p:nvPr/>
        </p:nvSpPr>
        <p:spPr>
          <a:xfrm>
            <a:off x="9829800" y="1417320"/>
            <a:ext cx="1783080" cy="1783080"/>
          </a:xfrm>
          <a:prstGeom prst="roundRect">
            <a:avLst>
              <a:gd name="adj" fmla="val 9231"/>
            </a:avLst>
          </a:prstGeom>
          <a:solidFill>
            <a:srgbClr val="10233A"/>
          </a:solidFill>
          <a:ln w="12700">
            <a:solidFill>
              <a:srgbClr val="2A405B"/>
            </a:solidFill>
            <a:prstDash val="solid"/>
          </a:ln>
        </p:spPr>
      </p:sp>
      <p:sp>
        <p:nvSpPr>
          <p:cNvPr id="10" name="Shape 8"/>
          <p:cNvSpPr/>
          <p:nvPr/>
        </p:nvSpPr>
        <p:spPr>
          <a:xfrm>
            <a:off x="10058400" y="1645920"/>
            <a:ext cx="292608" cy="292608"/>
          </a:xfrm>
          <a:prstGeom prst="ellipse">
            <a:avLst/>
          </a:prstGeom>
          <a:solidFill>
            <a:srgbClr val="B8A4FF"/>
          </a:solidFill>
          <a:ln w="12700">
            <a:solidFill>
              <a:srgbClr val="B8A4FF"/>
            </a:solidFill>
            <a:prstDash val="solid"/>
          </a:ln>
        </p:spPr>
      </p:sp>
      <p:sp>
        <p:nvSpPr>
          <p:cNvPr id="11" name="Text 9"/>
          <p:cNvSpPr txBox="1"/>
          <p:nvPr/>
        </p:nvSpPr>
        <p:spPr>
          <a:xfrm>
            <a:off x="10058400" y="2194560"/>
            <a:ext cx="1463040" cy="411480"/>
          </a:xfrm>
          <a:prstGeom prst="rect">
            <a:avLst/>
          </a:prstGeom>
          <a:noFill/>
          <a:ln/>
        </p:spPr>
        <p:txBody>
          <a:bodyPr wrap="square" lIns="0" tIns="0" rIns="0" bIns="0" rtlCol="0" anchor="t"/>
          <a:lstStyle/>
          <a:p>
            <a:pPr indent="0" marL="0">
              <a:buNone/>
            </a:pPr>
            <a:r>
              <a:rPr lang="en-US" sz="2000" b="1" dirty="0">
                <a:solidFill>
                  <a:srgbClr val="EEF5FF"/>
                </a:solidFill>
              </a:rPr>
              <a:t>상속</a:t>
            </a:r>
            <a:endParaRPr lang="en-US" sz="2000" dirty="0"/>
          </a:p>
        </p:txBody>
      </p:sp>
      <p:sp>
        <p:nvSpPr>
          <p:cNvPr id="12" name="Text 10"/>
          <p:cNvSpPr txBox="1"/>
          <p:nvPr/>
        </p:nvSpPr>
        <p:spPr>
          <a:xfrm>
            <a:off x="10058400" y="2624328"/>
            <a:ext cx="1463040" cy="320040"/>
          </a:xfrm>
          <a:prstGeom prst="rect">
            <a:avLst/>
          </a:prstGeom>
          <a:noFill/>
          <a:ln/>
        </p:spPr>
        <p:txBody>
          <a:bodyPr wrap="square" lIns="0" tIns="0" rIns="0" bIns="0" rtlCol="0" anchor="t"/>
          <a:lstStyle/>
          <a:p>
            <a:pPr indent="0" marL="0">
              <a:buNone/>
            </a:pPr>
            <a:r>
              <a:rPr lang="en-US" sz="1200" dirty="0">
                <a:solidFill>
                  <a:srgbClr val="B8A4FF"/>
                </a:solidFill>
              </a:rPr>
              <a:t>Inheritance</a:t>
            </a:r>
            <a:endParaRPr lang="en-US" sz="1200" dirty="0"/>
          </a:p>
        </p:txBody>
      </p:sp>
      <p:sp>
        <p:nvSpPr>
          <p:cNvPr id="13" name="Shape 11"/>
          <p:cNvSpPr/>
          <p:nvPr/>
        </p:nvSpPr>
        <p:spPr>
          <a:xfrm>
            <a:off x="7818120" y="3429000"/>
            <a:ext cx="1783080" cy="1783080"/>
          </a:xfrm>
          <a:prstGeom prst="roundRect">
            <a:avLst>
              <a:gd name="adj" fmla="val 9231"/>
            </a:avLst>
          </a:prstGeom>
          <a:solidFill>
            <a:srgbClr val="10233A"/>
          </a:solidFill>
          <a:ln w="12700">
            <a:solidFill>
              <a:srgbClr val="2A405B"/>
            </a:solidFill>
            <a:prstDash val="solid"/>
          </a:ln>
        </p:spPr>
      </p:sp>
      <p:sp>
        <p:nvSpPr>
          <p:cNvPr id="14" name="Shape 12"/>
          <p:cNvSpPr/>
          <p:nvPr/>
        </p:nvSpPr>
        <p:spPr>
          <a:xfrm>
            <a:off x="8046720" y="3657600"/>
            <a:ext cx="292608" cy="292608"/>
          </a:xfrm>
          <a:prstGeom prst="ellipse">
            <a:avLst/>
          </a:prstGeom>
          <a:solidFill>
            <a:srgbClr val="FFD16F"/>
          </a:solidFill>
          <a:ln w="12700">
            <a:solidFill>
              <a:srgbClr val="FFD16F"/>
            </a:solidFill>
            <a:prstDash val="solid"/>
          </a:ln>
        </p:spPr>
      </p:sp>
      <p:sp>
        <p:nvSpPr>
          <p:cNvPr id="15" name="Text 13"/>
          <p:cNvSpPr txBox="1"/>
          <p:nvPr/>
        </p:nvSpPr>
        <p:spPr>
          <a:xfrm>
            <a:off x="8046720" y="4206240"/>
            <a:ext cx="1463040" cy="411480"/>
          </a:xfrm>
          <a:prstGeom prst="rect">
            <a:avLst/>
          </a:prstGeom>
          <a:noFill/>
          <a:ln/>
        </p:spPr>
        <p:txBody>
          <a:bodyPr wrap="square" lIns="0" tIns="0" rIns="0" bIns="0" rtlCol="0" anchor="t"/>
          <a:lstStyle/>
          <a:p>
            <a:pPr indent="0" marL="0">
              <a:buNone/>
            </a:pPr>
            <a:r>
              <a:rPr lang="en-US" sz="2000" b="1" dirty="0">
                <a:solidFill>
                  <a:srgbClr val="EEF5FF"/>
                </a:solidFill>
              </a:rPr>
              <a:t>다형성</a:t>
            </a:r>
            <a:endParaRPr lang="en-US" sz="2000" dirty="0"/>
          </a:p>
        </p:txBody>
      </p:sp>
      <p:sp>
        <p:nvSpPr>
          <p:cNvPr id="16" name="Text 14"/>
          <p:cNvSpPr txBox="1"/>
          <p:nvPr/>
        </p:nvSpPr>
        <p:spPr>
          <a:xfrm>
            <a:off x="8046720" y="4636008"/>
            <a:ext cx="1463040" cy="320040"/>
          </a:xfrm>
          <a:prstGeom prst="rect">
            <a:avLst/>
          </a:prstGeom>
          <a:noFill/>
          <a:ln/>
        </p:spPr>
        <p:txBody>
          <a:bodyPr wrap="square" lIns="0" tIns="0" rIns="0" bIns="0" rtlCol="0" anchor="t"/>
          <a:lstStyle/>
          <a:p>
            <a:pPr indent="0" marL="0">
              <a:buNone/>
            </a:pPr>
            <a:r>
              <a:rPr lang="en-US" sz="1200" dirty="0">
                <a:solidFill>
                  <a:srgbClr val="FFD16F"/>
                </a:solidFill>
              </a:rPr>
              <a:t>Polymorphism</a:t>
            </a:r>
            <a:endParaRPr lang="en-US" sz="1200" dirty="0"/>
          </a:p>
        </p:txBody>
      </p:sp>
      <p:sp>
        <p:nvSpPr>
          <p:cNvPr id="17" name="Shape 15"/>
          <p:cNvSpPr/>
          <p:nvPr/>
        </p:nvSpPr>
        <p:spPr>
          <a:xfrm>
            <a:off x="9829800" y="3429000"/>
            <a:ext cx="1783080" cy="1783080"/>
          </a:xfrm>
          <a:prstGeom prst="roundRect">
            <a:avLst>
              <a:gd name="adj" fmla="val 9231"/>
            </a:avLst>
          </a:prstGeom>
          <a:solidFill>
            <a:srgbClr val="10233A"/>
          </a:solidFill>
          <a:ln w="12700">
            <a:solidFill>
              <a:srgbClr val="2A405B"/>
            </a:solidFill>
            <a:prstDash val="solid"/>
          </a:ln>
        </p:spPr>
      </p:sp>
      <p:sp>
        <p:nvSpPr>
          <p:cNvPr id="18" name="Shape 16"/>
          <p:cNvSpPr/>
          <p:nvPr/>
        </p:nvSpPr>
        <p:spPr>
          <a:xfrm>
            <a:off x="10058400" y="3657600"/>
            <a:ext cx="292608" cy="292608"/>
          </a:xfrm>
          <a:prstGeom prst="ellipse">
            <a:avLst/>
          </a:prstGeom>
          <a:solidFill>
            <a:srgbClr val="8EC5FF"/>
          </a:solidFill>
          <a:ln w="12700">
            <a:solidFill>
              <a:srgbClr val="8EC5FF"/>
            </a:solidFill>
            <a:prstDash val="solid"/>
          </a:ln>
        </p:spPr>
      </p:sp>
      <p:sp>
        <p:nvSpPr>
          <p:cNvPr id="19" name="Text 17"/>
          <p:cNvSpPr txBox="1"/>
          <p:nvPr/>
        </p:nvSpPr>
        <p:spPr>
          <a:xfrm>
            <a:off x="10058400" y="4206240"/>
            <a:ext cx="1463040" cy="411480"/>
          </a:xfrm>
          <a:prstGeom prst="rect">
            <a:avLst/>
          </a:prstGeom>
          <a:noFill/>
          <a:ln/>
        </p:spPr>
        <p:txBody>
          <a:bodyPr wrap="square" lIns="0" tIns="0" rIns="0" bIns="0" rtlCol="0" anchor="t"/>
          <a:lstStyle/>
          <a:p>
            <a:pPr indent="0" marL="0">
              <a:buNone/>
            </a:pPr>
            <a:r>
              <a:rPr lang="en-US" sz="2000" b="1" dirty="0">
                <a:solidFill>
                  <a:srgbClr val="EEF5FF"/>
                </a:solidFill>
              </a:rPr>
              <a:t>추상화</a:t>
            </a:r>
            <a:endParaRPr lang="en-US" sz="2000" dirty="0"/>
          </a:p>
        </p:txBody>
      </p:sp>
      <p:sp>
        <p:nvSpPr>
          <p:cNvPr id="20" name="Text 18"/>
          <p:cNvSpPr txBox="1"/>
          <p:nvPr/>
        </p:nvSpPr>
        <p:spPr>
          <a:xfrm>
            <a:off x="10058400" y="4636008"/>
            <a:ext cx="1463040" cy="320040"/>
          </a:xfrm>
          <a:prstGeom prst="rect">
            <a:avLst/>
          </a:prstGeom>
          <a:noFill/>
          <a:ln/>
        </p:spPr>
        <p:txBody>
          <a:bodyPr wrap="square" lIns="0" tIns="0" rIns="0" bIns="0" rtlCol="0" anchor="t"/>
          <a:lstStyle/>
          <a:p>
            <a:pPr indent="0" marL="0">
              <a:buNone/>
            </a:pPr>
            <a:r>
              <a:rPr lang="en-US" sz="1200" dirty="0">
                <a:solidFill>
                  <a:srgbClr val="8EC5FF"/>
                </a:solidFill>
              </a:rPr>
              <a:t>Abstraction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55E4CF"/>
          </a:solidFill>
          <a:ln w="12700">
            <a:solidFill>
              <a:srgbClr val="55E4C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55E4CF"/>
                </a:solidFill>
              </a:rPr>
              <a:t>TODAY'S GOAL</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endParaRPr lang="en-US" sz="2800" dirty="0"/>
          </a:p>
        </p:txBody>
      </p:sp>
      <p:sp>
        <p:nvSpPr>
          <p:cNvPr id="6" name="Shape 3"/>
          <p:cNvSpPr/>
          <p:nvPr/>
        </p:nvSpPr>
        <p:spPr>
          <a:xfrm>
            <a:off x="548640" y="1920240"/>
            <a:ext cx="566928" cy="566928"/>
          </a:xfrm>
          <a:prstGeom prst="ellipse">
            <a:avLst/>
          </a:prstGeom>
          <a:solidFill>
            <a:srgbClr val="FFD16F"/>
          </a:solidFill>
          <a:ln w="12700">
            <a:solidFill>
              <a:srgbClr val="FFD16F"/>
            </a:solidFill>
            <a:prstDash val="solid"/>
          </a:ln>
        </p:spPr>
      </p:sp>
      <p:sp>
        <p:nvSpPr>
          <p:cNvPr id="7" name="Text 4"/>
          <p:cNvSpPr txBox="1"/>
          <p:nvPr/>
        </p:nvSpPr>
        <p:spPr>
          <a:xfrm>
            <a:off x="548640" y="1920240"/>
            <a:ext cx="566928" cy="566928"/>
          </a:xfrm>
          <a:prstGeom prst="rect">
            <a:avLst/>
          </a:prstGeom>
          <a:noFill/>
          <a:ln/>
        </p:spPr>
        <p:txBody>
          <a:bodyPr wrap="square" lIns="0" tIns="0" rIns="0" bIns="0" rtlCol="0" anchor="ctr"/>
          <a:lstStyle/>
          <a:p>
            <a:pPr algn="ctr" indent="0" marL="0">
              <a:buNone/>
            </a:pPr>
            <a:r>
              <a:rPr lang="en-US" sz="1984" b="1" dirty="0">
                <a:solidFill>
                  <a:srgbClr val="040A13"/>
                </a:solidFill>
              </a:rPr>
              <a:t>1</a:t>
            </a:r>
            <a:endParaRPr lang="en-US" sz="1984" dirty="0"/>
          </a:p>
        </p:txBody>
      </p:sp>
      <p:sp>
        <p:nvSpPr>
          <p:cNvPr id="8" name="Text 5"/>
          <p:cNvSpPr txBox="1"/>
          <p:nvPr/>
        </p:nvSpPr>
        <p:spPr>
          <a:xfrm>
            <a:off x="1371600" y="1874520"/>
            <a:ext cx="5394960" cy="411480"/>
          </a:xfrm>
          <a:prstGeom prst="rect">
            <a:avLst/>
          </a:prstGeom>
          <a:noFill/>
          <a:ln/>
        </p:spPr>
        <p:txBody>
          <a:bodyPr wrap="square" lIns="0" tIns="0" rIns="0" bIns="0" rtlCol="0" anchor="t"/>
          <a:lstStyle/>
          <a:p>
            <a:pPr indent="0" marL="0">
              <a:buNone/>
            </a:pPr>
            <a:r>
              <a:rPr lang="en-US" sz="1900" b="1" dirty="0">
                <a:solidFill>
                  <a:srgbClr val="EEF5FF"/>
                </a:solidFill>
              </a:rPr>
              <a:t>4대 특성이 해결하는 문제를 설명한다</a:t>
            </a:r>
            <a:endParaRPr lang="en-US" sz="1900" dirty="0"/>
          </a:p>
        </p:txBody>
      </p:sp>
      <p:sp>
        <p:nvSpPr>
          <p:cNvPr id="9" name="Text 6"/>
          <p:cNvSpPr txBox="1"/>
          <p:nvPr/>
        </p:nvSpPr>
        <p:spPr>
          <a:xfrm>
            <a:off x="1371600" y="2331720"/>
            <a:ext cx="5394960" cy="731520"/>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캡슐화, 상속, 다형성, 추상화가 각각 어떤 문제를 막아 주는지 자기 말로 설명합니다.</a:t>
            </a:r>
            <a:endParaRPr lang="en-US" sz="1400" dirty="0"/>
          </a:p>
        </p:txBody>
      </p:sp>
      <p:sp>
        <p:nvSpPr>
          <p:cNvPr id="10" name="Shape 7"/>
          <p:cNvSpPr/>
          <p:nvPr/>
        </p:nvSpPr>
        <p:spPr>
          <a:xfrm>
            <a:off x="548640" y="3337560"/>
            <a:ext cx="566928" cy="566928"/>
          </a:xfrm>
          <a:prstGeom prst="ellipse">
            <a:avLst/>
          </a:prstGeom>
          <a:solidFill>
            <a:srgbClr val="FFD16F"/>
          </a:solidFill>
          <a:ln w="12700">
            <a:solidFill>
              <a:srgbClr val="FFD16F"/>
            </a:solidFill>
            <a:prstDash val="solid"/>
          </a:ln>
        </p:spPr>
      </p:sp>
      <p:sp>
        <p:nvSpPr>
          <p:cNvPr id="11" name="Text 8"/>
          <p:cNvSpPr txBox="1"/>
          <p:nvPr/>
        </p:nvSpPr>
        <p:spPr>
          <a:xfrm>
            <a:off x="548640" y="3337560"/>
            <a:ext cx="566928" cy="566928"/>
          </a:xfrm>
          <a:prstGeom prst="rect">
            <a:avLst/>
          </a:prstGeom>
          <a:noFill/>
          <a:ln/>
        </p:spPr>
        <p:txBody>
          <a:bodyPr wrap="square" lIns="0" tIns="0" rIns="0" bIns="0" rtlCol="0" anchor="ctr"/>
          <a:lstStyle/>
          <a:p>
            <a:pPr algn="ctr" indent="0" marL="0">
              <a:buNone/>
            </a:pPr>
            <a:r>
              <a:rPr lang="en-US" sz="1984" b="1" dirty="0">
                <a:solidFill>
                  <a:srgbClr val="040A13"/>
                </a:solidFill>
              </a:rPr>
              <a:t>2</a:t>
            </a:r>
            <a:endParaRPr lang="en-US" sz="1984" dirty="0"/>
          </a:p>
        </p:txBody>
      </p:sp>
      <p:sp>
        <p:nvSpPr>
          <p:cNvPr id="12" name="Text 9"/>
          <p:cNvSpPr txBox="1"/>
          <p:nvPr/>
        </p:nvSpPr>
        <p:spPr>
          <a:xfrm>
            <a:off x="1371600" y="3291840"/>
            <a:ext cx="5394960" cy="411480"/>
          </a:xfrm>
          <a:prstGeom prst="rect">
            <a:avLst/>
          </a:prstGeom>
          <a:noFill/>
          <a:ln/>
        </p:spPr>
        <p:txBody>
          <a:bodyPr wrap="square" lIns="0" tIns="0" rIns="0" bIns="0" rtlCol="0" anchor="t"/>
          <a:lstStyle/>
          <a:p>
            <a:pPr indent="0" marL="0">
              <a:buNone/>
            </a:pPr>
            <a:r>
              <a:rPr lang="en-US" sz="1900" b="1" dirty="0">
                <a:solidFill>
                  <a:srgbClr val="EEF5FF"/>
                </a:solidFill>
              </a:rPr>
              <a:t>절차적 코드를 객체 구조로 바꾼다</a:t>
            </a:r>
            <a:endParaRPr lang="en-US" sz="1900" dirty="0"/>
          </a:p>
        </p:txBody>
      </p:sp>
      <p:sp>
        <p:nvSpPr>
          <p:cNvPr id="13" name="Text 10"/>
          <p:cNvSpPr txBox="1"/>
          <p:nvPr/>
        </p:nvSpPr>
        <p:spPr>
          <a:xfrm>
            <a:off x="1371600" y="3749040"/>
            <a:ext cx="5394960" cy="731520"/>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switch 문으로 작성된 상태 이상 코드를 클래스 구조로 바꾸고, 새 효과를 추가합니다.</a:t>
            </a:r>
            <a:endParaRPr lang="en-US" sz="1400" dirty="0"/>
          </a:p>
        </p:txBody>
      </p:sp>
      <p:sp>
        <p:nvSpPr>
          <p:cNvPr id="14" name="Shape 11"/>
          <p:cNvSpPr/>
          <p:nvPr/>
        </p:nvSpPr>
        <p:spPr>
          <a:xfrm>
            <a:off x="548640" y="4754880"/>
            <a:ext cx="566928" cy="566928"/>
          </a:xfrm>
          <a:prstGeom prst="ellipse">
            <a:avLst/>
          </a:prstGeom>
          <a:solidFill>
            <a:srgbClr val="FFD16F"/>
          </a:solidFill>
          <a:ln w="12700">
            <a:solidFill>
              <a:srgbClr val="FFD16F"/>
            </a:solidFill>
            <a:prstDash val="solid"/>
          </a:ln>
        </p:spPr>
      </p:sp>
      <p:sp>
        <p:nvSpPr>
          <p:cNvPr id="15" name="Text 12"/>
          <p:cNvSpPr txBox="1"/>
          <p:nvPr/>
        </p:nvSpPr>
        <p:spPr>
          <a:xfrm>
            <a:off x="548640" y="4754880"/>
            <a:ext cx="566928" cy="566928"/>
          </a:xfrm>
          <a:prstGeom prst="rect">
            <a:avLst/>
          </a:prstGeom>
          <a:noFill/>
          <a:ln/>
        </p:spPr>
        <p:txBody>
          <a:bodyPr wrap="square" lIns="0" tIns="0" rIns="0" bIns="0" rtlCol="0" anchor="ctr"/>
          <a:lstStyle/>
          <a:p>
            <a:pPr algn="ctr" indent="0" marL="0">
              <a:buNone/>
            </a:pPr>
            <a:r>
              <a:rPr lang="en-US" sz="1984" b="1" dirty="0">
                <a:solidFill>
                  <a:srgbClr val="040A13"/>
                </a:solidFill>
              </a:rPr>
              <a:t>3</a:t>
            </a:r>
            <a:endParaRPr lang="en-US" sz="1984" dirty="0"/>
          </a:p>
        </p:txBody>
      </p:sp>
      <p:sp>
        <p:nvSpPr>
          <p:cNvPr id="16" name="Text 13"/>
          <p:cNvSpPr txBox="1"/>
          <p:nvPr/>
        </p:nvSpPr>
        <p:spPr>
          <a:xfrm>
            <a:off x="1371600" y="4709160"/>
            <a:ext cx="5394960" cy="411480"/>
          </a:xfrm>
          <a:prstGeom prst="rect">
            <a:avLst/>
          </a:prstGeom>
          <a:noFill/>
          <a:ln/>
        </p:spPr>
        <p:txBody>
          <a:bodyPr wrap="square" lIns="0" tIns="0" rIns="0" bIns="0" rtlCol="0" anchor="t"/>
          <a:lstStyle/>
          <a:p>
            <a:pPr indent="0" marL="0">
              <a:buNone/>
            </a:pPr>
            <a:r>
              <a:rPr lang="en-US" sz="1900" b="1" dirty="0">
                <a:solidFill>
                  <a:srgbClr val="EEF5FF"/>
                </a:solidFill>
              </a:rPr>
              <a:t>1차시의 Unity 코드를 읽을 준비를 한다</a:t>
            </a:r>
            <a:endParaRPr lang="en-US" sz="1900" dirty="0"/>
          </a:p>
        </p:txBody>
      </p:sp>
      <p:sp>
        <p:nvSpPr>
          <p:cNvPr id="17" name="Text 14"/>
          <p:cNvSpPr txBox="1"/>
          <p:nvPr/>
        </p:nvSpPr>
        <p:spPr>
          <a:xfrm>
            <a:off x="1371600" y="5166360"/>
            <a:ext cx="5394960" cy="731520"/>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MonoBehaviour와 컴포넌트가 상속과 조합으로 만들어졌다는 점을 확인합니다.</a:t>
            </a:r>
            <a:endParaRPr lang="en-US" sz="1400" dirty="0"/>
          </a:p>
        </p:txBody>
      </p:sp>
      <p:sp>
        <p:nvSpPr>
          <p:cNvPr id="18" name="Shape 15"/>
          <p:cNvSpPr/>
          <p:nvPr/>
        </p:nvSpPr>
        <p:spPr>
          <a:xfrm>
            <a:off x="7223760" y="1874520"/>
            <a:ext cx="4389120" cy="1920240"/>
          </a:xfrm>
          <a:prstGeom prst="roundRect">
            <a:avLst>
              <a:gd name="adj" fmla="val 5714"/>
            </a:avLst>
          </a:prstGeom>
          <a:solidFill>
            <a:srgbClr val="10233A"/>
          </a:solidFill>
          <a:ln w="12700">
            <a:solidFill>
              <a:srgbClr val="2A405B"/>
            </a:solidFill>
            <a:prstDash val="solid"/>
          </a:ln>
        </p:spPr>
      </p:sp>
      <p:sp>
        <p:nvSpPr>
          <p:cNvPr id="19" name="Text 16"/>
          <p:cNvSpPr txBox="1"/>
          <p:nvPr/>
        </p:nvSpPr>
        <p:spPr>
          <a:xfrm>
            <a:off x="7452360" y="2075688"/>
            <a:ext cx="3931920" cy="365760"/>
          </a:xfrm>
          <a:prstGeom prst="rect">
            <a:avLst/>
          </a:prstGeom>
          <a:noFill/>
          <a:ln/>
        </p:spPr>
        <p:txBody>
          <a:bodyPr wrap="square" lIns="0" tIns="0" rIns="0" bIns="0" rtlCol="0" anchor="t"/>
          <a:lstStyle/>
          <a:p>
            <a:pPr indent="0" marL="0">
              <a:buNone/>
            </a:pPr>
            <a:r>
              <a:rPr lang="en-US" sz="1700" b="1" dirty="0">
                <a:solidFill>
                  <a:srgbClr val="55E4CF"/>
                </a:solidFill>
              </a:rPr>
              <a:t>1교시 · 50분</a:t>
            </a:r>
            <a:endParaRPr lang="en-US" sz="1700" dirty="0"/>
          </a:p>
        </p:txBody>
      </p:sp>
      <p:sp>
        <p:nvSpPr>
          <p:cNvPr id="20" name="Shape 17"/>
          <p:cNvSpPr/>
          <p:nvPr/>
        </p:nvSpPr>
        <p:spPr>
          <a:xfrm>
            <a:off x="7452360" y="2606040"/>
            <a:ext cx="1828800" cy="438912"/>
          </a:xfrm>
          <a:prstGeom prst="roundRect">
            <a:avLst>
              <a:gd name="adj" fmla="val 50000"/>
            </a:avLst>
          </a:prstGeom>
          <a:solidFill>
            <a:srgbClr val="142B45"/>
          </a:solidFill>
          <a:ln w="12700">
            <a:solidFill>
              <a:srgbClr val="142B45"/>
            </a:solidFill>
            <a:prstDash val="solid"/>
          </a:ln>
        </p:spPr>
      </p:sp>
      <p:sp>
        <p:nvSpPr>
          <p:cNvPr id="21" name="Text 18"/>
          <p:cNvSpPr txBox="1"/>
          <p:nvPr/>
        </p:nvSpPr>
        <p:spPr>
          <a:xfrm>
            <a:off x="7452360" y="2606040"/>
            <a:ext cx="1828800" cy="438912"/>
          </a:xfrm>
          <a:prstGeom prst="rect">
            <a:avLst/>
          </a:prstGeom>
          <a:noFill/>
          <a:ln/>
        </p:spPr>
        <p:txBody>
          <a:bodyPr wrap="square" lIns="0" tIns="0" rIns="0" bIns="0" rtlCol="0" anchor="ctr"/>
          <a:lstStyle/>
          <a:p>
            <a:pPr algn="ctr" indent="0" marL="0">
              <a:buNone/>
            </a:pPr>
            <a:r>
              <a:rPr lang="en-US" sz="1400" dirty="0">
                <a:solidFill>
                  <a:srgbClr val="EEF5FF"/>
                </a:solidFill>
              </a:rPr>
              <a:t>도입</a:t>
            </a:r>
            <a:endParaRPr lang="en-US" sz="1400" dirty="0"/>
          </a:p>
        </p:txBody>
      </p:sp>
      <p:sp>
        <p:nvSpPr>
          <p:cNvPr id="22" name="Shape 19"/>
          <p:cNvSpPr/>
          <p:nvPr/>
        </p:nvSpPr>
        <p:spPr>
          <a:xfrm>
            <a:off x="9418320" y="2606040"/>
            <a:ext cx="1828800" cy="438912"/>
          </a:xfrm>
          <a:prstGeom prst="roundRect">
            <a:avLst>
              <a:gd name="adj" fmla="val 50000"/>
            </a:avLst>
          </a:prstGeom>
          <a:solidFill>
            <a:srgbClr val="142B45"/>
          </a:solidFill>
          <a:ln w="12700">
            <a:solidFill>
              <a:srgbClr val="142B45"/>
            </a:solidFill>
            <a:prstDash val="solid"/>
          </a:ln>
        </p:spPr>
      </p:sp>
      <p:sp>
        <p:nvSpPr>
          <p:cNvPr id="23" name="Text 20"/>
          <p:cNvSpPr txBox="1"/>
          <p:nvPr/>
        </p:nvSpPr>
        <p:spPr>
          <a:xfrm>
            <a:off x="9418320" y="2606040"/>
            <a:ext cx="1828800" cy="438912"/>
          </a:xfrm>
          <a:prstGeom prst="rect">
            <a:avLst/>
          </a:prstGeom>
          <a:noFill/>
          <a:ln/>
        </p:spPr>
        <p:txBody>
          <a:bodyPr wrap="square" lIns="0" tIns="0" rIns="0" bIns="0" rtlCol="0" anchor="ctr"/>
          <a:lstStyle/>
          <a:p>
            <a:pPr algn="ctr" indent="0" marL="0">
              <a:buNone/>
            </a:pPr>
            <a:r>
              <a:rPr lang="en-US" sz="1400" dirty="0">
                <a:solidFill>
                  <a:srgbClr val="EEF5FF"/>
                </a:solidFill>
              </a:rPr>
              <a:t>객체와 클래스</a:t>
            </a:r>
            <a:endParaRPr lang="en-US" sz="1400" dirty="0"/>
          </a:p>
        </p:txBody>
      </p:sp>
      <p:sp>
        <p:nvSpPr>
          <p:cNvPr id="24" name="Shape 21"/>
          <p:cNvSpPr/>
          <p:nvPr/>
        </p:nvSpPr>
        <p:spPr>
          <a:xfrm>
            <a:off x="7452360" y="3154680"/>
            <a:ext cx="1828800" cy="438912"/>
          </a:xfrm>
          <a:prstGeom prst="roundRect">
            <a:avLst>
              <a:gd name="adj" fmla="val 50000"/>
            </a:avLst>
          </a:prstGeom>
          <a:solidFill>
            <a:srgbClr val="142B45"/>
          </a:solidFill>
          <a:ln w="12700">
            <a:solidFill>
              <a:srgbClr val="142B45"/>
            </a:solidFill>
            <a:prstDash val="solid"/>
          </a:ln>
        </p:spPr>
      </p:sp>
      <p:sp>
        <p:nvSpPr>
          <p:cNvPr id="25" name="Text 22"/>
          <p:cNvSpPr txBox="1"/>
          <p:nvPr/>
        </p:nvSpPr>
        <p:spPr>
          <a:xfrm>
            <a:off x="7452360" y="3154680"/>
            <a:ext cx="1828800" cy="438912"/>
          </a:xfrm>
          <a:prstGeom prst="rect">
            <a:avLst/>
          </a:prstGeom>
          <a:noFill/>
          <a:ln/>
        </p:spPr>
        <p:txBody>
          <a:bodyPr wrap="square" lIns="0" tIns="0" rIns="0" bIns="0" rtlCol="0" anchor="ctr"/>
          <a:lstStyle/>
          <a:p>
            <a:pPr algn="ctr" indent="0" marL="0">
              <a:buNone/>
            </a:pPr>
            <a:r>
              <a:rPr lang="en-US" sz="1400" dirty="0">
                <a:solidFill>
                  <a:srgbClr val="EEF5FF"/>
                </a:solidFill>
              </a:rPr>
              <a:t>캡슐화</a:t>
            </a:r>
            <a:endParaRPr lang="en-US" sz="1400" dirty="0"/>
          </a:p>
        </p:txBody>
      </p:sp>
      <p:sp>
        <p:nvSpPr>
          <p:cNvPr id="26" name="Shape 23"/>
          <p:cNvSpPr/>
          <p:nvPr/>
        </p:nvSpPr>
        <p:spPr>
          <a:xfrm>
            <a:off x="9418320" y="3154680"/>
            <a:ext cx="1828800" cy="438912"/>
          </a:xfrm>
          <a:prstGeom prst="roundRect">
            <a:avLst>
              <a:gd name="adj" fmla="val 50000"/>
            </a:avLst>
          </a:prstGeom>
          <a:solidFill>
            <a:srgbClr val="142B45"/>
          </a:solidFill>
          <a:ln w="12700">
            <a:solidFill>
              <a:srgbClr val="142B45"/>
            </a:solidFill>
            <a:prstDash val="solid"/>
          </a:ln>
        </p:spPr>
      </p:sp>
      <p:sp>
        <p:nvSpPr>
          <p:cNvPr id="27" name="Text 24"/>
          <p:cNvSpPr txBox="1"/>
          <p:nvPr/>
        </p:nvSpPr>
        <p:spPr>
          <a:xfrm>
            <a:off x="9418320" y="3154680"/>
            <a:ext cx="1828800" cy="438912"/>
          </a:xfrm>
          <a:prstGeom prst="rect">
            <a:avLst/>
          </a:prstGeom>
          <a:noFill/>
          <a:ln/>
        </p:spPr>
        <p:txBody>
          <a:bodyPr wrap="square" lIns="0" tIns="0" rIns="0" bIns="0" rtlCol="0" anchor="ctr"/>
          <a:lstStyle/>
          <a:p>
            <a:pPr algn="ctr" indent="0" marL="0">
              <a:buNone/>
            </a:pPr>
            <a:r>
              <a:rPr lang="en-US" sz="1400" dirty="0">
                <a:solidFill>
                  <a:srgbClr val="EEF5FF"/>
                </a:solidFill>
              </a:rPr>
              <a:t>상속</a:t>
            </a:r>
            <a:endParaRPr lang="en-US" sz="1400" dirty="0"/>
          </a:p>
        </p:txBody>
      </p:sp>
      <p:sp>
        <p:nvSpPr>
          <p:cNvPr id="28" name="Shape 25"/>
          <p:cNvSpPr/>
          <p:nvPr/>
        </p:nvSpPr>
        <p:spPr>
          <a:xfrm>
            <a:off x="7223760" y="4023360"/>
            <a:ext cx="4389120" cy="1920240"/>
          </a:xfrm>
          <a:prstGeom prst="roundRect">
            <a:avLst>
              <a:gd name="adj" fmla="val 5714"/>
            </a:avLst>
          </a:prstGeom>
          <a:solidFill>
            <a:srgbClr val="10233A"/>
          </a:solidFill>
          <a:ln w="12700">
            <a:solidFill>
              <a:srgbClr val="2A405B"/>
            </a:solidFill>
            <a:prstDash val="solid"/>
          </a:ln>
        </p:spPr>
      </p:sp>
      <p:sp>
        <p:nvSpPr>
          <p:cNvPr id="29" name="Text 26"/>
          <p:cNvSpPr txBox="1"/>
          <p:nvPr/>
        </p:nvSpPr>
        <p:spPr>
          <a:xfrm>
            <a:off x="7452360" y="4224528"/>
            <a:ext cx="3931920" cy="365760"/>
          </a:xfrm>
          <a:prstGeom prst="rect">
            <a:avLst/>
          </a:prstGeom>
          <a:noFill/>
          <a:ln/>
        </p:spPr>
        <p:txBody>
          <a:bodyPr wrap="square" lIns="0" tIns="0" rIns="0" bIns="0" rtlCol="0" anchor="t"/>
          <a:lstStyle/>
          <a:p>
            <a:pPr indent="0" marL="0">
              <a:buNone/>
            </a:pPr>
            <a:r>
              <a:rPr lang="en-US" sz="1700" b="1" dirty="0">
                <a:solidFill>
                  <a:srgbClr val="FFD16F"/>
                </a:solidFill>
              </a:rPr>
              <a:t>2교시 · 50분</a:t>
            </a:r>
            <a:endParaRPr lang="en-US" sz="1700" dirty="0"/>
          </a:p>
        </p:txBody>
      </p:sp>
      <p:sp>
        <p:nvSpPr>
          <p:cNvPr id="30" name="Shape 27"/>
          <p:cNvSpPr/>
          <p:nvPr/>
        </p:nvSpPr>
        <p:spPr>
          <a:xfrm>
            <a:off x="7452360" y="4754880"/>
            <a:ext cx="1828800" cy="438912"/>
          </a:xfrm>
          <a:prstGeom prst="roundRect">
            <a:avLst>
              <a:gd name="adj" fmla="val 50000"/>
            </a:avLst>
          </a:prstGeom>
          <a:solidFill>
            <a:srgbClr val="142B45"/>
          </a:solidFill>
          <a:ln w="12700">
            <a:solidFill>
              <a:srgbClr val="142B45"/>
            </a:solidFill>
            <a:prstDash val="solid"/>
          </a:ln>
        </p:spPr>
      </p:sp>
      <p:sp>
        <p:nvSpPr>
          <p:cNvPr id="31" name="Text 28"/>
          <p:cNvSpPr txBox="1"/>
          <p:nvPr/>
        </p:nvSpPr>
        <p:spPr>
          <a:xfrm>
            <a:off x="7452360" y="4754880"/>
            <a:ext cx="1828800" cy="438912"/>
          </a:xfrm>
          <a:prstGeom prst="rect">
            <a:avLst/>
          </a:prstGeom>
          <a:noFill/>
          <a:ln/>
        </p:spPr>
        <p:txBody>
          <a:bodyPr wrap="square" lIns="0" tIns="0" rIns="0" bIns="0" rtlCol="0" anchor="ctr"/>
          <a:lstStyle/>
          <a:p>
            <a:pPr algn="ctr" indent="0" marL="0">
              <a:buNone/>
            </a:pPr>
            <a:r>
              <a:rPr lang="en-US" sz="1400" dirty="0">
                <a:solidFill>
                  <a:srgbClr val="EEF5FF"/>
                </a:solidFill>
              </a:rPr>
              <a:t>다형성</a:t>
            </a:r>
            <a:endParaRPr lang="en-US" sz="1400" dirty="0"/>
          </a:p>
        </p:txBody>
      </p:sp>
      <p:sp>
        <p:nvSpPr>
          <p:cNvPr id="32" name="Shape 29"/>
          <p:cNvSpPr/>
          <p:nvPr/>
        </p:nvSpPr>
        <p:spPr>
          <a:xfrm>
            <a:off x="9418320" y="4754880"/>
            <a:ext cx="1828800" cy="438912"/>
          </a:xfrm>
          <a:prstGeom prst="roundRect">
            <a:avLst>
              <a:gd name="adj" fmla="val 50000"/>
            </a:avLst>
          </a:prstGeom>
          <a:solidFill>
            <a:srgbClr val="142B45"/>
          </a:solidFill>
          <a:ln w="12700">
            <a:solidFill>
              <a:srgbClr val="142B45"/>
            </a:solidFill>
            <a:prstDash val="solid"/>
          </a:ln>
        </p:spPr>
      </p:sp>
      <p:sp>
        <p:nvSpPr>
          <p:cNvPr id="33" name="Text 30"/>
          <p:cNvSpPr txBox="1"/>
          <p:nvPr/>
        </p:nvSpPr>
        <p:spPr>
          <a:xfrm>
            <a:off x="9418320" y="4754880"/>
            <a:ext cx="1828800" cy="438912"/>
          </a:xfrm>
          <a:prstGeom prst="rect">
            <a:avLst/>
          </a:prstGeom>
          <a:noFill/>
          <a:ln/>
        </p:spPr>
        <p:txBody>
          <a:bodyPr wrap="square" lIns="0" tIns="0" rIns="0" bIns="0" rtlCol="0" anchor="ctr"/>
          <a:lstStyle/>
          <a:p>
            <a:pPr algn="ctr" indent="0" marL="0">
              <a:buNone/>
            </a:pPr>
            <a:r>
              <a:rPr lang="en-US" sz="1400" dirty="0">
                <a:solidFill>
                  <a:srgbClr val="EEF5FF"/>
                </a:solidFill>
              </a:rPr>
              <a:t>추상화</a:t>
            </a:r>
            <a:endParaRPr lang="en-US" sz="1400" dirty="0"/>
          </a:p>
        </p:txBody>
      </p:sp>
      <p:sp>
        <p:nvSpPr>
          <p:cNvPr id="34" name="Shape 31"/>
          <p:cNvSpPr/>
          <p:nvPr/>
        </p:nvSpPr>
        <p:spPr>
          <a:xfrm>
            <a:off x="7452360" y="5303520"/>
            <a:ext cx="1828800" cy="438912"/>
          </a:xfrm>
          <a:prstGeom prst="roundRect">
            <a:avLst>
              <a:gd name="adj" fmla="val 50000"/>
            </a:avLst>
          </a:prstGeom>
          <a:solidFill>
            <a:srgbClr val="142B45"/>
          </a:solidFill>
          <a:ln w="12700">
            <a:solidFill>
              <a:srgbClr val="142B45"/>
            </a:solidFill>
            <a:prstDash val="solid"/>
          </a:ln>
        </p:spPr>
      </p:sp>
      <p:sp>
        <p:nvSpPr>
          <p:cNvPr id="35" name="Text 32"/>
          <p:cNvSpPr txBox="1"/>
          <p:nvPr/>
        </p:nvSpPr>
        <p:spPr>
          <a:xfrm>
            <a:off x="7452360" y="5303520"/>
            <a:ext cx="1828800" cy="438912"/>
          </a:xfrm>
          <a:prstGeom prst="rect">
            <a:avLst/>
          </a:prstGeom>
          <a:noFill/>
          <a:ln/>
        </p:spPr>
        <p:txBody>
          <a:bodyPr wrap="square" lIns="0" tIns="0" rIns="0" bIns="0" rtlCol="0" anchor="ctr"/>
          <a:lstStyle/>
          <a:p>
            <a:pPr algn="ctr" indent="0" marL="0">
              <a:buNone/>
            </a:pPr>
            <a:r>
              <a:rPr lang="en-US" sz="1400" dirty="0">
                <a:solidFill>
                  <a:srgbClr val="EEF5FF"/>
                </a:solidFill>
              </a:rPr>
              <a:t>실습 20분</a:t>
            </a:r>
            <a:endParaRPr lang="en-US" sz="1400" dirty="0"/>
          </a:p>
        </p:txBody>
      </p:sp>
      <p:sp>
        <p:nvSpPr>
          <p:cNvPr id="36" name="Shape 33"/>
          <p:cNvSpPr/>
          <p:nvPr/>
        </p:nvSpPr>
        <p:spPr>
          <a:xfrm>
            <a:off x="9418320" y="5303520"/>
            <a:ext cx="1828800" cy="438912"/>
          </a:xfrm>
          <a:prstGeom prst="roundRect">
            <a:avLst>
              <a:gd name="adj" fmla="val 50000"/>
            </a:avLst>
          </a:prstGeom>
          <a:solidFill>
            <a:srgbClr val="142B45"/>
          </a:solidFill>
          <a:ln w="12700">
            <a:solidFill>
              <a:srgbClr val="142B45"/>
            </a:solidFill>
            <a:prstDash val="solid"/>
          </a:ln>
        </p:spPr>
      </p:sp>
      <p:sp>
        <p:nvSpPr>
          <p:cNvPr id="37" name="Text 34"/>
          <p:cNvSpPr txBox="1"/>
          <p:nvPr/>
        </p:nvSpPr>
        <p:spPr>
          <a:xfrm>
            <a:off x="9418320" y="5303520"/>
            <a:ext cx="1828800" cy="438912"/>
          </a:xfrm>
          <a:prstGeom prst="rect">
            <a:avLst/>
          </a:prstGeom>
          <a:noFill/>
          <a:ln/>
        </p:spPr>
        <p:txBody>
          <a:bodyPr wrap="square" lIns="0" tIns="0" rIns="0" bIns="0" rtlCol="0" anchor="ctr"/>
          <a:lstStyle/>
          <a:p>
            <a:pPr algn="ctr" indent="0" marL="0">
              <a:buNone/>
            </a:pPr>
            <a:r>
              <a:rPr lang="en-US" sz="1400" dirty="0">
                <a:solidFill>
                  <a:srgbClr val="EEF5FF"/>
                </a:solidFill>
              </a:rPr>
              <a:t>Unity와 연결</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502920"/>
            <a:ext cx="1005840" cy="1005840"/>
          </a:xfrm>
          <a:prstGeom prst="ellipse">
            <a:avLst/>
          </a:prstGeom>
          <a:solidFill>
            <a:srgbClr val="FFD16F"/>
          </a:solidFill>
          <a:ln w="12700">
            <a:solidFill>
              <a:srgbClr val="FFD16F"/>
            </a:solidFill>
            <a:prstDash val="solid"/>
          </a:ln>
        </p:spPr>
      </p:sp>
      <p:sp>
        <p:nvSpPr>
          <p:cNvPr id="3" name="Text 1"/>
          <p:cNvSpPr txBox="1"/>
          <p:nvPr/>
        </p:nvSpPr>
        <p:spPr>
          <a:xfrm>
            <a:off x="548640" y="502920"/>
            <a:ext cx="1005840" cy="1005840"/>
          </a:xfrm>
          <a:prstGeom prst="rect">
            <a:avLst/>
          </a:prstGeom>
          <a:noFill/>
          <a:ln/>
        </p:spPr>
        <p:txBody>
          <a:bodyPr wrap="square" lIns="0" tIns="0" rIns="0" bIns="0" rtlCol="0" anchor="ctr"/>
          <a:lstStyle/>
          <a:p>
            <a:pPr algn="ctr" indent="0" marL="0">
              <a:buNone/>
            </a:pPr>
            <a:r>
              <a:rPr lang="en-US" sz="4400" b="1" dirty="0">
                <a:solidFill>
                  <a:srgbClr val="040A13"/>
                </a:solidFill>
              </a:rPr>
              <a:t>Q</a:t>
            </a:r>
            <a:endParaRPr lang="en-US" sz="4400" dirty="0"/>
          </a:p>
        </p:txBody>
      </p:sp>
      <p:sp>
        <p:nvSpPr>
          <p:cNvPr id="4" name="Text 2"/>
          <p:cNvSpPr txBox="1"/>
          <p:nvPr/>
        </p:nvSpPr>
        <p:spPr>
          <a:xfrm>
            <a:off x="1828800" y="566928"/>
            <a:ext cx="9144000" cy="310896"/>
          </a:xfrm>
          <a:prstGeom prst="rect">
            <a:avLst/>
          </a:prstGeom>
          <a:noFill/>
          <a:ln/>
        </p:spPr>
        <p:txBody>
          <a:bodyPr wrap="square" lIns="0" tIns="0" rIns="0" bIns="0" rtlCol="0" anchor="t"/>
          <a:lstStyle/>
          <a:p>
            <a:pPr indent="0" marL="0">
              <a:buNone/>
            </a:pPr>
            <a:r>
              <a:rPr lang="en-US" sz="1300" b="1" spc="150" kern="0" dirty="0">
                <a:solidFill>
                  <a:srgbClr val="FFD16F"/>
                </a:solidFill>
              </a:rPr>
              <a:t>OPENING QUESTION</a:t>
            </a:r>
            <a:endParaRPr lang="en-US" sz="1300" dirty="0"/>
          </a:p>
        </p:txBody>
      </p:sp>
      <p:sp>
        <p:nvSpPr>
          <p:cNvPr id="5" name="Text 3"/>
          <p:cNvSpPr txBox="1"/>
          <p:nvPr/>
        </p:nvSpPr>
        <p:spPr>
          <a:xfrm>
            <a:off x="1828800" y="914400"/>
            <a:ext cx="9784080" cy="1280160"/>
          </a:xfrm>
          <a:prstGeom prst="rect">
            <a:avLst/>
          </a:prstGeom>
          <a:noFill/>
          <a:ln/>
        </p:spPr>
        <p:txBody>
          <a:bodyPr wrap="square" lIns="0" tIns="0" rIns="0" bIns="0" rtlCol="0" anchor="t"/>
          <a:lstStyle/>
          <a:p>
            <a:pPr indent="0" marL="0">
              <a:lnSpc>
                <a:spcPct val="115000"/>
              </a:lnSpc>
              <a:buNone/>
            </a:pPr>
            <a:r>
              <a:rPr lang="en-US" sz="2600" b="1" dirty="0">
                <a:solidFill>
                  <a:srgbClr val="EEF5FF"/>
                </a:solidFill>
              </a:rPr>
              <a:t>class, 상속, 인터페이스 문법은 이미 배웠습니다.</a:t>
            </a:r>
            <a:endParaRPr lang="en-US" sz="2600" dirty="0"/>
          </a:p>
          <a:p>
            <a:pPr indent="0" marL="0">
              <a:lnSpc>
                <a:spcPct val="115000"/>
              </a:lnSpc>
              <a:buNone/>
            </a:pPr>
            <a:r>
              <a:rPr lang="en-US" sz="2600" b="1" dirty="0">
                <a:solidFill>
                  <a:srgbClr val="EEF5FF"/>
                </a:solidFill>
              </a:rPr>
              <a:t>코드를 왜 클래스로 나누어 쓸까요?</a:t>
            </a:r>
            <a:endParaRPr lang="en-US" sz="2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22960" y="2011680"/>
            <a:ext cx="9144000" cy="365760"/>
          </a:xfrm>
          <a:prstGeom prst="rect">
            <a:avLst/>
          </a:prstGeom>
          <a:noFill/>
          <a:ln/>
        </p:spPr>
        <p:txBody>
          <a:bodyPr wrap="square" lIns="0" tIns="0" rIns="0" bIns="0" rtlCol="0" anchor="t"/>
          <a:lstStyle/>
          <a:p>
            <a:pPr indent="0" marL="0">
              <a:buNone/>
            </a:pPr>
            <a:r>
              <a:rPr lang="en-US" sz="1500" b="1" spc="200" kern="0" dirty="0">
                <a:solidFill>
                  <a:srgbClr val="55E4CF"/>
                </a:solidFill>
              </a:rPr>
              <a:t>PERIOD 1</a:t>
            </a:r>
            <a:endParaRPr lang="en-US" sz="1500" dirty="0"/>
          </a:p>
        </p:txBody>
      </p:sp>
      <p:sp>
        <p:nvSpPr>
          <p:cNvPr id="3" name="Text 1"/>
          <p:cNvSpPr txBox="1"/>
          <p:nvPr/>
        </p:nvSpPr>
        <p:spPr>
          <a:xfrm>
            <a:off x="822960" y="2468880"/>
            <a:ext cx="10515600" cy="914400"/>
          </a:xfrm>
          <a:prstGeom prst="rect">
            <a:avLst/>
          </a:prstGeom>
          <a:noFill/>
          <a:ln/>
        </p:spPr>
        <p:txBody>
          <a:bodyPr wrap="square" lIns="0" tIns="0" rIns="0" bIns="0" rtlCol="0" anchor="t"/>
          <a:lstStyle/>
          <a:p>
            <a:pPr indent="0" marL="0">
              <a:buNone/>
            </a:pPr>
            <a:r>
              <a:rPr lang="en-US" sz="4000" b="1" dirty="0">
                <a:solidFill>
                  <a:srgbClr val="EEF5FF"/>
                </a:solidFill>
              </a:rPr>
              <a:t>1교시 · 객체, 캡슐화, 상속</a:t>
            </a:r>
            <a:endParaRPr lang="en-US" sz="4000" dirty="0"/>
          </a:p>
        </p:txBody>
      </p:sp>
      <p:sp>
        <p:nvSpPr>
          <p:cNvPr id="4" name="Shape 2"/>
          <p:cNvSpPr/>
          <p:nvPr/>
        </p:nvSpPr>
        <p:spPr>
          <a:xfrm>
            <a:off x="822960" y="3840480"/>
            <a:ext cx="896112" cy="502920"/>
          </a:xfrm>
          <a:prstGeom prst="roundRect">
            <a:avLst>
              <a:gd name="adj" fmla="val 50000"/>
            </a:avLst>
          </a:prstGeom>
          <a:solidFill>
            <a:srgbClr val="FF8C99"/>
          </a:solidFill>
          <a:ln w="12700">
            <a:solidFill>
              <a:srgbClr val="FF8C99"/>
            </a:solidFill>
            <a:prstDash val="solid"/>
          </a:ln>
        </p:spPr>
      </p:sp>
      <p:sp>
        <p:nvSpPr>
          <p:cNvPr id="5" name="Text 3"/>
          <p:cNvSpPr txBox="1"/>
          <p:nvPr/>
        </p:nvSpPr>
        <p:spPr>
          <a:xfrm>
            <a:off x="822960" y="3840480"/>
            <a:ext cx="896112" cy="502920"/>
          </a:xfrm>
          <a:prstGeom prst="rect">
            <a:avLst/>
          </a:prstGeom>
          <a:noFill/>
          <a:ln/>
        </p:spPr>
        <p:txBody>
          <a:bodyPr wrap="square" lIns="0" tIns="0" rIns="0" bIns="0" rtlCol="0" anchor="ctr"/>
          <a:lstStyle/>
          <a:p>
            <a:pPr algn="ctr" indent="0" marL="0">
              <a:buNone/>
            </a:pPr>
            <a:r>
              <a:rPr lang="en-US" sz="1500" b="1" dirty="0">
                <a:solidFill>
                  <a:srgbClr val="040A13"/>
                </a:solidFill>
              </a:rPr>
              <a:t>도입</a:t>
            </a:r>
            <a:endParaRPr lang="en-US" sz="1500" dirty="0"/>
          </a:p>
        </p:txBody>
      </p:sp>
      <p:sp>
        <p:nvSpPr>
          <p:cNvPr id="6" name="Shape 4"/>
          <p:cNvSpPr/>
          <p:nvPr/>
        </p:nvSpPr>
        <p:spPr>
          <a:xfrm>
            <a:off x="1947672" y="3840480"/>
            <a:ext cx="1993392" cy="502920"/>
          </a:xfrm>
          <a:prstGeom prst="roundRect">
            <a:avLst>
              <a:gd name="adj" fmla="val 50000"/>
            </a:avLst>
          </a:prstGeom>
          <a:solidFill>
            <a:srgbClr val="55E4CF"/>
          </a:solidFill>
          <a:ln w="12700">
            <a:solidFill>
              <a:srgbClr val="55E4CF"/>
            </a:solidFill>
            <a:prstDash val="solid"/>
          </a:ln>
        </p:spPr>
      </p:sp>
      <p:sp>
        <p:nvSpPr>
          <p:cNvPr id="7" name="Text 5"/>
          <p:cNvSpPr txBox="1"/>
          <p:nvPr/>
        </p:nvSpPr>
        <p:spPr>
          <a:xfrm>
            <a:off x="1947672" y="3840480"/>
            <a:ext cx="1993392" cy="502920"/>
          </a:xfrm>
          <a:prstGeom prst="rect">
            <a:avLst/>
          </a:prstGeom>
          <a:noFill/>
          <a:ln/>
        </p:spPr>
        <p:txBody>
          <a:bodyPr wrap="square" lIns="0" tIns="0" rIns="0" bIns="0" rtlCol="0" anchor="ctr"/>
          <a:lstStyle/>
          <a:p>
            <a:pPr algn="ctr" indent="0" marL="0">
              <a:buNone/>
            </a:pPr>
            <a:r>
              <a:rPr lang="en-US" sz="1500" b="1" dirty="0">
                <a:solidFill>
                  <a:srgbClr val="040A13"/>
                </a:solidFill>
              </a:rPr>
              <a:t>객체와 클래스</a:t>
            </a:r>
            <a:endParaRPr lang="en-US" sz="1500" dirty="0"/>
          </a:p>
        </p:txBody>
      </p:sp>
      <p:sp>
        <p:nvSpPr>
          <p:cNvPr id="8" name="Shape 6"/>
          <p:cNvSpPr/>
          <p:nvPr/>
        </p:nvSpPr>
        <p:spPr>
          <a:xfrm>
            <a:off x="4169664" y="3840480"/>
            <a:ext cx="1115568" cy="502920"/>
          </a:xfrm>
          <a:prstGeom prst="roundRect">
            <a:avLst>
              <a:gd name="adj" fmla="val 50000"/>
            </a:avLst>
          </a:prstGeom>
          <a:solidFill>
            <a:srgbClr val="83E58F"/>
          </a:solidFill>
          <a:ln w="12700">
            <a:solidFill>
              <a:srgbClr val="83E58F"/>
            </a:solidFill>
            <a:prstDash val="solid"/>
          </a:ln>
        </p:spPr>
      </p:sp>
      <p:sp>
        <p:nvSpPr>
          <p:cNvPr id="9" name="Text 7"/>
          <p:cNvSpPr txBox="1"/>
          <p:nvPr/>
        </p:nvSpPr>
        <p:spPr>
          <a:xfrm>
            <a:off x="4169664" y="3840480"/>
            <a:ext cx="1115568" cy="502920"/>
          </a:xfrm>
          <a:prstGeom prst="rect">
            <a:avLst/>
          </a:prstGeom>
          <a:noFill/>
          <a:ln/>
        </p:spPr>
        <p:txBody>
          <a:bodyPr wrap="square" lIns="0" tIns="0" rIns="0" bIns="0" rtlCol="0" anchor="ctr"/>
          <a:lstStyle/>
          <a:p>
            <a:pPr algn="ctr" indent="0" marL="0">
              <a:buNone/>
            </a:pPr>
            <a:r>
              <a:rPr lang="en-US" sz="1500" b="1" dirty="0">
                <a:solidFill>
                  <a:srgbClr val="040A13"/>
                </a:solidFill>
              </a:rPr>
              <a:t>캡슐화</a:t>
            </a:r>
            <a:endParaRPr lang="en-US" sz="1500" dirty="0"/>
          </a:p>
        </p:txBody>
      </p:sp>
      <p:sp>
        <p:nvSpPr>
          <p:cNvPr id="10" name="Shape 8"/>
          <p:cNvSpPr/>
          <p:nvPr/>
        </p:nvSpPr>
        <p:spPr>
          <a:xfrm>
            <a:off x="5513832" y="3840480"/>
            <a:ext cx="896112" cy="502920"/>
          </a:xfrm>
          <a:prstGeom prst="roundRect">
            <a:avLst>
              <a:gd name="adj" fmla="val 50000"/>
            </a:avLst>
          </a:prstGeom>
          <a:solidFill>
            <a:srgbClr val="B8A4FF"/>
          </a:solidFill>
          <a:ln w="12700">
            <a:solidFill>
              <a:srgbClr val="B8A4FF"/>
            </a:solidFill>
            <a:prstDash val="solid"/>
          </a:ln>
        </p:spPr>
      </p:sp>
      <p:sp>
        <p:nvSpPr>
          <p:cNvPr id="11" name="Text 9"/>
          <p:cNvSpPr txBox="1"/>
          <p:nvPr/>
        </p:nvSpPr>
        <p:spPr>
          <a:xfrm>
            <a:off x="5513832" y="3840480"/>
            <a:ext cx="896112" cy="502920"/>
          </a:xfrm>
          <a:prstGeom prst="rect">
            <a:avLst/>
          </a:prstGeom>
          <a:noFill/>
          <a:ln/>
        </p:spPr>
        <p:txBody>
          <a:bodyPr wrap="square" lIns="0" tIns="0" rIns="0" bIns="0" rtlCol="0" anchor="ctr"/>
          <a:lstStyle/>
          <a:p>
            <a:pPr algn="ctr" indent="0" marL="0">
              <a:buNone/>
            </a:pPr>
            <a:r>
              <a:rPr lang="en-US" sz="1500" b="1" dirty="0">
                <a:solidFill>
                  <a:srgbClr val="040A13"/>
                </a:solidFill>
              </a:rPr>
              <a:t>상속</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22960" y="1554480"/>
            <a:ext cx="2743200" cy="1005840"/>
          </a:xfrm>
          <a:prstGeom prst="rect">
            <a:avLst/>
          </a:prstGeom>
          <a:noFill/>
          <a:ln/>
        </p:spPr>
        <p:txBody>
          <a:bodyPr wrap="square" lIns="0" tIns="0" rIns="0" bIns="0" rtlCol="0" anchor="t"/>
          <a:lstStyle/>
          <a:p>
            <a:pPr indent="0" marL="0">
              <a:buNone/>
            </a:pPr>
            <a:r>
              <a:rPr lang="en-US" sz="6000" b="1" dirty="0">
                <a:solidFill>
                  <a:srgbClr val="FF8C99"/>
                </a:solidFill>
              </a:rPr>
              <a:t>01</a:t>
            </a:r>
            <a:endParaRPr lang="en-US" sz="6000" dirty="0"/>
          </a:p>
        </p:txBody>
      </p:sp>
      <p:sp>
        <p:nvSpPr>
          <p:cNvPr id="3" name="Text 1"/>
          <p:cNvSpPr txBox="1"/>
          <p:nvPr/>
        </p:nvSpPr>
        <p:spPr>
          <a:xfrm>
            <a:off x="822960" y="2697480"/>
            <a:ext cx="9144000" cy="365760"/>
          </a:xfrm>
          <a:prstGeom prst="rect">
            <a:avLst/>
          </a:prstGeom>
          <a:noFill/>
          <a:ln/>
        </p:spPr>
        <p:txBody>
          <a:bodyPr wrap="square" lIns="0" tIns="0" rIns="0" bIns="0" rtlCol="0" anchor="t"/>
          <a:lstStyle/>
          <a:p>
            <a:pPr indent="0" marL="0">
              <a:buNone/>
            </a:pPr>
            <a:r>
              <a:rPr lang="en-US" sz="1500" b="1" spc="200" kern="0" dirty="0">
                <a:solidFill>
                  <a:srgbClr val="FF8C99"/>
                </a:solidFill>
              </a:rPr>
              <a:t>INTRODUCTION</a:t>
            </a:r>
            <a:endParaRPr lang="en-US" sz="1500" dirty="0"/>
          </a:p>
        </p:txBody>
      </p:sp>
      <p:sp>
        <p:nvSpPr>
          <p:cNvPr id="4" name="Text 2"/>
          <p:cNvSpPr txBox="1"/>
          <p:nvPr/>
        </p:nvSpPr>
        <p:spPr>
          <a:xfrm>
            <a:off x="822960" y="3108960"/>
            <a:ext cx="10515600" cy="914400"/>
          </a:xfrm>
          <a:prstGeom prst="rect">
            <a:avLst/>
          </a:prstGeom>
          <a:noFill/>
          <a:ln/>
        </p:spPr>
        <p:txBody>
          <a:bodyPr wrap="square" lIns="0" tIns="0" rIns="0" bIns="0" rtlCol="0" anchor="t"/>
          <a:lstStyle/>
          <a:p>
            <a:pPr indent="0" marL="0">
              <a:buNone/>
            </a:pPr>
            <a:r>
              <a:rPr lang="en-US" sz="4400" b="1" dirty="0">
                <a:solidFill>
                  <a:srgbClr val="EEF5FF"/>
                </a:solidFill>
              </a:rPr>
              <a:t>도입</a:t>
            </a:r>
            <a:endParaRPr lang="en-US" sz="4400" dirty="0"/>
          </a:p>
        </p:txBody>
      </p:sp>
      <p:sp>
        <p:nvSpPr>
          <p:cNvPr id="5" name="Shape 3"/>
          <p:cNvSpPr/>
          <p:nvPr/>
        </p:nvSpPr>
        <p:spPr>
          <a:xfrm>
            <a:off x="822960" y="4846320"/>
            <a:ext cx="1298448" cy="457200"/>
          </a:xfrm>
          <a:prstGeom prst="roundRect">
            <a:avLst>
              <a:gd name="adj" fmla="val 50000"/>
            </a:avLst>
          </a:prstGeom>
          <a:solidFill>
            <a:srgbClr val="FF8C99"/>
          </a:solidFill>
          <a:ln w="12700">
            <a:solidFill>
              <a:srgbClr val="FF8C99"/>
            </a:solidFill>
            <a:prstDash val="solid"/>
          </a:ln>
        </p:spPr>
      </p:sp>
      <p:sp>
        <p:nvSpPr>
          <p:cNvPr id="6" name="Text 4"/>
          <p:cNvSpPr txBox="1"/>
          <p:nvPr/>
        </p:nvSpPr>
        <p:spPr>
          <a:xfrm>
            <a:off x="822960" y="4846320"/>
            <a:ext cx="1298448" cy="457200"/>
          </a:xfrm>
          <a:prstGeom prst="rect">
            <a:avLst/>
          </a:prstGeom>
          <a:noFill/>
          <a:ln/>
        </p:spPr>
        <p:txBody>
          <a:bodyPr wrap="square" lIns="0" tIns="0" rIns="0" bIns="0" rtlCol="0" anchor="ctr"/>
          <a:lstStyle/>
          <a:p>
            <a:pPr algn="ctr" indent="0" marL="0">
              <a:buNone/>
            </a:pPr>
            <a:r>
              <a:rPr lang="en-US" sz="1300" b="1" dirty="0">
                <a:solidFill>
                  <a:srgbClr val="040A13"/>
                </a:solidFill>
              </a:rPr>
              <a:t>도입</a:t>
            </a:r>
            <a:endParaRPr lang="en-US" sz="1300" dirty="0"/>
          </a:p>
        </p:txBody>
      </p:sp>
      <p:sp>
        <p:nvSpPr>
          <p:cNvPr id="7" name="Shape 5"/>
          <p:cNvSpPr/>
          <p:nvPr/>
        </p:nvSpPr>
        <p:spPr>
          <a:xfrm>
            <a:off x="2194560" y="4846320"/>
            <a:ext cx="1298448" cy="457200"/>
          </a:xfrm>
          <a:prstGeom prst="roundRect">
            <a:avLst>
              <a:gd name="adj" fmla="val 50000"/>
            </a:avLst>
          </a:prstGeom>
          <a:solidFill>
            <a:srgbClr val="040A13"/>
          </a:solidFill>
          <a:ln w="12700">
            <a:solidFill>
              <a:srgbClr val="2A405B"/>
            </a:solidFill>
            <a:prstDash val="solid"/>
          </a:ln>
        </p:spPr>
      </p:sp>
      <p:sp>
        <p:nvSpPr>
          <p:cNvPr id="8" name="Text 6"/>
          <p:cNvSpPr txBox="1"/>
          <p:nvPr/>
        </p:nvSpPr>
        <p:spPr>
          <a:xfrm>
            <a:off x="2194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객체와 클래스</a:t>
            </a:r>
            <a:endParaRPr lang="en-US" sz="1300" dirty="0"/>
          </a:p>
        </p:txBody>
      </p:sp>
      <p:sp>
        <p:nvSpPr>
          <p:cNvPr id="9" name="Shape 7"/>
          <p:cNvSpPr/>
          <p:nvPr/>
        </p:nvSpPr>
        <p:spPr>
          <a:xfrm>
            <a:off x="3566160" y="4846320"/>
            <a:ext cx="1298448" cy="457200"/>
          </a:xfrm>
          <a:prstGeom prst="roundRect">
            <a:avLst>
              <a:gd name="adj" fmla="val 50000"/>
            </a:avLst>
          </a:prstGeom>
          <a:solidFill>
            <a:srgbClr val="040A13"/>
          </a:solidFill>
          <a:ln w="12700">
            <a:solidFill>
              <a:srgbClr val="2A405B"/>
            </a:solidFill>
            <a:prstDash val="solid"/>
          </a:ln>
        </p:spPr>
      </p:sp>
      <p:sp>
        <p:nvSpPr>
          <p:cNvPr id="10" name="Text 8"/>
          <p:cNvSpPr txBox="1"/>
          <p:nvPr/>
        </p:nvSpPr>
        <p:spPr>
          <a:xfrm>
            <a:off x="3566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캡슐화</a:t>
            </a:r>
            <a:endParaRPr lang="en-US" sz="1300" dirty="0"/>
          </a:p>
        </p:txBody>
      </p:sp>
      <p:sp>
        <p:nvSpPr>
          <p:cNvPr id="11" name="Shape 9"/>
          <p:cNvSpPr/>
          <p:nvPr/>
        </p:nvSpPr>
        <p:spPr>
          <a:xfrm>
            <a:off x="4937760" y="4846320"/>
            <a:ext cx="1298448" cy="457200"/>
          </a:xfrm>
          <a:prstGeom prst="roundRect">
            <a:avLst>
              <a:gd name="adj" fmla="val 50000"/>
            </a:avLst>
          </a:prstGeom>
          <a:solidFill>
            <a:srgbClr val="040A13"/>
          </a:solidFill>
          <a:ln w="12700">
            <a:solidFill>
              <a:srgbClr val="2A405B"/>
            </a:solidFill>
            <a:prstDash val="solid"/>
          </a:ln>
        </p:spPr>
      </p:sp>
      <p:sp>
        <p:nvSpPr>
          <p:cNvPr id="12" name="Text 10"/>
          <p:cNvSpPr txBox="1"/>
          <p:nvPr/>
        </p:nvSpPr>
        <p:spPr>
          <a:xfrm>
            <a:off x="49377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상속</a:t>
            </a:r>
            <a:endParaRPr lang="en-US" sz="1300" dirty="0"/>
          </a:p>
        </p:txBody>
      </p:sp>
      <p:sp>
        <p:nvSpPr>
          <p:cNvPr id="13" name="Shape 11"/>
          <p:cNvSpPr/>
          <p:nvPr/>
        </p:nvSpPr>
        <p:spPr>
          <a:xfrm>
            <a:off x="6309360" y="4846320"/>
            <a:ext cx="1298448" cy="457200"/>
          </a:xfrm>
          <a:prstGeom prst="roundRect">
            <a:avLst>
              <a:gd name="adj" fmla="val 50000"/>
            </a:avLst>
          </a:prstGeom>
          <a:solidFill>
            <a:srgbClr val="040A13"/>
          </a:solidFill>
          <a:ln w="12700">
            <a:solidFill>
              <a:srgbClr val="2A405B"/>
            </a:solidFill>
            <a:prstDash val="solid"/>
          </a:ln>
        </p:spPr>
      </p:sp>
      <p:sp>
        <p:nvSpPr>
          <p:cNvPr id="14" name="Text 12"/>
          <p:cNvSpPr txBox="1"/>
          <p:nvPr/>
        </p:nvSpPr>
        <p:spPr>
          <a:xfrm>
            <a:off x="63093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다형성</a:t>
            </a:r>
            <a:endParaRPr lang="en-US" sz="1300" dirty="0"/>
          </a:p>
        </p:txBody>
      </p:sp>
      <p:sp>
        <p:nvSpPr>
          <p:cNvPr id="15" name="Shape 13"/>
          <p:cNvSpPr/>
          <p:nvPr/>
        </p:nvSpPr>
        <p:spPr>
          <a:xfrm>
            <a:off x="7680960" y="4846320"/>
            <a:ext cx="1298448" cy="457200"/>
          </a:xfrm>
          <a:prstGeom prst="roundRect">
            <a:avLst>
              <a:gd name="adj" fmla="val 50000"/>
            </a:avLst>
          </a:prstGeom>
          <a:solidFill>
            <a:srgbClr val="040A13"/>
          </a:solidFill>
          <a:ln w="12700">
            <a:solidFill>
              <a:srgbClr val="2A405B"/>
            </a:solidFill>
            <a:prstDash val="solid"/>
          </a:ln>
        </p:spPr>
      </p:sp>
      <p:sp>
        <p:nvSpPr>
          <p:cNvPr id="16" name="Text 14"/>
          <p:cNvSpPr txBox="1"/>
          <p:nvPr/>
        </p:nvSpPr>
        <p:spPr>
          <a:xfrm>
            <a:off x="7680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추상화</a:t>
            </a:r>
            <a:endParaRPr lang="en-US" sz="1300" dirty="0"/>
          </a:p>
        </p:txBody>
      </p:sp>
      <p:sp>
        <p:nvSpPr>
          <p:cNvPr id="17" name="Shape 15"/>
          <p:cNvSpPr/>
          <p:nvPr/>
        </p:nvSpPr>
        <p:spPr>
          <a:xfrm>
            <a:off x="9052560" y="4846320"/>
            <a:ext cx="1298448" cy="457200"/>
          </a:xfrm>
          <a:prstGeom prst="roundRect">
            <a:avLst>
              <a:gd name="adj" fmla="val 50000"/>
            </a:avLst>
          </a:prstGeom>
          <a:solidFill>
            <a:srgbClr val="040A13"/>
          </a:solidFill>
          <a:ln w="12700">
            <a:solidFill>
              <a:srgbClr val="2A405B"/>
            </a:solidFill>
            <a:prstDash val="solid"/>
          </a:ln>
        </p:spPr>
      </p:sp>
      <p:sp>
        <p:nvSpPr>
          <p:cNvPr id="18" name="Text 16"/>
          <p:cNvSpPr txBox="1"/>
          <p:nvPr/>
        </p:nvSpPr>
        <p:spPr>
          <a:xfrm>
            <a:off x="9052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실습</a:t>
            </a:r>
            <a:endParaRPr lang="en-US" sz="1300" dirty="0"/>
          </a:p>
        </p:txBody>
      </p:sp>
      <p:sp>
        <p:nvSpPr>
          <p:cNvPr id="19" name="Shape 17"/>
          <p:cNvSpPr/>
          <p:nvPr/>
        </p:nvSpPr>
        <p:spPr>
          <a:xfrm>
            <a:off x="10424160" y="4846320"/>
            <a:ext cx="1298448" cy="457200"/>
          </a:xfrm>
          <a:prstGeom prst="roundRect">
            <a:avLst>
              <a:gd name="adj" fmla="val 50000"/>
            </a:avLst>
          </a:prstGeom>
          <a:solidFill>
            <a:srgbClr val="040A13"/>
          </a:solidFill>
          <a:ln w="12700">
            <a:solidFill>
              <a:srgbClr val="2A405B"/>
            </a:solidFill>
            <a:prstDash val="solid"/>
          </a:ln>
        </p:spPr>
      </p:sp>
      <p:sp>
        <p:nvSpPr>
          <p:cNvPr id="20" name="Text 18"/>
          <p:cNvSpPr txBox="1"/>
          <p:nvPr/>
        </p:nvSpPr>
        <p:spPr>
          <a:xfrm>
            <a:off x="10424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마무리</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FF8C99"/>
          </a:solidFill>
          <a:ln w="12700">
            <a:solidFill>
              <a:srgbClr val="FF8C99"/>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FF8C99"/>
                </a:solidFill>
              </a:rPr>
              <a:t>PROCEDURAL CODE</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배열로 관리하는 유닛</a:t>
            </a:r>
            <a:endParaRPr lang="en-US" sz="2800" dirty="0"/>
          </a:p>
        </p:txBody>
      </p:sp>
      <p:sp>
        <p:nvSpPr>
          <p:cNvPr id="6" name="Shape 3"/>
          <p:cNvSpPr/>
          <p:nvPr/>
        </p:nvSpPr>
        <p:spPr>
          <a:xfrm>
            <a:off x="548640" y="1783080"/>
            <a:ext cx="6949440" cy="3337560"/>
          </a:xfrm>
          <a:prstGeom prst="roundRect">
            <a:avLst>
              <a:gd name="adj" fmla="val 2192"/>
            </a:avLst>
          </a:prstGeom>
          <a:solidFill>
            <a:srgbClr val="040A13"/>
          </a:solidFill>
          <a:ln w="12700">
            <a:solidFill>
              <a:srgbClr val="2A405B"/>
            </a:solidFill>
            <a:prstDash val="solid"/>
          </a:ln>
        </p:spPr>
      </p:sp>
      <p:sp>
        <p:nvSpPr>
          <p:cNvPr id="7" name="Text 4"/>
          <p:cNvSpPr txBox="1"/>
          <p:nvPr/>
        </p:nvSpPr>
        <p:spPr>
          <a:xfrm>
            <a:off x="731520" y="1965960"/>
            <a:ext cx="6583680" cy="297180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static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string</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_names = { </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"검사"</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"궁수"</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static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_hps = {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30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20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static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_attackPowers = {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6</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4</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static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Attack(</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attacker,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target)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_hps[target] -= _attackPowers[attacker];</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Attack(</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1</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검사가 궁수를 공격한다</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863840" y="1783080"/>
          <a:ext cx="3749040" cy="914400"/>
        </p:xfrm>
        <a:graphic>
          <a:graphicData uri="http://schemas.openxmlformats.org/drawingml/2006/table">
            <a:tbl>
              <a:tblPr/>
              <a:tblGrid>
                <a:gridCol w="1463040"/>
                <a:gridCol w="1143000"/>
                <a:gridCol w="1143000"/>
              </a:tblGrid>
              <a:tr h="502920">
                <a:tc>
                  <a:txBody>
                    <a:bodyPr/>
                    <a:lstStyle/>
                    <a:p>
                      <a:pPr indent="0" marL="0">
                        <a:buNone/>
                      </a:pPr>
                      <a:endParaRPr lang="en-US" sz="14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400" b="1" dirty="0">
                          <a:solidFill>
                            <a:srgbClr val="AFBED1"/>
                          </a:solidFill>
                        </a:rPr>
                        <a:t>인덱스 0</a:t>
                      </a:r>
                      <a:endParaRPr lang="en-US" sz="14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400" b="1" dirty="0">
                          <a:solidFill>
                            <a:srgbClr val="AFBED1"/>
                          </a:solidFill>
                        </a:rPr>
                        <a:t>인덱스 1</a:t>
                      </a:r>
                      <a:endParaRPr lang="en-US" sz="14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r>
              <a:tr h="502920">
                <a:tc>
                  <a:txBody>
                    <a:bodyPr/>
                    <a:lstStyle/>
                    <a:p>
                      <a:pPr indent="0" marL="0">
                        <a:buNone/>
                      </a:pPr>
                      <a:r>
                        <a:rPr lang="en-US" sz="1400" dirty="0">
                          <a:solidFill>
                            <a:srgbClr val="EEF5FF"/>
                          </a:solidFill>
                        </a:rPr>
                        <a:t>_names</a:t>
                      </a:r>
                      <a:endParaRPr lang="en-US" sz="14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400" dirty="0">
                          <a:solidFill>
                            <a:srgbClr val="EEF5FF"/>
                          </a:solidFill>
                        </a:rPr>
                        <a:t>검사</a:t>
                      </a:r>
                      <a:endParaRPr lang="en-US" sz="14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400" dirty="0">
                          <a:solidFill>
                            <a:srgbClr val="EEF5FF"/>
                          </a:solidFill>
                        </a:rPr>
                        <a:t>궁수</a:t>
                      </a:r>
                      <a:endParaRPr lang="en-US" sz="14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502920">
                <a:tc>
                  <a:txBody>
                    <a:bodyPr/>
                    <a:lstStyle/>
                    <a:p>
                      <a:pPr indent="0" marL="0">
                        <a:buNone/>
                      </a:pPr>
                      <a:r>
                        <a:rPr lang="en-US" sz="1400" dirty="0">
                          <a:solidFill>
                            <a:srgbClr val="EEF5FF"/>
                          </a:solidFill>
                        </a:rPr>
                        <a:t>_hps</a:t>
                      </a:r>
                      <a:endParaRPr lang="en-US" sz="14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400" dirty="0">
                          <a:solidFill>
                            <a:srgbClr val="EEF5FF"/>
                          </a:solidFill>
                        </a:rPr>
                        <a:t>30</a:t>
                      </a:r>
                      <a:endParaRPr lang="en-US" sz="14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400" b="1" dirty="0">
                          <a:solidFill>
                            <a:srgbClr val="FFD16F"/>
                          </a:solidFill>
                        </a:rPr>
                        <a:t>20 → 14</a:t>
                      </a:r>
                      <a:endParaRPr lang="en-US" sz="14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502920">
                <a:tc>
                  <a:txBody>
                    <a:bodyPr/>
                    <a:lstStyle/>
                    <a:p>
                      <a:pPr indent="0" marL="0">
                        <a:buNone/>
                      </a:pPr>
                      <a:r>
                        <a:rPr lang="en-US" sz="1400" dirty="0">
                          <a:solidFill>
                            <a:srgbClr val="EEF5FF"/>
                          </a:solidFill>
                        </a:rPr>
                        <a:t>_attackPowers</a:t>
                      </a:r>
                      <a:endParaRPr lang="en-US" sz="14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400" dirty="0">
                          <a:solidFill>
                            <a:srgbClr val="EEF5FF"/>
                          </a:solidFill>
                        </a:rPr>
                        <a:t>6</a:t>
                      </a:r>
                      <a:endParaRPr lang="en-US" sz="14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400" dirty="0">
                          <a:solidFill>
                            <a:srgbClr val="EEF5FF"/>
                          </a:solidFill>
                        </a:rPr>
                        <a:t>4</a:t>
                      </a:r>
                      <a:endParaRPr lang="en-US" sz="14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bl>
          </a:graphicData>
        </a:graphic>
      </p:graphicFrame>
      <p:sp>
        <p:nvSpPr>
          <p:cNvPr id="9" name="Shape 5"/>
          <p:cNvSpPr/>
          <p:nvPr/>
        </p:nvSpPr>
        <p:spPr>
          <a:xfrm>
            <a:off x="7863840" y="4023360"/>
            <a:ext cx="3749040" cy="1691640"/>
          </a:xfrm>
          <a:prstGeom prst="roundRect">
            <a:avLst>
              <a:gd name="adj" fmla="val 6486"/>
            </a:avLst>
          </a:prstGeom>
          <a:solidFill>
            <a:srgbClr val="10233A"/>
          </a:solidFill>
          <a:ln w="12700">
            <a:solidFill>
              <a:srgbClr val="2A405B"/>
            </a:solidFill>
            <a:prstDash val="solid"/>
          </a:ln>
        </p:spPr>
      </p:sp>
      <p:sp>
        <p:nvSpPr>
          <p:cNvPr id="10" name="Text 6"/>
          <p:cNvSpPr txBox="1"/>
          <p:nvPr/>
        </p:nvSpPr>
        <p:spPr>
          <a:xfrm>
            <a:off x="8092440" y="4251960"/>
            <a:ext cx="3291840" cy="346329"/>
          </a:xfrm>
          <a:prstGeom prst="rect">
            <a:avLst/>
          </a:prstGeom>
          <a:noFill/>
          <a:ln/>
        </p:spPr>
        <p:txBody>
          <a:bodyPr wrap="square" lIns="0" tIns="0" rIns="0" bIns="0" rtlCol="0" anchor="t"/>
          <a:lstStyle/>
          <a:p>
            <a:pPr indent="0" marL="0">
              <a:buNone/>
            </a:pPr>
            <a:r>
              <a:rPr lang="en-US" sz="1700" b="1" dirty="0">
                <a:solidFill>
                  <a:srgbClr val="FFD16F"/>
                </a:solidFill>
                <a:latin typeface="Consolas" pitchFamily="34" charset="0"/>
                <a:ea typeface="Consolas" pitchFamily="34" charset="-122"/>
                <a:cs typeface="Consolas" pitchFamily="34" charset="-120"/>
              </a:rPr>
              <a:t>Attack(0, 1)</a:t>
            </a:r>
            <a:endParaRPr lang="en-US" sz="1700" dirty="0"/>
          </a:p>
        </p:txBody>
      </p:sp>
      <p:sp>
        <p:nvSpPr>
          <p:cNvPr id="11" name="Text 7"/>
          <p:cNvSpPr txBox="1"/>
          <p:nvPr/>
        </p:nvSpPr>
        <p:spPr>
          <a:xfrm>
            <a:off x="8092440" y="4671441"/>
            <a:ext cx="3291840" cy="90639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검사(0)의 공격력 6만큼 궁수(1)의 HP가 줄어듭니다.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FF8C99"/>
          </a:solidFill>
          <a:ln w="12700">
            <a:solidFill>
              <a:srgbClr val="FF8C99"/>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FF8C99"/>
                </a:solidFill>
              </a:rPr>
              <a:t>PROCEDURAL CODE</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유닛과 기능이 늘어난 경우</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772400" cy="914400"/>
        </p:xfrm>
        <a:graphic>
          <a:graphicData uri="http://schemas.openxmlformats.org/drawingml/2006/table">
            <a:tbl>
              <a:tblPr/>
              <a:tblGrid>
                <a:gridCol w="2103120"/>
                <a:gridCol w="1417320"/>
                <a:gridCol w="1417320"/>
                <a:gridCol w="1417320"/>
                <a:gridCol w="1417320"/>
              </a:tblGrid>
              <a:tr h="512064">
                <a:tc>
                  <a:txBody>
                    <a:bodyPr/>
                    <a:lstStyle/>
                    <a:p>
                      <a:pPr indent="0" marL="0">
                        <a:buNone/>
                      </a:pPr>
                      <a:r>
                        <a:rPr lang="en-US" sz="1500" b="1" dirty="0">
                          <a:solidFill>
                            <a:srgbClr val="AFBED1"/>
                          </a:solidFill>
                        </a:rPr>
                        <a:t>배열</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500" b="1" dirty="0">
                          <a:solidFill>
                            <a:srgbClr val="AFBED1"/>
                          </a:solidFill>
                        </a:rPr>
                        <a:t>0 · 검사</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500" b="1" dirty="0">
                          <a:solidFill>
                            <a:srgbClr val="AFBED1"/>
                          </a:solidFill>
                        </a:rPr>
                        <a:t>1 · 창병</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500" b="1" dirty="0">
                          <a:solidFill>
                            <a:srgbClr val="AFBED1"/>
                          </a:solidFill>
                        </a:rPr>
                        <a:t>2 · 궁수</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500" b="1" dirty="0">
                          <a:solidFill>
                            <a:srgbClr val="AFBED1"/>
                          </a:solidFill>
                        </a:rPr>
                        <a:t>3 · 힐러</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r>
              <a:tr h="512064">
                <a:tc>
                  <a:txBody>
                    <a:bodyPr/>
                    <a:lstStyle/>
                    <a:p>
                      <a:pPr indent="0" marL="0">
                        <a:buNone/>
                      </a:pPr>
                      <a:r>
                        <a:rPr lang="en-US" sz="1500" dirty="0">
                          <a:solidFill>
                            <a:srgbClr val="55E4CF"/>
                          </a:solidFill>
                          <a:latin typeface="Consolas" pitchFamily="34" charset="0"/>
                          <a:ea typeface="Consolas" pitchFamily="34" charset="-122"/>
                          <a:cs typeface="Consolas" pitchFamily="34" charset="-120"/>
                        </a:rPr>
                        <a:t>_names</a:t>
                      </a:r>
                      <a:endParaRPr lang="en-US" sz="15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검사</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창병</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b="1" dirty="0">
                          <a:solidFill>
                            <a:srgbClr val="FFD16F"/>
                          </a:solidFill>
                        </a:rPr>
                        <a:t>궁수</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3A3420"/>
                    </a:solidFill>
                  </a:tcPr>
                </a:tc>
                <a:tc>
                  <a:txBody>
                    <a:bodyPr/>
                    <a:lstStyle/>
                    <a:p>
                      <a:pPr indent="0" marL="0">
                        <a:buNone/>
                      </a:pPr>
                      <a:r>
                        <a:rPr lang="en-US" sz="1500" dirty="0">
                          <a:solidFill>
                            <a:srgbClr val="EEF5FF"/>
                          </a:solidFill>
                        </a:rPr>
                        <a:t>힐러</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512064">
                <a:tc>
                  <a:txBody>
                    <a:bodyPr/>
                    <a:lstStyle/>
                    <a:p>
                      <a:pPr indent="0" marL="0">
                        <a:buNone/>
                      </a:pPr>
                      <a:r>
                        <a:rPr lang="en-US" sz="1500" dirty="0">
                          <a:solidFill>
                            <a:srgbClr val="55E4CF"/>
                          </a:solidFill>
                          <a:latin typeface="Consolas" pitchFamily="34" charset="0"/>
                          <a:ea typeface="Consolas" pitchFamily="34" charset="-122"/>
                          <a:cs typeface="Consolas" pitchFamily="34" charset="-120"/>
                        </a:rPr>
                        <a:t>_hps</a:t>
                      </a:r>
                      <a:endParaRPr lang="en-US" sz="15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30</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28</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b="1" dirty="0">
                          <a:solidFill>
                            <a:srgbClr val="FFD16F"/>
                          </a:solidFill>
                        </a:rPr>
                        <a:t>20</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3A3420"/>
                    </a:solidFill>
                  </a:tcPr>
                </a:tc>
                <a:tc>
                  <a:txBody>
                    <a:bodyPr/>
                    <a:lstStyle/>
                    <a:p>
                      <a:pPr indent="0" marL="0">
                        <a:buNone/>
                      </a:pPr>
                      <a:r>
                        <a:rPr lang="en-US" sz="1500" dirty="0">
                          <a:solidFill>
                            <a:srgbClr val="EEF5FF"/>
                          </a:solidFill>
                        </a:rPr>
                        <a:t>18</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512064">
                <a:tc>
                  <a:txBody>
                    <a:bodyPr/>
                    <a:lstStyle/>
                    <a:p>
                      <a:pPr indent="0" marL="0">
                        <a:buNone/>
                      </a:pPr>
                      <a:r>
                        <a:rPr lang="en-US" sz="1500" dirty="0">
                          <a:solidFill>
                            <a:srgbClr val="55E4CF"/>
                          </a:solidFill>
                          <a:latin typeface="Consolas" pitchFamily="34" charset="0"/>
                          <a:ea typeface="Consolas" pitchFamily="34" charset="-122"/>
                          <a:cs typeface="Consolas" pitchFamily="34" charset="-120"/>
                        </a:rPr>
                        <a:t>_maxHps</a:t>
                      </a:r>
                      <a:endParaRPr lang="en-US" sz="15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30</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28</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b="1" dirty="0">
                          <a:solidFill>
                            <a:srgbClr val="FFD16F"/>
                          </a:solidFill>
                        </a:rPr>
                        <a:t>20</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3A3420"/>
                    </a:solidFill>
                  </a:tcPr>
                </a:tc>
                <a:tc>
                  <a:txBody>
                    <a:bodyPr/>
                    <a:lstStyle/>
                    <a:p>
                      <a:pPr indent="0" marL="0">
                        <a:buNone/>
                      </a:pPr>
                      <a:r>
                        <a:rPr lang="en-US" sz="1500" dirty="0">
                          <a:solidFill>
                            <a:srgbClr val="EEF5FF"/>
                          </a:solidFill>
                        </a:rPr>
                        <a:t>18</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512064">
                <a:tc>
                  <a:txBody>
                    <a:bodyPr/>
                    <a:lstStyle/>
                    <a:p>
                      <a:pPr indent="0" marL="0">
                        <a:buNone/>
                      </a:pPr>
                      <a:r>
                        <a:rPr lang="en-US" sz="1500" dirty="0">
                          <a:solidFill>
                            <a:srgbClr val="55E4CF"/>
                          </a:solidFill>
                          <a:latin typeface="Consolas" pitchFamily="34" charset="0"/>
                          <a:ea typeface="Consolas" pitchFamily="34" charset="-122"/>
                          <a:cs typeface="Consolas" pitchFamily="34" charset="-120"/>
                        </a:rPr>
                        <a:t>_attackPowers</a:t>
                      </a:r>
                      <a:endParaRPr lang="en-US" sz="15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6</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5</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b="1" dirty="0">
                          <a:solidFill>
                            <a:srgbClr val="FFD16F"/>
                          </a:solidFill>
                        </a:rPr>
                        <a:t>4</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3A3420"/>
                    </a:solidFill>
                  </a:tcPr>
                </a:tc>
                <a:tc>
                  <a:txBody>
                    <a:bodyPr/>
                    <a:lstStyle/>
                    <a:p>
                      <a:pPr indent="0" marL="0">
                        <a:buNone/>
                      </a:pPr>
                      <a:r>
                        <a:rPr lang="en-US" sz="1500" dirty="0">
                          <a:solidFill>
                            <a:srgbClr val="EEF5FF"/>
                          </a:solidFill>
                        </a:rPr>
                        <a:t>2</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512064">
                <a:tc>
                  <a:txBody>
                    <a:bodyPr/>
                    <a:lstStyle/>
                    <a:p>
                      <a:pPr indent="0" marL="0">
                        <a:buNone/>
                      </a:pPr>
                      <a:r>
                        <a:rPr lang="en-US" sz="1500" dirty="0">
                          <a:solidFill>
                            <a:srgbClr val="55E4CF"/>
                          </a:solidFill>
                          <a:latin typeface="Consolas" pitchFamily="34" charset="0"/>
                          <a:ea typeface="Consolas" pitchFamily="34" charset="-122"/>
                          <a:cs typeface="Consolas" pitchFamily="34" charset="-120"/>
                        </a:rPr>
                        <a:t>_ranges</a:t>
                      </a:r>
                      <a:endParaRPr lang="en-US" sz="15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1</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1</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b="1" dirty="0">
                          <a:solidFill>
                            <a:srgbClr val="FFD16F"/>
                          </a:solidFill>
                        </a:rPr>
                        <a:t>3</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3A3420"/>
                    </a:solidFill>
                  </a:tcPr>
                </a:tc>
                <a:tc>
                  <a:txBody>
                    <a:bodyPr/>
                    <a:lstStyle/>
                    <a:p>
                      <a:pPr indent="0" marL="0">
                        <a:buNone/>
                      </a:pPr>
                      <a:r>
                        <a:rPr lang="en-US" sz="1500" dirty="0">
                          <a:solidFill>
                            <a:srgbClr val="EEF5FF"/>
                          </a:solidFill>
                        </a:rPr>
                        <a:t>2</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512064">
                <a:tc>
                  <a:txBody>
                    <a:bodyPr/>
                    <a:lstStyle/>
                    <a:p>
                      <a:pPr indent="0" marL="0">
                        <a:buNone/>
                      </a:pPr>
                      <a:r>
                        <a:rPr lang="en-US" sz="1500" dirty="0">
                          <a:solidFill>
                            <a:srgbClr val="55E4CF"/>
                          </a:solidFill>
                          <a:latin typeface="Consolas" pitchFamily="34" charset="0"/>
                          <a:ea typeface="Consolas" pitchFamily="34" charset="-122"/>
                          <a:cs typeface="Consolas" pitchFamily="34" charset="-120"/>
                        </a:rPr>
                        <a:t>_skillTypes</a:t>
                      </a:r>
                      <a:endParaRPr lang="en-US" sz="15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강타</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강타</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b="1" dirty="0">
                          <a:solidFill>
                            <a:srgbClr val="FFD16F"/>
                          </a:solidFill>
                        </a:rPr>
                        <a:t>없음</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3A3420"/>
                    </a:solidFill>
                  </a:tcPr>
                </a:tc>
                <a:tc>
                  <a:txBody>
                    <a:bodyPr/>
                    <a:lstStyle/>
                    <a:p>
                      <a:pPr indent="0" marL="0">
                        <a:buNone/>
                      </a:pPr>
                      <a:r>
                        <a:rPr lang="en-US" sz="1500" dirty="0">
                          <a:solidFill>
                            <a:srgbClr val="EEF5FF"/>
                          </a:solidFill>
                        </a:rPr>
                        <a:t>치유</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512064">
                <a:tc>
                  <a:txBody>
                    <a:bodyPr/>
                    <a:lstStyle/>
                    <a:p>
                      <a:pPr indent="0" marL="0">
                        <a:buNone/>
                      </a:pPr>
                      <a:r>
                        <a:rPr lang="en-US" sz="1500" dirty="0">
                          <a:solidFill>
                            <a:srgbClr val="55E4CF"/>
                          </a:solidFill>
                          <a:latin typeface="Consolas" pitchFamily="34" charset="0"/>
                          <a:ea typeface="Consolas" pitchFamily="34" charset="-122"/>
                          <a:cs typeface="Consolas" pitchFamily="34" charset="-120"/>
                        </a:rPr>
                        <a:t>_effectTypes</a:t>
                      </a:r>
                      <a:endParaRPr lang="en-US" sz="15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없음</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EEF5FF"/>
                          </a:solidFill>
                        </a:rPr>
                        <a:t>독</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b="1" dirty="0">
                          <a:solidFill>
                            <a:srgbClr val="FFD16F"/>
                          </a:solidFill>
                        </a:rPr>
                        <a:t>없음</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3A3420"/>
                    </a:solidFill>
                  </a:tcPr>
                </a:tc>
                <a:tc>
                  <a:txBody>
                    <a:bodyPr/>
                    <a:lstStyle/>
                    <a:p>
                      <a:pPr indent="0" marL="0">
                        <a:buNone/>
                      </a:pPr>
                      <a:r>
                        <a:rPr lang="en-US" sz="1500" dirty="0">
                          <a:solidFill>
                            <a:srgbClr val="EEF5FF"/>
                          </a:solidFill>
                        </a:rPr>
                        <a:t>재생</a:t>
                      </a:r>
                      <a:endParaRPr lang="en-US" sz="15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bl>
          </a:graphicData>
        </a:graphic>
      </p:graphicFrame>
      <p:sp>
        <p:nvSpPr>
          <p:cNvPr id="7" name="Shape 3"/>
          <p:cNvSpPr/>
          <p:nvPr/>
        </p:nvSpPr>
        <p:spPr>
          <a:xfrm>
            <a:off x="8686800" y="1783080"/>
            <a:ext cx="2926080" cy="1965960"/>
          </a:xfrm>
          <a:prstGeom prst="roundRect">
            <a:avLst>
              <a:gd name="adj" fmla="val 5581"/>
            </a:avLst>
          </a:prstGeom>
          <a:solidFill>
            <a:srgbClr val="10233A"/>
          </a:solidFill>
          <a:ln w="12700">
            <a:solidFill>
              <a:srgbClr val="2A405B"/>
            </a:solidFill>
            <a:prstDash val="solid"/>
          </a:ln>
        </p:spPr>
      </p:sp>
      <p:sp>
        <p:nvSpPr>
          <p:cNvPr id="8" name="Text 4"/>
          <p:cNvSpPr txBox="1"/>
          <p:nvPr/>
        </p:nvSpPr>
        <p:spPr>
          <a:xfrm>
            <a:off x="8915400" y="2011680"/>
            <a:ext cx="2468880" cy="346329"/>
          </a:xfrm>
          <a:prstGeom prst="rect">
            <a:avLst/>
          </a:prstGeom>
          <a:noFill/>
          <a:ln/>
        </p:spPr>
        <p:txBody>
          <a:bodyPr wrap="square" lIns="0" tIns="0" rIns="0" bIns="0" rtlCol="0" anchor="t"/>
          <a:lstStyle/>
          <a:p>
            <a:pPr indent="0" marL="0">
              <a:buNone/>
            </a:pPr>
            <a:r>
              <a:rPr lang="en-US" sz="1700" b="1" dirty="0">
                <a:solidFill>
                  <a:srgbClr val="FFD16F"/>
                </a:solidFill>
              </a:rPr>
              <a:t>흩어진 정보</a:t>
            </a:r>
            <a:endParaRPr lang="en-US" sz="1700" dirty="0"/>
          </a:p>
        </p:txBody>
      </p:sp>
      <p:sp>
        <p:nvSpPr>
          <p:cNvPr id="9" name="Text 5"/>
          <p:cNvSpPr txBox="1"/>
          <p:nvPr/>
        </p:nvSpPr>
        <p:spPr>
          <a:xfrm>
            <a:off x="8915400" y="2431161"/>
            <a:ext cx="2468880" cy="118071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궁수 한 명의 정보가 배열 7개에 나뉘어 있습니다.</a:t>
            </a:r>
            <a:endParaRPr lang="en-US" sz="1400" dirty="0"/>
          </a:p>
        </p:txBody>
      </p:sp>
      <p:sp>
        <p:nvSpPr>
          <p:cNvPr id="10" name="Shape 6"/>
          <p:cNvSpPr/>
          <p:nvPr/>
        </p:nvSpPr>
        <p:spPr>
          <a:xfrm>
            <a:off x="8686800" y="3931920"/>
            <a:ext cx="2926080" cy="1965960"/>
          </a:xfrm>
          <a:prstGeom prst="roundRect">
            <a:avLst>
              <a:gd name="adj" fmla="val 5581"/>
            </a:avLst>
          </a:prstGeom>
          <a:solidFill>
            <a:srgbClr val="10233A"/>
          </a:solidFill>
          <a:ln w="12700">
            <a:solidFill>
              <a:srgbClr val="2A405B"/>
            </a:solidFill>
            <a:prstDash val="solid"/>
          </a:ln>
        </p:spPr>
      </p:sp>
      <p:sp>
        <p:nvSpPr>
          <p:cNvPr id="11" name="Text 7"/>
          <p:cNvSpPr txBox="1"/>
          <p:nvPr/>
        </p:nvSpPr>
        <p:spPr>
          <a:xfrm>
            <a:off x="8915400" y="4160520"/>
            <a:ext cx="2468880" cy="346329"/>
          </a:xfrm>
          <a:prstGeom prst="rect">
            <a:avLst/>
          </a:prstGeom>
          <a:noFill/>
          <a:ln/>
        </p:spPr>
        <p:txBody>
          <a:bodyPr wrap="square" lIns="0" tIns="0" rIns="0" bIns="0" rtlCol="0" anchor="t"/>
          <a:lstStyle/>
          <a:p>
            <a:pPr indent="0" marL="0">
              <a:buNone/>
            </a:pPr>
            <a:r>
              <a:rPr lang="en-US" sz="1700" b="1" dirty="0">
                <a:solidFill>
                  <a:srgbClr val="FF8C99"/>
                </a:solidFill>
              </a:rPr>
              <a:t>삭제</a:t>
            </a:r>
            <a:endParaRPr lang="en-US" sz="1700" dirty="0"/>
          </a:p>
        </p:txBody>
      </p:sp>
      <p:sp>
        <p:nvSpPr>
          <p:cNvPr id="12" name="Text 8"/>
          <p:cNvSpPr txBox="1"/>
          <p:nvPr/>
        </p:nvSpPr>
        <p:spPr>
          <a:xfrm>
            <a:off x="8915400" y="4580001"/>
            <a:ext cx="2468880" cy="118071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유닛 하나를 지우면 배열 7개를 모두 고쳐야 합니다.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FF8C99"/>
          </a:solidFill>
          <a:ln w="12700">
            <a:solidFill>
              <a:srgbClr val="FF8C99"/>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FF8C99"/>
                </a:solidFill>
              </a:rPr>
              <a:t>PROBLEMS</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절차적 코드의 세 가지 문제</a:t>
            </a:r>
            <a:endParaRPr lang="en-US" sz="2800" dirty="0"/>
          </a:p>
        </p:txBody>
      </p:sp>
      <p:sp>
        <p:nvSpPr>
          <p:cNvPr id="6" name="Shape 3"/>
          <p:cNvSpPr/>
          <p:nvPr/>
        </p:nvSpPr>
        <p:spPr>
          <a:xfrm>
            <a:off x="548640" y="1783080"/>
            <a:ext cx="3520440" cy="2834640"/>
          </a:xfrm>
          <a:prstGeom prst="roundRect">
            <a:avLst>
              <a:gd name="adj" fmla="val 3871"/>
            </a:avLst>
          </a:prstGeom>
          <a:solidFill>
            <a:srgbClr val="10233A"/>
          </a:solidFill>
          <a:ln w="12700">
            <a:solidFill>
              <a:srgbClr val="2A405B"/>
            </a:solidFill>
            <a:prstDash val="solid"/>
          </a:ln>
        </p:spPr>
      </p:sp>
      <p:sp>
        <p:nvSpPr>
          <p:cNvPr id="7" name="Shape 4"/>
          <p:cNvSpPr/>
          <p:nvPr/>
        </p:nvSpPr>
        <p:spPr>
          <a:xfrm>
            <a:off x="777240" y="2011680"/>
            <a:ext cx="457200" cy="457200"/>
          </a:xfrm>
          <a:prstGeom prst="ellipse">
            <a:avLst/>
          </a:prstGeom>
          <a:solidFill>
            <a:srgbClr val="FF8C99"/>
          </a:solidFill>
          <a:ln w="12700">
            <a:solidFill>
              <a:srgbClr val="FF8C99"/>
            </a:solidFill>
            <a:prstDash val="solid"/>
          </a:ln>
        </p:spPr>
      </p:sp>
      <p:sp>
        <p:nvSpPr>
          <p:cNvPr id="8" name="Text 5"/>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600" b="1" dirty="0">
                <a:solidFill>
                  <a:srgbClr val="040A13"/>
                </a:solidFill>
              </a:rPr>
              <a:t>1</a:t>
            </a:r>
            <a:endParaRPr lang="en-US" sz="1600" dirty="0"/>
          </a:p>
        </p:txBody>
      </p:sp>
      <p:sp>
        <p:nvSpPr>
          <p:cNvPr id="9" name="Text 6"/>
          <p:cNvSpPr txBox="1"/>
          <p:nvPr/>
        </p:nvSpPr>
        <p:spPr>
          <a:xfrm>
            <a:off x="777240" y="2651760"/>
            <a:ext cx="3108960" cy="411480"/>
          </a:xfrm>
          <a:prstGeom prst="rect">
            <a:avLst/>
          </a:prstGeom>
          <a:noFill/>
          <a:ln/>
        </p:spPr>
        <p:txBody>
          <a:bodyPr wrap="square" lIns="0" tIns="0" rIns="0" bIns="0" rtlCol="0" anchor="t"/>
          <a:lstStyle/>
          <a:p>
            <a:pPr indent="0" marL="0">
              <a:buNone/>
            </a:pPr>
            <a:r>
              <a:rPr lang="en-US" sz="1800" b="1" dirty="0">
                <a:solidFill>
                  <a:srgbClr val="EEF5FF"/>
                </a:solidFill>
              </a:rPr>
              <a:t>정보가 흩어져 있다</a:t>
            </a:r>
            <a:endParaRPr lang="en-US" sz="1800" dirty="0"/>
          </a:p>
        </p:txBody>
      </p:sp>
      <p:sp>
        <p:nvSpPr>
          <p:cNvPr id="10" name="Text 7"/>
          <p:cNvSpPr txBox="1"/>
          <p:nvPr/>
        </p:nvSpPr>
        <p:spPr>
          <a:xfrm>
            <a:off x="777240" y="3154680"/>
            <a:ext cx="3108960" cy="1371600"/>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인덱스가 하나만 어긋나도 다른 유닛의 값을 읽습니다.</a:t>
            </a:r>
            <a:endParaRPr lang="en-US" sz="1400" dirty="0"/>
          </a:p>
        </p:txBody>
      </p:sp>
      <p:sp>
        <p:nvSpPr>
          <p:cNvPr id="11" name="Shape 8"/>
          <p:cNvSpPr/>
          <p:nvPr/>
        </p:nvSpPr>
        <p:spPr>
          <a:xfrm>
            <a:off x="2308860" y="4663440"/>
            <a:ext cx="914" cy="457200"/>
          </a:xfrm>
          <a:prstGeom prst="line">
            <a:avLst/>
          </a:prstGeom>
          <a:noFill/>
          <a:ln w="25400">
            <a:solidFill>
              <a:srgbClr val="AFBED1"/>
            </a:solidFill>
            <a:prstDash val="solid"/>
            <a:tailEnd type="triangle"/>
          </a:ln>
        </p:spPr>
      </p:sp>
      <p:sp>
        <p:nvSpPr>
          <p:cNvPr id="12" name="Shape 9"/>
          <p:cNvSpPr/>
          <p:nvPr/>
        </p:nvSpPr>
        <p:spPr>
          <a:xfrm>
            <a:off x="822960" y="5212080"/>
            <a:ext cx="2971800" cy="502920"/>
          </a:xfrm>
          <a:prstGeom prst="roundRect">
            <a:avLst>
              <a:gd name="adj" fmla="val 50000"/>
            </a:avLst>
          </a:prstGeom>
          <a:solidFill>
            <a:srgbClr val="55E4CF"/>
          </a:solidFill>
          <a:ln w="12700">
            <a:solidFill>
              <a:srgbClr val="55E4CF"/>
            </a:solidFill>
            <a:prstDash val="solid"/>
          </a:ln>
        </p:spPr>
      </p:sp>
      <p:sp>
        <p:nvSpPr>
          <p:cNvPr id="13" name="Text 10"/>
          <p:cNvSpPr txBox="1"/>
          <p:nvPr/>
        </p:nvSpPr>
        <p:spPr>
          <a:xfrm>
            <a:off x="822960" y="5212080"/>
            <a:ext cx="2971800" cy="502920"/>
          </a:xfrm>
          <a:prstGeom prst="rect">
            <a:avLst/>
          </a:prstGeom>
          <a:noFill/>
          <a:ln/>
        </p:spPr>
        <p:txBody>
          <a:bodyPr wrap="square" lIns="0" tIns="0" rIns="0" bIns="0" rtlCol="0" anchor="ctr"/>
          <a:lstStyle/>
          <a:p>
            <a:pPr algn="ctr" indent="0" marL="0">
              <a:buNone/>
            </a:pPr>
            <a:r>
              <a:rPr lang="en-US" sz="1500" b="1" dirty="0">
                <a:solidFill>
                  <a:srgbClr val="040A13"/>
                </a:solidFill>
              </a:rPr>
              <a:t>객체와 클래스</a:t>
            </a:r>
            <a:endParaRPr lang="en-US" sz="1500" dirty="0"/>
          </a:p>
        </p:txBody>
      </p:sp>
      <p:sp>
        <p:nvSpPr>
          <p:cNvPr id="14" name="Shape 11"/>
          <p:cNvSpPr/>
          <p:nvPr/>
        </p:nvSpPr>
        <p:spPr>
          <a:xfrm>
            <a:off x="4343400" y="1783080"/>
            <a:ext cx="3520440" cy="2834640"/>
          </a:xfrm>
          <a:prstGeom prst="roundRect">
            <a:avLst>
              <a:gd name="adj" fmla="val 3871"/>
            </a:avLst>
          </a:prstGeom>
          <a:solidFill>
            <a:srgbClr val="10233A"/>
          </a:solidFill>
          <a:ln w="12700">
            <a:solidFill>
              <a:srgbClr val="2A405B"/>
            </a:solidFill>
            <a:prstDash val="solid"/>
          </a:ln>
        </p:spPr>
      </p:sp>
      <p:sp>
        <p:nvSpPr>
          <p:cNvPr id="15" name="Shape 12"/>
          <p:cNvSpPr/>
          <p:nvPr/>
        </p:nvSpPr>
        <p:spPr>
          <a:xfrm>
            <a:off x="4572000" y="2011680"/>
            <a:ext cx="457200" cy="457200"/>
          </a:xfrm>
          <a:prstGeom prst="ellipse">
            <a:avLst/>
          </a:prstGeom>
          <a:solidFill>
            <a:srgbClr val="FF8C99"/>
          </a:solidFill>
          <a:ln w="12700">
            <a:solidFill>
              <a:srgbClr val="FF8C99"/>
            </a:solidFill>
            <a:prstDash val="solid"/>
          </a:ln>
        </p:spPr>
      </p:sp>
      <p:sp>
        <p:nvSpPr>
          <p:cNvPr id="16" name="Text 13"/>
          <p:cNvSpPr txBox="1"/>
          <p:nvPr/>
        </p:nvSpPr>
        <p:spPr>
          <a:xfrm>
            <a:off x="4572000" y="2011680"/>
            <a:ext cx="457200" cy="457200"/>
          </a:xfrm>
          <a:prstGeom prst="rect">
            <a:avLst/>
          </a:prstGeom>
          <a:noFill/>
          <a:ln/>
        </p:spPr>
        <p:txBody>
          <a:bodyPr wrap="square" lIns="0" tIns="0" rIns="0" bIns="0" rtlCol="0" anchor="ctr"/>
          <a:lstStyle/>
          <a:p>
            <a:pPr algn="ctr" indent="0" marL="0">
              <a:buNone/>
            </a:pPr>
            <a:r>
              <a:rPr lang="en-US" sz="1600" b="1" dirty="0">
                <a:solidFill>
                  <a:srgbClr val="040A13"/>
                </a:solidFill>
              </a:rPr>
              <a:t>2</a:t>
            </a:r>
            <a:endParaRPr lang="en-US" sz="1600" dirty="0"/>
          </a:p>
        </p:txBody>
      </p:sp>
      <p:sp>
        <p:nvSpPr>
          <p:cNvPr id="17" name="Text 14"/>
          <p:cNvSpPr txBox="1"/>
          <p:nvPr/>
        </p:nvSpPr>
        <p:spPr>
          <a:xfrm>
            <a:off x="4572000" y="2651760"/>
            <a:ext cx="3108960" cy="411480"/>
          </a:xfrm>
          <a:prstGeom prst="rect">
            <a:avLst/>
          </a:prstGeom>
          <a:noFill/>
          <a:ln/>
        </p:spPr>
        <p:txBody>
          <a:bodyPr wrap="square" lIns="0" tIns="0" rIns="0" bIns="0" rtlCol="0" anchor="t"/>
          <a:lstStyle/>
          <a:p>
            <a:pPr indent="0" marL="0">
              <a:buNone/>
            </a:pPr>
            <a:r>
              <a:rPr lang="en-US" sz="1800" b="1" dirty="0">
                <a:solidFill>
                  <a:srgbClr val="EEF5FF"/>
                </a:solidFill>
              </a:rPr>
              <a:t>누구나 HP를 바꿀 수 있다</a:t>
            </a:r>
            <a:endParaRPr lang="en-US" sz="1800" dirty="0"/>
          </a:p>
        </p:txBody>
      </p:sp>
      <p:sp>
        <p:nvSpPr>
          <p:cNvPr id="18" name="Text 15"/>
          <p:cNvSpPr txBox="1"/>
          <p:nvPr/>
        </p:nvSpPr>
        <p:spPr>
          <a:xfrm>
            <a:off x="4572000" y="3154680"/>
            <a:ext cx="3108960" cy="1371600"/>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_hps[1] -= 100; 으로 궁수의 HP가 -80이 됩니다.</a:t>
            </a:r>
            <a:endParaRPr lang="en-US" sz="1400" dirty="0"/>
          </a:p>
        </p:txBody>
      </p:sp>
      <p:sp>
        <p:nvSpPr>
          <p:cNvPr id="19" name="Shape 16"/>
          <p:cNvSpPr/>
          <p:nvPr/>
        </p:nvSpPr>
        <p:spPr>
          <a:xfrm>
            <a:off x="6103620" y="4663440"/>
            <a:ext cx="914" cy="457200"/>
          </a:xfrm>
          <a:prstGeom prst="line">
            <a:avLst/>
          </a:prstGeom>
          <a:noFill/>
          <a:ln w="25400">
            <a:solidFill>
              <a:srgbClr val="AFBED1"/>
            </a:solidFill>
            <a:prstDash val="solid"/>
            <a:tailEnd type="triangle"/>
          </a:ln>
        </p:spPr>
      </p:sp>
      <p:sp>
        <p:nvSpPr>
          <p:cNvPr id="20" name="Shape 17"/>
          <p:cNvSpPr/>
          <p:nvPr/>
        </p:nvSpPr>
        <p:spPr>
          <a:xfrm>
            <a:off x="4617720" y="5212080"/>
            <a:ext cx="2971800" cy="502920"/>
          </a:xfrm>
          <a:prstGeom prst="roundRect">
            <a:avLst>
              <a:gd name="adj" fmla="val 50000"/>
            </a:avLst>
          </a:prstGeom>
          <a:solidFill>
            <a:srgbClr val="83E58F"/>
          </a:solidFill>
          <a:ln w="12700">
            <a:solidFill>
              <a:srgbClr val="83E58F"/>
            </a:solidFill>
            <a:prstDash val="solid"/>
          </a:ln>
        </p:spPr>
      </p:sp>
      <p:sp>
        <p:nvSpPr>
          <p:cNvPr id="21" name="Text 18"/>
          <p:cNvSpPr txBox="1"/>
          <p:nvPr/>
        </p:nvSpPr>
        <p:spPr>
          <a:xfrm>
            <a:off x="4617720" y="5212080"/>
            <a:ext cx="2971800" cy="502920"/>
          </a:xfrm>
          <a:prstGeom prst="rect">
            <a:avLst/>
          </a:prstGeom>
          <a:noFill/>
          <a:ln/>
        </p:spPr>
        <p:txBody>
          <a:bodyPr wrap="square" lIns="0" tIns="0" rIns="0" bIns="0" rtlCol="0" anchor="ctr"/>
          <a:lstStyle/>
          <a:p>
            <a:pPr algn="ctr" indent="0" marL="0">
              <a:buNone/>
            </a:pPr>
            <a:r>
              <a:rPr lang="en-US" sz="1500" b="1" dirty="0">
                <a:solidFill>
                  <a:srgbClr val="040A13"/>
                </a:solidFill>
              </a:rPr>
              <a:t>캡슐화</a:t>
            </a:r>
            <a:endParaRPr lang="en-US" sz="1500" dirty="0"/>
          </a:p>
        </p:txBody>
      </p:sp>
      <p:sp>
        <p:nvSpPr>
          <p:cNvPr id="22" name="Shape 19"/>
          <p:cNvSpPr/>
          <p:nvPr/>
        </p:nvSpPr>
        <p:spPr>
          <a:xfrm>
            <a:off x="8138160" y="1783080"/>
            <a:ext cx="3520440" cy="2834640"/>
          </a:xfrm>
          <a:prstGeom prst="roundRect">
            <a:avLst>
              <a:gd name="adj" fmla="val 3871"/>
            </a:avLst>
          </a:prstGeom>
          <a:solidFill>
            <a:srgbClr val="10233A"/>
          </a:solidFill>
          <a:ln w="12700">
            <a:solidFill>
              <a:srgbClr val="2A405B"/>
            </a:solidFill>
            <a:prstDash val="solid"/>
          </a:ln>
        </p:spPr>
      </p:sp>
      <p:sp>
        <p:nvSpPr>
          <p:cNvPr id="23" name="Shape 20"/>
          <p:cNvSpPr/>
          <p:nvPr/>
        </p:nvSpPr>
        <p:spPr>
          <a:xfrm>
            <a:off x="8366760" y="2011680"/>
            <a:ext cx="457200" cy="457200"/>
          </a:xfrm>
          <a:prstGeom prst="ellipse">
            <a:avLst/>
          </a:prstGeom>
          <a:solidFill>
            <a:srgbClr val="FF8C99"/>
          </a:solidFill>
          <a:ln w="12700">
            <a:solidFill>
              <a:srgbClr val="FF8C99"/>
            </a:solidFill>
            <a:prstDash val="solid"/>
          </a:ln>
        </p:spPr>
      </p:sp>
      <p:sp>
        <p:nvSpPr>
          <p:cNvPr id="24" name="Text 21"/>
          <p:cNvSpPr txBox="1"/>
          <p:nvPr/>
        </p:nvSpPr>
        <p:spPr>
          <a:xfrm>
            <a:off x="8366760" y="2011680"/>
            <a:ext cx="457200" cy="457200"/>
          </a:xfrm>
          <a:prstGeom prst="rect">
            <a:avLst/>
          </a:prstGeom>
          <a:noFill/>
          <a:ln/>
        </p:spPr>
        <p:txBody>
          <a:bodyPr wrap="square" lIns="0" tIns="0" rIns="0" bIns="0" rtlCol="0" anchor="ctr"/>
          <a:lstStyle/>
          <a:p>
            <a:pPr algn="ctr" indent="0" marL="0">
              <a:buNone/>
            </a:pPr>
            <a:r>
              <a:rPr lang="en-US" sz="1600" b="1" dirty="0">
                <a:solidFill>
                  <a:srgbClr val="040A13"/>
                </a:solidFill>
              </a:rPr>
              <a:t>3</a:t>
            </a:r>
            <a:endParaRPr lang="en-US" sz="1600" dirty="0"/>
          </a:p>
        </p:txBody>
      </p:sp>
      <p:sp>
        <p:nvSpPr>
          <p:cNvPr id="25" name="Text 22"/>
          <p:cNvSpPr txBox="1"/>
          <p:nvPr/>
        </p:nvSpPr>
        <p:spPr>
          <a:xfrm>
            <a:off x="8366760" y="2651760"/>
            <a:ext cx="3108960" cy="411480"/>
          </a:xfrm>
          <a:prstGeom prst="rect">
            <a:avLst/>
          </a:prstGeom>
          <a:noFill/>
          <a:ln/>
        </p:spPr>
        <p:txBody>
          <a:bodyPr wrap="square" lIns="0" tIns="0" rIns="0" bIns="0" rtlCol="0" anchor="t"/>
          <a:lstStyle/>
          <a:p>
            <a:pPr indent="0" marL="0">
              <a:buNone/>
            </a:pPr>
            <a:r>
              <a:rPr lang="en-US" sz="1800" b="1" dirty="0">
                <a:solidFill>
                  <a:srgbClr val="EEF5FF"/>
                </a:solidFill>
              </a:rPr>
              <a:t>기능마다 switch가 늘어난다</a:t>
            </a:r>
            <a:endParaRPr lang="en-US" sz="1800" dirty="0"/>
          </a:p>
        </p:txBody>
      </p:sp>
      <p:sp>
        <p:nvSpPr>
          <p:cNvPr id="26" name="Text 23"/>
          <p:cNvSpPr txBox="1"/>
          <p:nvPr/>
        </p:nvSpPr>
        <p:spPr>
          <a:xfrm>
            <a:off x="8366760" y="3154680"/>
            <a:ext cx="3108960" cy="1371600"/>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기능을 추가할 때마다 여러 파일의 switch 문을 고칩니다.</a:t>
            </a:r>
            <a:endParaRPr lang="en-US" sz="1400" dirty="0"/>
          </a:p>
        </p:txBody>
      </p:sp>
      <p:sp>
        <p:nvSpPr>
          <p:cNvPr id="27" name="Shape 24"/>
          <p:cNvSpPr/>
          <p:nvPr/>
        </p:nvSpPr>
        <p:spPr>
          <a:xfrm>
            <a:off x="9898380" y="4663440"/>
            <a:ext cx="914" cy="457200"/>
          </a:xfrm>
          <a:prstGeom prst="line">
            <a:avLst/>
          </a:prstGeom>
          <a:noFill/>
          <a:ln w="25400">
            <a:solidFill>
              <a:srgbClr val="AFBED1"/>
            </a:solidFill>
            <a:prstDash val="solid"/>
            <a:tailEnd type="triangle"/>
          </a:ln>
        </p:spPr>
      </p:sp>
      <p:sp>
        <p:nvSpPr>
          <p:cNvPr id="28" name="Shape 25"/>
          <p:cNvSpPr/>
          <p:nvPr/>
        </p:nvSpPr>
        <p:spPr>
          <a:xfrm>
            <a:off x="8412480" y="5212080"/>
            <a:ext cx="2971800" cy="502920"/>
          </a:xfrm>
          <a:prstGeom prst="roundRect">
            <a:avLst>
              <a:gd name="adj" fmla="val 50000"/>
            </a:avLst>
          </a:prstGeom>
          <a:solidFill>
            <a:srgbClr val="B8A4FF"/>
          </a:solidFill>
          <a:ln w="12700">
            <a:solidFill>
              <a:srgbClr val="B8A4FF"/>
            </a:solidFill>
            <a:prstDash val="solid"/>
          </a:ln>
        </p:spPr>
      </p:sp>
      <p:sp>
        <p:nvSpPr>
          <p:cNvPr id="29" name="Text 26"/>
          <p:cNvSpPr txBox="1"/>
          <p:nvPr/>
        </p:nvSpPr>
        <p:spPr>
          <a:xfrm>
            <a:off x="8412480" y="5212080"/>
            <a:ext cx="2971800" cy="502920"/>
          </a:xfrm>
          <a:prstGeom prst="rect">
            <a:avLst/>
          </a:prstGeom>
          <a:noFill/>
          <a:ln/>
        </p:spPr>
        <p:txBody>
          <a:bodyPr wrap="square" lIns="0" tIns="0" rIns="0" bIns="0" rtlCol="0" anchor="ctr"/>
          <a:lstStyle/>
          <a:p>
            <a:pPr algn="ctr" indent="0" marL="0">
              <a:buNone/>
            </a:pPr>
            <a:r>
              <a:rPr lang="en-US" sz="1500" b="1" dirty="0">
                <a:solidFill>
                  <a:srgbClr val="040A13"/>
                </a:solidFill>
              </a:rPr>
              <a:t>상속 · 다형성 · 추상화</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55E4CF"/>
          </a:solidFill>
          <a:ln w="12700">
            <a:solidFill>
              <a:srgbClr val="55E4C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55E4CF"/>
                </a:solidFill>
              </a:rPr>
              <a:t>OBJECT-ORIENTED PROGRAMMING</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객체지향 프로그래밍</a:t>
            </a:r>
            <a:endParaRPr lang="en-US" sz="2800" dirty="0"/>
          </a:p>
        </p:txBody>
      </p:sp>
      <p:sp>
        <p:nvSpPr>
          <p:cNvPr id="6" name="Shape 3"/>
          <p:cNvSpPr/>
          <p:nvPr/>
        </p:nvSpPr>
        <p:spPr>
          <a:xfrm>
            <a:off x="548640" y="1783080"/>
            <a:ext cx="11064240" cy="1783080"/>
          </a:xfrm>
          <a:prstGeom prst="roundRect">
            <a:avLst>
              <a:gd name="adj" fmla="val 6154"/>
            </a:avLst>
          </a:prstGeom>
          <a:solidFill>
            <a:srgbClr val="10233A"/>
          </a:solidFill>
          <a:ln w="12700">
            <a:solidFill>
              <a:srgbClr val="2A405B"/>
            </a:solidFill>
            <a:prstDash val="solid"/>
          </a:ln>
        </p:spPr>
      </p:sp>
      <p:sp>
        <p:nvSpPr>
          <p:cNvPr id="7" name="Text 4"/>
          <p:cNvSpPr txBox="1"/>
          <p:nvPr/>
        </p:nvSpPr>
        <p:spPr>
          <a:xfrm>
            <a:off x="868680" y="2011680"/>
            <a:ext cx="10424160" cy="1325880"/>
          </a:xfrm>
          <a:prstGeom prst="rect">
            <a:avLst/>
          </a:prstGeom>
          <a:noFill/>
          <a:ln/>
        </p:spPr>
        <p:txBody>
          <a:bodyPr wrap="square" lIns="0" tIns="0" rIns="0" bIns="0" rtlCol="0" anchor="ctr"/>
          <a:lstStyle/>
          <a:p>
            <a:pPr indent="0" marL="0">
              <a:lnSpc>
                <a:spcPct val="130000"/>
              </a:lnSpc>
              <a:buNone/>
            </a:pPr>
            <a:r>
              <a:rPr lang="en-US" sz="2100" b="1" dirty="0">
                <a:solidFill>
                  <a:srgbClr val="EEF5FF"/>
                </a:solidFill>
              </a:rPr>
              <a:t>데이터와 그 데이터를 다루는 행동을 객체로 묶고,</a:t>
            </a:r>
            <a:endParaRPr lang="en-US" sz="2100" dirty="0"/>
          </a:p>
          <a:p>
            <a:pPr indent="0" marL="0">
              <a:lnSpc>
                <a:spcPct val="130000"/>
              </a:lnSpc>
              <a:buNone/>
            </a:pPr>
            <a:r>
              <a:rPr lang="en-US" sz="2100" b="1" dirty="0">
                <a:solidFill>
                  <a:srgbClr val="EEF5FF"/>
                </a:solidFill>
              </a:rPr>
              <a:t>객체끼리 메서드를 호출하며 동작하도록 프로그램을 구성하는 방식</a:t>
            </a:r>
            <a:endParaRPr lang="en-US" sz="2100" dirty="0"/>
          </a:p>
        </p:txBody>
      </p:sp>
      <p:sp>
        <p:nvSpPr>
          <p:cNvPr id="8" name="Shape 5"/>
          <p:cNvSpPr/>
          <p:nvPr/>
        </p:nvSpPr>
        <p:spPr>
          <a:xfrm>
            <a:off x="548640" y="3931920"/>
            <a:ext cx="3520440" cy="2011680"/>
          </a:xfrm>
          <a:prstGeom prst="roundRect">
            <a:avLst>
              <a:gd name="adj" fmla="val 5455"/>
            </a:avLst>
          </a:prstGeom>
          <a:solidFill>
            <a:srgbClr val="10233A"/>
          </a:solidFill>
          <a:ln w="12700">
            <a:solidFill>
              <a:srgbClr val="2A405B"/>
            </a:solidFill>
            <a:prstDash val="solid"/>
          </a:ln>
        </p:spPr>
      </p:sp>
      <p:sp>
        <p:nvSpPr>
          <p:cNvPr id="9" name="Text 6"/>
          <p:cNvSpPr txBox="1"/>
          <p:nvPr/>
        </p:nvSpPr>
        <p:spPr>
          <a:xfrm>
            <a:off x="777240" y="4160520"/>
            <a:ext cx="3063240" cy="432054"/>
          </a:xfrm>
          <a:prstGeom prst="rect">
            <a:avLst/>
          </a:prstGeom>
          <a:noFill/>
          <a:ln/>
        </p:spPr>
        <p:txBody>
          <a:bodyPr wrap="square" lIns="0" tIns="0" rIns="0" bIns="0" rtlCol="0" anchor="t"/>
          <a:lstStyle/>
          <a:p>
            <a:pPr indent="0" marL="0">
              <a:buNone/>
            </a:pPr>
            <a:r>
              <a:rPr lang="en-US" sz="2200" b="1" dirty="0">
                <a:solidFill>
                  <a:srgbClr val="55E4CF"/>
                </a:solidFill>
              </a:rPr>
              <a:t>객체</a:t>
            </a:r>
            <a:endParaRPr lang="en-US" sz="2200" dirty="0"/>
          </a:p>
        </p:txBody>
      </p:sp>
      <p:sp>
        <p:nvSpPr>
          <p:cNvPr id="10" name="Text 7"/>
          <p:cNvSpPr txBox="1"/>
          <p:nvPr/>
        </p:nvSpPr>
        <p:spPr>
          <a:xfrm>
            <a:off x="777240" y="4665726"/>
            <a:ext cx="3063240" cy="1140714"/>
          </a:xfrm>
          <a:prstGeom prst="rect">
            <a:avLst/>
          </a:prstGeom>
          <a:noFill/>
          <a:ln/>
        </p:spPr>
        <p:txBody>
          <a:bodyPr wrap="square" lIns="0" tIns="0" rIns="0" bIns="0" rtlCol="0" anchor="t"/>
          <a:lstStyle/>
          <a:p>
            <a:pPr indent="0" marL="0">
              <a:lnSpc>
                <a:spcPct val="115000"/>
              </a:lnSpc>
              <a:buNone/>
            </a:pPr>
            <a:r>
              <a:rPr lang="en-US" sz="1500" dirty="0">
                <a:solidFill>
                  <a:srgbClr val="AFBED1"/>
                </a:solidFill>
              </a:rPr>
              <a:t>이름, HP, 공격력과 TakeDamage()를 Unit 하나에 둡니다.</a:t>
            </a:r>
            <a:endParaRPr lang="en-US" sz="1500" dirty="0"/>
          </a:p>
        </p:txBody>
      </p:sp>
      <p:sp>
        <p:nvSpPr>
          <p:cNvPr id="11" name="Shape 8"/>
          <p:cNvSpPr/>
          <p:nvPr/>
        </p:nvSpPr>
        <p:spPr>
          <a:xfrm>
            <a:off x="4343400" y="3931920"/>
            <a:ext cx="3520440" cy="2011680"/>
          </a:xfrm>
          <a:prstGeom prst="roundRect">
            <a:avLst>
              <a:gd name="adj" fmla="val 5455"/>
            </a:avLst>
          </a:prstGeom>
          <a:solidFill>
            <a:srgbClr val="10233A"/>
          </a:solidFill>
          <a:ln w="12700">
            <a:solidFill>
              <a:srgbClr val="2A405B"/>
            </a:solidFill>
            <a:prstDash val="solid"/>
          </a:ln>
        </p:spPr>
      </p:sp>
      <p:sp>
        <p:nvSpPr>
          <p:cNvPr id="12" name="Text 9"/>
          <p:cNvSpPr txBox="1"/>
          <p:nvPr/>
        </p:nvSpPr>
        <p:spPr>
          <a:xfrm>
            <a:off x="4572000" y="4160520"/>
            <a:ext cx="3063240" cy="432054"/>
          </a:xfrm>
          <a:prstGeom prst="rect">
            <a:avLst/>
          </a:prstGeom>
          <a:noFill/>
          <a:ln/>
        </p:spPr>
        <p:txBody>
          <a:bodyPr wrap="square" lIns="0" tIns="0" rIns="0" bIns="0" rtlCol="0" anchor="t"/>
          <a:lstStyle/>
          <a:p>
            <a:pPr indent="0" marL="0">
              <a:buNone/>
            </a:pPr>
            <a:r>
              <a:rPr lang="en-US" sz="2200" b="1" dirty="0">
                <a:solidFill>
                  <a:srgbClr val="83E58F"/>
                </a:solidFill>
              </a:rPr>
              <a:t>캡슐화</a:t>
            </a:r>
            <a:endParaRPr lang="en-US" sz="2200" dirty="0"/>
          </a:p>
        </p:txBody>
      </p:sp>
      <p:sp>
        <p:nvSpPr>
          <p:cNvPr id="13" name="Text 10"/>
          <p:cNvSpPr txBox="1"/>
          <p:nvPr/>
        </p:nvSpPr>
        <p:spPr>
          <a:xfrm>
            <a:off x="4572000" y="4665726"/>
            <a:ext cx="3063240" cy="1140714"/>
          </a:xfrm>
          <a:prstGeom prst="rect">
            <a:avLst/>
          </a:prstGeom>
          <a:noFill/>
          <a:ln/>
        </p:spPr>
        <p:txBody>
          <a:bodyPr wrap="square" lIns="0" tIns="0" rIns="0" bIns="0" rtlCol="0" anchor="t"/>
          <a:lstStyle/>
          <a:p>
            <a:pPr indent="0" marL="0">
              <a:lnSpc>
                <a:spcPct val="115000"/>
              </a:lnSpc>
              <a:buNone/>
            </a:pPr>
            <a:r>
              <a:rPr lang="en-US" sz="1500" dirty="0">
                <a:solidFill>
                  <a:srgbClr val="AFBED1"/>
                </a:solidFill>
              </a:rPr>
              <a:t>HP는 Unit의 메서드로만 바꿉니다.</a:t>
            </a:r>
            <a:endParaRPr lang="en-US" sz="1500" dirty="0"/>
          </a:p>
        </p:txBody>
      </p:sp>
      <p:sp>
        <p:nvSpPr>
          <p:cNvPr id="14" name="Shape 11"/>
          <p:cNvSpPr/>
          <p:nvPr/>
        </p:nvSpPr>
        <p:spPr>
          <a:xfrm>
            <a:off x="8138160" y="3931920"/>
            <a:ext cx="3520440" cy="2011680"/>
          </a:xfrm>
          <a:prstGeom prst="roundRect">
            <a:avLst>
              <a:gd name="adj" fmla="val 5455"/>
            </a:avLst>
          </a:prstGeom>
          <a:solidFill>
            <a:srgbClr val="10233A"/>
          </a:solidFill>
          <a:ln w="12700">
            <a:solidFill>
              <a:srgbClr val="2A405B"/>
            </a:solidFill>
            <a:prstDash val="solid"/>
          </a:ln>
        </p:spPr>
      </p:sp>
      <p:sp>
        <p:nvSpPr>
          <p:cNvPr id="15" name="Text 12"/>
          <p:cNvSpPr txBox="1"/>
          <p:nvPr/>
        </p:nvSpPr>
        <p:spPr>
          <a:xfrm>
            <a:off x="8366760" y="4160520"/>
            <a:ext cx="3063240" cy="432054"/>
          </a:xfrm>
          <a:prstGeom prst="rect">
            <a:avLst/>
          </a:prstGeom>
          <a:noFill/>
          <a:ln/>
        </p:spPr>
        <p:txBody>
          <a:bodyPr wrap="square" lIns="0" tIns="0" rIns="0" bIns="0" rtlCol="0" anchor="t"/>
          <a:lstStyle/>
          <a:p>
            <a:pPr indent="0" marL="0">
              <a:buNone/>
            </a:pPr>
            <a:r>
              <a:rPr lang="en-US" sz="2200" b="1" dirty="0">
                <a:solidFill>
                  <a:srgbClr val="FFD16F"/>
                </a:solidFill>
              </a:rPr>
              <a:t>다형성</a:t>
            </a:r>
            <a:endParaRPr lang="en-US" sz="2200" dirty="0"/>
          </a:p>
        </p:txBody>
      </p:sp>
      <p:sp>
        <p:nvSpPr>
          <p:cNvPr id="16" name="Text 13"/>
          <p:cNvSpPr txBox="1"/>
          <p:nvPr/>
        </p:nvSpPr>
        <p:spPr>
          <a:xfrm>
            <a:off x="8366760" y="4665726"/>
            <a:ext cx="3063240" cy="1140714"/>
          </a:xfrm>
          <a:prstGeom prst="rect">
            <a:avLst/>
          </a:prstGeom>
          <a:noFill/>
          <a:ln/>
        </p:spPr>
        <p:txBody>
          <a:bodyPr wrap="square" lIns="0" tIns="0" rIns="0" bIns="0" rtlCol="0" anchor="t"/>
          <a:lstStyle/>
          <a:p>
            <a:pPr indent="0" marL="0">
              <a:lnSpc>
                <a:spcPct val="115000"/>
              </a:lnSpc>
              <a:buNone/>
            </a:pPr>
            <a:r>
              <a:rPr lang="en-US" sz="1500" dirty="0">
                <a:solidFill>
                  <a:srgbClr val="AFBED1"/>
                </a:solidFill>
              </a:rPr>
              <a:t>같은 호출이 객체에 따라 다르게 동작합니다.</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22960" y="1554480"/>
            <a:ext cx="2743200" cy="1005840"/>
          </a:xfrm>
          <a:prstGeom prst="rect">
            <a:avLst/>
          </a:prstGeom>
          <a:noFill/>
          <a:ln/>
        </p:spPr>
        <p:txBody>
          <a:bodyPr wrap="square" lIns="0" tIns="0" rIns="0" bIns="0" rtlCol="0" anchor="t"/>
          <a:lstStyle/>
          <a:p>
            <a:pPr indent="0" marL="0">
              <a:buNone/>
            </a:pPr>
            <a:r>
              <a:rPr lang="en-US" sz="6000" b="1" dirty="0">
                <a:solidFill>
                  <a:srgbClr val="55E4CF"/>
                </a:solidFill>
              </a:rPr>
              <a:t>02</a:t>
            </a:r>
            <a:endParaRPr lang="en-US" sz="6000" dirty="0"/>
          </a:p>
        </p:txBody>
      </p:sp>
      <p:sp>
        <p:nvSpPr>
          <p:cNvPr id="3" name="Text 1"/>
          <p:cNvSpPr txBox="1"/>
          <p:nvPr/>
        </p:nvSpPr>
        <p:spPr>
          <a:xfrm>
            <a:off x="822960" y="2697480"/>
            <a:ext cx="9144000" cy="365760"/>
          </a:xfrm>
          <a:prstGeom prst="rect">
            <a:avLst/>
          </a:prstGeom>
          <a:noFill/>
          <a:ln/>
        </p:spPr>
        <p:txBody>
          <a:bodyPr wrap="square" lIns="0" tIns="0" rIns="0" bIns="0" rtlCol="0" anchor="t"/>
          <a:lstStyle/>
          <a:p>
            <a:pPr indent="0" marL="0">
              <a:buNone/>
            </a:pPr>
            <a:r>
              <a:rPr lang="en-US" sz="1500" b="1" spc="200" kern="0" dirty="0">
                <a:solidFill>
                  <a:srgbClr val="55E4CF"/>
                </a:solidFill>
              </a:rPr>
              <a:t>CLASS AND OBJECT</a:t>
            </a:r>
            <a:endParaRPr lang="en-US" sz="1500" dirty="0"/>
          </a:p>
        </p:txBody>
      </p:sp>
      <p:sp>
        <p:nvSpPr>
          <p:cNvPr id="4" name="Text 2"/>
          <p:cNvSpPr txBox="1"/>
          <p:nvPr/>
        </p:nvSpPr>
        <p:spPr>
          <a:xfrm>
            <a:off x="822960" y="3108960"/>
            <a:ext cx="10515600" cy="914400"/>
          </a:xfrm>
          <a:prstGeom prst="rect">
            <a:avLst/>
          </a:prstGeom>
          <a:noFill/>
          <a:ln/>
        </p:spPr>
        <p:txBody>
          <a:bodyPr wrap="square" lIns="0" tIns="0" rIns="0" bIns="0" rtlCol="0" anchor="t"/>
          <a:lstStyle/>
          <a:p>
            <a:pPr indent="0" marL="0">
              <a:buNone/>
            </a:pPr>
            <a:r>
              <a:rPr lang="en-US" sz="4400" b="1" dirty="0">
                <a:solidFill>
                  <a:srgbClr val="EEF5FF"/>
                </a:solidFill>
              </a:rPr>
              <a:t>객체와 클래스</a:t>
            </a:r>
            <a:endParaRPr lang="en-US" sz="4400" dirty="0"/>
          </a:p>
        </p:txBody>
      </p:sp>
      <p:sp>
        <p:nvSpPr>
          <p:cNvPr id="5" name="Shape 3"/>
          <p:cNvSpPr/>
          <p:nvPr/>
        </p:nvSpPr>
        <p:spPr>
          <a:xfrm>
            <a:off x="822960" y="4846320"/>
            <a:ext cx="1298448" cy="457200"/>
          </a:xfrm>
          <a:prstGeom prst="roundRect">
            <a:avLst>
              <a:gd name="adj" fmla="val 50000"/>
            </a:avLst>
          </a:prstGeom>
          <a:solidFill>
            <a:srgbClr val="040A13"/>
          </a:solidFill>
          <a:ln w="12700">
            <a:solidFill>
              <a:srgbClr val="2A405B"/>
            </a:solidFill>
            <a:prstDash val="solid"/>
          </a:ln>
        </p:spPr>
      </p:sp>
      <p:sp>
        <p:nvSpPr>
          <p:cNvPr id="6" name="Text 4"/>
          <p:cNvSpPr txBox="1"/>
          <p:nvPr/>
        </p:nvSpPr>
        <p:spPr>
          <a:xfrm>
            <a:off x="822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도입</a:t>
            </a:r>
            <a:endParaRPr lang="en-US" sz="1300" dirty="0"/>
          </a:p>
        </p:txBody>
      </p:sp>
      <p:sp>
        <p:nvSpPr>
          <p:cNvPr id="7" name="Shape 5"/>
          <p:cNvSpPr/>
          <p:nvPr/>
        </p:nvSpPr>
        <p:spPr>
          <a:xfrm>
            <a:off x="2194560" y="4846320"/>
            <a:ext cx="1298448" cy="457200"/>
          </a:xfrm>
          <a:prstGeom prst="roundRect">
            <a:avLst>
              <a:gd name="adj" fmla="val 50000"/>
            </a:avLst>
          </a:prstGeom>
          <a:solidFill>
            <a:srgbClr val="55E4CF"/>
          </a:solidFill>
          <a:ln w="12700">
            <a:solidFill>
              <a:srgbClr val="55E4CF"/>
            </a:solidFill>
            <a:prstDash val="solid"/>
          </a:ln>
        </p:spPr>
      </p:sp>
      <p:sp>
        <p:nvSpPr>
          <p:cNvPr id="8" name="Text 6"/>
          <p:cNvSpPr txBox="1"/>
          <p:nvPr/>
        </p:nvSpPr>
        <p:spPr>
          <a:xfrm>
            <a:off x="2194560" y="4846320"/>
            <a:ext cx="1298448" cy="457200"/>
          </a:xfrm>
          <a:prstGeom prst="rect">
            <a:avLst/>
          </a:prstGeom>
          <a:noFill/>
          <a:ln/>
        </p:spPr>
        <p:txBody>
          <a:bodyPr wrap="square" lIns="0" tIns="0" rIns="0" bIns="0" rtlCol="0" anchor="ctr"/>
          <a:lstStyle/>
          <a:p>
            <a:pPr algn="ctr" indent="0" marL="0">
              <a:buNone/>
            </a:pPr>
            <a:r>
              <a:rPr lang="en-US" sz="1300" b="1" dirty="0">
                <a:solidFill>
                  <a:srgbClr val="040A13"/>
                </a:solidFill>
              </a:rPr>
              <a:t>객체와 클래스</a:t>
            </a:r>
            <a:endParaRPr lang="en-US" sz="1300" dirty="0"/>
          </a:p>
        </p:txBody>
      </p:sp>
      <p:sp>
        <p:nvSpPr>
          <p:cNvPr id="9" name="Shape 7"/>
          <p:cNvSpPr/>
          <p:nvPr/>
        </p:nvSpPr>
        <p:spPr>
          <a:xfrm>
            <a:off x="3566160" y="4846320"/>
            <a:ext cx="1298448" cy="457200"/>
          </a:xfrm>
          <a:prstGeom prst="roundRect">
            <a:avLst>
              <a:gd name="adj" fmla="val 50000"/>
            </a:avLst>
          </a:prstGeom>
          <a:solidFill>
            <a:srgbClr val="040A13"/>
          </a:solidFill>
          <a:ln w="12700">
            <a:solidFill>
              <a:srgbClr val="2A405B"/>
            </a:solidFill>
            <a:prstDash val="solid"/>
          </a:ln>
        </p:spPr>
      </p:sp>
      <p:sp>
        <p:nvSpPr>
          <p:cNvPr id="10" name="Text 8"/>
          <p:cNvSpPr txBox="1"/>
          <p:nvPr/>
        </p:nvSpPr>
        <p:spPr>
          <a:xfrm>
            <a:off x="3566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캡슐화</a:t>
            </a:r>
            <a:endParaRPr lang="en-US" sz="1300" dirty="0"/>
          </a:p>
        </p:txBody>
      </p:sp>
      <p:sp>
        <p:nvSpPr>
          <p:cNvPr id="11" name="Shape 9"/>
          <p:cNvSpPr/>
          <p:nvPr/>
        </p:nvSpPr>
        <p:spPr>
          <a:xfrm>
            <a:off x="4937760" y="4846320"/>
            <a:ext cx="1298448" cy="457200"/>
          </a:xfrm>
          <a:prstGeom prst="roundRect">
            <a:avLst>
              <a:gd name="adj" fmla="val 50000"/>
            </a:avLst>
          </a:prstGeom>
          <a:solidFill>
            <a:srgbClr val="040A13"/>
          </a:solidFill>
          <a:ln w="12700">
            <a:solidFill>
              <a:srgbClr val="2A405B"/>
            </a:solidFill>
            <a:prstDash val="solid"/>
          </a:ln>
        </p:spPr>
      </p:sp>
      <p:sp>
        <p:nvSpPr>
          <p:cNvPr id="12" name="Text 10"/>
          <p:cNvSpPr txBox="1"/>
          <p:nvPr/>
        </p:nvSpPr>
        <p:spPr>
          <a:xfrm>
            <a:off x="49377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상속</a:t>
            </a:r>
            <a:endParaRPr lang="en-US" sz="1300" dirty="0"/>
          </a:p>
        </p:txBody>
      </p:sp>
      <p:sp>
        <p:nvSpPr>
          <p:cNvPr id="13" name="Shape 11"/>
          <p:cNvSpPr/>
          <p:nvPr/>
        </p:nvSpPr>
        <p:spPr>
          <a:xfrm>
            <a:off x="6309360" y="4846320"/>
            <a:ext cx="1298448" cy="457200"/>
          </a:xfrm>
          <a:prstGeom prst="roundRect">
            <a:avLst>
              <a:gd name="adj" fmla="val 50000"/>
            </a:avLst>
          </a:prstGeom>
          <a:solidFill>
            <a:srgbClr val="040A13"/>
          </a:solidFill>
          <a:ln w="12700">
            <a:solidFill>
              <a:srgbClr val="2A405B"/>
            </a:solidFill>
            <a:prstDash val="solid"/>
          </a:ln>
        </p:spPr>
      </p:sp>
      <p:sp>
        <p:nvSpPr>
          <p:cNvPr id="14" name="Text 12"/>
          <p:cNvSpPr txBox="1"/>
          <p:nvPr/>
        </p:nvSpPr>
        <p:spPr>
          <a:xfrm>
            <a:off x="63093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다형성</a:t>
            </a:r>
            <a:endParaRPr lang="en-US" sz="1300" dirty="0"/>
          </a:p>
        </p:txBody>
      </p:sp>
      <p:sp>
        <p:nvSpPr>
          <p:cNvPr id="15" name="Shape 13"/>
          <p:cNvSpPr/>
          <p:nvPr/>
        </p:nvSpPr>
        <p:spPr>
          <a:xfrm>
            <a:off x="7680960" y="4846320"/>
            <a:ext cx="1298448" cy="457200"/>
          </a:xfrm>
          <a:prstGeom prst="roundRect">
            <a:avLst>
              <a:gd name="adj" fmla="val 50000"/>
            </a:avLst>
          </a:prstGeom>
          <a:solidFill>
            <a:srgbClr val="040A13"/>
          </a:solidFill>
          <a:ln w="12700">
            <a:solidFill>
              <a:srgbClr val="2A405B"/>
            </a:solidFill>
            <a:prstDash val="solid"/>
          </a:ln>
        </p:spPr>
      </p:sp>
      <p:sp>
        <p:nvSpPr>
          <p:cNvPr id="16" name="Text 14"/>
          <p:cNvSpPr txBox="1"/>
          <p:nvPr/>
        </p:nvSpPr>
        <p:spPr>
          <a:xfrm>
            <a:off x="7680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추상화</a:t>
            </a:r>
            <a:endParaRPr lang="en-US" sz="1300" dirty="0"/>
          </a:p>
        </p:txBody>
      </p:sp>
      <p:sp>
        <p:nvSpPr>
          <p:cNvPr id="17" name="Shape 15"/>
          <p:cNvSpPr/>
          <p:nvPr/>
        </p:nvSpPr>
        <p:spPr>
          <a:xfrm>
            <a:off x="9052560" y="4846320"/>
            <a:ext cx="1298448" cy="457200"/>
          </a:xfrm>
          <a:prstGeom prst="roundRect">
            <a:avLst>
              <a:gd name="adj" fmla="val 50000"/>
            </a:avLst>
          </a:prstGeom>
          <a:solidFill>
            <a:srgbClr val="040A13"/>
          </a:solidFill>
          <a:ln w="12700">
            <a:solidFill>
              <a:srgbClr val="2A405B"/>
            </a:solidFill>
            <a:prstDash val="solid"/>
          </a:ln>
        </p:spPr>
      </p:sp>
      <p:sp>
        <p:nvSpPr>
          <p:cNvPr id="18" name="Text 16"/>
          <p:cNvSpPr txBox="1"/>
          <p:nvPr/>
        </p:nvSpPr>
        <p:spPr>
          <a:xfrm>
            <a:off x="9052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실습</a:t>
            </a:r>
            <a:endParaRPr lang="en-US" sz="1300" dirty="0"/>
          </a:p>
        </p:txBody>
      </p:sp>
      <p:sp>
        <p:nvSpPr>
          <p:cNvPr id="19" name="Shape 17"/>
          <p:cNvSpPr/>
          <p:nvPr/>
        </p:nvSpPr>
        <p:spPr>
          <a:xfrm>
            <a:off x="10424160" y="4846320"/>
            <a:ext cx="1298448" cy="457200"/>
          </a:xfrm>
          <a:prstGeom prst="roundRect">
            <a:avLst>
              <a:gd name="adj" fmla="val 50000"/>
            </a:avLst>
          </a:prstGeom>
          <a:solidFill>
            <a:srgbClr val="040A13"/>
          </a:solidFill>
          <a:ln w="12700">
            <a:solidFill>
              <a:srgbClr val="2A405B"/>
            </a:solidFill>
            <a:prstDash val="solid"/>
          </a:ln>
        </p:spPr>
      </p:sp>
      <p:sp>
        <p:nvSpPr>
          <p:cNvPr id="20" name="Text 18"/>
          <p:cNvSpPr txBox="1"/>
          <p:nvPr/>
        </p:nvSpPr>
        <p:spPr>
          <a:xfrm>
            <a:off x="10424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마무리</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55E4CF"/>
          </a:solidFill>
          <a:ln w="12700">
            <a:solidFill>
              <a:srgbClr val="55E4C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55E4CF"/>
                </a:solidFill>
              </a:rPr>
              <a:t>CLASS AND INSTANCE</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클래스와 인스턴스</a:t>
            </a:r>
            <a:endParaRPr lang="en-US" sz="2800" dirty="0"/>
          </a:p>
        </p:txBody>
      </p:sp>
      <p:sp>
        <p:nvSpPr>
          <p:cNvPr id="6" name="Shape 3"/>
          <p:cNvSpPr/>
          <p:nvPr/>
        </p:nvSpPr>
        <p:spPr>
          <a:xfrm>
            <a:off x="548640" y="1783080"/>
            <a:ext cx="3840480" cy="3108960"/>
          </a:xfrm>
          <a:prstGeom prst="roundRect">
            <a:avLst>
              <a:gd name="adj" fmla="val 3529"/>
            </a:avLst>
          </a:prstGeom>
          <a:solidFill>
            <a:srgbClr val="10233A"/>
          </a:solidFill>
          <a:ln w="12700">
            <a:solidFill>
              <a:srgbClr val="55E4CF"/>
            </a:solidFill>
            <a:prstDash val="solid"/>
          </a:ln>
        </p:spPr>
      </p:sp>
      <p:sp>
        <p:nvSpPr>
          <p:cNvPr id="7" name="Text 4"/>
          <p:cNvSpPr txBox="1"/>
          <p:nvPr/>
        </p:nvSpPr>
        <p:spPr>
          <a:xfrm>
            <a:off x="777240" y="1965960"/>
            <a:ext cx="3383280" cy="411480"/>
          </a:xfrm>
          <a:prstGeom prst="rect">
            <a:avLst/>
          </a:prstGeom>
          <a:noFill/>
          <a:ln/>
        </p:spPr>
        <p:txBody>
          <a:bodyPr wrap="square" lIns="0" tIns="0" rIns="0" bIns="0" rtlCol="0" anchor="t"/>
          <a:lstStyle/>
          <a:p>
            <a:pPr indent="0" marL="0">
              <a:buNone/>
            </a:pPr>
            <a:r>
              <a:rPr lang="en-US" sz="2000" b="1" dirty="0">
                <a:solidFill>
                  <a:srgbClr val="55E4CF"/>
                </a:solidFill>
                <a:latin typeface="Consolas" pitchFamily="34" charset="0"/>
                <a:ea typeface="Consolas" pitchFamily="34" charset="-122"/>
                <a:cs typeface="Consolas" pitchFamily="34" charset="-120"/>
              </a:rPr>
              <a:t>class Unit</a:t>
            </a:r>
            <a:endParaRPr lang="en-US" sz="2000" dirty="0"/>
          </a:p>
        </p:txBody>
      </p:sp>
      <p:sp>
        <p:nvSpPr>
          <p:cNvPr id="8" name="Text 5"/>
          <p:cNvSpPr txBox="1"/>
          <p:nvPr/>
        </p:nvSpPr>
        <p:spPr>
          <a:xfrm>
            <a:off x="777240" y="2514600"/>
            <a:ext cx="3383280" cy="1234440"/>
          </a:xfrm>
          <a:prstGeom prst="rect">
            <a:avLst/>
          </a:prstGeom>
          <a:noFill/>
          <a:ln/>
        </p:spPr>
        <p:txBody>
          <a:bodyPr wrap="square" lIns="0" tIns="0" rIns="0" bIns="0" rtlCol="0" anchor="t"/>
          <a:lstStyle/>
          <a:p>
            <a:pPr indent="0" marL="0">
              <a:lnSpc>
                <a:spcPct val="110000"/>
              </a:lnSpc>
              <a:buNone/>
            </a:pPr>
            <a:r>
              <a:rPr lang="en-US" sz="1600" dirty="0">
                <a:solidFill>
                  <a:srgbClr val="EEF5FF"/>
                </a:solidFill>
                <a:latin typeface="Consolas" pitchFamily="34" charset="0"/>
                <a:ea typeface="Consolas" pitchFamily="34" charset="-122"/>
                <a:cs typeface="Consolas" pitchFamily="34" charset="-120"/>
              </a:rPr>
              <a:t>Name</a:t>
            </a:r>
            <a:endParaRPr lang="en-US" sz="1600" dirty="0"/>
          </a:p>
          <a:p>
            <a:pPr indent="0" marL="0">
              <a:lnSpc>
                <a:spcPct val="110000"/>
              </a:lnSpc>
              <a:buNone/>
            </a:pPr>
            <a:r>
              <a:rPr lang="en-US" sz="1600" dirty="0">
                <a:solidFill>
                  <a:srgbClr val="EEF5FF"/>
                </a:solidFill>
                <a:latin typeface="Consolas" pitchFamily="34" charset="0"/>
                <a:ea typeface="Consolas" pitchFamily="34" charset="-122"/>
                <a:cs typeface="Consolas" pitchFamily="34" charset="-120"/>
              </a:rPr>
              <a:t>MaxHp</a:t>
            </a:r>
            <a:endParaRPr lang="en-US" sz="1600" dirty="0"/>
          </a:p>
          <a:p>
            <a:pPr indent="0" marL="0">
              <a:lnSpc>
                <a:spcPct val="110000"/>
              </a:lnSpc>
              <a:buNone/>
            </a:pPr>
            <a:r>
              <a:rPr lang="en-US" sz="1600" dirty="0">
                <a:solidFill>
                  <a:srgbClr val="EEF5FF"/>
                </a:solidFill>
                <a:latin typeface="Consolas" pitchFamily="34" charset="0"/>
                <a:ea typeface="Consolas" pitchFamily="34" charset="-122"/>
                <a:cs typeface="Consolas" pitchFamily="34" charset="-120"/>
              </a:rPr>
              <a:t>AttackPower</a:t>
            </a:r>
            <a:endParaRPr lang="en-US" sz="1600" dirty="0"/>
          </a:p>
          <a:p>
            <a:pPr indent="0" marL="0">
              <a:lnSpc>
                <a:spcPct val="110000"/>
              </a:lnSpc>
              <a:buNone/>
            </a:pPr>
            <a:r>
              <a:rPr lang="en-US" sz="1600" dirty="0">
                <a:solidFill>
                  <a:srgbClr val="EEF5FF"/>
                </a:solidFill>
                <a:latin typeface="Consolas" pitchFamily="34" charset="0"/>
                <a:ea typeface="Consolas" pitchFamily="34" charset="-122"/>
                <a:cs typeface="Consolas" pitchFamily="34" charset="-120"/>
              </a:rPr>
              <a:t>CurrentHp</a:t>
            </a:r>
            <a:endParaRPr lang="en-US" sz="1600" dirty="0"/>
          </a:p>
        </p:txBody>
      </p:sp>
      <p:sp>
        <p:nvSpPr>
          <p:cNvPr id="9" name="Text 6"/>
          <p:cNvSpPr txBox="1"/>
          <p:nvPr/>
        </p:nvSpPr>
        <p:spPr>
          <a:xfrm>
            <a:off x="777240" y="3886200"/>
            <a:ext cx="3383280" cy="731520"/>
          </a:xfrm>
          <a:prstGeom prst="rect">
            <a:avLst/>
          </a:prstGeom>
          <a:noFill/>
          <a:ln/>
        </p:spPr>
        <p:txBody>
          <a:bodyPr wrap="square" lIns="0" tIns="0" rIns="0" bIns="0" rtlCol="0" anchor="t"/>
          <a:lstStyle/>
          <a:p>
            <a:pPr indent="0" marL="0">
              <a:lnSpc>
                <a:spcPct val="110000"/>
              </a:lnSpc>
              <a:buNone/>
            </a:pPr>
            <a:r>
              <a:rPr lang="en-US" sz="1600" dirty="0">
                <a:solidFill>
                  <a:srgbClr val="FFD16F"/>
                </a:solidFill>
                <a:latin typeface="Consolas" pitchFamily="34" charset="0"/>
                <a:ea typeface="Consolas" pitchFamily="34" charset="-122"/>
                <a:cs typeface="Consolas" pitchFamily="34" charset="-120"/>
              </a:rPr>
              <a:t>TakeDamage()</a:t>
            </a:r>
            <a:endParaRPr lang="en-US" sz="1600" dirty="0"/>
          </a:p>
          <a:p>
            <a:pPr indent="0" marL="0">
              <a:lnSpc>
                <a:spcPct val="110000"/>
              </a:lnSpc>
              <a:buNone/>
            </a:pPr>
            <a:r>
              <a:rPr lang="en-US" sz="1600" dirty="0">
                <a:solidFill>
                  <a:srgbClr val="FFD16F"/>
                </a:solidFill>
                <a:latin typeface="Consolas" pitchFamily="34" charset="0"/>
                <a:ea typeface="Consolas" pitchFamily="34" charset="-122"/>
                <a:cs typeface="Consolas" pitchFamily="34" charset="-120"/>
              </a:rPr>
              <a:t>Heal()</a:t>
            </a:r>
            <a:endParaRPr lang="en-US" sz="1600" dirty="0"/>
          </a:p>
        </p:txBody>
      </p:sp>
      <p:sp>
        <p:nvSpPr>
          <p:cNvPr id="10" name="Shape 7"/>
          <p:cNvSpPr/>
          <p:nvPr/>
        </p:nvSpPr>
        <p:spPr>
          <a:xfrm>
            <a:off x="6035040" y="1783080"/>
            <a:ext cx="5577840" cy="1417320"/>
          </a:xfrm>
          <a:prstGeom prst="roundRect">
            <a:avLst>
              <a:gd name="adj" fmla="val 7742"/>
            </a:avLst>
          </a:prstGeom>
          <a:solidFill>
            <a:srgbClr val="142B45"/>
          </a:solidFill>
          <a:ln w="12700">
            <a:solidFill>
              <a:srgbClr val="2A405B"/>
            </a:solidFill>
            <a:prstDash val="solid"/>
          </a:ln>
        </p:spPr>
      </p:sp>
      <p:sp>
        <p:nvSpPr>
          <p:cNvPr id="11" name="Text 8"/>
          <p:cNvSpPr txBox="1"/>
          <p:nvPr/>
        </p:nvSpPr>
        <p:spPr>
          <a:xfrm>
            <a:off x="6263640" y="1947672"/>
            <a:ext cx="5120640" cy="365760"/>
          </a:xfrm>
          <a:prstGeom prst="rect">
            <a:avLst/>
          </a:prstGeom>
          <a:noFill/>
          <a:ln/>
        </p:spPr>
        <p:txBody>
          <a:bodyPr wrap="square" lIns="0" tIns="0" rIns="0" bIns="0" rtlCol="0" anchor="t"/>
          <a:lstStyle/>
          <a:p>
            <a:pPr indent="0" marL="0">
              <a:buNone/>
            </a:pPr>
            <a:r>
              <a:rPr lang="en-US" sz="1800" b="1" dirty="0">
                <a:solidFill>
                  <a:srgbClr val="EEF5FF"/>
                </a:solidFill>
                <a:latin typeface="Consolas" pitchFamily="34" charset="0"/>
                <a:ea typeface="Consolas" pitchFamily="34" charset="-122"/>
                <a:cs typeface="Consolas" pitchFamily="34" charset="-120"/>
              </a:rPr>
              <a:t>swordsman</a:t>
            </a:r>
            <a:endParaRPr lang="en-US" sz="1800" dirty="0"/>
          </a:p>
        </p:txBody>
      </p:sp>
      <p:sp>
        <p:nvSpPr>
          <p:cNvPr id="12" name="Text 9"/>
          <p:cNvSpPr txBox="1"/>
          <p:nvPr/>
        </p:nvSpPr>
        <p:spPr>
          <a:xfrm>
            <a:off x="6263640" y="2468880"/>
            <a:ext cx="5212080" cy="411480"/>
          </a:xfrm>
          <a:prstGeom prst="rect">
            <a:avLst/>
          </a:prstGeom>
          <a:noFill/>
          <a:ln/>
        </p:spPr>
        <p:txBody>
          <a:bodyPr wrap="square" lIns="0" tIns="0" rIns="0" bIns="0" rtlCol="0" anchor="t"/>
          <a:lstStyle/>
          <a:p>
            <a:pPr indent="0" marL="0">
              <a:buNone/>
            </a:pPr>
            <a:r>
              <a:rPr lang="en-US" sz="1500" dirty="0">
                <a:solidFill>
                  <a:srgbClr val="AFBED1"/>
                </a:solidFill>
                <a:latin typeface="Consolas" pitchFamily="34" charset="0"/>
                <a:ea typeface="Consolas" pitchFamily="34" charset="-122"/>
                <a:cs typeface="Consolas" pitchFamily="34" charset="-120"/>
              </a:rPr>
              <a:t>Name "검사"    CurrentHp 30    AttackPower 6</a:t>
            </a:r>
            <a:endParaRPr lang="en-US" sz="1500" dirty="0"/>
          </a:p>
        </p:txBody>
      </p:sp>
      <p:sp>
        <p:nvSpPr>
          <p:cNvPr id="13" name="Shape 10"/>
          <p:cNvSpPr/>
          <p:nvPr/>
        </p:nvSpPr>
        <p:spPr>
          <a:xfrm flipV="1">
            <a:off x="4434840" y="2496312"/>
            <a:ext cx="1554480" cy="429768"/>
          </a:xfrm>
          <a:prstGeom prst="line">
            <a:avLst/>
          </a:prstGeom>
          <a:noFill/>
          <a:ln w="25400">
            <a:solidFill>
              <a:srgbClr val="55E4CF"/>
            </a:solidFill>
            <a:prstDash val="solid"/>
            <a:tailEnd type="triangle"/>
          </a:ln>
        </p:spPr>
      </p:sp>
      <p:sp>
        <p:nvSpPr>
          <p:cNvPr id="14" name="Shape 11"/>
          <p:cNvSpPr/>
          <p:nvPr/>
        </p:nvSpPr>
        <p:spPr>
          <a:xfrm>
            <a:off x="6035040" y="3429000"/>
            <a:ext cx="5577840" cy="1417320"/>
          </a:xfrm>
          <a:prstGeom prst="roundRect">
            <a:avLst>
              <a:gd name="adj" fmla="val 7742"/>
            </a:avLst>
          </a:prstGeom>
          <a:solidFill>
            <a:srgbClr val="142B45"/>
          </a:solidFill>
          <a:ln w="12700">
            <a:solidFill>
              <a:srgbClr val="2A405B"/>
            </a:solidFill>
            <a:prstDash val="solid"/>
          </a:ln>
        </p:spPr>
      </p:sp>
      <p:sp>
        <p:nvSpPr>
          <p:cNvPr id="15" name="Text 12"/>
          <p:cNvSpPr txBox="1"/>
          <p:nvPr/>
        </p:nvSpPr>
        <p:spPr>
          <a:xfrm>
            <a:off x="6263640" y="3593592"/>
            <a:ext cx="5120640" cy="365760"/>
          </a:xfrm>
          <a:prstGeom prst="rect">
            <a:avLst/>
          </a:prstGeom>
          <a:noFill/>
          <a:ln/>
        </p:spPr>
        <p:txBody>
          <a:bodyPr wrap="square" lIns="0" tIns="0" rIns="0" bIns="0" rtlCol="0" anchor="t"/>
          <a:lstStyle/>
          <a:p>
            <a:pPr indent="0" marL="0">
              <a:buNone/>
            </a:pPr>
            <a:r>
              <a:rPr lang="en-US" sz="1800" b="1" dirty="0">
                <a:solidFill>
                  <a:srgbClr val="EEF5FF"/>
                </a:solidFill>
                <a:latin typeface="Consolas" pitchFamily="34" charset="0"/>
                <a:ea typeface="Consolas" pitchFamily="34" charset="-122"/>
                <a:cs typeface="Consolas" pitchFamily="34" charset="-120"/>
              </a:rPr>
              <a:t>archer</a:t>
            </a:r>
            <a:endParaRPr lang="en-US" sz="1800" dirty="0"/>
          </a:p>
        </p:txBody>
      </p:sp>
      <p:sp>
        <p:nvSpPr>
          <p:cNvPr id="16" name="Text 13"/>
          <p:cNvSpPr txBox="1"/>
          <p:nvPr/>
        </p:nvSpPr>
        <p:spPr>
          <a:xfrm>
            <a:off x="6263640" y="4114800"/>
            <a:ext cx="5212080" cy="411480"/>
          </a:xfrm>
          <a:prstGeom prst="rect">
            <a:avLst/>
          </a:prstGeom>
          <a:noFill/>
          <a:ln/>
        </p:spPr>
        <p:txBody>
          <a:bodyPr wrap="square" lIns="0" tIns="0" rIns="0" bIns="0" rtlCol="0" anchor="t"/>
          <a:lstStyle/>
          <a:p>
            <a:pPr indent="0" marL="0">
              <a:buNone/>
            </a:pPr>
            <a:r>
              <a:rPr lang="en-US" sz="1500" dirty="0">
                <a:solidFill>
                  <a:srgbClr val="AFBED1"/>
                </a:solidFill>
                <a:latin typeface="Consolas" pitchFamily="34" charset="0"/>
                <a:ea typeface="Consolas" pitchFamily="34" charset="-122"/>
                <a:cs typeface="Consolas" pitchFamily="34" charset="-120"/>
              </a:rPr>
              <a:t>Name "궁수"    CurrentHp 20    AttackPower 4</a:t>
            </a:r>
            <a:endParaRPr lang="en-US" sz="1500" dirty="0"/>
          </a:p>
        </p:txBody>
      </p:sp>
      <p:sp>
        <p:nvSpPr>
          <p:cNvPr id="17" name="Shape 14"/>
          <p:cNvSpPr/>
          <p:nvPr/>
        </p:nvSpPr>
        <p:spPr>
          <a:xfrm>
            <a:off x="4434840" y="3474720"/>
            <a:ext cx="1554480" cy="667512"/>
          </a:xfrm>
          <a:prstGeom prst="line">
            <a:avLst/>
          </a:prstGeom>
          <a:noFill/>
          <a:ln w="25400">
            <a:solidFill>
              <a:srgbClr val="55E4CF"/>
            </a:solidFill>
            <a:prstDash val="solid"/>
            <a:tailEnd type="triangle"/>
          </a:ln>
        </p:spPr>
      </p:sp>
      <p:sp>
        <p:nvSpPr>
          <p:cNvPr id="18" name="Text 15"/>
          <p:cNvSpPr txBox="1"/>
          <p:nvPr/>
        </p:nvSpPr>
        <p:spPr>
          <a:xfrm>
            <a:off x="4800600" y="2331720"/>
            <a:ext cx="731520" cy="320040"/>
          </a:xfrm>
          <a:prstGeom prst="rect">
            <a:avLst/>
          </a:prstGeom>
          <a:noFill/>
          <a:ln/>
        </p:spPr>
        <p:txBody>
          <a:bodyPr wrap="square" lIns="0" tIns="0" rIns="0" bIns="0" rtlCol="0" anchor="t"/>
          <a:lstStyle/>
          <a:p>
            <a:pPr indent="0" marL="0">
              <a:buNone/>
            </a:pPr>
            <a:r>
              <a:rPr lang="en-US" sz="1400" b="1" dirty="0">
                <a:solidFill>
                  <a:srgbClr val="55E4CF"/>
                </a:solidFill>
                <a:latin typeface="Consolas" pitchFamily="34" charset="0"/>
                <a:ea typeface="Consolas" pitchFamily="34" charset="-122"/>
                <a:cs typeface="Consolas" pitchFamily="34" charset="-120"/>
              </a:rPr>
              <a:t>new</a:t>
            </a:r>
            <a:endParaRPr lang="en-US" sz="1400" dirty="0"/>
          </a:p>
        </p:txBody>
      </p:sp>
      <p:sp>
        <p:nvSpPr>
          <p:cNvPr id="19" name="Shape 16"/>
          <p:cNvSpPr/>
          <p:nvPr/>
        </p:nvSpPr>
        <p:spPr>
          <a:xfrm>
            <a:off x="548640" y="5212080"/>
            <a:ext cx="11064240" cy="960120"/>
          </a:xfrm>
          <a:prstGeom prst="roundRect">
            <a:avLst>
              <a:gd name="adj" fmla="val 7619"/>
            </a:avLst>
          </a:prstGeom>
          <a:solidFill>
            <a:srgbClr val="040A13"/>
          </a:solidFill>
          <a:ln w="12700">
            <a:solidFill>
              <a:srgbClr val="2A405B"/>
            </a:solidFill>
            <a:prstDash val="solid"/>
          </a:ln>
        </p:spPr>
      </p:sp>
      <p:sp>
        <p:nvSpPr>
          <p:cNvPr id="20" name="Text 17"/>
          <p:cNvSpPr txBox="1"/>
          <p:nvPr/>
        </p:nvSpPr>
        <p:spPr>
          <a:xfrm>
            <a:off x="731520" y="5394960"/>
            <a:ext cx="10698480" cy="594360"/>
          </a:xfrm>
          <a:prstGeom prst="rect">
            <a:avLst/>
          </a:prstGeom>
          <a:noFill/>
          <a:ln/>
        </p:spPr>
        <p:txBody>
          <a:bodyPr wrap="none" lIns="0" tIns="0" rIns="0" bIns="0" rtlCol="0" anchor="t"/>
          <a:lstStyle/>
          <a:p>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swordsman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new</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"검사"</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30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6</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archer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new</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"궁수"</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20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4</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55E4CF"/>
          </a:solidFill>
          <a:ln w="12700">
            <a:solidFill>
              <a:srgbClr val="55E4C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55E4CF"/>
                </a:solidFill>
              </a:rPr>
              <a:t>STATE AND BEHAVIOR</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상태와 행동</a:t>
            </a:r>
            <a:endParaRPr lang="en-US" sz="2800" dirty="0"/>
          </a:p>
        </p:txBody>
      </p:sp>
      <p:sp>
        <p:nvSpPr>
          <p:cNvPr id="6" name="Shape 3"/>
          <p:cNvSpPr/>
          <p:nvPr/>
        </p:nvSpPr>
        <p:spPr>
          <a:xfrm>
            <a:off x="548640" y="1783080"/>
            <a:ext cx="7315200" cy="3337560"/>
          </a:xfrm>
          <a:prstGeom prst="roundRect">
            <a:avLst>
              <a:gd name="adj" fmla="val 2192"/>
            </a:avLst>
          </a:prstGeom>
          <a:solidFill>
            <a:srgbClr val="040A13"/>
          </a:solidFill>
          <a:ln w="12700">
            <a:solidFill>
              <a:srgbClr val="2A405B"/>
            </a:solidFill>
            <a:prstDash val="solid"/>
          </a:ln>
        </p:spPr>
      </p:sp>
      <p:sp>
        <p:nvSpPr>
          <p:cNvPr id="7" name="Shape 4"/>
          <p:cNvSpPr/>
          <p:nvPr/>
        </p:nvSpPr>
        <p:spPr>
          <a:xfrm>
            <a:off x="603504" y="2560320"/>
            <a:ext cx="7205472" cy="1188720"/>
          </a:xfrm>
          <a:prstGeom prst="rect">
            <a:avLst/>
          </a:prstGeom>
          <a:solidFill>
            <a:srgbClr val="55E4CF">
              <a:alpha val="20000"/>
            </a:srgbClr>
          </a:solidFill>
          <a:ln w="12700">
            <a:solidFill>
              <a:srgbClr val="55E4CF">
                <a:alpha val="0"/>
              </a:srgbClr>
            </a:solidFill>
            <a:prstDash val="solid"/>
          </a:ln>
        </p:spPr>
      </p:sp>
      <p:sp>
        <p:nvSpPr>
          <p:cNvPr id="8" name="Shape 5"/>
          <p:cNvSpPr/>
          <p:nvPr/>
        </p:nvSpPr>
        <p:spPr>
          <a:xfrm>
            <a:off x="603504" y="4046220"/>
            <a:ext cx="7205472" cy="594360"/>
          </a:xfrm>
          <a:prstGeom prst="rect">
            <a:avLst/>
          </a:prstGeom>
          <a:solidFill>
            <a:srgbClr val="FFD16F">
              <a:alpha val="20000"/>
            </a:srgbClr>
          </a:solidFill>
          <a:ln w="12700">
            <a:solidFill>
              <a:srgbClr val="FFD16F">
                <a:alpha val="0"/>
              </a:srgbClr>
            </a:solidFill>
            <a:prstDash val="solid"/>
          </a:ln>
        </p:spPr>
      </p:sp>
      <p:sp>
        <p:nvSpPr>
          <p:cNvPr id="9" name="Text 6"/>
          <p:cNvSpPr txBox="1"/>
          <p:nvPr/>
        </p:nvSpPr>
        <p:spPr>
          <a:xfrm>
            <a:off x="731520" y="1965960"/>
            <a:ext cx="6949440" cy="297180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sealed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class</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string</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Name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MaxHp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AttackPower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CurrentHp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private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TakeDamage(</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damage) { ...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Heal(</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amount) { ...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10" name="Shape 7"/>
          <p:cNvSpPr/>
          <p:nvPr/>
        </p:nvSpPr>
        <p:spPr>
          <a:xfrm>
            <a:off x="8229600" y="1783080"/>
            <a:ext cx="3383280" cy="1874520"/>
          </a:xfrm>
          <a:prstGeom prst="roundRect">
            <a:avLst>
              <a:gd name="adj" fmla="val 5854"/>
            </a:avLst>
          </a:prstGeom>
          <a:solidFill>
            <a:srgbClr val="10233A"/>
          </a:solidFill>
          <a:ln w="12700">
            <a:solidFill>
              <a:srgbClr val="2A405B"/>
            </a:solidFill>
            <a:prstDash val="solid"/>
          </a:ln>
        </p:spPr>
      </p:sp>
      <p:sp>
        <p:nvSpPr>
          <p:cNvPr id="11" name="Text 8"/>
          <p:cNvSpPr txBox="1"/>
          <p:nvPr/>
        </p:nvSpPr>
        <p:spPr>
          <a:xfrm>
            <a:off x="8458200" y="2011680"/>
            <a:ext cx="2926080" cy="346329"/>
          </a:xfrm>
          <a:prstGeom prst="rect">
            <a:avLst/>
          </a:prstGeom>
          <a:noFill/>
          <a:ln/>
        </p:spPr>
        <p:txBody>
          <a:bodyPr wrap="square" lIns="0" tIns="0" rIns="0" bIns="0" rtlCol="0" anchor="t"/>
          <a:lstStyle/>
          <a:p>
            <a:pPr indent="0" marL="0">
              <a:buNone/>
            </a:pPr>
            <a:r>
              <a:rPr lang="en-US" sz="1700" b="1" dirty="0">
                <a:solidFill>
                  <a:srgbClr val="55E4CF"/>
                </a:solidFill>
              </a:rPr>
              <a:t>상태 · State</a:t>
            </a:r>
            <a:endParaRPr lang="en-US" sz="1700" dirty="0"/>
          </a:p>
        </p:txBody>
      </p:sp>
      <p:sp>
        <p:nvSpPr>
          <p:cNvPr id="12" name="Text 9"/>
          <p:cNvSpPr txBox="1"/>
          <p:nvPr/>
        </p:nvSpPr>
        <p:spPr>
          <a:xfrm>
            <a:off x="8458200" y="2431161"/>
            <a:ext cx="2926080" cy="108927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객체가 가진 값입니다. 인스턴스마다 값이 다릅니다.</a:t>
            </a:r>
            <a:endParaRPr lang="en-US" sz="1400" dirty="0"/>
          </a:p>
        </p:txBody>
      </p:sp>
      <p:sp>
        <p:nvSpPr>
          <p:cNvPr id="13" name="Shape 10"/>
          <p:cNvSpPr/>
          <p:nvPr/>
        </p:nvSpPr>
        <p:spPr>
          <a:xfrm>
            <a:off x="8229600" y="3840480"/>
            <a:ext cx="3383280" cy="1874520"/>
          </a:xfrm>
          <a:prstGeom prst="roundRect">
            <a:avLst>
              <a:gd name="adj" fmla="val 5854"/>
            </a:avLst>
          </a:prstGeom>
          <a:solidFill>
            <a:srgbClr val="10233A"/>
          </a:solidFill>
          <a:ln w="12700">
            <a:solidFill>
              <a:srgbClr val="2A405B"/>
            </a:solidFill>
            <a:prstDash val="solid"/>
          </a:ln>
        </p:spPr>
      </p:sp>
      <p:sp>
        <p:nvSpPr>
          <p:cNvPr id="14" name="Text 11"/>
          <p:cNvSpPr txBox="1"/>
          <p:nvPr/>
        </p:nvSpPr>
        <p:spPr>
          <a:xfrm>
            <a:off x="8458200" y="4069080"/>
            <a:ext cx="2926080" cy="346329"/>
          </a:xfrm>
          <a:prstGeom prst="rect">
            <a:avLst/>
          </a:prstGeom>
          <a:noFill/>
          <a:ln/>
        </p:spPr>
        <p:txBody>
          <a:bodyPr wrap="square" lIns="0" tIns="0" rIns="0" bIns="0" rtlCol="0" anchor="t"/>
          <a:lstStyle/>
          <a:p>
            <a:pPr indent="0" marL="0">
              <a:buNone/>
            </a:pPr>
            <a:r>
              <a:rPr lang="en-US" sz="1700" b="1" dirty="0">
                <a:solidFill>
                  <a:srgbClr val="FFD16F"/>
                </a:solidFill>
              </a:rPr>
              <a:t>행동 · Behavior</a:t>
            </a:r>
            <a:endParaRPr lang="en-US" sz="1700" dirty="0"/>
          </a:p>
        </p:txBody>
      </p:sp>
      <p:sp>
        <p:nvSpPr>
          <p:cNvPr id="15" name="Text 12"/>
          <p:cNvSpPr txBox="1"/>
          <p:nvPr/>
        </p:nvSpPr>
        <p:spPr>
          <a:xfrm>
            <a:off x="8458200" y="4488561"/>
            <a:ext cx="2926080" cy="108927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객체가 하는 일입니다. 자기 상태는 자기 메서드로 바꿉니다.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55E4CF"/>
          </a:solidFill>
          <a:ln w="12700">
            <a:solidFill>
              <a:srgbClr val="55E4C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55E4CF"/>
                </a:solidFill>
              </a:rPr>
              <a:t>PROGRAM CLASS</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Program도 클래스</a:t>
            </a:r>
            <a:endParaRPr lang="en-US" sz="2800" dirty="0"/>
          </a:p>
        </p:txBody>
      </p:sp>
      <p:sp>
        <p:nvSpPr>
          <p:cNvPr id="6" name="Shape 3"/>
          <p:cNvSpPr/>
          <p:nvPr/>
        </p:nvSpPr>
        <p:spPr>
          <a:xfrm>
            <a:off x="548640" y="1783080"/>
            <a:ext cx="7223760" cy="3337560"/>
          </a:xfrm>
          <a:prstGeom prst="roundRect">
            <a:avLst>
              <a:gd name="adj" fmla="val 2192"/>
            </a:avLst>
          </a:prstGeom>
          <a:solidFill>
            <a:srgbClr val="040A13"/>
          </a:solidFill>
          <a:ln w="12700">
            <a:solidFill>
              <a:srgbClr val="2A405B"/>
            </a:solidFill>
            <a:prstDash val="solid"/>
          </a:ln>
        </p:spPr>
      </p:sp>
      <p:sp>
        <p:nvSpPr>
          <p:cNvPr id="7" name="Shape 4"/>
          <p:cNvSpPr/>
          <p:nvPr/>
        </p:nvSpPr>
        <p:spPr>
          <a:xfrm>
            <a:off x="603504" y="1965960"/>
            <a:ext cx="7114032" cy="297180"/>
          </a:xfrm>
          <a:prstGeom prst="rect">
            <a:avLst/>
          </a:prstGeom>
          <a:solidFill>
            <a:srgbClr val="55E4CF">
              <a:alpha val="20000"/>
            </a:srgbClr>
          </a:solidFill>
          <a:ln w="12700">
            <a:solidFill>
              <a:srgbClr val="55E4CF">
                <a:alpha val="0"/>
              </a:srgbClr>
            </a:solidFill>
            <a:prstDash val="solid"/>
          </a:ln>
        </p:spPr>
      </p:sp>
      <p:sp>
        <p:nvSpPr>
          <p:cNvPr id="8" name="Shape 5"/>
          <p:cNvSpPr/>
          <p:nvPr/>
        </p:nvSpPr>
        <p:spPr>
          <a:xfrm>
            <a:off x="603504" y="4046220"/>
            <a:ext cx="7114032" cy="297180"/>
          </a:xfrm>
          <a:prstGeom prst="rect">
            <a:avLst/>
          </a:prstGeom>
          <a:solidFill>
            <a:srgbClr val="FFD16F">
              <a:alpha val="20000"/>
            </a:srgbClr>
          </a:solidFill>
          <a:ln w="12700">
            <a:solidFill>
              <a:srgbClr val="FFD16F">
                <a:alpha val="0"/>
              </a:srgbClr>
            </a:solidFill>
            <a:prstDash val="solid"/>
          </a:ln>
        </p:spPr>
      </p:sp>
      <p:sp>
        <p:nvSpPr>
          <p:cNvPr id="9" name="Text 6"/>
          <p:cNvSpPr txBox="1"/>
          <p:nvPr/>
        </p:nvSpPr>
        <p:spPr>
          <a:xfrm>
            <a:off x="731520" y="1965960"/>
            <a:ext cx="6858000" cy="297180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static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class</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Program</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static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Main(</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string</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args)</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swordsman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new</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"검사"</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30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6</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archer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new</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"궁수"</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20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4</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archer.TakeDamage(swordsman.AttackPower);</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10" name="Shape 7"/>
          <p:cNvSpPr/>
          <p:nvPr/>
        </p:nvSpPr>
        <p:spPr>
          <a:xfrm>
            <a:off x="8092440" y="1783080"/>
            <a:ext cx="3520440" cy="1874520"/>
          </a:xfrm>
          <a:prstGeom prst="roundRect">
            <a:avLst>
              <a:gd name="adj" fmla="val 5854"/>
            </a:avLst>
          </a:prstGeom>
          <a:solidFill>
            <a:srgbClr val="10233A"/>
          </a:solidFill>
          <a:ln w="12700">
            <a:solidFill>
              <a:srgbClr val="2A405B"/>
            </a:solidFill>
            <a:prstDash val="solid"/>
          </a:ln>
        </p:spPr>
      </p:sp>
      <p:sp>
        <p:nvSpPr>
          <p:cNvPr id="11" name="Text 8"/>
          <p:cNvSpPr txBox="1"/>
          <p:nvPr/>
        </p:nvSpPr>
        <p:spPr>
          <a:xfrm>
            <a:off x="8321040" y="2011680"/>
            <a:ext cx="3063240" cy="346329"/>
          </a:xfrm>
          <a:prstGeom prst="rect">
            <a:avLst/>
          </a:prstGeom>
          <a:noFill/>
          <a:ln/>
        </p:spPr>
        <p:txBody>
          <a:bodyPr wrap="square" lIns="0" tIns="0" rIns="0" bIns="0" rtlCol="0" anchor="t"/>
          <a:lstStyle/>
          <a:p>
            <a:pPr indent="0" marL="0">
              <a:buNone/>
            </a:pPr>
            <a:r>
              <a:rPr lang="en-US" sz="1700" b="1" dirty="0">
                <a:solidFill>
                  <a:srgbClr val="55E4CF"/>
                </a:solidFill>
              </a:rPr>
              <a:t>메서드는 타입 안에 있다</a:t>
            </a:r>
            <a:endParaRPr lang="en-US" sz="1700" dirty="0"/>
          </a:p>
        </p:txBody>
      </p:sp>
      <p:sp>
        <p:nvSpPr>
          <p:cNvPr id="12" name="Text 9"/>
          <p:cNvSpPr txBox="1"/>
          <p:nvPr/>
        </p:nvSpPr>
        <p:spPr>
          <a:xfrm>
            <a:off x="8321040" y="2431161"/>
            <a:ext cx="3063240" cy="108927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Console.WriteLine도 Console 클래스의 메서드입니다.</a:t>
            </a:r>
            <a:endParaRPr lang="en-US" sz="1400" dirty="0"/>
          </a:p>
        </p:txBody>
      </p:sp>
      <p:sp>
        <p:nvSpPr>
          <p:cNvPr id="13" name="Shape 10"/>
          <p:cNvSpPr/>
          <p:nvPr/>
        </p:nvSpPr>
        <p:spPr>
          <a:xfrm>
            <a:off x="8092440" y="3840480"/>
            <a:ext cx="3520440" cy="1874520"/>
          </a:xfrm>
          <a:prstGeom prst="roundRect">
            <a:avLst>
              <a:gd name="adj" fmla="val 5854"/>
            </a:avLst>
          </a:prstGeom>
          <a:solidFill>
            <a:srgbClr val="10233A"/>
          </a:solidFill>
          <a:ln w="12700">
            <a:solidFill>
              <a:srgbClr val="2A405B"/>
            </a:solidFill>
            <a:prstDash val="solid"/>
          </a:ln>
        </p:spPr>
      </p:sp>
      <p:sp>
        <p:nvSpPr>
          <p:cNvPr id="14" name="Text 11"/>
          <p:cNvSpPr txBox="1"/>
          <p:nvPr/>
        </p:nvSpPr>
        <p:spPr>
          <a:xfrm>
            <a:off x="8321040" y="4069080"/>
            <a:ext cx="3063240" cy="346329"/>
          </a:xfrm>
          <a:prstGeom prst="rect">
            <a:avLst/>
          </a:prstGeom>
          <a:noFill/>
          <a:ln/>
        </p:spPr>
        <p:txBody>
          <a:bodyPr wrap="square" lIns="0" tIns="0" rIns="0" bIns="0" rtlCol="0" anchor="t"/>
          <a:lstStyle/>
          <a:p>
            <a:pPr indent="0" marL="0">
              <a:buNone/>
            </a:pPr>
            <a:r>
              <a:rPr lang="en-US" sz="1700" b="1" dirty="0">
                <a:solidFill>
                  <a:srgbClr val="FFD16F"/>
                </a:solidFill>
              </a:rPr>
              <a:t>static</a:t>
            </a:r>
            <a:endParaRPr lang="en-US" sz="1700" dirty="0"/>
          </a:p>
        </p:txBody>
      </p:sp>
      <p:sp>
        <p:nvSpPr>
          <p:cNvPr id="15" name="Text 12"/>
          <p:cNvSpPr txBox="1"/>
          <p:nvPr/>
        </p:nvSpPr>
        <p:spPr>
          <a:xfrm>
            <a:off x="8321040" y="4488561"/>
            <a:ext cx="3063240" cy="108927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Main은 인스턴스 없이 실행됩니다. TakeDamage는 인스턴스에게 호출합니다.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502920"/>
            <a:ext cx="1005840" cy="1005840"/>
          </a:xfrm>
          <a:prstGeom prst="ellipse">
            <a:avLst/>
          </a:prstGeom>
          <a:solidFill>
            <a:srgbClr val="FFD16F"/>
          </a:solidFill>
          <a:ln w="12700">
            <a:solidFill>
              <a:srgbClr val="FFD16F"/>
            </a:solidFill>
            <a:prstDash val="solid"/>
          </a:ln>
        </p:spPr>
      </p:sp>
      <p:sp>
        <p:nvSpPr>
          <p:cNvPr id="3" name="Text 1"/>
          <p:cNvSpPr txBox="1"/>
          <p:nvPr/>
        </p:nvSpPr>
        <p:spPr>
          <a:xfrm>
            <a:off x="548640" y="502920"/>
            <a:ext cx="1005840" cy="1005840"/>
          </a:xfrm>
          <a:prstGeom prst="rect">
            <a:avLst/>
          </a:prstGeom>
          <a:noFill/>
          <a:ln/>
        </p:spPr>
        <p:txBody>
          <a:bodyPr wrap="square" lIns="0" tIns="0" rIns="0" bIns="0" rtlCol="0" anchor="ctr"/>
          <a:lstStyle/>
          <a:p>
            <a:pPr algn="ctr" indent="0" marL="0">
              <a:buNone/>
            </a:pPr>
            <a:r>
              <a:rPr lang="en-US" sz="4400" b="1" dirty="0">
                <a:solidFill>
                  <a:srgbClr val="040A13"/>
                </a:solidFill>
              </a:rPr>
              <a:t>Q</a:t>
            </a:r>
            <a:endParaRPr lang="en-US" sz="4400" dirty="0"/>
          </a:p>
        </p:txBody>
      </p:sp>
      <p:sp>
        <p:nvSpPr>
          <p:cNvPr id="4" name="Text 2"/>
          <p:cNvSpPr txBox="1"/>
          <p:nvPr/>
        </p:nvSpPr>
        <p:spPr>
          <a:xfrm>
            <a:off x="1828800" y="566928"/>
            <a:ext cx="9144000" cy="310896"/>
          </a:xfrm>
          <a:prstGeom prst="rect">
            <a:avLst/>
          </a:prstGeom>
          <a:noFill/>
          <a:ln/>
        </p:spPr>
        <p:txBody>
          <a:bodyPr wrap="square" lIns="0" tIns="0" rIns="0" bIns="0" rtlCol="0" anchor="t"/>
          <a:lstStyle/>
          <a:p>
            <a:pPr indent="0" marL="0">
              <a:buNone/>
            </a:pPr>
            <a:r>
              <a:rPr lang="en-US" sz="1300" b="1" spc="150" kern="0" dirty="0">
                <a:solidFill>
                  <a:srgbClr val="FFD16F"/>
                </a:solidFill>
              </a:rPr>
              <a:t>CHECK 1 · 객체와 클래스</a:t>
            </a:r>
            <a:endParaRPr lang="en-US" sz="1300" dirty="0"/>
          </a:p>
        </p:txBody>
      </p:sp>
      <p:sp>
        <p:nvSpPr>
          <p:cNvPr id="5" name="Text 3"/>
          <p:cNvSpPr txBox="1"/>
          <p:nvPr/>
        </p:nvSpPr>
        <p:spPr>
          <a:xfrm>
            <a:off x="1828800" y="914400"/>
            <a:ext cx="9784080" cy="1280160"/>
          </a:xfrm>
          <a:prstGeom prst="rect">
            <a:avLst/>
          </a:prstGeom>
          <a:noFill/>
          <a:ln/>
        </p:spPr>
        <p:txBody>
          <a:bodyPr wrap="square" lIns="0" tIns="0" rIns="0" bIns="0" rtlCol="0" anchor="t"/>
          <a:lstStyle/>
          <a:p>
            <a:pPr indent="0" marL="0">
              <a:lnSpc>
                <a:spcPct val="115000"/>
              </a:lnSpc>
              <a:buNone/>
            </a:pPr>
            <a:r>
              <a:rPr lang="en-US" sz="2600" b="1" dirty="0">
                <a:solidFill>
                  <a:srgbClr val="EEF5FF"/>
                </a:solidFill>
              </a:rPr>
              <a:t>archer.TakeDamage(6)을 호출하면</a:t>
            </a:r>
            <a:endParaRPr lang="en-US" sz="2600" dirty="0"/>
          </a:p>
          <a:p>
            <a:pPr indent="0" marL="0">
              <a:lnSpc>
                <a:spcPct val="115000"/>
              </a:lnSpc>
              <a:buNone/>
            </a:pPr>
            <a:r>
              <a:rPr lang="en-US" sz="2600" b="1" dirty="0">
                <a:solidFill>
                  <a:srgbClr val="EEF5FF"/>
                </a:solidFill>
              </a:rPr>
              <a:t>swordsman의 CurrentHp는?</a:t>
            </a:r>
            <a:endParaRPr lang="en-US" sz="2600" dirty="0"/>
          </a:p>
        </p:txBody>
      </p:sp>
      <p:sp>
        <p:nvSpPr>
          <p:cNvPr id="6" name="Text 4"/>
          <p:cNvSpPr txBox="1"/>
          <p:nvPr/>
        </p:nvSpPr>
        <p:spPr>
          <a:xfrm>
            <a:off x="1828800" y="2011680"/>
            <a:ext cx="9784080" cy="411480"/>
          </a:xfrm>
          <a:prstGeom prst="rect">
            <a:avLst/>
          </a:prstGeom>
          <a:noFill/>
          <a:ln/>
        </p:spPr>
        <p:txBody>
          <a:bodyPr wrap="square" lIns="0" tIns="0" rIns="0" bIns="0" rtlCol="0" anchor="t"/>
          <a:lstStyle/>
          <a:p>
            <a:pPr indent="0" marL="0">
              <a:buNone/>
            </a:pPr>
            <a:r>
              <a:rPr lang="en-US" sz="1700" dirty="0">
                <a:solidFill>
                  <a:srgbClr val="AFBED1"/>
                </a:solidFill>
              </a:rPr>
              <a:t>검사와 궁수는 같은 클래스로 만든 서로 다른 인스턴스입니다.</a:t>
            </a:r>
            <a:endParaRPr lang="en-US" sz="17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822960" y="1554480"/>
            <a:ext cx="2743200" cy="1005840"/>
          </a:xfrm>
          <a:prstGeom prst="rect">
            <a:avLst/>
          </a:prstGeom>
          <a:noFill/>
          <a:ln/>
        </p:spPr>
        <p:txBody>
          <a:bodyPr wrap="square" lIns="0" tIns="0" rIns="0" bIns="0" rtlCol="0" anchor="t"/>
          <a:lstStyle/>
          <a:p>
            <a:pPr indent="0" marL="0">
              <a:buNone/>
            </a:pPr>
            <a:r>
              <a:rPr lang="en-US" sz="6000" b="1" dirty="0">
                <a:solidFill>
                  <a:srgbClr val="83E58F"/>
                </a:solidFill>
              </a:rPr>
              <a:t>03</a:t>
            </a:r>
            <a:endParaRPr lang="en-US" sz="6000" dirty="0"/>
          </a:p>
        </p:txBody>
      </p:sp>
      <p:sp>
        <p:nvSpPr>
          <p:cNvPr id="3" name="Text 1"/>
          <p:cNvSpPr txBox="1"/>
          <p:nvPr/>
        </p:nvSpPr>
        <p:spPr>
          <a:xfrm>
            <a:off x="822960" y="2697480"/>
            <a:ext cx="9144000" cy="365760"/>
          </a:xfrm>
          <a:prstGeom prst="rect">
            <a:avLst/>
          </a:prstGeom>
          <a:noFill/>
          <a:ln/>
        </p:spPr>
        <p:txBody>
          <a:bodyPr wrap="square" lIns="0" tIns="0" rIns="0" bIns="0" rtlCol="0" anchor="t"/>
          <a:lstStyle/>
          <a:p>
            <a:pPr indent="0" marL="0">
              <a:buNone/>
            </a:pPr>
            <a:r>
              <a:rPr lang="en-US" sz="1500" b="1" spc="200" kern="0" dirty="0">
                <a:solidFill>
                  <a:srgbClr val="83E58F"/>
                </a:solidFill>
              </a:rPr>
              <a:t>ENCAPSULATION</a:t>
            </a:r>
            <a:endParaRPr lang="en-US" sz="1500" dirty="0"/>
          </a:p>
        </p:txBody>
      </p:sp>
      <p:sp>
        <p:nvSpPr>
          <p:cNvPr id="4" name="Text 2"/>
          <p:cNvSpPr txBox="1"/>
          <p:nvPr/>
        </p:nvSpPr>
        <p:spPr>
          <a:xfrm>
            <a:off x="822960" y="3108960"/>
            <a:ext cx="10515600" cy="914400"/>
          </a:xfrm>
          <a:prstGeom prst="rect">
            <a:avLst/>
          </a:prstGeom>
          <a:noFill/>
          <a:ln/>
        </p:spPr>
        <p:txBody>
          <a:bodyPr wrap="square" lIns="0" tIns="0" rIns="0" bIns="0" rtlCol="0" anchor="t"/>
          <a:lstStyle/>
          <a:p>
            <a:pPr indent="0" marL="0">
              <a:buNone/>
            </a:pPr>
            <a:r>
              <a:rPr lang="en-US" sz="4400" b="1" dirty="0">
                <a:solidFill>
                  <a:srgbClr val="EEF5FF"/>
                </a:solidFill>
              </a:rPr>
              <a:t>캡슐화</a:t>
            </a:r>
            <a:endParaRPr lang="en-US" sz="4400" dirty="0"/>
          </a:p>
        </p:txBody>
      </p:sp>
      <p:sp>
        <p:nvSpPr>
          <p:cNvPr id="5" name="Shape 3"/>
          <p:cNvSpPr/>
          <p:nvPr/>
        </p:nvSpPr>
        <p:spPr>
          <a:xfrm>
            <a:off x="822960" y="4846320"/>
            <a:ext cx="1298448" cy="457200"/>
          </a:xfrm>
          <a:prstGeom prst="roundRect">
            <a:avLst>
              <a:gd name="adj" fmla="val 50000"/>
            </a:avLst>
          </a:prstGeom>
          <a:solidFill>
            <a:srgbClr val="040A13"/>
          </a:solidFill>
          <a:ln w="12700">
            <a:solidFill>
              <a:srgbClr val="2A405B"/>
            </a:solidFill>
            <a:prstDash val="solid"/>
          </a:ln>
        </p:spPr>
      </p:sp>
      <p:sp>
        <p:nvSpPr>
          <p:cNvPr id="6" name="Text 4"/>
          <p:cNvSpPr txBox="1"/>
          <p:nvPr/>
        </p:nvSpPr>
        <p:spPr>
          <a:xfrm>
            <a:off x="822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도입</a:t>
            </a:r>
            <a:endParaRPr lang="en-US" sz="1300" dirty="0"/>
          </a:p>
        </p:txBody>
      </p:sp>
      <p:sp>
        <p:nvSpPr>
          <p:cNvPr id="7" name="Shape 5"/>
          <p:cNvSpPr/>
          <p:nvPr/>
        </p:nvSpPr>
        <p:spPr>
          <a:xfrm>
            <a:off x="2194560" y="4846320"/>
            <a:ext cx="1298448" cy="457200"/>
          </a:xfrm>
          <a:prstGeom prst="roundRect">
            <a:avLst>
              <a:gd name="adj" fmla="val 50000"/>
            </a:avLst>
          </a:prstGeom>
          <a:solidFill>
            <a:srgbClr val="040A13"/>
          </a:solidFill>
          <a:ln w="12700">
            <a:solidFill>
              <a:srgbClr val="2A405B"/>
            </a:solidFill>
            <a:prstDash val="solid"/>
          </a:ln>
        </p:spPr>
      </p:sp>
      <p:sp>
        <p:nvSpPr>
          <p:cNvPr id="8" name="Text 6"/>
          <p:cNvSpPr txBox="1"/>
          <p:nvPr/>
        </p:nvSpPr>
        <p:spPr>
          <a:xfrm>
            <a:off x="2194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객체와 클래스</a:t>
            </a:r>
            <a:endParaRPr lang="en-US" sz="1300" dirty="0"/>
          </a:p>
        </p:txBody>
      </p:sp>
      <p:sp>
        <p:nvSpPr>
          <p:cNvPr id="9" name="Shape 7"/>
          <p:cNvSpPr/>
          <p:nvPr/>
        </p:nvSpPr>
        <p:spPr>
          <a:xfrm>
            <a:off x="3566160" y="4846320"/>
            <a:ext cx="1298448" cy="457200"/>
          </a:xfrm>
          <a:prstGeom prst="roundRect">
            <a:avLst>
              <a:gd name="adj" fmla="val 50000"/>
            </a:avLst>
          </a:prstGeom>
          <a:solidFill>
            <a:srgbClr val="83E58F"/>
          </a:solidFill>
          <a:ln w="12700">
            <a:solidFill>
              <a:srgbClr val="83E58F"/>
            </a:solidFill>
            <a:prstDash val="solid"/>
          </a:ln>
        </p:spPr>
      </p:sp>
      <p:sp>
        <p:nvSpPr>
          <p:cNvPr id="10" name="Text 8"/>
          <p:cNvSpPr txBox="1"/>
          <p:nvPr/>
        </p:nvSpPr>
        <p:spPr>
          <a:xfrm>
            <a:off x="3566160" y="4846320"/>
            <a:ext cx="1298448" cy="457200"/>
          </a:xfrm>
          <a:prstGeom prst="rect">
            <a:avLst/>
          </a:prstGeom>
          <a:noFill/>
          <a:ln/>
        </p:spPr>
        <p:txBody>
          <a:bodyPr wrap="square" lIns="0" tIns="0" rIns="0" bIns="0" rtlCol="0" anchor="ctr"/>
          <a:lstStyle/>
          <a:p>
            <a:pPr algn="ctr" indent="0" marL="0">
              <a:buNone/>
            </a:pPr>
            <a:r>
              <a:rPr lang="en-US" sz="1300" b="1" dirty="0">
                <a:solidFill>
                  <a:srgbClr val="040A13"/>
                </a:solidFill>
              </a:rPr>
              <a:t>캡슐화</a:t>
            </a:r>
            <a:endParaRPr lang="en-US" sz="1300" dirty="0"/>
          </a:p>
        </p:txBody>
      </p:sp>
      <p:sp>
        <p:nvSpPr>
          <p:cNvPr id="11" name="Shape 9"/>
          <p:cNvSpPr/>
          <p:nvPr/>
        </p:nvSpPr>
        <p:spPr>
          <a:xfrm>
            <a:off x="4937760" y="4846320"/>
            <a:ext cx="1298448" cy="457200"/>
          </a:xfrm>
          <a:prstGeom prst="roundRect">
            <a:avLst>
              <a:gd name="adj" fmla="val 50000"/>
            </a:avLst>
          </a:prstGeom>
          <a:solidFill>
            <a:srgbClr val="040A13"/>
          </a:solidFill>
          <a:ln w="12700">
            <a:solidFill>
              <a:srgbClr val="2A405B"/>
            </a:solidFill>
            <a:prstDash val="solid"/>
          </a:ln>
        </p:spPr>
      </p:sp>
      <p:sp>
        <p:nvSpPr>
          <p:cNvPr id="12" name="Text 10"/>
          <p:cNvSpPr txBox="1"/>
          <p:nvPr/>
        </p:nvSpPr>
        <p:spPr>
          <a:xfrm>
            <a:off x="49377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상속</a:t>
            </a:r>
            <a:endParaRPr lang="en-US" sz="1300" dirty="0"/>
          </a:p>
        </p:txBody>
      </p:sp>
      <p:sp>
        <p:nvSpPr>
          <p:cNvPr id="13" name="Shape 11"/>
          <p:cNvSpPr/>
          <p:nvPr/>
        </p:nvSpPr>
        <p:spPr>
          <a:xfrm>
            <a:off x="6309360" y="4846320"/>
            <a:ext cx="1298448" cy="457200"/>
          </a:xfrm>
          <a:prstGeom prst="roundRect">
            <a:avLst>
              <a:gd name="adj" fmla="val 50000"/>
            </a:avLst>
          </a:prstGeom>
          <a:solidFill>
            <a:srgbClr val="040A13"/>
          </a:solidFill>
          <a:ln w="12700">
            <a:solidFill>
              <a:srgbClr val="2A405B"/>
            </a:solidFill>
            <a:prstDash val="solid"/>
          </a:ln>
        </p:spPr>
      </p:sp>
      <p:sp>
        <p:nvSpPr>
          <p:cNvPr id="14" name="Text 12"/>
          <p:cNvSpPr txBox="1"/>
          <p:nvPr/>
        </p:nvSpPr>
        <p:spPr>
          <a:xfrm>
            <a:off x="63093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다형성</a:t>
            </a:r>
            <a:endParaRPr lang="en-US" sz="1300" dirty="0"/>
          </a:p>
        </p:txBody>
      </p:sp>
      <p:sp>
        <p:nvSpPr>
          <p:cNvPr id="15" name="Shape 13"/>
          <p:cNvSpPr/>
          <p:nvPr/>
        </p:nvSpPr>
        <p:spPr>
          <a:xfrm>
            <a:off x="7680960" y="4846320"/>
            <a:ext cx="1298448" cy="457200"/>
          </a:xfrm>
          <a:prstGeom prst="roundRect">
            <a:avLst>
              <a:gd name="adj" fmla="val 50000"/>
            </a:avLst>
          </a:prstGeom>
          <a:solidFill>
            <a:srgbClr val="040A13"/>
          </a:solidFill>
          <a:ln w="12700">
            <a:solidFill>
              <a:srgbClr val="2A405B"/>
            </a:solidFill>
            <a:prstDash val="solid"/>
          </a:ln>
        </p:spPr>
      </p:sp>
      <p:sp>
        <p:nvSpPr>
          <p:cNvPr id="16" name="Text 14"/>
          <p:cNvSpPr txBox="1"/>
          <p:nvPr/>
        </p:nvSpPr>
        <p:spPr>
          <a:xfrm>
            <a:off x="7680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추상화</a:t>
            </a:r>
            <a:endParaRPr lang="en-US" sz="1300" dirty="0"/>
          </a:p>
        </p:txBody>
      </p:sp>
      <p:sp>
        <p:nvSpPr>
          <p:cNvPr id="17" name="Shape 15"/>
          <p:cNvSpPr/>
          <p:nvPr/>
        </p:nvSpPr>
        <p:spPr>
          <a:xfrm>
            <a:off x="9052560" y="4846320"/>
            <a:ext cx="1298448" cy="457200"/>
          </a:xfrm>
          <a:prstGeom prst="roundRect">
            <a:avLst>
              <a:gd name="adj" fmla="val 50000"/>
            </a:avLst>
          </a:prstGeom>
          <a:solidFill>
            <a:srgbClr val="040A13"/>
          </a:solidFill>
          <a:ln w="12700">
            <a:solidFill>
              <a:srgbClr val="2A405B"/>
            </a:solidFill>
            <a:prstDash val="solid"/>
          </a:ln>
        </p:spPr>
      </p:sp>
      <p:sp>
        <p:nvSpPr>
          <p:cNvPr id="18" name="Text 16"/>
          <p:cNvSpPr txBox="1"/>
          <p:nvPr/>
        </p:nvSpPr>
        <p:spPr>
          <a:xfrm>
            <a:off x="9052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실습</a:t>
            </a:r>
            <a:endParaRPr lang="en-US" sz="1300" dirty="0"/>
          </a:p>
        </p:txBody>
      </p:sp>
      <p:sp>
        <p:nvSpPr>
          <p:cNvPr id="19" name="Shape 17"/>
          <p:cNvSpPr/>
          <p:nvPr/>
        </p:nvSpPr>
        <p:spPr>
          <a:xfrm>
            <a:off x="10424160" y="4846320"/>
            <a:ext cx="1298448" cy="457200"/>
          </a:xfrm>
          <a:prstGeom prst="roundRect">
            <a:avLst>
              <a:gd name="adj" fmla="val 50000"/>
            </a:avLst>
          </a:prstGeom>
          <a:solidFill>
            <a:srgbClr val="040A13"/>
          </a:solidFill>
          <a:ln w="12700">
            <a:solidFill>
              <a:srgbClr val="2A405B"/>
            </a:solidFill>
            <a:prstDash val="solid"/>
          </a:ln>
        </p:spPr>
      </p:sp>
      <p:sp>
        <p:nvSpPr>
          <p:cNvPr id="20" name="Text 18"/>
          <p:cNvSpPr txBox="1"/>
          <p:nvPr/>
        </p:nvSpPr>
        <p:spPr>
          <a:xfrm>
            <a:off x="10424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마무리</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83E58F"/>
          </a:solidFill>
          <a:ln w="12700">
            <a:solidFill>
              <a:srgbClr val="83E58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83E58F"/>
                </a:solidFill>
              </a:rPr>
              <a:t>ENCAPSULATION · PROBLEM</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public 필드의 문제</a:t>
            </a:r>
            <a:endParaRPr lang="en-US" sz="2800" dirty="0"/>
          </a:p>
        </p:txBody>
      </p:sp>
      <p:sp>
        <p:nvSpPr>
          <p:cNvPr id="6" name="Shape 3"/>
          <p:cNvSpPr/>
          <p:nvPr/>
        </p:nvSpPr>
        <p:spPr>
          <a:xfrm>
            <a:off x="548640" y="1783080"/>
            <a:ext cx="6949440" cy="2446020"/>
          </a:xfrm>
          <a:prstGeom prst="roundRect">
            <a:avLst>
              <a:gd name="adj" fmla="val 2991"/>
            </a:avLst>
          </a:prstGeom>
          <a:solidFill>
            <a:srgbClr val="040A13"/>
          </a:solidFill>
          <a:ln w="12700">
            <a:solidFill>
              <a:srgbClr val="2A405B"/>
            </a:solidFill>
            <a:prstDash val="solid"/>
          </a:ln>
        </p:spPr>
      </p:sp>
      <p:sp>
        <p:nvSpPr>
          <p:cNvPr id="7" name="Shape 4"/>
          <p:cNvSpPr/>
          <p:nvPr/>
        </p:nvSpPr>
        <p:spPr>
          <a:xfrm>
            <a:off x="603504" y="2560320"/>
            <a:ext cx="6839712" cy="297180"/>
          </a:xfrm>
          <a:prstGeom prst="rect">
            <a:avLst/>
          </a:prstGeom>
          <a:solidFill>
            <a:srgbClr val="FF8C99">
              <a:alpha val="20000"/>
            </a:srgbClr>
          </a:solidFill>
          <a:ln w="12700">
            <a:solidFill>
              <a:srgbClr val="FF8C99">
                <a:alpha val="0"/>
              </a:srgbClr>
            </a:solidFill>
            <a:prstDash val="solid"/>
          </a:ln>
        </p:spPr>
      </p:sp>
      <p:sp>
        <p:nvSpPr>
          <p:cNvPr id="8" name="Shape 5"/>
          <p:cNvSpPr/>
          <p:nvPr/>
        </p:nvSpPr>
        <p:spPr>
          <a:xfrm>
            <a:off x="603504" y="3451860"/>
            <a:ext cx="6839712" cy="297180"/>
          </a:xfrm>
          <a:prstGeom prst="rect">
            <a:avLst/>
          </a:prstGeom>
          <a:solidFill>
            <a:srgbClr val="FF8C99">
              <a:alpha val="20000"/>
            </a:srgbClr>
          </a:solidFill>
          <a:ln w="12700">
            <a:solidFill>
              <a:srgbClr val="FF8C99">
                <a:alpha val="0"/>
              </a:srgbClr>
            </a:solidFill>
            <a:prstDash val="solid"/>
          </a:ln>
        </p:spPr>
      </p:sp>
      <p:sp>
        <p:nvSpPr>
          <p:cNvPr id="9" name="Text 6"/>
          <p:cNvSpPr txBox="1"/>
          <p:nvPr/>
        </p:nvSpPr>
        <p:spPr>
          <a:xfrm>
            <a:off x="731520" y="1965960"/>
            <a:ext cx="6583680" cy="208026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sealed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class</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Hp;</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archer.Hp -=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100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20 - 100</a:t>
            </a:r>
            <a:endParaRPr lang="en-US" sz="1800" dirty="0"/>
          </a:p>
          <a:p>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Console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.WriteLine(archer.Hp);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-80</a:t>
            </a:r>
            <a:endParaRPr lang="en-US" sz="1800" dirty="0"/>
          </a:p>
        </p:txBody>
      </p:sp>
      <p:sp>
        <p:nvSpPr>
          <p:cNvPr id="10" name="Text 7"/>
          <p:cNvSpPr txBox="1"/>
          <p:nvPr/>
        </p:nvSpPr>
        <p:spPr>
          <a:xfrm>
            <a:off x="7955280" y="1783080"/>
            <a:ext cx="3657600" cy="1371600"/>
          </a:xfrm>
          <a:prstGeom prst="rect">
            <a:avLst/>
          </a:prstGeom>
          <a:noFill/>
          <a:ln/>
        </p:spPr>
        <p:txBody>
          <a:bodyPr wrap="square" lIns="0" tIns="0" rIns="0" bIns="0" rtlCol="0" anchor="t"/>
          <a:lstStyle/>
          <a:p>
            <a:pPr algn="l" indent="0" marL="0">
              <a:buNone/>
            </a:pPr>
            <a:r>
              <a:rPr lang="en-US" sz="8000" b="1" dirty="0">
                <a:solidFill>
                  <a:srgbClr val="FF8C99"/>
                </a:solidFill>
              </a:rPr>
              <a:t>-80</a:t>
            </a:r>
            <a:endParaRPr lang="en-US" sz="8000" dirty="0"/>
          </a:p>
        </p:txBody>
      </p:sp>
      <p:sp>
        <p:nvSpPr>
          <p:cNvPr id="11" name="Text 8"/>
          <p:cNvSpPr txBox="1"/>
          <p:nvPr/>
        </p:nvSpPr>
        <p:spPr>
          <a:xfrm>
            <a:off x="8001000" y="3154680"/>
            <a:ext cx="3657600" cy="365760"/>
          </a:xfrm>
          <a:prstGeom prst="rect">
            <a:avLst/>
          </a:prstGeom>
          <a:noFill/>
          <a:ln/>
        </p:spPr>
        <p:txBody>
          <a:bodyPr wrap="square" lIns="0" tIns="0" rIns="0" bIns="0" rtlCol="0" anchor="t"/>
          <a:lstStyle/>
          <a:p>
            <a:pPr indent="0" marL="0">
              <a:buNone/>
            </a:pPr>
            <a:r>
              <a:rPr lang="en-US" sz="1600" dirty="0">
                <a:solidFill>
                  <a:srgbClr val="AFBED1"/>
                </a:solidFill>
                <a:latin typeface="Consolas" pitchFamily="34" charset="0"/>
                <a:ea typeface="Consolas" pitchFamily="34" charset="-122"/>
                <a:cs typeface="Consolas" pitchFamily="34" charset="-120"/>
              </a:rPr>
              <a:t>archer.Hp</a:t>
            </a:r>
            <a:endParaRPr lang="en-US" sz="1600" dirty="0"/>
          </a:p>
        </p:txBody>
      </p:sp>
      <p:sp>
        <p:nvSpPr>
          <p:cNvPr id="12" name="Shape 9"/>
          <p:cNvSpPr/>
          <p:nvPr/>
        </p:nvSpPr>
        <p:spPr>
          <a:xfrm>
            <a:off x="7863840" y="3794760"/>
            <a:ext cx="3749040" cy="1920240"/>
          </a:xfrm>
          <a:prstGeom prst="roundRect">
            <a:avLst>
              <a:gd name="adj" fmla="val 5714"/>
            </a:avLst>
          </a:prstGeom>
          <a:solidFill>
            <a:srgbClr val="10233A"/>
          </a:solidFill>
          <a:ln w="12700">
            <a:solidFill>
              <a:srgbClr val="2A405B"/>
            </a:solidFill>
            <a:prstDash val="solid"/>
          </a:ln>
        </p:spPr>
      </p:sp>
      <p:sp>
        <p:nvSpPr>
          <p:cNvPr id="13" name="Text 10"/>
          <p:cNvSpPr txBox="1"/>
          <p:nvPr/>
        </p:nvSpPr>
        <p:spPr>
          <a:xfrm>
            <a:off x="8092440" y="4023360"/>
            <a:ext cx="3291840" cy="346329"/>
          </a:xfrm>
          <a:prstGeom prst="rect">
            <a:avLst/>
          </a:prstGeom>
          <a:noFill/>
          <a:ln/>
        </p:spPr>
        <p:txBody>
          <a:bodyPr wrap="square" lIns="0" tIns="0" rIns="0" bIns="0" rtlCol="0" anchor="t"/>
          <a:lstStyle/>
          <a:p>
            <a:pPr indent="0" marL="0">
              <a:buNone/>
            </a:pPr>
            <a:r>
              <a:rPr lang="en-US" sz="1700" b="1" dirty="0">
                <a:solidFill>
                  <a:srgbClr val="FF8C99"/>
                </a:solidFill>
              </a:rPr>
              <a:t>잘못된 상태</a:t>
            </a:r>
            <a:endParaRPr lang="en-US" sz="1700" dirty="0"/>
          </a:p>
        </p:txBody>
      </p:sp>
      <p:sp>
        <p:nvSpPr>
          <p:cNvPr id="14" name="Text 11"/>
          <p:cNvSpPr txBox="1"/>
          <p:nvPr/>
        </p:nvSpPr>
        <p:spPr>
          <a:xfrm>
            <a:off x="8092440" y="4442841"/>
            <a:ext cx="3291840" cy="113499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HP가 -80인 유닛은 살아 있는지 쓰러졌는지 판단할 수 없습니다.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83E58F"/>
          </a:solidFill>
          <a:ln w="12700">
            <a:solidFill>
              <a:srgbClr val="83E58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83E58F"/>
                </a:solidFill>
              </a:rPr>
              <a:t>INVARIANT</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불변 조건</a:t>
            </a:r>
            <a:endParaRPr lang="en-US" sz="2800" dirty="0"/>
          </a:p>
        </p:txBody>
      </p:sp>
      <p:sp>
        <p:nvSpPr>
          <p:cNvPr id="6" name="Shape 3"/>
          <p:cNvSpPr/>
          <p:nvPr/>
        </p:nvSpPr>
        <p:spPr>
          <a:xfrm>
            <a:off x="4251960" y="1737360"/>
            <a:ext cx="3657600" cy="502920"/>
          </a:xfrm>
          <a:prstGeom prst="roundRect">
            <a:avLst>
              <a:gd name="adj" fmla="val 50000"/>
            </a:avLst>
          </a:prstGeom>
          <a:solidFill>
            <a:srgbClr val="83E58F"/>
          </a:solidFill>
          <a:ln w="12700">
            <a:solidFill>
              <a:srgbClr val="83E58F"/>
            </a:solidFill>
            <a:prstDash val="solid"/>
          </a:ln>
        </p:spPr>
      </p:sp>
      <p:sp>
        <p:nvSpPr>
          <p:cNvPr id="7" name="Text 4"/>
          <p:cNvSpPr txBox="1"/>
          <p:nvPr/>
        </p:nvSpPr>
        <p:spPr>
          <a:xfrm>
            <a:off x="4251960" y="1737360"/>
            <a:ext cx="3657600" cy="502920"/>
          </a:xfrm>
          <a:prstGeom prst="rect">
            <a:avLst/>
          </a:prstGeom>
          <a:noFill/>
          <a:ln/>
        </p:spPr>
        <p:txBody>
          <a:bodyPr wrap="square" lIns="0" tIns="0" rIns="0" bIns="0" rtlCol="0" anchor="ctr"/>
          <a:lstStyle/>
          <a:p>
            <a:pPr algn="ctr" indent="0" marL="0">
              <a:buNone/>
            </a:pPr>
            <a:r>
              <a:rPr lang="en-US" sz="1600" b="1" dirty="0">
                <a:solidFill>
                  <a:srgbClr val="040A13"/>
                </a:solidFill>
              </a:rPr>
              <a:t>0 ≤ CurrentHp ≤ MaxHp</a:t>
            </a:r>
            <a:endParaRPr lang="en-US" sz="1600" dirty="0"/>
          </a:p>
        </p:txBody>
      </p:sp>
      <p:sp>
        <p:nvSpPr>
          <p:cNvPr id="8" name="Shape 5"/>
          <p:cNvSpPr/>
          <p:nvPr/>
        </p:nvSpPr>
        <p:spPr>
          <a:xfrm>
            <a:off x="548640" y="2468880"/>
            <a:ext cx="5440680" cy="3657600"/>
          </a:xfrm>
          <a:prstGeom prst="roundRect">
            <a:avLst>
              <a:gd name="adj" fmla="val 3000"/>
            </a:avLst>
          </a:prstGeom>
          <a:solidFill>
            <a:srgbClr val="10233A"/>
          </a:solidFill>
          <a:ln w="12700">
            <a:solidFill>
              <a:srgbClr val="2A405B"/>
            </a:solidFill>
            <a:prstDash val="solid"/>
          </a:ln>
        </p:spPr>
      </p:sp>
      <p:sp>
        <p:nvSpPr>
          <p:cNvPr id="9" name="Text 6"/>
          <p:cNvSpPr txBox="1"/>
          <p:nvPr/>
        </p:nvSpPr>
        <p:spPr>
          <a:xfrm>
            <a:off x="777240" y="2633472"/>
            <a:ext cx="5029200" cy="365760"/>
          </a:xfrm>
          <a:prstGeom prst="rect">
            <a:avLst/>
          </a:prstGeom>
          <a:noFill/>
          <a:ln/>
        </p:spPr>
        <p:txBody>
          <a:bodyPr wrap="square" lIns="0" tIns="0" rIns="0" bIns="0" rtlCol="0" anchor="t"/>
          <a:lstStyle/>
          <a:p>
            <a:pPr indent="0" marL="0">
              <a:buNone/>
            </a:pPr>
            <a:r>
              <a:rPr lang="en-US" sz="1600" b="1" dirty="0">
                <a:solidFill>
                  <a:srgbClr val="FF8C99"/>
                </a:solidFill>
              </a:rPr>
              <a:t>public 필드: 호출하는 곳마다 규칙 확인</a:t>
            </a:r>
            <a:endParaRPr lang="en-US" sz="1600" dirty="0"/>
          </a:p>
        </p:txBody>
      </p:sp>
      <p:sp>
        <p:nvSpPr>
          <p:cNvPr id="10" name="Shape 7"/>
          <p:cNvSpPr/>
          <p:nvPr/>
        </p:nvSpPr>
        <p:spPr>
          <a:xfrm>
            <a:off x="822960" y="3200400"/>
            <a:ext cx="1920240" cy="502920"/>
          </a:xfrm>
          <a:prstGeom prst="roundRect">
            <a:avLst>
              <a:gd name="adj" fmla="val 14545"/>
            </a:avLst>
          </a:prstGeom>
          <a:solidFill>
            <a:srgbClr val="142B45"/>
          </a:solidFill>
          <a:ln w="12700">
            <a:solidFill>
              <a:srgbClr val="142B45"/>
            </a:solidFill>
            <a:prstDash val="solid"/>
          </a:ln>
        </p:spPr>
      </p:sp>
      <p:sp>
        <p:nvSpPr>
          <p:cNvPr id="11" name="Text 8"/>
          <p:cNvSpPr txBox="1"/>
          <p:nvPr/>
        </p:nvSpPr>
        <p:spPr>
          <a:xfrm>
            <a:off x="822960" y="3200400"/>
            <a:ext cx="1920240" cy="502920"/>
          </a:xfrm>
          <a:prstGeom prst="rect">
            <a:avLst/>
          </a:prstGeom>
          <a:noFill/>
          <a:ln/>
        </p:spPr>
        <p:txBody>
          <a:bodyPr wrap="square" lIns="0" tIns="0" rIns="0" bIns="0" rtlCol="0" anchor="ctr"/>
          <a:lstStyle/>
          <a:p>
            <a:pPr algn="ctr" indent="0" marL="0">
              <a:buNone/>
            </a:pPr>
            <a:r>
              <a:rPr lang="en-US" sz="1400" dirty="0">
                <a:solidFill>
                  <a:srgbClr val="EEF5FF"/>
                </a:solidFill>
              </a:rPr>
              <a:t>공격 처리</a:t>
            </a:r>
            <a:endParaRPr lang="en-US" sz="1400" dirty="0"/>
          </a:p>
        </p:txBody>
      </p:sp>
      <p:sp>
        <p:nvSpPr>
          <p:cNvPr id="12" name="Shape 9"/>
          <p:cNvSpPr/>
          <p:nvPr/>
        </p:nvSpPr>
        <p:spPr>
          <a:xfrm>
            <a:off x="2788920" y="3451860"/>
            <a:ext cx="914400" cy="914"/>
          </a:xfrm>
          <a:prstGeom prst="line">
            <a:avLst/>
          </a:prstGeom>
          <a:noFill/>
          <a:ln w="19050">
            <a:solidFill>
              <a:srgbClr val="FF8C99"/>
            </a:solidFill>
            <a:prstDash val="solid"/>
            <a:tailEnd type="triangle"/>
          </a:ln>
        </p:spPr>
      </p:sp>
      <p:sp>
        <p:nvSpPr>
          <p:cNvPr id="13" name="Shape 10"/>
          <p:cNvSpPr/>
          <p:nvPr/>
        </p:nvSpPr>
        <p:spPr>
          <a:xfrm>
            <a:off x="822960" y="3886200"/>
            <a:ext cx="1920240" cy="502920"/>
          </a:xfrm>
          <a:prstGeom prst="roundRect">
            <a:avLst>
              <a:gd name="adj" fmla="val 14545"/>
            </a:avLst>
          </a:prstGeom>
          <a:solidFill>
            <a:srgbClr val="142B45"/>
          </a:solidFill>
          <a:ln w="12700">
            <a:solidFill>
              <a:srgbClr val="142B45"/>
            </a:solidFill>
            <a:prstDash val="solid"/>
          </a:ln>
        </p:spPr>
      </p:sp>
      <p:sp>
        <p:nvSpPr>
          <p:cNvPr id="14" name="Text 11"/>
          <p:cNvSpPr txBox="1"/>
          <p:nvPr/>
        </p:nvSpPr>
        <p:spPr>
          <a:xfrm>
            <a:off x="822960" y="3886200"/>
            <a:ext cx="1920240" cy="502920"/>
          </a:xfrm>
          <a:prstGeom prst="rect">
            <a:avLst/>
          </a:prstGeom>
          <a:noFill/>
          <a:ln/>
        </p:spPr>
        <p:txBody>
          <a:bodyPr wrap="square" lIns="0" tIns="0" rIns="0" bIns="0" rtlCol="0" anchor="ctr"/>
          <a:lstStyle/>
          <a:p>
            <a:pPr algn="ctr" indent="0" marL="0">
              <a:buNone/>
            </a:pPr>
            <a:r>
              <a:rPr lang="en-US" sz="1400" dirty="0">
                <a:solidFill>
                  <a:srgbClr val="EEF5FF"/>
                </a:solidFill>
              </a:rPr>
              <a:t>스킬</a:t>
            </a:r>
            <a:endParaRPr lang="en-US" sz="1400" dirty="0"/>
          </a:p>
        </p:txBody>
      </p:sp>
      <p:sp>
        <p:nvSpPr>
          <p:cNvPr id="15" name="Shape 12"/>
          <p:cNvSpPr/>
          <p:nvPr/>
        </p:nvSpPr>
        <p:spPr>
          <a:xfrm>
            <a:off x="2788920" y="4137660"/>
            <a:ext cx="914400" cy="914"/>
          </a:xfrm>
          <a:prstGeom prst="line">
            <a:avLst/>
          </a:prstGeom>
          <a:noFill/>
          <a:ln w="19050">
            <a:solidFill>
              <a:srgbClr val="FF8C99"/>
            </a:solidFill>
            <a:prstDash val="solid"/>
            <a:tailEnd type="triangle"/>
          </a:ln>
        </p:spPr>
      </p:sp>
      <p:sp>
        <p:nvSpPr>
          <p:cNvPr id="16" name="Shape 13"/>
          <p:cNvSpPr/>
          <p:nvPr/>
        </p:nvSpPr>
        <p:spPr>
          <a:xfrm>
            <a:off x="822960" y="4572000"/>
            <a:ext cx="1920240" cy="502920"/>
          </a:xfrm>
          <a:prstGeom prst="roundRect">
            <a:avLst>
              <a:gd name="adj" fmla="val 14545"/>
            </a:avLst>
          </a:prstGeom>
          <a:solidFill>
            <a:srgbClr val="142B45"/>
          </a:solidFill>
          <a:ln w="12700">
            <a:solidFill>
              <a:srgbClr val="142B45"/>
            </a:solidFill>
            <a:prstDash val="solid"/>
          </a:ln>
        </p:spPr>
      </p:sp>
      <p:sp>
        <p:nvSpPr>
          <p:cNvPr id="17" name="Text 14"/>
          <p:cNvSpPr txBox="1"/>
          <p:nvPr/>
        </p:nvSpPr>
        <p:spPr>
          <a:xfrm>
            <a:off x="822960" y="4572000"/>
            <a:ext cx="1920240" cy="502920"/>
          </a:xfrm>
          <a:prstGeom prst="rect">
            <a:avLst/>
          </a:prstGeom>
          <a:noFill/>
          <a:ln/>
        </p:spPr>
        <p:txBody>
          <a:bodyPr wrap="square" lIns="0" tIns="0" rIns="0" bIns="0" rtlCol="0" anchor="ctr"/>
          <a:lstStyle/>
          <a:p>
            <a:pPr algn="ctr" indent="0" marL="0">
              <a:buNone/>
            </a:pPr>
            <a:r>
              <a:rPr lang="en-US" sz="1400" dirty="0">
                <a:solidFill>
                  <a:srgbClr val="EEF5FF"/>
                </a:solidFill>
              </a:rPr>
              <a:t>상태 이상</a:t>
            </a:r>
            <a:endParaRPr lang="en-US" sz="1400" dirty="0"/>
          </a:p>
        </p:txBody>
      </p:sp>
      <p:sp>
        <p:nvSpPr>
          <p:cNvPr id="18" name="Shape 15"/>
          <p:cNvSpPr/>
          <p:nvPr/>
        </p:nvSpPr>
        <p:spPr>
          <a:xfrm>
            <a:off x="2788920" y="4823460"/>
            <a:ext cx="914400" cy="914"/>
          </a:xfrm>
          <a:prstGeom prst="line">
            <a:avLst/>
          </a:prstGeom>
          <a:noFill/>
          <a:ln w="19050">
            <a:solidFill>
              <a:srgbClr val="FF8C99"/>
            </a:solidFill>
            <a:prstDash val="solid"/>
            <a:tailEnd type="triangle"/>
          </a:ln>
        </p:spPr>
      </p:sp>
      <p:sp>
        <p:nvSpPr>
          <p:cNvPr id="19" name="Shape 16"/>
          <p:cNvSpPr/>
          <p:nvPr/>
        </p:nvSpPr>
        <p:spPr>
          <a:xfrm>
            <a:off x="822960" y="5257800"/>
            <a:ext cx="1920240" cy="502920"/>
          </a:xfrm>
          <a:prstGeom prst="roundRect">
            <a:avLst>
              <a:gd name="adj" fmla="val 14545"/>
            </a:avLst>
          </a:prstGeom>
          <a:solidFill>
            <a:srgbClr val="142B45"/>
          </a:solidFill>
          <a:ln w="12700">
            <a:solidFill>
              <a:srgbClr val="142B45"/>
            </a:solidFill>
            <a:prstDash val="solid"/>
          </a:ln>
        </p:spPr>
      </p:sp>
      <p:sp>
        <p:nvSpPr>
          <p:cNvPr id="20" name="Text 17"/>
          <p:cNvSpPr txBox="1"/>
          <p:nvPr/>
        </p:nvSpPr>
        <p:spPr>
          <a:xfrm>
            <a:off x="822960" y="5257800"/>
            <a:ext cx="1920240" cy="502920"/>
          </a:xfrm>
          <a:prstGeom prst="rect">
            <a:avLst/>
          </a:prstGeom>
          <a:noFill/>
          <a:ln/>
        </p:spPr>
        <p:txBody>
          <a:bodyPr wrap="square" lIns="0" tIns="0" rIns="0" bIns="0" rtlCol="0" anchor="ctr"/>
          <a:lstStyle/>
          <a:p>
            <a:pPr algn="ctr" indent="0" marL="0">
              <a:buNone/>
            </a:pPr>
            <a:r>
              <a:rPr lang="en-US" sz="1400" dirty="0">
                <a:solidFill>
                  <a:srgbClr val="EEF5FF"/>
                </a:solidFill>
              </a:rPr>
              <a:t>아이템</a:t>
            </a:r>
            <a:endParaRPr lang="en-US" sz="1400" dirty="0"/>
          </a:p>
        </p:txBody>
      </p:sp>
      <p:sp>
        <p:nvSpPr>
          <p:cNvPr id="21" name="Shape 18"/>
          <p:cNvSpPr/>
          <p:nvPr/>
        </p:nvSpPr>
        <p:spPr>
          <a:xfrm>
            <a:off x="2788920" y="5509260"/>
            <a:ext cx="914400" cy="914"/>
          </a:xfrm>
          <a:prstGeom prst="line">
            <a:avLst/>
          </a:prstGeom>
          <a:noFill/>
          <a:ln w="19050">
            <a:solidFill>
              <a:srgbClr val="FF8C99"/>
            </a:solidFill>
            <a:prstDash val="solid"/>
            <a:tailEnd type="triangle"/>
          </a:ln>
        </p:spPr>
      </p:sp>
      <p:sp>
        <p:nvSpPr>
          <p:cNvPr id="22" name="Shape 19"/>
          <p:cNvSpPr/>
          <p:nvPr/>
        </p:nvSpPr>
        <p:spPr>
          <a:xfrm>
            <a:off x="3749040" y="3200400"/>
            <a:ext cx="1965960" cy="2560320"/>
          </a:xfrm>
          <a:prstGeom prst="roundRect">
            <a:avLst>
              <a:gd name="adj" fmla="val 4651"/>
            </a:avLst>
          </a:prstGeom>
          <a:solidFill>
            <a:srgbClr val="040A13"/>
          </a:solidFill>
          <a:ln w="12700">
            <a:solidFill>
              <a:srgbClr val="FF8C99"/>
            </a:solidFill>
            <a:prstDash val="solid"/>
          </a:ln>
        </p:spPr>
      </p:sp>
      <p:sp>
        <p:nvSpPr>
          <p:cNvPr id="23" name="Text 20"/>
          <p:cNvSpPr txBox="1"/>
          <p:nvPr/>
        </p:nvSpPr>
        <p:spPr>
          <a:xfrm>
            <a:off x="3749040" y="3200400"/>
            <a:ext cx="1965960" cy="2560320"/>
          </a:xfrm>
          <a:prstGeom prst="rect">
            <a:avLst/>
          </a:prstGeom>
          <a:noFill/>
          <a:ln/>
        </p:spPr>
        <p:txBody>
          <a:bodyPr wrap="square" lIns="0" tIns="0" rIns="0" bIns="0" rtlCol="0" anchor="ctr"/>
          <a:lstStyle/>
          <a:p>
            <a:pPr algn="ctr" indent="0" marL="0">
              <a:buNone/>
            </a:pPr>
            <a:r>
              <a:rPr lang="en-US" sz="1500" b="1" dirty="0">
                <a:solidFill>
                  <a:srgbClr val="FF8C99"/>
                </a:solidFill>
                <a:latin typeface="Consolas" pitchFamily="34" charset="0"/>
                <a:ea typeface="Consolas" pitchFamily="34" charset="-122"/>
                <a:cs typeface="Consolas" pitchFamily="34" charset="-120"/>
              </a:rPr>
              <a:t>Hp</a:t>
            </a:r>
            <a:endParaRPr lang="en-US" sz="1500" dirty="0"/>
          </a:p>
          <a:p>
            <a:pPr algn="ctr" indent="0" marL="0">
              <a:buNone/>
            </a:pPr>
            <a:r>
              <a:rPr lang="en-US" sz="1500" b="1" dirty="0">
                <a:solidFill>
                  <a:srgbClr val="FF8C99"/>
                </a:solidFill>
                <a:latin typeface="Consolas" pitchFamily="34" charset="0"/>
                <a:ea typeface="Consolas" pitchFamily="34" charset="-122"/>
                <a:cs typeface="Consolas" pitchFamily="34" charset="-120"/>
              </a:rPr>
              <a:t>(public 필드)</a:t>
            </a:r>
            <a:endParaRPr lang="en-US" sz="1500" dirty="0"/>
          </a:p>
        </p:txBody>
      </p:sp>
      <p:sp>
        <p:nvSpPr>
          <p:cNvPr id="24" name="Shape 21"/>
          <p:cNvSpPr/>
          <p:nvPr/>
        </p:nvSpPr>
        <p:spPr>
          <a:xfrm>
            <a:off x="6217920" y="2468880"/>
            <a:ext cx="5440680" cy="3657600"/>
          </a:xfrm>
          <a:prstGeom prst="roundRect">
            <a:avLst>
              <a:gd name="adj" fmla="val 3000"/>
            </a:avLst>
          </a:prstGeom>
          <a:solidFill>
            <a:srgbClr val="10233A"/>
          </a:solidFill>
          <a:ln w="12700">
            <a:solidFill>
              <a:srgbClr val="2A405B"/>
            </a:solidFill>
            <a:prstDash val="solid"/>
          </a:ln>
        </p:spPr>
      </p:sp>
      <p:sp>
        <p:nvSpPr>
          <p:cNvPr id="25" name="Text 22"/>
          <p:cNvSpPr txBox="1"/>
          <p:nvPr/>
        </p:nvSpPr>
        <p:spPr>
          <a:xfrm>
            <a:off x="6446520" y="2633472"/>
            <a:ext cx="5029200" cy="365760"/>
          </a:xfrm>
          <a:prstGeom prst="rect">
            <a:avLst/>
          </a:prstGeom>
          <a:noFill/>
          <a:ln/>
        </p:spPr>
        <p:txBody>
          <a:bodyPr wrap="square" lIns="0" tIns="0" rIns="0" bIns="0" rtlCol="0" anchor="t"/>
          <a:lstStyle/>
          <a:p>
            <a:pPr indent="0" marL="0">
              <a:buNone/>
            </a:pPr>
            <a:r>
              <a:rPr lang="en-US" sz="1600" b="1" dirty="0">
                <a:solidFill>
                  <a:srgbClr val="83E58F"/>
                </a:solidFill>
              </a:rPr>
              <a:t>캡슐화: Unit 한 곳에서 규칙 확인</a:t>
            </a:r>
            <a:endParaRPr lang="en-US" sz="1600" dirty="0"/>
          </a:p>
        </p:txBody>
      </p:sp>
      <p:sp>
        <p:nvSpPr>
          <p:cNvPr id="26" name="Shape 23"/>
          <p:cNvSpPr/>
          <p:nvPr/>
        </p:nvSpPr>
        <p:spPr>
          <a:xfrm>
            <a:off x="6492240" y="3200400"/>
            <a:ext cx="1920240" cy="502920"/>
          </a:xfrm>
          <a:prstGeom prst="roundRect">
            <a:avLst>
              <a:gd name="adj" fmla="val 14545"/>
            </a:avLst>
          </a:prstGeom>
          <a:solidFill>
            <a:srgbClr val="142B45"/>
          </a:solidFill>
          <a:ln w="12700">
            <a:solidFill>
              <a:srgbClr val="142B45"/>
            </a:solidFill>
            <a:prstDash val="solid"/>
          </a:ln>
        </p:spPr>
      </p:sp>
      <p:sp>
        <p:nvSpPr>
          <p:cNvPr id="27" name="Text 24"/>
          <p:cNvSpPr txBox="1"/>
          <p:nvPr/>
        </p:nvSpPr>
        <p:spPr>
          <a:xfrm>
            <a:off x="6492240" y="3200400"/>
            <a:ext cx="1920240" cy="502920"/>
          </a:xfrm>
          <a:prstGeom prst="rect">
            <a:avLst/>
          </a:prstGeom>
          <a:noFill/>
          <a:ln/>
        </p:spPr>
        <p:txBody>
          <a:bodyPr wrap="square" lIns="0" tIns="0" rIns="0" bIns="0" rtlCol="0" anchor="ctr"/>
          <a:lstStyle/>
          <a:p>
            <a:pPr algn="ctr" indent="0" marL="0">
              <a:buNone/>
            </a:pPr>
            <a:r>
              <a:rPr lang="en-US" sz="1400" dirty="0">
                <a:solidFill>
                  <a:srgbClr val="EEF5FF"/>
                </a:solidFill>
              </a:rPr>
              <a:t>공격 처리</a:t>
            </a:r>
            <a:endParaRPr lang="en-US" sz="1400" dirty="0"/>
          </a:p>
        </p:txBody>
      </p:sp>
      <p:sp>
        <p:nvSpPr>
          <p:cNvPr id="28" name="Shape 25"/>
          <p:cNvSpPr/>
          <p:nvPr/>
        </p:nvSpPr>
        <p:spPr>
          <a:xfrm>
            <a:off x="8458200" y="3451860"/>
            <a:ext cx="914400" cy="914"/>
          </a:xfrm>
          <a:prstGeom prst="line">
            <a:avLst/>
          </a:prstGeom>
          <a:noFill/>
          <a:ln w="19050">
            <a:solidFill>
              <a:srgbClr val="83E58F"/>
            </a:solidFill>
            <a:prstDash val="solid"/>
            <a:tailEnd type="triangle"/>
          </a:ln>
        </p:spPr>
      </p:sp>
      <p:sp>
        <p:nvSpPr>
          <p:cNvPr id="29" name="Shape 26"/>
          <p:cNvSpPr/>
          <p:nvPr/>
        </p:nvSpPr>
        <p:spPr>
          <a:xfrm>
            <a:off x="6492240" y="3886200"/>
            <a:ext cx="1920240" cy="502920"/>
          </a:xfrm>
          <a:prstGeom prst="roundRect">
            <a:avLst>
              <a:gd name="adj" fmla="val 14545"/>
            </a:avLst>
          </a:prstGeom>
          <a:solidFill>
            <a:srgbClr val="142B45"/>
          </a:solidFill>
          <a:ln w="12700">
            <a:solidFill>
              <a:srgbClr val="142B45"/>
            </a:solidFill>
            <a:prstDash val="solid"/>
          </a:ln>
        </p:spPr>
      </p:sp>
      <p:sp>
        <p:nvSpPr>
          <p:cNvPr id="30" name="Text 27"/>
          <p:cNvSpPr txBox="1"/>
          <p:nvPr/>
        </p:nvSpPr>
        <p:spPr>
          <a:xfrm>
            <a:off x="6492240" y="3886200"/>
            <a:ext cx="1920240" cy="502920"/>
          </a:xfrm>
          <a:prstGeom prst="rect">
            <a:avLst/>
          </a:prstGeom>
          <a:noFill/>
          <a:ln/>
        </p:spPr>
        <p:txBody>
          <a:bodyPr wrap="square" lIns="0" tIns="0" rIns="0" bIns="0" rtlCol="0" anchor="ctr"/>
          <a:lstStyle/>
          <a:p>
            <a:pPr algn="ctr" indent="0" marL="0">
              <a:buNone/>
            </a:pPr>
            <a:r>
              <a:rPr lang="en-US" sz="1400" dirty="0">
                <a:solidFill>
                  <a:srgbClr val="EEF5FF"/>
                </a:solidFill>
              </a:rPr>
              <a:t>스킬</a:t>
            </a:r>
            <a:endParaRPr lang="en-US" sz="1400" dirty="0"/>
          </a:p>
        </p:txBody>
      </p:sp>
      <p:sp>
        <p:nvSpPr>
          <p:cNvPr id="31" name="Shape 28"/>
          <p:cNvSpPr/>
          <p:nvPr/>
        </p:nvSpPr>
        <p:spPr>
          <a:xfrm>
            <a:off x="8458200" y="4137660"/>
            <a:ext cx="914400" cy="914"/>
          </a:xfrm>
          <a:prstGeom prst="line">
            <a:avLst/>
          </a:prstGeom>
          <a:noFill/>
          <a:ln w="19050">
            <a:solidFill>
              <a:srgbClr val="83E58F"/>
            </a:solidFill>
            <a:prstDash val="solid"/>
            <a:tailEnd type="triangle"/>
          </a:ln>
        </p:spPr>
      </p:sp>
      <p:sp>
        <p:nvSpPr>
          <p:cNvPr id="32" name="Shape 29"/>
          <p:cNvSpPr/>
          <p:nvPr/>
        </p:nvSpPr>
        <p:spPr>
          <a:xfrm>
            <a:off x="6492240" y="4572000"/>
            <a:ext cx="1920240" cy="502920"/>
          </a:xfrm>
          <a:prstGeom prst="roundRect">
            <a:avLst>
              <a:gd name="adj" fmla="val 14545"/>
            </a:avLst>
          </a:prstGeom>
          <a:solidFill>
            <a:srgbClr val="142B45"/>
          </a:solidFill>
          <a:ln w="12700">
            <a:solidFill>
              <a:srgbClr val="142B45"/>
            </a:solidFill>
            <a:prstDash val="solid"/>
          </a:ln>
        </p:spPr>
      </p:sp>
      <p:sp>
        <p:nvSpPr>
          <p:cNvPr id="33" name="Text 30"/>
          <p:cNvSpPr txBox="1"/>
          <p:nvPr/>
        </p:nvSpPr>
        <p:spPr>
          <a:xfrm>
            <a:off x="6492240" y="4572000"/>
            <a:ext cx="1920240" cy="502920"/>
          </a:xfrm>
          <a:prstGeom prst="rect">
            <a:avLst/>
          </a:prstGeom>
          <a:noFill/>
          <a:ln/>
        </p:spPr>
        <p:txBody>
          <a:bodyPr wrap="square" lIns="0" tIns="0" rIns="0" bIns="0" rtlCol="0" anchor="ctr"/>
          <a:lstStyle/>
          <a:p>
            <a:pPr algn="ctr" indent="0" marL="0">
              <a:buNone/>
            </a:pPr>
            <a:r>
              <a:rPr lang="en-US" sz="1400" dirty="0">
                <a:solidFill>
                  <a:srgbClr val="EEF5FF"/>
                </a:solidFill>
              </a:rPr>
              <a:t>상태 이상</a:t>
            </a:r>
            <a:endParaRPr lang="en-US" sz="1400" dirty="0"/>
          </a:p>
        </p:txBody>
      </p:sp>
      <p:sp>
        <p:nvSpPr>
          <p:cNvPr id="34" name="Shape 31"/>
          <p:cNvSpPr/>
          <p:nvPr/>
        </p:nvSpPr>
        <p:spPr>
          <a:xfrm>
            <a:off x="8458200" y="4823460"/>
            <a:ext cx="914400" cy="914"/>
          </a:xfrm>
          <a:prstGeom prst="line">
            <a:avLst/>
          </a:prstGeom>
          <a:noFill/>
          <a:ln w="19050">
            <a:solidFill>
              <a:srgbClr val="83E58F"/>
            </a:solidFill>
            <a:prstDash val="solid"/>
            <a:tailEnd type="triangle"/>
          </a:ln>
        </p:spPr>
      </p:sp>
      <p:sp>
        <p:nvSpPr>
          <p:cNvPr id="35" name="Shape 32"/>
          <p:cNvSpPr/>
          <p:nvPr/>
        </p:nvSpPr>
        <p:spPr>
          <a:xfrm>
            <a:off x="6492240" y="5257800"/>
            <a:ext cx="1920240" cy="502920"/>
          </a:xfrm>
          <a:prstGeom prst="roundRect">
            <a:avLst>
              <a:gd name="adj" fmla="val 14545"/>
            </a:avLst>
          </a:prstGeom>
          <a:solidFill>
            <a:srgbClr val="142B45"/>
          </a:solidFill>
          <a:ln w="12700">
            <a:solidFill>
              <a:srgbClr val="142B45"/>
            </a:solidFill>
            <a:prstDash val="solid"/>
          </a:ln>
        </p:spPr>
      </p:sp>
      <p:sp>
        <p:nvSpPr>
          <p:cNvPr id="36" name="Text 33"/>
          <p:cNvSpPr txBox="1"/>
          <p:nvPr/>
        </p:nvSpPr>
        <p:spPr>
          <a:xfrm>
            <a:off x="6492240" y="5257800"/>
            <a:ext cx="1920240" cy="502920"/>
          </a:xfrm>
          <a:prstGeom prst="rect">
            <a:avLst/>
          </a:prstGeom>
          <a:noFill/>
          <a:ln/>
        </p:spPr>
        <p:txBody>
          <a:bodyPr wrap="square" lIns="0" tIns="0" rIns="0" bIns="0" rtlCol="0" anchor="ctr"/>
          <a:lstStyle/>
          <a:p>
            <a:pPr algn="ctr" indent="0" marL="0">
              <a:buNone/>
            </a:pPr>
            <a:r>
              <a:rPr lang="en-US" sz="1400" dirty="0">
                <a:solidFill>
                  <a:srgbClr val="EEF5FF"/>
                </a:solidFill>
              </a:rPr>
              <a:t>아이템</a:t>
            </a:r>
            <a:endParaRPr lang="en-US" sz="1400" dirty="0"/>
          </a:p>
        </p:txBody>
      </p:sp>
      <p:sp>
        <p:nvSpPr>
          <p:cNvPr id="37" name="Shape 34"/>
          <p:cNvSpPr/>
          <p:nvPr/>
        </p:nvSpPr>
        <p:spPr>
          <a:xfrm>
            <a:off x="8458200" y="5509260"/>
            <a:ext cx="914400" cy="914"/>
          </a:xfrm>
          <a:prstGeom prst="line">
            <a:avLst/>
          </a:prstGeom>
          <a:noFill/>
          <a:ln w="19050">
            <a:solidFill>
              <a:srgbClr val="83E58F"/>
            </a:solidFill>
            <a:prstDash val="solid"/>
            <a:tailEnd type="triangle"/>
          </a:ln>
        </p:spPr>
      </p:sp>
      <p:sp>
        <p:nvSpPr>
          <p:cNvPr id="38" name="Shape 35"/>
          <p:cNvSpPr/>
          <p:nvPr/>
        </p:nvSpPr>
        <p:spPr>
          <a:xfrm>
            <a:off x="9418320" y="3200400"/>
            <a:ext cx="1965960" cy="2560320"/>
          </a:xfrm>
          <a:prstGeom prst="roundRect">
            <a:avLst>
              <a:gd name="adj" fmla="val 4651"/>
            </a:avLst>
          </a:prstGeom>
          <a:solidFill>
            <a:srgbClr val="040A13"/>
          </a:solidFill>
          <a:ln w="12700">
            <a:solidFill>
              <a:srgbClr val="83E58F"/>
            </a:solidFill>
            <a:prstDash val="solid"/>
          </a:ln>
        </p:spPr>
      </p:sp>
      <p:sp>
        <p:nvSpPr>
          <p:cNvPr id="39" name="Text 36"/>
          <p:cNvSpPr txBox="1"/>
          <p:nvPr/>
        </p:nvSpPr>
        <p:spPr>
          <a:xfrm>
            <a:off x="9418320" y="3200400"/>
            <a:ext cx="1965960" cy="2560320"/>
          </a:xfrm>
          <a:prstGeom prst="rect">
            <a:avLst/>
          </a:prstGeom>
          <a:noFill/>
          <a:ln/>
        </p:spPr>
        <p:txBody>
          <a:bodyPr wrap="square" lIns="0" tIns="0" rIns="0" bIns="0" rtlCol="0" anchor="ctr"/>
          <a:lstStyle/>
          <a:p>
            <a:pPr algn="ctr" indent="0" marL="0">
              <a:buNone/>
            </a:pPr>
            <a:r>
              <a:rPr lang="en-US" sz="1500" b="1" dirty="0">
                <a:solidFill>
                  <a:srgbClr val="83E58F"/>
                </a:solidFill>
                <a:latin typeface="Consolas" pitchFamily="34" charset="0"/>
                <a:ea typeface="Consolas" pitchFamily="34" charset="-122"/>
                <a:cs typeface="Consolas" pitchFamily="34" charset="-120"/>
              </a:rPr>
              <a:t>TakeDamage()</a:t>
            </a:r>
            <a:endParaRPr lang="en-US" sz="1500" dirty="0"/>
          </a:p>
          <a:p>
            <a:pPr algn="ctr" indent="0" marL="0">
              <a:buNone/>
            </a:pPr>
            <a:r>
              <a:rPr lang="en-US" sz="1500" b="1" dirty="0">
                <a:solidFill>
                  <a:srgbClr val="83E58F"/>
                </a:solidFill>
                <a:latin typeface="Consolas" pitchFamily="34" charset="0"/>
                <a:ea typeface="Consolas" pitchFamily="34" charset="-122"/>
                <a:cs typeface="Consolas" pitchFamily="34" charset="-120"/>
              </a:rPr>
              <a:t>Heal()</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83E58F"/>
          </a:solidFill>
          <a:ln w="12700">
            <a:solidFill>
              <a:srgbClr val="83E58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83E58F"/>
                </a:solidFill>
              </a:rPr>
              <a:t>ENCAPSULATION</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캡슐화</a:t>
            </a:r>
            <a:endParaRPr lang="en-US" sz="2800" dirty="0"/>
          </a:p>
        </p:txBody>
      </p:sp>
      <p:sp>
        <p:nvSpPr>
          <p:cNvPr id="6" name="Shape 3"/>
          <p:cNvSpPr/>
          <p:nvPr/>
        </p:nvSpPr>
        <p:spPr>
          <a:xfrm>
            <a:off x="548640" y="1783080"/>
            <a:ext cx="7223760" cy="4526280"/>
          </a:xfrm>
          <a:prstGeom prst="roundRect">
            <a:avLst>
              <a:gd name="adj" fmla="val 1616"/>
            </a:avLst>
          </a:prstGeom>
          <a:solidFill>
            <a:srgbClr val="040A13"/>
          </a:solidFill>
          <a:ln w="12700">
            <a:solidFill>
              <a:srgbClr val="2A405B"/>
            </a:solidFill>
            <a:prstDash val="solid"/>
          </a:ln>
        </p:spPr>
      </p:sp>
      <p:sp>
        <p:nvSpPr>
          <p:cNvPr id="7" name="Shape 4"/>
          <p:cNvSpPr/>
          <p:nvPr/>
        </p:nvSpPr>
        <p:spPr>
          <a:xfrm>
            <a:off x="603504" y="1965960"/>
            <a:ext cx="7114032" cy="297180"/>
          </a:xfrm>
          <a:prstGeom prst="rect">
            <a:avLst/>
          </a:prstGeom>
          <a:solidFill>
            <a:srgbClr val="83E58F">
              <a:alpha val="20000"/>
            </a:srgbClr>
          </a:solidFill>
          <a:ln w="12700">
            <a:solidFill>
              <a:srgbClr val="83E58F">
                <a:alpha val="0"/>
              </a:srgbClr>
            </a:solidFill>
            <a:prstDash val="solid"/>
          </a:ln>
        </p:spPr>
      </p:sp>
      <p:sp>
        <p:nvSpPr>
          <p:cNvPr id="8" name="Shape 5"/>
          <p:cNvSpPr/>
          <p:nvPr/>
        </p:nvSpPr>
        <p:spPr>
          <a:xfrm>
            <a:off x="603504" y="3749040"/>
            <a:ext cx="7114032" cy="297180"/>
          </a:xfrm>
          <a:prstGeom prst="rect">
            <a:avLst/>
          </a:prstGeom>
          <a:solidFill>
            <a:srgbClr val="83E58F">
              <a:alpha val="20000"/>
            </a:srgbClr>
          </a:solidFill>
          <a:ln w="12700">
            <a:solidFill>
              <a:srgbClr val="83E58F">
                <a:alpha val="0"/>
              </a:srgbClr>
            </a:solidFill>
            <a:prstDash val="solid"/>
          </a:ln>
        </p:spPr>
      </p:sp>
      <p:sp>
        <p:nvSpPr>
          <p:cNvPr id="9" name="Shape 6"/>
          <p:cNvSpPr/>
          <p:nvPr/>
        </p:nvSpPr>
        <p:spPr>
          <a:xfrm>
            <a:off x="603504" y="5532120"/>
            <a:ext cx="7114032" cy="297180"/>
          </a:xfrm>
          <a:prstGeom prst="rect">
            <a:avLst/>
          </a:prstGeom>
          <a:solidFill>
            <a:srgbClr val="83E58F">
              <a:alpha val="20000"/>
            </a:srgbClr>
          </a:solidFill>
          <a:ln w="12700">
            <a:solidFill>
              <a:srgbClr val="83E58F">
                <a:alpha val="0"/>
              </a:srgbClr>
            </a:solidFill>
            <a:prstDash val="solid"/>
          </a:ln>
        </p:spPr>
      </p:sp>
      <p:sp>
        <p:nvSpPr>
          <p:cNvPr id="10" name="Text 7"/>
          <p:cNvSpPr txBox="1"/>
          <p:nvPr/>
        </p:nvSpPr>
        <p:spPr>
          <a:xfrm>
            <a:off x="731520" y="1965960"/>
            <a:ext cx="6858000" cy="416052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CurrentHp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private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bool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IsAlive =&gt; CurrentHp &gt;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TakeDamage(</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damage)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if</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(!IsAlive || damage &lt;=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return</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CurrentHp =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Math</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.Max(</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CurrentHp - damage);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Heal(</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amount)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if</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(!IsAlive || amount &lt;=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return</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CurrentHp =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Math</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Min</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(MaxHp, CurrentHp + amount);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11" name="Shape 8"/>
          <p:cNvSpPr/>
          <p:nvPr/>
        </p:nvSpPr>
        <p:spPr>
          <a:xfrm>
            <a:off x="8092440" y="1783080"/>
            <a:ext cx="3520440" cy="1371600"/>
          </a:xfrm>
          <a:prstGeom prst="roundRect">
            <a:avLst>
              <a:gd name="adj" fmla="val 8000"/>
            </a:avLst>
          </a:prstGeom>
          <a:solidFill>
            <a:srgbClr val="10233A"/>
          </a:solidFill>
          <a:ln w="12700">
            <a:solidFill>
              <a:srgbClr val="2A405B"/>
            </a:solidFill>
            <a:prstDash val="solid"/>
          </a:ln>
        </p:spPr>
      </p:sp>
      <p:sp>
        <p:nvSpPr>
          <p:cNvPr id="12" name="Text 9"/>
          <p:cNvSpPr txBox="1"/>
          <p:nvPr/>
        </p:nvSpPr>
        <p:spPr>
          <a:xfrm>
            <a:off x="8321040" y="2011680"/>
            <a:ext cx="3063240" cy="312039"/>
          </a:xfrm>
          <a:prstGeom prst="rect">
            <a:avLst/>
          </a:prstGeom>
          <a:noFill/>
          <a:ln/>
        </p:spPr>
        <p:txBody>
          <a:bodyPr wrap="square" lIns="0" tIns="0" rIns="0" bIns="0" rtlCol="0" anchor="t"/>
          <a:lstStyle/>
          <a:p>
            <a:pPr indent="0" marL="0">
              <a:buNone/>
            </a:pPr>
            <a:r>
              <a:rPr lang="en-US" sz="1500" b="1" dirty="0">
                <a:solidFill>
                  <a:srgbClr val="83E58F"/>
                </a:solidFill>
                <a:latin typeface="Consolas" pitchFamily="34" charset="0"/>
                <a:ea typeface="Consolas" pitchFamily="34" charset="-122"/>
                <a:cs typeface="Consolas" pitchFamily="34" charset="-120"/>
              </a:rPr>
              <a:t>get; private set;</a:t>
            </a:r>
            <a:endParaRPr lang="en-US" sz="1500" dirty="0"/>
          </a:p>
        </p:txBody>
      </p:sp>
      <p:sp>
        <p:nvSpPr>
          <p:cNvPr id="13" name="Text 10"/>
          <p:cNvSpPr txBox="1"/>
          <p:nvPr/>
        </p:nvSpPr>
        <p:spPr>
          <a:xfrm>
            <a:off x="8321040" y="2396871"/>
            <a:ext cx="3063240" cy="62064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읽기는 어디서나, 쓰기는 Unit 안에서만 가능합니다.</a:t>
            </a:r>
            <a:endParaRPr lang="en-US" sz="1400" dirty="0"/>
          </a:p>
        </p:txBody>
      </p:sp>
      <p:sp>
        <p:nvSpPr>
          <p:cNvPr id="14" name="Shape 11"/>
          <p:cNvSpPr/>
          <p:nvPr/>
        </p:nvSpPr>
        <p:spPr>
          <a:xfrm>
            <a:off x="8092440" y="3291840"/>
            <a:ext cx="3520440" cy="1371600"/>
          </a:xfrm>
          <a:prstGeom prst="roundRect">
            <a:avLst>
              <a:gd name="adj" fmla="val 8000"/>
            </a:avLst>
          </a:prstGeom>
          <a:solidFill>
            <a:srgbClr val="10233A"/>
          </a:solidFill>
          <a:ln w="12700">
            <a:solidFill>
              <a:srgbClr val="2A405B"/>
            </a:solidFill>
            <a:prstDash val="solid"/>
          </a:ln>
        </p:spPr>
      </p:sp>
      <p:sp>
        <p:nvSpPr>
          <p:cNvPr id="15" name="Text 12"/>
          <p:cNvSpPr txBox="1"/>
          <p:nvPr/>
        </p:nvSpPr>
        <p:spPr>
          <a:xfrm>
            <a:off x="8321040" y="3520440"/>
            <a:ext cx="3063240" cy="312039"/>
          </a:xfrm>
          <a:prstGeom prst="rect">
            <a:avLst/>
          </a:prstGeom>
          <a:noFill/>
          <a:ln/>
        </p:spPr>
        <p:txBody>
          <a:bodyPr wrap="square" lIns="0" tIns="0" rIns="0" bIns="0" rtlCol="0" anchor="t"/>
          <a:lstStyle/>
          <a:p>
            <a:pPr indent="0" marL="0">
              <a:buNone/>
            </a:pPr>
            <a:r>
              <a:rPr lang="en-US" sz="1500" b="1" dirty="0">
                <a:solidFill>
                  <a:srgbClr val="83E58F"/>
                </a:solidFill>
                <a:latin typeface="Consolas" pitchFamily="34" charset="0"/>
                <a:ea typeface="Consolas" pitchFamily="34" charset="-122"/>
                <a:cs typeface="Consolas" pitchFamily="34" charset="-120"/>
              </a:rPr>
              <a:t>TakeDamage(100)</a:t>
            </a:r>
            <a:endParaRPr lang="en-US" sz="1500" dirty="0"/>
          </a:p>
        </p:txBody>
      </p:sp>
      <p:sp>
        <p:nvSpPr>
          <p:cNvPr id="16" name="Text 13"/>
          <p:cNvSpPr txBox="1"/>
          <p:nvPr/>
        </p:nvSpPr>
        <p:spPr>
          <a:xfrm>
            <a:off x="8321040" y="3905631"/>
            <a:ext cx="3063240" cy="62064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궁수의 HP는 0에서 멈춥니다.</a:t>
            </a:r>
            <a:endParaRPr lang="en-US" sz="1400" dirty="0"/>
          </a:p>
        </p:txBody>
      </p:sp>
      <p:sp>
        <p:nvSpPr>
          <p:cNvPr id="17" name="Shape 14"/>
          <p:cNvSpPr/>
          <p:nvPr/>
        </p:nvSpPr>
        <p:spPr>
          <a:xfrm>
            <a:off x="8092440" y="4800600"/>
            <a:ext cx="3520440" cy="1371600"/>
          </a:xfrm>
          <a:prstGeom prst="roundRect">
            <a:avLst>
              <a:gd name="adj" fmla="val 8000"/>
            </a:avLst>
          </a:prstGeom>
          <a:solidFill>
            <a:srgbClr val="10233A"/>
          </a:solidFill>
          <a:ln w="12700">
            <a:solidFill>
              <a:srgbClr val="2A405B"/>
            </a:solidFill>
            <a:prstDash val="solid"/>
          </a:ln>
        </p:spPr>
      </p:sp>
      <p:sp>
        <p:nvSpPr>
          <p:cNvPr id="18" name="Text 15"/>
          <p:cNvSpPr txBox="1"/>
          <p:nvPr/>
        </p:nvSpPr>
        <p:spPr>
          <a:xfrm>
            <a:off x="8321040" y="5029200"/>
            <a:ext cx="3063240" cy="312039"/>
          </a:xfrm>
          <a:prstGeom prst="rect">
            <a:avLst/>
          </a:prstGeom>
          <a:noFill/>
          <a:ln/>
        </p:spPr>
        <p:txBody>
          <a:bodyPr wrap="square" lIns="0" tIns="0" rIns="0" bIns="0" rtlCol="0" anchor="t"/>
          <a:lstStyle/>
          <a:p>
            <a:pPr indent="0" marL="0">
              <a:buNone/>
            </a:pPr>
            <a:r>
              <a:rPr lang="en-US" sz="1500" b="1" dirty="0">
                <a:solidFill>
                  <a:srgbClr val="FF8C99"/>
                </a:solidFill>
                <a:latin typeface="Consolas" pitchFamily="34" charset="0"/>
                <a:ea typeface="Consolas" pitchFamily="34" charset="-122"/>
                <a:cs typeface="Consolas" pitchFamily="34" charset="-120"/>
              </a:rPr>
              <a:t>archer.CurrentHp = 5;</a:t>
            </a:r>
            <a:endParaRPr lang="en-US" sz="1500" dirty="0"/>
          </a:p>
        </p:txBody>
      </p:sp>
      <p:sp>
        <p:nvSpPr>
          <p:cNvPr id="19" name="Text 16"/>
          <p:cNvSpPr txBox="1"/>
          <p:nvPr/>
        </p:nvSpPr>
        <p:spPr>
          <a:xfrm>
            <a:off x="8321040" y="5414391"/>
            <a:ext cx="3063240" cy="62064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컴파일 오류 CS0272</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83E58F"/>
          </a:solidFill>
          <a:ln w="12700">
            <a:solidFill>
              <a:srgbClr val="83E58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83E58F"/>
                </a:solidFill>
              </a:rPr>
              <a:t>TELL, DON'T ASK</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값을 꺼내지 말고 요청하기</a:t>
            </a:r>
            <a:endParaRPr lang="en-US" sz="2800" dirty="0"/>
          </a:p>
        </p:txBody>
      </p:sp>
      <p:sp>
        <p:nvSpPr>
          <p:cNvPr id="6" name="Shape 3"/>
          <p:cNvSpPr/>
          <p:nvPr/>
        </p:nvSpPr>
        <p:spPr>
          <a:xfrm>
            <a:off x="548640" y="1783080"/>
            <a:ext cx="5440680" cy="3154680"/>
          </a:xfrm>
          <a:prstGeom prst="roundRect">
            <a:avLst>
              <a:gd name="adj" fmla="val 3478"/>
            </a:avLst>
          </a:prstGeom>
          <a:solidFill>
            <a:srgbClr val="10233A"/>
          </a:solidFill>
          <a:ln w="12700">
            <a:solidFill>
              <a:srgbClr val="2A405B"/>
            </a:solidFill>
            <a:prstDash val="solid"/>
          </a:ln>
        </p:spPr>
      </p:sp>
      <p:sp>
        <p:nvSpPr>
          <p:cNvPr id="7" name="Text 4"/>
          <p:cNvSpPr txBox="1"/>
          <p:nvPr/>
        </p:nvSpPr>
        <p:spPr>
          <a:xfrm>
            <a:off x="822960" y="1965960"/>
            <a:ext cx="4937760" cy="411480"/>
          </a:xfrm>
          <a:prstGeom prst="rect">
            <a:avLst/>
          </a:prstGeom>
          <a:noFill/>
          <a:ln/>
        </p:spPr>
        <p:txBody>
          <a:bodyPr wrap="square" lIns="0" tIns="0" rIns="0" bIns="0" rtlCol="0" anchor="t"/>
          <a:lstStyle/>
          <a:p>
            <a:pPr indent="0" marL="0">
              <a:buNone/>
            </a:pPr>
            <a:r>
              <a:rPr lang="en-US" sz="1900" b="1" dirty="0">
                <a:solidFill>
                  <a:srgbClr val="FF8C99"/>
                </a:solidFill>
              </a:rPr>
              <a:t>값을 꺼내 계산</a:t>
            </a:r>
            <a:endParaRPr lang="en-US" sz="1900" dirty="0"/>
          </a:p>
        </p:txBody>
      </p:sp>
      <p:sp>
        <p:nvSpPr>
          <p:cNvPr id="8" name="Shape 5"/>
          <p:cNvSpPr/>
          <p:nvPr/>
        </p:nvSpPr>
        <p:spPr>
          <a:xfrm>
            <a:off x="822960" y="2560320"/>
            <a:ext cx="4892040" cy="1554480"/>
          </a:xfrm>
          <a:prstGeom prst="roundRect">
            <a:avLst>
              <a:gd name="adj" fmla="val 4706"/>
            </a:avLst>
          </a:prstGeom>
          <a:solidFill>
            <a:srgbClr val="040A13"/>
          </a:solidFill>
          <a:ln w="12700">
            <a:solidFill>
              <a:srgbClr val="2A405B"/>
            </a:solidFill>
            <a:prstDash val="solid"/>
          </a:ln>
        </p:spPr>
      </p:sp>
      <p:sp>
        <p:nvSpPr>
          <p:cNvPr id="9" name="Text 6"/>
          <p:cNvSpPr txBox="1"/>
          <p:nvPr/>
        </p:nvSpPr>
        <p:spPr>
          <a:xfrm>
            <a:off x="1005840" y="2743200"/>
            <a:ext cx="4526280" cy="118872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if</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(archer.Hp - damage &lt;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archer.Hp =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else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archer.Hp -= damage;</a:t>
            </a:r>
            <a:endParaRPr lang="en-US" sz="1800" dirty="0"/>
          </a:p>
        </p:txBody>
      </p:sp>
      <p:sp>
        <p:nvSpPr>
          <p:cNvPr id="10" name="Text 7"/>
          <p:cNvSpPr txBox="1"/>
          <p:nvPr/>
        </p:nvSpPr>
        <p:spPr>
          <a:xfrm>
            <a:off x="822960" y="4343400"/>
            <a:ext cx="4892040" cy="1097280"/>
          </a:xfrm>
          <a:prstGeom prst="rect">
            <a:avLst/>
          </a:prstGeom>
          <a:noFill/>
          <a:ln/>
        </p:spPr>
        <p:txBody>
          <a:bodyPr wrap="square" lIns="0" tIns="0" rIns="0" bIns="0" rtlCol="0" anchor="t"/>
          <a:lstStyle/>
          <a:p>
            <a:pPr indent="0" marL="0">
              <a:lnSpc>
                <a:spcPct val="115000"/>
              </a:lnSpc>
              <a:buNone/>
            </a:pPr>
            <a:r>
              <a:rPr lang="en-US" sz="1500" dirty="0">
                <a:solidFill>
                  <a:srgbClr val="AFBED1"/>
                </a:solidFill>
              </a:rPr>
              <a:t>규칙이 호출하는 쪽마다 복사됩니다.</a:t>
            </a:r>
            <a:endParaRPr lang="en-US" sz="1500" dirty="0"/>
          </a:p>
        </p:txBody>
      </p:sp>
      <p:sp>
        <p:nvSpPr>
          <p:cNvPr id="11" name="Shape 8"/>
          <p:cNvSpPr/>
          <p:nvPr/>
        </p:nvSpPr>
        <p:spPr>
          <a:xfrm>
            <a:off x="6217920" y="1783080"/>
            <a:ext cx="5440680" cy="3154680"/>
          </a:xfrm>
          <a:prstGeom prst="roundRect">
            <a:avLst>
              <a:gd name="adj" fmla="val 3478"/>
            </a:avLst>
          </a:prstGeom>
          <a:solidFill>
            <a:srgbClr val="10233A"/>
          </a:solidFill>
          <a:ln w="12700">
            <a:solidFill>
              <a:srgbClr val="2A405B"/>
            </a:solidFill>
            <a:prstDash val="solid"/>
          </a:ln>
        </p:spPr>
      </p:sp>
      <p:sp>
        <p:nvSpPr>
          <p:cNvPr id="12" name="Text 9"/>
          <p:cNvSpPr txBox="1"/>
          <p:nvPr/>
        </p:nvSpPr>
        <p:spPr>
          <a:xfrm>
            <a:off x="6492240" y="1965960"/>
            <a:ext cx="4937760" cy="411480"/>
          </a:xfrm>
          <a:prstGeom prst="rect">
            <a:avLst/>
          </a:prstGeom>
          <a:noFill/>
          <a:ln/>
        </p:spPr>
        <p:txBody>
          <a:bodyPr wrap="square" lIns="0" tIns="0" rIns="0" bIns="0" rtlCol="0" anchor="t"/>
          <a:lstStyle/>
          <a:p>
            <a:pPr indent="0" marL="0">
              <a:buNone/>
            </a:pPr>
            <a:r>
              <a:rPr lang="en-US" sz="1900" b="1" dirty="0">
                <a:solidFill>
                  <a:srgbClr val="83E58F"/>
                </a:solidFill>
              </a:rPr>
              <a:t>객체에게 요청</a:t>
            </a:r>
            <a:endParaRPr lang="en-US" sz="1900" dirty="0"/>
          </a:p>
        </p:txBody>
      </p:sp>
      <p:sp>
        <p:nvSpPr>
          <p:cNvPr id="13" name="Shape 10"/>
          <p:cNvSpPr/>
          <p:nvPr/>
        </p:nvSpPr>
        <p:spPr>
          <a:xfrm>
            <a:off x="6492240" y="2560320"/>
            <a:ext cx="4892040" cy="662940"/>
          </a:xfrm>
          <a:prstGeom prst="roundRect">
            <a:avLst>
              <a:gd name="adj" fmla="val 11034"/>
            </a:avLst>
          </a:prstGeom>
          <a:solidFill>
            <a:srgbClr val="040A13"/>
          </a:solidFill>
          <a:ln w="12700">
            <a:solidFill>
              <a:srgbClr val="2A405B"/>
            </a:solidFill>
            <a:prstDash val="solid"/>
          </a:ln>
        </p:spPr>
      </p:sp>
      <p:sp>
        <p:nvSpPr>
          <p:cNvPr id="14" name="Text 11"/>
          <p:cNvSpPr txBox="1"/>
          <p:nvPr/>
        </p:nvSpPr>
        <p:spPr>
          <a:xfrm>
            <a:off x="6675120" y="2743200"/>
            <a:ext cx="4526280" cy="297180"/>
          </a:xfrm>
          <a:prstGeom prst="rect">
            <a:avLst/>
          </a:prstGeom>
          <a:noFill/>
          <a:ln/>
        </p:spPr>
        <p:txBody>
          <a:bodyPr wrap="none" lIns="0" tIns="0" rIns="0" bIns="0" rtlCol="0" anchor="t"/>
          <a:lstStyle/>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archer.TakeDamage(damage);</a:t>
            </a:r>
            <a:endParaRPr lang="en-US" sz="1800" dirty="0"/>
          </a:p>
        </p:txBody>
      </p:sp>
      <p:sp>
        <p:nvSpPr>
          <p:cNvPr id="15" name="Text 12"/>
          <p:cNvSpPr txBox="1"/>
          <p:nvPr/>
        </p:nvSpPr>
        <p:spPr>
          <a:xfrm>
            <a:off x="6492240" y="4343400"/>
            <a:ext cx="4892040" cy="1097280"/>
          </a:xfrm>
          <a:prstGeom prst="rect">
            <a:avLst/>
          </a:prstGeom>
          <a:noFill/>
          <a:ln/>
        </p:spPr>
        <p:txBody>
          <a:bodyPr wrap="square" lIns="0" tIns="0" rIns="0" bIns="0" rtlCol="0" anchor="t"/>
          <a:lstStyle/>
          <a:p>
            <a:pPr indent="0" marL="0">
              <a:lnSpc>
                <a:spcPct val="115000"/>
              </a:lnSpc>
              <a:buNone/>
            </a:pPr>
            <a:r>
              <a:rPr lang="en-US" sz="1500" dirty="0">
                <a:solidFill>
                  <a:srgbClr val="AFBED1"/>
                </a:solidFill>
              </a:rPr>
              <a:t>규칙은 Unit 안에만 있습니다.</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502920"/>
            <a:ext cx="1005840" cy="1005840"/>
          </a:xfrm>
          <a:prstGeom prst="ellipse">
            <a:avLst/>
          </a:prstGeom>
          <a:solidFill>
            <a:srgbClr val="FFD16F"/>
          </a:solidFill>
          <a:ln w="12700">
            <a:solidFill>
              <a:srgbClr val="FFD16F"/>
            </a:solidFill>
            <a:prstDash val="solid"/>
          </a:ln>
        </p:spPr>
      </p:sp>
      <p:sp>
        <p:nvSpPr>
          <p:cNvPr id="3" name="Text 1"/>
          <p:cNvSpPr txBox="1"/>
          <p:nvPr/>
        </p:nvSpPr>
        <p:spPr>
          <a:xfrm>
            <a:off x="548640" y="502920"/>
            <a:ext cx="1005840" cy="1005840"/>
          </a:xfrm>
          <a:prstGeom prst="rect">
            <a:avLst/>
          </a:prstGeom>
          <a:noFill/>
          <a:ln/>
        </p:spPr>
        <p:txBody>
          <a:bodyPr wrap="square" lIns="0" tIns="0" rIns="0" bIns="0" rtlCol="0" anchor="ctr"/>
          <a:lstStyle/>
          <a:p>
            <a:pPr algn="ctr" indent="0" marL="0">
              <a:buNone/>
            </a:pPr>
            <a:r>
              <a:rPr lang="en-US" sz="4400" b="1" dirty="0">
                <a:solidFill>
                  <a:srgbClr val="040A13"/>
                </a:solidFill>
              </a:rPr>
              <a:t>Q</a:t>
            </a:r>
            <a:endParaRPr lang="en-US" sz="4400" dirty="0"/>
          </a:p>
        </p:txBody>
      </p:sp>
      <p:sp>
        <p:nvSpPr>
          <p:cNvPr id="4" name="Text 2"/>
          <p:cNvSpPr txBox="1"/>
          <p:nvPr/>
        </p:nvSpPr>
        <p:spPr>
          <a:xfrm>
            <a:off x="1828800" y="566928"/>
            <a:ext cx="9144000" cy="310896"/>
          </a:xfrm>
          <a:prstGeom prst="rect">
            <a:avLst/>
          </a:prstGeom>
          <a:noFill/>
          <a:ln/>
        </p:spPr>
        <p:txBody>
          <a:bodyPr wrap="square" lIns="0" tIns="0" rIns="0" bIns="0" rtlCol="0" anchor="t"/>
          <a:lstStyle/>
          <a:p>
            <a:pPr indent="0" marL="0">
              <a:buNone/>
            </a:pPr>
            <a:r>
              <a:rPr lang="en-US" sz="1300" b="1" spc="150" kern="0" dirty="0">
                <a:solidFill>
                  <a:srgbClr val="FFD16F"/>
                </a:solidFill>
              </a:rPr>
              <a:t>CHECK 2 · 캡슐화</a:t>
            </a:r>
            <a:endParaRPr lang="en-US" sz="1300" dirty="0"/>
          </a:p>
        </p:txBody>
      </p:sp>
      <p:sp>
        <p:nvSpPr>
          <p:cNvPr id="5" name="Text 3"/>
          <p:cNvSpPr txBox="1"/>
          <p:nvPr/>
        </p:nvSpPr>
        <p:spPr>
          <a:xfrm>
            <a:off x="1828800" y="914400"/>
            <a:ext cx="9784080" cy="1280160"/>
          </a:xfrm>
          <a:prstGeom prst="rect">
            <a:avLst/>
          </a:prstGeom>
          <a:noFill/>
          <a:ln/>
        </p:spPr>
        <p:txBody>
          <a:bodyPr wrap="square" lIns="0" tIns="0" rIns="0" bIns="0" rtlCol="0" anchor="t"/>
          <a:lstStyle/>
          <a:p>
            <a:pPr indent="0" marL="0">
              <a:lnSpc>
                <a:spcPct val="115000"/>
              </a:lnSpc>
              <a:buNone/>
            </a:pPr>
            <a:r>
              <a:rPr lang="en-US" sz="2600" b="1" dirty="0">
                <a:solidFill>
                  <a:srgbClr val="EEF5FF"/>
                </a:solidFill>
              </a:rPr>
              <a:t>컴파일되지 않는 줄은?</a:t>
            </a:r>
            <a:endParaRPr lang="en-US" sz="2600" dirty="0"/>
          </a:p>
          <a:p>
            <a:pPr indent="0" marL="0">
              <a:lnSpc>
                <a:spcPct val="115000"/>
              </a:lnSpc>
              <a:buNone/>
            </a:pPr>
            <a:r>
              <a:rPr lang="en-US" sz="2600" b="1" dirty="0">
                <a:solidFill>
                  <a:srgbClr val="EEF5FF"/>
                </a:solidFill>
              </a:rPr>
              <a:t>컴파일되지만 HP가 바뀌지 않는 줄은?</a:t>
            </a:r>
            <a:endParaRPr lang="en-US" sz="2600" dirty="0"/>
          </a:p>
        </p:txBody>
      </p:sp>
      <p:sp>
        <p:nvSpPr>
          <p:cNvPr id="6" name="Text 4"/>
          <p:cNvSpPr txBox="1"/>
          <p:nvPr/>
        </p:nvSpPr>
        <p:spPr>
          <a:xfrm>
            <a:off x="1828800" y="2011680"/>
            <a:ext cx="9784080" cy="411480"/>
          </a:xfrm>
          <a:prstGeom prst="rect">
            <a:avLst/>
          </a:prstGeom>
          <a:noFill/>
          <a:ln/>
        </p:spPr>
        <p:txBody>
          <a:bodyPr wrap="square" lIns="0" tIns="0" rIns="0" bIns="0" rtlCol="0" anchor="t"/>
          <a:lstStyle/>
          <a:p>
            <a:pPr indent="0" marL="0">
              <a:buNone/>
            </a:pPr>
            <a:r>
              <a:rPr lang="en-US" sz="1700" dirty="0">
                <a:solidFill>
                  <a:srgbClr val="AFBED1"/>
                </a:solidFill>
              </a:rPr>
              <a:t>archer의 HP는 20, MaxHp도 20입니다.</a:t>
            </a:r>
            <a:endParaRPr lang="en-US" sz="1700" dirty="0"/>
          </a:p>
        </p:txBody>
      </p:sp>
      <p:sp>
        <p:nvSpPr>
          <p:cNvPr id="8" name="Shape 5"/>
          <p:cNvSpPr/>
          <p:nvPr/>
        </p:nvSpPr>
        <p:spPr>
          <a:xfrm>
            <a:off x="1828800" y="2697480"/>
            <a:ext cx="8229600" cy="1554480"/>
          </a:xfrm>
          <a:prstGeom prst="roundRect">
            <a:avLst>
              <a:gd name="adj" fmla="val 4706"/>
            </a:avLst>
          </a:prstGeom>
          <a:solidFill>
            <a:srgbClr val="040A13"/>
          </a:solidFill>
          <a:ln w="12700">
            <a:solidFill>
              <a:srgbClr val="2A405B"/>
            </a:solidFill>
            <a:prstDash val="solid"/>
          </a:ln>
        </p:spPr>
      </p:sp>
      <p:sp>
        <p:nvSpPr>
          <p:cNvPr id="9" name="Text 6"/>
          <p:cNvSpPr txBox="1"/>
          <p:nvPr/>
        </p:nvSpPr>
        <p:spPr>
          <a:xfrm>
            <a:off x="2011680" y="2880360"/>
            <a:ext cx="7863840" cy="118872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hp = archer.CurrentHp;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①</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archer.TakeDamage(</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5</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②</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archer.CurrentHp = archer.MaxHp;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③</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archer.Heal(-</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10</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④</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822960" y="1554480"/>
            <a:ext cx="2743200" cy="1005840"/>
          </a:xfrm>
          <a:prstGeom prst="rect">
            <a:avLst/>
          </a:prstGeom>
          <a:noFill/>
          <a:ln/>
        </p:spPr>
        <p:txBody>
          <a:bodyPr wrap="square" lIns="0" tIns="0" rIns="0" bIns="0" rtlCol="0" anchor="t"/>
          <a:lstStyle/>
          <a:p>
            <a:pPr indent="0" marL="0">
              <a:buNone/>
            </a:pPr>
            <a:r>
              <a:rPr lang="en-US" sz="6000" b="1" dirty="0">
                <a:solidFill>
                  <a:srgbClr val="B8A4FF"/>
                </a:solidFill>
              </a:rPr>
              <a:t>04</a:t>
            </a:r>
            <a:endParaRPr lang="en-US" sz="6000" dirty="0"/>
          </a:p>
        </p:txBody>
      </p:sp>
      <p:sp>
        <p:nvSpPr>
          <p:cNvPr id="3" name="Text 1"/>
          <p:cNvSpPr txBox="1"/>
          <p:nvPr/>
        </p:nvSpPr>
        <p:spPr>
          <a:xfrm>
            <a:off x="822960" y="2697480"/>
            <a:ext cx="9144000" cy="365760"/>
          </a:xfrm>
          <a:prstGeom prst="rect">
            <a:avLst/>
          </a:prstGeom>
          <a:noFill/>
          <a:ln/>
        </p:spPr>
        <p:txBody>
          <a:bodyPr wrap="square" lIns="0" tIns="0" rIns="0" bIns="0" rtlCol="0" anchor="t"/>
          <a:lstStyle/>
          <a:p>
            <a:pPr indent="0" marL="0">
              <a:buNone/>
            </a:pPr>
            <a:r>
              <a:rPr lang="en-US" sz="1500" b="1" spc="200" kern="0" dirty="0">
                <a:solidFill>
                  <a:srgbClr val="B8A4FF"/>
                </a:solidFill>
              </a:rPr>
              <a:t>INHERITANCE</a:t>
            </a:r>
            <a:endParaRPr lang="en-US" sz="1500" dirty="0"/>
          </a:p>
        </p:txBody>
      </p:sp>
      <p:sp>
        <p:nvSpPr>
          <p:cNvPr id="4" name="Text 2"/>
          <p:cNvSpPr txBox="1"/>
          <p:nvPr/>
        </p:nvSpPr>
        <p:spPr>
          <a:xfrm>
            <a:off x="822960" y="3108960"/>
            <a:ext cx="10515600" cy="914400"/>
          </a:xfrm>
          <a:prstGeom prst="rect">
            <a:avLst/>
          </a:prstGeom>
          <a:noFill/>
          <a:ln/>
        </p:spPr>
        <p:txBody>
          <a:bodyPr wrap="square" lIns="0" tIns="0" rIns="0" bIns="0" rtlCol="0" anchor="t"/>
          <a:lstStyle/>
          <a:p>
            <a:pPr indent="0" marL="0">
              <a:buNone/>
            </a:pPr>
            <a:r>
              <a:rPr lang="en-US" sz="4400" b="1" dirty="0">
                <a:solidFill>
                  <a:srgbClr val="EEF5FF"/>
                </a:solidFill>
              </a:rPr>
              <a:t>상속</a:t>
            </a:r>
            <a:endParaRPr lang="en-US" sz="4400" dirty="0"/>
          </a:p>
        </p:txBody>
      </p:sp>
      <p:sp>
        <p:nvSpPr>
          <p:cNvPr id="5" name="Shape 3"/>
          <p:cNvSpPr/>
          <p:nvPr/>
        </p:nvSpPr>
        <p:spPr>
          <a:xfrm>
            <a:off x="822960" y="4846320"/>
            <a:ext cx="1298448" cy="457200"/>
          </a:xfrm>
          <a:prstGeom prst="roundRect">
            <a:avLst>
              <a:gd name="adj" fmla="val 50000"/>
            </a:avLst>
          </a:prstGeom>
          <a:solidFill>
            <a:srgbClr val="040A13"/>
          </a:solidFill>
          <a:ln w="12700">
            <a:solidFill>
              <a:srgbClr val="2A405B"/>
            </a:solidFill>
            <a:prstDash val="solid"/>
          </a:ln>
        </p:spPr>
      </p:sp>
      <p:sp>
        <p:nvSpPr>
          <p:cNvPr id="6" name="Text 4"/>
          <p:cNvSpPr txBox="1"/>
          <p:nvPr/>
        </p:nvSpPr>
        <p:spPr>
          <a:xfrm>
            <a:off x="822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도입</a:t>
            </a:r>
            <a:endParaRPr lang="en-US" sz="1300" dirty="0"/>
          </a:p>
        </p:txBody>
      </p:sp>
      <p:sp>
        <p:nvSpPr>
          <p:cNvPr id="7" name="Shape 5"/>
          <p:cNvSpPr/>
          <p:nvPr/>
        </p:nvSpPr>
        <p:spPr>
          <a:xfrm>
            <a:off x="2194560" y="4846320"/>
            <a:ext cx="1298448" cy="457200"/>
          </a:xfrm>
          <a:prstGeom prst="roundRect">
            <a:avLst>
              <a:gd name="adj" fmla="val 50000"/>
            </a:avLst>
          </a:prstGeom>
          <a:solidFill>
            <a:srgbClr val="040A13"/>
          </a:solidFill>
          <a:ln w="12700">
            <a:solidFill>
              <a:srgbClr val="2A405B"/>
            </a:solidFill>
            <a:prstDash val="solid"/>
          </a:ln>
        </p:spPr>
      </p:sp>
      <p:sp>
        <p:nvSpPr>
          <p:cNvPr id="8" name="Text 6"/>
          <p:cNvSpPr txBox="1"/>
          <p:nvPr/>
        </p:nvSpPr>
        <p:spPr>
          <a:xfrm>
            <a:off x="2194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객체와 클래스</a:t>
            </a:r>
            <a:endParaRPr lang="en-US" sz="1300" dirty="0"/>
          </a:p>
        </p:txBody>
      </p:sp>
      <p:sp>
        <p:nvSpPr>
          <p:cNvPr id="9" name="Shape 7"/>
          <p:cNvSpPr/>
          <p:nvPr/>
        </p:nvSpPr>
        <p:spPr>
          <a:xfrm>
            <a:off x="3566160" y="4846320"/>
            <a:ext cx="1298448" cy="457200"/>
          </a:xfrm>
          <a:prstGeom prst="roundRect">
            <a:avLst>
              <a:gd name="adj" fmla="val 50000"/>
            </a:avLst>
          </a:prstGeom>
          <a:solidFill>
            <a:srgbClr val="040A13"/>
          </a:solidFill>
          <a:ln w="12700">
            <a:solidFill>
              <a:srgbClr val="2A405B"/>
            </a:solidFill>
            <a:prstDash val="solid"/>
          </a:ln>
        </p:spPr>
      </p:sp>
      <p:sp>
        <p:nvSpPr>
          <p:cNvPr id="10" name="Text 8"/>
          <p:cNvSpPr txBox="1"/>
          <p:nvPr/>
        </p:nvSpPr>
        <p:spPr>
          <a:xfrm>
            <a:off x="3566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캡슐화</a:t>
            </a:r>
            <a:endParaRPr lang="en-US" sz="1300" dirty="0"/>
          </a:p>
        </p:txBody>
      </p:sp>
      <p:sp>
        <p:nvSpPr>
          <p:cNvPr id="11" name="Shape 9"/>
          <p:cNvSpPr/>
          <p:nvPr/>
        </p:nvSpPr>
        <p:spPr>
          <a:xfrm>
            <a:off x="4937760" y="4846320"/>
            <a:ext cx="1298448" cy="457200"/>
          </a:xfrm>
          <a:prstGeom prst="roundRect">
            <a:avLst>
              <a:gd name="adj" fmla="val 50000"/>
            </a:avLst>
          </a:prstGeom>
          <a:solidFill>
            <a:srgbClr val="B8A4FF"/>
          </a:solidFill>
          <a:ln w="12700">
            <a:solidFill>
              <a:srgbClr val="B8A4FF"/>
            </a:solidFill>
            <a:prstDash val="solid"/>
          </a:ln>
        </p:spPr>
      </p:sp>
      <p:sp>
        <p:nvSpPr>
          <p:cNvPr id="12" name="Text 10"/>
          <p:cNvSpPr txBox="1"/>
          <p:nvPr/>
        </p:nvSpPr>
        <p:spPr>
          <a:xfrm>
            <a:off x="4937760" y="4846320"/>
            <a:ext cx="1298448" cy="457200"/>
          </a:xfrm>
          <a:prstGeom prst="rect">
            <a:avLst/>
          </a:prstGeom>
          <a:noFill/>
          <a:ln/>
        </p:spPr>
        <p:txBody>
          <a:bodyPr wrap="square" lIns="0" tIns="0" rIns="0" bIns="0" rtlCol="0" anchor="ctr"/>
          <a:lstStyle/>
          <a:p>
            <a:pPr algn="ctr" indent="0" marL="0">
              <a:buNone/>
            </a:pPr>
            <a:r>
              <a:rPr lang="en-US" sz="1300" b="1" dirty="0">
                <a:solidFill>
                  <a:srgbClr val="040A13"/>
                </a:solidFill>
              </a:rPr>
              <a:t>상속</a:t>
            </a:r>
            <a:endParaRPr lang="en-US" sz="1300" dirty="0"/>
          </a:p>
        </p:txBody>
      </p:sp>
      <p:sp>
        <p:nvSpPr>
          <p:cNvPr id="13" name="Shape 11"/>
          <p:cNvSpPr/>
          <p:nvPr/>
        </p:nvSpPr>
        <p:spPr>
          <a:xfrm>
            <a:off x="6309360" y="4846320"/>
            <a:ext cx="1298448" cy="457200"/>
          </a:xfrm>
          <a:prstGeom prst="roundRect">
            <a:avLst>
              <a:gd name="adj" fmla="val 50000"/>
            </a:avLst>
          </a:prstGeom>
          <a:solidFill>
            <a:srgbClr val="040A13"/>
          </a:solidFill>
          <a:ln w="12700">
            <a:solidFill>
              <a:srgbClr val="2A405B"/>
            </a:solidFill>
            <a:prstDash val="solid"/>
          </a:ln>
        </p:spPr>
      </p:sp>
      <p:sp>
        <p:nvSpPr>
          <p:cNvPr id="14" name="Text 12"/>
          <p:cNvSpPr txBox="1"/>
          <p:nvPr/>
        </p:nvSpPr>
        <p:spPr>
          <a:xfrm>
            <a:off x="63093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다형성</a:t>
            </a:r>
            <a:endParaRPr lang="en-US" sz="1300" dirty="0"/>
          </a:p>
        </p:txBody>
      </p:sp>
      <p:sp>
        <p:nvSpPr>
          <p:cNvPr id="15" name="Shape 13"/>
          <p:cNvSpPr/>
          <p:nvPr/>
        </p:nvSpPr>
        <p:spPr>
          <a:xfrm>
            <a:off x="7680960" y="4846320"/>
            <a:ext cx="1298448" cy="457200"/>
          </a:xfrm>
          <a:prstGeom prst="roundRect">
            <a:avLst>
              <a:gd name="adj" fmla="val 50000"/>
            </a:avLst>
          </a:prstGeom>
          <a:solidFill>
            <a:srgbClr val="040A13"/>
          </a:solidFill>
          <a:ln w="12700">
            <a:solidFill>
              <a:srgbClr val="2A405B"/>
            </a:solidFill>
            <a:prstDash val="solid"/>
          </a:ln>
        </p:spPr>
      </p:sp>
      <p:sp>
        <p:nvSpPr>
          <p:cNvPr id="16" name="Text 14"/>
          <p:cNvSpPr txBox="1"/>
          <p:nvPr/>
        </p:nvSpPr>
        <p:spPr>
          <a:xfrm>
            <a:off x="7680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추상화</a:t>
            </a:r>
            <a:endParaRPr lang="en-US" sz="1300" dirty="0"/>
          </a:p>
        </p:txBody>
      </p:sp>
      <p:sp>
        <p:nvSpPr>
          <p:cNvPr id="17" name="Shape 15"/>
          <p:cNvSpPr/>
          <p:nvPr/>
        </p:nvSpPr>
        <p:spPr>
          <a:xfrm>
            <a:off x="9052560" y="4846320"/>
            <a:ext cx="1298448" cy="457200"/>
          </a:xfrm>
          <a:prstGeom prst="roundRect">
            <a:avLst>
              <a:gd name="adj" fmla="val 50000"/>
            </a:avLst>
          </a:prstGeom>
          <a:solidFill>
            <a:srgbClr val="040A13"/>
          </a:solidFill>
          <a:ln w="12700">
            <a:solidFill>
              <a:srgbClr val="2A405B"/>
            </a:solidFill>
            <a:prstDash val="solid"/>
          </a:ln>
        </p:spPr>
      </p:sp>
      <p:sp>
        <p:nvSpPr>
          <p:cNvPr id="18" name="Text 16"/>
          <p:cNvSpPr txBox="1"/>
          <p:nvPr/>
        </p:nvSpPr>
        <p:spPr>
          <a:xfrm>
            <a:off x="9052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실습</a:t>
            </a:r>
            <a:endParaRPr lang="en-US" sz="1300" dirty="0"/>
          </a:p>
        </p:txBody>
      </p:sp>
      <p:sp>
        <p:nvSpPr>
          <p:cNvPr id="19" name="Shape 17"/>
          <p:cNvSpPr/>
          <p:nvPr/>
        </p:nvSpPr>
        <p:spPr>
          <a:xfrm>
            <a:off x="10424160" y="4846320"/>
            <a:ext cx="1298448" cy="457200"/>
          </a:xfrm>
          <a:prstGeom prst="roundRect">
            <a:avLst>
              <a:gd name="adj" fmla="val 50000"/>
            </a:avLst>
          </a:prstGeom>
          <a:solidFill>
            <a:srgbClr val="040A13"/>
          </a:solidFill>
          <a:ln w="12700">
            <a:solidFill>
              <a:srgbClr val="2A405B"/>
            </a:solidFill>
            <a:prstDash val="solid"/>
          </a:ln>
        </p:spPr>
      </p:sp>
      <p:sp>
        <p:nvSpPr>
          <p:cNvPr id="20" name="Text 18"/>
          <p:cNvSpPr txBox="1"/>
          <p:nvPr/>
        </p:nvSpPr>
        <p:spPr>
          <a:xfrm>
            <a:off x="10424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마무리</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B8A4FF"/>
          </a:solidFill>
          <a:ln w="12700">
            <a:solidFill>
              <a:srgbClr val="B8A4F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B8A4FF"/>
                </a:solidFill>
              </a:rPr>
              <a:t>INHERITANCE · PROBLEM</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스킬 클래스의 중복</a:t>
            </a:r>
            <a:endParaRPr lang="en-US" sz="2800" dirty="0"/>
          </a:p>
        </p:txBody>
      </p:sp>
      <p:sp>
        <p:nvSpPr>
          <p:cNvPr id="6" name="Shape 3"/>
          <p:cNvSpPr/>
          <p:nvPr/>
        </p:nvSpPr>
        <p:spPr>
          <a:xfrm>
            <a:off x="548640" y="1783080"/>
            <a:ext cx="5440680" cy="2446020"/>
          </a:xfrm>
          <a:prstGeom prst="roundRect">
            <a:avLst>
              <a:gd name="adj" fmla="val 2991"/>
            </a:avLst>
          </a:prstGeom>
          <a:solidFill>
            <a:srgbClr val="040A13"/>
          </a:solidFill>
          <a:ln w="12700">
            <a:solidFill>
              <a:srgbClr val="2A405B"/>
            </a:solidFill>
            <a:prstDash val="solid"/>
          </a:ln>
        </p:spPr>
      </p:sp>
      <p:sp>
        <p:nvSpPr>
          <p:cNvPr id="7" name="Shape 4"/>
          <p:cNvSpPr/>
          <p:nvPr/>
        </p:nvSpPr>
        <p:spPr>
          <a:xfrm>
            <a:off x="603504" y="2560320"/>
            <a:ext cx="5330952" cy="594360"/>
          </a:xfrm>
          <a:prstGeom prst="rect">
            <a:avLst/>
          </a:prstGeom>
          <a:solidFill>
            <a:srgbClr val="FF8C99">
              <a:alpha val="20000"/>
            </a:srgbClr>
          </a:solidFill>
          <a:ln w="12700">
            <a:solidFill>
              <a:srgbClr val="FF8C99">
                <a:alpha val="0"/>
              </a:srgbClr>
            </a:solidFill>
            <a:prstDash val="solid"/>
          </a:ln>
        </p:spPr>
      </p:sp>
      <p:sp>
        <p:nvSpPr>
          <p:cNvPr id="8" name="Text 5"/>
          <p:cNvSpPr txBox="1"/>
          <p:nvPr/>
        </p:nvSpPr>
        <p:spPr>
          <a:xfrm>
            <a:off x="731520" y="1965960"/>
            <a:ext cx="5074920" cy="208026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sealed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class</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PowerStrikeSkill</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string</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DisplayName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Range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Use(): 대상에게 피해를 준다</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9" name="Shape 6"/>
          <p:cNvSpPr/>
          <p:nvPr/>
        </p:nvSpPr>
        <p:spPr>
          <a:xfrm>
            <a:off x="6172200" y="1783080"/>
            <a:ext cx="5440680" cy="2446020"/>
          </a:xfrm>
          <a:prstGeom prst="roundRect">
            <a:avLst>
              <a:gd name="adj" fmla="val 2991"/>
            </a:avLst>
          </a:prstGeom>
          <a:solidFill>
            <a:srgbClr val="040A13"/>
          </a:solidFill>
          <a:ln w="12700">
            <a:solidFill>
              <a:srgbClr val="2A405B"/>
            </a:solidFill>
            <a:prstDash val="solid"/>
          </a:ln>
        </p:spPr>
      </p:sp>
      <p:sp>
        <p:nvSpPr>
          <p:cNvPr id="10" name="Shape 7"/>
          <p:cNvSpPr/>
          <p:nvPr/>
        </p:nvSpPr>
        <p:spPr>
          <a:xfrm>
            <a:off x="6227064" y="2560320"/>
            <a:ext cx="5330952" cy="594360"/>
          </a:xfrm>
          <a:prstGeom prst="rect">
            <a:avLst/>
          </a:prstGeom>
          <a:solidFill>
            <a:srgbClr val="FF8C99">
              <a:alpha val="20000"/>
            </a:srgbClr>
          </a:solidFill>
          <a:ln w="12700">
            <a:solidFill>
              <a:srgbClr val="FF8C99">
                <a:alpha val="0"/>
              </a:srgbClr>
            </a:solidFill>
            <a:prstDash val="solid"/>
          </a:ln>
        </p:spPr>
      </p:sp>
      <p:sp>
        <p:nvSpPr>
          <p:cNvPr id="11" name="Text 8"/>
          <p:cNvSpPr txBox="1"/>
          <p:nvPr/>
        </p:nvSpPr>
        <p:spPr>
          <a:xfrm>
            <a:off x="6355080" y="1965960"/>
            <a:ext cx="5074920" cy="208026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sealed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class</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HealSkill</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string</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DisplayName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Range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Use(): 아군의 HP를 회복한다</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12" name="Shape 9"/>
          <p:cNvSpPr/>
          <p:nvPr/>
        </p:nvSpPr>
        <p:spPr>
          <a:xfrm>
            <a:off x="548640" y="4526280"/>
            <a:ext cx="11064240" cy="1371600"/>
          </a:xfrm>
          <a:prstGeom prst="roundRect">
            <a:avLst>
              <a:gd name="adj" fmla="val 8000"/>
            </a:avLst>
          </a:prstGeom>
          <a:solidFill>
            <a:srgbClr val="10233A"/>
          </a:solidFill>
          <a:ln w="12700">
            <a:solidFill>
              <a:srgbClr val="2A405B"/>
            </a:solidFill>
            <a:prstDash val="solid"/>
          </a:ln>
        </p:spPr>
      </p:sp>
      <p:sp>
        <p:nvSpPr>
          <p:cNvPr id="13" name="Text 10"/>
          <p:cNvSpPr txBox="1"/>
          <p:nvPr/>
        </p:nvSpPr>
        <p:spPr>
          <a:xfrm>
            <a:off x="777240" y="4754880"/>
            <a:ext cx="10607040" cy="346329"/>
          </a:xfrm>
          <a:prstGeom prst="rect">
            <a:avLst/>
          </a:prstGeom>
          <a:noFill/>
          <a:ln/>
        </p:spPr>
        <p:txBody>
          <a:bodyPr wrap="square" lIns="0" tIns="0" rIns="0" bIns="0" rtlCol="0" anchor="t"/>
          <a:lstStyle/>
          <a:p>
            <a:pPr indent="0" marL="0">
              <a:buNone/>
            </a:pPr>
            <a:r>
              <a:rPr lang="en-US" sz="1700" b="1" dirty="0">
                <a:solidFill>
                  <a:srgbClr val="FF8C99"/>
                </a:solidFill>
              </a:rPr>
              <a:t>중복</a:t>
            </a:r>
            <a:endParaRPr lang="en-US" sz="1700" dirty="0"/>
          </a:p>
        </p:txBody>
      </p:sp>
      <p:sp>
        <p:nvSpPr>
          <p:cNvPr id="14" name="Text 11"/>
          <p:cNvSpPr txBox="1"/>
          <p:nvPr/>
        </p:nvSpPr>
        <p:spPr>
          <a:xfrm>
            <a:off x="777240" y="5174361"/>
            <a:ext cx="10607040" cy="58635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스킬이 10개면 DisplayName과 Range도 10번 작성하고, 규칙이 바뀌면 10개 파일을 고칩니다.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B8A4FF"/>
          </a:solidFill>
          <a:ln w="12700">
            <a:solidFill>
              <a:srgbClr val="B8A4F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B8A4FF"/>
                </a:solidFill>
              </a:rPr>
              <a:t>INHERITANCE</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상속</a:t>
            </a:r>
            <a:endParaRPr lang="en-US" sz="2800" dirty="0"/>
          </a:p>
        </p:txBody>
      </p:sp>
      <p:sp>
        <p:nvSpPr>
          <p:cNvPr id="6" name="Shape 3"/>
          <p:cNvSpPr/>
          <p:nvPr/>
        </p:nvSpPr>
        <p:spPr>
          <a:xfrm>
            <a:off x="548640" y="1783080"/>
            <a:ext cx="6858000" cy="3634740"/>
          </a:xfrm>
          <a:prstGeom prst="roundRect">
            <a:avLst>
              <a:gd name="adj" fmla="val 2013"/>
            </a:avLst>
          </a:prstGeom>
          <a:solidFill>
            <a:srgbClr val="040A13"/>
          </a:solidFill>
          <a:ln w="12700">
            <a:solidFill>
              <a:srgbClr val="2A405B"/>
            </a:solidFill>
            <a:prstDash val="solid"/>
          </a:ln>
        </p:spPr>
      </p:sp>
      <p:sp>
        <p:nvSpPr>
          <p:cNvPr id="7" name="Shape 4"/>
          <p:cNvSpPr/>
          <p:nvPr/>
        </p:nvSpPr>
        <p:spPr>
          <a:xfrm>
            <a:off x="603504" y="4343400"/>
            <a:ext cx="6748272" cy="594360"/>
          </a:xfrm>
          <a:prstGeom prst="rect">
            <a:avLst/>
          </a:prstGeom>
          <a:solidFill>
            <a:srgbClr val="B8A4FF">
              <a:alpha val="20000"/>
            </a:srgbClr>
          </a:solidFill>
          <a:ln w="12700">
            <a:solidFill>
              <a:srgbClr val="B8A4FF">
                <a:alpha val="0"/>
              </a:srgbClr>
            </a:solidFill>
            <a:prstDash val="solid"/>
          </a:ln>
        </p:spPr>
      </p:sp>
      <p:sp>
        <p:nvSpPr>
          <p:cNvPr id="8" name="Text 5"/>
          <p:cNvSpPr txBox="1"/>
          <p:nvPr/>
        </p:nvSpPr>
        <p:spPr>
          <a:xfrm>
            <a:off x="731520" y="1965960"/>
            <a:ext cx="6492240" cy="326898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class</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protected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string</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displayName,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range)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DisplayName = displayName;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Range = range;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string</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DisplayName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Range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9" name="Shape 6"/>
          <p:cNvSpPr/>
          <p:nvPr/>
        </p:nvSpPr>
        <p:spPr>
          <a:xfrm>
            <a:off x="8549640" y="1783080"/>
            <a:ext cx="2377440" cy="1051560"/>
          </a:xfrm>
          <a:prstGeom prst="roundRect">
            <a:avLst>
              <a:gd name="adj" fmla="val 10435"/>
            </a:avLst>
          </a:prstGeom>
          <a:solidFill>
            <a:srgbClr val="10233A"/>
          </a:solidFill>
          <a:ln w="12700">
            <a:solidFill>
              <a:srgbClr val="B8A4FF"/>
            </a:solidFill>
            <a:prstDash val="solid"/>
          </a:ln>
        </p:spPr>
      </p:sp>
      <p:sp>
        <p:nvSpPr>
          <p:cNvPr id="10" name="Text 7"/>
          <p:cNvSpPr txBox="1"/>
          <p:nvPr/>
        </p:nvSpPr>
        <p:spPr>
          <a:xfrm>
            <a:off x="8549640" y="1874520"/>
            <a:ext cx="2377440" cy="411480"/>
          </a:xfrm>
          <a:prstGeom prst="rect">
            <a:avLst/>
          </a:prstGeom>
          <a:noFill/>
          <a:ln/>
        </p:spPr>
        <p:txBody>
          <a:bodyPr wrap="square" lIns="0" tIns="0" rIns="0" bIns="0" rtlCol="0" anchor="t"/>
          <a:lstStyle/>
          <a:p>
            <a:pPr algn="ctr" indent="0" marL="0">
              <a:buNone/>
            </a:pPr>
            <a:r>
              <a:rPr lang="en-US" sz="1800" b="1" dirty="0">
                <a:solidFill>
                  <a:srgbClr val="B8A4FF"/>
                </a:solidFill>
                <a:latin typeface="Consolas" pitchFamily="34" charset="0"/>
                <a:ea typeface="Consolas" pitchFamily="34" charset="-122"/>
                <a:cs typeface="Consolas" pitchFamily="34" charset="-120"/>
              </a:rPr>
              <a:t>Skill</a:t>
            </a:r>
            <a:endParaRPr lang="en-US" sz="1800" dirty="0"/>
          </a:p>
        </p:txBody>
      </p:sp>
      <p:sp>
        <p:nvSpPr>
          <p:cNvPr id="11" name="Text 8"/>
          <p:cNvSpPr txBox="1"/>
          <p:nvPr/>
        </p:nvSpPr>
        <p:spPr>
          <a:xfrm>
            <a:off x="8549640" y="2331720"/>
            <a:ext cx="2377440" cy="320040"/>
          </a:xfrm>
          <a:prstGeom prst="rect">
            <a:avLst/>
          </a:prstGeom>
          <a:noFill/>
          <a:ln/>
        </p:spPr>
        <p:txBody>
          <a:bodyPr wrap="square" lIns="0" tIns="0" rIns="0" bIns="0" rtlCol="0" anchor="t"/>
          <a:lstStyle/>
          <a:p>
            <a:pPr algn="ctr" indent="0" marL="0">
              <a:buNone/>
            </a:pPr>
            <a:r>
              <a:rPr lang="en-US" sz="1300" dirty="0">
                <a:solidFill>
                  <a:srgbClr val="AFBED1"/>
                </a:solidFill>
              </a:rPr>
              <a:t>DisplayName · Range</a:t>
            </a:r>
            <a:endParaRPr lang="en-US" sz="1300" dirty="0"/>
          </a:p>
        </p:txBody>
      </p:sp>
      <p:sp>
        <p:nvSpPr>
          <p:cNvPr id="12" name="Shape 9"/>
          <p:cNvSpPr/>
          <p:nvPr/>
        </p:nvSpPr>
        <p:spPr>
          <a:xfrm>
            <a:off x="7726680" y="3931920"/>
            <a:ext cx="2011680" cy="1188720"/>
          </a:xfrm>
          <a:prstGeom prst="roundRect">
            <a:avLst>
              <a:gd name="adj" fmla="val 9231"/>
            </a:avLst>
          </a:prstGeom>
          <a:solidFill>
            <a:srgbClr val="142B45"/>
          </a:solidFill>
          <a:ln w="12700">
            <a:solidFill>
              <a:srgbClr val="2A405B"/>
            </a:solidFill>
            <a:prstDash val="solid"/>
          </a:ln>
        </p:spPr>
      </p:sp>
      <p:sp>
        <p:nvSpPr>
          <p:cNvPr id="13" name="Text 10"/>
          <p:cNvSpPr txBox="1"/>
          <p:nvPr/>
        </p:nvSpPr>
        <p:spPr>
          <a:xfrm>
            <a:off x="7726680" y="4069080"/>
            <a:ext cx="2011680" cy="365760"/>
          </a:xfrm>
          <a:prstGeom prst="rect">
            <a:avLst/>
          </a:prstGeom>
          <a:noFill/>
          <a:ln/>
        </p:spPr>
        <p:txBody>
          <a:bodyPr wrap="square" lIns="0" tIns="0" rIns="0" bIns="0" rtlCol="0" anchor="t"/>
          <a:lstStyle/>
          <a:p>
            <a:pPr algn="ctr" indent="0" marL="0">
              <a:buNone/>
            </a:pPr>
            <a:r>
              <a:rPr lang="en-US" sz="1400" b="1" dirty="0">
                <a:solidFill>
                  <a:srgbClr val="EEF5FF"/>
                </a:solidFill>
                <a:latin typeface="Consolas" pitchFamily="34" charset="0"/>
                <a:ea typeface="Consolas" pitchFamily="34" charset="-122"/>
                <a:cs typeface="Consolas" pitchFamily="34" charset="-120"/>
              </a:rPr>
              <a:t>PowerStrikeSkill</a:t>
            </a:r>
            <a:endParaRPr lang="en-US" sz="1400" dirty="0"/>
          </a:p>
        </p:txBody>
      </p:sp>
      <p:sp>
        <p:nvSpPr>
          <p:cNvPr id="14" name="Text 11"/>
          <p:cNvSpPr txBox="1"/>
          <p:nvPr/>
        </p:nvSpPr>
        <p:spPr>
          <a:xfrm>
            <a:off x="7726680" y="4526280"/>
            <a:ext cx="2011680" cy="365760"/>
          </a:xfrm>
          <a:prstGeom prst="rect">
            <a:avLst/>
          </a:prstGeom>
          <a:noFill/>
          <a:ln/>
        </p:spPr>
        <p:txBody>
          <a:bodyPr wrap="square" lIns="0" tIns="0" rIns="0" bIns="0" rtlCol="0" anchor="t"/>
          <a:lstStyle/>
          <a:p>
            <a:pPr algn="ctr" indent="0" marL="0">
              <a:buNone/>
            </a:pPr>
            <a:r>
              <a:rPr lang="en-US" sz="1300" dirty="0">
                <a:solidFill>
                  <a:srgbClr val="FFD16F"/>
                </a:solidFill>
                <a:latin typeface="Consolas" pitchFamily="34" charset="0"/>
                <a:ea typeface="Consolas" pitchFamily="34" charset="-122"/>
                <a:cs typeface="Consolas" pitchFamily="34" charset="-120"/>
              </a:rPr>
              <a:t>: base("강타", 1)</a:t>
            </a:r>
            <a:endParaRPr lang="en-US" sz="1300" dirty="0"/>
          </a:p>
        </p:txBody>
      </p:sp>
      <p:sp>
        <p:nvSpPr>
          <p:cNvPr id="15" name="Shape 12"/>
          <p:cNvSpPr/>
          <p:nvPr/>
        </p:nvSpPr>
        <p:spPr>
          <a:xfrm flipV="1">
            <a:off x="8732520" y="2880360"/>
            <a:ext cx="548640" cy="1005840"/>
          </a:xfrm>
          <a:prstGeom prst="line">
            <a:avLst/>
          </a:prstGeom>
          <a:noFill/>
          <a:ln w="25400">
            <a:solidFill>
              <a:srgbClr val="B8A4FF"/>
            </a:solidFill>
            <a:prstDash val="solid"/>
            <a:tailEnd type="triangle"/>
          </a:ln>
        </p:spPr>
      </p:sp>
      <p:sp>
        <p:nvSpPr>
          <p:cNvPr id="16" name="Shape 13"/>
          <p:cNvSpPr/>
          <p:nvPr/>
        </p:nvSpPr>
        <p:spPr>
          <a:xfrm>
            <a:off x="9875520" y="3931920"/>
            <a:ext cx="2011680" cy="1188720"/>
          </a:xfrm>
          <a:prstGeom prst="roundRect">
            <a:avLst>
              <a:gd name="adj" fmla="val 9231"/>
            </a:avLst>
          </a:prstGeom>
          <a:solidFill>
            <a:srgbClr val="142B45"/>
          </a:solidFill>
          <a:ln w="12700">
            <a:solidFill>
              <a:srgbClr val="2A405B"/>
            </a:solidFill>
            <a:prstDash val="solid"/>
          </a:ln>
        </p:spPr>
      </p:sp>
      <p:sp>
        <p:nvSpPr>
          <p:cNvPr id="17" name="Text 14"/>
          <p:cNvSpPr txBox="1"/>
          <p:nvPr/>
        </p:nvSpPr>
        <p:spPr>
          <a:xfrm>
            <a:off x="9875520" y="4069080"/>
            <a:ext cx="2011680" cy="365760"/>
          </a:xfrm>
          <a:prstGeom prst="rect">
            <a:avLst/>
          </a:prstGeom>
          <a:noFill/>
          <a:ln/>
        </p:spPr>
        <p:txBody>
          <a:bodyPr wrap="square" lIns="0" tIns="0" rIns="0" bIns="0" rtlCol="0" anchor="t"/>
          <a:lstStyle/>
          <a:p>
            <a:pPr algn="ctr" indent="0" marL="0">
              <a:buNone/>
            </a:pPr>
            <a:r>
              <a:rPr lang="en-US" sz="1400" b="1" dirty="0">
                <a:solidFill>
                  <a:srgbClr val="EEF5FF"/>
                </a:solidFill>
                <a:latin typeface="Consolas" pitchFamily="34" charset="0"/>
                <a:ea typeface="Consolas" pitchFamily="34" charset="-122"/>
                <a:cs typeface="Consolas" pitchFamily="34" charset="-120"/>
              </a:rPr>
              <a:t>HealSkill</a:t>
            </a:r>
            <a:endParaRPr lang="en-US" sz="1400" dirty="0"/>
          </a:p>
        </p:txBody>
      </p:sp>
      <p:sp>
        <p:nvSpPr>
          <p:cNvPr id="18" name="Text 15"/>
          <p:cNvSpPr txBox="1"/>
          <p:nvPr/>
        </p:nvSpPr>
        <p:spPr>
          <a:xfrm>
            <a:off x="9875520" y="4526280"/>
            <a:ext cx="2011680" cy="365760"/>
          </a:xfrm>
          <a:prstGeom prst="rect">
            <a:avLst/>
          </a:prstGeom>
          <a:noFill/>
          <a:ln/>
        </p:spPr>
        <p:txBody>
          <a:bodyPr wrap="square" lIns="0" tIns="0" rIns="0" bIns="0" rtlCol="0" anchor="t"/>
          <a:lstStyle/>
          <a:p>
            <a:pPr algn="ctr" indent="0" marL="0">
              <a:buNone/>
            </a:pPr>
            <a:r>
              <a:rPr lang="en-US" sz="1300" dirty="0">
                <a:solidFill>
                  <a:srgbClr val="FFD16F"/>
                </a:solidFill>
                <a:latin typeface="Consolas" pitchFamily="34" charset="0"/>
                <a:ea typeface="Consolas" pitchFamily="34" charset="-122"/>
                <a:cs typeface="Consolas" pitchFamily="34" charset="-120"/>
              </a:rPr>
              <a:t>: base("치유", 2)</a:t>
            </a:r>
            <a:endParaRPr lang="en-US" sz="1300" dirty="0"/>
          </a:p>
        </p:txBody>
      </p:sp>
      <p:sp>
        <p:nvSpPr>
          <p:cNvPr id="19" name="Shape 16"/>
          <p:cNvSpPr/>
          <p:nvPr/>
        </p:nvSpPr>
        <p:spPr>
          <a:xfrm flipH="1" flipV="1">
            <a:off x="10195560" y="2880360"/>
            <a:ext cx="685800" cy="1005840"/>
          </a:xfrm>
          <a:prstGeom prst="line">
            <a:avLst/>
          </a:prstGeom>
          <a:noFill/>
          <a:ln w="25400">
            <a:solidFill>
              <a:srgbClr val="B8A4FF"/>
            </a:solidFill>
            <a:prstDash val="solid"/>
            <a:tailEnd type="triangle"/>
          </a:ln>
        </p:spPr>
      </p:sp>
      <p:sp>
        <p:nvSpPr>
          <p:cNvPr id="20" name="Text 17"/>
          <p:cNvSpPr txBox="1"/>
          <p:nvPr/>
        </p:nvSpPr>
        <p:spPr>
          <a:xfrm>
            <a:off x="7726680" y="5349240"/>
            <a:ext cx="4160520" cy="365760"/>
          </a:xfrm>
          <a:prstGeom prst="rect">
            <a:avLst/>
          </a:prstGeom>
          <a:noFill/>
          <a:ln/>
        </p:spPr>
        <p:txBody>
          <a:bodyPr wrap="square" lIns="0" tIns="0" rIns="0" bIns="0" rtlCol="0" anchor="t"/>
          <a:lstStyle/>
          <a:p>
            <a:pPr algn="ctr" indent="0" marL="0">
              <a:buNone/>
            </a:pPr>
            <a:r>
              <a:rPr lang="en-US" sz="1400" dirty="0">
                <a:solidFill>
                  <a:srgbClr val="B8A4FF"/>
                </a:solidFill>
              </a:rPr>
              <a:t>': Skill' = Skill을 물려받는다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B8A4FF"/>
          </a:solidFill>
          <a:ln w="12700">
            <a:solidFill>
              <a:srgbClr val="B8A4F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B8A4FF"/>
                </a:solidFill>
              </a:rPr>
              <a:t>PROTECTED</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protected</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583680" cy="914400"/>
        </p:xfrm>
        <a:graphic>
          <a:graphicData uri="http://schemas.openxmlformats.org/drawingml/2006/table">
            <a:tbl>
              <a:tblPr/>
              <a:tblGrid>
                <a:gridCol w="2194560"/>
                <a:gridCol w="1463040"/>
                <a:gridCol w="1463040"/>
                <a:gridCol w="1463040"/>
              </a:tblGrid>
              <a:tr h="530352">
                <a:tc>
                  <a:txBody>
                    <a:bodyPr/>
                    <a:lstStyle/>
                    <a:p>
                      <a:pPr indent="0" marL="0">
                        <a:buNone/>
                      </a:pPr>
                      <a:r>
                        <a:rPr lang="en-US" sz="1600" b="1" dirty="0">
                          <a:solidFill>
                            <a:srgbClr val="AFBED1"/>
                          </a:solidFill>
                        </a:rPr>
                        <a:t>접근 제한자</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600" b="1" dirty="0">
                          <a:solidFill>
                            <a:srgbClr val="AFBED1"/>
                          </a:solidFill>
                        </a:rPr>
                        <a:t>Skill 안</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600" b="1" dirty="0">
                          <a:solidFill>
                            <a:srgbClr val="AFBED1"/>
                          </a:solidFill>
                        </a:rPr>
                        <a:t>자식 클래스</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600" b="1" dirty="0">
                          <a:solidFill>
                            <a:srgbClr val="AFBED1"/>
                          </a:solidFill>
                        </a:rPr>
                        <a:t>외부</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r>
              <a:tr h="530352">
                <a:tc>
                  <a:txBody>
                    <a:bodyPr/>
                    <a:lstStyle/>
                    <a:p>
                      <a:pPr indent="0" marL="0">
                        <a:buNone/>
                      </a:pPr>
                      <a:r>
                        <a:rPr lang="en-US" sz="1600" dirty="0">
                          <a:solidFill>
                            <a:srgbClr val="EEF5FF"/>
                          </a:solidFill>
                          <a:latin typeface="Consolas" pitchFamily="34" charset="0"/>
                          <a:ea typeface="Consolas" pitchFamily="34" charset="-122"/>
                          <a:cs typeface="Consolas" pitchFamily="34" charset="-120"/>
                        </a:rPr>
                        <a:t>public</a:t>
                      </a:r>
                      <a:endParaRPr lang="en-US" sz="16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algn="ctr" indent="0" marL="0">
                        <a:buNone/>
                      </a:pPr>
                      <a:r>
                        <a:rPr lang="en-US" sz="1600" b="1" dirty="0">
                          <a:solidFill>
                            <a:srgbClr val="83E58F"/>
                          </a:solidFill>
                        </a:rPr>
                        <a:t>✓</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algn="ctr" indent="0" marL="0">
                        <a:buNone/>
                      </a:pPr>
                      <a:r>
                        <a:rPr lang="en-US" sz="1600" b="1" dirty="0">
                          <a:solidFill>
                            <a:srgbClr val="83E58F"/>
                          </a:solidFill>
                        </a:rPr>
                        <a:t>✓</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algn="ctr" indent="0" marL="0">
                        <a:buNone/>
                      </a:pPr>
                      <a:r>
                        <a:rPr lang="en-US" sz="1600" b="1" dirty="0">
                          <a:solidFill>
                            <a:srgbClr val="83E58F"/>
                          </a:solidFill>
                        </a:rPr>
                        <a:t>✓</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530352">
                <a:tc>
                  <a:txBody>
                    <a:bodyPr/>
                    <a:lstStyle/>
                    <a:p>
                      <a:pPr indent="0" marL="0">
                        <a:buNone/>
                      </a:pPr>
                      <a:r>
                        <a:rPr lang="en-US" sz="1600" b="1" dirty="0">
                          <a:solidFill>
                            <a:srgbClr val="B8A4FF"/>
                          </a:solidFill>
                          <a:latin typeface="Consolas" pitchFamily="34" charset="0"/>
                          <a:ea typeface="Consolas" pitchFamily="34" charset="-122"/>
                          <a:cs typeface="Consolas" pitchFamily="34" charset="-120"/>
                        </a:rPr>
                        <a:t>protected</a:t>
                      </a:r>
                      <a:endParaRPr lang="en-US" sz="16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231F3F"/>
                    </a:solidFill>
                  </a:tcPr>
                </a:tc>
                <a:tc>
                  <a:txBody>
                    <a:bodyPr/>
                    <a:lstStyle/>
                    <a:p>
                      <a:pPr algn="ctr" indent="0" marL="0">
                        <a:buNone/>
                      </a:pPr>
                      <a:r>
                        <a:rPr lang="en-US" sz="1600" b="1" dirty="0">
                          <a:solidFill>
                            <a:srgbClr val="83E58F"/>
                          </a:solidFill>
                        </a:rPr>
                        <a:t>✓</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231F3F"/>
                    </a:solidFill>
                  </a:tcPr>
                </a:tc>
                <a:tc>
                  <a:txBody>
                    <a:bodyPr/>
                    <a:lstStyle/>
                    <a:p>
                      <a:pPr algn="ctr" indent="0" marL="0">
                        <a:buNone/>
                      </a:pPr>
                      <a:r>
                        <a:rPr lang="en-US" sz="1600" b="1" dirty="0">
                          <a:solidFill>
                            <a:srgbClr val="83E58F"/>
                          </a:solidFill>
                        </a:rPr>
                        <a:t>✓</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231F3F"/>
                    </a:solidFill>
                  </a:tcPr>
                </a:tc>
                <a:tc>
                  <a:txBody>
                    <a:bodyPr/>
                    <a:lstStyle/>
                    <a:p>
                      <a:pPr algn="ctr" indent="0" marL="0">
                        <a:buNone/>
                      </a:pPr>
                      <a:r>
                        <a:rPr lang="en-US" sz="1600" b="1" dirty="0">
                          <a:solidFill>
                            <a:srgbClr val="FF8C99"/>
                          </a:solidFill>
                        </a:rPr>
                        <a:t>✗</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231F3F"/>
                    </a:solidFill>
                  </a:tcPr>
                </a:tc>
              </a:tr>
              <a:tr h="530352">
                <a:tc>
                  <a:txBody>
                    <a:bodyPr/>
                    <a:lstStyle/>
                    <a:p>
                      <a:pPr indent="0" marL="0">
                        <a:buNone/>
                      </a:pPr>
                      <a:r>
                        <a:rPr lang="en-US" sz="1600" dirty="0">
                          <a:solidFill>
                            <a:srgbClr val="EEF5FF"/>
                          </a:solidFill>
                          <a:latin typeface="Consolas" pitchFamily="34" charset="0"/>
                          <a:ea typeface="Consolas" pitchFamily="34" charset="-122"/>
                          <a:cs typeface="Consolas" pitchFamily="34" charset="-120"/>
                        </a:rPr>
                        <a:t>private</a:t>
                      </a:r>
                      <a:endParaRPr lang="en-US" sz="16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algn="ctr" indent="0" marL="0">
                        <a:buNone/>
                      </a:pPr>
                      <a:r>
                        <a:rPr lang="en-US" sz="1600" b="1" dirty="0">
                          <a:solidFill>
                            <a:srgbClr val="83E58F"/>
                          </a:solidFill>
                        </a:rPr>
                        <a:t>✓</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algn="ctr" indent="0" marL="0">
                        <a:buNone/>
                      </a:pPr>
                      <a:r>
                        <a:rPr lang="en-US" sz="1600" b="1" dirty="0">
                          <a:solidFill>
                            <a:srgbClr val="FF8C99"/>
                          </a:solidFill>
                        </a:rPr>
                        <a:t>✗</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algn="ctr" indent="0" marL="0">
                        <a:buNone/>
                      </a:pPr>
                      <a:r>
                        <a:rPr lang="en-US" sz="1600" b="1" dirty="0">
                          <a:solidFill>
                            <a:srgbClr val="FF8C99"/>
                          </a:solidFill>
                        </a:rPr>
                        <a:t>✗</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bl>
          </a:graphicData>
        </a:graphic>
      </p:graphicFrame>
      <p:sp>
        <p:nvSpPr>
          <p:cNvPr id="7" name="Shape 3"/>
          <p:cNvSpPr/>
          <p:nvPr/>
        </p:nvSpPr>
        <p:spPr>
          <a:xfrm>
            <a:off x="7498080" y="1783080"/>
            <a:ext cx="4114800" cy="2121408"/>
          </a:xfrm>
          <a:prstGeom prst="roundRect">
            <a:avLst>
              <a:gd name="adj" fmla="val 5172"/>
            </a:avLst>
          </a:prstGeom>
          <a:solidFill>
            <a:srgbClr val="10233A"/>
          </a:solidFill>
          <a:ln w="12700">
            <a:solidFill>
              <a:srgbClr val="2A405B"/>
            </a:solidFill>
            <a:prstDash val="solid"/>
          </a:ln>
        </p:spPr>
      </p:sp>
      <p:sp>
        <p:nvSpPr>
          <p:cNvPr id="8" name="Text 4"/>
          <p:cNvSpPr txBox="1"/>
          <p:nvPr/>
        </p:nvSpPr>
        <p:spPr>
          <a:xfrm>
            <a:off x="7726680" y="2011680"/>
            <a:ext cx="3657600" cy="346329"/>
          </a:xfrm>
          <a:prstGeom prst="rect">
            <a:avLst/>
          </a:prstGeom>
          <a:noFill/>
          <a:ln/>
        </p:spPr>
        <p:txBody>
          <a:bodyPr wrap="square" lIns="0" tIns="0" rIns="0" bIns="0" rtlCol="0" anchor="t"/>
          <a:lstStyle/>
          <a:p>
            <a:pPr indent="0" marL="0">
              <a:buNone/>
            </a:pPr>
            <a:r>
              <a:rPr lang="en-US" sz="1700" b="1" dirty="0">
                <a:solidFill>
                  <a:srgbClr val="B8A4FF"/>
                </a:solidFill>
              </a:rPr>
              <a:t>생성자가 protected인 이유</a:t>
            </a:r>
            <a:endParaRPr lang="en-US" sz="1700" dirty="0"/>
          </a:p>
        </p:txBody>
      </p:sp>
      <p:sp>
        <p:nvSpPr>
          <p:cNvPr id="9" name="Text 5"/>
          <p:cNvSpPr txBox="1"/>
          <p:nvPr/>
        </p:nvSpPr>
        <p:spPr>
          <a:xfrm>
            <a:off x="7726680" y="2431161"/>
            <a:ext cx="3657600" cy="1336167"/>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'그냥 스킬'은 없습니다. 자식 클래스만 Skill을 만들 수 있게 합니다.</a:t>
            </a:r>
            <a:endParaRPr lang="en-US" sz="1400" dirty="0"/>
          </a:p>
        </p:txBody>
      </p:sp>
      <p:sp>
        <p:nvSpPr>
          <p:cNvPr id="10" name="Shape 6"/>
          <p:cNvSpPr/>
          <p:nvPr/>
        </p:nvSpPr>
        <p:spPr>
          <a:xfrm>
            <a:off x="548640" y="4343400"/>
            <a:ext cx="11064240" cy="960120"/>
          </a:xfrm>
          <a:prstGeom prst="roundRect">
            <a:avLst>
              <a:gd name="adj" fmla="val 7619"/>
            </a:avLst>
          </a:prstGeom>
          <a:solidFill>
            <a:srgbClr val="040A13"/>
          </a:solidFill>
          <a:ln w="12700">
            <a:solidFill>
              <a:srgbClr val="2A405B"/>
            </a:solidFill>
            <a:prstDash val="solid"/>
          </a:ln>
        </p:spPr>
      </p:sp>
      <p:sp>
        <p:nvSpPr>
          <p:cNvPr id="11" name="Shape 7"/>
          <p:cNvSpPr/>
          <p:nvPr/>
        </p:nvSpPr>
        <p:spPr>
          <a:xfrm>
            <a:off x="603504" y="4823460"/>
            <a:ext cx="10954512" cy="297180"/>
          </a:xfrm>
          <a:prstGeom prst="rect">
            <a:avLst/>
          </a:prstGeom>
          <a:solidFill>
            <a:srgbClr val="FF8C99">
              <a:alpha val="20000"/>
            </a:srgbClr>
          </a:solidFill>
          <a:ln w="12700">
            <a:solidFill>
              <a:srgbClr val="FF8C99">
                <a:alpha val="0"/>
              </a:srgbClr>
            </a:solidFill>
            <a:prstDash val="solid"/>
          </a:ln>
        </p:spPr>
      </p:sp>
      <p:sp>
        <p:nvSpPr>
          <p:cNvPr id="12" name="Text 8"/>
          <p:cNvSpPr txBox="1"/>
          <p:nvPr/>
        </p:nvSpPr>
        <p:spPr>
          <a:xfrm>
            <a:off x="731520" y="4526280"/>
            <a:ext cx="10698480" cy="59436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PowerStrikeSkill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base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"강타"</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1</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 }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자식: 가능</a:t>
            </a:r>
            <a:endParaRPr lang="en-US" sz="1800" dirty="0"/>
          </a:p>
          <a:p>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skill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new</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"이름 없음"</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1</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외부: 오류</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B8A4FF"/>
          </a:solidFill>
          <a:ln w="12700">
            <a:solidFill>
              <a:srgbClr val="B8A4F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B8A4FF"/>
                </a:solidFill>
              </a:rPr>
              <a:t>IS-A TEST</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상속 판단: A는 B이다</a:t>
            </a:r>
            <a:endParaRPr lang="en-US" sz="2800" dirty="0"/>
          </a:p>
        </p:txBody>
      </p:sp>
      <p:sp>
        <p:nvSpPr>
          <p:cNvPr id="6" name="Shape 3"/>
          <p:cNvSpPr/>
          <p:nvPr/>
        </p:nvSpPr>
        <p:spPr>
          <a:xfrm>
            <a:off x="548640" y="1783080"/>
            <a:ext cx="11064240" cy="1188720"/>
          </a:xfrm>
          <a:prstGeom prst="roundRect">
            <a:avLst>
              <a:gd name="adj" fmla="val 9231"/>
            </a:avLst>
          </a:prstGeom>
          <a:solidFill>
            <a:srgbClr val="10233A"/>
          </a:solidFill>
          <a:ln w="12700">
            <a:solidFill>
              <a:srgbClr val="2A405B"/>
            </a:solidFill>
            <a:prstDash val="solid"/>
          </a:ln>
        </p:spPr>
      </p:sp>
      <p:sp>
        <p:nvSpPr>
          <p:cNvPr id="7" name="Text 4"/>
          <p:cNvSpPr txBox="1"/>
          <p:nvPr/>
        </p:nvSpPr>
        <p:spPr>
          <a:xfrm>
            <a:off x="868680" y="1783080"/>
            <a:ext cx="4114800" cy="1188720"/>
          </a:xfrm>
          <a:prstGeom prst="rect">
            <a:avLst/>
          </a:prstGeom>
          <a:noFill/>
          <a:ln/>
        </p:spPr>
        <p:txBody>
          <a:bodyPr wrap="square" lIns="0" tIns="0" rIns="0" bIns="0" rtlCol="0" anchor="ctr"/>
          <a:lstStyle/>
          <a:p>
            <a:pPr indent="0" marL="0">
              <a:buNone/>
            </a:pPr>
            <a:r>
              <a:rPr lang="en-US" sz="2400" b="1" dirty="0">
                <a:solidFill>
                  <a:srgbClr val="EEF5FF"/>
                </a:solidFill>
              </a:rPr>
              <a:t>강타는 스킬이다</a:t>
            </a:r>
            <a:endParaRPr lang="en-US" sz="2400" dirty="0"/>
          </a:p>
        </p:txBody>
      </p:sp>
      <p:sp>
        <p:nvSpPr>
          <p:cNvPr id="8" name="Shape 5"/>
          <p:cNvSpPr/>
          <p:nvPr/>
        </p:nvSpPr>
        <p:spPr>
          <a:xfrm>
            <a:off x="5120640" y="2057400"/>
            <a:ext cx="640080" cy="640080"/>
          </a:xfrm>
          <a:prstGeom prst="ellipse">
            <a:avLst/>
          </a:prstGeom>
          <a:solidFill>
            <a:srgbClr val="83E58F"/>
          </a:solidFill>
          <a:ln w="12700">
            <a:solidFill>
              <a:srgbClr val="83E58F"/>
            </a:solidFill>
            <a:prstDash val="solid"/>
          </a:ln>
        </p:spPr>
      </p:sp>
      <p:sp>
        <p:nvSpPr>
          <p:cNvPr id="9" name="Text 6"/>
          <p:cNvSpPr txBox="1"/>
          <p:nvPr/>
        </p:nvSpPr>
        <p:spPr>
          <a:xfrm>
            <a:off x="5120640" y="2057400"/>
            <a:ext cx="640080" cy="640080"/>
          </a:xfrm>
          <a:prstGeom prst="rect">
            <a:avLst/>
          </a:prstGeom>
          <a:noFill/>
          <a:ln/>
        </p:spPr>
        <p:txBody>
          <a:bodyPr wrap="square" lIns="0" tIns="0" rIns="0" bIns="0" rtlCol="0" anchor="ctr"/>
          <a:lstStyle/>
          <a:p>
            <a:pPr algn="ctr" indent="0" marL="0">
              <a:buNone/>
            </a:pPr>
            <a:r>
              <a:rPr lang="en-US" sz="2400" b="1" dirty="0">
                <a:solidFill>
                  <a:srgbClr val="040A13"/>
                </a:solidFill>
              </a:rPr>
              <a:t>✓</a:t>
            </a:r>
            <a:endParaRPr lang="en-US" sz="2400" dirty="0"/>
          </a:p>
        </p:txBody>
      </p:sp>
      <p:sp>
        <p:nvSpPr>
          <p:cNvPr id="10" name="Text 7"/>
          <p:cNvSpPr txBox="1"/>
          <p:nvPr/>
        </p:nvSpPr>
        <p:spPr>
          <a:xfrm>
            <a:off x="6126480" y="1783080"/>
            <a:ext cx="3657600" cy="1188720"/>
          </a:xfrm>
          <a:prstGeom prst="rect">
            <a:avLst/>
          </a:prstGeom>
          <a:noFill/>
          <a:ln/>
        </p:spPr>
        <p:txBody>
          <a:bodyPr wrap="square" lIns="0" tIns="0" rIns="0" bIns="0" rtlCol="0" anchor="ctr"/>
          <a:lstStyle/>
          <a:p>
            <a:pPr indent="0" marL="0">
              <a:buNone/>
            </a:pPr>
            <a:r>
              <a:rPr lang="en-US" sz="1800" dirty="0">
                <a:solidFill>
                  <a:srgbClr val="AFBED1"/>
                </a:solidFill>
              </a:rPr>
              <a:t>자연스럽다</a:t>
            </a:r>
            <a:endParaRPr lang="en-US" sz="1800" dirty="0"/>
          </a:p>
        </p:txBody>
      </p:sp>
      <p:sp>
        <p:nvSpPr>
          <p:cNvPr id="11" name="Text 8"/>
          <p:cNvSpPr txBox="1"/>
          <p:nvPr/>
        </p:nvSpPr>
        <p:spPr>
          <a:xfrm>
            <a:off x="9784080" y="1783080"/>
            <a:ext cx="1645920" cy="1188720"/>
          </a:xfrm>
          <a:prstGeom prst="rect">
            <a:avLst/>
          </a:prstGeom>
          <a:noFill/>
          <a:ln/>
        </p:spPr>
        <p:txBody>
          <a:bodyPr wrap="square" lIns="0" tIns="0" rIns="0" bIns="0" rtlCol="0" anchor="ctr"/>
          <a:lstStyle/>
          <a:p>
            <a:pPr indent="0" marL="0">
              <a:buNone/>
            </a:pPr>
            <a:r>
              <a:rPr lang="en-US" sz="2000" b="1" dirty="0">
                <a:solidFill>
                  <a:srgbClr val="B8A4FF"/>
                </a:solidFill>
              </a:rPr>
              <a:t>→ 상속</a:t>
            </a:r>
            <a:endParaRPr lang="en-US" sz="2000" dirty="0"/>
          </a:p>
        </p:txBody>
      </p:sp>
      <p:sp>
        <p:nvSpPr>
          <p:cNvPr id="12" name="Shape 9"/>
          <p:cNvSpPr/>
          <p:nvPr/>
        </p:nvSpPr>
        <p:spPr>
          <a:xfrm>
            <a:off x="548640" y="3200400"/>
            <a:ext cx="11064240" cy="1188720"/>
          </a:xfrm>
          <a:prstGeom prst="roundRect">
            <a:avLst>
              <a:gd name="adj" fmla="val 9231"/>
            </a:avLst>
          </a:prstGeom>
          <a:solidFill>
            <a:srgbClr val="10233A"/>
          </a:solidFill>
          <a:ln w="12700">
            <a:solidFill>
              <a:srgbClr val="2A405B"/>
            </a:solidFill>
            <a:prstDash val="solid"/>
          </a:ln>
        </p:spPr>
      </p:sp>
      <p:sp>
        <p:nvSpPr>
          <p:cNvPr id="13" name="Text 10"/>
          <p:cNvSpPr txBox="1"/>
          <p:nvPr/>
        </p:nvSpPr>
        <p:spPr>
          <a:xfrm>
            <a:off x="868680" y="3200400"/>
            <a:ext cx="4114800" cy="1188720"/>
          </a:xfrm>
          <a:prstGeom prst="rect">
            <a:avLst/>
          </a:prstGeom>
          <a:noFill/>
          <a:ln/>
        </p:spPr>
        <p:txBody>
          <a:bodyPr wrap="square" lIns="0" tIns="0" rIns="0" bIns="0" rtlCol="0" anchor="ctr"/>
          <a:lstStyle/>
          <a:p>
            <a:pPr indent="0" marL="0">
              <a:buNone/>
            </a:pPr>
            <a:r>
              <a:rPr lang="en-US" sz="2400" b="1" dirty="0">
                <a:solidFill>
                  <a:srgbClr val="EEF5FF"/>
                </a:solidFill>
              </a:rPr>
              <a:t>체력바는 유닛이다</a:t>
            </a:r>
            <a:endParaRPr lang="en-US" sz="2400" dirty="0"/>
          </a:p>
        </p:txBody>
      </p:sp>
      <p:sp>
        <p:nvSpPr>
          <p:cNvPr id="14" name="Shape 11"/>
          <p:cNvSpPr/>
          <p:nvPr/>
        </p:nvSpPr>
        <p:spPr>
          <a:xfrm>
            <a:off x="5120640" y="3474720"/>
            <a:ext cx="640080" cy="640080"/>
          </a:xfrm>
          <a:prstGeom prst="ellipse">
            <a:avLst/>
          </a:prstGeom>
          <a:solidFill>
            <a:srgbClr val="FF8C99"/>
          </a:solidFill>
          <a:ln w="12700">
            <a:solidFill>
              <a:srgbClr val="FF8C99"/>
            </a:solidFill>
            <a:prstDash val="solid"/>
          </a:ln>
        </p:spPr>
      </p:sp>
      <p:sp>
        <p:nvSpPr>
          <p:cNvPr id="15" name="Text 12"/>
          <p:cNvSpPr txBox="1"/>
          <p:nvPr/>
        </p:nvSpPr>
        <p:spPr>
          <a:xfrm>
            <a:off x="5120640" y="3474720"/>
            <a:ext cx="640080" cy="640080"/>
          </a:xfrm>
          <a:prstGeom prst="rect">
            <a:avLst/>
          </a:prstGeom>
          <a:noFill/>
          <a:ln/>
        </p:spPr>
        <p:txBody>
          <a:bodyPr wrap="square" lIns="0" tIns="0" rIns="0" bIns="0" rtlCol="0" anchor="ctr"/>
          <a:lstStyle/>
          <a:p>
            <a:pPr algn="ctr" indent="0" marL="0">
              <a:buNone/>
            </a:pPr>
            <a:r>
              <a:rPr lang="en-US" sz="2400" b="1" dirty="0">
                <a:solidFill>
                  <a:srgbClr val="040A13"/>
                </a:solidFill>
              </a:rPr>
              <a:t>✗</a:t>
            </a:r>
            <a:endParaRPr lang="en-US" sz="2400" dirty="0"/>
          </a:p>
        </p:txBody>
      </p:sp>
      <p:sp>
        <p:nvSpPr>
          <p:cNvPr id="16" name="Text 13"/>
          <p:cNvSpPr txBox="1"/>
          <p:nvPr/>
        </p:nvSpPr>
        <p:spPr>
          <a:xfrm>
            <a:off x="6126480" y="3200400"/>
            <a:ext cx="3657600" cy="1188720"/>
          </a:xfrm>
          <a:prstGeom prst="rect">
            <a:avLst/>
          </a:prstGeom>
          <a:noFill/>
          <a:ln/>
        </p:spPr>
        <p:txBody>
          <a:bodyPr wrap="square" lIns="0" tIns="0" rIns="0" bIns="0" rtlCol="0" anchor="ctr"/>
          <a:lstStyle/>
          <a:p>
            <a:pPr indent="0" marL="0">
              <a:buNone/>
            </a:pPr>
            <a:r>
              <a:rPr lang="en-US" sz="1800" dirty="0">
                <a:solidFill>
                  <a:srgbClr val="AFBED1"/>
                </a:solidFill>
              </a:rPr>
              <a:t>유닛은 체력바를 가진다</a:t>
            </a:r>
            <a:endParaRPr lang="en-US" sz="1800" dirty="0"/>
          </a:p>
        </p:txBody>
      </p:sp>
      <p:sp>
        <p:nvSpPr>
          <p:cNvPr id="17" name="Text 14"/>
          <p:cNvSpPr txBox="1"/>
          <p:nvPr/>
        </p:nvSpPr>
        <p:spPr>
          <a:xfrm>
            <a:off x="9784080" y="3200400"/>
            <a:ext cx="1645920" cy="1188720"/>
          </a:xfrm>
          <a:prstGeom prst="rect">
            <a:avLst/>
          </a:prstGeom>
          <a:noFill/>
          <a:ln/>
        </p:spPr>
        <p:txBody>
          <a:bodyPr wrap="square" lIns="0" tIns="0" rIns="0" bIns="0" rtlCol="0" anchor="ctr"/>
          <a:lstStyle/>
          <a:p>
            <a:pPr indent="0" marL="0">
              <a:buNone/>
            </a:pPr>
            <a:r>
              <a:rPr lang="en-US" sz="2000" b="1" dirty="0">
                <a:solidFill>
                  <a:srgbClr val="FFD16F"/>
                </a:solidFill>
              </a:rPr>
              <a:t>→ 조합</a:t>
            </a:r>
            <a:endParaRPr lang="en-US" sz="2000" dirty="0"/>
          </a:p>
        </p:txBody>
      </p:sp>
      <p:sp>
        <p:nvSpPr>
          <p:cNvPr id="18" name="Shape 15"/>
          <p:cNvSpPr/>
          <p:nvPr/>
        </p:nvSpPr>
        <p:spPr>
          <a:xfrm>
            <a:off x="548640" y="4617720"/>
            <a:ext cx="11064240" cy="1188720"/>
          </a:xfrm>
          <a:prstGeom prst="roundRect">
            <a:avLst>
              <a:gd name="adj" fmla="val 9231"/>
            </a:avLst>
          </a:prstGeom>
          <a:solidFill>
            <a:srgbClr val="10233A"/>
          </a:solidFill>
          <a:ln w="12700">
            <a:solidFill>
              <a:srgbClr val="2A405B"/>
            </a:solidFill>
            <a:prstDash val="solid"/>
          </a:ln>
        </p:spPr>
      </p:sp>
      <p:sp>
        <p:nvSpPr>
          <p:cNvPr id="19" name="Text 16"/>
          <p:cNvSpPr txBox="1"/>
          <p:nvPr/>
        </p:nvSpPr>
        <p:spPr>
          <a:xfrm>
            <a:off x="868680" y="4617720"/>
            <a:ext cx="4114800" cy="1188720"/>
          </a:xfrm>
          <a:prstGeom prst="rect">
            <a:avLst/>
          </a:prstGeom>
          <a:noFill/>
          <a:ln/>
        </p:spPr>
        <p:txBody>
          <a:bodyPr wrap="square" lIns="0" tIns="0" rIns="0" bIns="0" rtlCol="0" anchor="ctr"/>
          <a:lstStyle/>
          <a:p>
            <a:pPr indent="0" marL="0">
              <a:buNone/>
            </a:pPr>
            <a:r>
              <a:rPr lang="en-US" sz="2400" b="1" dirty="0">
                <a:solidFill>
                  <a:srgbClr val="EEF5FF"/>
                </a:solidFill>
              </a:rPr>
              <a:t>궁수는 활이다</a:t>
            </a:r>
            <a:endParaRPr lang="en-US" sz="2400" dirty="0"/>
          </a:p>
        </p:txBody>
      </p:sp>
      <p:sp>
        <p:nvSpPr>
          <p:cNvPr id="20" name="Shape 17"/>
          <p:cNvSpPr/>
          <p:nvPr/>
        </p:nvSpPr>
        <p:spPr>
          <a:xfrm>
            <a:off x="5120640" y="4892040"/>
            <a:ext cx="640080" cy="640080"/>
          </a:xfrm>
          <a:prstGeom prst="ellipse">
            <a:avLst/>
          </a:prstGeom>
          <a:solidFill>
            <a:srgbClr val="FF8C99"/>
          </a:solidFill>
          <a:ln w="12700">
            <a:solidFill>
              <a:srgbClr val="FF8C99"/>
            </a:solidFill>
            <a:prstDash val="solid"/>
          </a:ln>
        </p:spPr>
      </p:sp>
      <p:sp>
        <p:nvSpPr>
          <p:cNvPr id="21" name="Text 18"/>
          <p:cNvSpPr txBox="1"/>
          <p:nvPr/>
        </p:nvSpPr>
        <p:spPr>
          <a:xfrm>
            <a:off x="5120640" y="4892040"/>
            <a:ext cx="640080" cy="640080"/>
          </a:xfrm>
          <a:prstGeom prst="rect">
            <a:avLst/>
          </a:prstGeom>
          <a:noFill/>
          <a:ln/>
        </p:spPr>
        <p:txBody>
          <a:bodyPr wrap="square" lIns="0" tIns="0" rIns="0" bIns="0" rtlCol="0" anchor="ctr"/>
          <a:lstStyle/>
          <a:p>
            <a:pPr algn="ctr" indent="0" marL="0">
              <a:buNone/>
            </a:pPr>
            <a:r>
              <a:rPr lang="en-US" sz="2400" b="1" dirty="0">
                <a:solidFill>
                  <a:srgbClr val="040A13"/>
                </a:solidFill>
              </a:rPr>
              <a:t>✗</a:t>
            </a:r>
            <a:endParaRPr lang="en-US" sz="2400" dirty="0"/>
          </a:p>
        </p:txBody>
      </p:sp>
      <p:sp>
        <p:nvSpPr>
          <p:cNvPr id="22" name="Text 19"/>
          <p:cNvSpPr txBox="1"/>
          <p:nvPr/>
        </p:nvSpPr>
        <p:spPr>
          <a:xfrm>
            <a:off x="6126480" y="4617720"/>
            <a:ext cx="3657600" cy="1188720"/>
          </a:xfrm>
          <a:prstGeom prst="rect">
            <a:avLst/>
          </a:prstGeom>
          <a:noFill/>
          <a:ln/>
        </p:spPr>
        <p:txBody>
          <a:bodyPr wrap="square" lIns="0" tIns="0" rIns="0" bIns="0" rtlCol="0" anchor="ctr"/>
          <a:lstStyle/>
          <a:p>
            <a:pPr indent="0" marL="0">
              <a:buNone/>
            </a:pPr>
            <a:r>
              <a:rPr lang="en-US" sz="1800" dirty="0">
                <a:solidFill>
                  <a:srgbClr val="AFBED1"/>
                </a:solidFill>
              </a:rPr>
              <a:t>궁수는 활을 가진다</a:t>
            </a:r>
            <a:endParaRPr lang="en-US" sz="1800" dirty="0"/>
          </a:p>
        </p:txBody>
      </p:sp>
      <p:sp>
        <p:nvSpPr>
          <p:cNvPr id="23" name="Text 20"/>
          <p:cNvSpPr txBox="1"/>
          <p:nvPr/>
        </p:nvSpPr>
        <p:spPr>
          <a:xfrm>
            <a:off x="9784080" y="4617720"/>
            <a:ext cx="1645920" cy="1188720"/>
          </a:xfrm>
          <a:prstGeom prst="rect">
            <a:avLst/>
          </a:prstGeom>
          <a:noFill/>
          <a:ln/>
        </p:spPr>
        <p:txBody>
          <a:bodyPr wrap="square" lIns="0" tIns="0" rIns="0" bIns="0" rtlCol="0" anchor="ctr"/>
          <a:lstStyle/>
          <a:p>
            <a:pPr indent="0" marL="0">
              <a:buNone/>
            </a:pPr>
            <a:r>
              <a:rPr lang="en-US" sz="2000" b="1" dirty="0">
                <a:solidFill>
                  <a:srgbClr val="FFD16F"/>
                </a:solidFill>
              </a:rPr>
              <a:t>→ 조합</a:t>
            </a:r>
            <a:endParaRPr lang="en-US" sz="2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B8A4FF"/>
          </a:solidFill>
          <a:ln w="12700">
            <a:solidFill>
              <a:srgbClr val="B8A4F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B8A4FF"/>
                </a:solidFill>
              </a:rPr>
              <a:t>COMPOSITION</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조합</a:t>
            </a:r>
            <a:endParaRPr lang="en-US" sz="2800" dirty="0"/>
          </a:p>
        </p:txBody>
      </p:sp>
      <p:sp>
        <p:nvSpPr>
          <p:cNvPr id="6" name="Shape 3"/>
          <p:cNvSpPr/>
          <p:nvPr/>
        </p:nvSpPr>
        <p:spPr>
          <a:xfrm>
            <a:off x="548640" y="1783080"/>
            <a:ext cx="4937760" cy="4114800"/>
          </a:xfrm>
          <a:prstGeom prst="roundRect">
            <a:avLst>
              <a:gd name="adj" fmla="val 2667"/>
            </a:avLst>
          </a:prstGeom>
          <a:solidFill>
            <a:srgbClr val="10233A"/>
          </a:solidFill>
          <a:ln w="12700">
            <a:solidFill>
              <a:srgbClr val="B8A4FF"/>
            </a:solidFill>
            <a:prstDash val="solid"/>
          </a:ln>
        </p:spPr>
      </p:sp>
      <p:sp>
        <p:nvSpPr>
          <p:cNvPr id="7" name="Text 4"/>
          <p:cNvSpPr txBox="1"/>
          <p:nvPr/>
        </p:nvSpPr>
        <p:spPr>
          <a:xfrm>
            <a:off x="822960" y="1938528"/>
            <a:ext cx="4389120" cy="457200"/>
          </a:xfrm>
          <a:prstGeom prst="rect">
            <a:avLst/>
          </a:prstGeom>
          <a:noFill/>
          <a:ln/>
        </p:spPr>
        <p:txBody>
          <a:bodyPr wrap="square" lIns="0" tIns="0" rIns="0" bIns="0" rtlCol="0" anchor="t"/>
          <a:lstStyle/>
          <a:p>
            <a:pPr indent="0" marL="0">
              <a:buNone/>
            </a:pPr>
            <a:r>
              <a:rPr lang="en-US" sz="2000" b="1" dirty="0">
                <a:solidFill>
                  <a:srgbClr val="B8A4FF"/>
                </a:solidFill>
                <a:latin typeface="Consolas" pitchFamily="34" charset="0"/>
                <a:ea typeface="Consolas" pitchFamily="34" charset="-122"/>
                <a:cs typeface="Consolas" pitchFamily="34" charset="-120"/>
              </a:rPr>
              <a:t>Unit</a:t>
            </a:r>
            <a:endParaRPr lang="en-US" sz="2000" dirty="0"/>
          </a:p>
        </p:txBody>
      </p:sp>
      <p:sp>
        <p:nvSpPr>
          <p:cNvPr id="8" name="Text 5"/>
          <p:cNvSpPr txBox="1"/>
          <p:nvPr/>
        </p:nvSpPr>
        <p:spPr>
          <a:xfrm>
            <a:off x="4206240" y="2011680"/>
            <a:ext cx="1097280" cy="365760"/>
          </a:xfrm>
          <a:prstGeom prst="rect">
            <a:avLst/>
          </a:prstGeom>
          <a:noFill/>
          <a:ln/>
        </p:spPr>
        <p:txBody>
          <a:bodyPr wrap="square" lIns="0" tIns="0" rIns="0" bIns="0" rtlCol="0" anchor="t"/>
          <a:lstStyle/>
          <a:p>
            <a:pPr algn="r" indent="0" marL="0">
              <a:buNone/>
            </a:pPr>
            <a:r>
              <a:rPr lang="en-US" sz="1400" dirty="0">
                <a:solidFill>
                  <a:srgbClr val="AFBED1"/>
                </a:solidFill>
              </a:rPr>
              <a:t>가진다</a:t>
            </a:r>
            <a:endParaRPr lang="en-US" sz="1400" dirty="0"/>
          </a:p>
        </p:txBody>
      </p:sp>
      <p:sp>
        <p:nvSpPr>
          <p:cNvPr id="9" name="Shape 6"/>
          <p:cNvSpPr/>
          <p:nvPr/>
        </p:nvSpPr>
        <p:spPr>
          <a:xfrm>
            <a:off x="822960" y="2606040"/>
            <a:ext cx="4389120" cy="777240"/>
          </a:xfrm>
          <a:prstGeom prst="roundRect">
            <a:avLst>
              <a:gd name="adj" fmla="val 11765"/>
            </a:avLst>
          </a:prstGeom>
          <a:solidFill>
            <a:srgbClr val="142B45"/>
          </a:solidFill>
          <a:ln w="12700">
            <a:solidFill>
              <a:srgbClr val="2A405B"/>
            </a:solidFill>
            <a:prstDash val="solid"/>
          </a:ln>
        </p:spPr>
      </p:sp>
      <p:sp>
        <p:nvSpPr>
          <p:cNvPr id="10" name="Text 7"/>
          <p:cNvSpPr txBox="1"/>
          <p:nvPr/>
        </p:nvSpPr>
        <p:spPr>
          <a:xfrm>
            <a:off x="1051560" y="2606040"/>
            <a:ext cx="1828800" cy="777240"/>
          </a:xfrm>
          <a:prstGeom prst="rect">
            <a:avLst/>
          </a:prstGeom>
          <a:noFill/>
          <a:ln/>
        </p:spPr>
        <p:txBody>
          <a:bodyPr wrap="square" lIns="0" tIns="0" rIns="0" bIns="0" rtlCol="0" anchor="ctr"/>
          <a:lstStyle/>
          <a:p>
            <a:pPr indent="0" marL="0">
              <a:buNone/>
            </a:pPr>
            <a:r>
              <a:rPr lang="en-US" sz="1600" b="1" dirty="0">
                <a:solidFill>
                  <a:srgbClr val="EEF5FF"/>
                </a:solidFill>
              </a:rPr>
              <a:t>직업 데이터</a:t>
            </a:r>
            <a:endParaRPr lang="en-US" sz="1600" dirty="0"/>
          </a:p>
        </p:txBody>
      </p:sp>
      <p:sp>
        <p:nvSpPr>
          <p:cNvPr id="11" name="Text 8"/>
          <p:cNvSpPr txBox="1"/>
          <p:nvPr/>
        </p:nvSpPr>
        <p:spPr>
          <a:xfrm>
            <a:off x="2743200" y="2606040"/>
            <a:ext cx="2331720" cy="777240"/>
          </a:xfrm>
          <a:prstGeom prst="rect">
            <a:avLst/>
          </a:prstGeom>
          <a:noFill/>
          <a:ln/>
        </p:spPr>
        <p:txBody>
          <a:bodyPr wrap="square" lIns="0" tIns="0" rIns="0" bIns="0" rtlCol="0" anchor="ctr"/>
          <a:lstStyle/>
          <a:p>
            <a:pPr algn="r" indent="0" marL="0">
              <a:buNone/>
            </a:pPr>
            <a:r>
              <a:rPr lang="en-US" sz="1500" dirty="0">
                <a:solidFill>
                  <a:srgbClr val="55E4CF"/>
                </a:solidFill>
                <a:latin typeface="Consolas" pitchFamily="34" charset="0"/>
                <a:ea typeface="Consolas" pitchFamily="34" charset="-122"/>
                <a:cs typeface="Consolas" pitchFamily="34" charset="-120"/>
              </a:rPr>
              <a:t>UnitClass</a:t>
            </a:r>
            <a:endParaRPr lang="en-US" sz="1500" dirty="0"/>
          </a:p>
        </p:txBody>
      </p:sp>
      <p:sp>
        <p:nvSpPr>
          <p:cNvPr id="12" name="Shape 9"/>
          <p:cNvSpPr/>
          <p:nvPr/>
        </p:nvSpPr>
        <p:spPr>
          <a:xfrm>
            <a:off x="822960" y="3611880"/>
            <a:ext cx="4389120" cy="777240"/>
          </a:xfrm>
          <a:prstGeom prst="roundRect">
            <a:avLst>
              <a:gd name="adj" fmla="val 11765"/>
            </a:avLst>
          </a:prstGeom>
          <a:solidFill>
            <a:srgbClr val="142B45"/>
          </a:solidFill>
          <a:ln w="12700">
            <a:solidFill>
              <a:srgbClr val="2A405B"/>
            </a:solidFill>
            <a:prstDash val="solid"/>
          </a:ln>
        </p:spPr>
      </p:sp>
      <p:sp>
        <p:nvSpPr>
          <p:cNvPr id="13" name="Text 10"/>
          <p:cNvSpPr txBox="1"/>
          <p:nvPr/>
        </p:nvSpPr>
        <p:spPr>
          <a:xfrm>
            <a:off x="1051560" y="3611880"/>
            <a:ext cx="1828800" cy="777240"/>
          </a:xfrm>
          <a:prstGeom prst="rect">
            <a:avLst/>
          </a:prstGeom>
          <a:noFill/>
          <a:ln/>
        </p:spPr>
        <p:txBody>
          <a:bodyPr wrap="square" lIns="0" tIns="0" rIns="0" bIns="0" rtlCol="0" anchor="ctr"/>
          <a:lstStyle/>
          <a:p>
            <a:pPr indent="0" marL="0">
              <a:buNone/>
            </a:pPr>
            <a:r>
              <a:rPr lang="en-US" sz="1600" b="1" dirty="0">
                <a:solidFill>
                  <a:srgbClr val="EEF5FF"/>
                </a:solidFill>
              </a:rPr>
              <a:t>애니메이션</a:t>
            </a:r>
            <a:endParaRPr lang="en-US" sz="1600" dirty="0"/>
          </a:p>
        </p:txBody>
      </p:sp>
      <p:sp>
        <p:nvSpPr>
          <p:cNvPr id="14" name="Text 11"/>
          <p:cNvSpPr txBox="1"/>
          <p:nvPr/>
        </p:nvSpPr>
        <p:spPr>
          <a:xfrm>
            <a:off x="2743200" y="3611880"/>
            <a:ext cx="2331720" cy="777240"/>
          </a:xfrm>
          <a:prstGeom prst="rect">
            <a:avLst/>
          </a:prstGeom>
          <a:noFill/>
          <a:ln/>
        </p:spPr>
        <p:txBody>
          <a:bodyPr wrap="square" lIns="0" tIns="0" rIns="0" bIns="0" rtlCol="0" anchor="ctr"/>
          <a:lstStyle/>
          <a:p>
            <a:pPr algn="r" indent="0" marL="0">
              <a:buNone/>
            </a:pPr>
            <a:r>
              <a:rPr lang="en-US" sz="1500" dirty="0">
                <a:solidFill>
                  <a:srgbClr val="55E4CF"/>
                </a:solidFill>
                <a:latin typeface="Consolas" pitchFamily="34" charset="0"/>
                <a:ea typeface="Consolas" pitchFamily="34" charset="-122"/>
                <a:cs typeface="Consolas" pitchFamily="34" charset="-120"/>
              </a:rPr>
              <a:t>UnitAnimator</a:t>
            </a:r>
            <a:endParaRPr lang="en-US" sz="1500" dirty="0"/>
          </a:p>
        </p:txBody>
      </p:sp>
      <p:sp>
        <p:nvSpPr>
          <p:cNvPr id="15" name="Shape 12"/>
          <p:cNvSpPr/>
          <p:nvPr/>
        </p:nvSpPr>
        <p:spPr>
          <a:xfrm>
            <a:off x="822960" y="4617720"/>
            <a:ext cx="4389120" cy="777240"/>
          </a:xfrm>
          <a:prstGeom prst="roundRect">
            <a:avLst>
              <a:gd name="adj" fmla="val 11765"/>
            </a:avLst>
          </a:prstGeom>
          <a:solidFill>
            <a:srgbClr val="142B45"/>
          </a:solidFill>
          <a:ln w="12700">
            <a:solidFill>
              <a:srgbClr val="2A405B"/>
            </a:solidFill>
            <a:prstDash val="solid"/>
          </a:ln>
        </p:spPr>
      </p:sp>
      <p:sp>
        <p:nvSpPr>
          <p:cNvPr id="16" name="Text 13"/>
          <p:cNvSpPr txBox="1"/>
          <p:nvPr/>
        </p:nvSpPr>
        <p:spPr>
          <a:xfrm>
            <a:off x="1051560" y="4617720"/>
            <a:ext cx="1828800" cy="777240"/>
          </a:xfrm>
          <a:prstGeom prst="rect">
            <a:avLst/>
          </a:prstGeom>
          <a:noFill/>
          <a:ln/>
        </p:spPr>
        <p:txBody>
          <a:bodyPr wrap="square" lIns="0" tIns="0" rIns="0" bIns="0" rtlCol="0" anchor="ctr"/>
          <a:lstStyle/>
          <a:p>
            <a:pPr indent="0" marL="0">
              <a:buNone/>
            </a:pPr>
            <a:r>
              <a:rPr lang="en-US" sz="1600" b="1" dirty="0">
                <a:solidFill>
                  <a:srgbClr val="EEF5FF"/>
                </a:solidFill>
              </a:rPr>
              <a:t>체력</a:t>
            </a:r>
            <a:endParaRPr lang="en-US" sz="1600" dirty="0"/>
          </a:p>
        </p:txBody>
      </p:sp>
      <p:sp>
        <p:nvSpPr>
          <p:cNvPr id="17" name="Text 14"/>
          <p:cNvSpPr txBox="1"/>
          <p:nvPr/>
        </p:nvSpPr>
        <p:spPr>
          <a:xfrm>
            <a:off x="2743200" y="4617720"/>
            <a:ext cx="2331720" cy="777240"/>
          </a:xfrm>
          <a:prstGeom prst="rect">
            <a:avLst/>
          </a:prstGeom>
          <a:noFill/>
          <a:ln/>
        </p:spPr>
        <p:txBody>
          <a:bodyPr wrap="square" lIns="0" tIns="0" rIns="0" bIns="0" rtlCol="0" anchor="ctr"/>
          <a:lstStyle/>
          <a:p>
            <a:pPr algn="r" indent="0" marL="0">
              <a:buNone/>
            </a:pPr>
            <a:r>
              <a:rPr lang="en-US" sz="1500" dirty="0">
                <a:solidFill>
                  <a:srgbClr val="55E4CF"/>
                </a:solidFill>
                <a:latin typeface="Consolas" pitchFamily="34" charset="0"/>
                <a:ea typeface="Consolas" pitchFamily="34" charset="-122"/>
                <a:cs typeface="Consolas" pitchFamily="34" charset="-120"/>
              </a:rPr>
              <a:t>CurrentHp</a:t>
            </a:r>
            <a:endParaRPr lang="en-US" sz="1500" dirty="0"/>
          </a:p>
        </p:txBody>
      </p:sp>
      <p:sp>
        <p:nvSpPr>
          <p:cNvPr id="18" name="Shape 15"/>
          <p:cNvSpPr/>
          <p:nvPr/>
        </p:nvSpPr>
        <p:spPr>
          <a:xfrm>
            <a:off x="5852160" y="1783080"/>
            <a:ext cx="2743200" cy="1691640"/>
          </a:xfrm>
          <a:prstGeom prst="roundRect">
            <a:avLst>
              <a:gd name="adj" fmla="val 6486"/>
            </a:avLst>
          </a:prstGeom>
          <a:solidFill>
            <a:srgbClr val="10233A"/>
          </a:solidFill>
          <a:ln w="12700">
            <a:solidFill>
              <a:srgbClr val="2A405B"/>
            </a:solidFill>
            <a:prstDash val="solid"/>
          </a:ln>
        </p:spPr>
      </p:sp>
      <p:sp>
        <p:nvSpPr>
          <p:cNvPr id="19" name="Text 16"/>
          <p:cNvSpPr txBox="1"/>
          <p:nvPr/>
        </p:nvSpPr>
        <p:spPr>
          <a:xfrm>
            <a:off x="6080760" y="2011680"/>
            <a:ext cx="2286000" cy="346329"/>
          </a:xfrm>
          <a:prstGeom prst="rect">
            <a:avLst/>
          </a:prstGeom>
          <a:noFill/>
          <a:ln/>
        </p:spPr>
        <p:txBody>
          <a:bodyPr wrap="square" lIns="0" tIns="0" rIns="0" bIns="0" rtlCol="0" anchor="t"/>
          <a:lstStyle/>
          <a:p>
            <a:pPr indent="0" marL="0">
              <a:buNone/>
            </a:pPr>
            <a:r>
              <a:rPr lang="en-US" sz="1700" b="1" dirty="0">
                <a:solidFill>
                  <a:srgbClr val="B8A4FF"/>
                </a:solidFill>
              </a:rPr>
              <a:t>상속</a:t>
            </a:r>
            <a:endParaRPr lang="en-US" sz="1700" dirty="0"/>
          </a:p>
        </p:txBody>
      </p:sp>
      <p:sp>
        <p:nvSpPr>
          <p:cNvPr id="20" name="Text 17"/>
          <p:cNvSpPr txBox="1"/>
          <p:nvPr/>
        </p:nvSpPr>
        <p:spPr>
          <a:xfrm>
            <a:off x="6080760" y="2431161"/>
            <a:ext cx="2286000" cy="90639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작성할 때 관계가 고정됩니다.</a:t>
            </a:r>
            <a:endParaRPr lang="en-US" sz="1400" dirty="0"/>
          </a:p>
        </p:txBody>
      </p:sp>
      <p:sp>
        <p:nvSpPr>
          <p:cNvPr id="21" name="Shape 18"/>
          <p:cNvSpPr/>
          <p:nvPr/>
        </p:nvSpPr>
        <p:spPr>
          <a:xfrm>
            <a:off x="8869680" y="1783080"/>
            <a:ext cx="2743200" cy="1691640"/>
          </a:xfrm>
          <a:prstGeom prst="roundRect">
            <a:avLst>
              <a:gd name="adj" fmla="val 6486"/>
            </a:avLst>
          </a:prstGeom>
          <a:solidFill>
            <a:srgbClr val="10233A"/>
          </a:solidFill>
          <a:ln w="12700">
            <a:solidFill>
              <a:srgbClr val="2A405B"/>
            </a:solidFill>
            <a:prstDash val="solid"/>
          </a:ln>
        </p:spPr>
      </p:sp>
      <p:sp>
        <p:nvSpPr>
          <p:cNvPr id="22" name="Text 19"/>
          <p:cNvSpPr txBox="1"/>
          <p:nvPr/>
        </p:nvSpPr>
        <p:spPr>
          <a:xfrm>
            <a:off x="9098280" y="2011680"/>
            <a:ext cx="2286000" cy="346329"/>
          </a:xfrm>
          <a:prstGeom prst="rect">
            <a:avLst/>
          </a:prstGeom>
          <a:noFill/>
          <a:ln/>
        </p:spPr>
        <p:txBody>
          <a:bodyPr wrap="square" lIns="0" tIns="0" rIns="0" bIns="0" rtlCol="0" anchor="t"/>
          <a:lstStyle/>
          <a:p>
            <a:pPr indent="0" marL="0">
              <a:buNone/>
            </a:pPr>
            <a:r>
              <a:rPr lang="en-US" sz="1700" b="1" dirty="0">
                <a:solidFill>
                  <a:srgbClr val="55E4CF"/>
                </a:solidFill>
              </a:rPr>
              <a:t>조합</a:t>
            </a:r>
            <a:endParaRPr lang="en-US" sz="1700" dirty="0"/>
          </a:p>
        </p:txBody>
      </p:sp>
      <p:sp>
        <p:nvSpPr>
          <p:cNvPr id="23" name="Text 20"/>
          <p:cNvSpPr txBox="1"/>
          <p:nvPr/>
        </p:nvSpPr>
        <p:spPr>
          <a:xfrm>
            <a:off x="9098280" y="2431161"/>
            <a:ext cx="2286000" cy="90639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실행 중에 부품을 바꿀 수 있습니다.</a:t>
            </a:r>
            <a:endParaRPr lang="en-US" sz="1400" dirty="0"/>
          </a:p>
        </p:txBody>
      </p:sp>
      <p:sp>
        <p:nvSpPr>
          <p:cNvPr id="24" name="Shape 21"/>
          <p:cNvSpPr/>
          <p:nvPr/>
        </p:nvSpPr>
        <p:spPr>
          <a:xfrm>
            <a:off x="5852160" y="3703320"/>
            <a:ext cx="5760720" cy="2194560"/>
          </a:xfrm>
          <a:prstGeom prst="roundRect">
            <a:avLst>
              <a:gd name="adj" fmla="val 5000"/>
            </a:avLst>
          </a:prstGeom>
          <a:solidFill>
            <a:srgbClr val="10233A"/>
          </a:solidFill>
          <a:ln w="12700">
            <a:solidFill>
              <a:srgbClr val="2A405B"/>
            </a:solidFill>
            <a:prstDash val="solid"/>
          </a:ln>
        </p:spPr>
      </p:sp>
      <p:sp>
        <p:nvSpPr>
          <p:cNvPr id="25" name="Text 22"/>
          <p:cNvSpPr txBox="1"/>
          <p:nvPr/>
        </p:nvSpPr>
        <p:spPr>
          <a:xfrm>
            <a:off x="6080760" y="3931920"/>
            <a:ext cx="5303520" cy="346329"/>
          </a:xfrm>
          <a:prstGeom prst="rect">
            <a:avLst/>
          </a:prstGeom>
          <a:noFill/>
          <a:ln/>
        </p:spPr>
        <p:txBody>
          <a:bodyPr wrap="square" lIns="0" tIns="0" rIns="0" bIns="0" rtlCol="0" anchor="t"/>
          <a:lstStyle/>
          <a:p>
            <a:pPr indent="0" marL="0">
              <a:buNone/>
            </a:pPr>
            <a:r>
              <a:rPr lang="en-US" sz="1700" b="1" dirty="0">
                <a:solidFill>
                  <a:srgbClr val="FFD16F"/>
                </a:solidFill>
              </a:rPr>
              <a:t>이 과정의 유닛</a:t>
            </a:r>
            <a:endParaRPr lang="en-US" sz="1700" dirty="0"/>
          </a:p>
        </p:txBody>
      </p:sp>
      <p:sp>
        <p:nvSpPr>
          <p:cNvPr id="26" name="Text 23"/>
          <p:cNvSpPr txBox="1"/>
          <p:nvPr/>
        </p:nvSpPr>
        <p:spPr>
          <a:xfrm>
            <a:off x="6080760" y="4351401"/>
            <a:ext cx="5303520" cy="1409319"/>
          </a:xfrm>
          <a:prstGeom prst="rect">
            <a:avLst/>
          </a:prstGeom>
          <a:noFill/>
          <a:ln/>
        </p:spPr>
        <p:txBody>
          <a:bodyPr wrap="square" lIns="0" tIns="0" rIns="0" bIns="0" rtlCol="0" anchor="t"/>
          <a:lstStyle/>
          <a:p>
            <a:pPr indent="0" marL="0">
              <a:lnSpc>
                <a:spcPct val="115000"/>
              </a:lnSpc>
              <a:buNone/>
            </a:pPr>
            <a:r>
              <a:rPr lang="en-US" sz="1500" dirty="0">
                <a:solidFill>
                  <a:srgbClr val="AFBED1"/>
                </a:solidFill>
              </a:rPr>
              <a:t>검사, 창병, 궁수, 힐러는 Unit을 상속하지 않고 직업 데이터(UnitClass)로 구분합니다. (7차시 Type Object)</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502920"/>
            <a:ext cx="1005840" cy="1005840"/>
          </a:xfrm>
          <a:prstGeom prst="ellipse">
            <a:avLst/>
          </a:prstGeom>
          <a:solidFill>
            <a:srgbClr val="FFD16F"/>
          </a:solidFill>
          <a:ln w="12700">
            <a:solidFill>
              <a:srgbClr val="FFD16F"/>
            </a:solidFill>
            <a:prstDash val="solid"/>
          </a:ln>
        </p:spPr>
      </p:sp>
      <p:sp>
        <p:nvSpPr>
          <p:cNvPr id="3" name="Text 1"/>
          <p:cNvSpPr txBox="1"/>
          <p:nvPr/>
        </p:nvSpPr>
        <p:spPr>
          <a:xfrm>
            <a:off x="548640" y="502920"/>
            <a:ext cx="1005840" cy="1005840"/>
          </a:xfrm>
          <a:prstGeom prst="rect">
            <a:avLst/>
          </a:prstGeom>
          <a:noFill/>
          <a:ln/>
        </p:spPr>
        <p:txBody>
          <a:bodyPr wrap="square" lIns="0" tIns="0" rIns="0" bIns="0" rtlCol="0" anchor="ctr"/>
          <a:lstStyle/>
          <a:p>
            <a:pPr algn="ctr" indent="0" marL="0">
              <a:buNone/>
            </a:pPr>
            <a:r>
              <a:rPr lang="en-US" sz="4400" b="1" dirty="0">
                <a:solidFill>
                  <a:srgbClr val="040A13"/>
                </a:solidFill>
              </a:rPr>
              <a:t>Q</a:t>
            </a:r>
            <a:endParaRPr lang="en-US" sz="4400" dirty="0"/>
          </a:p>
        </p:txBody>
      </p:sp>
      <p:sp>
        <p:nvSpPr>
          <p:cNvPr id="4" name="Text 2"/>
          <p:cNvSpPr txBox="1"/>
          <p:nvPr/>
        </p:nvSpPr>
        <p:spPr>
          <a:xfrm>
            <a:off x="1828800" y="566928"/>
            <a:ext cx="9144000" cy="310896"/>
          </a:xfrm>
          <a:prstGeom prst="rect">
            <a:avLst/>
          </a:prstGeom>
          <a:noFill/>
          <a:ln/>
        </p:spPr>
        <p:txBody>
          <a:bodyPr wrap="square" lIns="0" tIns="0" rIns="0" bIns="0" rtlCol="0" anchor="t"/>
          <a:lstStyle/>
          <a:p>
            <a:pPr indent="0" marL="0">
              <a:buNone/>
            </a:pPr>
            <a:r>
              <a:rPr lang="en-US" sz="1300" b="1" spc="150" kern="0" dirty="0">
                <a:solidFill>
                  <a:srgbClr val="FFD16F"/>
                </a:solidFill>
              </a:rPr>
              <a:t>CHECK 3 · 상속과 조합</a:t>
            </a:r>
            <a:endParaRPr lang="en-US" sz="1300" dirty="0"/>
          </a:p>
        </p:txBody>
      </p:sp>
      <p:sp>
        <p:nvSpPr>
          <p:cNvPr id="5" name="Text 3"/>
          <p:cNvSpPr txBox="1"/>
          <p:nvPr/>
        </p:nvSpPr>
        <p:spPr>
          <a:xfrm>
            <a:off x="1828800" y="914400"/>
            <a:ext cx="9784080" cy="1280160"/>
          </a:xfrm>
          <a:prstGeom prst="rect">
            <a:avLst/>
          </a:prstGeom>
          <a:noFill/>
          <a:ln/>
        </p:spPr>
        <p:txBody>
          <a:bodyPr wrap="square" lIns="0" tIns="0" rIns="0" bIns="0" rtlCol="0" anchor="t"/>
          <a:lstStyle/>
          <a:p>
            <a:pPr indent="0" marL="0">
              <a:lnSpc>
                <a:spcPct val="115000"/>
              </a:lnSpc>
              <a:buNone/>
            </a:pPr>
            <a:r>
              <a:rPr lang="en-US" sz="2600" b="1" dirty="0">
                <a:solidFill>
                  <a:srgbClr val="EEF5FF"/>
                </a:solidFill>
              </a:rPr>
              <a:t>다음 관계는 상속인가요, 조합인가요?</a:t>
            </a:r>
            <a:endParaRPr lang="en-US" sz="2600" dirty="0"/>
          </a:p>
        </p:txBody>
      </p:sp>
      <p:sp>
        <p:nvSpPr>
          <p:cNvPr id="6" name="Text 4"/>
          <p:cNvSpPr txBox="1"/>
          <p:nvPr/>
        </p:nvSpPr>
        <p:spPr>
          <a:xfrm>
            <a:off x="1828800" y="2011680"/>
            <a:ext cx="9784080" cy="411480"/>
          </a:xfrm>
          <a:prstGeom prst="rect">
            <a:avLst/>
          </a:prstGeom>
          <a:noFill/>
          <a:ln/>
        </p:spPr>
        <p:txBody>
          <a:bodyPr wrap="square" lIns="0" tIns="0" rIns="0" bIns="0" rtlCol="0" anchor="t"/>
          <a:lstStyle/>
          <a:p>
            <a:pPr indent="0" marL="0">
              <a:buNone/>
            </a:pPr>
            <a:r>
              <a:rPr lang="en-US" sz="1700" dirty="0">
                <a:solidFill>
                  <a:srgbClr val="AFBED1"/>
                </a:solidFill>
              </a:rPr>
              <a:t>'A는 B이다' → 상속,  'A는 B를 가진다' → 조합</a:t>
            </a:r>
            <a:endParaRPr lang="en-US" sz="1700" dirty="0"/>
          </a:p>
        </p:txBody>
      </p:sp>
      <p:sp>
        <p:nvSpPr>
          <p:cNvPr id="8" name="Shape 5"/>
          <p:cNvSpPr/>
          <p:nvPr/>
        </p:nvSpPr>
        <p:spPr>
          <a:xfrm>
            <a:off x="1828800" y="2606040"/>
            <a:ext cx="4709160" cy="1188720"/>
          </a:xfrm>
          <a:prstGeom prst="roundRect">
            <a:avLst>
              <a:gd name="adj" fmla="val 9231"/>
            </a:avLst>
          </a:prstGeom>
          <a:solidFill>
            <a:srgbClr val="10233A"/>
          </a:solidFill>
          <a:ln w="12700">
            <a:solidFill>
              <a:srgbClr val="2A405B"/>
            </a:solidFill>
            <a:prstDash val="solid"/>
          </a:ln>
        </p:spPr>
      </p:sp>
      <p:sp>
        <p:nvSpPr>
          <p:cNvPr id="9" name="Text 6"/>
          <p:cNvSpPr txBox="1"/>
          <p:nvPr/>
        </p:nvSpPr>
        <p:spPr>
          <a:xfrm>
            <a:off x="2103120" y="2606040"/>
            <a:ext cx="548640" cy="1188720"/>
          </a:xfrm>
          <a:prstGeom prst="rect">
            <a:avLst/>
          </a:prstGeom>
          <a:noFill/>
          <a:ln/>
        </p:spPr>
        <p:txBody>
          <a:bodyPr wrap="square" lIns="0" tIns="0" rIns="0" bIns="0" rtlCol="0" anchor="ctr"/>
          <a:lstStyle/>
          <a:p>
            <a:pPr indent="0" marL="0">
              <a:buNone/>
            </a:pPr>
            <a:r>
              <a:rPr lang="en-US" sz="2400" b="1" dirty="0">
                <a:solidFill>
                  <a:srgbClr val="FFD16F"/>
                </a:solidFill>
              </a:rPr>
              <a:t>①</a:t>
            </a:r>
            <a:endParaRPr lang="en-US" sz="2400" dirty="0"/>
          </a:p>
        </p:txBody>
      </p:sp>
      <p:sp>
        <p:nvSpPr>
          <p:cNvPr id="10" name="Text 7"/>
          <p:cNvSpPr txBox="1"/>
          <p:nvPr/>
        </p:nvSpPr>
        <p:spPr>
          <a:xfrm>
            <a:off x="2743200" y="2606040"/>
            <a:ext cx="3657600" cy="1188720"/>
          </a:xfrm>
          <a:prstGeom prst="rect">
            <a:avLst/>
          </a:prstGeom>
          <a:noFill/>
          <a:ln/>
        </p:spPr>
        <p:txBody>
          <a:bodyPr wrap="square" lIns="0" tIns="0" rIns="0" bIns="0" rtlCol="0" anchor="ctr"/>
          <a:lstStyle/>
          <a:p>
            <a:pPr indent="0" marL="0">
              <a:buNone/>
            </a:pPr>
            <a:r>
              <a:rPr lang="en-US" sz="2400" b="1" dirty="0">
                <a:solidFill>
                  <a:srgbClr val="EEF5FF"/>
                </a:solidFill>
              </a:rPr>
              <a:t>치유  —  스킬</a:t>
            </a:r>
            <a:endParaRPr lang="en-US" sz="2400" dirty="0"/>
          </a:p>
        </p:txBody>
      </p:sp>
      <p:sp>
        <p:nvSpPr>
          <p:cNvPr id="11" name="Shape 8"/>
          <p:cNvSpPr/>
          <p:nvPr/>
        </p:nvSpPr>
        <p:spPr>
          <a:xfrm>
            <a:off x="6812280" y="2606040"/>
            <a:ext cx="4709160" cy="1188720"/>
          </a:xfrm>
          <a:prstGeom prst="roundRect">
            <a:avLst>
              <a:gd name="adj" fmla="val 9231"/>
            </a:avLst>
          </a:prstGeom>
          <a:solidFill>
            <a:srgbClr val="10233A"/>
          </a:solidFill>
          <a:ln w="12700">
            <a:solidFill>
              <a:srgbClr val="2A405B"/>
            </a:solidFill>
            <a:prstDash val="solid"/>
          </a:ln>
        </p:spPr>
      </p:sp>
      <p:sp>
        <p:nvSpPr>
          <p:cNvPr id="12" name="Text 9"/>
          <p:cNvSpPr txBox="1"/>
          <p:nvPr/>
        </p:nvSpPr>
        <p:spPr>
          <a:xfrm>
            <a:off x="7086600" y="2606040"/>
            <a:ext cx="548640" cy="1188720"/>
          </a:xfrm>
          <a:prstGeom prst="rect">
            <a:avLst/>
          </a:prstGeom>
          <a:noFill/>
          <a:ln/>
        </p:spPr>
        <p:txBody>
          <a:bodyPr wrap="square" lIns="0" tIns="0" rIns="0" bIns="0" rtlCol="0" anchor="ctr"/>
          <a:lstStyle/>
          <a:p>
            <a:pPr indent="0" marL="0">
              <a:buNone/>
            </a:pPr>
            <a:r>
              <a:rPr lang="en-US" sz="2400" b="1" dirty="0">
                <a:solidFill>
                  <a:srgbClr val="FFD16F"/>
                </a:solidFill>
              </a:rPr>
              <a:t>②</a:t>
            </a:r>
            <a:endParaRPr lang="en-US" sz="2400" dirty="0"/>
          </a:p>
        </p:txBody>
      </p:sp>
      <p:sp>
        <p:nvSpPr>
          <p:cNvPr id="13" name="Text 10"/>
          <p:cNvSpPr txBox="1"/>
          <p:nvPr/>
        </p:nvSpPr>
        <p:spPr>
          <a:xfrm>
            <a:off x="7726680" y="2606040"/>
            <a:ext cx="3657600" cy="1188720"/>
          </a:xfrm>
          <a:prstGeom prst="rect">
            <a:avLst/>
          </a:prstGeom>
          <a:noFill/>
          <a:ln/>
        </p:spPr>
        <p:txBody>
          <a:bodyPr wrap="square" lIns="0" tIns="0" rIns="0" bIns="0" rtlCol="0" anchor="ctr"/>
          <a:lstStyle/>
          <a:p>
            <a:pPr indent="0" marL="0">
              <a:buNone/>
            </a:pPr>
            <a:r>
              <a:rPr lang="en-US" sz="2400" b="1" dirty="0">
                <a:solidFill>
                  <a:srgbClr val="EEF5FF"/>
                </a:solidFill>
              </a:rPr>
              <a:t>유닛  —  스킬</a:t>
            </a:r>
            <a:endParaRPr lang="en-US" sz="2400" dirty="0"/>
          </a:p>
        </p:txBody>
      </p:sp>
      <p:sp>
        <p:nvSpPr>
          <p:cNvPr id="14" name="Shape 11"/>
          <p:cNvSpPr/>
          <p:nvPr/>
        </p:nvSpPr>
        <p:spPr>
          <a:xfrm>
            <a:off x="1828800" y="4069080"/>
            <a:ext cx="4709160" cy="1188720"/>
          </a:xfrm>
          <a:prstGeom prst="roundRect">
            <a:avLst>
              <a:gd name="adj" fmla="val 9231"/>
            </a:avLst>
          </a:prstGeom>
          <a:solidFill>
            <a:srgbClr val="10233A"/>
          </a:solidFill>
          <a:ln w="12700">
            <a:solidFill>
              <a:srgbClr val="2A405B"/>
            </a:solidFill>
            <a:prstDash val="solid"/>
          </a:ln>
        </p:spPr>
      </p:sp>
      <p:sp>
        <p:nvSpPr>
          <p:cNvPr id="15" name="Text 12"/>
          <p:cNvSpPr txBox="1"/>
          <p:nvPr/>
        </p:nvSpPr>
        <p:spPr>
          <a:xfrm>
            <a:off x="2103120" y="4069080"/>
            <a:ext cx="548640" cy="1188720"/>
          </a:xfrm>
          <a:prstGeom prst="rect">
            <a:avLst/>
          </a:prstGeom>
          <a:noFill/>
          <a:ln/>
        </p:spPr>
        <p:txBody>
          <a:bodyPr wrap="square" lIns="0" tIns="0" rIns="0" bIns="0" rtlCol="0" anchor="ctr"/>
          <a:lstStyle/>
          <a:p>
            <a:pPr indent="0" marL="0">
              <a:buNone/>
            </a:pPr>
            <a:r>
              <a:rPr lang="en-US" sz="2400" b="1" dirty="0">
                <a:solidFill>
                  <a:srgbClr val="FFD16F"/>
                </a:solidFill>
              </a:rPr>
              <a:t>③</a:t>
            </a:r>
            <a:endParaRPr lang="en-US" sz="2400" dirty="0"/>
          </a:p>
        </p:txBody>
      </p:sp>
      <p:sp>
        <p:nvSpPr>
          <p:cNvPr id="16" name="Text 13"/>
          <p:cNvSpPr txBox="1"/>
          <p:nvPr/>
        </p:nvSpPr>
        <p:spPr>
          <a:xfrm>
            <a:off x="2743200" y="4069080"/>
            <a:ext cx="3657600" cy="1188720"/>
          </a:xfrm>
          <a:prstGeom prst="rect">
            <a:avLst/>
          </a:prstGeom>
          <a:noFill/>
          <a:ln/>
        </p:spPr>
        <p:txBody>
          <a:bodyPr wrap="square" lIns="0" tIns="0" rIns="0" bIns="0" rtlCol="0" anchor="ctr"/>
          <a:lstStyle/>
          <a:p>
            <a:pPr indent="0" marL="0">
              <a:buNone/>
            </a:pPr>
            <a:r>
              <a:rPr lang="en-US" sz="2400" b="1" dirty="0">
                <a:solidFill>
                  <a:srgbClr val="EEF5FF"/>
                </a:solidFill>
              </a:rPr>
              <a:t>독  —  상태 이상</a:t>
            </a:r>
            <a:endParaRPr lang="en-US" sz="2400" dirty="0"/>
          </a:p>
        </p:txBody>
      </p:sp>
      <p:sp>
        <p:nvSpPr>
          <p:cNvPr id="17" name="Shape 14"/>
          <p:cNvSpPr/>
          <p:nvPr/>
        </p:nvSpPr>
        <p:spPr>
          <a:xfrm>
            <a:off x="6812280" y="4069080"/>
            <a:ext cx="4709160" cy="1188720"/>
          </a:xfrm>
          <a:prstGeom prst="roundRect">
            <a:avLst>
              <a:gd name="adj" fmla="val 9231"/>
            </a:avLst>
          </a:prstGeom>
          <a:solidFill>
            <a:srgbClr val="10233A"/>
          </a:solidFill>
          <a:ln w="12700">
            <a:solidFill>
              <a:srgbClr val="2A405B"/>
            </a:solidFill>
            <a:prstDash val="solid"/>
          </a:ln>
        </p:spPr>
      </p:sp>
      <p:sp>
        <p:nvSpPr>
          <p:cNvPr id="18" name="Text 15"/>
          <p:cNvSpPr txBox="1"/>
          <p:nvPr/>
        </p:nvSpPr>
        <p:spPr>
          <a:xfrm>
            <a:off x="7086600" y="4069080"/>
            <a:ext cx="548640" cy="1188720"/>
          </a:xfrm>
          <a:prstGeom prst="rect">
            <a:avLst/>
          </a:prstGeom>
          <a:noFill/>
          <a:ln/>
        </p:spPr>
        <p:txBody>
          <a:bodyPr wrap="square" lIns="0" tIns="0" rIns="0" bIns="0" rtlCol="0" anchor="ctr"/>
          <a:lstStyle/>
          <a:p>
            <a:pPr indent="0" marL="0">
              <a:buNone/>
            </a:pPr>
            <a:r>
              <a:rPr lang="en-US" sz="2400" b="1" dirty="0">
                <a:solidFill>
                  <a:srgbClr val="FFD16F"/>
                </a:solidFill>
              </a:rPr>
              <a:t>④</a:t>
            </a:r>
            <a:endParaRPr lang="en-US" sz="2400" dirty="0"/>
          </a:p>
        </p:txBody>
      </p:sp>
      <p:sp>
        <p:nvSpPr>
          <p:cNvPr id="19" name="Text 16"/>
          <p:cNvSpPr txBox="1"/>
          <p:nvPr/>
        </p:nvSpPr>
        <p:spPr>
          <a:xfrm>
            <a:off x="7726680" y="4069080"/>
            <a:ext cx="3657600" cy="1188720"/>
          </a:xfrm>
          <a:prstGeom prst="rect">
            <a:avLst/>
          </a:prstGeom>
          <a:noFill/>
          <a:ln/>
        </p:spPr>
        <p:txBody>
          <a:bodyPr wrap="square" lIns="0" tIns="0" rIns="0" bIns="0" rtlCol="0" anchor="ctr"/>
          <a:lstStyle/>
          <a:p>
            <a:pPr indent="0" marL="0">
              <a:buNone/>
            </a:pPr>
            <a:r>
              <a:rPr lang="en-US" sz="2400" b="1" dirty="0">
                <a:solidFill>
                  <a:srgbClr val="EEF5FF"/>
                </a:solidFill>
              </a:rPr>
              <a:t>전장  —  칸</a:t>
            </a:r>
            <a:endParaRPr lang="en-US" sz="2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55E4CF"/>
          </a:solidFill>
          <a:ln w="12700">
            <a:solidFill>
              <a:srgbClr val="55E4C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55E4CF"/>
                </a:solidFill>
              </a:rPr>
              <a:t>PERIOD 1 RECAP</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1교시 정리</a:t>
            </a:r>
            <a:endParaRPr lang="en-US" sz="2800" dirty="0"/>
          </a:p>
        </p:txBody>
      </p:sp>
      <p:sp>
        <p:nvSpPr>
          <p:cNvPr id="6" name="Shape 3"/>
          <p:cNvSpPr/>
          <p:nvPr/>
        </p:nvSpPr>
        <p:spPr>
          <a:xfrm>
            <a:off x="548640" y="1783080"/>
            <a:ext cx="3520440" cy="3337560"/>
          </a:xfrm>
          <a:prstGeom prst="roundRect">
            <a:avLst>
              <a:gd name="adj" fmla="val 3288"/>
            </a:avLst>
          </a:prstGeom>
          <a:solidFill>
            <a:srgbClr val="10233A"/>
          </a:solidFill>
          <a:ln w="12700">
            <a:solidFill>
              <a:srgbClr val="2A405B"/>
            </a:solidFill>
            <a:prstDash val="solid"/>
          </a:ln>
        </p:spPr>
      </p:sp>
      <p:sp>
        <p:nvSpPr>
          <p:cNvPr id="7" name="Shape 4"/>
          <p:cNvSpPr/>
          <p:nvPr/>
        </p:nvSpPr>
        <p:spPr>
          <a:xfrm>
            <a:off x="777240" y="2011680"/>
            <a:ext cx="256032" cy="256032"/>
          </a:xfrm>
          <a:prstGeom prst="ellipse">
            <a:avLst/>
          </a:prstGeom>
          <a:solidFill>
            <a:srgbClr val="55E4CF"/>
          </a:solidFill>
          <a:ln w="12700">
            <a:solidFill>
              <a:srgbClr val="55E4CF"/>
            </a:solidFill>
            <a:prstDash val="solid"/>
          </a:ln>
        </p:spPr>
      </p:sp>
      <p:sp>
        <p:nvSpPr>
          <p:cNvPr id="8" name="Text 5"/>
          <p:cNvSpPr txBox="1"/>
          <p:nvPr/>
        </p:nvSpPr>
        <p:spPr>
          <a:xfrm>
            <a:off x="1143000" y="1938528"/>
            <a:ext cx="2743200" cy="411480"/>
          </a:xfrm>
          <a:prstGeom prst="rect">
            <a:avLst/>
          </a:prstGeom>
          <a:noFill/>
          <a:ln/>
        </p:spPr>
        <p:txBody>
          <a:bodyPr wrap="square" lIns="0" tIns="0" rIns="0" bIns="0" rtlCol="0" anchor="t"/>
          <a:lstStyle/>
          <a:p>
            <a:pPr indent="0" marL="0">
              <a:buNone/>
            </a:pPr>
            <a:r>
              <a:rPr lang="en-US" sz="1900" b="1" dirty="0">
                <a:solidFill>
                  <a:srgbClr val="55E4CF"/>
                </a:solidFill>
              </a:rPr>
              <a:t>객체와 클래스</a:t>
            </a:r>
            <a:endParaRPr lang="en-US" sz="1900" dirty="0"/>
          </a:p>
        </p:txBody>
      </p:sp>
      <p:sp>
        <p:nvSpPr>
          <p:cNvPr id="9" name="Text 6"/>
          <p:cNvSpPr txBox="1"/>
          <p:nvPr/>
        </p:nvSpPr>
        <p:spPr>
          <a:xfrm>
            <a:off x="777240" y="2560320"/>
            <a:ext cx="3017520" cy="274320"/>
          </a:xfrm>
          <a:prstGeom prst="rect">
            <a:avLst/>
          </a:prstGeom>
          <a:noFill/>
          <a:ln/>
        </p:spPr>
        <p:txBody>
          <a:bodyPr wrap="square" lIns="0" tIns="0" rIns="0" bIns="0" rtlCol="0" anchor="t"/>
          <a:lstStyle/>
          <a:p>
            <a:pPr indent="0" marL="0">
              <a:buNone/>
            </a:pPr>
            <a:r>
              <a:rPr lang="en-US" sz="1200" b="1" dirty="0">
                <a:solidFill>
                  <a:srgbClr val="FF8C99"/>
                </a:solidFill>
              </a:rPr>
              <a:t>문제</a:t>
            </a:r>
            <a:endParaRPr lang="en-US" sz="1200" dirty="0"/>
          </a:p>
        </p:txBody>
      </p:sp>
      <p:sp>
        <p:nvSpPr>
          <p:cNvPr id="10" name="Text 7"/>
          <p:cNvSpPr txBox="1"/>
          <p:nvPr/>
        </p:nvSpPr>
        <p:spPr>
          <a:xfrm>
            <a:off x="777240" y="2834640"/>
            <a:ext cx="3108960" cy="640080"/>
          </a:xfrm>
          <a:prstGeom prst="rect">
            <a:avLst/>
          </a:prstGeom>
          <a:noFill/>
          <a:ln/>
        </p:spPr>
        <p:txBody>
          <a:bodyPr wrap="square" lIns="0" tIns="0" rIns="0" bIns="0" rtlCol="0" anchor="t"/>
          <a:lstStyle/>
          <a:p>
            <a:pPr indent="0" marL="0">
              <a:buNone/>
            </a:pPr>
            <a:r>
              <a:rPr lang="en-US" sz="1500" dirty="0">
                <a:solidFill>
                  <a:srgbClr val="EEF5FF"/>
                </a:solidFill>
              </a:rPr>
              <a:t>정보가 배열 여러 개에 흩어져 있다</a:t>
            </a:r>
            <a:endParaRPr lang="en-US" sz="1500" dirty="0"/>
          </a:p>
        </p:txBody>
      </p:sp>
      <p:sp>
        <p:nvSpPr>
          <p:cNvPr id="11" name="Text 8"/>
          <p:cNvSpPr txBox="1"/>
          <p:nvPr/>
        </p:nvSpPr>
        <p:spPr>
          <a:xfrm>
            <a:off x="777240" y="3520440"/>
            <a:ext cx="3017520" cy="274320"/>
          </a:xfrm>
          <a:prstGeom prst="rect">
            <a:avLst/>
          </a:prstGeom>
          <a:noFill/>
          <a:ln/>
        </p:spPr>
        <p:txBody>
          <a:bodyPr wrap="square" lIns="0" tIns="0" rIns="0" bIns="0" rtlCol="0" anchor="t"/>
          <a:lstStyle/>
          <a:p>
            <a:pPr indent="0" marL="0">
              <a:buNone/>
            </a:pPr>
            <a:r>
              <a:rPr lang="en-US" sz="1200" b="1" dirty="0">
                <a:solidFill>
                  <a:srgbClr val="83E58F"/>
                </a:solidFill>
              </a:rPr>
              <a:t>해결</a:t>
            </a:r>
            <a:endParaRPr lang="en-US" sz="1200" dirty="0"/>
          </a:p>
        </p:txBody>
      </p:sp>
      <p:sp>
        <p:nvSpPr>
          <p:cNvPr id="12" name="Text 9"/>
          <p:cNvSpPr txBox="1"/>
          <p:nvPr/>
        </p:nvSpPr>
        <p:spPr>
          <a:xfrm>
            <a:off x="777240" y="3794760"/>
            <a:ext cx="3108960" cy="640080"/>
          </a:xfrm>
          <a:prstGeom prst="rect">
            <a:avLst/>
          </a:prstGeom>
          <a:noFill/>
          <a:ln/>
        </p:spPr>
        <p:txBody>
          <a:bodyPr wrap="square" lIns="0" tIns="0" rIns="0" bIns="0" rtlCol="0" anchor="t"/>
          <a:lstStyle/>
          <a:p>
            <a:pPr indent="0" marL="0">
              <a:buNone/>
            </a:pPr>
            <a:r>
              <a:rPr lang="en-US" sz="1500" dirty="0">
                <a:solidFill>
                  <a:srgbClr val="EEF5FF"/>
                </a:solidFill>
              </a:rPr>
              <a:t>상태와 행동을 Unit 하나에 묶는다</a:t>
            </a:r>
            <a:endParaRPr lang="en-US" sz="1500" dirty="0"/>
          </a:p>
        </p:txBody>
      </p:sp>
      <p:sp>
        <p:nvSpPr>
          <p:cNvPr id="13" name="Text 10"/>
          <p:cNvSpPr txBox="1"/>
          <p:nvPr/>
        </p:nvSpPr>
        <p:spPr>
          <a:xfrm>
            <a:off x="777240" y="4572000"/>
            <a:ext cx="3108960" cy="365760"/>
          </a:xfrm>
          <a:prstGeom prst="rect">
            <a:avLst/>
          </a:prstGeom>
          <a:noFill/>
          <a:ln/>
        </p:spPr>
        <p:txBody>
          <a:bodyPr wrap="square" lIns="0" tIns="0" rIns="0" bIns="0" rtlCol="0" anchor="t"/>
          <a:lstStyle/>
          <a:p>
            <a:pPr indent="0" marL="0">
              <a:buNone/>
            </a:pPr>
            <a:r>
              <a:rPr lang="en-US" sz="1300" dirty="0">
                <a:solidFill>
                  <a:srgbClr val="FFD16F"/>
                </a:solidFill>
                <a:latin typeface="Consolas" pitchFamily="34" charset="0"/>
                <a:ea typeface="Consolas" pitchFamily="34" charset="-122"/>
                <a:cs typeface="Consolas" pitchFamily="34" charset="-120"/>
              </a:rPr>
              <a:t>new Unit("궁수", 20, 4)</a:t>
            </a:r>
            <a:endParaRPr lang="en-US" sz="1300" dirty="0"/>
          </a:p>
        </p:txBody>
      </p:sp>
      <p:sp>
        <p:nvSpPr>
          <p:cNvPr id="14" name="Shape 11"/>
          <p:cNvSpPr/>
          <p:nvPr/>
        </p:nvSpPr>
        <p:spPr>
          <a:xfrm>
            <a:off x="4343400" y="1783080"/>
            <a:ext cx="3520440" cy="3337560"/>
          </a:xfrm>
          <a:prstGeom prst="roundRect">
            <a:avLst>
              <a:gd name="adj" fmla="val 3288"/>
            </a:avLst>
          </a:prstGeom>
          <a:solidFill>
            <a:srgbClr val="10233A"/>
          </a:solidFill>
          <a:ln w="12700">
            <a:solidFill>
              <a:srgbClr val="2A405B"/>
            </a:solidFill>
            <a:prstDash val="solid"/>
          </a:ln>
        </p:spPr>
      </p:sp>
      <p:sp>
        <p:nvSpPr>
          <p:cNvPr id="15" name="Shape 12"/>
          <p:cNvSpPr/>
          <p:nvPr/>
        </p:nvSpPr>
        <p:spPr>
          <a:xfrm>
            <a:off x="4572000" y="2011680"/>
            <a:ext cx="256032" cy="256032"/>
          </a:xfrm>
          <a:prstGeom prst="ellipse">
            <a:avLst/>
          </a:prstGeom>
          <a:solidFill>
            <a:srgbClr val="83E58F"/>
          </a:solidFill>
          <a:ln w="12700">
            <a:solidFill>
              <a:srgbClr val="83E58F"/>
            </a:solidFill>
            <a:prstDash val="solid"/>
          </a:ln>
        </p:spPr>
      </p:sp>
      <p:sp>
        <p:nvSpPr>
          <p:cNvPr id="16" name="Text 13"/>
          <p:cNvSpPr txBox="1"/>
          <p:nvPr/>
        </p:nvSpPr>
        <p:spPr>
          <a:xfrm>
            <a:off x="4937760" y="1938528"/>
            <a:ext cx="2743200" cy="411480"/>
          </a:xfrm>
          <a:prstGeom prst="rect">
            <a:avLst/>
          </a:prstGeom>
          <a:noFill/>
          <a:ln/>
        </p:spPr>
        <p:txBody>
          <a:bodyPr wrap="square" lIns="0" tIns="0" rIns="0" bIns="0" rtlCol="0" anchor="t"/>
          <a:lstStyle/>
          <a:p>
            <a:pPr indent="0" marL="0">
              <a:buNone/>
            </a:pPr>
            <a:r>
              <a:rPr lang="en-US" sz="1900" b="1" dirty="0">
                <a:solidFill>
                  <a:srgbClr val="83E58F"/>
                </a:solidFill>
              </a:rPr>
              <a:t>캡슐화</a:t>
            </a:r>
            <a:endParaRPr lang="en-US" sz="1900" dirty="0"/>
          </a:p>
        </p:txBody>
      </p:sp>
      <p:sp>
        <p:nvSpPr>
          <p:cNvPr id="17" name="Text 14"/>
          <p:cNvSpPr txBox="1"/>
          <p:nvPr/>
        </p:nvSpPr>
        <p:spPr>
          <a:xfrm>
            <a:off x="4572000" y="2560320"/>
            <a:ext cx="3017520" cy="274320"/>
          </a:xfrm>
          <a:prstGeom prst="rect">
            <a:avLst/>
          </a:prstGeom>
          <a:noFill/>
          <a:ln/>
        </p:spPr>
        <p:txBody>
          <a:bodyPr wrap="square" lIns="0" tIns="0" rIns="0" bIns="0" rtlCol="0" anchor="t"/>
          <a:lstStyle/>
          <a:p>
            <a:pPr indent="0" marL="0">
              <a:buNone/>
            </a:pPr>
            <a:r>
              <a:rPr lang="en-US" sz="1200" b="1" dirty="0">
                <a:solidFill>
                  <a:srgbClr val="FF8C99"/>
                </a:solidFill>
              </a:rPr>
              <a:t>문제</a:t>
            </a:r>
            <a:endParaRPr lang="en-US" sz="1200" dirty="0"/>
          </a:p>
        </p:txBody>
      </p:sp>
      <p:sp>
        <p:nvSpPr>
          <p:cNvPr id="18" name="Text 15"/>
          <p:cNvSpPr txBox="1"/>
          <p:nvPr/>
        </p:nvSpPr>
        <p:spPr>
          <a:xfrm>
            <a:off x="4572000" y="2834640"/>
            <a:ext cx="3108960" cy="640080"/>
          </a:xfrm>
          <a:prstGeom prst="rect">
            <a:avLst/>
          </a:prstGeom>
          <a:noFill/>
          <a:ln/>
        </p:spPr>
        <p:txBody>
          <a:bodyPr wrap="square" lIns="0" tIns="0" rIns="0" bIns="0" rtlCol="0" anchor="t"/>
          <a:lstStyle/>
          <a:p>
            <a:pPr indent="0" marL="0">
              <a:buNone/>
            </a:pPr>
            <a:r>
              <a:rPr lang="en-US" sz="1500" dirty="0">
                <a:solidFill>
                  <a:srgbClr val="EEF5FF"/>
                </a:solidFill>
              </a:rPr>
              <a:t>누구나 HP를 음수로 만들 수 있다</a:t>
            </a:r>
            <a:endParaRPr lang="en-US" sz="1500" dirty="0"/>
          </a:p>
        </p:txBody>
      </p:sp>
      <p:sp>
        <p:nvSpPr>
          <p:cNvPr id="19" name="Text 16"/>
          <p:cNvSpPr txBox="1"/>
          <p:nvPr/>
        </p:nvSpPr>
        <p:spPr>
          <a:xfrm>
            <a:off x="4572000" y="3520440"/>
            <a:ext cx="3017520" cy="274320"/>
          </a:xfrm>
          <a:prstGeom prst="rect">
            <a:avLst/>
          </a:prstGeom>
          <a:noFill/>
          <a:ln/>
        </p:spPr>
        <p:txBody>
          <a:bodyPr wrap="square" lIns="0" tIns="0" rIns="0" bIns="0" rtlCol="0" anchor="t"/>
          <a:lstStyle/>
          <a:p>
            <a:pPr indent="0" marL="0">
              <a:buNone/>
            </a:pPr>
            <a:r>
              <a:rPr lang="en-US" sz="1200" b="1" dirty="0">
                <a:solidFill>
                  <a:srgbClr val="83E58F"/>
                </a:solidFill>
              </a:rPr>
              <a:t>해결</a:t>
            </a:r>
            <a:endParaRPr lang="en-US" sz="1200" dirty="0"/>
          </a:p>
        </p:txBody>
      </p:sp>
      <p:sp>
        <p:nvSpPr>
          <p:cNvPr id="20" name="Text 17"/>
          <p:cNvSpPr txBox="1"/>
          <p:nvPr/>
        </p:nvSpPr>
        <p:spPr>
          <a:xfrm>
            <a:off x="4572000" y="3794760"/>
            <a:ext cx="3108960" cy="640080"/>
          </a:xfrm>
          <a:prstGeom prst="rect">
            <a:avLst/>
          </a:prstGeom>
          <a:noFill/>
          <a:ln/>
        </p:spPr>
        <p:txBody>
          <a:bodyPr wrap="square" lIns="0" tIns="0" rIns="0" bIns="0" rtlCol="0" anchor="t"/>
          <a:lstStyle/>
          <a:p>
            <a:pPr indent="0" marL="0">
              <a:buNone/>
            </a:pPr>
            <a:r>
              <a:rPr lang="en-US" sz="1500" dirty="0">
                <a:solidFill>
                  <a:srgbClr val="EEF5FF"/>
                </a:solidFill>
              </a:rPr>
              <a:t>set을 막고, 메서드로만 값을 바꾼다</a:t>
            </a:r>
            <a:endParaRPr lang="en-US" sz="1500" dirty="0"/>
          </a:p>
        </p:txBody>
      </p:sp>
      <p:sp>
        <p:nvSpPr>
          <p:cNvPr id="21" name="Text 18"/>
          <p:cNvSpPr txBox="1"/>
          <p:nvPr/>
        </p:nvSpPr>
        <p:spPr>
          <a:xfrm>
            <a:off x="4572000" y="4572000"/>
            <a:ext cx="3108960" cy="365760"/>
          </a:xfrm>
          <a:prstGeom prst="rect">
            <a:avLst/>
          </a:prstGeom>
          <a:noFill/>
          <a:ln/>
        </p:spPr>
        <p:txBody>
          <a:bodyPr wrap="square" lIns="0" tIns="0" rIns="0" bIns="0" rtlCol="0" anchor="t"/>
          <a:lstStyle/>
          <a:p>
            <a:pPr indent="0" marL="0">
              <a:buNone/>
            </a:pPr>
            <a:r>
              <a:rPr lang="en-US" sz="1300" dirty="0">
                <a:solidFill>
                  <a:srgbClr val="FFD16F"/>
                </a:solidFill>
                <a:latin typeface="Consolas" pitchFamily="34" charset="0"/>
                <a:ea typeface="Consolas" pitchFamily="34" charset="-122"/>
                <a:cs typeface="Consolas" pitchFamily="34" charset="-120"/>
              </a:rPr>
              <a:t>CurrentHp { get; private set; }</a:t>
            </a:r>
            <a:endParaRPr lang="en-US" sz="1300" dirty="0"/>
          </a:p>
        </p:txBody>
      </p:sp>
      <p:sp>
        <p:nvSpPr>
          <p:cNvPr id="22" name="Shape 19"/>
          <p:cNvSpPr/>
          <p:nvPr/>
        </p:nvSpPr>
        <p:spPr>
          <a:xfrm>
            <a:off x="8138160" y="1783080"/>
            <a:ext cx="3520440" cy="3337560"/>
          </a:xfrm>
          <a:prstGeom prst="roundRect">
            <a:avLst>
              <a:gd name="adj" fmla="val 3288"/>
            </a:avLst>
          </a:prstGeom>
          <a:solidFill>
            <a:srgbClr val="10233A"/>
          </a:solidFill>
          <a:ln w="12700">
            <a:solidFill>
              <a:srgbClr val="2A405B"/>
            </a:solidFill>
            <a:prstDash val="solid"/>
          </a:ln>
        </p:spPr>
      </p:sp>
      <p:sp>
        <p:nvSpPr>
          <p:cNvPr id="23" name="Shape 20"/>
          <p:cNvSpPr/>
          <p:nvPr/>
        </p:nvSpPr>
        <p:spPr>
          <a:xfrm>
            <a:off x="8366760" y="2011680"/>
            <a:ext cx="256032" cy="256032"/>
          </a:xfrm>
          <a:prstGeom prst="ellipse">
            <a:avLst/>
          </a:prstGeom>
          <a:solidFill>
            <a:srgbClr val="B8A4FF"/>
          </a:solidFill>
          <a:ln w="12700">
            <a:solidFill>
              <a:srgbClr val="B8A4FF"/>
            </a:solidFill>
            <a:prstDash val="solid"/>
          </a:ln>
        </p:spPr>
      </p:sp>
      <p:sp>
        <p:nvSpPr>
          <p:cNvPr id="24" name="Text 21"/>
          <p:cNvSpPr txBox="1"/>
          <p:nvPr/>
        </p:nvSpPr>
        <p:spPr>
          <a:xfrm>
            <a:off x="8732520" y="1938528"/>
            <a:ext cx="2743200" cy="411480"/>
          </a:xfrm>
          <a:prstGeom prst="rect">
            <a:avLst/>
          </a:prstGeom>
          <a:noFill/>
          <a:ln/>
        </p:spPr>
        <p:txBody>
          <a:bodyPr wrap="square" lIns="0" tIns="0" rIns="0" bIns="0" rtlCol="0" anchor="t"/>
          <a:lstStyle/>
          <a:p>
            <a:pPr indent="0" marL="0">
              <a:buNone/>
            </a:pPr>
            <a:r>
              <a:rPr lang="en-US" sz="1900" b="1" dirty="0">
                <a:solidFill>
                  <a:srgbClr val="B8A4FF"/>
                </a:solidFill>
              </a:rPr>
              <a:t>상속</a:t>
            </a:r>
            <a:endParaRPr lang="en-US" sz="1900" dirty="0"/>
          </a:p>
        </p:txBody>
      </p:sp>
      <p:sp>
        <p:nvSpPr>
          <p:cNvPr id="25" name="Text 22"/>
          <p:cNvSpPr txBox="1"/>
          <p:nvPr/>
        </p:nvSpPr>
        <p:spPr>
          <a:xfrm>
            <a:off x="8366760" y="2560320"/>
            <a:ext cx="3017520" cy="274320"/>
          </a:xfrm>
          <a:prstGeom prst="rect">
            <a:avLst/>
          </a:prstGeom>
          <a:noFill/>
          <a:ln/>
        </p:spPr>
        <p:txBody>
          <a:bodyPr wrap="square" lIns="0" tIns="0" rIns="0" bIns="0" rtlCol="0" anchor="t"/>
          <a:lstStyle/>
          <a:p>
            <a:pPr indent="0" marL="0">
              <a:buNone/>
            </a:pPr>
            <a:r>
              <a:rPr lang="en-US" sz="1200" b="1" dirty="0">
                <a:solidFill>
                  <a:srgbClr val="FF8C99"/>
                </a:solidFill>
              </a:rPr>
              <a:t>문제</a:t>
            </a:r>
            <a:endParaRPr lang="en-US" sz="1200" dirty="0"/>
          </a:p>
        </p:txBody>
      </p:sp>
      <p:sp>
        <p:nvSpPr>
          <p:cNvPr id="26" name="Text 23"/>
          <p:cNvSpPr txBox="1"/>
          <p:nvPr/>
        </p:nvSpPr>
        <p:spPr>
          <a:xfrm>
            <a:off x="8366760" y="2834640"/>
            <a:ext cx="3108960" cy="640080"/>
          </a:xfrm>
          <a:prstGeom prst="rect">
            <a:avLst/>
          </a:prstGeom>
          <a:noFill/>
          <a:ln/>
        </p:spPr>
        <p:txBody>
          <a:bodyPr wrap="square" lIns="0" tIns="0" rIns="0" bIns="0" rtlCol="0" anchor="t"/>
          <a:lstStyle/>
          <a:p>
            <a:pPr indent="0" marL="0">
              <a:buNone/>
            </a:pPr>
            <a:r>
              <a:rPr lang="en-US" sz="1500" dirty="0">
                <a:solidFill>
                  <a:srgbClr val="EEF5FF"/>
                </a:solidFill>
              </a:rPr>
              <a:t>스킬마다 같은 코드가 반복된다</a:t>
            </a:r>
            <a:endParaRPr lang="en-US" sz="1500" dirty="0"/>
          </a:p>
        </p:txBody>
      </p:sp>
      <p:sp>
        <p:nvSpPr>
          <p:cNvPr id="27" name="Text 24"/>
          <p:cNvSpPr txBox="1"/>
          <p:nvPr/>
        </p:nvSpPr>
        <p:spPr>
          <a:xfrm>
            <a:off x="8366760" y="3520440"/>
            <a:ext cx="3017520" cy="274320"/>
          </a:xfrm>
          <a:prstGeom prst="rect">
            <a:avLst/>
          </a:prstGeom>
          <a:noFill/>
          <a:ln/>
        </p:spPr>
        <p:txBody>
          <a:bodyPr wrap="square" lIns="0" tIns="0" rIns="0" bIns="0" rtlCol="0" anchor="t"/>
          <a:lstStyle/>
          <a:p>
            <a:pPr indent="0" marL="0">
              <a:buNone/>
            </a:pPr>
            <a:r>
              <a:rPr lang="en-US" sz="1200" b="1" dirty="0">
                <a:solidFill>
                  <a:srgbClr val="83E58F"/>
                </a:solidFill>
              </a:rPr>
              <a:t>해결</a:t>
            </a:r>
            <a:endParaRPr lang="en-US" sz="1200" dirty="0"/>
          </a:p>
        </p:txBody>
      </p:sp>
      <p:sp>
        <p:nvSpPr>
          <p:cNvPr id="28" name="Text 25"/>
          <p:cNvSpPr txBox="1"/>
          <p:nvPr/>
        </p:nvSpPr>
        <p:spPr>
          <a:xfrm>
            <a:off x="8366760" y="3794760"/>
            <a:ext cx="3108960" cy="640080"/>
          </a:xfrm>
          <a:prstGeom prst="rect">
            <a:avLst/>
          </a:prstGeom>
          <a:noFill/>
          <a:ln/>
        </p:spPr>
        <p:txBody>
          <a:bodyPr wrap="square" lIns="0" tIns="0" rIns="0" bIns="0" rtlCol="0" anchor="t"/>
          <a:lstStyle/>
          <a:p>
            <a:pPr indent="0" marL="0">
              <a:buNone/>
            </a:pPr>
            <a:r>
              <a:rPr lang="en-US" sz="1500" dirty="0">
                <a:solidFill>
                  <a:srgbClr val="EEF5FF"/>
                </a:solidFill>
              </a:rPr>
              <a:t>공통 부분을 부모 클래스로 올린다</a:t>
            </a:r>
            <a:endParaRPr lang="en-US" sz="1500" dirty="0"/>
          </a:p>
        </p:txBody>
      </p:sp>
      <p:sp>
        <p:nvSpPr>
          <p:cNvPr id="29" name="Text 26"/>
          <p:cNvSpPr txBox="1"/>
          <p:nvPr/>
        </p:nvSpPr>
        <p:spPr>
          <a:xfrm>
            <a:off x="8366760" y="4572000"/>
            <a:ext cx="3108960" cy="365760"/>
          </a:xfrm>
          <a:prstGeom prst="rect">
            <a:avLst/>
          </a:prstGeom>
          <a:noFill/>
          <a:ln/>
        </p:spPr>
        <p:txBody>
          <a:bodyPr wrap="square" lIns="0" tIns="0" rIns="0" bIns="0" rtlCol="0" anchor="t"/>
          <a:lstStyle/>
          <a:p>
            <a:pPr indent="0" marL="0">
              <a:buNone/>
            </a:pPr>
            <a:r>
              <a:rPr lang="en-US" sz="1300" dirty="0">
                <a:solidFill>
                  <a:srgbClr val="FFD16F"/>
                </a:solidFill>
                <a:latin typeface="Consolas" pitchFamily="34" charset="0"/>
                <a:ea typeface="Consolas" pitchFamily="34" charset="-122"/>
                <a:cs typeface="Consolas" pitchFamily="34" charset="-120"/>
              </a:rPr>
              <a:t>PowerStrikeSkill : Skill</a:t>
            </a:r>
            <a:endParaRPr lang="en-US" sz="1300" dirty="0"/>
          </a:p>
        </p:txBody>
      </p:sp>
      <p:sp>
        <p:nvSpPr>
          <p:cNvPr id="30" name="Shape 27"/>
          <p:cNvSpPr/>
          <p:nvPr/>
        </p:nvSpPr>
        <p:spPr>
          <a:xfrm>
            <a:off x="548640" y="5349240"/>
            <a:ext cx="11064240" cy="777240"/>
          </a:xfrm>
          <a:prstGeom prst="roundRect">
            <a:avLst>
              <a:gd name="adj" fmla="val 14118"/>
            </a:avLst>
          </a:prstGeom>
          <a:solidFill>
            <a:srgbClr val="142B45"/>
          </a:solidFill>
          <a:ln w="12700">
            <a:solidFill>
              <a:srgbClr val="FFD16F"/>
            </a:solidFill>
            <a:prstDash val="solid"/>
          </a:ln>
        </p:spPr>
      </p:sp>
      <p:sp>
        <p:nvSpPr>
          <p:cNvPr id="31" name="Text 28"/>
          <p:cNvSpPr txBox="1"/>
          <p:nvPr/>
        </p:nvSpPr>
        <p:spPr>
          <a:xfrm>
            <a:off x="822960" y="5349240"/>
            <a:ext cx="10607040" cy="777240"/>
          </a:xfrm>
          <a:prstGeom prst="rect">
            <a:avLst/>
          </a:prstGeom>
          <a:noFill/>
          <a:ln/>
        </p:spPr>
        <p:txBody>
          <a:bodyPr wrap="square" lIns="0" tIns="0" rIns="0" bIns="0" rtlCol="0" anchor="ctr"/>
          <a:lstStyle/>
          <a:p>
            <a:pPr indent="0" marL="0">
              <a:buNone/>
            </a:pPr>
            <a:r>
              <a:rPr lang="en-US" sz="1600" b="1" dirty="0">
                <a:solidFill>
                  <a:srgbClr val="FFD16F"/>
                </a:solidFill>
              </a:rPr>
              <a:t>남은 문제: 스킬을 사용하는 쪽의 switch 문  →  2교시</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822960" y="2011680"/>
            <a:ext cx="9144000" cy="365760"/>
          </a:xfrm>
          <a:prstGeom prst="rect">
            <a:avLst/>
          </a:prstGeom>
          <a:noFill/>
          <a:ln/>
        </p:spPr>
        <p:txBody>
          <a:bodyPr wrap="square" lIns="0" tIns="0" rIns="0" bIns="0" rtlCol="0" anchor="t"/>
          <a:lstStyle/>
          <a:p>
            <a:pPr indent="0" marL="0">
              <a:buNone/>
            </a:pPr>
            <a:r>
              <a:rPr lang="en-US" sz="1500" b="1" spc="200" kern="0" dirty="0">
                <a:solidFill>
                  <a:srgbClr val="55E4CF"/>
                </a:solidFill>
              </a:rPr>
              <a:t>PERIOD 2</a:t>
            </a:r>
            <a:endParaRPr lang="en-US" sz="1500" dirty="0"/>
          </a:p>
        </p:txBody>
      </p:sp>
      <p:sp>
        <p:nvSpPr>
          <p:cNvPr id="3" name="Text 1"/>
          <p:cNvSpPr txBox="1"/>
          <p:nvPr/>
        </p:nvSpPr>
        <p:spPr>
          <a:xfrm>
            <a:off x="822960" y="2468880"/>
            <a:ext cx="10515600" cy="914400"/>
          </a:xfrm>
          <a:prstGeom prst="rect">
            <a:avLst/>
          </a:prstGeom>
          <a:noFill/>
          <a:ln/>
        </p:spPr>
        <p:txBody>
          <a:bodyPr wrap="square" lIns="0" tIns="0" rIns="0" bIns="0" rtlCol="0" anchor="t"/>
          <a:lstStyle/>
          <a:p>
            <a:pPr indent="0" marL="0">
              <a:buNone/>
            </a:pPr>
            <a:r>
              <a:rPr lang="en-US" sz="4000" b="1" dirty="0">
                <a:solidFill>
                  <a:srgbClr val="EEF5FF"/>
                </a:solidFill>
              </a:rPr>
              <a:t>2교시 · 다형성, 추상화, 실습</a:t>
            </a:r>
            <a:endParaRPr lang="en-US" sz="4000" dirty="0"/>
          </a:p>
        </p:txBody>
      </p:sp>
      <p:sp>
        <p:nvSpPr>
          <p:cNvPr id="4" name="Shape 2"/>
          <p:cNvSpPr/>
          <p:nvPr/>
        </p:nvSpPr>
        <p:spPr>
          <a:xfrm>
            <a:off x="822960" y="3840480"/>
            <a:ext cx="1115568" cy="502920"/>
          </a:xfrm>
          <a:prstGeom prst="roundRect">
            <a:avLst>
              <a:gd name="adj" fmla="val 50000"/>
            </a:avLst>
          </a:prstGeom>
          <a:solidFill>
            <a:srgbClr val="FFD16F"/>
          </a:solidFill>
          <a:ln w="12700">
            <a:solidFill>
              <a:srgbClr val="FFD16F"/>
            </a:solidFill>
            <a:prstDash val="solid"/>
          </a:ln>
        </p:spPr>
      </p:sp>
      <p:sp>
        <p:nvSpPr>
          <p:cNvPr id="5" name="Text 3"/>
          <p:cNvSpPr txBox="1"/>
          <p:nvPr/>
        </p:nvSpPr>
        <p:spPr>
          <a:xfrm>
            <a:off x="822960" y="3840480"/>
            <a:ext cx="1115568" cy="502920"/>
          </a:xfrm>
          <a:prstGeom prst="rect">
            <a:avLst/>
          </a:prstGeom>
          <a:noFill/>
          <a:ln/>
        </p:spPr>
        <p:txBody>
          <a:bodyPr wrap="square" lIns="0" tIns="0" rIns="0" bIns="0" rtlCol="0" anchor="ctr"/>
          <a:lstStyle/>
          <a:p>
            <a:pPr algn="ctr" indent="0" marL="0">
              <a:buNone/>
            </a:pPr>
            <a:r>
              <a:rPr lang="en-US" sz="1500" b="1" dirty="0">
                <a:solidFill>
                  <a:srgbClr val="040A13"/>
                </a:solidFill>
              </a:rPr>
              <a:t>다형성</a:t>
            </a:r>
            <a:endParaRPr lang="en-US" sz="1500" dirty="0"/>
          </a:p>
        </p:txBody>
      </p:sp>
      <p:sp>
        <p:nvSpPr>
          <p:cNvPr id="6" name="Shape 4"/>
          <p:cNvSpPr/>
          <p:nvPr/>
        </p:nvSpPr>
        <p:spPr>
          <a:xfrm>
            <a:off x="2167128" y="3840480"/>
            <a:ext cx="1115568" cy="502920"/>
          </a:xfrm>
          <a:prstGeom prst="roundRect">
            <a:avLst>
              <a:gd name="adj" fmla="val 50000"/>
            </a:avLst>
          </a:prstGeom>
          <a:solidFill>
            <a:srgbClr val="8EC5FF"/>
          </a:solidFill>
          <a:ln w="12700">
            <a:solidFill>
              <a:srgbClr val="8EC5FF"/>
            </a:solidFill>
            <a:prstDash val="solid"/>
          </a:ln>
        </p:spPr>
      </p:sp>
      <p:sp>
        <p:nvSpPr>
          <p:cNvPr id="7" name="Text 5"/>
          <p:cNvSpPr txBox="1"/>
          <p:nvPr/>
        </p:nvSpPr>
        <p:spPr>
          <a:xfrm>
            <a:off x="2167128" y="3840480"/>
            <a:ext cx="1115568" cy="502920"/>
          </a:xfrm>
          <a:prstGeom prst="rect">
            <a:avLst/>
          </a:prstGeom>
          <a:noFill/>
          <a:ln/>
        </p:spPr>
        <p:txBody>
          <a:bodyPr wrap="square" lIns="0" tIns="0" rIns="0" bIns="0" rtlCol="0" anchor="ctr"/>
          <a:lstStyle/>
          <a:p>
            <a:pPr algn="ctr" indent="0" marL="0">
              <a:buNone/>
            </a:pPr>
            <a:r>
              <a:rPr lang="en-US" sz="1500" b="1" dirty="0">
                <a:solidFill>
                  <a:srgbClr val="040A13"/>
                </a:solidFill>
              </a:rPr>
              <a:t>추상화</a:t>
            </a:r>
            <a:endParaRPr lang="en-US" sz="1500" dirty="0"/>
          </a:p>
        </p:txBody>
      </p:sp>
      <p:sp>
        <p:nvSpPr>
          <p:cNvPr id="8" name="Shape 6"/>
          <p:cNvSpPr/>
          <p:nvPr/>
        </p:nvSpPr>
        <p:spPr>
          <a:xfrm>
            <a:off x="3511296" y="3840480"/>
            <a:ext cx="1773936" cy="502920"/>
          </a:xfrm>
          <a:prstGeom prst="roundRect">
            <a:avLst>
              <a:gd name="adj" fmla="val 50000"/>
            </a:avLst>
          </a:prstGeom>
          <a:solidFill>
            <a:srgbClr val="55E4CF"/>
          </a:solidFill>
          <a:ln w="12700">
            <a:solidFill>
              <a:srgbClr val="55E4CF"/>
            </a:solidFill>
            <a:prstDash val="solid"/>
          </a:ln>
        </p:spPr>
      </p:sp>
      <p:sp>
        <p:nvSpPr>
          <p:cNvPr id="9" name="Text 7"/>
          <p:cNvSpPr txBox="1"/>
          <p:nvPr/>
        </p:nvSpPr>
        <p:spPr>
          <a:xfrm>
            <a:off x="3511296" y="3840480"/>
            <a:ext cx="1773936" cy="502920"/>
          </a:xfrm>
          <a:prstGeom prst="rect">
            <a:avLst/>
          </a:prstGeom>
          <a:noFill/>
          <a:ln/>
        </p:spPr>
        <p:txBody>
          <a:bodyPr wrap="square" lIns="0" tIns="0" rIns="0" bIns="0" rtlCol="0" anchor="ctr"/>
          <a:lstStyle/>
          <a:p>
            <a:pPr algn="ctr" indent="0" marL="0">
              <a:buNone/>
            </a:pPr>
            <a:r>
              <a:rPr lang="en-US" sz="1500" b="1" dirty="0">
                <a:solidFill>
                  <a:srgbClr val="040A13"/>
                </a:solidFill>
              </a:rPr>
              <a:t>실습 20분</a:t>
            </a:r>
            <a:endParaRPr lang="en-US" sz="1500" dirty="0"/>
          </a:p>
        </p:txBody>
      </p:sp>
      <p:sp>
        <p:nvSpPr>
          <p:cNvPr id="10" name="Shape 8"/>
          <p:cNvSpPr/>
          <p:nvPr/>
        </p:nvSpPr>
        <p:spPr>
          <a:xfrm>
            <a:off x="5513832" y="3840480"/>
            <a:ext cx="2432304" cy="502920"/>
          </a:xfrm>
          <a:prstGeom prst="roundRect">
            <a:avLst>
              <a:gd name="adj" fmla="val 50000"/>
            </a:avLst>
          </a:prstGeom>
          <a:solidFill>
            <a:srgbClr val="B8A4FF"/>
          </a:solidFill>
          <a:ln w="12700">
            <a:solidFill>
              <a:srgbClr val="B8A4FF"/>
            </a:solidFill>
            <a:prstDash val="solid"/>
          </a:ln>
        </p:spPr>
      </p:sp>
      <p:sp>
        <p:nvSpPr>
          <p:cNvPr id="11" name="Text 9"/>
          <p:cNvSpPr txBox="1"/>
          <p:nvPr/>
        </p:nvSpPr>
        <p:spPr>
          <a:xfrm>
            <a:off x="5513832" y="3840480"/>
            <a:ext cx="2432304" cy="502920"/>
          </a:xfrm>
          <a:prstGeom prst="rect">
            <a:avLst/>
          </a:prstGeom>
          <a:noFill/>
          <a:ln/>
        </p:spPr>
        <p:txBody>
          <a:bodyPr wrap="square" lIns="0" tIns="0" rIns="0" bIns="0" rtlCol="0" anchor="ctr"/>
          <a:lstStyle/>
          <a:p>
            <a:pPr algn="ctr" indent="0" marL="0">
              <a:buNone/>
            </a:pPr>
            <a:r>
              <a:rPr lang="en-US" sz="1500" b="1" dirty="0">
                <a:solidFill>
                  <a:srgbClr val="040A13"/>
                </a:solidFill>
              </a:rPr>
              <a:t>Unity와 연결</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822960" y="1554480"/>
            <a:ext cx="2743200" cy="1005840"/>
          </a:xfrm>
          <a:prstGeom prst="rect">
            <a:avLst/>
          </a:prstGeom>
          <a:noFill/>
          <a:ln/>
        </p:spPr>
        <p:txBody>
          <a:bodyPr wrap="square" lIns="0" tIns="0" rIns="0" bIns="0" rtlCol="0" anchor="t"/>
          <a:lstStyle/>
          <a:p>
            <a:pPr indent="0" marL="0">
              <a:buNone/>
            </a:pPr>
            <a:r>
              <a:rPr lang="en-US" sz="6000" b="1" dirty="0">
                <a:solidFill>
                  <a:srgbClr val="FFD16F"/>
                </a:solidFill>
              </a:rPr>
              <a:t>05</a:t>
            </a:r>
            <a:endParaRPr lang="en-US" sz="6000" dirty="0"/>
          </a:p>
        </p:txBody>
      </p:sp>
      <p:sp>
        <p:nvSpPr>
          <p:cNvPr id="3" name="Text 1"/>
          <p:cNvSpPr txBox="1"/>
          <p:nvPr/>
        </p:nvSpPr>
        <p:spPr>
          <a:xfrm>
            <a:off x="822960" y="2697480"/>
            <a:ext cx="9144000" cy="365760"/>
          </a:xfrm>
          <a:prstGeom prst="rect">
            <a:avLst/>
          </a:prstGeom>
          <a:noFill/>
          <a:ln/>
        </p:spPr>
        <p:txBody>
          <a:bodyPr wrap="square" lIns="0" tIns="0" rIns="0" bIns="0" rtlCol="0" anchor="t"/>
          <a:lstStyle/>
          <a:p>
            <a:pPr indent="0" marL="0">
              <a:buNone/>
            </a:pPr>
            <a:r>
              <a:rPr lang="en-US" sz="1500" b="1" spc="200" kern="0" dirty="0">
                <a:solidFill>
                  <a:srgbClr val="FFD16F"/>
                </a:solidFill>
              </a:rPr>
              <a:t>POLYMORPHISM</a:t>
            </a:r>
            <a:endParaRPr lang="en-US" sz="1500" dirty="0"/>
          </a:p>
        </p:txBody>
      </p:sp>
      <p:sp>
        <p:nvSpPr>
          <p:cNvPr id="4" name="Text 2"/>
          <p:cNvSpPr txBox="1"/>
          <p:nvPr/>
        </p:nvSpPr>
        <p:spPr>
          <a:xfrm>
            <a:off x="822960" y="3108960"/>
            <a:ext cx="10515600" cy="914400"/>
          </a:xfrm>
          <a:prstGeom prst="rect">
            <a:avLst/>
          </a:prstGeom>
          <a:noFill/>
          <a:ln/>
        </p:spPr>
        <p:txBody>
          <a:bodyPr wrap="square" lIns="0" tIns="0" rIns="0" bIns="0" rtlCol="0" anchor="t"/>
          <a:lstStyle/>
          <a:p>
            <a:pPr indent="0" marL="0">
              <a:buNone/>
            </a:pPr>
            <a:r>
              <a:rPr lang="en-US" sz="4400" b="1" dirty="0">
                <a:solidFill>
                  <a:srgbClr val="EEF5FF"/>
                </a:solidFill>
              </a:rPr>
              <a:t>다형성</a:t>
            </a:r>
            <a:endParaRPr lang="en-US" sz="4400" dirty="0"/>
          </a:p>
        </p:txBody>
      </p:sp>
      <p:sp>
        <p:nvSpPr>
          <p:cNvPr id="5" name="Shape 3"/>
          <p:cNvSpPr/>
          <p:nvPr/>
        </p:nvSpPr>
        <p:spPr>
          <a:xfrm>
            <a:off x="822960" y="4846320"/>
            <a:ext cx="1298448" cy="457200"/>
          </a:xfrm>
          <a:prstGeom prst="roundRect">
            <a:avLst>
              <a:gd name="adj" fmla="val 50000"/>
            </a:avLst>
          </a:prstGeom>
          <a:solidFill>
            <a:srgbClr val="040A13"/>
          </a:solidFill>
          <a:ln w="12700">
            <a:solidFill>
              <a:srgbClr val="2A405B"/>
            </a:solidFill>
            <a:prstDash val="solid"/>
          </a:ln>
        </p:spPr>
      </p:sp>
      <p:sp>
        <p:nvSpPr>
          <p:cNvPr id="6" name="Text 4"/>
          <p:cNvSpPr txBox="1"/>
          <p:nvPr/>
        </p:nvSpPr>
        <p:spPr>
          <a:xfrm>
            <a:off x="822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도입</a:t>
            </a:r>
            <a:endParaRPr lang="en-US" sz="1300" dirty="0"/>
          </a:p>
        </p:txBody>
      </p:sp>
      <p:sp>
        <p:nvSpPr>
          <p:cNvPr id="7" name="Shape 5"/>
          <p:cNvSpPr/>
          <p:nvPr/>
        </p:nvSpPr>
        <p:spPr>
          <a:xfrm>
            <a:off x="2194560" y="4846320"/>
            <a:ext cx="1298448" cy="457200"/>
          </a:xfrm>
          <a:prstGeom prst="roundRect">
            <a:avLst>
              <a:gd name="adj" fmla="val 50000"/>
            </a:avLst>
          </a:prstGeom>
          <a:solidFill>
            <a:srgbClr val="040A13"/>
          </a:solidFill>
          <a:ln w="12700">
            <a:solidFill>
              <a:srgbClr val="2A405B"/>
            </a:solidFill>
            <a:prstDash val="solid"/>
          </a:ln>
        </p:spPr>
      </p:sp>
      <p:sp>
        <p:nvSpPr>
          <p:cNvPr id="8" name="Text 6"/>
          <p:cNvSpPr txBox="1"/>
          <p:nvPr/>
        </p:nvSpPr>
        <p:spPr>
          <a:xfrm>
            <a:off x="2194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객체와 클래스</a:t>
            </a:r>
            <a:endParaRPr lang="en-US" sz="1300" dirty="0"/>
          </a:p>
        </p:txBody>
      </p:sp>
      <p:sp>
        <p:nvSpPr>
          <p:cNvPr id="9" name="Shape 7"/>
          <p:cNvSpPr/>
          <p:nvPr/>
        </p:nvSpPr>
        <p:spPr>
          <a:xfrm>
            <a:off x="3566160" y="4846320"/>
            <a:ext cx="1298448" cy="457200"/>
          </a:xfrm>
          <a:prstGeom prst="roundRect">
            <a:avLst>
              <a:gd name="adj" fmla="val 50000"/>
            </a:avLst>
          </a:prstGeom>
          <a:solidFill>
            <a:srgbClr val="040A13"/>
          </a:solidFill>
          <a:ln w="12700">
            <a:solidFill>
              <a:srgbClr val="2A405B"/>
            </a:solidFill>
            <a:prstDash val="solid"/>
          </a:ln>
        </p:spPr>
      </p:sp>
      <p:sp>
        <p:nvSpPr>
          <p:cNvPr id="10" name="Text 8"/>
          <p:cNvSpPr txBox="1"/>
          <p:nvPr/>
        </p:nvSpPr>
        <p:spPr>
          <a:xfrm>
            <a:off x="3566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캡슐화</a:t>
            </a:r>
            <a:endParaRPr lang="en-US" sz="1300" dirty="0"/>
          </a:p>
        </p:txBody>
      </p:sp>
      <p:sp>
        <p:nvSpPr>
          <p:cNvPr id="11" name="Shape 9"/>
          <p:cNvSpPr/>
          <p:nvPr/>
        </p:nvSpPr>
        <p:spPr>
          <a:xfrm>
            <a:off x="4937760" y="4846320"/>
            <a:ext cx="1298448" cy="457200"/>
          </a:xfrm>
          <a:prstGeom prst="roundRect">
            <a:avLst>
              <a:gd name="adj" fmla="val 50000"/>
            </a:avLst>
          </a:prstGeom>
          <a:solidFill>
            <a:srgbClr val="040A13"/>
          </a:solidFill>
          <a:ln w="12700">
            <a:solidFill>
              <a:srgbClr val="2A405B"/>
            </a:solidFill>
            <a:prstDash val="solid"/>
          </a:ln>
        </p:spPr>
      </p:sp>
      <p:sp>
        <p:nvSpPr>
          <p:cNvPr id="12" name="Text 10"/>
          <p:cNvSpPr txBox="1"/>
          <p:nvPr/>
        </p:nvSpPr>
        <p:spPr>
          <a:xfrm>
            <a:off x="49377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상속</a:t>
            </a:r>
            <a:endParaRPr lang="en-US" sz="1300" dirty="0"/>
          </a:p>
        </p:txBody>
      </p:sp>
      <p:sp>
        <p:nvSpPr>
          <p:cNvPr id="13" name="Shape 11"/>
          <p:cNvSpPr/>
          <p:nvPr/>
        </p:nvSpPr>
        <p:spPr>
          <a:xfrm>
            <a:off x="6309360" y="4846320"/>
            <a:ext cx="1298448" cy="457200"/>
          </a:xfrm>
          <a:prstGeom prst="roundRect">
            <a:avLst>
              <a:gd name="adj" fmla="val 50000"/>
            </a:avLst>
          </a:prstGeom>
          <a:solidFill>
            <a:srgbClr val="FFD16F"/>
          </a:solidFill>
          <a:ln w="12700">
            <a:solidFill>
              <a:srgbClr val="FFD16F"/>
            </a:solidFill>
            <a:prstDash val="solid"/>
          </a:ln>
        </p:spPr>
      </p:sp>
      <p:sp>
        <p:nvSpPr>
          <p:cNvPr id="14" name="Text 12"/>
          <p:cNvSpPr txBox="1"/>
          <p:nvPr/>
        </p:nvSpPr>
        <p:spPr>
          <a:xfrm>
            <a:off x="6309360" y="4846320"/>
            <a:ext cx="1298448" cy="457200"/>
          </a:xfrm>
          <a:prstGeom prst="rect">
            <a:avLst/>
          </a:prstGeom>
          <a:noFill/>
          <a:ln/>
        </p:spPr>
        <p:txBody>
          <a:bodyPr wrap="square" lIns="0" tIns="0" rIns="0" bIns="0" rtlCol="0" anchor="ctr"/>
          <a:lstStyle/>
          <a:p>
            <a:pPr algn="ctr" indent="0" marL="0">
              <a:buNone/>
            </a:pPr>
            <a:r>
              <a:rPr lang="en-US" sz="1300" b="1" dirty="0">
                <a:solidFill>
                  <a:srgbClr val="040A13"/>
                </a:solidFill>
              </a:rPr>
              <a:t>다형성</a:t>
            </a:r>
            <a:endParaRPr lang="en-US" sz="1300" dirty="0"/>
          </a:p>
        </p:txBody>
      </p:sp>
      <p:sp>
        <p:nvSpPr>
          <p:cNvPr id="15" name="Shape 13"/>
          <p:cNvSpPr/>
          <p:nvPr/>
        </p:nvSpPr>
        <p:spPr>
          <a:xfrm>
            <a:off x="7680960" y="4846320"/>
            <a:ext cx="1298448" cy="457200"/>
          </a:xfrm>
          <a:prstGeom prst="roundRect">
            <a:avLst>
              <a:gd name="adj" fmla="val 50000"/>
            </a:avLst>
          </a:prstGeom>
          <a:solidFill>
            <a:srgbClr val="040A13"/>
          </a:solidFill>
          <a:ln w="12700">
            <a:solidFill>
              <a:srgbClr val="2A405B"/>
            </a:solidFill>
            <a:prstDash val="solid"/>
          </a:ln>
        </p:spPr>
      </p:sp>
      <p:sp>
        <p:nvSpPr>
          <p:cNvPr id="16" name="Text 14"/>
          <p:cNvSpPr txBox="1"/>
          <p:nvPr/>
        </p:nvSpPr>
        <p:spPr>
          <a:xfrm>
            <a:off x="7680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추상화</a:t>
            </a:r>
            <a:endParaRPr lang="en-US" sz="1300" dirty="0"/>
          </a:p>
        </p:txBody>
      </p:sp>
      <p:sp>
        <p:nvSpPr>
          <p:cNvPr id="17" name="Shape 15"/>
          <p:cNvSpPr/>
          <p:nvPr/>
        </p:nvSpPr>
        <p:spPr>
          <a:xfrm>
            <a:off x="9052560" y="4846320"/>
            <a:ext cx="1298448" cy="457200"/>
          </a:xfrm>
          <a:prstGeom prst="roundRect">
            <a:avLst>
              <a:gd name="adj" fmla="val 50000"/>
            </a:avLst>
          </a:prstGeom>
          <a:solidFill>
            <a:srgbClr val="040A13"/>
          </a:solidFill>
          <a:ln w="12700">
            <a:solidFill>
              <a:srgbClr val="2A405B"/>
            </a:solidFill>
            <a:prstDash val="solid"/>
          </a:ln>
        </p:spPr>
      </p:sp>
      <p:sp>
        <p:nvSpPr>
          <p:cNvPr id="18" name="Text 16"/>
          <p:cNvSpPr txBox="1"/>
          <p:nvPr/>
        </p:nvSpPr>
        <p:spPr>
          <a:xfrm>
            <a:off x="9052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실습</a:t>
            </a:r>
            <a:endParaRPr lang="en-US" sz="1300" dirty="0"/>
          </a:p>
        </p:txBody>
      </p:sp>
      <p:sp>
        <p:nvSpPr>
          <p:cNvPr id="19" name="Shape 17"/>
          <p:cNvSpPr/>
          <p:nvPr/>
        </p:nvSpPr>
        <p:spPr>
          <a:xfrm>
            <a:off x="10424160" y="4846320"/>
            <a:ext cx="1298448" cy="457200"/>
          </a:xfrm>
          <a:prstGeom prst="roundRect">
            <a:avLst>
              <a:gd name="adj" fmla="val 50000"/>
            </a:avLst>
          </a:prstGeom>
          <a:solidFill>
            <a:srgbClr val="040A13"/>
          </a:solidFill>
          <a:ln w="12700">
            <a:solidFill>
              <a:srgbClr val="2A405B"/>
            </a:solidFill>
            <a:prstDash val="solid"/>
          </a:ln>
        </p:spPr>
      </p:sp>
      <p:sp>
        <p:nvSpPr>
          <p:cNvPr id="20" name="Text 18"/>
          <p:cNvSpPr txBox="1"/>
          <p:nvPr/>
        </p:nvSpPr>
        <p:spPr>
          <a:xfrm>
            <a:off x="10424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마무리</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FFD16F"/>
          </a:solidFill>
          <a:ln w="12700">
            <a:solidFill>
              <a:srgbClr val="FFD16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FFD16F"/>
                </a:solidFill>
              </a:rPr>
              <a:t>POLYMORPHISM · PROBLEM</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스킬을 사용하는 쪽의 switch</a:t>
            </a:r>
            <a:endParaRPr lang="en-US" sz="2800" dirty="0"/>
          </a:p>
        </p:txBody>
      </p:sp>
      <p:sp>
        <p:nvSpPr>
          <p:cNvPr id="6" name="Shape 3"/>
          <p:cNvSpPr/>
          <p:nvPr/>
        </p:nvSpPr>
        <p:spPr>
          <a:xfrm>
            <a:off x="548640" y="1783080"/>
            <a:ext cx="7543800" cy="3931920"/>
          </a:xfrm>
          <a:prstGeom prst="roundRect">
            <a:avLst>
              <a:gd name="adj" fmla="val 1860"/>
            </a:avLst>
          </a:prstGeom>
          <a:solidFill>
            <a:srgbClr val="040A13"/>
          </a:solidFill>
          <a:ln w="12700">
            <a:solidFill>
              <a:srgbClr val="2A405B"/>
            </a:solidFill>
            <a:prstDash val="solid"/>
          </a:ln>
        </p:spPr>
      </p:sp>
      <p:sp>
        <p:nvSpPr>
          <p:cNvPr id="7" name="Shape 4"/>
          <p:cNvSpPr/>
          <p:nvPr/>
        </p:nvSpPr>
        <p:spPr>
          <a:xfrm>
            <a:off x="603504" y="2560320"/>
            <a:ext cx="7434072" cy="297180"/>
          </a:xfrm>
          <a:prstGeom prst="rect">
            <a:avLst/>
          </a:prstGeom>
          <a:solidFill>
            <a:srgbClr val="FF8C99">
              <a:alpha val="20000"/>
            </a:srgbClr>
          </a:solidFill>
          <a:ln w="12700">
            <a:solidFill>
              <a:srgbClr val="FF8C99">
                <a:alpha val="0"/>
              </a:srgbClr>
            </a:solidFill>
            <a:prstDash val="solid"/>
          </a:ln>
        </p:spPr>
      </p:sp>
      <p:sp>
        <p:nvSpPr>
          <p:cNvPr id="8" name="Shape 5"/>
          <p:cNvSpPr/>
          <p:nvPr/>
        </p:nvSpPr>
        <p:spPr>
          <a:xfrm>
            <a:off x="603504" y="3451860"/>
            <a:ext cx="7434072" cy="297180"/>
          </a:xfrm>
          <a:prstGeom prst="rect">
            <a:avLst/>
          </a:prstGeom>
          <a:solidFill>
            <a:srgbClr val="FF8C99">
              <a:alpha val="20000"/>
            </a:srgbClr>
          </a:solidFill>
          <a:ln w="12700">
            <a:solidFill>
              <a:srgbClr val="FF8C99">
                <a:alpha val="0"/>
              </a:srgbClr>
            </a:solidFill>
            <a:prstDash val="solid"/>
          </a:ln>
        </p:spPr>
      </p:sp>
      <p:sp>
        <p:nvSpPr>
          <p:cNvPr id="9" name="Shape 6"/>
          <p:cNvSpPr/>
          <p:nvPr/>
        </p:nvSpPr>
        <p:spPr>
          <a:xfrm>
            <a:off x="603504" y="4343400"/>
            <a:ext cx="7434072" cy="297180"/>
          </a:xfrm>
          <a:prstGeom prst="rect">
            <a:avLst/>
          </a:prstGeom>
          <a:solidFill>
            <a:srgbClr val="FF8C99">
              <a:alpha val="20000"/>
            </a:srgbClr>
          </a:solidFill>
          <a:ln w="12700">
            <a:solidFill>
              <a:srgbClr val="FF8C99">
                <a:alpha val="0"/>
              </a:srgbClr>
            </a:solidFill>
            <a:prstDash val="solid"/>
          </a:ln>
        </p:spPr>
      </p:sp>
      <p:sp>
        <p:nvSpPr>
          <p:cNvPr id="10" name="Text 7"/>
          <p:cNvSpPr txBox="1"/>
          <p:nvPr/>
        </p:nvSpPr>
        <p:spPr>
          <a:xfrm>
            <a:off x="731520" y="1965960"/>
            <a:ext cx="7178040" cy="356616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UseSkill(</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skill,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user,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target)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switch</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(skill.DisplayName)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case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"강타"</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PowerStrikeSkill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)skill).Use(user, target);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break</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case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"치유"</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HealSkill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)skill).Use(user, target);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break</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11" name="Shape 8"/>
          <p:cNvSpPr/>
          <p:nvPr/>
        </p:nvSpPr>
        <p:spPr>
          <a:xfrm>
            <a:off x="8366760" y="1783080"/>
            <a:ext cx="3246120" cy="4160520"/>
          </a:xfrm>
          <a:prstGeom prst="roundRect">
            <a:avLst>
              <a:gd name="adj" fmla="val 3380"/>
            </a:avLst>
          </a:prstGeom>
          <a:solidFill>
            <a:srgbClr val="10233A"/>
          </a:solidFill>
          <a:ln w="12700">
            <a:solidFill>
              <a:srgbClr val="2A405B"/>
            </a:solidFill>
            <a:prstDash val="solid"/>
          </a:ln>
        </p:spPr>
      </p:sp>
      <p:sp>
        <p:nvSpPr>
          <p:cNvPr id="12" name="Text 9"/>
          <p:cNvSpPr txBox="1"/>
          <p:nvPr/>
        </p:nvSpPr>
        <p:spPr>
          <a:xfrm>
            <a:off x="8595360" y="1965960"/>
            <a:ext cx="2834640" cy="365760"/>
          </a:xfrm>
          <a:prstGeom prst="rect">
            <a:avLst/>
          </a:prstGeom>
          <a:noFill/>
          <a:ln/>
        </p:spPr>
        <p:txBody>
          <a:bodyPr wrap="square" lIns="0" tIns="0" rIns="0" bIns="0" rtlCol="0" anchor="t"/>
          <a:lstStyle/>
          <a:p>
            <a:pPr indent="0" marL="0">
              <a:buNone/>
            </a:pPr>
            <a:r>
              <a:rPr lang="en-US" sz="1600" b="1" dirty="0">
                <a:solidFill>
                  <a:srgbClr val="FFD16F"/>
                </a:solidFill>
              </a:rPr>
              <a:t>스킬을 추가할 때 할 일</a:t>
            </a:r>
            <a:endParaRPr lang="en-US" sz="1600" dirty="0"/>
          </a:p>
        </p:txBody>
      </p:sp>
      <p:sp>
        <p:nvSpPr>
          <p:cNvPr id="13" name="Shape 10"/>
          <p:cNvSpPr/>
          <p:nvPr/>
        </p:nvSpPr>
        <p:spPr>
          <a:xfrm>
            <a:off x="8595360" y="2514600"/>
            <a:ext cx="384048" cy="384048"/>
          </a:xfrm>
          <a:prstGeom prst="ellipse">
            <a:avLst/>
          </a:prstGeom>
          <a:solidFill>
            <a:srgbClr val="FFD16F"/>
          </a:solidFill>
          <a:ln w="12700">
            <a:solidFill>
              <a:srgbClr val="FFD16F"/>
            </a:solidFill>
            <a:prstDash val="solid"/>
          </a:ln>
        </p:spPr>
      </p:sp>
      <p:sp>
        <p:nvSpPr>
          <p:cNvPr id="14" name="Text 11"/>
          <p:cNvSpPr txBox="1"/>
          <p:nvPr/>
        </p:nvSpPr>
        <p:spPr>
          <a:xfrm>
            <a:off x="8595360" y="2514600"/>
            <a:ext cx="384048" cy="384048"/>
          </a:xfrm>
          <a:prstGeom prst="rect">
            <a:avLst/>
          </a:prstGeom>
          <a:noFill/>
          <a:ln/>
        </p:spPr>
        <p:txBody>
          <a:bodyPr wrap="square" lIns="0" tIns="0" rIns="0" bIns="0" rtlCol="0" anchor="ctr"/>
          <a:lstStyle/>
          <a:p>
            <a:pPr algn="ctr" indent="0" marL="0">
              <a:buNone/>
            </a:pPr>
            <a:r>
              <a:rPr lang="en-US" sz="1344" b="1" dirty="0">
                <a:solidFill>
                  <a:srgbClr val="040A13"/>
                </a:solidFill>
              </a:rPr>
              <a:t>1</a:t>
            </a:r>
            <a:endParaRPr lang="en-US" sz="1344" dirty="0"/>
          </a:p>
        </p:txBody>
      </p:sp>
      <p:sp>
        <p:nvSpPr>
          <p:cNvPr id="15" name="Text 12"/>
          <p:cNvSpPr txBox="1"/>
          <p:nvPr/>
        </p:nvSpPr>
        <p:spPr>
          <a:xfrm>
            <a:off x="9098280" y="2487168"/>
            <a:ext cx="2377440" cy="777240"/>
          </a:xfrm>
          <a:prstGeom prst="rect">
            <a:avLst/>
          </a:prstGeom>
          <a:noFill/>
          <a:ln/>
        </p:spPr>
        <p:txBody>
          <a:bodyPr wrap="square" lIns="0" tIns="0" rIns="0" bIns="0" rtlCol="0" anchor="t"/>
          <a:lstStyle/>
          <a:p>
            <a:pPr indent="0" marL="0">
              <a:buNone/>
            </a:pPr>
            <a:r>
              <a:rPr lang="en-US" sz="1400" dirty="0">
                <a:solidFill>
                  <a:srgbClr val="EEF5FF"/>
                </a:solidFill>
              </a:rPr>
              <a:t>새 스킬 클래스를 작성한다</a:t>
            </a:r>
            <a:endParaRPr lang="en-US" sz="1400" dirty="0"/>
          </a:p>
        </p:txBody>
      </p:sp>
      <p:sp>
        <p:nvSpPr>
          <p:cNvPr id="16" name="Shape 13"/>
          <p:cNvSpPr/>
          <p:nvPr/>
        </p:nvSpPr>
        <p:spPr>
          <a:xfrm>
            <a:off x="8595360" y="3383280"/>
            <a:ext cx="384048" cy="384048"/>
          </a:xfrm>
          <a:prstGeom prst="ellipse">
            <a:avLst/>
          </a:prstGeom>
          <a:solidFill>
            <a:srgbClr val="FFD16F"/>
          </a:solidFill>
          <a:ln w="12700">
            <a:solidFill>
              <a:srgbClr val="FFD16F"/>
            </a:solidFill>
            <a:prstDash val="solid"/>
          </a:ln>
        </p:spPr>
      </p:sp>
      <p:sp>
        <p:nvSpPr>
          <p:cNvPr id="17" name="Text 14"/>
          <p:cNvSpPr txBox="1"/>
          <p:nvPr/>
        </p:nvSpPr>
        <p:spPr>
          <a:xfrm>
            <a:off x="8595360" y="3383280"/>
            <a:ext cx="384048" cy="384048"/>
          </a:xfrm>
          <a:prstGeom prst="rect">
            <a:avLst/>
          </a:prstGeom>
          <a:noFill/>
          <a:ln/>
        </p:spPr>
        <p:txBody>
          <a:bodyPr wrap="square" lIns="0" tIns="0" rIns="0" bIns="0" rtlCol="0" anchor="ctr"/>
          <a:lstStyle/>
          <a:p>
            <a:pPr algn="ctr" indent="0" marL="0">
              <a:buNone/>
            </a:pPr>
            <a:r>
              <a:rPr lang="en-US" sz="1344" b="1" dirty="0">
                <a:solidFill>
                  <a:srgbClr val="040A13"/>
                </a:solidFill>
              </a:rPr>
              <a:t>2</a:t>
            </a:r>
            <a:endParaRPr lang="en-US" sz="1344" dirty="0"/>
          </a:p>
        </p:txBody>
      </p:sp>
      <p:sp>
        <p:nvSpPr>
          <p:cNvPr id="18" name="Text 15"/>
          <p:cNvSpPr txBox="1"/>
          <p:nvPr/>
        </p:nvSpPr>
        <p:spPr>
          <a:xfrm>
            <a:off x="9098280" y="3355848"/>
            <a:ext cx="2377440" cy="777240"/>
          </a:xfrm>
          <a:prstGeom prst="rect">
            <a:avLst/>
          </a:prstGeom>
          <a:noFill/>
          <a:ln/>
        </p:spPr>
        <p:txBody>
          <a:bodyPr wrap="square" lIns="0" tIns="0" rIns="0" bIns="0" rtlCol="0" anchor="t"/>
          <a:lstStyle/>
          <a:p>
            <a:pPr indent="0" marL="0">
              <a:buNone/>
            </a:pPr>
            <a:r>
              <a:rPr lang="en-US" sz="1400" dirty="0">
                <a:solidFill>
                  <a:srgbClr val="EEF5FF"/>
                </a:solidFill>
              </a:rPr>
              <a:t>이 switch에 case를 추가한다</a:t>
            </a:r>
            <a:endParaRPr lang="en-US" sz="1400" dirty="0"/>
          </a:p>
        </p:txBody>
      </p:sp>
      <p:sp>
        <p:nvSpPr>
          <p:cNvPr id="19" name="Shape 16"/>
          <p:cNvSpPr/>
          <p:nvPr/>
        </p:nvSpPr>
        <p:spPr>
          <a:xfrm>
            <a:off x="8595360" y="4251960"/>
            <a:ext cx="384048" cy="384048"/>
          </a:xfrm>
          <a:prstGeom prst="ellipse">
            <a:avLst/>
          </a:prstGeom>
          <a:solidFill>
            <a:srgbClr val="FFD16F"/>
          </a:solidFill>
          <a:ln w="12700">
            <a:solidFill>
              <a:srgbClr val="FFD16F"/>
            </a:solidFill>
            <a:prstDash val="solid"/>
          </a:ln>
        </p:spPr>
      </p:sp>
      <p:sp>
        <p:nvSpPr>
          <p:cNvPr id="20" name="Text 17"/>
          <p:cNvSpPr txBox="1"/>
          <p:nvPr/>
        </p:nvSpPr>
        <p:spPr>
          <a:xfrm>
            <a:off x="8595360" y="4251960"/>
            <a:ext cx="384048" cy="384048"/>
          </a:xfrm>
          <a:prstGeom prst="rect">
            <a:avLst/>
          </a:prstGeom>
          <a:noFill/>
          <a:ln/>
        </p:spPr>
        <p:txBody>
          <a:bodyPr wrap="square" lIns="0" tIns="0" rIns="0" bIns="0" rtlCol="0" anchor="ctr"/>
          <a:lstStyle/>
          <a:p>
            <a:pPr algn="ctr" indent="0" marL="0">
              <a:buNone/>
            </a:pPr>
            <a:r>
              <a:rPr lang="en-US" sz="1344" b="1" dirty="0">
                <a:solidFill>
                  <a:srgbClr val="040A13"/>
                </a:solidFill>
              </a:rPr>
              <a:t>3</a:t>
            </a:r>
            <a:endParaRPr lang="en-US" sz="1344" dirty="0"/>
          </a:p>
        </p:txBody>
      </p:sp>
      <p:sp>
        <p:nvSpPr>
          <p:cNvPr id="21" name="Text 18"/>
          <p:cNvSpPr txBox="1"/>
          <p:nvPr/>
        </p:nvSpPr>
        <p:spPr>
          <a:xfrm>
            <a:off x="9098280" y="4224528"/>
            <a:ext cx="2377440" cy="777240"/>
          </a:xfrm>
          <a:prstGeom prst="rect">
            <a:avLst/>
          </a:prstGeom>
          <a:noFill/>
          <a:ln/>
        </p:spPr>
        <p:txBody>
          <a:bodyPr wrap="square" lIns="0" tIns="0" rIns="0" bIns="0" rtlCol="0" anchor="t"/>
          <a:lstStyle/>
          <a:p>
            <a:pPr indent="0" marL="0">
              <a:buNone/>
            </a:pPr>
            <a:r>
              <a:rPr lang="en-US" sz="1400" dirty="0">
                <a:solidFill>
                  <a:srgbClr val="EEF5FF"/>
                </a:solidFill>
              </a:rPr>
              <a:t>적 AI와 메뉴 UI의 switch에도 case를 추가한다</a:t>
            </a:r>
            <a:endParaRPr lang="en-US" sz="1400" dirty="0"/>
          </a:p>
        </p:txBody>
      </p:sp>
      <p:sp>
        <p:nvSpPr>
          <p:cNvPr id="22" name="Text 19"/>
          <p:cNvSpPr txBox="1"/>
          <p:nvPr/>
        </p:nvSpPr>
        <p:spPr>
          <a:xfrm>
            <a:off x="8595360" y="5120640"/>
            <a:ext cx="2834640" cy="685800"/>
          </a:xfrm>
          <a:prstGeom prst="rect">
            <a:avLst/>
          </a:prstGeom>
          <a:noFill/>
          <a:ln/>
        </p:spPr>
        <p:txBody>
          <a:bodyPr wrap="square" lIns="0" tIns="0" rIns="0" bIns="0" rtlCol="0" anchor="t"/>
          <a:lstStyle/>
          <a:p>
            <a:pPr indent="0" marL="0">
              <a:buNone/>
            </a:pPr>
            <a:r>
              <a:rPr lang="en-US" sz="1400" b="1" dirty="0">
                <a:solidFill>
                  <a:srgbClr val="FF8C99"/>
                </a:solidFill>
              </a:rPr>
              <a:t>하나라도 빠뜨리면 그 스킬은 동작하지 않습니다.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FFD16F"/>
          </a:solidFill>
          <a:ln w="12700">
            <a:solidFill>
              <a:srgbClr val="FFD16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FFD16F"/>
                </a:solidFill>
              </a:rPr>
              <a:t>POLYMORPHISM · IDEA</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부모 타입으로 다루기</a:t>
            </a:r>
            <a:endParaRPr lang="en-US" sz="2800" dirty="0"/>
          </a:p>
        </p:txBody>
      </p:sp>
      <p:sp>
        <p:nvSpPr>
          <p:cNvPr id="6" name="Shape 3"/>
          <p:cNvSpPr/>
          <p:nvPr/>
        </p:nvSpPr>
        <p:spPr>
          <a:xfrm>
            <a:off x="548640" y="1783080"/>
            <a:ext cx="7040880" cy="2743200"/>
          </a:xfrm>
          <a:prstGeom prst="roundRect">
            <a:avLst>
              <a:gd name="adj" fmla="val 2667"/>
            </a:avLst>
          </a:prstGeom>
          <a:solidFill>
            <a:srgbClr val="040A13"/>
          </a:solidFill>
          <a:ln w="12700">
            <a:solidFill>
              <a:srgbClr val="2A405B"/>
            </a:solidFill>
            <a:prstDash val="solid"/>
          </a:ln>
        </p:spPr>
      </p:sp>
      <p:sp>
        <p:nvSpPr>
          <p:cNvPr id="7" name="Shape 4"/>
          <p:cNvSpPr/>
          <p:nvPr/>
        </p:nvSpPr>
        <p:spPr>
          <a:xfrm>
            <a:off x="603504" y="2263140"/>
            <a:ext cx="6931152" cy="594360"/>
          </a:xfrm>
          <a:prstGeom prst="rect">
            <a:avLst/>
          </a:prstGeom>
          <a:solidFill>
            <a:srgbClr val="83E58F">
              <a:alpha val="20000"/>
            </a:srgbClr>
          </a:solidFill>
          <a:ln w="12700">
            <a:solidFill>
              <a:srgbClr val="83E58F">
                <a:alpha val="0"/>
              </a:srgbClr>
            </a:solidFill>
            <a:prstDash val="solid"/>
          </a:ln>
        </p:spPr>
      </p:sp>
      <p:sp>
        <p:nvSpPr>
          <p:cNvPr id="8" name="Shape 5"/>
          <p:cNvSpPr/>
          <p:nvPr/>
        </p:nvSpPr>
        <p:spPr>
          <a:xfrm>
            <a:off x="603504" y="3749040"/>
            <a:ext cx="6931152" cy="297180"/>
          </a:xfrm>
          <a:prstGeom prst="rect">
            <a:avLst/>
          </a:prstGeom>
          <a:solidFill>
            <a:srgbClr val="FF8C99">
              <a:alpha val="20000"/>
            </a:srgbClr>
          </a:solidFill>
          <a:ln w="12700">
            <a:solidFill>
              <a:srgbClr val="FF8C99">
                <a:alpha val="0"/>
              </a:srgbClr>
            </a:solidFill>
            <a:prstDash val="solid"/>
          </a:ln>
        </p:spPr>
      </p:sp>
      <p:sp>
        <p:nvSpPr>
          <p:cNvPr id="9" name="Text 6"/>
          <p:cNvSpPr txBox="1"/>
          <p:nvPr/>
        </p:nvSpPr>
        <p:spPr>
          <a:xfrm>
            <a:off x="731520" y="1965960"/>
            <a:ext cx="6675120" cy="2377440"/>
          </a:xfrm>
          <a:prstGeom prst="rect">
            <a:avLst/>
          </a:prstGeom>
          <a:noFill/>
          <a:ln/>
        </p:spPr>
        <p:txBody>
          <a:bodyPr wrap="none" lIns="0" tIns="0" rIns="0" bIns="0" rtlCol="0" anchor="t"/>
          <a:lstStyle/>
          <a:p>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List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&lt;</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&gt; skills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new</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List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&lt;</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&gt;();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skills.Add(</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new</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PowerStrikeSkill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skills.Add(</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new</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HealSkill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foreach</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skill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skills)</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skill.Use(swordsman, archer);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오류 CS1061</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10" name="Shape 7"/>
          <p:cNvSpPr/>
          <p:nvPr/>
        </p:nvSpPr>
        <p:spPr>
          <a:xfrm>
            <a:off x="7955280" y="1783080"/>
            <a:ext cx="3657600" cy="2194560"/>
          </a:xfrm>
          <a:prstGeom prst="roundRect">
            <a:avLst>
              <a:gd name="adj" fmla="val 5000"/>
            </a:avLst>
          </a:prstGeom>
          <a:solidFill>
            <a:srgbClr val="10233A"/>
          </a:solidFill>
          <a:ln w="12700">
            <a:solidFill>
              <a:srgbClr val="2A405B"/>
            </a:solidFill>
            <a:prstDash val="solid"/>
          </a:ln>
        </p:spPr>
      </p:sp>
      <p:sp>
        <p:nvSpPr>
          <p:cNvPr id="11" name="Text 8"/>
          <p:cNvSpPr txBox="1"/>
          <p:nvPr/>
        </p:nvSpPr>
        <p:spPr>
          <a:xfrm>
            <a:off x="8183880" y="2011680"/>
            <a:ext cx="3200400" cy="346329"/>
          </a:xfrm>
          <a:prstGeom prst="rect">
            <a:avLst/>
          </a:prstGeom>
          <a:noFill/>
          <a:ln/>
        </p:spPr>
        <p:txBody>
          <a:bodyPr wrap="square" lIns="0" tIns="0" rIns="0" bIns="0" rtlCol="0" anchor="t"/>
          <a:lstStyle/>
          <a:p>
            <a:pPr indent="0" marL="0">
              <a:buNone/>
            </a:pPr>
            <a:r>
              <a:rPr lang="en-US" sz="1700" b="1" dirty="0">
                <a:solidFill>
                  <a:srgbClr val="FF8C99"/>
                </a:solidFill>
              </a:rPr>
              <a:t>Skill에는 Use()가 없다</a:t>
            </a:r>
            <a:endParaRPr lang="en-US" sz="1700" dirty="0"/>
          </a:p>
        </p:txBody>
      </p:sp>
      <p:sp>
        <p:nvSpPr>
          <p:cNvPr id="12" name="Text 9"/>
          <p:cNvSpPr txBox="1"/>
          <p:nvPr/>
        </p:nvSpPr>
        <p:spPr>
          <a:xfrm>
            <a:off x="8183880" y="2431161"/>
            <a:ext cx="3200400" cy="140931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컴파일러는 변수 타입(Skill)만 보고 호출할 수 있는지 판단합니다.</a:t>
            </a:r>
            <a:endParaRPr lang="en-US" sz="1400" dirty="0"/>
          </a:p>
        </p:txBody>
      </p:sp>
      <p:sp>
        <p:nvSpPr>
          <p:cNvPr id="13" name="Shape 10"/>
          <p:cNvSpPr/>
          <p:nvPr/>
        </p:nvSpPr>
        <p:spPr>
          <a:xfrm>
            <a:off x="7955280" y="4160520"/>
            <a:ext cx="3657600" cy="1783080"/>
          </a:xfrm>
          <a:prstGeom prst="roundRect">
            <a:avLst>
              <a:gd name="adj" fmla="val 6154"/>
            </a:avLst>
          </a:prstGeom>
          <a:solidFill>
            <a:srgbClr val="10233A"/>
          </a:solidFill>
          <a:ln w="12700">
            <a:solidFill>
              <a:srgbClr val="2A405B"/>
            </a:solidFill>
            <a:prstDash val="solid"/>
          </a:ln>
        </p:spPr>
      </p:sp>
      <p:sp>
        <p:nvSpPr>
          <p:cNvPr id="14" name="Text 11"/>
          <p:cNvSpPr txBox="1"/>
          <p:nvPr/>
        </p:nvSpPr>
        <p:spPr>
          <a:xfrm>
            <a:off x="8183880" y="4389120"/>
            <a:ext cx="3200400" cy="346329"/>
          </a:xfrm>
          <a:prstGeom prst="rect">
            <a:avLst/>
          </a:prstGeom>
          <a:noFill/>
          <a:ln/>
        </p:spPr>
        <p:txBody>
          <a:bodyPr wrap="square" lIns="0" tIns="0" rIns="0" bIns="0" rtlCol="0" anchor="t"/>
          <a:lstStyle/>
          <a:p>
            <a:pPr indent="0" marL="0">
              <a:buNone/>
            </a:pPr>
            <a:r>
              <a:rPr lang="en-US" sz="1700" b="1" dirty="0">
                <a:solidFill>
                  <a:srgbClr val="FFD16F"/>
                </a:solidFill>
              </a:rPr>
              <a:t>필요한 것</a:t>
            </a:r>
            <a:endParaRPr lang="en-US" sz="1700" dirty="0"/>
          </a:p>
        </p:txBody>
      </p:sp>
      <p:sp>
        <p:nvSpPr>
          <p:cNvPr id="15" name="Text 12"/>
          <p:cNvSpPr txBox="1"/>
          <p:nvPr/>
        </p:nvSpPr>
        <p:spPr>
          <a:xfrm>
            <a:off x="8183880" y="4808601"/>
            <a:ext cx="3200400" cy="997839"/>
          </a:xfrm>
          <a:prstGeom prst="rect">
            <a:avLst/>
          </a:prstGeom>
          <a:noFill/>
          <a:ln/>
        </p:spPr>
        <p:txBody>
          <a:bodyPr wrap="square" lIns="0" tIns="0" rIns="0" bIns="0" rtlCol="0" anchor="t"/>
          <a:lstStyle/>
          <a:p>
            <a:pPr indent="0" marL="0">
              <a:lnSpc>
                <a:spcPct val="115000"/>
              </a:lnSpc>
              <a:buNone/>
            </a:pPr>
            <a:r>
              <a:rPr lang="en-US" sz="1500" dirty="0">
                <a:solidFill>
                  <a:srgbClr val="EEF5FF"/>
                </a:solidFill>
              </a:rPr>
              <a:t>Skill에 Use() 선언</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FFD16F"/>
          </a:solidFill>
          <a:ln w="12700">
            <a:solidFill>
              <a:srgbClr val="FFD16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FFD16F"/>
                </a:solidFill>
              </a:rPr>
              <a:t>VIRTUAL AND OVERRIDE</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virtual과 override</a:t>
            </a:r>
            <a:endParaRPr lang="en-US" sz="2800" dirty="0"/>
          </a:p>
        </p:txBody>
      </p:sp>
      <p:sp>
        <p:nvSpPr>
          <p:cNvPr id="6" name="Shape 3"/>
          <p:cNvSpPr/>
          <p:nvPr/>
        </p:nvSpPr>
        <p:spPr>
          <a:xfrm>
            <a:off x="548640" y="1783080"/>
            <a:ext cx="7040880" cy="4526280"/>
          </a:xfrm>
          <a:prstGeom prst="roundRect">
            <a:avLst>
              <a:gd name="adj" fmla="val 1616"/>
            </a:avLst>
          </a:prstGeom>
          <a:solidFill>
            <a:srgbClr val="040A13"/>
          </a:solidFill>
          <a:ln w="12700">
            <a:solidFill>
              <a:srgbClr val="2A405B"/>
            </a:solidFill>
            <a:prstDash val="solid"/>
          </a:ln>
        </p:spPr>
      </p:sp>
      <p:sp>
        <p:nvSpPr>
          <p:cNvPr id="7" name="Shape 4"/>
          <p:cNvSpPr/>
          <p:nvPr/>
        </p:nvSpPr>
        <p:spPr>
          <a:xfrm>
            <a:off x="603504" y="2560320"/>
            <a:ext cx="6931152" cy="297180"/>
          </a:xfrm>
          <a:prstGeom prst="rect">
            <a:avLst/>
          </a:prstGeom>
          <a:solidFill>
            <a:srgbClr val="FFD16F">
              <a:alpha val="20000"/>
            </a:srgbClr>
          </a:solidFill>
          <a:ln w="12700">
            <a:solidFill>
              <a:srgbClr val="FFD16F">
                <a:alpha val="0"/>
              </a:srgbClr>
            </a:solidFill>
            <a:prstDash val="solid"/>
          </a:ln>
        </p:spPr>
      </p:sp>
      <p:sp>
        <p:nvSpPr>
          <p:cNvPr id="8" name="Shape 5"/>
          <p:cNvSpPr/>
          <p:nvPr/>
        </p:nvSpPr>
        <p:spPr>
          <a:xfrm>
            <a:off x="603504" y="4640580"/>
            <a:ext cx="6931152" cy="297180"/>
          </a:xfrm>
          <a:prstGeom prst="rect">
            <a:avLst/>
          </a:prstGeom>
          <a:solidFill>
            <a:srgbClr val="FFD16F">
              <a:alpha val="20000"/>
            </a:srgbClr>
          </a:solidFill>
          <a:ln w="12700">
            <a:solidFill>
              <a:srgbClr val="FFD16F">
                <a:alpha val="0"/>
              </a:srgbClr>
            </a:solidFill>
            <a:prstDash val="solid"/>
          </a:ln>
        </p:spPr>
      </p:sp>
      <p:sp>
        <p:nvSpPr>
          <p:cNvPr id="9" name="Text 6"/>
          <p:cNvSpPr txBox="1"/>
          <p:nvPr/>
        </p:nvSpPr>
        <p:spPr>
          <a:xfrm>
            <a:off x="731520" y="1965960"/>
            <a:ext cx="6675120" cy="416052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class</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virtual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Use(</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user,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target)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sealed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class</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HealSkill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override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Use(</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user,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target)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target.Heal(_healAmount);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10" name="Shape 7"/>
          <p:cNvSpPr/>
          <p:nvPr/>
        </p:nvSpPr>
        <p:spPr>
          <a:xfrm>
            <a:off x="7955280" y="1783080"/>
            <a:ext cx="3657600" cy="1280160"/>
          </a:xfrm>
          <a:prstGeom prst="roundRect">
            <a:avLst>
              <a:gd name="adj" fmla="val 8571"/>
            </a:avLst>
          </a:prstGeom>
          <a:solidFill>
            <a:srgbClr val="10233A"/>
          </a:solidFill>
          <a:ln w="12700">
            <a:solidFill>
              <a:srgbClr val="2A405B"/>
            </a:solidFill>
            <a:prstDash val="solid"/>
          </a:ln>
        </p:spPr>
      </p:sp>
      <p:sp>
        <p:nvSpPr>
          <p:cNvPr id="11" name="Text 8"/>
          <p:cNvSpPr txBox="1"/>
          <p:nvPr/>
        </p:nvSpPr>
        <p:spPr>
          <a:xfrm>
            <a:off x="8183880" y="2011680"/>
            <a:ext cx="3200400" cy="346329"/>
          </a:xfrm>
          <a:prstGeom prst="rect">
            <a:avLst/>
          </a:prstGeom>
          <a:noFill/>
          <a:ln/>
        </p:spPr>
        <p:txBody>
          <a:bodyPr wrap="square" lIns="0" tIns="0" rIns="0" bIns="0" rtlCol="0" anchor="t"/>
          <a:lstStyle/>
          <a:p>
            <a:pPr indent="0" marL="0">
              <a:buNone/>
            </a:pPr>
            <a:r>
              <a:rPr lang="en-US" sz="1700" b="1" dirty="0">
                <a:solidFill>
                  <a:srgbClr val="FFD16F"/>
                </a:solidFill>
                <a:latin typeface="Consolas" pitchFamily="34" charset="0"/>
                <a:ea typeface="Consolas" pitchFamily="34" charset="-122"/>
                <a:cs typeface="Consolas" pitchFamily="34" charset="-120"/>
              </a:rPr>
              <a:t>virtual</a:t>
            </a:r>
            <a:endParaRPr lang="en-US" sz="1700" dirty="0"/>
          </a:p>
        </p:txBody>
      </p:sp>
      <p:sp>
        <p:nvSpPr>
          <p:cNvPr id="12" name="Text 9"/>
          <p:cNvSpPr txBox="1"/>
          <p:nvPr/>
        </p:nvSpPr>
        <p:spPr>
          <a:xfrm>
            <a:off x="8183880" y="2431161"/>
            <a:ext cx="3200400" cy="49491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자식이 다시 정의할 수 있는 메서드</a:t>
            </a:r>
            <a:endParaRPr lang="en-US" sz="1400" dirty="0"/>
          </a:p>
        </p:txBody>
      </p:sp>
      <p:sp>
        <p:nvSpPr>
          <p:cNvPr id="13" name="Shape 10"/>
          <p:cNvSpPr/>
          <p:nvPr/>
        </p:nvSpPr>
        <p:spPr>
          <a:xfrm>
            <a:off x="7955280" y="3246120"/>
            <a:ext cx="3657600" cy="1280160"/>
          </a:xfrm>
          <a:prstGeom prst="roundRect">
            <a:avLst>
              <a:gd name="adj" fmla="val 8571"/>
            </a:avLst>
          </a:prstGeom>
          <a:solidFill>
            <a:srgbClr val="10233A"/>
          </a:solidFill>
          <a:ln w="12700">
            <a:solidFill>
              <a:srgbClr val="2A405B"/>
            </a:solidFill>
            <a:prstDash val="solid"/>
          </a:ln>
        </p:spPr>
      </p:sp>
      <p:sp>
        <p:nvSpPr>
          <p:cNvPr id="14" name="Text 11"/>
          <p:cNvSpPr txBox="1"/>
          <p:nvPr/>
        </p:nvSpPr>
        <p:spPr>
          <a:xfrm>
            <a:off x="8183880" y="3474720"/>
            <a:ext cx="3200400" cy="346329"/>
          </a:xfrm>
          <a:prstGeom prst="rect">
            <a:avLst/>
          </a:prstGeom>
          <a:noFill/>
          <a:ln/>
        </p:spPr>
        <p:txBody>
          <a:bodyPr wrap="square" lIns="0" tIns="0" rIns="0" bIns="0" rtlCol="0" anchor="t"/>
          <a:lstStyle/>
          <a:p>
            <a:pPr indent="0" marL="0">
              <a:buNone/>
            </a:pPr>
            <a:r>
              <a:rPr lang="en-US" sz="1700" b="1" dirty="0">
                <a:solidFill>
                  <a:srgbClr val="FFD16F"/>
                </a:solidFill>
                <a:latin typeface="Consolas" pitchFamily="34" charset="0"/>
                <a:ea typeface="Consolas" pitchFamily="34" charset="-122"/>
                <a:cs typeface="Consolas" pitchFamily="34" charset="-120"/>
              </a:rPr>
              <a:t>override</a:t>
            </a:r>
            <a:endParaRPr lang="en-US" sz="1700" dirty="0"/>
          </a:p>
        </p:txBody>
      </p:sp>
      <p:sp>
        <p:nvSpPr>
          <p:cNvPr id="15" name="Text 12"/>
          <p:cNvSpPr txBox="1"/>
          <p:nvPr/>
        </p:nvSpPr>
        <p:spPr>
          <a:xfrm>
            <a:off x="8183880" y="3894201"/>
            <a:ext cx="3200400" cy="49491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부모의 메서드를 자식에서 다시 정의</a:t>
            </a:r>
            <a:endParaRPr lang="en-US" sz="1400" dirty="0"/>
          </a:p>
        </p:txBody>
      </p:sp>
      <p:sp>
        <p:nvSpPr>
          <p:cNvPr id="16" name="Shape 13"/>
          <p:cNvSpPr/>
          <p:nvPr/>
        </p:nvSpPr>
        <p:spPr>
          <a:xfrm>
            <a:off x="7955280" y="4709160"/>
            <a:ext cx="3657600" cy="1280160"/>
          </a:xfrm>
          <a:prstGeom prst="roundRect">
            <a:avLst>
              <a:gd name="adj" fmla="val 8571"/>
            </a:avLst>
          </a:prstGeom>
          <a:solidFill>
            <a:srgbClr val="10233A"/>
          </a:solidFill>
          <a:ln w="12700">
            <a:solidFill>
              <a:srgbClr val="2A405B"/>
            </a:solidFill>
            <a:prstDash val="solid"/>
          </a:ln>
        </p:spPr>
      </p:sp>
      <p:sp>
        <p:nvSpPr>
          <p:cNvPr id="17" name="Text 14"/>
          <p:cNvSpPr txBox="1"/>
          <p:nvPr/>
        </p:nvSpPr>
        <p:spPr>
          <a:xfrm>
            <a:off x="8183880" y="4937760"/>
            <a:ext cx="3200400" cy="346329"/>
          </a:xfrm>
          <a:prstGeom prst="rect">
            <a:avLst/>
          </a:prstGeom>
          <a:noFill/>
          <a:ln/>
        </p:spPr>
        <p:txBody>
          <a:bodyPr wrap="square" lIns="0" tIns="0" rIns="0" bIns="0" rtlCol="0" anchor="t"/>
          <a:lstStyle/>
          <a:p>
            <a:pPr indent="0" marL="0">
              <a:buNone/>
            </a:pPr>
            <a:r>
              <a:rPr lang="en-US" sz="1700" b="1" dirty="0">
                <a:solidFill>
                  <a:srgbClr val="83E58F"/>
                </a:solidFill>
              </a:rPr>
              <a:t>결과</a:t>
            </a:r>
            <a:endParaRPr lang="en-US" sz="1700" dirty="0"/>
          </a:p>
        </p:txBody>
      </p:sp>
      <p:sp>
        <p:nvSpPr>
          <p:cNvPr id="18" name="Text 15"/>
          <p:cNvSpPr txBox="1"/>
          <p:nvPr/>
        </p:nvSpPr>
        <p:spPr>
          <a:xfrm>
            <a:off x="8183880" y="5357241"/>
            <a:ext cx="3200400" cy="49491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skill.Use(...)가 컴파일됩니다.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FFD16F"/>
          </a:solidFill>
          <a:ln w="12700">
            <a:solidFill>
              <a:srgbClr val="FFD16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FFD16F"/>
                </a:solidFill>
              </a:rPr>
              <a:t>POLYMORPHISM</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다형성</a:t>
            </a:r>
            <a:endParaRPr lang="en-US" sz="2800" dirty="0"/>
          </a:p>
        </p:txBody>
      </p:sp>
      <p:sp>
        <p:nvSpPr>
          <p:cNvPr id="6" name="Shape 3"/>
          <p:cNvSpPr/>
          <p:nvPr/>
        </p:nvSpPr>
        <p:spPr>
          <a:xfrm>
            <a:off x="3566160" y="1783080"/>
            <a:ext cx="5074920" cy="685800"/>
          </a:xfrm>
          <a:prstGeom prst="roundRect">
            <a:avLst>
              <a:gd name="adj" fmla="val 13333"/>
            </a:avLst>
          </a:prstGeom>
          <a:solidFill>
            <a:srgbClr val="040A13"/>
          </a:solidFill>
          <a:ln w="12700">
            <a:solidFill>
              <a:srgbClr val="FFD16F"/>
            </a:solidFill>
            <a:prstDash val="solid"/>
          </a:ln>
        </p:spPr>
      </p:sp>
      <p:sp>
        <p:nvSpPr>
          <p:cNvPr id="7" name="Text 4"/>
          <p:cNvSpPr txBox="1"/>
          <p:nvPr/>
        </p:nvSpPr>
        <p:spPr>
          <a:xfrm>
            <a:off x="3566160" y="1783080"/>
            <a:ext cx="5074920" cy="685800"/>
          </a:xfrm>
          <a:prstGeom prst="rect">
            <a:avLst/>
          </a:prstGeom>
          <a:noFill/>
          <a:ln/>
        </p:spPr>
        <p:txBody>
          <a:bodyPr wrap="square" lIns="0" tIns="0" rIns="0" bIns="0" rtlCol="0" anchor="ctr"/>
          <a:lstStyle/>
          <a:p>
            <a:pPr algn="ctr" indent="0" marL="0">
              <a:buNone/>
            </a:pPr>
            <a:r>
              <a:rPr lang="en-US" sz="2000" b="1" dirty="0">
                <a:solidFill>
                  <a:srgbClr val="FFD16F"/>
                </a:solidFill>
                <a:latin typeface="Consolas" pitchFamily="34" charset="0"/>
                <a:ea typeface="Consolas" pitchFamily="34" charset="-122"/>
                <a:cs typeface="Consolas" pitchFamily="34" charset="-120"/>
              </a:rPr>
              <a:t>skill.Use(swordsman, archer)</a:t>
            </a:r>
            <a:endParaRPr lang="en-US" sz="2000" dirty="0"/>
          </a:p>
        </p:txBody>
      </p:sp>
      <p:sp>
        <p:nvSpPr>
          <p:cNvPr id="8" name="Shape 5"/>
          <p:cNvSpPr/>
          <p:nvPr/>
        </p:nvSpPr>
        <p:spPr>
          <a:xfrm>
            <a:off x="1097280" y="3063240"/>
            <a:ext cx="4389120" cy="1325880"/>
          </a:xfrm>
          <a:prstGeom prst="roundRect">
            <a:avLst>
              <a:gd name="adj" fmla="val 8276"/>
            </a:avLst>
          </a:prstGeom>
          <a:solidFill>
            <a:srgbClr val="10233A"/>
          </a:solidFill>
          <a:ln w="12700">
            <a:solidFill>
              <a:srgbClr val="2A405B"/>
            </a:solidFill>
            <a:prstDash val="solid"/>
          </a:ln>
        </p:spPr>
      </p:sp>
      <p:sp>
        <p:nvSpPr>
          <p:cNvPr id="9" name="Text 6"/>
          <p:cNvSpPr txBox="1"/>
          <p:nvPr/>
        </p:nvSpPr>
        <p:spPr>
          <a:xfrm>
            <a:off x="1097280" y="3200400"/>
            <a:ext cx="4389120" cy="411480"/>
          </a:xfrm>
          <a:prstGeom prst="rect">
            <a:avLst/>
          </a:prstGeom>
          <a:noFill/>
          <a:ln/>
        </p:spPr>
        <p:txBody>
          <a:bodyPr wrap="square" lIns="0" tIns="0" rIns="0" bIns="0" rtlCol="0" anchor="t"/>
          <a:lstStyle/>
          <a:p>
            <a:pPr algn="ctr" indent="0" marL="0">
              <a:buNone/>
            </a:pPr>
            <a:r>
              <a:rPr lang="en-US" sz="1700" b="1" dirty="0">
                <a:solidFill>
                  <a:srgbClr val="55E4CF"/>
                </a:solidFill>
                <a:latin typeface="Consolas" pitchFamily="34" charset="0"/>
                <a:ea typeface="Consolas" pitchFamily="34" charset="-122"/>
                <a:cs typeface="Consolas" pitchFamily="34" charset="-120"/>
              </a:rPr>
              <a:t>PowerStrikeSkill.Use()</a:t>
            </a:r>
            <a:endParaRPr lang="en-US" sz="1700" dirty="0"/>
          </a:p>
        </p:txBody>
      </p:sp>
      <p:sp>
        <p:nvSpPr>
          <p:cNvPr id="10" name="Text 7"/>
          <p:cNvSpPr txBox="1"/>
          <p:nvPr/>
        </p:nvSpPr>
        <p:spPr>
          <a:xfrm>
            <a:off x="1097280" y="3703320"/>
            <a:ext cx="4389120" cy="411480"/>
          </a:xfrm>
          <a:prstGeom prst="rect">
            <a:avLst/>
          </a:prstGeom>
          <a:noFill/>
          <a:ln/>
        </p:spPr>
        <p:txBody>
          <a:bodyPr wrap="square" lIns="0" tIns="0" rIns="0" bIns="0" rtlCol="0" anchor="t"/>
          <a:lstStyle/>
          <a:p>
            <a:pPr algn="ctr" indent="0" marL="0">
              <a:buNone/>
            </a:pPr>
            <a:r>
              <a:rPr lang="en-US" sz="1600" dirty="0">
                <a:solidFill>
                  <a:srgbClr val="AFBED1"/>
                </a:solidFill>
              </a:rPr>
              <a:t>피해 6 + 4 = 10</a:t>
            </a:r>
            <a:endParaRPr lang="en-US" sz="1600" dirty="0"/>
          </a:p>
        </p:txBody>
      </p:sp>
      <p:sp>
        <p:nvSpPr>
          <p:cNvPr id="11" name="Shape 8"/>
          <p:cNvSpPr/>
          <p:nvPr/>
        </p:nvSpPr>
        <p:spPr>
          <a:xfrm flipH="1">
            <a:off x="3291840" y="2514600"/>
            <a:ext cx="2811780" cy="502920"/>
          </a:xfrm>
          <a:prstGeom prst="line">
            <a:avLst/>
          </a:prstGeom>
          <a:noFill/>
          <a:ln w="25400">
            <a:solidFill>
              <a:srgbClr val="FFD16F"/>
            </a:solidFill>
            <a:prstDash val="solid"/>
            <a:tailEnd type="triangle"/>
          </a:ln>
        </p:spPr>
      </p:sp>
      <p:sp>
        <p:nvSpPr>
          <p:cNvPr id="12" name="Shape 9"/>
          <p:cNvSpPr/>
          <p:nvPr/>
        </p:nvSpPr>
        <p:spPr>
          <a:xfrm>
            <a:off x="6720840" y="3063240"/>
            <a:ext cx="4389120" cy="1325880"/>
          </a:xfrm>
          <a:prstGeom prst="roundRect">
            <a:avLst>
              <a:gd name="adj" fmla="val 8276"/>
            </a:avLst>
          </a:prstGeom>
          <a:solidFill>
            <a:srgbClr val="10233A"/>
          </a:solidFill>
          <a:ln w="12700">
            <a:solidFill>
              <a:srgbClr val="2A405B"/>
            </a:solidFill>
            <a:prstDash val="solid"/>
          </a:ln>
        </p:spPr>
      </p:sp>
      <p:sp>
        <p:nvSpPr>
          <p:cNvPr id="13" name="Text 10"/>
          <p:cNvSpPr txBox="1"/>
          <p:nvPr/>
        </p:nvSpPr>
        <p:spPr>
          <a:xfrm>
            <a:off x="6720840" y="3200400"/>
            <a:ext cx="4389120" cy="411480"/>
          </a:xfrm>
          <a:prstGeom prst="rect">
            <a:avLst/>
          </a:prstGeom>
          <a:noFill/>
          <a:ln/>
        </p:spPr>
        <p:txBody>
          <a:bodyPr wrap="square" lIns="0" tIns="0" rIns="0" bIns="0" rtlCol="0" anchor="t"/>
          <a:lstStyle/>
          <a:p>
            <a:pPr algn="ctr" indent="0" marL="0">
              <a:buNone/>
            </a:pPr>
            <a:r>
              <a:rPr lang="en-US" sz="1700" b="1" dirty="0">
                <a:solidFill>
                  <a:srgbClr val="55E4CF"/>
                </a:solidFill>
                <a:latin typeface="Consolas" pitchFamily="34" charset="0"/>
                <a:ea typeface="Consolas" pitchFamily="34" charset="-122"/>
                <a:cs typeface="Consolas" pitchFamily="34" charset="-120"/>
              </a:rPr>
              <a:t>HealSkill.Use()</a:t>
            </a:r>
            <a:endParaRPr lang="en-US" sz="1700" dirty="0"/>
          </a:p>
        </p:txBody>
      </p:sp>
      <p:sp>
        <p:nvSpPr>
          <p:cNvPr id="14" name="Text 11"/>
          <p:cNvSpPr txBox="1"/>
          <p:nvPr/>
        </p:nvSpPr>
        <p:spPr>
          <a:xfrm>
            <a:off x="6720840" y="3703320"/>
            <a:ext cx="4389120" cy="411480"/>
          </a:xfrm>
          <a:prstGeom prst="rect">
            <a:avLst/>
          </a:prstGeom>
          <a:noFill/>
          <a:ln/>
        </p:spPr>
        <p:txBody>
          <a:bodyPr wrap="square" lIns="0" tIns="0" rIns="0" bIns="0" rtlCol="0" anchor="t"/>
          <a:lstStyle/>
          <a:p>
            <a:pPr algn="ctr" indent="0" marL="0">
              <a:buNone/>
            </a:pPr>
            <a:r>
              <a:rPr lang="en-US" sz="1600" dirty="0">
                <a:solidFill>
                  <a:srgbClr val="AFBED1"/>
                </a:solidFill>
              </a:rPr>
              <a:t>회복 5</a:t>
            </a:r>
            <a:endParaRPr lang="en-US" sz="1600" dirty="0"/>
          </a:p>
        </p:txBody>
      </p:sp>
      <p:sp>
        <p:nvSpPr>
          <p:cNvPr id="15" name="Shape 12"/>
          <p:cNvSpPr/>
          <p:nvPr/>
        </p:nvSpPr>
        <p:spPr>
          <a:xfrm>
            <a:off x="6103620" y="2514600"/>
            <a:ext cx="2811780" cy="502920"/>
          </a:xfrm>
          <a:prstGeom prst="line">
            <a:avLst/>
          </a:prstGeom>
          <a:noFill/>
          <a:ln w="25400">
            <a:solidFill>
              <a:srgbClr val="FFD16F"/>
            </a:solidFill>
            <a:prstDash val="solid"/>
            <a:tailEnd type="triangle"/>
          </a:ln>
        </p:spPr>
      </p:sp>
      <p:sp>
        <p:nvSpPr>
          <p:cNvPr id="16" name="Shape 13"/>
          <p:cNvSpPr/>
          <p:nvPr/>
        </p:nvSpPr>
        <p:spPr>
          <a:xfrm>
            <a:off x="1097280" y="4754880"/>
            <a:ext cx="10012680" cy="1076960"/>
          </a:xfrm>
          <a:prstGeom prst="roundRect">
            <a:avLst>
              <a:gd name="adj" fmla="val 6792"/>
            </a:avLst>
          </a:prstGeom>
          <a:solidFill>
            <a:srgbClr val="040A13"/>
          </a:solidFill>
          <a:ln w="12700">
            <a:solidFill>
              <a:srgbClr val="2A405B"/>
            </a:solidFill>
            <a:prstDash val="solid"/>
          </a:ln>
        </p:spPr>
      </p:sp>
      <p:sp>
        <p:nvSpPr>
          <p:cNvPr id="17" name="Text 14"/>
          <p:cNvSpPr txBox="1"/>
          <p:nvPr/>
        </p:nvSpPr>
        <p:spPr>
          <a:xfrm>
            <a:off x="1280160" y="4882896"/>
            <a:ext cx="9646920" cy="274320"/>
          </a:xfrm>
          <a:prstGeom prst="rect">
            <a:avLst/>
          </a:prstGeom>
          <a:noFill/>
          <a:ln/>
        </p:spPr>
        <p:txBody>
          <a:bodyPr wrap="square" lIns="0" tIns="0" rIns="0" bIns="0" rtlCol="0" anchor="t"/>
          <a:lstStyle/>
          <a:p>
            <a:pPr indent="0" marL="0">
              <a:buNone/>
            </a:pPr>
            <a:r>
              <a:rPr lang="en-US" sz="1200" b="1" dirty="0">
                <a:solidFill>
                  <a:srgbClr val="AFBED1"/>
                </a:solidFill>
              </a:rPr>
              <a:t>실행 결과</a:t>
            </a:r>
            <a:endParaRPr lang="en-US" sz="1200" dirty="0"/>
          </a:p>
        </p:txBody>
      </p:sp>
      <p:sp>
        <p:nvSpPr>
          <p:cNvPr id="18" name="Text 15"/>
          <p:cNvSpPr txBox="1"/>
          <p:nvPr/>
        </p:nvSpPr>
        <p:spPr>
          <a:xfrm>
            <a:off x="1280160" y="5166360"/>
            <a:ext cx="9646920" cy="528320"/>
          </a:xfrm>
          <a:prstGeom prst="rect">
            <a:avLst/>
          </a:prstGeom>
          <a:noFill/>
          <a:ln/>
        </p:spPr>
        <p:txBody>
          <a:bodyPr wrap="square" lIns="0" tIns="0" rIns="0" bIns="0" rtlCol="0" anchor="t"/>
          <a:lstStyle/>
          <a:p>
            <a:pPr indent="0" marL="0">
              <a:lnSpc>
                <a:spcPts val="2080"/>
              </a:lnSpc>
              <a:buNone/>
            </a:pPr>
            <a:r>
              <a:rPr lang="en-US" sz="1600" dirty="0">
                <a:solidFill>
                  <a:srgbClr val="83E58F"/>
                </a:solidFill>
                <a:latin typeface="Consolas" pitchFamily="34" charset="0"/>
                <a:ea typeface="Consolas" pitchFamily="34" charset="-122"/>
                <a:cs typeface="Consolas" pitchFamily="34" charset="-120"/>
              </a:rPr>
              <a:t>강타 → 궁수 HP 10</a:t>
            </a:r>
            <a:endParaRPr lang="en-US" sz="1600" dirty="0"/>
          </a:p>
          <a:p>
            <a:pPr indent="0" marL="0">
              <a:lnSpc>
                <a:spcPts val="2080"/>
              </a:lnSpc>
              <a:buNone/>
            </a:pPr>
            <a:r>
              <a:rPr lang="en-US" sz="1600" dirty="0">
                <a:solidFill>
                  <a:srgbClr val="83E58F"/>
                </a:solidFill>
                <a:latin typeface="Consolas" pitchFamily="34" charset="0"/>
                <a:ea typeface="Consolas" pitchFamily="34" charset="-122"/>
                <a:cs typeface="Consolas" pitchFamily="34" charset="-120"/>
              </a:rPr>
              <a:t>치유 → 궁수 HP 15</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FFD16F"/>
          </a:solidFill>
          <a:ln w="12700">
            <a:solidFill>
              <a:srgbClr val="FFD16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FFD16F"/>
                </a:solidFill>
              </a:rPr>
              <a:t>EXTENSION</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새 스킬 추가 비교</a:t>
            </a:r>
            <a:endParaRPr lang="en-US" sz="2800" dirty="0"/>
          </a:p>
        </p:txBody>
      </p:sp>
      <p:sp>
        <p:nvSpPr>
          <p:cNvPr id="6" name="Shape 3"/>
          <p:cNvSpPr/>
          <p:nvPr/>
        </p:nvSpPr>
        <p:spPr>
          <a:xfrm>
            <a:off x="548640" y="1783080"/>
            <a:ext cx="5440680" cy="4343400"/>
          </a:xfrm>
          <a:prstGeom prst="roundRect">
            <a:avLst>
              <a:gd name="adj" fmla="val 2526"/>
            </a:avLst>
          </a:prstGeom>
          <a:solidFill>
            <a:srgbClr val="10233A"/>
          </a:solidFill>
          <a:ln w="12700">
            <a:solidFill>
              <a:srgbClr val="2A405B"/>
            </a:solidFill>
            <a:prstDash val="solid"/>
          </a:ln>
        </p:spPr>
      </p:sp>
      <p:sp>
        <p:nvSpPr>
          <p:cNvPr id="7" name="Text 4"/>
          <p:cNvSpPr txBox="1"/>
          <p:nvPr/>
        </p:nvSpPr>
        <p:spPr>
          <a:xfrm>
            <a:off x="822960" y="1965960"/>
            <a:ext cx="4937760" cy="411480"/>
          </a:xfrm>
          <a:prstGeom prst="rect">
            <a:avLst/>
          </a:prstGeom>
          <a:noFill/>
          <a:ln/>
        </p:spPr>
        <p:txBody>
          <a:bodyPr wrap="square" lIns="0" tIns="0" rIns="0" bIns="0" rtlCol="0" anchor="t"/>
          <a:lstStyle/>
          <a:p>
            <a:pPr indent="0" marL="0">
              <a:buNone/>
            </a:pPr>
            <a:r>
              <a:rPr lang="en-US" sz="1900" b="1" dirty="0">
                <a:solidFill>
                  <a:srgbClr val="FF8C99"/>
                </a:solidFill>
              </a:rPr>
              <a:t>switch 방식</a:t>
            </a:r>
            <a:endParaRPr lang="en-US" sz="1900" dirty="0"/>
          </a:p>
        </p:txBody>
      </p:sp>
      <p:sp>
        <p:nvSpPr>
          <p:cNvPr id="8" name="Shape 5"/>
          <p:cNvSpPr/>
          <p:nvPr/>
        </p:nvSpPr>
        <p:spPr>
          <a:xfrm>
            <a:off x="822960" y="2560320"/>
            <a:ext cx="4892040" cy="530352"/>
          </a:xfrm>
          <a:prstGeom prst="roundRect">
            <a:avLst>
              <a:gd name="adj" fmla="val 13793"/>
            </a:avLst>
          </a:prstGeom>
          <a:solidFill>
            <a:srgbClr val="142B45"/>
          </a:solidFill>
          <a:ln w="12700">
            <a:solidFill>
              <a:srgbClr val="142B45"/>
            </a:solidFill>
            <a:prstDash val="solid"/>
          </a:ln>
        </p:spPr>
      </p:sp>
      <p:sp>
        <p:nvSpPr>
          <p:cNvPr id="9" name="Text 6"/>
          <p:cNvSpPr txBox="1"/>
          <p:nvPr/>
        </p:nvSpPr>
        <p:spPr>
          <a:xfrm>
            <a:off x="1005840" y="2560320"/>
            <a:ext cx="3566160" cy="530352"/>
          </a:xfrm>
          <a:prstGeom prst="rect">
            <a:avLst/>
          </a:prstGeom>
          <a:noFill/>
          <a:ln/>
        </p:spPr>
        <p:txBody>
          <a:bodyPr wrap="square" lIns="0" tIns="0" rIns="0" bIns="0" rtlCol="0" anchor="ctr"/>
          <a:lstStyle/>
          <a:p>
            <a:pPr indent="0" marL="0">
              <a:buNone/>
            </a:pPr>
            <a:r>
              <a:rPr lang="en-US" sz="1400" dirty="0">
                <a:solidFill>
                  <a:srgbClr val="EEF5FF"/>
                </a:solidFill>
                <a:latin typeface="Consolas" pitchFamily="34" charset="0"/>
                <a:ea typeface="Consolas" pitchFamily="34" charset="-122"/>
                <a:cs typeface="Consolas" pitchFamily="34" charset="-120"/>
              </a:rPr>
              <a:t>FireballSkill.cs</a:t>
            </a:r>
            <a:endParaRPr lang="en-US" sz="1400" dirty="0"/>
          </a:p>
        </p:txBody>
      </p:sp>
      <p:sp>
        <p:nvSpPr>
          <p:cNvPr id="10" name="Text 7"/>
          <p:cNvSpPr txBox="1"/>
          <p:nvPr/>
        </p:nvSpPr>
        <p:spPr>
          <a:xfrm>
            <a:off x="4389120" y="2560320"/>
            <a:ext cx="1188720" cy="530352"/>
          </a:xfrm>
          <a:prstGeom prst="rect">
            <a:avLst/>
          </a:prstGeom>
          <a:noFill/>
          <a:ln/>
        </p:spPr>
        <p:txBody>
          <a:bodyPr wrap="square" lIns="0" tIns="0" rIns="0" bIns="0" rtlCol="0" anchor="ctr"/>
          <a:lstStyle/>
          <a:p>
            <a:pPr algn="r" indent="0" marL="0">
              <a:buNone/>
            </a:pPr>
            <a:r>
              <a:rPr lang="en-US" sz="1300" dirty="0">
                <a:solidFill>
                  <a:srgbClr val="AFBED1"/>
                </a:solidFill>
              </a:rPr>
              <a:t>새 파일</a:t>
            </a:r>
            <a:endParaRPr lang="en-US" sz="1300" dirty="0"/>
          </a:p>
        </p:txBody>
      </p:sp>
      <p:sp>
        <p:nvSpPr>
          <p:cNvPr id="11" name="Shape 8"/>
          <p:cNvSpPr/>
          <p:nvPr/>
        </p:nvSpPr>
        <p:spPr>
          <a:xfrm>
            <a:off x="822960" y="3218688"/>
            <a:ext cx="4892040" cy="530352"/>
          </a:xfrm>
          <a:prstGeom prst="roundRect">
            <a:avLst>
              <a:gd name="adj" fmla="val 13793"/>
            </a:avLst>
          </a:prstGeom>
          <a:solidFill>
            <a:srgbClr val="142B45"/>
          </a:solidFill>
          <a:ln w="12700">
            <a:solidFill>
              <a:srgbClr val="142B45"/>
            </a:solidFill>
            <a:prstDash val="solid"/>
          </a:ln>
        </p:spPr>
      </p:sp>
      <p:sp>
        <p:nvSpPr>
          <p:cNvPr id="12" name="Text 9"/>
          <p:cNvSpPr txBox="1"/>
          <p:nvPr/>
        </p:nvSpPr>
        <p:spPr>
          <a:xfrm>
            <a:off x="1005840" y="3218688"/>
            <a:ext cx="3566160" cy="530352"/>
          </a:xfrm>
          <a:prstGeom prst="rect">
            <a:avLst/>
          </a:prstGeom>
          <a:noFill/>
          <a:ln/>
        </p:spPr>
        <p:txBody>
          <a:bodyPr wrap="square" lIns="0" tIns="0" rIns="0" bIns="0" rtlCol="0" anchor="ctr"/>
          <a:lstStyle/>
          <a:p>
            <a:pPr indent="0" marL="0">
              <a:buNone/>
            </a:pPr>
            <a:r>
              <a:rPr lang="en-US" sz="1400" dirty="0">
                <a:solidFill>
                  <a:srgbClr val="EEF5FF"/>
                </a:solidFill>
                <a:latin typeface="Consolas" pitchFamily="34" charset="0"/>
                <a:ea typeface="Consolas" pitchFamily="34" charset="-122"/>
                <a:cs typeface="Consolas" pitchFamily="34" charset="-120"/>
              </a:rPr>
              <a:t>BattleController.cs</a:t>
            </a:r>
            <a:endParaRPr lang="en-US" sz="1400" dirty="0"/>
          </a:p>
        </p:txBody>
      </p:sp>
      <p:sp>
        <p:nvSpPr>
          <p:cNvPr id="13" name="Text 10"/>
          <p:cNvSpPr txBox="1"/>
          <p:nvPr/>
        </p:nvSpPr>
        <p:spPr>
          <a:xfrm>
            <a:off x="4389120" y="3218688"/>
            <a:ext cx="1188720" cy="530352"/>
          </a:xfrm>
          <a:prstGeom prst="rect">
            <a:avLst/>
          </a:prstGeom>
          <a:noFill/>
          <a:ln/>
        </p:spPr>
        <p:txBody>
          <a:bodyPr wrap="square" lIns="0" tIns="0" rIns="0" bIns="0" rtlCol="0" anchor="ctr"/>
          <a:lstStyle/>
          <a:p>
            <a:pPr algn="r" indent="0" marL="0">
              <a:buNone/>
            </a:pPr>
            <a:r>
              <a:rPr lang="en-US" sz="1300" dirty="0">
                <a:solidFill>
                  <a:srgbClr val="AFBED1"/>
                </a:solidFill>
              </a:rPr>
              <a:t>case 추가</a:t>
            </a:r>
            <a:endParaRPr lang="en-US" sz="1300" dirty="0"/>
          </a:p>
        </p:txBody>
      </p:sp>
      <p:sp>
        <p:nvSpPr>
          <p:cNvPr id="14" name="Shape 11"/>
          <p:cNvSpPr/>
          <p:nvPr/>
        </p:nvSpPr>
        <p:spPr>
          <a:xfrm>
            <a:off x="822960" y="3877056"/>
            <a:ext cx="4892040" cy="530352"/>
          </a:xfrm>
          <a:prstGeom prst="roundRect">
            <a:avLst>
              <a:gd name="adj" fmla="val 13793"/>
            </a:avLst>
          </a:prstGeom>
          <a:solidFill>
            <a:srgbClr val="142B45"/>
          </a:solidFill>
          <a:ln w="12700">
            <a:solidFill>
              <a:srgbClr val="142B45"/>
            </a:solidFill>
            <a:prstDash val="solid"/>
          </a:ln>
        </p:spPr>
      </p:sp>
      <p:sp>
        <p:nvSpPr>
          <p:cNvPr id="15" name="Text 12"/>
          <p:cNvSpPr txBox="1"/>
          <p:nvPr/>
        </p:nvSpPr>
        <p:spPr>
          <a:xfrm>
            <a:off x="1005840" y="3877056"/>
            <a:ext cx="3566160" cy="530352"/>
          </a:xfrm>
          <a:prstGeom prst="rect">
            <a:avLst/>
          </a:prstGeom>
          <a:noFill/>
          <a:ln/>
        </p:spPr>
        <p:txBody>
          <a:bodyPr wrap="square" lIns="0" tIns="0" rIns="0" bIns="0" rtlCol="0" anchor="ctr"/>
          <a:lstStyle/>
          <a:p>
            <a:pPr indent="0" marL="0">
              <a:buNone/>
            </a:pPr>
            <a:r>
              <a:rPr lang="en-US" sz="1400" dirty="0">
                <a:solidFill>
                  <a:srgbClr val="EEF5FF"/>
                </a:solidFill>
                <a:latin typeface="Consolas" pitchFamily="34" charset="0"/>
                <a:ea typeface="Consolas" pitchFamily="34" charset="-122"/>
                <a:cs typeface="Consolas" pitchFamily="34" charset="-120"/>
              </a:rPr>
              <a:t>EnemyAI.cs</a:t>
            </a:r>
            <a:endParaRPr lang="en-US" sz="1400" dirty="0"/>
          </a:p>
        </p:txBody>
      </p:sp>
      <p:sp>
        <p:nvSpPr>
          <p:cNvPr id="16" name="Text 13"/>
          <p:cNvSpPr txBox="1"/>
          <p:nvPr/>
        </p:nvSpPr>
        <p:spPr>
          <a:xfrm>
            <a:off x="4389120" y="3877056"/>
            <a:ext cx="1188720" cy="530352"/>
          </a:xfrm>
          <a:prstGeom prst="rect">
            <a:avLst/>
          </a:prstGeom>
          <a:noFill/>
          <a:ln/>
        </p:spPr>
        <p:txBody>
          <a:bodyPr wrap="square" lIns="0" tIns="0" rIns="0" bIns="0" rtlCol="0" anchor="ctr"/>
          <a:lstStyle/>
          <a:p>
            <a:pPr algn="r" indent="0" marL="0">
              <a:buNone/>
            </a:pPr>
            <a:r>
              <a:rPr lang="en-US" sz="1300" dirty="0">
                <a:solidFill>
                  <a:srgbClr val="AFBED1"/>
                </a:solidFill>
              </a:rPr>
              <a:t>case 추가</a:t>
            </a:r>
            <a:endParaRPr lang="en-US" sz="1300" dirty="0"/>
          </a:p>
        </p:txBody>
      </p:sp>
      <p:sp>
        <p:nvSpPr>
          <p:cNvPr id="17" name="Shape 14"/>
          <p:cNvSpPr/>
          <p:nvPr/>
        </p:nvSpPr>
        <p:spPr>
          <a:xfrm>
            <a:off x="822960" y="4535424"/>
            <a:ext cx="4892040" cy="530352"/>
          </a:xfrm>
          <a:prstGeom prst="roundRect">
            <a:avLst>
              <a:gd name="adj" fmla="val 13793"/>
            </a:avLst>
          </a:prstGeom>
          <a:solidFill>
            <a:srgbClr val="142B45"/>
          </a:solidFill>
          <a:ln w="12700">
            <a:solidFill>
              <a:srgbClr val="142B45"/>
            </a:solidFill>
            <a:prstDash val="solid"/>
          </a:ln>
        </p:spPr>
      </p:sp>
      <p:sp>
        <p:nvSpPr>
          <p:cNvPr id="18" name="Text 15"/>
          <p:cNvSpPr txBox="1"/>
          <p:nvPr/>
        </p:nvSpPr>
        <p:spPr>
          <a:xfrm>
            <a:off x="1005840" y="4535424"/>
            <a:ext cx="3566160" cy="530352"/>
          </a:xfrm>
          <a:prstGeom prst="rect">
            <a:avLst/>
          </a:prstGeom>
          <a:noFill/>
          <a:ln/>
        </p:spPr>
        <p:txBody>
          <a:bodyPr wrap="square" lIns="0" tIns="0" rIns="0" bIns="0" rtlCol="0" anchor="ctr"/>
          <a:lstStyle/>
          <a:p>
            <a:pPr indent="0" marL="0">
              <a:buNone/>
            </a:pPr>
            <a:r>
              <a:rPr lang="en-US" sz="1400" dirty="0">
                <a:solidFill>
                  <a:srgbClr val="EEF5FF"/>
                </a:solidFill>
                <a:latin typeface="Consolas" pitchFamily="34" charset="0"/>
                <a:ea typeface="Consolas" pitchFamily="34" charset="-122"/>
                <a:cs typeface="Consolas" pitchFamily="34" charset="-120"/>
              </a:rPr>
              <a:t>ActionMenu.cs</a:t>
            </a:r>
            <a:endParaRPr lang="en-US" sz="1400" dirty="0"/>
          </a:p>
        </p:txBody>
      </p:sp>
      <p:sp>
        <p:nvSpPr>
          <p:cNvPr id="19" name="Text 16"/>
          <p:cNvSpPr txBox="1"/>
          <p:nvPr/>
        </p:nvSpPr>
        <p:spPr>
          <a:xfrm>
            <a:off x="4389120" y="4535424"/>
            <a:ext cx="1188720" cy="530352"/>
          </a:xfrm>
          <a:prstGeom prst="rect">
            <a:avLst/>
          </a:prstGeom>
          <a:noFill/>
          <a:ln/>
        </p:spPr>
        <p:txBody>
          <a:bodyPr wrap="square" lIns="0" tIns="0" rIns="0" bIns="0" rtlCol="0" anchor="ctr"/>
          <a:lstStyle/>
          <a:p>
            <a:pPr algn="r" indent="0" marL="0">
              <a:buNone/>
            </a:pPr>
            <a:r>
              <a:rPr lang="en-US" sz="1300" dirty="0">
                <a:solidFill>
                  <a:srgbClr val="AFBED1"/>
                </a:solidFill>
              </a:rPr>
              <a:t>case 추가</a:t>
            </a:r>
            <a:endParaRPr lang="en-US" sz="1300" dirty="0"/>
          </a:p>
        </p:txBody>
      </p:sp>
      <p:sp>
        <p:nvSpPr>
          <p:cNvPr id="20" name="Text 17"/>
          <p:cNvSpPr txBox="1"/>
          <p:nvPr/>
        </p:nvSpPr>
        <p:spPr>
          <a:xfrm>
            <a:off x="822960" y="5349240"/>
            <a:ext cx="4937760" cy="502920"/>
          </a:xfrm>
          <a:prstGeom prst="rect">
            <a:avLst/>
          </a:prstGeom>
          <a:noFill/>
          <a:ln/>
        </p:spPr>
        <p:txBody>
          <a:bodyPr wrap="square" lIns="0" tIns="0" rIns="0" bIns="0" rtlCol="0" anchor="t"/>
          <a:lstStyle/>
          <a:p>
            <a:pPr indent="0" marL="0">
              <a:buNone/>
            </a:pPr>
            <a:r>
              <a:rPr lang="en-US" sz="2000" b="1" dirty="0">
                <a:solidFill>
                  <a:srgbClr val="FF8C99"/>
                </a:solidFill>
              </a:rPr>
              <a:t>기존 파일 3개 수정</a:t>
            </a:r>
            <a:endParaRPr lang="en-US" sz="2000" dirty="0"/>
          </a:p>
        </p:txBody>
      </p:sp>
      <p:sp>
        <p:nvSpPr>
          <p:cNvPr id="21" name="Shape 18"/>
          <p:cNvSpPr/>
          <p:nvPr/>
        </p:nvSpPr>
        <p:spPr>
          <a:xfrm>
            <a:off x="6217920" y="1783080"/>
            <a:ext cx="5440680" cy="4343400"/>
          </a:xfrm>
          <a:prstGeom prst="roundRect">
            <a:avLst>
              <a:gd name="adj" fmla="val 2526"/>
            </a:avLst>
          </a:prstGeom>
          <a:solidFill>
            <a:srgbClr val="10233A"/>
          </a:solidFill>
          <a:ln w="12700">
            <a:solidFill>
              <a:srgbClr val="2A405B"/>
            </a:solidFill>
            <a:prstDash val="solid"/>
          </a:ln>
        </p:spPr>
      </p:sp>
      <p:sp>
        <p:nvSpPr>
          <p:cNvPr id="22" name="Text 19"/>
          <p:cNvSpPr txBox="1"/>
          <p:nvPr/>
        </p:nvSpPr>
        <p:spPr>
          <a:xfrm>
            <a:off x="6492240" y="1965960"/>
            <a:ext cx="4937760" cy="411480"/>
          </a:xfrm>
          <a:prstGeom prst="rect">
            <a:avLst/>
          </a:prstGeom>
          <a:noFill/>
          <a:ln/>
        </p:spPr>
        <p:txBody>
          <a:bodyPr wrap="square" lIns="0" tIns="0" rIns="0" bIns="0" rtlCol="0" anchor="t"/>
          <a:lstStyle/>
          <a:p>
            <a:pPr indent="0" marL="0">
              <a:buNone/>
            </a:pPr>
            <a:r>
              <a:rPr lang="en-US" sz="1900" b="1" dirty="0">
                <a:solidFill>
                  <a:srgbClr val="83E58F"/>
                </a:solidFill>
              </a:rPr>
              <a:t>다형성 방식</a:t>
            </a:r>
            <a:endParaRPr lang="en-US" sz="1900" dirty="0"/>
          </a:p>
        </p:txBody>
      </p:sp>
      <p:sp>
        <p:nvSpPr>
          <p:cNvPr id="23" name="Shape 20"/>
          <p:cNvSpPr/>
          <p:nvPr/>
        </p:nvSpPr>
        <p:spPr>
          <a:xfrm>
            <a:off x="6492240" y="2560320"/>
            <a:ext cx="4892040" cy="530352"/>
          </a:xfrm>
          <a:prstGeom prst="roundRect">
            <a:avLst>
              <a:gd name="adj" fmla="val 13793"/>
            </a:avLst>
          </a:prstGeom>
          <a:solidFill>
            <a:srgbClr val="142B45"/>
          </a:solidFill>
          <a:ln w="12700">
            <a:solidFill>
              <a:srgbClr val="142B45"/>
            </a:solidFill>
            <a:prstDash val="solid"/>
          </a:ln>
        </p:spPr>
      </p:sp>
      <p:sp>
        <p:nvSpPr>
          <p:cNvPr id="24" name="Text 21"/>
          <p:cNvSpPr txBox="1"/>
          <p:nvPr/>
        </p:nvSpPr>
        <p:spPr>
          <a:xfrm>
            <a:off x="6675120" y="2560320"/>
            <a:ext cx="3566160" cy="530352"/>
          </a:xfrm>
          <a:prstGeom prst="rect">
            <a:avLst/>
          </a:prstGeom>
          <a:noFill/>
          <a:ln/>
        </p:spPr>
        <p:txBody>
          <a:bodyPr wrap="square" lIns="0" tIns="0" rIns="0" bIns="0" rtlCol="0" anchor="ctr"/>
          <a:lstStyle/>
          <a:p>
            <a:pPr indent="0" marL="0">
              <a:buNone/>
            </a:pPr>
            <a:r>
              <a:rPr lang="en-US" sz="1400" dirty="0">
                <a:solidFill>
                  <a:srgbClr val="EEF5FF"/>
                </a:solidFill>
                <a:latin typeface="Consolas" pitchFamily="34" charset="0"/>
                <a:ea typeface="Consolas" pitchFamily="34" charset="-122"/>
                <a:cs typeface="Consolas" pitchFamily="34" charset="-120"/>
              </a:rPr>
              <a:t>FireballSkill.cs</a:t>
            </a:r>
            <a:endParaRPr lang="en-US" sz="1400" dirty="0"/>
          </a:p>
        </p:txBody>
      </p:sp>
      <p:sp>
        <p:nvSpPr>
          <p:cNvPr id="25" name="Text 22"/>
          <p:cNvSpPr txBox="1"/>
          <p:nvPr/>
        </p:nvSpPr>
        <p:spPr>
          <a:xfrm>
            <a:off x="10058400" y="2560320"/>
            <a:ext cx="1188720" cy="530352"/>
          </a:xfrm>
          <a:prstGeom prst="rect">
            <a:avLst/>
          </a:prstGeom>
          <a:noFill/>
          <a:ln/>
        </p:spPr>
        <p:txBody>
          <a:bodyPr wrap="square" lIns="0" tIns="0" rIns="0" bIns="0" rtlCol="0" anchor="ctr"/>
          <a:lstStyle/>
          <a:p>
            <a:pPr algn="r" indent="0" marL="0">
              <a:buNone/>
            </a:pPr>
            <a:r>
              <a:rPr lang="en-US" sz="1300" dirty="0">
                <a:solidFill>
                  <a:srgbClr val="AFBED1"/>
                </a:solidFill>
              </a:rPr>
              <a:t>새 파일</a:t>
            </a:r>
            <a:endParaRPr lang="en-US" sz="1300" dirty="0"/>
          </a:p>
        </p:txBody>
      </p:sp>
      <p:sp>
        <p:nvSpPr>
          <p:cNvPr id="26" name="Shape 23"/>
          <p:cNvSpPr/>
          <p:nvPr/>
        </p:nvSpPr>
        <p:spPr>
          <a:xfrm>
            <a:off x="6492240" y="3218688"/>
            <a:ext cx="4892040" cy="530352"/>
          </a:xfrm>
          <a:prstGeom prst="roundRect">
            <a:avLst>
              <a:gd name="adj" fmla="val 13793"/>
            </a:avLst>
          </a:prstGeom>
          <a:solidFill>
            <a:srgbClr val="142B45"/>
          </a:solidFill>
          <a:ln w="12700">
            <a:solidFill>
              <a:srgbClr val="142B45"/>
            </a:solidFill>
            <a:prstDash val="solid"/>
          </a:ln>
        </p:spPr>
      </p:sp>
      <p:sp>
        <p:nvSpPr>
          <p:cNvPr id="27" name="Text 24"/>
          <p:cNvSpPr txBox="1"/>
          <p:nvPr/>
        </p:nvSpPr>
        <p:spPr>
          <a:xfrm>
            <a:off x="6675120" y="3218688"/>
            <a:ext cx="3566160" cy="530352"/>
          </a:xfrm>
          <a:prstGeom prst="rect">
            <a:avLst/>
          </a:prstGeom>
          <a:noFill/>
          <a:ln/>
        </p:spPr>
        <p:txBody>
          <a:bodyPr wrap="square" lIns="0" tIns="0" rIns="0" bIns="0" rtlCol="0" anchor="ctr"/>
          <a:lstStyle/>
          <a:p>
            <a:pPr indent="0" marL="0">
              <a:buNone/>
            </a:pPr>
            <a:r>
              <a:rPr lang="en-US" sz="1400" dirty="0">
                <a:solidFill>
                  <a:srgbClr val="EEF5FF"/>
                </a:solidFill>
                <a:latin typeface="Consolas" pitchFamily="34" charset="0"/>
                <a:ea typeface="Consolas" pitchFamily="34" charset="-122"/>
                <a:cs typeface="Consolas" pitchFamily="34" charset="-120"/>
              </a:rPr>
              <a:t>skills.Add(new FireballSkill());</a:t>
            </a:r>
            <a:endParaRPr lang="en-US" sz="1400" dirty="0"/>
          </a:p>
        </p:txBody>
      </p:sp>
      <p:sp>
        <p:nvSpPr>
          <p:cNvPr id="28" name="Text 25"/>
          <p:cNvSpPr txBox="1"/>
          <p:nvPr/>
        </p:nvSpPr>
        <p:spPr>
          <a:xfrm>
            <a:off x="10058400" y="3218688"/>
            <a:ext cx="1188720" cy="530352"/>
          </a:xfrm>
          <a:prstGeom prst="rect">
            <a:avLst/>
          </a:prstGeom>
          <a:noFill/>
          <a:ln/>
        </p:spPr>
        <p:txBody>
          <a:bodyPr wrap="square" lIns="0" tIns="0" rIns="0" bIns="0" rtlCol="0" anchor="ctr"/>
          <a:lstStyle/>
          <a:p>
            <a:pPr algn="r" indent="0" marL="0">
              <a:buNone/>
            </a:pPr>
            <a:r>
              <a:rPr lang="en-US" sz="1300" dirty="0">
                <a:solidFill>
                  <a:srgbClr val="AFBED1"/>
                </a:solidFill>
              </a:rPr>
              <a:t>한 줄 추가</a:t>
            </a:r>
            <a:endParaRPr lang="en-US" sz="1300" dirty="0"/>
          </a:p>
        </p:txBody>
      </p:sp>
      <p:sp>
        <p:nvSpPr>
          <p:cNvPr id="29" name="Text 26"/>
          <p:cNvSpPr txBox="1"/>
          <p:nvPr/>
        </p:nvSpPr>
        <p:spPr>
          <a:xfrm>
            <a:off x="6492240" y="5349240"/>
            <a:ext cx="4937760" cy="502920"/>
          </a:xfrm>
          <a:prstGeom prst="rect">
            <a:avLst/>
          </a:prstGeom>
          <a:noFill/>
          <a:ln/>
        </p:spPr>
        <p:txBody>
          <a:bodyPr wrap="square" lIns="0" tIns="0" rIns="0" bIns="0" rtlCol="0" anchor="t"/>
          <a:lstStyle/>
          <a:p>
            <a:pPr indent="0" marL="0">
              <a:buNone/>
            </a:pPr>
            <a:r>
              <a:rPr lang="en-US" sz="2000" b="1" dirty="0">
                <a:solidFill>
                  <a:srgbClr val="83E58F"/>
                </a:solidFill>
              </a:rPr>
              <a:t>기존 클래스 수정 0개</a:t>
            </a:r>
            <a:endParaRPr lang="en-US" sz="2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48640" y="502920"/>
            <a:ext cx="1005840" cy="1005840"/>
          </a:xfrm>
          <a:prstGeom prst="ellipse">
            <a:avLst/>
          </a:prstGeom>
          <a:solidFill>
            <a:srgbClr val="FFD16F"/>
          </a:solidFill>
          <a:ln w="12700">
            <a:solidFill>
              <a:srgbClr val="FFD16F"/>
            </a:solidFill>
            <a:prstDash val="solid"/>
          </a:ln>
        </p:spPr>
      </p:sp>
      <p:sp>
        <p:nvSpPr>
          <p:cNvPr id="3" name="Text 1"/>
          <p:cNvSpPr txBox="1"/>
          <p:nvPr/>
        </p:nvSpPr>
        <p:spPr>
          <a:xfrm>
            <a:off x="548640" y="502920"/>
            <a:ext cx="1005840" cy="1005840"/>
          </a:xfrm>
          <a:prstGeom prst="rect">
            <a:avLst/>
          </a:prstGeom>
          <a:noFill/>
          <a:ln/>
        </p:spPr>
        <p:txBody>
          <a:bodyPr wrap="square" lIns="0" tIns="0" rIns="0" bIns="0" rtlCol="0" anchor="ctr"/>
          <a:lstStyle/>
          <a:p>
            <a:pPr algn="ctr" indent="0" marL="0">
              <a:buNone/>
            </a:pPr>
            <a:r>
              <a:rPr lang="en-US" sz="4400" b="1" dirty="0">
                <a:solidFill>
                  <a:srgbClr val="040A13"/>
                </a:solidFill>
              </a:rPr>
              <a:t>Q</a:t>
            </a:r>
            <a:endParaRPr lang="en-US" sz="4400" dirty="0"/>
          </a:p>
        </p:txBody>
      </p:sp>
      <p:sp>
        <p:nvSpPr>
          <p:cNvPr id="4" name="Text 2"/>
          <p:cNvSpPr txBox="1"/>
          <p:nvPr/>
        </p:nvSpPr>
        <p:spPr>
          <a:xfrm>
            <a:off x="1828800" y="566928"/>
            <a:ext cx="9144000" cy="310896"/>
          </a:xfrm>
          <a:prstGeom prst="rect">
            <a:avLst/>
          </a:prstGeom>
          <a:noFill/>
          <a:ln/>
        </p:spPr>
        <p:txBody>
          <a:bodyPr wrap="square" lIns="0" tIns="0" rIns="0" bIns="0" rtlCol="0" anchor="t"/>
          <a:lstStyle/>
          <a:p>
            <a:pPr indent="0" marL="0">
              <a:buNone/>
            </a:pPr>
            <a:r>
              <a:rPr lang="en-US" sz="1300" b="1" spc="150" kern="0" dirty="0">
                <a:solidFill>
                  <a:srgbClr val="FFD16F"/>
                </a:solidFill>
              </a:rPr>
              <a:t>CHECK 4 · 다형성</a:t>
            </a:r>
            <a:endParaRPr lang="en-US" sz="1300" dirty="0"/>
          </a:p>
        </p:txBody>
      </p:sp>
      <p:sp>
        <p:nvSpPr>
          <p:cNvPr id="5" name="Text 3"/>
          <p:cNvSpPr txBox="1"/>
          <p:nvPr/>
        </p:nvSpPr>
        <p:spPr>
          <a:xfrm>
            <a:off x="1828800" y="914400"/>
            <a:ext cx="9784080" cy="1280160"/>
          </a:xfrm>
          <a:prstGeom prst="rect">
            <a:avLst/>
          </a:prstGeom>
          <a:noFill/>
          <a:ln/>
        </p:spPr>
        <p:txBody>
          <a:bodyPr wrap="square" lIns="0" tIns="0" rIns="0" bIns="0" rtlCol="0" anchor="t"/>
          <a:lstStyle/>
          <a:p>
            <a:pPr indent="0" marL="0">
              <a:lnSpc>
                <a:spcPct val="115000"/>
              </a:lnSpc>
              <a:buNone/>
            </a:pPr>
            <a:r>
              <a:rPr lang="en-US" sz="2600" b="1" dirty="0">
                <a:solidFill>
                  <a:srgbClr val="EEF5FF"/>
                </a:solidFill>
              </a:rPr>
              <a:t>FireballSkill을 추가할 때</a:t>
            </a:r>
            <a:endParaRPr lang="en-US" sz="2600" dirty="0"/>
          </a:p>
          <a:p>
            <a:pPr indent="0" marL="0">
              <a:lnSpc>
                <a:spcPct val="115000"/>
              </a:lnSpc>
              <a:buNone/>
            </a:pPr>
            <a:r>
              <a:rPr lang="en-US" sz="2600" b="1" dirty="0">
                <a:solidFill>
                  <a:srgbClr val="EEF5FF"/>
                </a:solidFill>
              </a:rPr>
              <a:t>새로 만들 파일과 고칠 코드는?</a:t>
            </a:r>
            <a:endParaRPr lang="en-US" sz="2600" dirty="0"/>
          </a:p>
        </p:txBody>
      </p:sp>
      <p:sp>
        <p:nvSpPr>
          <p:cNvPr id="6" name="Text 4"/>
          <p:cNvSpPr txBox="1"/>
          <p:nvPr/>
        </p:nvSpPr>
        <p:spPr>
          <a:xfrm>
            <a:off x="1828800" y="2011680"/>
            <a:ext cx="9784080" cy="411480"/>
          </a:xfrm>
          <a:prstGeom prst="rect">
            <a:avLst/>
          </a:prstGeom>
          <a:noFill/>
          <a:ln/>
        </p:spPr>
        <p:txBody>
          <a:bodyPr wrap="square" lIns="0" tIns="0" rIns="0" bIns="0" rtlCol="0" anchor="t"/>
          <a:lstStyle/>
          <a:p>
            <a:pPr indent="0" marL="0">
              <a:buNone/>
            </a:pPr>
            <a:r>
              <a:rPr lang="en-US" sz="1700" dirty="0">
                <a:solidFill>
                  <a:srgbClr val="AFBED1"/>
                </a:solidFill>
              </a:rPr>
              <a:t>foreach 문, Skill, 다른 스킬 클래스도 고쳐야 할까요?</a:t>
            </a:r>
            <a:endParaRPr lang="en-US" sz="17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822960" y="1554480"/>
            <a:ext cx="2743200" cy="1005840"/>
          </a:xfrm>
          <a:prstGeom prst="rect">
            <a:avLst/>
          </a:prstGeom>
          <a:noFill/>
          <a:ln/>
        </p:spPr>
        <p:txBody>
          <a:bodyPr wrap="square" lIns="0" tIns="0" rIns="0" bIns="0" rtlCol="0" anchor="t"/>
          <a:lstStyle/>
          <a:p>
            <a:pPr indent="0" marL="0">
              <a:buNone/>
            </a:pPr>
            <a:r>
              <a:rPr lang="en-US" sz="6000" b="1" dirty="0">
                <a:solidFill>
                  <a:srgbClr val="8EC5FF"/>
                </a:solidFill>
              </a:rPr>
              <a:t>06</a:t>
            </a:r>
            <a:endParaRPr lang="en-US" sz="6000" dirty="0"/>
          </a:p>
        </p:txBody>
      </p:sp>
      <p:sp>
        <p:nvSpPr>
          <p:cNvPr id="3" name="Text 1"/>
          <p:cNvSpPr txBox="1"/>
          <p:nvPr/>
        </p:nvSpPr>
        <p:spPr>
          <a:xfrm>
            <a:off x="822960" y="2697480"/>
            <a:ext cx="9144000" cy="365760"/>
          </a:xfrm>
          <a:prstGeom prst="rect">
            <a:avLst/>
          </a:prstGeom>
          <a:noFill/>
          <a:ln/>
        </p:spPr>
        <p:txBody>
          <a:bodyPr wrap="square" lIns="0" tIns="0" rIns="0" bIns="0" rtlCol="0" anchor="t"/>
          <a:lstStyle/>
          <a:p>
            <a:pPr indent="0" marL="0">
              <a:buNone/>
            </a:pPr>
            <a:r>
              <a:rPr lang="en-US" sz="1500" b="1" spc="200" kern="0" dirty="0">
                <a:solidFill>
                  <a:srgbClr val="8EC5FF"/>
                </a:solidFill>
              </a:rPr>
              <a:t>ABSTRACTION</a:t>
            </a:r>
            <a:endParaRPr lang="en-US" sz="1500" dirty="0"/>
          </a:p>
        </p:txBody>
      </p:sp>
      <p:sp>
        <p:nvSpPr>
          <p:cNvPr id="4" name="Text 2"/>
          <p:cNvSpPr txBox="1"/>
          <p:nvPr/>
        </p:nvSpPr>
        <p:spPr>
          <a:xfrm>
            <a:off x="822960" y="3108960"/>
            <a:ext cx="10515600" cy="914400"/>
          </a:xfrm>
          <a:prstGeom prst="rect">
            <a:avLst/>
          </a:prstGeom>
          <a:noFill/>
          <a:ln/>
        </p:spPr>
        <p:txBody>
          <a:bodyPr wrap="square" lIns="0" tIns="0" rIns="0" bIns="0" rtlCol="0" anchor="t"/>
          <a:lstStyle/>
          <a:p>
            <a:pPr indent="0" marL="0">
              <a:buNone/>
            </a:pPr>
            <a:r>
              <a:rPr lang="en-US" sz="4400" b="1" dirty="0">
                <a:solidFill>
                  <a:srgbClr val="EEF5FF"/>
                </a:solidFill>
              </a:rPr>
              <a:t>추상화</a:t>
            </a:r>
            <a:endParaRPr lang="en-US" sz="4400" dirty="0"/>
          </a:p>
        </p:txBody>
      </p:sp>
      <p:sp>
        <p:nvSpPr>
          <p:cNvPr id="5" name="Shape 3"/>
          <p:cNvSpPr/>
          <p:nvPr/>
        </p:nvSpPr>
        <p:spPr>
          <a:xfrm>
            <a:off x="822960" y="4846320"/>
            <a:ext cx="1298448" cy="457200"/>
          </a:xfrm>
          <a:prstGeom prst="roundRect">
            <a:avLst>
              <a:gd name="adj" fmla="val 50000"/>
            </a:avLst>
          </a:prstGeom>
          <a:solidFill>
            <a:srgbClr val="040A13"/>
          </a:solidFill>
          <a:ln w="12700">
            <a:solidFill>
              <a:srgbClr val="2A405B"/>
            </a:solidFill>
            <a:prstDash val="solid"/>
          </a:ln>
        </p:spPr>
      </p:sp>
      <p:sp>
        <p:nvSpPr>
          <p:cNvPr id="6" name="Text 4"/>
          <p:cNvSpPr txBox="1"/>
          <p:nvPr/>
        </p:nvSpPr>
        <p:spPr>
          <a:xfrm>
            <a:off x="822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도입</a:t>
            </a:r>
            <a:endParaRPr lang="en-US" sz="1300" dirty="0"/>
          </a:p>
        </p:txBody>
      </p:sp>
      <p:sp>
        <p:nvSpPr>
          <p:cNvPr id="7" name="Shape 5"/>
          <p:cNvSpPr/>
          <p:nvPr/>
        </p:nvSpPr>
        <p:spPr>
          <a:xfrm>
            <a:off x="2194560" y="4846320"/>
            <a:ext cx="1298448" cy="457200"/>
          </a:xfrm>
          <a:prstGeom prst="roundRect">
            <a:avLst>
              <a:gd name="adj" fmla="val 50000"/>
            </a:avLst>
          </a:prstGeom>
          <a:solidFill>
            <a:srgbClr val="040A13"/>
          </a:solidFill>
          <a:ln w="12700">
            <a:solidFill>
              <a:srgbClr val="2A405B"/>
            </a:solidFill>
            <a:prstDash val="solid"/>
          </a:ln>
        </p:spPr>
      </p:sp>
      <p:sp>
        <p:nvSpPr>
          <p:cNvPr id="8" name="Text 6"/>
          <p:cNvSpPr txBox="1"/>
          <p:nvPr/>
        </p:nvSpPr>
        <p:spPr>
          <a:xfrm>
            <a:off x="2194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객체와 클래스</a:t>
            </a:r>
            <a:endParaRPr lang="en-US" sz="1300" dirty="0"/>
          </a:p>
        </p:txBody>
      </p:sp>
      <p:sp>
        <p:nvSpPr>
          <p:cNvPr id="9" name="Shape 7"/>
          <p:cNvSpPr/>
          <p:nvPr/>
        </p:nvSpPr>
        <p:spPr>
          <a:xfrm>
            <a:off x="3566160" y="4846320"/>
            <a:ext cx="1298448" cy="457200"/>
          </a:xfrm>
          <a:prstGeom prst="roundRect">
            <a:avLst>
              <a:gd name="adj" fmla="val 50000"/>
            </a:avLst>
          </a:prstGeom>
          <a:solidFill>
            <a:srgbClr val="040A13"/>
          </a:solidFill>
          <a:ln w="12700">
            <a:solidFill>
              <a:srgbClr val="2A405B"/>
            </a:solidFill>
            <a:prstDash val="solid"/>
          </a:ln>
        </p:spPr>
      </p:sp>
      <p:sp>
        <p:nvSpPr>
          <p:cNvPr id="10" name="Text 8"/>
          <p:cNvSpPr txBox="1"/>
          <p:nvPr/>
        </p:nvSpPr>
        <p:spPr>
          <a:xfrm>
            <a:off x="3566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캡슐화</a:t>
            </a:r>
            <a:endParaRPr lang="en-US" sz="1300" dirty="0"/>
          </a:p>
        </p:txBody>
      </p:sp>
      <p:sp>
        <p:nvSpPr>
          <p:cNvPr id="11" name="Shape 9"/>
          <p:cNvSpPr/>
          <p:nvPr/>
        </p:nvSpPr>
        <p:spPr>
          <a:xfrm>
            <a:off x="4937760" y="4846320"/>
            <a:ext cx="1298448" cy="457200"/>
          </a:xfrm>
          <a:prstGeom prst="roundRect">
            <a:avLst>
              <a:gd name="adj" fmla="val 50000"/>
            </a:avLst>
          </a:prstGeom>
          <a:solidFill>
            <a:srgbClr val="040A13"/>
          </a:solidFill>
          <a:ln w="12700">
            <a:solidFill>
              <a:srgbClr val="2A405B"/>
            </a:solidFill>
            <a:prstDash val="solid"/>
          </a:ln>
        </p:spPr>
      </p:sp>
      <p:sp>
        <p:nvSpPr>
          <p:cNvPr id="12" name="Text 10"/>
          <p:cNvSpPr txBox="1"/>
          <p:nvPr/>
        </p:nvSpPr>
        <p:spPr>
          <a:xfrm>
            <a:off x="49377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상속</a:t>
            </a:r>
            <a:endParaRPr lang="en-US" sz="1300" dirty="0"/>
          </a:p>
        </p:txBody>
      </p:sp>
      <p:sp>
        <p:nvSpPr>
          <p:cNvPr id="13" name="Shape 11"/>
          <p:cNvSpPr/>
          <p:nvPr/>
        </p:nvSpPr>
        <p:spPr>
          <a:xfrm>
            <a:off x="6309360" y="4846320"/>
            <a:ext cx="1298448" cy="457200"/>
          </a:xfrm>
          <a:prstGeom prst="roundRect">
            <a:avLst>
              <a:gd name="adj" fmla="val 50000"/>
            </a:avLst>
          </a:prstGeom>
          <a:solidFill>
            <a:srgbClr val="040A13"/>
          </a:solidFill>
          <a:ln w="12700">
            <a:solidFill>
              <a:srgbClr val="2A405B"/>
            </a:solidFill>
            <a:prstDash val="solid"/>
          </a:ln>
        </p:spPr>
      </p:sp>
      <p:sp>
        <p:nvSpPr>
          <p:cNvPr id="14" name="Text 12"/>
          <p:cNvSpPr txBox="1"/>
          <p:nvPr/>
        </p:nvSpPr>
        <p:spPr>
          <a:xfrm>
            <a:off x="63093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다형성</a:t>
            </a:r>
            <a:endParaRPr lang="en-US" sz="1300" dirty="0"/>
          </a:p>
        </p:txBody>
      </p:sp>
      <p:sp>
        <p:nvSpPr>
          <p:cNvPr id="15" name="Shape 13"/>
          <p:cNvSpPr/>
          <p:nvPr/>
        </p:nvSpPr>
        <p:spPr>
          <a:xfrm>
            <a:off x="7680960" y="4846320"/>
            <a:ext cx="1298448" cy="457200"/>
          </a:xfrm>
          <a:prstGeom prst="roundRect">
            <a:avLst>
              <a:gd name="adj" fmla="val 50000"/>
            </a:avLst>
          </a:prstGeom>
          <a:solidFill>
            <a:srgbClr val="8EC5FF"/>
          </a:solidFill>
          <a:ln w="12700">
            <a:solidFill>
              <a:srgbClr val="8EC5FF"/>
            </a:solidFill>
            <a:prstDash val="solid"/>
          </a:ln>
        </p:spPr>
      </p:sp>
      <p:sp>
        <p:nvSpPr>
          <p:cNvPr id="16" name="Text 14"/>
          <p:cNvSpPr txBox="1"/>
          <p:nvPr/>
        </p:nvSpPr>
        <p:spPr>
          <a:xfrm>
            <a:off x="7680960" y="4846320"/>
            <a:ext cx="1298448" cy="457200"/>
          </a:xfrm>
          <a:prstGeom prst="rect">
            <a:avLst/>
          </a:prstGeom>
          <a:noFill/>
          <a:ln/>
        </p:spPr>
        <p:txBody>
          <a:bodyPr wrap="square" lIns="0" tIns="0" rIns="0" bIns="0" rtlCol="0" anchor="ctr"/>
          <a:lstStyle/>
          <a:p>
            <a:pPr algn="ctr" indent="0" marL="0">
              <a:buNone/>
            </a:pPr>
            <a:r>
              <a:rPr lang="en-US" sz="1300" b="1" dirty="0">
                <a:solidFill>
                  <a:srgbClr val="040A13"/>
                </a:solidFill>
              </a:rPr>
              <a:t>추상화</a:t>
            </a:r>
            <a:endParaRPr lang="en-US" sz="1300" dirty="0"/>
          </a:p>
        </p:txBody>
      </p:sp>
      <p:sp>
        <p:nvSpPr>
          <p:cNvPr id="17" name="Shape 15"/>
          <p:cNvSpPr/>
          <p:nvPr/>
        </p:nvSpPr>
        <p:spPr>
          <a:xfrm>
            <a:off x="9052560" y="4846320"/>
            <a:ext cx="1298448" cy="457200"/>
          </a:xfrm>
          <a:prstGeom prst="roundRect">
            <a:avLst>
              <a:gd name="adj" fmla="val 50000"/>
            </a:avLst>
          </a:prstGeom>
          <a:solidFill>
            <a:srgbClr val="040A13"/>
          </a:solidFill>
          <a:ln w="12700">
            <a:solidFill>
              <a:srgbClr val="2A405B"/>
            </a:solidFill>
            <a:prstDash val="solid"/>
          </a:ln>
        </p:spPr>
      </p:sp>
      <p:sp>
        <p:nvSpPr>
          <p:cNvPr id="18" name="Text 16"/>
          <p:cNvSpPr txBox="1"/>
          <p:nvPr/>
        </p:nvSpPr>
        <p:spPr>
          <a:xfrm>
            <a:off x="9052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실습</a:t>
            </a:r>
            <a:endParaRPr lang="en-US" sz="1300" dirty="0"/>
          </a:p>
        </p:txBody>
      </p:sp>
      <p:sp>
        <p:nvSpPr>
          <p:cNvPr id="19" name="Shape 17"/>
          <p:cNvSpPr/>
          <p:nvPr/>
        </p:nvSpPr>
        <p:spPr>
          <a:xfrm>
            <a:off x="10424160" y="4846320"/>
            <a:ext cx="1298448" cy="457200"/>
          </a:xfrm>
          <a:prstGeom prst="roundRect">
            <a:avLst>
              <a:gd name="adj" fmla="val 50000"/>
            </a:avLst>
          </a:prstGeom>
          <a:solidFill>
            <a:srgbClr val="040A13"/>
          </a:solidFill>
          <a:ln w="12700">
            <a:solidFill>
              <a:srgbClr val="2A405B"/>
            </a:solidFill>
            <a:prstDash val="solid"/>
          </a:ln>
        </p:spPr>
      </p:sp>
      <p:sp>
        <p:nvSpPr>
          <p:cNvPr id="20" name="Text 18"/>
          <p:cNvSpPr txBox="1"/>
          <p:nvPr/>
        </p:nvSpPr>
        <p:spPr>
          <a:xfrm>
            <a:off x="10424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마무리</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8EC5FF"/>
          </a:solidFill>
          <a:ln w="12700">
            <a:solidFill>
              <a:srgbClr val="8EC5F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8EC5FF"/>
                </a:solidFill>
              </a:rPr>
              <a:t>ABSTRACTION · PROBLEM</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override 누락</a:t>
            </a:r>
            <a:endParaRPr lang="en-US" sz="2800" dirty="0"/>
          </a:p>
        </p:txBody>
      </p:sp>
      <p:sp>
        <p:nvSpPr>
          <p:cNvPr id="6" name="Shape 3"/>
          <p:cNvSpPr/>
          <p:nvPr/>
        </p:nvSpPr>
        <p:spPr>
          <a:xfrm>
            <a:off x="548640" y="1783080"/>
            <a:ext cx="7863840" cy="2743200"/>
          </a:xfrm>
          <a:prstGeom prst="roundRect">
            <a:avLst>
              <a:gd name="adj" fmla="val 2667"/>
            </a:avLst>
          </a:prstGeom>
          <a:solidFill>
            <a:srgbClr val="040A13"/>
          </a:solidFill>
          <a:ln w="12700">
            <a:solidFill>
              <a:srgbClr val="2A405B"/>
            </a:solidFill>
            <a:prstDash val="solid"/>
          </a:ln>
        </p:spPr>
      </p:sp>
      <p:sp>
        <p:nvSpPr>
          <p:cNvPr id="7" name="Shape 4"/>
          <p:cNvSpPr/>
          <p:nvPr/>
        </p:nvSpPr>
        <p:spPr>
          <a:xfrm>
            <a:off x="603504" y="2857500"/>
            <a:ext cx="7754112" cy="297180"/>
          </a:xfrm>
          <a:prstGeom prst="rect">
            <a:avLst/>
          </a:prstGeom>
          <a:solidFill>
            <a:srgbClr val="FF8C99">
              <a:alpha val="20000"/>
            </a:srgbClr>
          </a:solidFill>
          <a:ln w="12700">
            <a:solidFill>
              <a:srgbClr val="FF8C99">
                <a:alpha val="0"/>
              </a:srgbClr>
            </a:solidFill>
            <a:prstDash val="solid"/>
          </a:ln>
        </p:spPr>
      </p:sp>
      <p:sp>
        <p:nvSpPr>
          <p:cNvPr id="8" name="Shape 5"/>
          <p:cNvSpPr/>
          <p:nvPr/>
        </p:nvSpPr>
        <p:spPr>
          <a:xfrm>
            <a:off x="603504" y="3749040"/>
            <a:ext cx="7754112" cy="594360"/>
          </a:xfrm>
          <a:prstGeom prst="rect">
            <a:avLst/>
          </a:prstGeom>
          <a:solidFill>
            <a:srgbClr val="FF8C99">
              <a:alpha val="20000"/>
            </a:srgbClr>
          </a:solidFill>
          <a:ln w="12700">
            <a:solidFill>
              <a:srgbClr val="FF8C99">
                <a:alpha val="0"/>
              </a:srgbClr>
            </a:solidFill>
            <a:prstDash val="solid"/>
          </a:ln>
        </p:spPr>
      </p:sp>
      <p:sp>
        <p:nvSpPr>
          <p:cNvPr id="9" name="Text 6"/>
          <p:cNvSpPr txBox="1"/>
          <p:nvPr/>
        </p:nvSpPr>
        <p:spPr>
          <a:xfrm>
            <a:off x="731520" y="1965960"/>
            <a:ext cx="7498080" cy="237744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sealed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class</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FireballSkill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FireballSkill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base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"화염구"</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3</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Use를 override하는 것을 잊었다</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new</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FireballSkill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().Use(swordsman, archer);</a:t>
            </a:r>
            <a:endParaRPr lang="en-US" sz="1800" dirty="0"/>
          </a:p>
          <a:p>
            <a:pPr indent="0" marL="0">
              <a:lnSpc>
                <a:spcPts val="2340"/>
              </a:lnSpc>
              <a:buNone/>
            </a:pPr>
            <a:r>
              <a:rPr lang="en-US" sz="1800" i="1" dirty="0">
                <a:solidFill>
                  <a:srgbClr val="AFBED1"/>
                </a:solidFill>
                <a:latin typeface="Consolas" pitchFamily="34" charset="0"/>
                <a:ea typeface="Consolas" pitchFamily="34" charset="-122"/>
                <a:cs typeface="Consolas" pitchFamily="34" charset="-120"/>
              </a:rPr>
              <a:t>// → 아무 일도 일어나지 않는다</a:t>
            </a:r>
            <a:endParaRPr lang="en-US" sz="1800" dirty="0"/>
          </a:p>
        </p:txBody>
      </p:sp>
      <p:sp>
        <p:nvSpPr>
          <p:cNvPr id="10" name="Shape 7"/>
          <p:cNvSpPr/>
          <p:nvPr/>
        </p:nvSpPr>
        <p:spPr>
          <a:xfrm>
            <a:off x="8732520" y="1783080"/>
            <a:ext cx="2880360" cy="2103120"/>
          </a:xfrm>
          <a:prstGeom prst="roundRect">
            <a:avLst>
              <a:gd name="adj" fmla="val 5217"/>
            </a:avLst>
          </a:prstGeom>
          <a:solidFill>
            <a:srgbClr val="10233A"/>
          </a:solidFill>
          <a:ln w="12700">
            <a:solidFill>
              <a:srgbClr val="2A405B"/>
            </a:solidFill>
            <a:prstDash val="solid"/>
          </a:ln>
        </p:spPr>
      </p:sp>
      <p:sp>
        <p:nvSpPr>
          <p:cNvPr id="11" name="Text 8"/>
          <p:cNvSpPr txBox="1"/>
          <p:nvPr/>
        </p:nvSpPr>
        <p:spPr>
          <a:xfrm>
            <a:off x="8961120" y="2011680"/>
            <a:ext cx="2423160" cy="346329"/>
          </a:xfrm>
          <a:prstGeom prst="rect">
            <a:avLst/>
          </a:prstGeom>
          <a:noFill/>
          <a:ln/>
        </p:spPr>
        <p:txBody>
          <a:bodyPr wrap="square" lIns="0" tIns="0" rIns="0" bIns="0" rtlCol="0" anchor="t"/>
          <a:lstStyle/>
          <a:p>
            <a:pPr indent="0" marL="0">
              <a:buNone/>
            </a:pPr>
            <a:r>
              <a:rPr lang="en-US" sz="1700" b="1" dirty="0">
                <a:solidFill>
                  <a:srgbClr val="FF8C99"/>
                </a:solidFill>
              </a:rPr>
              <a:t>빈 virtual Use()</a:t>
            </a:r>
            <a:endParaRPr lang="en-US" sz="1700" dirty="0"/>
          </a:p>
        </p:txBody>
      </p:sp>
      <p:sp>
        <p:nvSpPr>
          <p:cNvPr id="12" name="Text 9"/>
          <p:cNvSpPr txBox="1"/>
          <p:nvPr/>
        </p:nvSpPr>
        <p:spPr>
          <a:xfrm>
            <a:off x="8961120" y="2431161"/>
            <a:ext cx="2423160" cy="131787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Use를 빠뜨려도 부모의 빈 메서드가 실행됩니다.</a:t>
            </a:r>
            <a:endParaRPr lang="en-US" sz="1400" dirty="0"/>
          </a:p>
        </p:txBody>
      </p:sp>
      <p:sp>
        <p:nvSpPr>
          <p:cNvPr id="13" name="Shape 10"/>
          <p:cNvSpPr/>
          <p:nvPr/>
        </p:nvSpPr>
        <p:spPr>
          <a:xfrm>
            <a:off x="8732520" y="4069080"/>
            <a:ext cx="2880360" cy="1828800"/>
          </a:xfrm>
          <a:prstGeom prst="roundRect">
            <a:avLst>
              <a:gd name="adj" fmla="val 6000"/>
            </a:avLst>
          </a:prstGeom>
          <a:solidFill>
            <a:srgbClr val="10233A"/>
          </a:solidFill>
          <a:ln w="12700">
            <a:solidFill>
              <a:srgbClr val="2A405B"/>
            </a:solidFill>
            <a:prstDash val="solid"/>
          </a:ln>
        </p:spPr>
      </p:sp>
      <p:sp>
        <p:nvSpPr>
          <p:cNvPr id="14" name="Text 11"/>
          <p:cNvSpPr txBox="1"/>
          <p:nvPr/>
        </p:nvSpPr>
        <p:spPr>
          <a:xfrm>
            <a:off x="8961120" y="4297680"/>
            <a:ext cx="2423160" cy="346329"/>
          </a:xfrm>
          <a:prstGeom prst="rect">
            <a:avLst/>
          </a:prstGeom>
          <a:noFill/>
          <a:ln/>
        </p:spPr>
        <p:txBody>
          <a:bodyPr wrap="square" lIns="0" tIns="0" rIns="0" bIns="0" rtlCol="0" anchor="t"/>
          <a:lstStyle/>
          <a:p>
            <a:pPr indent="0" marL="0">
              <a:buNone/>
            </a:pPr>
            <a:r>
              <a:rPr lang="en-US" sz="1700" b="1" dirty="0">
                <a:solidFill>
                  <a:srgbClr val="FF8C99"/>
                </a:solidFill>
              </a:rPr>
              <a:t>발견 시점</a:t>
            </a:r>
            <a:endParaRPr lang="en-US" sz="1700" dirty="0"/>
          </a:p>
        </p:txBody>
      </p:sp>
      <p:sp>
        <p:nvSpPr>
          <p:cNvPr id="15" name="Text 12"/>
          <p:cNvSpPr txBox="1"/>
          <p:nvPr/>
        </p:nvSpPr>
        <p:spPr>
          <a:xfrm>
            <a:off x="8961120" y="4717161"/>
            <a:ext cx="2423160" cy="104355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실행해서 화염구를 써 봐야 알 수 있습니다.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8EC5FF"/>
          </a:solidFill>
          <a:ln w="12700">
            <a:solidFill>
              <a:srgbClr val="8EC5F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8EC5FF"/>
                </a:solidFill>
              </a:rPr>
              <a:t>ABSTRACT</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abstract</a:t>
            </a:r>
            <a:endParaRPr lang="en-US" sz="2800" dirty="0"/>
          </a:p>
        </p:txBody>
      </p:sp>
      <p:sp>
        <p:nvSpPr>
          <p:cNvPr id="6" name="Shape 3"/>
          <p:cNvSpPr/>
          <p:nvPr/>
        </p:nvSpPr>
        <p:spPr>
          <a:xfrm>
            <a:off x="548640" y="1783080"/>
            <a:ext cx="7178040" cy="4229100"/>
          </a:xfrm>
          <a:prstGeom prst="roundRect">
            <a:avLst>
              <a:gd name="adj" fmla="val 1730"/>
            </a:avLst>
          </a:prstGeom>
          <a:solidFill>
            <a:srgbClr val="040A13"/>
          </a:solidFill>
          <a:ln w="12700">
            <a:solidFill>
              <a:srgbClr val="2A405B"/>
            </a:solidFill>
            <a:prstDash val="solid"/>
          </a:ln>
        </p:spPr>
      </p:sp>
      <p:sp>
        <p:nvSpPr>
          <p:cNvPr id="7" name="Shape 4"/>
          <p:cNvSpPr/>
          <p:nvPr/>
        </p:nvSpPr>
        <p:spPr>
          <a:xfrm>
            <a:off x="603504" y="1965960"/>
            <a:ext cx="7068312" cy="297180"/>
          </a:xfrm>
          <a:prstGeom prst="rect">
            <a:avLst/>
          </a:prstGeom>
          <a:solidFill>
            <a:srgbClr val="8EC5FF">
              <a:alpha val="20000"/>
            </a:srgbClr>
          </a:solidFill>
          <a:ln w="12700">
            <a:solidFill>
              <a:srgbClr val="8EC5FF">
                <a:alpha val="0"/>
              </a:srgbClr>
            </a:solidFill>
            <a:prstDash val="solid"/>
          </a:ln>
        </p:spPr>
      </p:sp>
      <p:sp>
        <p:nvSpPr>
          <p:cNvPr id="8" name="Shape 5"/>
          <p:cNvSpPr/>
          <p:nvPr/>
        </p:nvSpPr>
        <p:spPr>
          <a:xfrm>
            <a:off x="603504" y="5234940"/>
            <a:ext cx="7068312" cy="297180"/>
          </a:xfrm>
          <a:prstGeom prst="rect">
            <a:avLst/>
          </a:prstGeom>
          <a:solidFill>
            <a:srgbClr val="8EC5FF">
              <a:alpha val="20000"/>
            </a:srgbClr>
          </a:solidFill>
          <a:ln w="12700">
            <a:solidFill>
              <a:srgbClr val="8EC5FF">
                <a:alpha val="0"/>
              </a:srgbClr>
            </a:solidFill>
            <a:prstDash val="solid"/>
          </a:ln>
        </p:spPr>
      </p:sp>
      <p:sp>
        <p:nvSpPr>
          <p:cNvPr id="9" name="Text 6"/>
          <p:cNvSpPr txBox="1"/>
          <p:nvPr/>
        </p:nvSpPr>
        <p:spPr>
          <a:xfrm>
            <a:off x="731520" y="1965960"/>
            <a:ext cx="6812280" cy="386334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abstract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class</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protected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Skill</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string</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displayName,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range)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DisplayName = displayName;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Range = range;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string</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DisplayName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Range {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get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abstract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Use(</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user,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target);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10" name="Shape 7"/>
          <p:cNvSpPr/>
          <p:nvPr/>
        </p:nvSpPr>
        <p:spPr>
          <a:xfrm>
            <a:off x="8046720" y="1783080"/>
            <a:ext cx="3566160" cy="1325880"/>
          </a:xfrm>
          <a:prstGeom prst="roundRect">
            <a:avLst>
              <a:gd name="adj" fmla="val 8276"/>
            </a:avLst>
          </a:prstGeom>
          <a:solidFill>
            <a:srgbClr val="10233A"/>
          </a:solidFill>
          <a:ln w="12700">
            <a:solidFill>
              <a:srgbClr val="2A405B"/>
            </a:solidFill>
            <a:prstDash val="solid"/>
          </a:ln>
        </p:spPr>
      </p:sp>
      <p:sp>
        <p:nvSpPr>
          <p:cNvPr id="11" name="Text 8"/>
          <p:cNvSpPr txBox="1"/>
          <p:nvPr/>
        </p:nvSpPr>
        <p:spPr>
          <a:xfrm>
            <a:off x="8275320" y="2011680"/>
            <a:ext cx="3108960" cy="346329"/>
          </a:xfrm>
          <a:prstGeom prst="rect">
            <a:avLst/>
          </a:prstGeom>
          <a:noFill/>
          <a:ln/>
        </p:spPr>
        <p:txBody>
          <a:bodyPr wrap="square" lIns="0" tIns="0" rIns="0" bIns="0" rtlCol="0" anchor="t"/>
          <a:lstStyle/>
          <a:p>
            <a:pPr indent="0" marL="0">
              <a:buNone/>
            </a:pPr>
            <a:r>
              <a:rPr lang="en-US" sz="1700" b="1" dirty="0">
                <a:solidFill>
                  <a:srgbClr val="8EC5FF"/>
                </a:solidFill>
                <a:latin typeface="Consolas" pitchFamily="34" charset="0"/>
                <a:ea typeface="Consolas" pitchFamily="34" charset="-122"/>
                <a:cs typeface="Consolas" pitchFamily="34" charset="-120"/>
              </a:rPr>
              <a:t>abstract class</a:t>
            </a:r>
            <a:endParaRPr lang="en-US" sz="1700" dirty="0"/>
          </a:p>
        </p:txBody>
      </p:sp>
      <p:sp>
        <p:nvSpPr>
          <p:cNvPr id="12" name="Text 9"/>
          <p:cNvSpPr txBox="1"/>
          <p:nvPr/>
        </p:nvSpPr>
        <p:spPr>
          <a:xfrm>
            <a:off x="8275320" y="2431161"/>
            <a:ext cx="3108960" cy="54063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new로 직접 만들 수 없습니다.</a:t>
            </a:r>
            <a:endParaRPr lang="en-US" sz="1400" dirty="0"/>
          </a:p>
        </p:txBody>
      </p:sp>
      <p:sp>
        <p:nvSpPr>
          <p:cNvPr id="13" name="Shape 10"/>
          <p:cNvSpPr/>
          <p:nvPr/>
        </p:nvSpPr>
        <p:spPr>
          <a:xfrm>
            <a:off x="8046720" y="3291840"/>
            <a:ext cx="3566160" cy="1325880"/>
          </a:xfrm>
          <a:prstGeom prst="roundRect">
            <a:avLst>
              <a:gd name="adj" fmla="val 8276"/>
            </a:avLst>
          </a:prstGeom>
          <a:solidFill>
            <a:srgbClr val="10233A"/>
          </a:solidFill>
          <a:ln w="12700">
            <a:solidFill>
              <a:srgbClr val="2A405B"/>
            </a:solidFill>
            <a:prstDash val="solid"/>
          </a:ln>
        </p:spPr>
      </p:sp>
      <p:sp>
        <p:nvSpPr>
          <p:cNvPr id="14" name="Text 11"/>
          <p:cNvSpPr txBox="1"/>
          <p:nvPr/>
        </p:nvSpPr>
        <p:spPr>
          <a:xfrm>
            <a:off x="8275320" y="3520440"/>
            <a:ext cx="3108960" cy="346329"/>
          </a:xfrm>
          <a:prstGeom prst="rect">
            <a:avLst/>
          </a:prstGeom>
          <a:noFill/>
          <a:ln/>
        </p:spPr>
        <p:txBody>
          <a:bodyPr wrap="square" lIns="0" tIns="0" rIns="0" bIns="0" rtlCol="0" anchor="t"/>
          <a:lstStyle/>
          <a:p>
            <a:pPr indent="0" marL="0">
              <a:buNone/>
            </a:pPr>
            <a:r>
              <a:rPr lang="en-US" sz="1700" b="1" dirty="0">
                <a:solidFill>
                  <a:srgbClr val="8EC5FF"/>
                </a:solidFill>
              </a:rPr>
              <a:t>abstract 메서드</a:t>
            </a:r>
            <a:endParaRPr lang="en-US" sz="1700" dirty="0"/>
          </a:p>
        </p:txBody>
      </p:sp>
      <p:sp>
        <p:nvSpPr>
          <p:cNvPr id="15" name="Text 12"/>
          <p:cNvSpPr txBox="1"/>
          <p:nvPr/>
        </p:nvSpPr>
        <p:spPr>
          <a:xfrm>
            <a:off x="8275320" y="3939921"/>
            <a:ext cx="3108960" cy="54063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몸체가 없고, 자식이 반드시 override합니다.</a:t>
            </a:r>
            <a:endParaRPr lang="en-US" sz="1400" dirty="0"/>
          </a:p>
        </p:txBody>
      </p:sp>
      <p:sp>
        <p:nvSpPr>
          <p:cNvPr id="16" name="Shape 13"/>
          <p:cNvSpPr/>
          <p:nvPr/>
        </p:nvSpPr>
        <p:spPr>
          <a:xfrm>
            <a:off x="8046720" y="4800600"/>
            <a:ext cx="3566160" cy="1325880"/>
          </a:xfrm>
          <a:prstGeom prst="roundRect">
            <a:avLst>
              <a:gd name="adj" fmla="val 8276"/>
            </a:avLst>
          </a:prstGeom>
          <a:solidFill>
            <a:srgbClr val="10233A"/>
          </a:solidFill>
          <a:ln w="12700">
            <a:solidFill>
              <a:srgbClr val="2A405B"/>
            </a:solidFill>
            <a:prstDash val="solid"/>
          </a:ln>
        </p:spPr>
      </p:sp>
      <p:sp>
        <p:nvSpPr>
          <p:cNvPr id="17" name="Text 14"/>
          <p:cNvSpPr txBox="1"/>
          <p:nvPr/>
        </p:nvSpPr>
        <p:spPr>
          <a:xfrm>
            <a:off x="8275320" y="5029200"/>
            <a:ext cx="3108960" cy="346329"/>
          </a:xfrm>
          <a:prstGeom prst="rect">
            <a:avLst/>
          </a:prstGeom>
          <a:noFill/>
          <a:ln/>
        </p:spPr>
        <p:txBody>
          <a:bodyPr wrap="square" lIns="0" tIns="0" rIns="0" bIns="0" rtlCol="0" anchor="t"/>
          <a:lstStyle/>
          <a:p>
            <a:pPr indent="0" marL="0">
              <a:buNone/>
            </a:pPr>
            <a:r>
              <a:rPr lang="en-US" sz="1700" b="1" dirty="0">
                <a:solidFill>
                  <a:srgbClr val="83E58F"/>
                </a:solidFill>
              </a:rPr>
              <a:t>Use를 빠뜨리면</a:t>
            </a:r>
            <a:endParaRPr lang="en-US" sz="1700" dirty="0"/>
          </a:p>
        </p:txBody>
      </p:sp>
      <p:sp>
        <p:nvSpPr>
          <p:cNvPr id="18" name="Text 15"/>
          <p:cNvSpPr txBox="1"/>
          <p:nvPr/>
        </p:nvSpPr>
        <p:spPr>
          <a:xfrm>
            <a:off x="8275320" y="5448681"/>
            <a:ext cx="3108960" cy="54063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컴파일 오류 CS0534</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8EC5FF"/>
          </a:solidFill>
          <a:ln w="12700">
            <a:solidFill>
              <a:srgbClr val="8EC5F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8EC5FF"/>
                </a:solidFill>
              </a:rPr>
              <a:t>INTERFACE</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인터페이스</a:t>
            </a:r>
            <a:endParaRPr lang="en-US" sz="2800" dirty="0"/>
          </a:p>
        </p:txBody>
      </p:sp>
      <p:sp>
        <p:nvSpPr>
          <p:cNvPr id="6" name="Shape 3"/>
          <p:cNvSpPr/>
          <p:nvPr/>
        </p:nvSpPr>
        <p:spPr>
          <a:xfrm>
            <a:off x="548640" y="1783080"/>
            <a:ext cx="6172200" cy="3931920"/>
          </a:xfrm>
          <a:prstGeom prst="roundRect">
            <a:avLst>
              <a:gd name="adj" fmla="val 1860"/>
            </a:avLst>
          </a:prstGeom>
          <a:solidFill>
            <a:srgbClr val="040A13"/>
          </a:solidFill>
          <a:ln w="12700">
            <a:solidFill>
              <a:srgbClr val="2A405B"/>
            </a:solidFill>
            <a:prstDash val="solid"/>
          </a:ln>
        </p:spPr>
      </p:sp>
      <p:sp>
        <p:nvSpPr>
          <p:cNvPr id="7" name="Shape 4"/>
          <p:cNvSpPr/>
          <p:nvPr/>
        </p:nvSpPr>
        <p:spPr>
          <a:xfrm>
            <a:off x="603504" y="2560320"/>
            <a:ext cx="6062472" cy="297180"/>
          </a:xfrm>
          <a:prstGeom prst="rect">
            <a:avLst/>
          </a:prstGeom>
          <a:solidFill>
            <a:srgbClr val="8EC5FF">
              <a:alpha val="20000"/>
            </a:srgbClr>
          </a:solidFill>
          <a:ln w="12700">
            <a:solidFill>
              <a:srgbClr val="8EC5FF">
                <a:alpha val="0"/>
              </a:srgbClr>
            </a:solidFill>
            <a:prstDash val="solid"/>
          </a:ln>
        </p:spPr>
      </p:sp>
      <p:sp>
        <p:nvSpPr>
          <p:cNvPr id="8" name="Shape 5"/>
          <p:cNvSpPr/>
          <p:nvPr/>
        </p:nvSpPr>
        <p:spPr>
          <a:xfrm>
            <a:off x="603504" y="3451860"/>
            <a:ext cx="6062472" cy="297180"/>
          </a:xfrm>
          <a:prstGeom prst="rect">
            <a:avLst/>
          </a:prstGeom>
          <a:solidFill>
            <a:srgbClr val="8EC5FF">
              <a:alpha val="20000"/>
            </a:srgbClr>
          </a:solidFill>
          <a:ln w="12700">
            <a:solidFill>
              <a:srgbClr val="8EC5FF">
                <a:alpha val="0"/>
              </a:srgbClr>
            </a:solidFill>
            <a:prstDash val="solid"/>
          </a:ln>
        </p:spPr>
      </p:sp>
      <p:sp>
        <p:nvSpPr>
          <p:cNvPr id="9" name="Text 6"/>
          <p:cNvSpPr txBox="1"/>
          <p:nvPr/>
        </p:nvSpPr>
        <p:spPr>
          <a:xfrm>
            <a:off x="731520" y="1965960"/>
            <a:ext cx="5806440" cy="356616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interface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ICommand</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Execute();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sealed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class</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EndTurnCommand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ICommand</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Execute()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Console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.WriteLine(</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"턴을 마칩니다."</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10" name="Shape 7"/>
          <p:cNvSpPr/>
          <p:nvPr/>
        </p:nvSpPr>
        <p:spPr>
          <a:xfrm>
            <a:off x="8183880" y="1783080"/>
            <a:ext cx="2331720" cy="777240"/>
          </a:xfrm>
          <a:prstGeom prst="roundRect">
            <a:avLst>
              <a:gd name="adj" fmla="val 14118"/>
            </a:avLst>
          </a:prstGeom>
          <a:solidFill>
            <a:srgbClr val="10233A"/>
          </a:solidFill>
          <a:ln w="12700">
            <a:solidFill>
              <a:srgbClr val="8EC5FF"/>
            </a:solidFill>
            <a:prstDash val="solid"/>
          </a:ln>
        </p:spPr>
      </p:sp>
      <p:sp>
        <p:nvSpPr>
          <p:cNvPr id="11" name="Text 8"/>
          <p:cNvSpPr txBox="1"/>
          <p:nvPr/>
        </p:nvSpPr>
        <p:spPr>
          <a:xfrm>
            <a:off x="8183880" y="1783080"/>
            <a:ext cx="2331720" cy="777240"/>
          </a:xfrm>
          <a:prstGeom prst="rect">
            <a:avLst/>
          </a:prstGeom>
          <a:noFill/>
          <a:ln/>
        </p:spPr>
        <p:txBody>
          <a:bodyPr wrap="square" lIns="0" tIns="0" rIns="0" bIns="0" rtlCol="0" anchor="ctr"/>
          <a:lstStyle/>
          <a:p>
            <a:pPr algn="ctr" indent="0" marL="0">
              <a:buNone/>
            </a:pPr>
            <a:r>
              <a:rPr lang="en-US" sz="1700" b="1" dirty="0">
                <a:solidFill>
                  <a:srgbClr val="8EC5FF"/>
                </a:solidFill>
                <a:latin typeface="Consolas" pitchFamily="34" charset="0"/>
                <a:ea typeface="Consolas" pitchFamily="34" charset="-122"/>
                <a:cs typeface="Consolas" pitchFamily="34" charset="-120"/>
              </a:rPr>
              <a:t>ICommand</a:t>
            </a:r>
            <a:endParaRPr lang="en-US" sz="1700" dirty="0"/>
          </a:p>
        </p:txBody>
      </p:sp>
      <p:sp>
        <p:nvSpPr>
          <p:cNvPr id="12" name="Shape 9"/>
          <p:cNvSpPr/>
          <p:nvPr/>
        </p:nvSpPr>
        <p:spPr>
          <a:xfrm>
            <a:off x="7040880" y="3017520"/>
            <a:ext cx="2194560" cy="960120"/>
          </a:xfrm>
          <a:prstGeom prst="roundRect">
            <a:avLst>
              <a:gd name="adj" fmla="val 11429"/>
            </a:avLst>
          </a:prstGeom>
          <a:solidFill>
            <a:srgbClr val="142B45"/>
          </a:solidFill>
          <a:ln w="12700">
            <a:solidFill>
              <a:srgbClr val="2A405B"/>
            </a:solidFill>
            <a:prstDash val="solid"/>
          </a:ln>
        </p:spPr>
      </p:sp>
      <p:sp>
        <p:nvSpPr>
          <p:cNvPr id="13" name="Text 10"/>
          <p:cNvSpPr txBox="1"/>
          <p:nvPr/>
        </p:nvSpPr>
        <p:spPr>
          <a:xfrm>
            <a:off x="7040880" y="3090672"/>
            <a:ext cx="2194560" cy="411480"/>
          </a:xfrm>
          <a:prstGeom prst="rect">
            <a:avLst/>
          </a:prstGeom>
          <a:noFill/>
          <a:ln/>
        </p:spPr>
        <p:txBody>
          <a:bodyPr wrap="square" lIns="0" tIns="0" rIns="0" bIns="0" rtlCol="0" anchor="t"/>
          <a:lstStyle/>
          <a:p>
            <a:pPr algn="ctr" indent="0" marL="0">
              <a:buNone/>
            </a:pPr>
            <a:r>
              <a:rPr lang="en-US" sz="1300" b="1" dirty="0">
                <a:solidFill>
                  <a:srgbClr val="EEF5FF"/>
                </a:solidFill>
                <a:latin typeface="Consolas" pitchFamily="34" charset="0"/>
                <a:ea typeface="Consolas" pitchFamily="34" charset="-122"/>
                <a:cs typeface="Consolas" pitchFamily="34" charset="-120"/>
              </a:rPr>
              <a:t>UseSkillCommand</a:t>
            </a:r>
            <a:endParaRPr lang="en-US" sz="1300" dirty="0"/>
          </a:p>
        </p:txBody>
      </p:sp>
      <p:sp>
        <p:nvSpPr>
          <p:cNvPr id="14" name="Text 11"/>
          <p:cNvSpPr txBox="1"/>
          <p:nvPr/>
        </p:nvSpPr>
        <p:spPr>
          <a:xfrm>
            <a:off x="7040880" y="3493008"/>
            <a:ext cx="2194560" cy="365760"/>
          </a:xfrm>
          <a:prstGeom prst="rect">
            <a:avLst/>
          </a:prstGeom>
          <a:noFill/>
          <a:ln/>
        </p:spPr>
        <p:txBody>
          <a:bodyPr wrap="square" lIns="0" tIns="0" rIns="0" bIns="0" rtlCol="0" anchor="t"/>
          <a:lstStyle/>
          <a:p>
            <a:pPr algn="ctr" indent="0" marL="0">
              <a:buNone/>
            </a:pPr>
            <a:r>
              <a:rPr lang="en-US" sz="1300" dirty="0">
                <a:solidFill>
                  <a:srgbClr val="AFBED1"/>
                </a:solidFill>
              </a:rPr>
              <a:t>스킬 사용</a:t>
            </a:r>
            <a:endParaRPr lang="en-US" sz="1300" dirty="0"/>
          </a:p>
        </p:txBody>
      </p:sp>
      <p:sp>
        <p:nvSpPr>
          <p:cNvPr id="15" name="Shape 12"/>
          <p:cNvSpPr/>
          <p:nvPr/>
        </p:nvSpPr>
        <p:spPr>
          <a:xfrm flipV="1">
            <a:off x="8138160" y="2606040"/>
            <a:ext cx="845820" cy="365760"/>
          </a:xfrm>
          <a:prstGeom prst="line">
            <a:avLst/>
          </a:prstGeom>
          <a:noFill/>
          <a:ln w="25400">
            <a:solidFill>
              <a:srgbClr val="8EC5FF"/>
            </a:solidFill>
            <a:prstDash val="solid"/>
            <a:tailEnd type="triangle"/>
          </a:ln>
        </p:spPr>
      </p:sp>
      <p:sp>
        <p:nvSpPr>
          <p:cNvPr id="16" name="Shape 13"/>
          <p:cNvSpPr/>
          <p:nvPr/>
        </p:nvSpPr>
        <p:spPr>
          <a:xfrm>
            <a:off x="9464040" y="3017520"/>
            <a:ext cx="2194560" cy="960120"/>
          </a:xfrm>
          <a:prstGeom prst="roundRect">
            <a:avLst>
              <a:gd name="adj" fmla="val 11429"/>
            </a:avLst>
          </a:prstGeom>
          <a:solidFill>
            <a:srgbClr val="142B45"/>
          </a:solidFill>
          <a:ln w="12700">
            <a:solidFill>
              <a:srgbClr val="2A405B"/>
            </a:solidFill>
            <a:prstDash val="solid"/>
          </a:ln>
        </p:spPr>
      </p:sp>
      <p:sp>
        <p:nvSpPr>
          <p:cNvPr id="17" name="Text 14"/>
          <p:cNvSpPr txBox="1"/>
          <p:nvPr/>
        </p:nvSpPr>
        <p:spPr>
          <a:xfrm>
            <a:off x="9464040" y="3090672"/>
            <a:ext cx="2194560" cy="411480"/>
          </a:xfrm>
          <a:prstGeom prst="rect">
            <a:avLst/>
          </a:prstGeom>
          <a:noFill/>
          <a:ln/>
        </p:spPr>
        <p:txBody>
          <a:bodyPr wrap="square" lIns="0" tIns="0" rIns="0" bIns="0" rtlCol="0" anchor="t"/>
          <a:lstStyle/>
          <a:p>
            <a:pPr algn="ctr" indent="0" marL="0">
              <a:buNone/>
            </a:pPr>
            <a:r>
              <a:rPr lang="en-US" sz="1300" b="1" dirty="0">
                <a:solidFill>
                  <a:srgbClr val="EEF5FF"/>
                </a:solidFill>
                <a:latin typeface="Consolas" pitchFamily="34" charset="0"/>
                <a:ea typeface="Consolas" pitchFamily="34" charset="-122"/>
                <a:cs typeface="Consolas" pitchFamily="34" charset="-120"/>
              </a:rPr>
              <a:t>EndTurnCommand</a:t>
            </a:r>
            <a:endParaRPr lang="en-US" sz="1300" dirty="0"/>
          </a:p>
        </p:txBody>
      </p:sp>
      <p:sp>
        <p:nvSpPr>
          <p:cNvPr id="18" name="Text 15"/>
          <p:cNvSpPr txBox="1"/>
          <p:nvPr/>
        </p:nvSpPr>
        <p:spPr>
          <a:xfrm>
            <a:off x="9464040" y="3493008"/>
            <a:ext cx="2194560" cy="365760"/>
          </a:xfrm>
          <a:prstGeom prst="rect">
            <a:avLst/>
          </a:prstGeom>
          <a:noFill/>
          <a:ln/>
        </p:spPr>
        <p:txBody>
          <a:bodyPr wrap="square" lIns="0" tIns="0" rIns="0" bIns="0" rtlCol="0" anchor="t"/>
          <a:lstStyle/>
          <a:p>
            <a:pPr algn="ctr" indent="0" marL="0">
              <a:buNone/>
            </a:pPr>
            <a:r>
              <a:rPr lang="en-US" sz="1300" dirty="0">
                <a:solidFill>
                  <a:srgbClr val="AFBED1"/>
                </a:solidFill>
              </a:rPr>
              <a:t>턴 종료</a:t>
            </a:r>
            <a:endParaRPr lang="en-US" sz="1300" dirty="0"/>
          </a:p>
        </p:txBody>
      </p:sp>
      <p:sp>
        <p:nvSpPr>
          <p:cNvPr id="19" name="Shape 16"/>
          <p:cNvSpPr/>
          <p:nvPr/>
        </p:nvSpPr>
        <p:spPr>
          <a:xfrm flipH="1" flipV="1">
            <a:off x="9715500" y="2606040"/>
            <a:ext cx="845820" cy="365760"/>
          </a:xfrm>
          <a:prstGeom prst="line">
            <a:avLst/>
          </a:prstGeom>
          <a:noFill/>
          <a:ln w="25400">
            <a:solidFill>
              <a:srgbClr val="8EC5FF"/>
            </a:solidFill>
            <a:prstDash val="solid"/>
            <a:tailEnd type="triangle"/>
          </a:ln>
        </p:spPr>
      </p:sp>
      <p:sp>
        <p:nvSpPr>
          <p:cNvPr id="20" name="Shape 17"/>
          <p:cNvSpPr/>
          <p:nvPr/>
        </p:nvSpPr>
        <p:spPr>
          <a:xfrm>
            <a:off x="7040880" y="4251960"/>
            <a:ext cx="4617720" cy="1488440"/>
          </a:xfrm>
          <a:prstGeom prst="roundRect">
            <a:avLst>
              <a:gd name="adj" fmla="val 4915"/>
            </a:avLst>
          </a:prstGeom>
          <a:solidFill>
            <a:srgbClr val="040A13"/>
          </a:solidFill>
          <a:ln w="12700">
            <a:solidFill>
              <a:srgbClr val="2A405B"/>
            </a:solidFill>
            <a:prstDash val="solid"/>
          </a:ln>
        </p:spPr>
      </p:sp>
      <p:sp>
        <p:nvSpPr>
          <p:cNvPr id="21" name="Text 18"/>
          <p:cNvSpPr txBox="1"/>
          <p:nvPr/>
        </p:nvSpPr>
        <p:spPr>
          <a:xfrm>
            <a:off x="7223760" y="4434840"/>
            <a:ext cx="4251960" cy="1122680"/>
          </a:xfrm>
          <a:prstGeom prst="rect">
            <a:avLst/>
          </a:prstGeom>
          <a:noFill/>
          <a:ln/>
        </p:spPr>
        <p:txBody>
          <a:bodyPr wrap="none" lIns="0" tIns="0" rIns="0" bIns="0" rtlCol="0" anchor="t"/>
          <a:lstStyle/>
          <a:p>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foreach</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55E4CF"/>
                </a:solidFill>
                <a:latin typeface="Consolas" pitchFamily="34" charset="0"/>
                <a:ea typeface="Consolas" pitchFamily="34" charset="-122"/>
                <a:cs typeface="Consolas" pitchFamily="34" charset="-120"/>
              </a:rPr>
              <a:t>ICommand</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command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in</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plan)</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command.Execute();</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a:t>
            </a:r>
            <a:endParaRPr lang="en-US" sz="1700" dirty="0"/>
          </a:p>
        </p:txBody>
      </p:sp>
      <p:sp>
        <p:nvSpPr>
          <p:cNvPr id="22" name="Text 19"/>
          <p:cNvSpPr txBox="1"/>
          <p:nvPr/>
        </p:nvSpPr>
        <p:spPr>
          <a:xfrm>
            <a:off x="7040880" y="5897880"/>
            <a:ext cx="4617720" cy="365760"/>
          </a:xfrm>
          <a:prstGeom prst="rect">
            <a:avLst/>
          </a:prstGeom>
          <a:noFill/>
          <a:ln/>
        </p:spPr>
        <p:txBody>
          <a:bodyPr wrap="square" lIns="0" tIns="0" rIns="0" bIns="0" rtlCol="0" anchor="t"/>
          <a:lstStyle/>
          <a:p>
            <a:pPr indent="0" marL="0">
              <a:buNone/>
            </a:pPr>
            <a:r>
              <a:rPr lang="en-US" sz="1400" dirty="0">
                <a:solidFill>
                  <a:srgbClr val="AFBED1"/>
                </a:solidFill>
              </a:rPr>
              <a:t>2차시 Command 패턴에서 다시 사용합니다.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8EC5FF"/>
          </a:solidFill>
          <a:ln w="12700">
            <a:solidFill>
              <a:srgbClr val="8EC5F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8EC5FF"/>
                </a:solidFill>
              </a:rPr>
              <a:t>COMPARE</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추상 클래스와 인터페이스 비교</a:t>
            </a:r>
            <a:endParaRPr lang="en-US" sz="2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383280"/>
                <a:gridCol w="3840480"/>
                <a:gridCol w="3840480"/>
              </a:tblGrid>
              <a:tr h="658368">
                <a:tc>
                  <a:txBody>
                    <a:bodyPr/>
                    <a:lstStyle/>
                    <a:p>
                      <a:pPr indent="0" marL="0">
                        <a:buNone/>
                      </a:pPr>
                      <a:r>
                        <a:rPr lang="en-US" sz="1600" b="1" dirty="0">
                          <a:solidFill>
                            <a:srgbClr val="AFBED1"/>
                          </a:solidFill>
                        </a:rPr>
                        <a:t>구분</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600" b="1" dirty="0">
                          <a:solidFill>
                            <a:srgbClr val="AFBED1"/>
                          </a:solidFill>
                        </a:rPr>
                        <a:t>추상 클래스</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600" b="1" dirty="0">
                          <a:solidFill>
                            <a:srgbClr val="AFBED1"/>
                          </a:solidFill>
                        </a:rPr>
                        <a:t>인터페이스</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r>
              <a:tr h="658368">
                <a:tc>
                  <a:txBody>
                    <a:bodyPr/>
                    <a:lstStyle/>
                    <a:p>
                      <a:pPr indent="0" marL="0">
                        <a:buNone/>
                      </a:pPr>
                      <a:r>
                        <a:rPr lang="en-US" sz="1600" b="1" dirty="0">
                          <a:solidFill>
                            <a:srgbClr val="AFBED1"/>
                          </a:solidFill>
                        </a:rPr>
                        <a:t>관계를 읽는 문장</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600" dirty="0">
                          <a:solidFill>
                            <a:srgbClr val="EEF5FF"/>
                          </a:solidFill>
                        </a:rPr>
                        <a:t>A는 B이다  (강타는 스킬이다)</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600" dirty="0">
                          <a:solidFill>
                            <a:srgbClr val="EEF5FF"/>
                          </a:solidFill>
                        </a:rPr>
                        <a:t>A는 ~할 수 있다  (실행할 수 있다)</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658368">
                <a:tc>
                  <a:txBody>
                    <a:bodyPr/>
                    <a:lstStyle/>
                    <a:p>
                      <a:pPr indent="0" marL="0">
                        <a:buNone/>
                      </a:pPr>
                      <a:r>
                        <a:rPr lang="en-US" sz="1600" b="1" dirty="0">
                          <a:solidFill>
                            <a:srgbClr val="AFBED1"/>
                          </a:solidFill>
                        </a:rPr>
                        <a:t>공통 데이터와 코드</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600" dirty="0">
                          <a:solidFill>
                            <a:srgbClr val="EEF5FF"/>
                          </a:solidFill>
                        </a:rPr>
                        <a:t>가질 수 있다  (DisplayName, Range)</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600" dirty="0">
                          <a:solidFill>
                            <a:srgbClr val="EEF5FF"/>
                          </a:solidFill>
                        </a:rPr>
                        <a:t>주로 약속만 정한다</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658368">
                <a:tc>
                  <a:txBody>
                    <a:bodyPr/>
                    <a:lstStyle/>
                    <a:p>
                      <a:pPr indent="0" marL="0">
                        <a:buNone/>
                      </a:pPr>
                      <a:r>
                        <a:rPr lang="en-US" sz="1600" b="1" dirty="0">
                          <a:solidFill>
                            <a:srgbClr val="AFBED1"/>
                          </a:solidFill>
                        </a:rPr>
                        <a:t>한 클래스가 받을 수 있는 수</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600" dirty="0">
                          <a:solidFill>
                            <a:srgbClr val="EEF5FF"/>
                          </a:solidFill>
                        </a:rPr>
                        <a:t>하나만 상속한다</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600" dirty="0">
                          <a:solidFill>
                            <a:srgbClr val="EEF5FF"/>
                          </a:solidFill>
                        </a:rPr>
                        <a:t>여러 개를 구현할 수 있다</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658368">
                <a:tc>
                  <a:txBody>
                    <a:bodyPr/>
                    <a:lstStyle/>
                    <a:p>
                      <a:pPr indent="0" marL="0">
                        <a:buNone/>
                      </a:pPr>
                      <a:r>
                        <a:rPr lang="en-US" sz="1600" b="1" dirty="0">
                          <a:solidFill>
                            <a:srgbClr val="AFBED1"/>
                          </a:solidFill>
                        </a:rPr>
                        <a:t>오늘 본 예</a:t>
                      </a:r>
                      <a:endParaRPr lang="en-US" sz="16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600" dirty="0">
                          <a:solidFill>
                            <a:srgbClr val="55E4CF"/>
                          </a:solidFill>
                          <a:latin typeface="Consolas" pitchFamily="34" charset="0"/>
                          <a:ea typeface="Consolas" pitchFamily="34" charset="-122"/>
                          <a:cs typeface="Consolas" pitchFamily="34" charset="-120"/>
                        </a:rPr>
                        <a:t>Skill</a:t>
                      </a:r>
                      <a:endParaRPr lang="en-US" sz="16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600" dirty="0">
                          <a:solidFill>
                            <a:srgbClr val="55E4CF"/>
                          </a:solidFill>
                          <a:latin typeface="Consolas" pitchFamily="34" charset="0"/>
                          <a:ea typeface="Consolas" pitchFamily="34" charset="-122"/>
                          <a:cs typeface="Consolas" pitchFamily="34" charset="-120"/>
                        </a:rPr>
                        <a:t>ICommand</a:t>
                      </a:r>
                      <a:endParaRPr lang="en-US" sz="16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bl>
          </a:graphicData>
        </a:graphic>
      </p:graphicFrame>
      <p:sp>
        <p:nvSpPr>
          <p:cNvPr id="7" name="Shape 3"/>
          <p:cNvSpPr/>
          <p:nvPr/>
        </p:nvSpPr>
        <p:spPr>
          <a:xfrm>
            <a:off x="548640" y="5349240"/>
            <a:ext cx="11064240" cy="777240"/>
          </a:xfrm>
          <a:prstGeom prst="roundRect">
            <a:avLst>
              <a:gd name="adj" fmla="val 14118"/>
            </a:avLst>
          </a:prstGeom>
          <a:solidFill>
            <a:srgbClr val="142B45"/>
          </a:solidFill>
          <a:ln w="12700">
            <a:solidFill>
              <a:srgbClr val="8EC5FF"/>
            </a:solidFill>
            <a:prstDash val="solid"/>
          </a:ln>
        </p:spPr>
      </p:sp>
      <p:sp>
        <p:nvSpPr>
          <p:cNvPr id="8" name="Text 4"/>
          <p:cNvSpPr txBox="1"/>
          <p:nvPr/>
        </p:nvSpPr>
        <p:spPr>
          <a:xfrm>
            <a:off x="822960" y="5349240"/>
            <a:ext cx="10607040" cy="777240"/>
          </a:xfrm>
          <a:prstGeom prst="rect">
            <a:avLst/>
          </a:prstGeom>
          <a:noFill/>
          <a:ln/>
        </p:spPr>
        <p:txBody>
          <a:bodyPr wrap="square" lIns="0" tIns="0" rIns="0" bIns="0" rtlCol="0" anchor="ctr"/>
          <a:lstStyle/>
          <a:p>
            <a:pPr indent="0" marL="0">
              <a:buNone/>
            </a:pPr>
            <a:r>
              <a:rPr lang="en-US" sz="1600" b="1" dirty="0">
                <a:solidFill>
                  <a:srgbClr val="EEF5FF"/>
                </a:solidFill>
              </a:rPr>
              <a:t>공통 코드를 물려주면 추상 클래스, 행동만 약속하면 인터페이스</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548640" y="502920"/>
            <a:ext cx="1005840" cy="1005840"/>
          </a:xfrm>
          <a:prstGeom prst="ellipse">
            <a:avLst/>
          </a:prstGeom>
          <a:solidFill>
            <a:srgbClr val="FFD16F"/>
          </a:solidFill>
          <a:ln w="12700">
            <a:solidFill>
              <a:srgbClr val="FFD16F"/>
            </a:solidFill>
            <a:prstDash val="solid"/>
          </a:ln>
        </p:spPr>
      </p:sp>
      <p:sp>
        <p:nvSpPr>
          <p:cNvPr id="3" name="Text 1"/>
          <p:cNvSpPr txBox="1"/>
          <p:nvPr/>
        </p:nvSpPr>
        <p:spPr>
          <a:xfrm>
            <a:off x="548640" y="502920"/>
            <a:ext cx="1005840" cy="1005840"/>
          </a:xfrm>
          <a:prstGeom prst="rect">
            <a:avLst/>
          </a:prstGeom>
          <a:noFill/>
          <a:ln/>
        </p:spPr>
        <p:txBody>
          <a:bodyPr wrap="square" lIns="0" tIns="0" rIns="0" bIns="0" rtlCol="0" anchor="ctr"/>
          <a:lstStyle/>
          <a:p>
            <a:pPr algn="ctr" indent="0" marL="0">
              <a:buNone/>
            </a:pPr>
            <a:r>
              <a:rPr lang="en-US" sz="4400" b="1" dirty="0">
                <a:solidFill>
                  <a:srgbClr val="040A13"/>
                </a:solidFill>
              </a:rPr>
              <a:t>Q</a:t>
            </a:r>
            <a:endParaRPr lang="en-US" sz="4400" dirty="0"/>
          </a:p>
        </p:txBody>
      </p:sp>
      <p:sp>
        <p:nvSpPr>
          <p:cNvPr id="4" name="Text 2"/>
          <p:cNvSpPr txBox="1"/>
          <p:nvPr/>
        </p:nvSpPr>
        <p:spPr>
          <a:xfrm>
            <a:off x="1828800" y="566928"/>
            <a:ext cx="9144000" cy="310896"/>
          </a:xfrm>
          <a:prstGeom prst="rect">
            <a:avLst/>
          </a:prstGeom>
          <a:noFill/>
          <a:ln/>
        </p:spPr>
        <p:txBody>
          <a:bodyPr wrap="square" lIns="0" tIns="0" rIns="0" bIns="0" rtlCol="0" anchor="t"/>
          <a:lstStyle/>
          <a:p>
            <a:pPr indent="0" marL="0">
              <a:buNone/>
            </a:pPr>
            <a:r>
              <a:rPr lang="en-US" sz="1300" b="1" spc="150" kern="0" dirty="0">
                <a:solidFill>
                  <a:srgbClr val="FFD16F"/>
                </a:solidFill>
              </a:rPr>
              <a:t>CHECK 5 · 추상화</a:t>
            </a:r>
            <a:endParaRPr lang="en-US" sz="1300" dirty="0"/>
          </a:p>
        </p:txBody>
      </p:sp>
      <p:sp>
        <p:nvSpPr>
          <p:cNvPr id="5" name="Text 3"/>
          <p:cNvSpPr txBox="1"/>
          <p:nvPr/>
        </p:nvSpPr>
        <p:spPr>
          <a:xfrm>
            <a:off x="1828800" y="914400"/>
            <a:ext cx="9784080" cy="1280160"/>
          </a:xfrm>
          <a:prstGeom prst="rect">
            <a:avLst/>
          </a:prstGeom>
          <a:noFill/>
          <a:ln/>
        </p:spPr>
        <p:txBody>
          <a:bodyPr wrap="square" lIns="0" tIns="0" rIns="0" bIns="0" rtlCol="0" anchor="t"/>
          <a:lstStyle/>
          <a:p>
            <a:pPr indent="0" marL="0">
              <a:lnSpc>
                <a:spcPct val="115000"/>
              </a:lnSpc>
              <a:buNone/>
            </a:pPr>
            <a:r>
              <a:rPr lang="en-US" sz="2600" b="1" dirty="0">
                <a:solidFill>
                  <a:srgbClr val="EEF5FF"/>
                </a:solidFill>
              </a:rPr>
              <a:t>추상 클래스와 인터페이스 중 무엇이 맞을까요?</a:t>
            </a:r>
            <a:endParaRPr lang="en-US" sz="2600" dirty="0"/>
          </a:p>
        </p:txBody>
      </p:sp>
      <p:sp>
        <p:nvSpPr>
          <p:cNvPr id="7" name="Shape 4"/>
          <p:cNvSpPr/>
          <p:nvPr/>
        </p:nvSpPr>
        <p:spPr>
          <a:xfrm>
            <a:off x="1828800" y="2514600"/>
            <a:ext cx="9784080" cy="868680"/>
          </a:xfrm>
          <a:prstGeom prst="roundRect">
            <a:avLst>
              <a:gd name="adj" fmla="val 12632"/>
            </a:avLst>
          </a:prstGeom>
          <a:solidFill>
            <a:srgbClr val="10233A"/>
          </a:solidFill>
          <a:ln w="12700">
            <a:solidFill>
              <a:srgbClr val="2A405B"/>
            </a:solidFill>
            <a:prstDash val="solid"/>
          </a:ln>
        </p:spPr>
      </p:sp>
      <p:sp>
        <p:nvSpPr>
          <p:cNvPr id="8" name="Text 5"/>
          <p:cNvSpPr txBox="1"/>
          <p:nvPr/>
        </p:nvSpPr>
        <p:spPr>
          <a:xfrm>
            <a:off x="2103120" y="2514600"/>
            <a:ext cx="548640" cy="868680"/>
          </a:xfrm>
          <a:prstGeom prst="rect">
            <a:avLst/>
          </a:prstGeom>
          <a:noFill/>
          <a:ln/>
        </p:spPr>
        <p:txBody>
          <a:bodyPr wrap="square" lIns="0" tIns="0" rIns="0" bIns="0" rtlCol="0" anchor="ctr"/>
          <a:lstStyle/>
          <a:p>
            <a:pPr indent="0" marL="0">
              <a:buNone/>
            </a:pPr>
            <a:r>
              <a:rPr lang="en-US" sz="2200" b="1" dirty="0">
                <a:solidFill>
                  <a:srgbClr val="FFD16F"/>
                </a:solidFill>
              </a:rPr>
              <a:t>①</a:t>
            </a:r>
            <a:endParaRPr lang="en-US" sz="2200" dirty="0"/>
          </a:p>
        </p:txBody>
      </p:sp>
      <p:sp>
        <p:nvSpPr>
          <p:cNvPr id="9" name="Text 6"/>
          <p:cNvSpPr txBox="1"/>
          <p:nvPr/>
        </p:nvSpPr>
        <p:spPr>
          <a:xfrm>
            <a:off x="2743200" y="2514600"/>
            <a:ext cx="8686800" cy="868680"/>
          </a:xfrm>
          <a:prstGeom prst="rect">
            <a:avLst/>
          </a:prstGeom>
          <a:noFill/>
          <a:ln/>
        </p:spPr>
        <p:txBody>
          <a:bodyPr wrap="square" lIns="0" tIns="0" rIns="0" bIns="0" rtlCol="0" anchor="ctr"/>
          <a:lstStyle/>
          <a:p>
            <a:pPr indent="0" marL="0">
              <a:buNone/>
            </a:pPr>
            <a:r>
              <a:rPr lang="en-US" sz="2000" dirty="0">
                <a:solidFill>
                  <a:srgbClr val="EEF5FF"/>
                </a:solidFill>
              </a:rPr>
              <a:t>모든 상태 이상은 이름을 가지고, 대상에게 효과를 적용한다</a:t>
            </a:r>
            <a:endParaRPr lang="en-US" sz="2000" dirty="0"/>
          </a:p>
        </p:txBody>
      </p:sp>
      <p:sp>
        <p:nvSpPr>
          <p:cNvPr id="10" name="Shape 7"/>
          <p:cNvSpPr/>
          <p:nvPr/>
        </p:nvSpPr>
        <p:spPr>
          <a:xfrm>
            <a:off x="1828800" y="3566160"/>
            <a:ext cx="9784080" cy="868680"/>
          </a:xfrm>
          <a:prstGeom prst="roundRect">
            <a:avLst>
              <a:gd name="adj" fmla="val 12632"/>
            </a:avLst>
          </a:prstGeom>
          <a:solidFill>
            <a:srgbClr val="10233A"/>
          </a:solidFill>
          <a:ln w="12700">
            <a:solidFill>
              <a:srgbClr val="2A405B"/>
            </a:solidFill>
            <a:prstDash val="solid"/>
          </a:ln>
        </p:spPr>
      </p:sp>
      <p:sp>
        <p:nvSpPr>
          <p:cNvPr id="11" name="Text 8"/>
          <p:cNvSpPr txBox="1"/>
          <p:nvPr/>
        </p:nvSpPr>
        <p:spPr>
          <a:xfrm>
            <a:off x="2103120" y="3566160"/>
            <a:ext cx="548640" cy="868680"/>
          </a:xfrm>
          <a:prstGeom prst="rect">
            <a:avLst/>
          </a:prstGeom>
          <a:noFill/>
          <a:ln/>
        </p:spPr>
        <p:txBody>
          <a:bodyPr wrap="square" lIns="0" tIns="0" rIns="0" bIns="0" rtlCol="0" anchor="ctr"/>
          <a:lstStyle/>
          <a:p>
            <a:pPr indent="0" marL="0">
              <a:buNone/>
            </a:pPr>
            <a:r>
              <a:rPr lang="en-US" sz="2200" b="1" dirty="0">
                <a:solidFill>
                  <a:srgbClr val="FFD16F"/>
                </a:solidFill>
              </a:rPr>
              <a:t>②</a:t>
            </a:r>
            <a:endParaRPr lang="en-US" sz="2200" dirty="0"/>
          </a:p>
        </p:txBody>
      </p:sp>
      <p:sp>
        <p:nvSpPr>
          <p:cNvPr id="12" name="Text 9"/>
          <p:cNvSpPr txBox="1"/>
          <p:nvPr/>
        </p:nvSpPr>
        <p:spPr>
          <a:xfrm>
            <a:off x="2743200" y="3566160"/>
            <a:ext cx="8686800" cy="868680"/>
          </a:xfrm>
          <a:prstGeom prst="rect">
            <a:avLst/>
          </a:prstGeom>
          <a:noFill/>
          <a:ln/>
        </p:spPr>
        <p:txBody>
          <a:bodyPr wrap="square" lIns="0" tIns="0" rIns="0" bIns="0" rtlCol="0" anchor="ctr"/>
          <a:lstStyle/>
          <a:p>
            <a:pPr indent="0" marL="0">
              <a:buNone/>
            </a:pPr>
            <a:r>
              <a:rPr lang="en-US" sz="2000" dirty="0">
                <a:solidFill>
                  <a:srgbClr val="EEF5FF"/>
                </a:solidFill>
              </a:rPr>
              <a:t>유닛, 상자, 문은 모두 공격받을 수 있다</a:t>
            </a:r>
            <a:endParaRPr lang="en-US" sz="2000" dirty="0"/>
          </a:p>
        </p:txBody>
      </p:sp>
      <p:sp>
        <p:nvSpPr>
          <p:cNvPr id="13" name="Shape 10"/>
          <p:cNvSpPr/>
          <p:nvPr/>
        </p:nvSpPr>
        <p:spPr>
          <a:xfrm>
            <a:off x="1828800" y="4617720"/>
            <a:ext cx="9784080" cy="868680"/>
          </a:xfrm>
          <a:prstGeom prst="roundRect">
            <a:avLst>
              <a:gd name="adj" fmla="val 12632"/>
            </a:avLst>
          </a:prstGeom>
          <a:solidFill>
            <a:srgbClr val="10233A"/>
          </a:solidFill>
          <a:ln w="12700">
            <a:solidFill>
              <a:srgbClr val="2A405B"/>
            </a:solidFill>
            <a:prstDash val="solid"/>
          </a:ln>
        </p:spPr>
      </p:sp>
      <p:sp>
        <p:nvSpPr>
          <p:cNvPr id="14" name="Text 11"/>
          <p:cNvSpPr txBox="1"/>
          <p:nvPr/>
        </p:nvSpPr>
        <p:spPr>
          <a:xfrm>
            <a:off x="2103120" y="4617720"/>
            <a:ext cx="548640" cy="868680"/>
          </a:xfrm>
          <a:prstGeom prst="rect">
            <a:avLst/>
          </a:prstGeom>
          <a:noFill/>
          <a:ln/>
        </p:spPr>
        <p:txBody>
          <a:bodyPr wrap="square" lIns="0" tIns="0" rIns="0" bIns="0" rtlCol="0" anchor="ctr"/>
          <a:lstStyle/>
          <a:p>
            <a:pPr indent="0" marL="0">
              <a:buNone/>
            </a:pPr>
            <a:r>
              <a:rPr lang="en-US" sz="2200" b="1" dirty="0">
                <a:solidFill>
                  <a:srgbClr val="FFD16F"/>
                </a:solidFill>
              </a:rPr>
              <a:t>③</a:t>
            </a:r>
            <a:endParaRPr lang="en-US" sz="2200" dirty="0"/>
          </a:p>
        </p:txBody>
      </p:sp>
      <p:sp>
        <p:nvSpPr>
          <p:cNvPr id="15" name="Text 12"/>
          <p:cNvSpPr txBox="1"/>
          <p:nvPr/>
        </p:nvSpPr>
        <p:spPr>
          <a:xfrm>
            <a:off x="2743200" y="4617720"/>
            <a:ext cx="8686800" cy="868680"/>
          </a:xfrm>
          <a:prstGeom prst="rect">
            <a:avLst/>
          </a:prstGeom>
          <a:noFill/>
          <a:ln/>
        </p:spPr>
        <p:txBody>
          <a:bodyPr wrap="square" lIns="0" tIns="0" rIns="0" bIns="0" rtlCol="0" anchor="ctr"/>
          <a:lstStyle/>
          <a:p>
            <a:pPr indent="0" marL="0">
              <a:buNone/>
            </a:pPr>
            <a:r>
              <a:rPr lang="en-US" sz="2000" dirty="0">
                <a:solidFill>
                  <a:srgbClr val="EEF5FF"/>
                </a:solidFill>
              </a:rPr>
              <a:t>모든 스킬은 이름과 사거리를 가지고, Use할 수 있다</a:t>
            </a:r>
            <a:endParaRPr lang="en-US" sz="2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55E4CF"/>
          </a:solidFill>
          <a:ln w="12700">
            <a:solidFill>
              <a:srgbClr val="55E4C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55E4CF"/>
                </a:solidFill>
              </a:rPr>
              <a:t>FOUR PILLARS</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4대 특성 정리</a:t>
            </a:r>
            <a:endParaRPr lang="en-US" sz="28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737360"/>
                <a:gridCol w="5120640"/>
                <a:gridCol w="4206240"/>
              </a:tblGrid>
              <a:tr h="841248">
                <a:tc>
                  <a:txBody>
                    <a:bodyPr/>
                    <a:lstStyle/>
                    <a:p>
                      <a:pPr indent="0" marL="0">
                        <a:buNone/>
                      </a:pPr>
                      <a:r>
                        <a:rPr lang="en-US" sz="1700" b="1" dirty="0">
                          <a:solidFill>
                            <a:srgbClr val="AFBED1"/>
                          </a:solidFill>
                        </a:rPr>
                        <a:t>특성</a:t>
                      </a:r>
                      <a:endParaRPr lang="en-US" sz="17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700" b="1" dirty="0">
                          <a:solidFill>
                            <a:srgbClr val="AFBED1"/>
                          </a:solidFill>
                        </a:rPr>
                        <a:t>해결하는 문제</a:t>
                      </a:r>
                      <a:endParaRPr lang="en-US" sz="17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c>
                  <a:txBody>
                    <a:bodyPr/>
                    <a:lstStyle/>
                    <a:p>
                      <a:pPr indent="0" marL="0">
                        <a:buNone/>
                      </a:pPr>
                      <a:r>
                        <a:rPr lang="en-US" sz="1700" b="1" dirty="0">
                          <a:solidFill>
                            <a:srgbClr val="AFBED1"/>
                          </a:solidFill>
                        </a:rPr>
                        <a:t>오늘 본 코드</a:t>
                      </a:r>
                      <a:endParaRPr lang="en-US" sz="17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42B45"/>
                    </a:solidFill>
                  </a:tcPr>
                </a:tc>
              </a:tr>
              <a:tr h="841248">
                <a:tc>
                  <a:txBody>
                    <a:bodyPr/>
                    <a:lstStyle/>
                    <a:p>
                      <a:pPr indent="0" marL="0">
                        <a:buNone/>
                      </a:pPr>
                      <a:r>
                        <a:rPr lang="en-US" sz="1700" b="1" dirty="0">
                          <a:solidFill>
                            <a:srgbClr val="83E58F"/>
                          </a:solidFill>
                        </a:rPr>
                        <a:t>캡슐화</a:t>
                      </a:r>
                      <a:endParaRPr lang="en-US" sz="17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700" dirty="0">
                          <a:solidFill>
                            <a:srgbClr val="EEF5FF"/>
                          </a:solidFill>
                        </a:rPr>
                        <a:t>아무 곳에서나 값을 바꿔서 규칙이 깨진다</a:t>
                      </a:r>
                      <a:endParaRPr lang="en-US" sz="17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FFD16F"/>
                          </a:solidFill>
                          <a:latin typeface="Consolas" pitchFamily="34" charset="0"/>
                          <a:ea typeface="Consolas" pitchFamily="34" charset="-122"/>
                          <a:cs typeface="Consolas" pitchFamily="34" charset="-120"/>
                        </a:rPr>
                        <a:t>CurrentHp { get; private set; }</a:t>
                      </a:r>
                      <a:endParaRPr lang="en-US" sz="15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841248">
                <a:tc>
                  <a:txBody>
                    <a:bodyPr/>
                    <a:lstStyle/>
                    <a:p>
                      <a:pPr indent="0" marL="0">
                        <a:buNone/>
                      </a:pPr>
                      <a:r>
                        <a:rPr lang="en-US" sz="1700" b="1" dirty="0">
                          <a:solidFill>
                            <a:srgbClr val="B8A4FF"/>
                          </a:solidFill>
                        </a:rPr>
                        <a:t>상속</a:t>
                      </a:r>
                      <a:endParaRPr lang="en-US" sz="17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700" dirty="0">
                          <a:solidFill>
                            <a:srgbClr val="EEF5FF"/>
                          </a:solidFill>
                        </a:rPr>
                        <a:t>비슷한 클래스마다 같은 코드가 반복된다</a:t>
                      </a:r>
                      <a:endParaRPr lang="en-US" sz="17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FFD16F"/>
                          </a:solidFill>
                          <a:latin typeface="Consolas" pitchFamily="34" charset="0"/>
                          <a:ea typeface="Consolas" pitchFamily="34" charset="-122"/>
                          <a:cs typeface="Consolas" pitchFamily="34" charset="-120"/>
                        </a:rPr>
                        <a:t>PowerStrikeSkill : Skill</a:t>
                      </a:r>
                      <a:endParaRPr lang="en-US" sz="15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841248">
                <a:tc>
                  <a:txBody>
                    <a:bodyPr/>
                    <a:lstStyle/>
                    <a:p>
                      <a:pPr indent="0" marL="0">
                        <a:buNone/>
                      </a:pPr>
                      <a:r>
                        <a:rPr lang="en-US" sz="1700" b="1" dirty="0">
                          <a:solidFill>
                            <a:srgbClr val="FFD16F"/>
                          </a:solidFill>
                        </a:rPr>
                        <a:t>다형성</a:t>
                      </a:r>
                      <a:endParaRPr lang="en-US" sz="17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700" dirty="0">
                          <a:solidFill>
                            <a:srgbClr val="EEF5FF"/>
                          </a:solidFill>
                        </a:rPr>
                        <a:t>기능을 추가할 때마다 switch 문을 고친다</a:t>
                      </a:r>
                      <a:endParaRPr lang="en-US" sz="17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FFD16F"/>
                          </a:solidFill>
                          <a:latin typeface="Consolas" pitchFamily="34" charset="0"/>
                          <a:ea typeface="Consolas" pitchFamily="34" charset="-122"/>
                          <a:cs typeface="Consolas" pitchFamily="34" charset="-120"/>
                        </a:rPr>
                        <a:t>skill.Use(user, target)</a:t>
                      </a:r>
                      <a:endParaRPr lang="en-US" sz="15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r h="841248">
                <a:tc>
                  <a:txBody>
                    <a:bodyPr/>
                    <a:lstStyle/>
                    <a:p>
                      <a:pPr indent="0" marL="0">
                        <a:buNone/>
                      </a:pPr>
                      <a:r>
                        <a:rPr lang="en-US" sz="1700" b="1" dirty="0">
                          <a:solidFill>
                            <a:srgbClr val="8EC5FF"/>
                          </a:solidFill>
                        </a:rPr>
                        <a:t>추상화</a:t>
                      </a:r>
                      <a:endParaRPr lang="en-US" sz="17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700" dirty="0">
                          <a:solidFill>
                            <a:srgbClr val="EEF5FF"/>
                          </a:solidFill>
                        </a:rPr>
                        <a:t>꼭 필요한 약속을 빠뜨리거나 세부 사항에 묶인다</a:t>
                      </a:r>
                      <a:endParaRPr lang="en-US" sz="1700" dirty="0"/>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c>
                  <a:txBody>
                    <a:bodyPr/>
                    <a:lstStyle/>
                    <a:p>
                      <a:pPr indent="0" marL="0">
                        <a:buNone/>
                      </a:pPr>
                      <a:r>
                        <a:rPr lang="en-US" sz="1500" dirty="0">
                          <a:solidFill>
                            <a:srgbClr val="FFD16F"/>
                          </a:solidFill>
                          <a:latin typeface="Consolas" pitchFamily="34" charset="0"/>
                          <a:ea typeface="Consolas" pitchFamily="34" charset="-122"/>
                          <a:cs typeface="Consolas" pitchFamily="34" charset="-120"/>
                        </a:rPr>
                        <a:t>abstract Skill, ICommand</a:t>
                      </a:r>
                      <a:endParaRPr lang="en-US" sz="1500" dirty="0">
                        <a:latin typeface="Consolas" charset="0"/>
                        <a:ea typeface="Consolas" charset="0"/>
                        <a:cs typeface="Consolas" charset="0"/>
                      </a:endParaRPr>
                    </a:p>
                  </a:txBody>
                  <a:tcPr marL="127000" marR="127000" marT="50800" marB="50800" anchor="ctr">
                    <a:lnL w="12700" cap="flat" cmpd="sng" algn="ctr">
                      <a:solidFill>
                        <a:srgbClr val="2A405B"/>
                      </a:solidFill>
                      <a:prstDash val="solid"/>
                      <a:round/>
                      <a:headEnd type="none" w="med" len="med"/>
                      <a:tailEnd type="none" w="med" len="med"/>
                    </a:lnL>
                    <a:lnR w="12700" cap="flat" cmpd="sng" algn="ctr">
                      <a:solidFill>
                        <a:srgbClr val="2A405B"/>
                      </a:solidFill>
                      <a:prstDash val="solid"/>
                      <a:round/>
                      <a:headEnd type="none" w="med" len="med"/>
                      <a:tailEnd type="none" w="med" len="med"/>
                    </a:lnR>
                    <a:lnT w="12700" cap="flat" cmpd="sng" algn="ctr">
                      <a:solidFill>
                        <a:srgbClr val="2A405B"/>
                      </a:solidFill>
                      <a:prstDash val="solid"/>
                      <a:round/>
                      <a:headEnd type="none" w="med" len="med"/>
                      <a:tailEnd type="none" w="med" len="med"/>
                    </a:lnT>
                    <a:lnB w="12700" cap="flat" cmpd="sng" algn="ctr">
                      <a:solidFill>
                        <a:srgbClr val="2A405B"/>
                      </a:solidFill>
                      <a:prstDash val="solid"/>
                      <a:round/>
                      <a:headEnd type="none" w="med" len="med"/>
                      <a:tailEnd type="none" w="med" len="med"/>
                    </a:lnB>
                    <a:solidFill>
                      <a:srgbClr val="10233A"/>
                    </a:solidFill>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822960" y="1554480"/>
            <a:ext cx="2743200" cy="1005840"/>
          </a:xfrm>
          <a:prstGeom prst="rect">
            <a:avLst/>
          </a:prstGeom>
          <a:noFill/>
          <a:ln/>
        </p:spPr>
        <p:txBody>
          <a:bodyPr wrap="square" lIns="0" tIns="0" rIns="0" bIns="0" rtlCol="0" anchor="t"/>
          <a:lstStyle/>
          <a:p>
            <a:pPr indent="0" marL="0">
              <a:buNone/>
            </a:pPr>
            <a:r>
              <a:rPr lang="en-US" sz="6000" b="1" dirty="0">
                <a:solidFill>
                  <a:srgbClr val="55E4CF"/>
                </a:solidFill>
              </a:rPr>
              <a:t>07</a:t>
            </a:r>
            <a:endParaRPr lang="en-US" sz="6000" dirty="0"/>
          </a:p>
        </p:txBody>
      </p:sp>
      <p:sp>
        <p:nvSpPr>
          <p:cNvPr id="3" name="Text 1"/>
          <p:cNvSpPr txBox="1"/>
          <p:nvPr/>
        </p:nvSpPr>
        <p:spPr>
          <a:xfrm>
            <a:off x="822960" y="2697480"/>
            <a:ext cx="9144000" cy="365760"/>
          </a:xfrm>
          <a:prstGeom prst="rect">
            <a:avLst/>
          </a:prstGeom>
          <a:noFill/>
          <a:ln/>
        </p:spPr>
        <p:txBody>
          <a:bodyPr wrap="square" lIns="0" tIns="0" rIns="0" bIns="0" rtlCol="0" anchor="t"/>
          <a:lstStyle/>
          <a:p>
            <a:pPr indent="0" marL="0">
              <a:buNone/>
            </a:pPr>
            <a:r>
              <a:rPr lang="en-US" sz="1500" b="1" spc="200" kern="0" dirty="0">
                <a:solidFill>
                  <a:srgbClr val="55E4CF"/>
                </a:solidFill>
              </a:rPr>
              <a:t>PRACTICE</a:t>
            </a:r>
            <a:endParaRPr lang="en-US" sz="1500" dirty="0"/>
          </a:p>
        </p:txBody>
      </p:sp>
      <p:sp>
        <p:nvSpPr>
          <p:cNvPr id="4" name="Text 2"/>
          <p:cNvSpPr txBox="1"/>
          <p:nvPr/>
        </p:nvSpPr>
        <p:spPr>
          <a:xfrm>
            <a:off x="822960" y="3108960"/>
            <a:ext cx="10515600" cy="914400"/>
          </a:xfrm>
          <a:prstGeom prst="rect">
            <a:avLst/>
          </a:prstGeom>
          <a:noFill/>
          <a:ln/>
        </p:spPr>
        <p:txBody>
          <a:bodyPr wrap="square" lIns="0" tIns="0" rIns="0" bIns="0" rtlCol="0" anchor="t"/>
          <a:lstStyle/>
          <a:p>
            <a:pPr indent="0" marL="0">
              <a:buNone/>
            </a:pPr>
            <a:r>
              <a:rPr lang="en-US" sz="4400" b="1" dirty="0">
                <a:solidFill>
                  <a:srgbClr val="EEF5FF"/>
                </a:solidFill>
              </a:rPr>
              <a:t>실습</a:t>
            </a:r>
            <a:endParaRPr lang="en-US" sz="4400" dirty="0"/>
          </a:p>
        </p:txBody>
      </p:sp>
      <p:sp>
        <p:nvSpPr>
          <p:cNvPr id="5" name="Shape 3"/>
          <p:cNvSpPr/>
          <p:nvPr/>
        </p:nvSpPr>
        <p:spPr>
          <a:xfrm>
            <a:off x="822960" y="4846320"/>
            <a:ext cx="1298448" cy="457200"/>
          </a:xfrm>
          <a:prstGeom prst="roundRect">
            <a:avLst>
              <a:gd name="adj" fmla="val 50000"/>
            </a:avLst>
          </a:prstGeom>
          <a:solidFill>
            <a:srgbClr val="040A13"/>
          </a:solidFill>
          <a:ln w="12700">
            <a:solidFill>
              <a:srgbClr val="2A405B"/>
            </a:solidFill>
            <a:prstDash val="solid"/>
          </a:ln>
        </p:spPr>
      </p:sp>
      <p:sp>
        <p:nvSpPr>
          <p:cNvPr id="6" name="Text 4"/>
          <p:cNvSpPr txBox="1"/>
          <p:nvPr/>
        </p:nvSpPr>
        <p:spPr>
          <a:xfrm>
            <a:off x="822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도입</a:t>
            </a:r>
            <a:endParaRPr lang="en-US" sz="1300" dirty="0"/>
          </a:p>
        </p:txBody>
      </p:sp>
      <p:sp>
        <p:nvSpPr>
          <p:cNvPr id="7" name="Shape 5"/>
          <p:cNvSpPr/>
          <p:nvPr/>
        </p:nvSpPr>
        <p:spPr>
          <a:xfrm>
            <a:off x="2194560" y="4846320"/>
            <a:ext cx="1298448" cy="457200"/>
          </a:xfrm>
          <a:prstGeom prst="roundRect">
            <a:avLst>
              <a:gd name="adj" fmla="val 50000"/>
            </a:avLst>
          </a:prstGeom>
          <a:solidFill>
            <a:srgbClr val="040A13"/>
          </a:solidFill>
          <a:ln w="12700">
            <a:solidFill>
              <a:srgbClr val="2A405B"/>
            </a:solidFill>
            <a:prstDash val="solid"/>
          </a:ln>
        </p:spPr>
      </p:sp>
      <p:sp>
        <p:nvSpPr>
          <p:cNvPr id="8" name="Text 6"/>
          <p:cNvSpPr txBox="1"/>
          <p:nvPr/>
        </p:nvSpPr>
        <p:spPr>
          <a:xfrm>
            <a:off x="2194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객체와 클래스</a:t>
            </a:r>
            <a:endParaRPr lang="en-US" sz="1300" dirty="0"/>
          </a:p>
        </p:txBody>
      </p:sp>
      <p:sp>
        <p:nvSpPr>
          <p:cNvPr id="9" name="Shape 7"/>
          <p:cNvSpPr/>
          <p:nvPr/>
        </p:nvSpPr>
        <p:spPr>
          <a:xfrm>
            <a:off x="3566160" y="4846320"/>
            <a:ext cx="1298448" cy="457200"/>
          </a:xfrm>
          <a:prstGeom prst="roundRect">
            <a:avLst>
              <a:gd name="adj" fmla="val 50000"/>
            </a:avLst>
          </a:prstGeom>
          <a:solidFill>
            <a:srgbClr val="040A13"/>
          </a:solidFill>
          <a:ln w="12700">
            <a:solidFill>
              <a:srgbClr val="2A405B"/>
            </a:solidFill>
            <a:prstDash val="solid"/>
          </a:ln>
        </p:spPr>
      </p:sp>
      <p:sp>
        <p:nvSpPr>
          <p:cNvPr id="10" name="Text 8"/>
          <p:cNvSpPr txBox="1"/>
          <p:nvPr/>
        </p:nvSpPr>
        <p:spPr>
          <a:xfrm>
            <a:off x="3566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캡슐화</a:t>
            </a:r>
            <a:endParaRPr lang="en-US" sz="1300" dirty="0"/>
          </a:p>
        </p:txBody>
      </p:sp>
      <p:sp>
        <p:nvSpPr>
          <p:cNvPr id="11" name="Shape 9"/>
          <p:cNvSpPr/>
          <p:nvPr/>
        </p:nvSpPr>
        <p:spPr>
          <a:xfrm>
            <a:off x="4937760" y="4846320"/>
            <a:ext cx="1298448" cy="457200"/>
          </a:xfrm>
          <a:prstGeom prst="roundRect">
            <a:avLst>
              <a:gd name="adj" fmla="val 50000"/>
            </a:avLst>
          </a:prstGeom>
          <a:solidFill>
            <a:srgbClr val="040A13"/>
          </a:solidFill>
          <a:ln w="12700">
            <a:solidFill>
              <a:srgbClr val="2A405B"/>
            </a:solidFill>
            <a:prstDash val="solid"/>
          </a:ln>
        </p:spPr>
      </p:sp>
      <p:sp>
        <p:nvSpPr>
          <p:cNvPr id="12" name="Text 10"/>
          <p:cNvSpPr txBox="1"/>
          <p:nvPr/>
        </p:nvSpPr>
        <p:spPr>
          <a:xfrm>
            <a:off x="49377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상속</a:t>
            </a:r>
            <a:endParaRPr lang="en-US" sz="1300" dirty="0"/>
          </a:p>
        </p:txBody>
      </p:sp>
      <p:sp>
        <p:nvSpPr>
          <p:cNvPr id="13" name="Shape 11"/>
          <p:cNvSpPr/>
          <p:nvPr/>
        </p:nvSpPr>
        <p:spPr>
          <a:xfrm>
            <a:off x="6309360" y="4846320"/>
            <a:ext cx="1298448" cy="457200"/>
          </a:xfrm>
          <a:prstGeom prst="roundRect">
            <a:avLst>
              <a:gd name="adj" fmla="val 50000"/>
            </a:avLst>
          </a:prstGeom>
          <a:solidFill>
            <a:srgbClr val="040A13"/>
          </a:solidFill>
          <a:ln w="12700">
            <a:solidFill>
              <a:srgbClr val="2A405B"/>
            </a:solidFill>
            <a:prstDash val="solid"/>
          </a:ln>
        </p:spPr>
      </p:sp>
      <p:sp>
        <p:nvSpPr>
          <p:cNvPr id="14" name="Text 12"/>
          <p:cNvSpPr txBox="1"/>
          <p:nvPr/>
        </p:nvSpPr>
        <p:spPr>
          <a:xfrm>
            <a:off x="63093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다형성</a:t>
            </a:r>
            <a:endParaRPr lang="en-US" sz="1300" dirty="0"/>
          </a:p>
        </p:txBody>
      </p:sp>
      <p:sp>
        <p:nvSpPr>
          <p:cNvPr id="15" name="Shape 13"/>
          <p:cNvSpPr/>
          <p:nvPr/>
        </p:nvSpPr>
        <p:spPr>
          <a:xfrm>
            <a:off x="7680960" y="4846320"/>
            <a:ext cx="1298448" cy="457200"/>
          </a:xfrm>
          <a:prstGeom prst="roundRect">
            <a:avLst>
              <a:gd name="adj" fmla="val 50000"/>
            </a:avLst>
          </a:prstGeom>
          <a:solidFill>
            <a:srgbClr val="040A13"/>
          </a:solidFill>
          <a:ln w="12700">
            <a:solidFill>
              <a:srgbClr val="2A405B"/>
            </a:solidFill>
            <a:prstDash val="solid"/>
          </a:ln>
        </p:spPr>
      </p:sp>
      <p:sp>
        <p:nvSpPr>
          <p:cNvPr id="16" name="Text 14"/>
          <p:cNvSpPr txBox="1"/>
          <p:nvPr/>
        </p:nvSpPr>
        <p:spPr>
          <a:xfrm>
            <a:off x="7680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추상화</a:t>
            </a:r>
            <a:endParaRPr lang="en-US" sz="1300" dirty="0"/>
          </a:p>
        </p:txBody>
      </p:sp>
      <p:sp>
        <p:nvSpPr>
          <p:cNvPr id="17" name="Shape 15"/>
          <p:cNvSpPr/>
          <p:nvPr/>
        </p:nvSpPr>
        <p:spPr>
          <a:xfrm>
            <a:off x="9052560" y="4846320"/>
            <a:ext cx="1298448" cy="457200"/>
          </a:xfrm>
          <a:prstGeom prst="roundRect">
            <a:avLst>
              <a:gd name="adj" fmla="val 50000"/>
            </a:avLst>
          </a:prstGeom>
          <a:solidFill>
            <a:srgbClr val="55E4CF"/>
          </a:solidFill>
          <a:ln w="12700">
            <a:solidFill>
              <a:srgbClr val="55E4CF"/>
            </a:solidFill>
            <a:prstDash val="solid"/>
          </a:ln>
        </p:spPr>
      </p:sp>
      <p:sp>
        <p:nvSpPr>
          <p:cNvPr id="18" name="Text 16"/>
          <p:cNvSpPr txBox="1"/>
          <p:nvPr/>
        </p:nvSpPr>
        <p:spPr>
          <a:xfrm>
            <a:off x="9052560" y="4846320"/>
            <a:ext cx="1298448" cy="457200"/>
          </a:xfrm>
          <a:prstGeom prst="rect">
            <a:avLst/>
          </a:prstGeom>
          <a:noFill/>
          <a:ln/>
        </p:spPr>
        <p:txBody>
          <a:bodyPr wrap="square" lIns="0" tIns="0" rIns="0" bIns="0" rtlCol="0" anchor="ctr"/>
          <a:lstStyle/>
          <a:p>
            <a:pPr algn="ctr" indent="0" marL="0">
              <a:buNone/>
            </a:pPr>
            <a:r>
              <a:rPr lang="en-US" sz="1300" b="1" dirty="0">
                <a:solidFill>
                  <a:srgbClr val="040A13"/>
                </a:solidFill>
              </a:rPr>
              <a:t>실습</a:t>
            </a:r>
            <a:endParaRPr lang="en-US" sz="1300" dirty="0"/>
          </a:p>
        </p:txBody>
      </p:sp>
      <p:sp>
        <p:nvSpPr>
          <p:cNvPr id="19" name="Shape 17"/>
          <p:cNvSpPr/>
          <p:nvPr/>
        </p:nvSpPr>
        <p:spPr>
          <a:xfrm>
            <a:off x="10424160" y="4846320"/>
            <a:ext cx="1298448" cy="457200"/>
          </a:xfrm>
          <a:prstGeom prst="roundRect">
            <a:avLst>
              <a:gd name="adj" fmla="val 50000"/>
            </a:avLst>
          </a:prstGeom>
          <a:solidFill>
            <a:srgbClr val="040A13"/>
          </a:solidFill>
          <a:ln w="12700">
            <a:solidFill>
              <a:srgbClr val="2A405B"/>
            </a:solidFill>
            <a:prstDash val="solid"/>
          </a:ln>
        </p:spPr>
      </p:sp>
      <p:sp>
        <p:nvSpPr>
          <p:cNvPr id="20" name="Text 18"/>
          <p:cNvSpPr txBox="1"/>
          <p:nvPr/>
        </p:nvSpPr>
        <p:spPr>
          <a:xfrm>
            <a:off x="10424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마무리</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55E4CF"/>
          </a:solidFill>
          <a:ln w="12700">
            <a:solidFill>
              <a:srgbClr val="55E4C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55E4CF"/>
                </a:solidFill>
              </a:rPr>
              <a:t>PRACTICE · STARTING CODE</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실습 시작 코드</a:t>
            </a:r>
            <a:endParaRPr lang="en-US" sz="2800" dirty="0"/>
          </a:p>
        </p:txBody>
      </p:sp>
      <p:sp>
        <p:nvSpPr>
          <p:cNvPr id="6" name="Shape 3"/>
          <p:cNvSpPr/>
          <p:nvPr/>
        </p:nvSpPr>
        <p:spPr>
          <a:xfrm>
            <a:off x="548640" y="1783080"/>
            <a:ext cx="7452360" cy="4823460"/>
          </a:xfrm>
          <a:prstGeom prst="roundRect">
            <a:avLst>
              <a:gd name="adj" fmla="val 1517"/>
            </a:avLst>
          </a:prstGeom>
          <a:solidFill>
            <a:srgbClr val="040A13"/>
          </a:solidFill>
          <a:ln w="12700">
            <a:solidFill>
              <a:srgbClr val="2A405B"/>
            </a:solidFill>
            <a:prstDash val="solid"/>
          </a:ln>
        </p:spPr>
      </p:sp>
      <p:sp>
        <p:nvSpPr>
          <p:cNvPr id="7" name="Text 4"/>
          <p:cNvSpPr txBox="1"/>
          <p:nvPr/>
        </p:nvSpPr>
        <p:spPr>
          <a:xfrm>
            <a:off x="731520" y="1965960"/>
            <a:ext cx="7086600" cy="445770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private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static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ApplyEffect(</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string</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type,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target)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switch</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(type)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case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"Poison"</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target.TakeDamage(</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2</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break</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case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"Burn"</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target.TakeDamage(</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3</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break</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case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"Regen"</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target.Heal(</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4</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break</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8" name="Shape 5"/>
          <p:cNvSpPr/>
          <p:nvPr/>
        </p:nvSpPr>
        <p:spPr>
          <a:xfrm>
            <a:off x="8275320" y="1783080"/>
            <a:ext cx="3337560" cy="2103120"/>
          </a:xfrm>
          <a:prstGeom prst="roundRect">
            <a:avLst>
              <a:gd name="adj" fmla="val 5217"/>
            </a:avLst>
          </a:prstGeom>
          <a:solidFill>
            <a:srgbClr val="10233A"/>
          </a:solidFill>
          <a:ln w="12700">
            <a:solidFill>
              <a:srgbClr val="2A405B"/>
            </a:solidFill>
            <a:prstDash val="solid"/>
          </a:ln>
        </p:spPr>
      </p:sp>
      <p:sp>
        <p:nvSpPr>
          <p:cNvPr id="9" name="Text 6"/>
          <p:cNvSpPr txBox="1"/>
          <p:nvPr/>
        </p:nvSpPr>
        <p:spPr>
          <a:xfrm>
            <a:off x="8503920" y="2011680"/>
            <a:ext cx="2880360" cy="346329"/>
          </a:xfrm>
          <a:prstGeom prst="rect">
            <a:avLst/>
          </a:prstGeom>
          <a:noFill/>
          <a:ln/>
        </p:spPr>
        <p:txBody>
          <a:bodyPr wrap="square" lIns="0" tIns="0" rIns="0" bIns="0" rtlCol="0" anchor="t"/>
          <a:lstStyle/>
          <a:p>
            <a:pPr indent="0" marL="0">
              <a:buNone/>
            </a:pPr>
            <a:r>
              <a:rPr lang="en-US" sz="1700" b="1" dirty="0">
                <a:solidFill>
                  <a:srgbClr val="55E4CF"/>
                </a:solidFill>
              </a:rPr>
              <a:t>실습_학생용 폴더</a:t>
            </a:r>
            <a:endParaRPr lang="en-US" sz="1700" dirty="0"/>
          </a:p>
        </p:txBody>
      </p:sp>
      <p:sp>
        <p:nvSpPr>
          <p:cNvPr id="10" name="Text 7"/>
          <p:cNvSpPr txBox="1"/>
          <p:nvPr/>
        </p:nvSpPr>
        <p:spPr>
          <a:xfrm>
            <a:off x="8503920" y="2431161"/>
            <a:ext cx="2880360" cy="1317879"/>
          </a:xfrm>
          <a:prstGeom prst="rect">
            <a:avLst/>
          </a:prstGeom>
          <a:noFill/>
          <a:ln/>
        </p:spPr>
        <p:txBody>
          <a:bodyPr wrap="square" lIns="0" tIns="0" rIns="0" bIns="0" rtlCol="0" anchor="t"/>
          <a:lstStyle/>
          <a:p>
            <a:pPr indent="0" marL="0">
              <a:lnSpc>
                <a:spcPct val="115000"/>
              </a:lnSpc>
              <a:buNone/>
            </a:pPr>
            <a:r>
              <a:rPr lang="en-US" sz="1400" dirty="0">
                <a:solidFill>
                  <a:srgbClr val="EEF5FF"/>
                </a:solidFill>
              </a:rPr>
              <a:t>Program.cs: switch 두 개</a:t>
            </a:r>
            <a:endParaRPr lang="en-US" sz="1400" dirty="0"/>
          </a:p>
          <a:p>
            <a:pPr indent="0" marL="0">
              <a:lnSpc>
                <a:spcPct val="115000"/>
              </a:lnSpc>
              <a:buNone/>
            </a:pPr>
            <a:r>
              <a:rPr lang="en-US" sz="1400" dirty="0">
                <a:solidFill>
                  <a:srgbClr val="EEF5FF"/>
                </a:solidFill>
              </a:rPr>
              <a:t>Unit.cs: 수정하지 않음</a:t>
            </a:r>
            <a:endParaRPr lang="en-US" sz="1400" dirty="0"/>
          </a:p>
          <a:p>
            <a:pPr indent="0" marL="0">
              <a:lnSpc>
                <a:spcPct val="115000"/>
              </a:lnSpc>
              <a:buNone/>
            </a:pPr>
            <a:r>
              <a:rPr lang="en-US" sz="1400" dirty="0">
                <a:solidFill>
                  <a:srgbClr val="EEF5FF"/>
                </a:solidFill>
              </a:rPr>
              <a:t>README_0차시_실습.md</a:t>
            </a:r>
            <a:endParaRPr lang="en-US" sz="1400" dirty="0"/>
          </a:p>
        </p:txBody>
      </p:sp>
      <p:sp>
        <p:nvSpPr>
          <p:cNvPr id="11" name="Shape 8"/>
          <p:cNvSpPr/>
          <p:nvPr/>
        </p:nvSpPr>
        <p:spPr>
          <a:xfrm>
            <a:off x="8275320" y="4069080"/>
            <a:ext cx="3337560" cy="1605280"/>
          </a:xfrm>
          <a:prstGeom prst="roundRect">
            <a:avLst>
              <a:gd name="adj" fmla="val 4557"/>
            </a:avLst>
          </a:prstGeom>
          <a:solidFill>
            <a:srgbClr val="040A13"/>
          </a:solidFill>
          <a:ln w="12700">
            <a:solidFill>
              <a:srgbClr val="2A405B"/>
            </a:solidFill>
            <a:prstDash val="solid"/>
          </a:ln>
        </p:spPr>
      </p:sp>
      <p:sp>
        <p:nvSpPr>
          <p:cNvPr id="12" name="Text 9"/>
          <p:cNvSpPr txBox="1"/>
          <p:nvPr/>
        </p:nvSpPr>
        <p:spPr>
          <a:xfrm>
            <a:off x="8458200" y="4197096"/>
            <a:ext cx="2971800" cy="274320"/>
          </a:xfrm>
          <a:prstGeom prst="rect">
            <a:avLst/>
          </a:prstGeom>
          <a:noFill/>
          <a:ln/>
        </p:spPr>
        <p:txBody>
          <a:bodyPr wrap="square" lIns="0" tIns="0" rIns="0" bIns="0" rtlCol="0" anchor="t"/>
          <a:lstStyle/>
          <a:p>
            <a:pPr indent="0" marL="0">
              <a:buNone/>
            </a:pPr>
            <a:r>
              <a:rPr lang="en-US" sz="1200" b="1" dirty="0">
                <a:solidFill>
                  <a:srgbClr val="AFBED1"/>
                </a:solidFill>
              </a:rPr>
              <a:t>실행 결과</a:t>
            </a:r>
            <a:endParaRPr lang="en-US" sz="1200" dirty="0"/>
          </a:p>
        </p:txBody>
      </p:sp>
      <p:sp>
        <p:nvSpPr>
          <p:cNvPr id="13" name="Text 10"/>
          <p:cNvSpPr txBox="1"/>
          <p:nvPr/>
        </p:nvSpPr>
        <p:spPr>
          <a:xfrm>
            <a:off x="8458200" y="4480560"/>
            <a:ext cx="2971800" cy="1056640"/>
          </a:xfrm>
          <a:prstGeom prst="rect">
            <a:avLst/>
          </a:prstGeom>
          <a:noFill/>
          <a:ln/>
        </p:spPr>
        <p:txBody>
          <a:bodyPr wrap="square" lIns="0" tIns="0" rIns="0" bIns="0" rtlCol="0" anchor="t"/>
          <a:lstStyle/>
          <a:p>
            <a:pPr indent="0" marL="0">
              <a:lnSpc>
                <a:spcPts val="2080"/>
              </a:lnSpc>
              <a:buNone/>
            </a:pPr>
            <a:r>
              <a:rPr lang="en-US" sz="1600" dirty="0">
                <a:solidFill>
                  <a:srgbClr val="83E58F"/>
                </a:solidFill>
                <a:latin typeface="Consolas" pitchFamily="34" charset="0"/>
                <a:ea typeface="Consolas" pitchFamily="34" charset="-122"/>
                <a:cs typeface="Consolas" pitchFamily="34" charset="-120"/>
              </a:rPr>
              <a:t>--- 1턴 ---</a:t>
            </a:r>
            <a:endParaRPr lang="en-US" sz="1600" dirty="0"/>
          </a:p>
          <a:p>
            <a:pPr indent="0" marL="0">
              <a:lnSpc>
                <a:spcPts val="2080"/>
              </a:lnSpc>
              <a:buNone/>
            </a:pPr>
            <a:r>
              <a:rPr lang="en-US" sz="1600" dirty="0">
                <a:solidFill>
                  <a:srgbClr val="83E58F"/>
                </a:solidFill>
                <a:latin typeface="Consolas" pitchFamily="34" charset="0"/>
                <a:ea typeface="Consolas" pitchFamily="34" charset="-122"/>
                <a:cs typeface="Consolas" pitchFamily="34" charset="-120"/>
              </a:rPr>
              <a:t>독 → 검사 HP 28/30</a:t>
            </a:r>
            <a:endParaRPr lang="en-US" sz="1600" dirty="0"/>
          </a:p>
          <a:p>
            <a:pPr indent="0" marL="0">
              <a:lnSpc>
                <a:spcPts val="2080"/>
              </a:lnSpc>
              <a:buNone/>
            </a:pPr>
            <a:r>
              <a:rPr lang="en-US" sz="1600" dirty="0">
                <a:solidFill>
                  <a:srgbClr val="83E58F"/>
                </a:solidFill>
                <a:latin typeface="Consolas" pitchFamily="34" charset="0"/>
                <a:ea typeface="Consolas" pitchFamily="34" charset="-122"/>
                <a:cs typeface="Consolas" pitchFamily="34" charset="-120"/>
              </a:rPr>
              <a:t>화상 → 검사 HP 25/30</a:t>
            </a:r>
            <a:endParaRPr lang="en-US" sz="1600" dirty="0"/>
          </a:p>
          <a:p>
            <a:pPr indent="0" marL="0">
              <a:lnSpc>
                <a:spcPts val="2080"/>
              </a:lnSpc>
              <a:buNone/>
            </a:pPr>
            <a:r>
              <a:rPr lang="en-US" sz="1600" dirty="0">
                <a:solidFill>
                  <a:srgbClr val="83E58F"/>
                </a:solidFill>
                <a:latin typeface="Consolas" pitchFamily="34" charset="0"/>
                <a:ea typeface="Consolas" pitchFamily="34" charset="-122"/>
                <a:cs typeface="Consolas" pitchFamily="34" charset="-120"/>
              </a:rPr>
              <a:t>재생 → 검사 HP 29/30</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55E4CF"/>
          </a:solidFill>
          <a:ln w="12700">
            <a:solidFill>
              <a:srgbClr val="55E4C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55E4CF"/>
                </a:solidFill>
              </a:rPr>
              <a:t>PRACTICE · MISSION</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실습 과제</a:t>
            </a:r>
            <a:endParaRPr lang="en-US" sz="2800" dirty="0"/>
          </a:p>
        </p:txBody>
      </p:sp>
      <p:sp>
        <p:nvSpPr>
          <p:cNvPr id="6" name="Shape 3"/>
          <p:cNvSpPr/>
          <p:nvPr/>
        </p:nvSpPr>
        <p:spPr>
          <a:xfrm>
            <a:off x="548640" y="1783080"/>
            <a:ext cx="7315200" cy="960120"/>
          </a:xfrm>
          <a:prstGeom prst="roundRect">
            <a:avLst>
              <a:gd name="adj" fmla="val 11429"/>
            </a:avLst>
          </a:prstGeom>
          <a:solidFill>
            <a:srgbClr val="10233A"/>
          </a:solidFill>
          <a:ln w="12700">
            <a:solidFill>
              <a:srgbClr val="2A405B"/>
            </a:solidFill>
            <a:prstDash val="solid"/>
          </a:ln>
        </p:spPr>
      </p:sp>
      <p:sp>
        <p:nvSpPr>
          <p:cNvPr id="7" name="Shape 4"/>
          <p:cNvSpPr/>
          <p:nvPr/>
        </p:nvSpPr>
        <p:spPr>
          <a:xfrm>
            <a:off x="749808" y="2002536"/>
            <a:ext cx="512064" cy="512064"/>
          </a:xfrm>
          <a:prstGeom prst="ellipse">
            <a:avLst/>
          </a:prstGeom>
          <a:solidFill>
            <a:srgbClr val="55E4CF"/>
          </a:solidFill>
          <a:ln w="12700">
            <a:solidFill>
              <a:srgbClr val="55E4CF"/>
            </a:solidFill>
            <a:prstDash val="solid"/>
          </a:ln>
        </p:spPr>
      </p:sp>
      <p:sp>
        <p:nvSpPr>
          <p:cNvPr id="8" name="Text 5"/>
          <p:cNvSpPr txBox="1"/>
          <p:nvPr/>
        </p:nvSpPr>
        <p:spPr>
          <a:xfrm>
            <a:off x="749808" y="2002536"/>
            <a:ext cx="512064" cy="512064"/>
          </a:xfrm>
          <a:prstGeom prst="rect">
            <a:avLst/>
          </a:prstGeom>
          <a:noFill/>
          <a:ln/>
        </p:spPr>
        <p:txBody>
          <a:bodyPr wrap="square" lIns="0" tIns="0" rIns="0" bIns="0" rtlCol="0" anchor="ctr"/>
          <a:lstStyle/>
          <a:p>
            <a:pPr algn="ctr" indent="0" marL="0">
              <a:buNone/>
            </a:pPr>
            <a:r>
              <a:rPr lang="en-US" sz="1792" b="1" dirty="0">
                <a:solidFill>
                  <a:srgbClr val="040A13"/>
                </a:solidFill>
              </a:rPr>
              <a:t>1</a:t>
            </a:r>
            <a:endParaRPr lang="en-US" sz="1792" dirty="0"/>
          </a:p>
        </p:txBody>
      </p:sp>
      <p:sp>
        <p:nvSpPr>
          <p:cNvPr id="9" name="Text 6"/>
          <p:cNvSpPr txBox="1"/>
          <p:nvPr/>
        </p:nvSpPr>
        <p:spPr>
          <a:xfrm>
            <a:off x="1463040" y="1892808"/>
            <a:ext cx="6217920" cy="365760"/>
          </a:xfrm>
          <a:prstGeom prst="rect">
            <a:avLst/>
          </a:prstGeom>
          <a:noFill/>
          <a:ln/>
        </p:spPr>
        <p:txBody>
          <a:bodyPr wrap="square" lIns="0" tIns="0" rIns="0" bIns="0" rtlCol="0" anchor="t"/>
          <a:lstStyle/>
          <a:p>
            <a:pPr indent="0" marL="0">
              <a:buNone/>
            </a:pPr>
            <a:r>
              <a:rPr lang="en-US" sz="1700" b="1" dirty="0">
                <a:solidFill>
                  <a:srgbClr val="EEF5FF"/>
                </a:solidFill>
              </a:rPr>
              <a:t>StatusEffect 추상 클래스를 만든다</a:t>
            </a:r>
            <a:endParaRPr lang="en-US" sz="1700" dirty="0"/>
          </a:p>
        </p:txBody>
      </p:sp>
      <p:sp>
        <p:nvSpPr>
          <p:cNvPr id="10" name="Text 7"/>
          <p:cNvSpPr txBox="1"/>
          <p:nvPr/>
        </p:nvSpPr>
        <p:spPr>
          <a:xfrm>
            <a:off x="1463040" y="2286000"/>
            <a:ext cx="6217920" cy="384048"/>
          </a:xfrm>
          <a:prstGeom prst="rect">
            <a:avLst/>
          </a:prstGeom>
          <a:noFill/>
          <a:ln/>
        </p:spPr>
        <p:txBody>
          <a:bodyPr wrap="square" lIns="0" tIns="0" rIns="0" bIns="0" rtlCol="0" anchor="t"/>
          <a:lstStyle/>
          <a:p>
            <a:pPr indent="0" marL="0">
              <a:buNone/>
            </a:pPr>
            <a:r>
              <a:rPr lang="en-US" sz="1400" dirty="0">
                <a:solidFill>
                  <a:srgbClr val="AFBED1"/>
                </a:solidFill>
              </a:rPr>
              <a:t>Name과 Apply(Unit target)을 abstract로 선언합니다.</a:t>
            </a:r>
            <a:endParaRPr lang="en-US" sz="1400" dirty="0"/>
          </a:p>
        </p:txBody>
      </p:sp>
      <p:sp>
        <p:nvSpPr>
          <p:cNvPr id="11" name="Shape 8"/>
          <p:cNvSpPr/>
          <p:nvPr/>
        </p:nvSpPr>
        <p:spPr>
          <a:xfrm>
            <a:off x="548640" y="2880360"/>
            <a:ext cx="7315200" cy="960120"/>
          </a:xfrm>
          <a:prstGeom prst="roundRect">
            <a:avLst>
              <a:gd name="adj" fmla="val 11429"/>
            </a:avLst>
          </a:prstGeom>
          <a:solidFill>
            <a:srgbClr val="10233A"/>
          </a:solidFill>
          <a:ln w="12700">
            <a:solidFill>
              <a:srgbClr val="2A405B"/>
            </a:solidFill>
            <a:prstDash val="solid"/>
          </a:ln>
        </p:spPr>
      </p:sp>
      <p:sp>
        <p:nvSpPr>
          <p:cNvPr id="12" name="Shape 9"/>
          <p:cNvSpPr/>
          <p:nvPr/>
        </p:nvSpPr>
        <p:spPr>
          <a:xfrm>
            <a:off x="749808" y="3099816"/>
            <a:ext cx="512064" cy="512064"/>
          </a:xfrm>
          <a:prstGeom prst="ellipse">
            <a:avLst/>
          </a:prstGeom>
          <a:solidFill>
            <a:srgbClr val="55E4CF"/>
          </a:solidFill>
          <a:ln w="12700">
            <a:solidFill>
              <a:srgbClr val="55E4CF"/>
            </a:solidFill>
            <a:prstDash val="solid"/>
          </a:ln>
        </p:spPr>
      </p:sp>
      <p:sp>
        <p:nvSpPr>
          <p:cNvPr id="13" name="Text 10"/>
          <p:cNvSpPr txBox="1"/>
          <p:nvPr/>
        </p:nvSpPr>
        <p:spPr>
          <a:xfrm>
            <a:off x="749808" y="3099816"/>
            <a:ext cx="512064" cy="512064"/>
          </a:xfrm>
          <a:prstGeom prst="rect">
            <a:avLst/>
          </a:prstGeom>
          <a:noFill/>
          <a:ln/>
        </p:spPr>
        <p:txBody>
          <a:bodyPr wrap="square" lIns="0" tIns="0" rIns="0" bIns="0" rtlCol="0" anchor="ctr"/>
          <a:lstStyle/>
          <a:p>
            <a:pPr algn="ctr" indent="0" marL="0">
              <a:buNone/>
            </a:pPr>
            <a:r>
              <a:rPr lang="en-US" sz="1792" b="1" dirty="0">
                <a:solidFill>
                  <a:srgbClr val="040A13"/>
                </a:solidFill>
              </a:rPr>
              <a:t>2</a:t>
            </a:r>
            <a:endParaRPr lang="en-US" sz="1792" dirty="0"/>
          </a:p>
        </p:txBody>
      </p:sp>
      <p:sp>
        <p:nvSpPr>
          <p:cNvPr id="14" name="Text 11"/>
          <p:cNvSpPr txBox="1"/>
          <p:nvPr/>
        </p:nvSpPr>
        <p:spPr>
          <a:xfrm>
            <a:off x="1463040" y="2990088"/>
            <a:ext cx="6217920" cy="365760"/>
          </a:xfrm>
          <a:prstGeom prst="rect">
            <a:avLst/>
          </a:prstGeom>
          <a:noFill/>
          <a:ln/>
        </p:spPr>
        <p:txBody>
          <a:bodyPr wrap="square" lIns="0" tIns="0" rIns="0" bIns="0" rtlCol="0" anchor="t"/>
          <a:lstStyle/>
          <a:p>
            <a:pPr indent="0" marL="0">
              <a:buNone/>
            </a:pPr>
            <a:r>
              <a:rPr lang="en-US" sz="1700" b="1" dirty="0">
                <a:solidFill>
                  <a:srgbClr val="EEF5FF"/>
                </a:solidFill>
              </a:rPr>
              <a:t>독, 화상, 재생을 각각의 클래스로 옮긴다</a:t>
            </a:r>
            <a:endParaRPr lang="en-US" sz="1700" dirty="0"/>
          </a:p>
        </p:txBody>
      </p:sp>
      <p:sp>
        <p:nvSpPr>
          <p:cNvPr id="15" name="Text 12"/>
          <p:cNvSpPr txBox="1"/>
          <p:nvPr/>
        </p:nvSpPr>
        <p:spPr>
          <a:xfrm>
            <a:off x="1463040" y="3383280"/>
            <a:ext cx="6217920" cy="384048"/>
          </a:xfrm>
          <a:prstGeom prst="rect">
            <a:avLst/>
          </a:prstGeom>
          <a:noFill/>
          <a:ln/>
        </p:spPr>
        <p:txBody>
          <a:bodyPr wrap="square" lIns="0" tIns="0" rIns="0" bIns="0" rtlCol="0" anchor="t"/>
          <a:lstStyle/>
          <a:p>
            <a:pPr indent="0" marL="0">
              <a:buNone/>
            </a:pPr>
            <a:r>
              <a:rPr lang="en-US" sz="1400" dirty="0">
                <a:solidFill>
                  <a:srgbClr val="AFBED1"/>
                </a:solidFill>
              </a:rPr>
              <a:t>PoisonEffect, BurnEffect, RegenEffect가 StatusEffect를 상속합니다.</a:t>
            </a:r>
            <a:endParaRPr lang="en-US" sz="1400" dirty="0"/>
          </a:p>
        </p:txBody>
      </p:sp>
      <p:sp>
        <p:nvSpPr>
          <p:cNvPr id="16" name="Shape 13"/>
          <p:cNvSpPr/>
          <p:nvPr/>
        </p:nvSpPr>
        <p:spPr>
          <a:xfrm>
            <a:off x="548640" y="3977640"/>
            <a:ext cx="7315200" cy="960120"/>
          </a:xfrm>
          <a:prstGeom prst="roundRect">
            <a:avLst>
              <a:gd name="adj" fmla="val 11429"/>
            </a:avLst>
          </a:prstGeom>
          <a:solidFill>
            <a:srgbClr val="10233A"/>
          </a:solidFill>
          <a:ln w="12700">
            <a:solidFill>
              <a:srgbClr val="2A405B"/>
            </a:solidFill>
            <a:prstDash val="solid"/>
          </a:ln>
        </p:spPr>
      </p:sp>
      <p:sp>
        <p:nvSpPr>
          <p:cNvPr id="17" name="Shape 14"/>
          <p:cNvSpPr/>
          <p:nvPr/>
        </p:nvSpPr>
        <p:spPr>
          <a:xfrm>
            <a:off x="749808" y="4197096"/>
            <a:ext cx="512064" cy="512064"/>
          </a:xfrm>
          <a:prstGeom prst="ellipse">
            <a:avLst/>
          </a:prstGeom>
          <a:solidFill>
            <a:srgbClr val="55E4CF"/>
          </a:solidFill>
          <a:ln w="12700">
            <a:solidFill>
              <a:srgbClr val="55E4CF"/>
            </a:solidFill>
            <a:prstDash val="solid"/>
          </a:ln>
        </p:spPr>
      </p:sp>
      <p:sp>
        <p:nvSpPr>
          <p:cNvPr id="18" name="Text 15"/>
          <p:cNvSpPr txBox="1"/>
          <p:nvPr/>
        </p:nvSpPr>
        <p:spPr>
          <a:xfrm>
            <a:off x="749808" y="4197096"/>
            <a:ext cx="512064" cy="512064"/>
          </a:xfrm>
          <a:prstGeom prst="rect">
            <a:avLst/>
          </a:prstGeom>
          <a:noFill/>
          <a:ln/>
        </p:spPr>
        <p:txBody>
          <a:bodyPr wrap="square" lIns="0" tIns="0" rIns="0" bIns="0" rtlCol="0" anchor="ctr"/>
          <a:lstStyle/>
          <a:p>
            <a:pPr algn="ctr" indent="0" marL="0">
              <a:buNone/>
            </a:pPr>
            <a:r>
              <a:rPr lang="en-US" sz="1792" b="1" dirty="0">
                <a:solidFill>
                  <a:srgbClr val="040A13"/>
                </a:solidFill>
              </a:rPr>
              <a:t>3</a:t>
            </a:r>
            <a:endParaRPr lang="en-US" sz="1792" dirty="0"/>
          </a:p>
        </p:txBody>
      </p:sp>
      <p:sp>
        <p:nvSpPr>
          <p:cNvPr id="19" name="Text 16"/>
          <p:cNvSpPr txBox="1"/>
          <p:nvPr/>
        </p:nvSpPr>
        <p:spPr>
          <a:xfrm>
            <a:off x="1463040" y="4087368"/>
            <a:ext cx="6217920" cy="365760"/>
          </a:xfrm>
          <a:prstGeom prst="rect">
            <a:avLst/>
          </a:prstGeom>
          <a:noFill/>
          <a:ln/>
        </p:spPr>
        <p:txBody>
          <a:bodyPr wrap="square" lIns="0" tIns="0" rIns="0" bIns="0" rtlCol="0" anchor="t"/>
          <a:lstStyle/>
          <a:p>
            <a:pPr indent="0" marL="0">
              <a:buNone/>
            </a:pPr>
            <a:r>
              <a:rPr lang="en-US" sz="1700" b="1" dirty="0">
                <a:solidFill>
                  <a:srgbClr val="EEF5FF"/>
                </a:solidFill>
              </a:rPr>
              <a:t>Main에서 List&lt;StatusEffect&gt;를 사용한다</a:t>
            </a:r>
            <a:endParaRPr lang="en-US" sz="1700" dirty="0"/>
          </a:p>
        </p:txBody>
      </p:sp>
      <p:sp>
        <p:nvSpPr>
          <p:cNvPr id="20" name="Text 17"/>
          <p:cNvSpPr txBox="1"/>
          <p:nvPr/>
        </p:nvSpPr>
        <p:spPr>
          <a:xfrm>
            <a:off x="1463040" y="4480560"/>
            <a:ext cx="6217920" cy="384048"/>
          </a:xfrm>
          <a:prstGeom prst="rect">
            <a:avLst/>
          </a:prstGeom>
          <a:noFill/>
          <a:ln/>
        </p:spPr>
        <p:txBody>
          <a:bodyPr wrap="square" lIns="0" tIns="0" rIns="0" bIns="0" rtlCol="0" anchor="t"/>
          <a:lstStyle/>
          <a:p>
            <a:pPr indent="0" marL="0">
              <a:buNone/>
            </a:pPr>
            <a:r>
              <a:rPr lang="en-US" sz="1400" dirty="0">
                <a:solidFill>
                  <a:srgbClr val="AFBED1"/>
                </a:solidFill>
              </a:rPr>
              <a:t>두 switch 메서드를 지워도 실행 결과가 같아야 합니다.</a:t>
            </a:r>
            <a:endParaRPr lang="en-US" sz="1400" dirty="0"/>
          </a:p>
        </p:txBody>
      </p:sp>
      <p:sp>
        <p:nvSpPr>
          <p:cNvPr id="21" name="Shape 18"/>
          <p:cNvSpPr/>
          <p:nvPr/>
        </p:nvSpPr>
        <p:spPr>
          <a:xfrm>
            <a:off x="548640" y="5074920"/>
            <a:ext cx="7315200" cy="960120"/>
          </a:xfrm>
          <a:prstGeom prst="roundRect">
            <a:avLst>
              <a:gd name="adj" fmla="val 11429"/>
            </a:avLst>
          </a:prstGeom>
          <a:solidFill>
            <a:srgbClr val="10233A"/>
          </a:solidFill>
          <a:ln w="12700">
            <a:solidFill>
              <a:srgbClr val="2A405B"/>
            </a:solidFill>
            <a:prstDash val="solid"/>
          </a:ln>
        </p:spPr>
      </p:sp>
      <p:sp>
        <p:nvSpPr>
          <p:cNvPr id="22" name="Shape 19"/>
          <p:cNvSpPr/>
          <p:nvPr/>
        </p:nvSpPr>
        <p:spPr>
          <a:xfrm>
            <a:off x="749808" y="5294376"/>
            <a:ext cx="512064" cy="512064"/>
          </a:xfrm>
          <a:prstGeom prst="ellipse">
            <a:avLst/>
          </a:prstGeom>
          <a:solidFill>
            <a:srgbClr val="FFD16F"/>
          </a:solidFill>
          <a:ln w="12700">
            <a:solidFill>
              <a:srgbClr val="FFD16F"/>
            </a:solidFill>
            <a:prstDash val="solid"/>
          </a:ln>
        </p:spPr>
      </p:sp>
      <p:sp>
        <p:nvSpPr>
          <p:cNvPr id="23" name="Text 20"/>
          <p:cNvSpPr txBox="1"/>
          <p:nvPr/>
        </p:nvSpPr>
        <p:spPr>
          <a:xfrm>
            <a:off x="749808" y="5294376"/>
            <a:ext cx="512064" cy="512064"/>
          </a:xfrm>
          <a:prstGeom prst="rect">
            <a:avLst/>
          </a:prstGeom>
          <a:noFill/>
          <a:ln/>
        </p:spPr>
        <p:txBody>
          <a:bodyPr wrap="square" lIns="0" tIns="0" rIns="0" bIns="0" rtlCol="0" anchor="ctr"/>
          <a:lstStyle/>
          <a:p>
            <a:pPr algn="ctr" indent="0" marL="0">
              <a:buNone/>
            </a:pPr>
            <a:r>
              <a:rPr lang="en-US" sz="1792" b="1" dirty="0">
                <a:solidFill>
                  <a:srgbClr val="040A13"/>
                </a:solidFill>
              </a:rPr>
              <a:t>4</a:t>
            </a:r>
            <a:endParaRPr lang="en-US" sz="1792" dirty="0"/>
          </a:p>
        </p:txBody>
      </p:sp>
      <p:sp>
        <p:nvSpPr>
          <p:cNvPr id="24" name="Text 21"/>
          <p:cNvSpPr txBox="1"/>
          <p:nvPr/>
        </p:nvSpPr>
        <p:spPr>
          <a:xfrm>
            <a:off x="1463040" y="5184648"/>
            <a:ext cx="6217920" cy="365760"/>
          </a:xfrm>
          <a:prstGeom prst="rect">
            <a:avLst/>
          </a:prstGeom>
          <a:noFill/>
          <a:ln/>
        </p:spPr>
        <p:txBody>
          <a:bodyPr wrap="square" lIns="0" tIns="0" rIns="0" bIns="0" rtlCol="0" anchor="t"/>
          <a:lstStyle/>
          <a:p>
            <a:pPr indent="0" marL="0">
              <a:buNone/>
            </a:pPr>
            <a:r>
              <a:rPr lang="en-US" sz="1700" b="1" dirty="0">
                <a:solidFill>
                  <a:srgbClr val="FFD16F"/>
                </a:solidFill>
              </a:rPr>
              <a:t>출혈(BleedEffect)을 추가한다</a:t>
            </a:r>
            <a:endParaRPr lang="en-US" sz="1700" dirty="0"/>
          </a:p>
        </p:txBody>
      </p:sp>
      <p:sp>
        <p:nvSpPr>
          <p:cNvPr id="25" name="Text 22"/>
          <p:cNvSpPr txBox="1"/>
          <p:nvPr/>
        </p:nvSpPr>
        <p:spPr>
          <a:xfrm>
            <a:off x="1463040" y="5577840"/>
            <a:ext cx="6217920" cy="384048"/>
          </a:xfrm>
          <a:prstGeom prst="rect">
            <a:avLst/>
          </a:prstGeom>
          <a:noFill/>
          <a:ln/>
        </p:spPr>
        <p:txBody>
          <a:bodyPr wrap="square" lIns="0" tIns="0" rIns="0" bIns="0" rtlCol="0" anchor="t"/>
          <a:lstStyle/>
          <a:p>
            <a:pPr indent="0" marL="0">
              <a:buNone/>
            </a:pPr>
            <a:r>
              <a:rPr lang="en-US" sz="1400" dirty="0">
                <a:solidFill>
                  <a:srgbClr val="AFBED1"/>
                </a:solidFill>
              </a:rPr>
              <a:t>턴마다 피해가 1, 2, 3으로 늘어납니다. 이미 만든 클래스는 고치지 않습니다.</a:t>
            </a:r>
            <a:endParaRPr lang="en-US" sz="1400" dirty="0"/>
          </a:p>
        </p:txBody>
      </p:sp>
      <p:sp>
        <p:nvSpPr>
          <p:cNvPr id="26" name="Text 23"/>
          <p:cNvSpPr txBox="1"/>
          <p:nvPr/>
        </p:nvSpPr>
        <p:spPr>
          <a:xfrm>
            <a:off x="8229600" y="1691640"/>
            <a:ext cx="3383280" cy="960120"/>
          </a:xfrm>
          <a:prstGeom prst="rect">
            <a:avLst/>
          </a:prstGeom>
          <a:noFill/>
          <a:ln/>
        </p:spPr>
        <p:txBody>
          <a:bodyPr wrap="square" lIns="0" tIns="0" rIns="0" bIns="0" rtlCol="0" anchor="t"/>
          <a:lstStyle/>
          <a:p>
            <a:pPr indent="0" marL="0">
              <a:buNone/>
            </a:pPr>
            <a:r>
              <a:rPr lang="en-US" sz="6000" b="1" dirty="0">
                <a:solidFill>
                  <a:srgbClr val="FFD16F"/>
                </a:solidFill>
              </a:rPr>
              <a:t>15분</a:t>
            </a:r>
            <a:endParaRPr lang="en-US" sz="6000" dirty="0"/>
          </a:p>
        </p:txBody>
      </p:sp>
      <p:sp>
        <p:nvSpPr>
          <p:cNvPr id="27" name="Text 24"/>
          <p:cNvSpPr txBox="1"/>
          <p:nvPr/>
        </p:nvSpPr>
        <p:spPr>
          <a:xfrm>
            <a:off x="8275320" y="2651760"/>
            <a:ext cx="3291840" cy="320040"/>
          </a:xfrm>
          <a:prstGeom prst="rect">
            <a:avLst/>
          </a:prstGeom>
          <a:noFill/>
          <a:ln/>
        </p:spPr>
        <p:txBody>
          <a:bodyPr wrap="square" lIns="0" tIns="0" rIns="0" bIns="0" rtlCol="0" anchor="t"/>
          <a:lstStyle/>
          <a:p>
            <a:pPr indent="0" marL="0">
              <a:buNone/>
            </a:pPr>
            <a:r>
              <a:rPr lang="en-US" sz="1400" dirty="0">
                <a:solidFill>
                  <a:srgbClr val="AFBED1"/>
                </a:solidFill>
              </a:rPr>
              <a:t>실습 시간</a:t>
            </a:r>
            <a:endParaRPr lang="en-US" sz="1400" dirty="0"/>
          </a:p>
        </p:txBody>
      </p:sp>
      <p:sp>
        <p:nvSpPr>
          <p:cNvPr id="28" name="Shape 25"/>
          <p:cNvSpPr/>
          <p:nvPr/>
        </p:nvSpPr>
        <p:spPr>
          <a:xfrm>
            <a:off x="8229600" y="3200400"/>
            <a:ext cx="3383280" cy="2926080"/>
          </a:xfrm>
          <a:prstGeom prst="roundRect">
            <a:avLst>
              <a:gd name="adj" fmla="val 3750"/>
            </a:avLst>
          </a:prstGeom>
          <a:solidFill>
            <a:srgbClr val="10233A"/>
          </a:solidFill>
          <a:ln w="12700">
            <a:solidFill>
              <a:srgbClr val="2A405B"/>
            </a:solidFill>
            <a:prstDash val="solid"/>
          </a:ln>
        </p:spPr>
      </p:sp>
      <p:sp>
        <p:nvSpPr>
          <p:cNvPr id="29" name="Text 26"/>
          <p:cNvSpPr txBox="1"/>
          <p:nvPr/>
        </p:nvSpPr>
        <p:spPr>
          <a:xfrm>
            <a:off x="8458200" y="3383280"/>
            <a:ext cx="2926080" cy="365760"/>
          </a:xfrm>
          <a:prstGeom prst="rect">
            <a:avLst/>
          </a:prstGeom>
          <a:noFill/>
          <a:ln/>
        </p:spPr>
        <p:txBody>
          <a:bodyPr wrap="square" lIns="0" tIns="0" rIns="0" bIns="0" rtlCol="0" anchor="t"/>
          <a:lstStyle/>
          <a:p>
            <a:pPr indent="0" marL="0">
              <a:buNone/>
            </a:pPr>
            <a:r>
              <a:rPr lang="en-US" sz="1700" b="1" dirty="0">
                <a:solidFill>
                  <a:srgbClr val="83E58F"/>
                </a:solidFill>
              </a:rPr>
              <a:t>완료 조건</a:t>
            </a:r>
            <a:endParaRPr lang="en-US" sz="1700" dirty="0"/>
          </a:p>
        </p:txBody>
      </p:sp>
      <p:sp>
        <p:nvSpPr>
          <p:cNvPr id="30" name="Text 27"/>
          <p:cNvSpPr txBox="1"/>
          <p:nvPr/>
        </p:nvSpPr>
        <p:spPr>
          <a:xfrm>
            <a:off x="8458200" y="3840480"/>
            <a:ext cx="301752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EF5FF"/>
                </a:solidFill>
              </a:rPr>
              <a:t>switch 문이 하나도 없다</a:t>
            </a:r>
            <a:endParaRPr lang="en-US" sz="1400" dirty="0"/>
          </a:p>
          <a:p>
            <a:pPr marL="342900" indent="-342900">
              <a:spcAft>
                <a:spcPts val="600"/>
              </a:spcAft>
              <a:buSzPct val="100000"/>
              <a:buChar char="•"/>
            </a:pPr>
            <a:r>
              <a:rPr lang="en-US" sz="1400" dirty="0">
                <a:solidFill>
                  <a:srgbClr val="EEF5FF"/>
                </a:solidFill>
              </a:rPr>
              <a:t>처음 세 효과의 결과가 같다</a:t>
            </a:r>
            <a:endParaRPr lang="en-US" sz="1400" dirty="0"/>
          </a:p>
          <a:p>
            <a:pPr marL="342900" indent="-342900">
              <a:spcAft>
                <a:spcPts val="600"/>
              </a:spcAft>
              <a:buSzPct val="100000"/>
              <a:buChar char="•"/>
            </a:pPr>
            <a:r>
              <a:rPr lang="en-US" sz="1400" dirty="0">
                <a:solidFill>
                  <a:srgbClr val="EEF5FF"/>
                </a:solidFill>
              </a:rPr>
              <a:t>출혈을 추가할 때 기존 파일을 고치지 않았다</a:t>
            </a:r>
            <a:endParaRPr lang="en-US" sz="1400" dirty="0"/>
          </a:p>
          <a:p>
            <a:pPr marL="342900" indent="-342900">
              <a:spcAft>
                <a:spcPts val="600"/>
              </a:spcAft>
              <a:buSzPct val="100000"/>
              <a:buChar char="•"/>
            </a:pPr>
            <a:r>
              <a:rPr lang="en-US" sz="1400" dirty="0">
                <a:solidFill>
                  <a:srgbClr val="EEF5FF"/>
                </a:solidFill>
              </a:rPr>
              <a:t>Unit.cs를 수정하지 않았다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55E4CF"/>
          </a:solidFill>
          <a:ln w="12700">
            <a:solidFill>
              <a:srgbClr val="55E4C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55E4CF"/>
                </a:solidFill>
              </a:rPr>
              <a:t>PRACTICE · REVIEW</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실습 해설: 출혈</a:t>
            </a:r>
            <a:endParaRPr lang="en-US" sz="2800" dirty="0"/>
          </a:p>
        </p:txBody>
      </p:sp>
      <p:sp>
        <p:nvSpPr>
          <p:cNvPr id="6" name="Shape 3"/>
          <p:cNvSpPr/>
          <p:nvPr/>
        </p:nvSpPr>
        <p:spPr>
          <a:xfrm>
            <a:off x="548640" y="1783080"/>
            <a:ext cx="6400800" cy="3931920"/>
          </a:xfrm>
          <a:prstGeom prst="roundRect">
            <a:avLst>
              <a:gd name="adj" fmla="val 1860"/>
            </a:avLst>
          </a:prstGeom>
          <a:solidFill>
            <a:srgbClr val="040A13"/>
          </a:solidFill>
          <a:ln w="12700">
            <a:solidFill>
              <a:srgbClr val="2A405B"/>
            </a:solidFill>
            <a:prstDash val="solid"/>
          </a:ln>
        </p:spPr>
      </p:sp>
      <p:sp>
        <p:nvSpPr>
          <p:cNvPr id="7" name="Shape 4"/>
          <p:cNvSpPr/>
          <p:nvPr/>
        </p:nvSpPr>
        <p:spPr>
          <a:xfrm>
            <a:off x="603504" y="2560320"/>
            <a:ext cx="6291072" cy="297180"/>
          </a:xfrm>
          <a:prstGeom prst="rect">
            <a:avLst/>
          </a:prstGeom>
          <a:solidFill>
            <a:srgbClr val="55E4CF">
              <a:alpha val="20000"/>
            </a:srgbClr>
          </a:solidFill>
          <a:ln w="12700">
            <a:solidFill>
              <a:srgbClr val="55E4CF">
                <a:alpha val="0"/>
              </a:srgbClr>
            </a:solidFill>
            <a:prstDash val="solid"/>
          </a:ln>
        </p:spPr>
      </p:sp>
      <p:sp>
        <p:nvSpPr>
          <p:cNvPr id="8" name="Shape 5"/>
          <p:cNvSpPr/>
          <p:nvPr/>
        </p:nvSpPr>
        <p:spPr>
          <a:xfrm>
            <a:off x="603504" y="4640580"/>
            <a:ext cx="6291072" cy="297180"/>
          </a:xfrm>
          <a:prstGeom prst="rect">
            <a:avLst/>
          </a:prstGeom>
          <a:solidFill>
            <a:srgbClr val="55E4CF">
              <a:alpha val="20000"/>
            </a:srgbClr>
          </a:solidFill>
          <a:ln w="12700">
            <a:solidFill>
              <a:srgbClr val="55E4CF">
                <a:alpha val="0"/>
              </a:srgbClr>
            </a:solidFill>
            <a:prstDash val="solid"/>
          </a:ln>
        </p:spPr>
      </p:sp>
      <p:sp>
        <p:nvSpPr>
          <p:cNvPr id="9" name="Text 6"/>
          <p:cNvSpPr txBox="1"/>
          <p:nvPr/>
        </p:nvSpPr>
        <p:spPr>
          <a:xfrm>
            <a:off x="731520" y="1965960"/>
            <a:ext cx="6035040" cy="3566160"/>
          </a:xfrm>
          <a:prstGeom prst="rect">
            <a:avLst/>
          </a:prstGeom>
          <a:noFill/>
          <a:ln/>
        </p:spPr>
        <p:txBody>
          <a:bodyPr wrap="none" lIns="0" tIns="0" rIns="0" bIns="0" rtlCol="0" anchor="t"/>
          <a:lstStyle/>
          <a:p>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sealed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class</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BleedEffect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 </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StatusEffect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private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int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_damage = </a:t>
            </a:r>
            <a:pPr indent="0" marL="0">
              <a:lnSpc>
                <a:spcPts val="2340"/>
              </a:lnSpc>
              <a:buNone/>
            </a:pPr>
            <a:r>
              <a:rPr lang="en-US" sz="1800" dirty="0">
                <a:solidFill>
                  <a:srgbClr val="83E58F"/>
                </a:solidFill>
                <a:latin typeface="Consolas" pitchFamily="34" charset="0"/>
                <a:ea typeface="Consolas" pitchFamily="34" charset="-122"/>
                <a:cs typeface="Consolas" pitchFamily="34" charset="-120"/>
              </a:rPr>
              <a:t>1</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override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string</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Name =&gt; </a:t>
            </a:r>
            <a:pPr indent="0" marL="0">
              <a:lnSpc>
                <a:spcPts val="2340"/>
              </a:lnSpc>
              <a:buNone/>
            </a:pPr>
            <a:r>
              <a:rPr lang="en-US" sz="1800" dirty="0">
                <a:solidFill>
                  <a:srgbClr val="FFD16F"/>
                </a:solidFill>
                <a:latin typeface="Consolas" pitchFamily="34" charset="0"/>
                <a:ea typeface="Consolas" pitchFamily="34" charset="-122"/>
                <a:cs typeface="Consolas" pitchFamily="34" charset="-120"/>
              </a:rPr>
              <a:t>"출혈"</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public</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override</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pPr indent="0" marL="0">
              <a:lnSpc>
                <a:spcPts val="2340"/>
              </a:lnSpc>
              <a:buNone/>
            </a:pPr>
            <a:r>
              <a:rPr lang="en-US" sz="1800" dirty="0">
                <a:solidFill>
                  <a:srgbClr val="B8A4FF"/>
                </a:solidFill>
                <a:latin typeface="Consolas" pitchFamily="34" charset="0"/>
                <a:ea typeface="Consolas" pitchFamily="34" charset="-122"/>
                <a:cs typeface="Consolas" pitchFamily="34" charset="-120"/>
              </a:rPr>
              <a:t>void</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Apply(</a:t>
            </a:r>
            <a:pPr indent="0" marL="0">
              <a:lnSpc>
                <a:spcPts val="2340"/>
              </a:lnSpc>
              <a:buNone/>
            </a:pPr>
            <a:r>
              <a:rPr lang="en-US" sz="1800" dirty="0">
                <a:solidFill>
                  <a:srgbClr val="55E4CF"/>
                </a:solidFill>
                <a:latin typeface="Consolas" pitchFamily="34" charset="0"/>
                <a:ea typeface="Consolas" pitchFamily="34" charset="-122"/>
                <a:cs typeface="Consolas" pitchFamily="34" charset="-120"/>
              </a:rPr>
              <a:t>Unit</a:t>
            </a:r>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target)</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target.TakeDamage(_damage);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_damage++;</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    }</a:t>
            </a:r>
            <a:endParaRPr lang="en-US" sz="1800" dirty="0"/>
          </a:p>
          <a:p>
            <a:pPr indent="0" marL="0">
              <a:lnSpc>
                <a:spcPts val="2340"/>
              </a:lnSpc>
              <a:buNone/>
            </a:pPr>
            <a:r>
              <a:rPr lang="en-US" sz="1800" dirty="0">
                <a:solidFill>
                  <a:srgbClr val="EEF5FF"/>
                </a:solidFill>
                <a:latin typeface="Consolas" pitchFamily="34" charset="0"/>
                <a:ea typeface="Consolas" pitchFamily="34" charset="-122"/>
                <a:cs typeface="Consolas" pitchFamily="34" charset="-120"/>
              </a:rPr>
              <a:t>}</a:t>
            </a:r>
            <a:endParaRPr lang="en-US" sz="1800" dirty="0"/>
          </a:p>
        </p:txBody>
      </p:sp>
      <p:sp>
        <p:nvSpPr>
          <p:cNvPr id="10" name="Shape 7"/>
          <p:cNvSpPr/>
          <p:nvPr/>
        </p:nvSpPr>
        <p:spPr>
          <a:xfrm>
            <a:off x="7269480" y="1783080"/>
            <a:ext cx="4343400" cy="1920240"/>
          </a:xfrm>
          <a:prstGeom prst="roundRect">
            <a:avLst>
              <a:gd name="adj" fmla="val 5714"/>
            </a:avLst>
          </a:prstGeom>
          <a:solidFill>
            <a:srgbClr val="10233A"/>
          </a:solidFill>
          <a:ln w="12700">
            <a:solidFill>
              <a:srgbClr val="2A405B"/>
            </a:solidFill>
            <a:prstDash val="solid"/>
          </a:ln>
        </p:spPr>
      </p:sp>
      <p:sp>
        <p:nvSpPr>
          <p:cNvPr id="11" name="Text 8"/>
          <p:cNvSpPr txBox="1"/>
          <p:nvPr/>
        </p:nvSpPr>
        <p:spPr>
          <a:xfrm>
            <a:off x="7498080" y="2011680"/>
            <a:ext cx="3886200" cy="346329"/>
          </a:xfrm>
          <a:prstGeom prst="rect">
            <a:avLst/>
          </a:prstGeom>
          <a:noFill/>
          <a:ln/>
        </p:spPr>
        <p:txBody>
          <a:bodyPr wrap="square" lIns="0" tIns="0" rIns="0" bIns="0" rtlCol="0" anchor="t"/>
          <a:lstStyle/>
          <a:p>
            <a:pPr indent="0" marL="0">
              <a:buNone/>
            </a:pPr>
            <a:r>
              <a:rPr lang="en-US" sz="1700" b="1" dirty="0">
                <a:solidFill>
                  <a:srgbClr val="FFD16F"/>
                </a:solidFill>
              </a:rPr>
              <a:t>switch 방식이었다면</a:t>
            </a:r>
            <a:endParaRPr lang="en-US" sz="1700" dirty="0"/>
          </a:p>
        </p:txBody>
      </p:sp>
      <p:sp>
        <p:nvSpPr>
          <p:cNvPr id="12" name="Text 9"/>
          <p:cNvSpPr txBox="1"/>
          <p:nvPr/>
        </p:nvSpPr>
        <p:spPr>
          <a:xfrm>
            <a:off x="7498080" y="2431161"/>
            <a:ext cx="3886200" cy="1134999"/>
          </a:xfrm>
          <a:prstGeom prst="rect">
            <a:avLst/>
          </a:prstGeom>
          <a:noFill/>
          <a:ln/>
        </p:spPr>
        <p:txBody>
          <a:bodyPr wrap="square" lIns="0" tIns="0" rIns="0" bIns="0" rtlCol="0" anchor="t"/>
          <a:lstStyle/>
          <a:p>
            <a:pPr indent="0" marL="0">
              <a:lnSpc>
                <a:spcPct val="115000"/>
              </a:lnSpc>
              <a:buNone/>
            </a:pPr>
            <a:r>
              <a:rPr lang="en-US" sz="1400" dirty="0">
                <a:solidFill>
                  <a:srgbClr val="AFBED1"/>
                </a:solidFill>
              </a:rPr>
              <a:t>출혈 피해값을 static 변수나 배열에 따로 저장해야 합니다.</a:t>
            </a:r>
            <a:endParaRPr lang="en-US" sz="1400" dirty="0"/>
          </a:p>
        </p:txBody>
      </p:sp>
      <p:sp>
        <p:nvSpPr>
          <p:cNvPr id="13" name="Shape 10"/>
          <p:cNvSpPr/>
          <p:nvPr/>
        </p:nvSpPr>
        <p:spPr>
          <a:xfrm>
            <a:off x="7269480" y="3886200"/>
            <a:ext cx="4343400" cy="1869440"/>
          </a:xfrm>
          <a:prstGeom prst="roundRect">
            <a:avLst>
              <a:gd name="adj" fmla="val 3913"/>
            </a:avLst>
          </a:prstGeom>
          <a:solidFill>
            <a:srgbClr val="040A13"/>
          </a:solidFill>
          <a:ln w="12700">
            <a:solidFill>
              <a:srgbClr val="2A405B"/>
            </a:solidFill>
            <a:prstDash val="solid"/>
          </a:ln>
        </p:spPr>
      </p:sp>
      <p:sp>
        <p:nvSpPr>
          <p:cNvPr id="14" name="Text 11"/>
          <p:cNvSpPr txBox="1"/>
          <p:nvPr/>
        </p:nvSpPr>
        <p:spPr>
          <a:xfrm>
            <a:off x="7452360" y="4014216"/>
            <a:ext cx="3977640" cy="274320"/>
          </a:xfrm>
          <a:prstGeom prst="rect">
            <a:avLst/>
          </a:prstGeom>
          <a:noFill/>
          <a:ln/>
        </p:spPr>
        <p:txBody>
          <a:bodyPr wrap="square" lIns="0" tIns="0" rIns="0" bIns="0" rtlCol="0" anchor="t"/>
          <a:lstStyle/>
          <a:p>
            <a:pPr indent="0" marL="0">
              <a:buNone/>
            </a:pPr>
            <a:r>
              <a:rPr lang="en-US" sz="1200" b="1" dirty="0">
                <a:solidFill>
                  <a:srgbClr val="AFBED1"/>
                </a:solidFill>
              </a:rPr>
              <a:t>정답 코드의 실행 결과</a:t>
            </a:r>
            <a:endParaRPr lang="en-US" sz="1200" dirty="0"/>
          </a:p>
        </p:txBody>
      </p:sp>
      <p:sp>
        <p:nvSpPr>
          <p:cNvPr id="15" name="Text 12"/>
          <p:cNvSpPr txBox="1"/>
          <p:nvPr/>
        </p:nvSpPr>
        <p:spPr>
          <a:xfrm>
            <a:off x="7452360" y="4297680"/>
            <a:ext cx="3977640" cy="1320800"/>
          </a:xfrm>
          <a:prstGeom prst="rect">
            <a:avLst/>
          </a:prstGeom>
          <a:noFill/>
          <a:ln/>
        </p:spPr>
        <p:txBody>
          <a:bodyPr wrap="square" lIns="0" tIns="0" rIns="0" bIns="0" rtlCol="0" anchor="t"/>
          <a:lstStyle/>
          <a:p>
            <a:pPr indent="0" marL="0">
              <a:lnSpc>
                <a:spcPts val="2080"/>
              </a:lnSpc>
              <a:buNone/>
            </a:pPr>
            <a:r>
              <a:rPr lang="en-US" sz="1600" dirty="0">
                <a:solidFill>
                  <a:srgbClr val="83E58F"/>
                </a:solidFill>
                <a:latin typeface="Consolas" pitchFamily="34" charset="0"/>
                <a:ea typeface="Consolas" pitchFamily="34" charset="-122"/>
                <a:cs typeface="Consolas" pitchFamily="34" charset="-120"/>
              </a:rPr>
              <a:t>--- 3턴 ---</a:t>
            </a:r>
            <a:endParaRPr lang="en-US" sz="1600" dirty="0"/>
          </a:p>
          <a:p>
            <a:pPr indent="0" marL="0">
              <a:lnSpc>
                <a:spcPts val="2080"/>
              </a:lnSpc>
              <a:buNone/>
            </a:pPr>
            <a:r>
              <a:rPr lang="en-US" sz="1600" dirty="0">
                <a:solidFill>
                  <a:srgbClr val="83E58F"/>
                </a:solidFill>
                <a:latin typeface="Consolas" pitchFamily="34" charset="0"/>
                <a:ea typeface="Consolas" pitchFamily="34" charset="-122"/>
                <a:cs typeface="Consolas" pitchFamily="34" charset="-120"/>
              </a:rPr>
              <a:t>독 → 검사 HP 23/30</a:t>
            </a:r>
            <a:endParaRPr lang="en-US" sz="1600" dirty="0"/>
          </a:p>
          <a:p>
            <a:pPr indent="0" marL="0">
              <a:lnSpc>
                <a:spcPts val="2080"/>
              </a:lnSpc>
              <a:buNone/>
            </a:pPr>
            <a:r>
              <a:rPr lang="en-US" sz="1600" dirty="0">
                <a:solidFill>
                  <a:srgbClr val="83E58F"/>
                </a:solidFill>
                <a:latin typeface="Consolas" pitchFamily="34" charset="0"/>
                <a:ea typeface="Consolas" pitchFamily="34" charset="-122"/>
                <a:cs typeface="Consolas" pitchFamily="34" charset="-120"/>
              </a:rPr>
              <a:t>화상 → 검사 HP 20/30</a:t>
            </a:r>
            <a:endParaRPr lang="en-US" sz="1600" dirty="0"/>
          </a:p>
          <a:p>
            <a:pPr indent="0" marL="0">
              <a:lnSpc>
                <a:spcPts val="2080"/>
              </a:lnSpc>
              <a:buNone/>
            </a:pPr>
            <a:r>
              <a:rPr lang="en-US" sz="1600" dirty="0">
                <a:solidFill>
                  <a:srgbClr val="83E58F"/>
                </a:solidFill>
                <a:latin typeface="Consolas" pitchFamily="34" charset="0"/>
                <a:ea typeface="Consolas" pitchFamily="34" charset="-122"/>
                <a:cs typeface="Consolas" pitchFamily="34" charset="-120"/>
              </a:rPr>
              <a:t>재생 → 검사 HP 24/30</a:t>
            </a:r>
            <a:endParaRPr lang="en-US" sz="1600" dirty="0"/>
          </a:p>
          <a:p>
            <a:pPr indent="0" marL="0">
              <a:lnSpc>
                <a:spcPts val="2080"/>
              </a:lnSpc>
              <a:buNone/>
            </a:pPr>
            <a:r>
              <a:rPr lang="en-US" sz="1600" dirty="0">
                <a:solidFill>
                  <a:srgbClr val="83E58F"/>
                </a:solidFill>
                <a:latin typeface="Consolas" pitchFamily="34" charset="0"/>
                <a:ea typeface="Consolas" pitchFamily="34" charset="-122"/>
                <a:cs typeface="Consolas" pitchFamily="34" charset="-120"/>
              </a:rPr>
              <a:t>출혈 → 검사 HP 21/30</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822960" y="1554480"/>
            <a:ext cx="2743200" cy="1005840"/>
          </a:xfrm>
          <a:prstGeom prst="rect">
            <a:avLst/>
          </a:prstGeom>
          <a:noFill/>
          <a:ln/>
        </p:spPr>
        <p:txBody>
          <a:bodyPr wrap="square" lIns="0" tIns="0" rIns="0" bIns="0" rtlCol="0" anchor="t"/>
          <a:lstStyle/>
          <a:p>
            <a:pPr indent="0" marL="0">
              <a:buNone/>
            </a:pPr>
            <a:r>
              <a:rPr lang="en-US" sz="6000" b="1" dirty="0">
                <a:solidFill>
                  <a:srgbClr val="B8A4FF"/>
                </a:solidFill>
              </a:rPr>
              <a:t>08</a:t>
            </a:r>
            <a:endParaRPr lang="en-US" sz="6000" dirty="0"/>
          </a:p>
        </p:txBody>
      </p:sp>
      <p:sp>
        <p:nvSpPr>
          <p:cNvPr id="3" name="Text 1"/>
          <p:cNvSpPr txBox="1"/>
          <p:nvPr/>
        </p:nvSpPr>
        <p:spPr>
          <a:xfrm>
            <a:off x="822960" y="2697480"/>
            <a:ext cx="9144000" cy="365760"/>
          </a:xfrm>
          <a:prstGeom prst="rect">
            <a:avLst/>
          </a:prstGeom>
          <a:noFill/>
          <a:ln/>
        </p:spPr>
        <p:txBody>
          <a:bodyPr wrap="square" lIns="0" tIns="0" rIns="0" bIns="0" rtlCol="0" anchor="t"/>
          <a:lstStyle/>
          <a:p>
            <a:pPr indent="0" marL="0">
              <a:buNone/>
            </a:pPr>
            <a:r>
              <a:rPr lang="en-US" sz="1500" b="1" spc="200" kern="0" dirty="0">
                <a:solidFill>
                  <a:srgbClr val="B8A4FF"/>
                </a:solidFill>
              </a:rPr>
              <a:t>WRAP-UP</a:t>
            </a:r>
            <a:endParaRPr lang="en-US" sz="1500" dirty="0"/>
          </a:p>
        </p:txBody>
      </p:sp>
      <p:sp>
        <p:nvSpPr>
          <p:cNvPr id="4" name="Text 2"/>
          <p:cNvSpPr txBox="1"/>
          <p:nvPr/>
        </p:nvSpPr>
        <p:spPr>
          <a:xfrm>
            <a:off x="822960" y="3108960"/>
            <a:ext cx="10515600" cy="914400"/>
          </a:xfrm>
          <a:prstGeom prst="rect">
            <a:avLst/>
          </a:prstGeom>
          <a:noFill/>
          <a:ln/>
        </p:spPr>
        <p:txBody>
          <a:bodyPr wrap="square" lIns="0" tIns="0" rIns="0" bIns="0" rtlCol="0" anchor="t"/>
          <a:lstStyle/>
          <a:p>
            <a:pPr indent="0" marL="0">
              <a:buNone/>
            </a:pPr>
            <a:r>
              <a:rPr lang="en-US" sz="4400" b="1" dirty="0">
                <a:solidFill>
                  <a:srgbClr val="EEF5FF"/>
                </a:solidFill>
              </a:rPr>
              <a:t>마무리</a:t>
            </a:r>
            <a:endParaRPr lang="en-US" sz="4400" dirty="0"/>
          </a:p>
        </p:txBody>
      </p:sp>
      <p:sp>
        <p:nvSpPr>
          <p:cNvPr id="5" name="Shape 3"/>
          <p:cNvSpPr/>
          <p:nvPr/>
        </p:nvSpPr>
        <p:spPr>
          <a:xfrm>
            <a:off x="822960" y="4846320"/>
            <a:ext cx="1298448" cy="457200"/>
          </a:xfrm>
          <a:prstGeom prst="roundRect">
            <a:avLst>
              <a:gd name="adj" fmla="val 50000"/>
            </a:avLst>
          </a:prstGeom>
          <a:solidFill>
            <a:srgbClr val="040A13"/>
          </a:solidFill>
          <a:ln w="12700">
            <a:solidFill>
              <a:srgbClr val="2A405B"/>
            </a:solidFill>
            <a:prstDash val="solid"/>
          </a:ln>
        </p:spPr>
      </p:sp>
      <p:sp>
        <p:nvSpPr>
          <p:cNvPr id="6" name="Text 4"/>
          <p:cNvSpPr txBox="1"/>
          <p:nvPr/>
        </p:nvSpPr>
        <p:spPr>
          <a:xfrm>
            <a:off x="822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도입</a:t>
            </a:r>
            <a:endParaRPr lang="en-US" sz="1300" dirty="0"/>
          </a:p>
        </p:txBody>
      </p:sp>
      <p:sp>
        <p:nvSpPr>
          <p:cNvPr id="7" name="Shape 5"/>
          <p:cNvSpPr/>
          <p:nvPr/>
        </p:nvSpPr>
        <p:spPr>
          <a:xfrm>
            <a:off x="2194560" y="4846320"/>
            <a:ext cx="1298448" cy="457200"/>
          </a:xfrm>
          <a:prstGeom prst="roundRect">
            <a:avLst>
              <a:gd name="adj" fmla="val 50000"/>
            </a:avLst>
          </a:prstGeom>
          <a:solidFill>
            <a:srgbClr val="040A13"/>
          </a:solidFill>
          <a:ln w="12700">
            <a:solidFill>
              <a:srgbClr val="2A405B"/>
            </a:solidFill>
            <a:prstDash val="solid"/>
          </a:ln>
        </p:spPr>
      </p:sp>
      <p:sp>
        <p:nvSpPr>
          <p:cNvPr id="8" name="Text 6"/>
          <p:cNvSpPr txBox="1"/>
          <p:nvPr/>
        </p:nvSpPr>
        <p:spPr>
          <a:xfrm>
            <a:off x="2194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객체와 클래스</a:t>
            </a:r>
            <a:endParaRPr lang="en-US" sz="1300" dirty="0"/>
          </a:p>
        </p:txBody>
      </p:sp>
      <p:sp>
        <p:nvSpPr>
          <p:cNvPr id="9" name="Shape 7"/>
          <p:cNvSpPr/>
          <p:nvPr/>
        </p:nvSpPr>
        <p:spPr>
          <a:xfrm>
            <a:off x="3566160" y="4846320"/>
            <a:ext cx="1298448" cy="457200"/>
          </a:xfrm>
          <a:prstGeom prst="roundRect">
            <a:avLst>
              <a:gd name="adj" fmla="val 50000"/>
            </a:avLst>
          </a:prstGeom>
          <a:solidFill>
            <a:srgbClr val="040A13"/>
          </a:solidFill>
          <a:ln w="12700">
            <a:solidFill>
              <a:srgbClr val="2A405B"/>
            </a:solidFill>
            <a:prstDash val="solid"/>
          </a:ln>
        </p:spPr>
      </p:sp>
      <p:sp>
        <p:nvSpPr>
          <p:cNvPr id="10" name="Text 8"/>
          <p:cNvSpPr txBox="1"/>
          <p:nvPr/>
        </p:nvSpPr>
        <p:spPr>
          <a:xfrm>
            <a:off x="35661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캡슐화</a:t>
            </a:r>
            <a:endParaRPr lang="en-US" sz="1300" dirty="0"/>
          </a:p>
        </p:txBody>
      </p:sp>
      <p:sp>
        <p:nvSpPr>
          <p:cNvPr id="11" name="Shape 9"/>
          <p:cNvSpPr/>
          <p:nvPr/>
        </p:nvSpPr>
        <p:spPr>
          <a:xfrm>
            <a:off x="4937760" y="4846320"/>
            <a:ext cx="1298448" cy="457200"/>
          </a:xfrm>
          <a:prstGeom prst="roundRect">
            <a:avLst>
              <a:gd name="adj" fmla="val 50000"/>
            </a:avLst>
          </a:prstGeom>
          <a:solidFill>
            <a:srgbClr val="040A13"/>
          </a:solidFill>
          <a:ln w="12700">
            <a:solidFill>
              <a:srgbClr val="2A405B"/>
            </a:solidFill>
            <a:prstDash val="solid"/>
          </a:ln>
        </p:spPr>
      </p:sp>
      <p:sp>
        <p:nvSpPr>
          <p:cNvPr id="12" name="Text 10"/>
          <p:cNvSpPr txBox="1"/>
          <p:nvPr/>
        </p:nvSpPr>
        <p:spPr>
          <a:xfrm>
            <a:off x="49377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상속</a:t>
            </a:r>
            <a:endParaRPr lang="en-US" sz="1300" dirty="0"/>
          </a:p>
        </p:txBody>
      </p:sp>
      <p:sp>
        <p:nvSpPr>
          <p:cNvPr id="13" name="Shape 11"/>
          <p:cNvSpPr/>
          <p:nvPr/>
        </p:nvSpPr>
        <p:spPr>
          <a:xfrm>
            <a:off x="6309360" y="4846320"/>
            <a:ext cx="1298448" cy="457200"/>
          </a:xfrm>
          <a:prstGeom prst="roundRect">
            <a:avLst>
              <a:gd name="adj" fmla="val 50000"/>
            </a:avLst>
          </a:prstGeom>
          <a:solidFill>
            <a:srgbClr val="040A13"/>
          </a:solidFill>
          <a:ln w="12700">
            <a:solidFill>
              <a:srgbClr val="2A405B"/>
            </a:solidFill>
            <a:prstDash val="solid"/>
          </a:ln>
        </p:spPr>
      </p:sp>
      <p:sp>
        <p:nvSpPr>
          <p:cNvPr id="14" name="Text 12"/>
          <p:cNvSpPr txBox="1"/>
          <p:nvPr/>
        </p:nvSpPr>
        <p:spPr>
          <a:xfrm>
            <a:off x="63093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다형성</a:t>
            </a:r>
            <a:endParaRPr lang="en-US" sz="1300" dirty="0"/>
          </a:p>
        </p:txBody>
      </p:sp>
      <p:sp>
        <p:nvSpPr>
          <p:cNvPr id="15" name="Shape 13"/>
          <p:cNvSpPr/>
          <p:nvPr/>
        </p:nvSpPr>
        <p:spPr>
          <a:xfrm>
            <a:off x="7680960" y="4846320"/>
            <a:ext cx="1298448" cy="457200"/>
          </a:xfrm>
          <a:prstGeom prst="roundRect">
            <a:avLst>
              <a:gd name="adj" fmla="val 50000"/>
            </a:avLst>
          </a:prstGeom>
          <a:solidFill>
            <a:srgbClr val="040A13"/>
          </a:solidFill>
          <a:ln w="12700">
            <a:solidFill>
              <a:srgbClr val="2A405B"/>
            </a:solidFill>
            <a:prstDash val="solid"/>
          </a:ln>
        </p:spPr>
      </p:sp>
      <p:sp>
        <p:nvSpPr>
          <p:cNvPr id="16" name="Text 14"/>
          <p:cNvSpPr txBox="1"/>
          <p:nvPr/>
        </p:nvSpPr>
        <p:spPr>
          <a:xfrm>
            <a:off x="76809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추상화</a:t>
            </a:r>
            <a:endParaRPr lang="en-US" sz="1300" dirty="0"/>
          </a:p>
        </p:txBody>
      </p:sp>
      <p:sp>
        <p:nvSpPr>
          <p:cNvPr id="17" name="Shape 15"/>
          <p:cNvSpPr/>
          <p:nvPr/>
        </p:nvSpPr>
        <p:spPr>
          <a:xfrm>
            <a:off x="9052560" y="4846320"/>
            <a:ext cx="1298448" cy="457200"/>
          </a:xfrm>
          <a:prstGeom prst="roundRect">
            <a:avLst>
              <a:gd name="adj" fmla="val 50000"/>
            </a:avLst>
          </a:prstGeom>
          <a:solidFill>
            <a:srgbClr val="040A13"/>
          </a:solidFill>
          <a:ln w="12700">
            <a:solidFill>
              <a:srgbClr val="2A405B"/>
            </a:solidFill>
            <a:prstDash val="solid"/>
          </a:ln>
        </p:spPr>
      </p:sp>
      <p:sp>
        <p:nvSpPr>
          <p:cNvPr id="18" name="Text 16"/>
          <p:cNvSpPr txBox="1"/>
          <p:nvPr/>
        </p:nvSpPr>
        <p:spPr>
          <a:xfrm>
            <a:off x="9052560" y="4846320"/>
            <a:ext cx="1298448" cy="457200"/>
          </a:xfrm>
          <a:prstGeom prst="rect">
            <a:avLst/>
          </a:prstGeom>
          <a:noFill/>
          <a:ln/>
        </p:spPr>
        <p:txBody>
          <a:bodyPr wrap="square" lIns="0" tIns="0" rIns="0" bIns="0" rtlCol="0" anchor="ctr"/>
          <a:lstStyle/>
          <a:p>
            <a:pPr algn="ctr" indent="0" marL="0">
              <a:buNone/>
            </a:pPr>
            <a:r>
              <a:rPr lang="en-US" sz="1300" dirty="0">
                <a:solidFill>
                  <a:srgbClr val="AFBED1"/>
                </a:solidFill>
              </a:rPr>
              <a:t>실습</a:t>
            </a:r>
            <a:endParaRPr lang="en-US" sz="1300" dirty="0"/>
          </a:p>
        </p:txBody>
      </p:sp>
      <p:sp>
        <p:nvSpPr>
          <p:cNvPr id="19" name="Shape 17"/>
          <p:cNvSpPr/>
          <p:nvPr/>
        </p:nvSpPr>
        <p:spPr>
          <a:xfrm>
            <a:off x="10424160" y="4846320"/>
            <a:ext cx="1298448" cy="457200"/>
          </a:xfrm>
          <a:prstGeom prst="roundRect">
            <a:avLst>
              <a:gd name="adj" fmla="val 50000"/>
            </a:avLst>
          </a:prstGeom>
          <a:solidFill>
            <a:srgbClr val="B8A4FF"/>
          </a:solidFill>
          <a:ln w="12700">
            <a:solidFill>
              <a:srgbClr val="B8A4FF"/>
            </a:solidFill>
            <a:prstDash val="solid"/>
          </a:ln>
        </p:spPr>
      </p:sp>
      <p:sp>
        <p:nvSpPr>
          <p:cNvPr id="20" name="Text 18"/>
          <p:cNvSpPr txBox="1"/>
          <p:nvPr/>
        </p:nvSpPr>
        <p:spPr>
          <a:xfrm>
            <a:off x="10424160" y="4846320"/>
            <a:ext cx="1298448" cy="457200"/>
          </a:xfrm>
          <a:prstGeom prst="rect">
            <a:avLst/>
          </a:prstGeom>
          <a:noFill/>
          <a:ln/>
        </p:spPr>
        <p:txBody>
          <a:bodyPr wrap="square" lIns="0" tIns="0" rIns="0" bIns="0" rtlCol="0" anchor="ctr"/>
          <a:lstStyle/>
          <a:p>
            <a:pPr algn="ctr" indent="0" marL="0">
              <a:buNone/>
            </a:pPr>
            <a:r>
              <a:rPr lang="en-US" sz="1300" b="1" dirty="0">
                <a:solidFill>
                  <a:srgbClr val="040A13"/>
                </a:solidFill>
              </a:rPr>
              <a:t>마무리</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B8A4FF"/>
          </a:solidFill>
          <a:ln w="12700">
            <a:solidFill>
              <a:srgbClr val="B8A4F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B8A4FF"/>
                </a:solidFill>
              </a:rPr>
              <a:t>UNITY</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Unity 코드의 상속, 조합, 캡슐화</a:t>
            </a:r>
            <a:endParaRPr lang="en-US" sz="2800" dirty="0"/>
          </a:p>
        </p:txBody>
      </p:sp>
      <p:sp>
        <p:nvSpPr>
          <p:cNvPr id="6" name="Shape 3"/>
          <p:cNvSpPr/>
          <p:nvPr/>
        </p:nvSpPr>
        <p:spPr>
          <a:xfrm>
            <a:off x="548640" y="1783080"/>
            <a:ext cx="8092440" cy="4014470"/>
          </a:xfrm>
          <a:prstGeom prst="roundRect">
            <a:avLst>
              <a:gd name="adj" fmla="val 1822"/>
            </a:avLst>
          </a:prstGeom>
          <a:solidFill>
            <a:srgbClr val="040A13"/>
          </a:solidFill>
          <a:ln w="12700">
            <a:solidFill>
              <a:srgbClr val="2A405B"/>
            </a:solidFill>
            <a:prstDash val="solid"/>
          </a:ln>
        </p:spPr>
      </p:sp>
      <p:sp>
        <p:nvSpPr>
          <p:cNvPr id="7" name="Shape 4"/>
          <p:cNvSpPr/>
          <p:nvPr/>
        </p:nvSpPr>
        <p:spPr>
          <a:xfrm>
            <a:off x="603504" y="1965960"/>
            <a:ext cx="7982712" cy="280670"/>
          </a:xfrm>
          <a:prstGeom prst="rect">
            <a:avLst/>
          </a:prstGeom>
          <a:solidFill>
            <a:srgbClr val="B8A4FF">
              <a:alpha val="20000"/>
            </a:srgbClr>
          </a:solidFill>
          <a:ln w="12700">
            <a:solidFill>
              <a:srgbClr val="B8A4FF">
                <a:alpha val="0"/>
              </a:srgbClr>
            </a:solidFill>
            <a:prstDash val="solid"/>
          </a:ln>
        </p:spPr>
      </p:sp>
      <p:sp>
        <p:nvSpPr>
          <p:cNvPr id="8" name="Shape 5"/>
          <p:cNvSpPr/>
          <p:nvPr/>
        </p:nvSpPr>
        <p:spPr>
          <a:xfrm>
            <a:off x="603504" y="2527300"/>
            <a:ext cx="7982712" cy="561340"/>
          </a:xfrm>
          <a:prstGeom prst="rect">
            <a:avLst/>
          </a:prstGeom>
          <a:solidFill>
            <a:srgbClr val="83E58F">
              <a:alpha val="20000"/>
            </a:srgbClr>
          </a:solidFill>
          <a:ln w="12700">
            <a:solidFill>
              <a:srgbClr val="83E58F">
                <a:alpha val="0"/>
              </a:srgbClr>
            </a:solidFill>
            <a:prstDash val="solid"/>
          </a:ln>
        </p:spPr>
      </p:sp>
      <p:sp>
        <p:nvSpPr>
          <p:cNvPr id="9" name="Text 6"/>
          <p:cNvSpPr txBox="1"/>
          <p:nvPr/>
        </p:nvSpPr>
        <p:spPr>
          <a:xfrm>
            <a:off x="731520" y="1965960"/>
            <a:ext cx="7726680" cy="3648710"/>
          </a:xfrm>
          <a:prstGeom prst="rect">
            <a:avLst/>
          </a:prstGeom>
          <a:noFill/>
          <a:ln/>
        </p:spPr>
        <p:txBody>
          <a:bodyPr wrap="none" lIns="0" tIns="0" rIns="0" bIns="0" rtlCol="0" anchor="t"/>
          <a:lstStyle/>
          <a:p>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public</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sealed</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class</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55E4CF"/>
                </a:solidFill>
                <a:latin typeface="Consolas" pitchFamily="34" charset="0"/>
                <a:ea typeface="Consolas" pitchFamily="34" charset="-122"/>
                <a:cs typeface="Consolas" pitchFamily="34" charset="-120"/>
              </a:rPr>
              <a:t>Unit</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 </a:t>
            </a:r>
            <a:pPr indent="0" marL="0">
              <a:lnSpc>
                <a:spcPts val="2210"/>
              </a:lnSpc>
              <a:buNone/>
            </a:pPr>
            <a:r>
              <a:rPr lang="en-US" sz="1700" dirty="0">
                <a:solidFill>
                  <a:srgbClr val="55E4CF"/>
                </a:solidFill>
                <a:latin typeface="Consolas" pitchFamily="34" charset="0"/>
                <a:ea typeface="Consolas" pitchFamily="34" charset="-122"/>
                <a:cs typeface="Consolas" pitchFamily="34" charset="-120"/>
              </a:rPr>
              <a:t>MonoBehaviour</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55E4CF"/>
                </a:solidFill>
                <a:latin typeface="Consolas" pitchFamily="34" charset="0"/>
                <a:ea typeface="Consolas" pitchFamily="34" charset="-122"/>
                <a:cs typeface="Consolas" pitchFamily="34" charset="-120"/>
              </a:rPr>
              <a:t>SerializeField</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55E4CF"/>
                </a:solidFill>
                <a:latin typeface="Consolas" pitchFamily="34" charset="0"/>
                <a:ea typeface="Consolas" pitchFamily="34" charset="-122"/>
                <a:cs typeface="Consolas" pitchFamily="34" charset="-120"/>
              </a:rPr>
              <a:t>Min</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a:t>
            </a:r>
            <a:pPr indent="0" marL="0">
              <a:lnSpc>
                <a:spcPts val="2210"/>
              </a:lnSpc>
              <a:buNone/>
            </a:pPr>
            <a:r>
              <a:rPr lang="en-US" sz="1700" dirty="0">
                <a:solidFill>
                  <a:srgbClr val="83E58F"/>
                </a:solidFill>
                <a:latin typeface="Consolas" pitchFamily="34" charset="0"/>
                <a:ea typeface="Consolas" pitchFamily="34" charset="-122"/>
                <a:cs typeface="Consolas" pitchFamily="34" charset="-120"/>
              </a:rPr>
              <a:t>0</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private</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int</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_moveDistance = </a:t>
            </a:r>
            <a:pPr indent="0" marL="0">
              <a:lnSpc>
                <a:spcPts val="2210"/>
              </a:lnSpc>
              <a:buNone/>
            </a:pPr>
            <a:r>
              <a:rPr lang="en-US" sz="1700" dirty="0">
                <a:solidFill>
                  <a:srgbClr val="83E58F"/>
                </a:solidFill>
                <a:latin typeface="Consolas" pitchFamily="34" charset="0"/>
                <a:ea typeface="Consolas" pitchFamily="34" charset="-122"/>
                <a:cs typeface="Consolas" pitchFamily="34" charset="-120"/>
              </a:rPr>
              <a:t>2</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55E4CF"/>
                </a:solidFill>
                <a:latin typeface="Consolas" pitchFamily="34" charset="0"/>
                <a:ea typeface="Consolas" pitchFamily="34" charset="-122"/>
                <a:cs typeface="Consolas" pitchFamily="34" charset="-120"/>
              </a:rPr>
              <a:t>SerializeField</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private</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bool</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_canMove =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true</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public</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int</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MoveDistance =&gt; _moveDistance;</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public</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bool</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CanMove =&gt; _canMove;</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public</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pPr indent="0" marL="0">
              <a:lnSpc>
                <a:spcPts val="2210"/>
              </a:lnSpc>
              <a:buNone/>
            </a:pPr>
            <a:r>
              <a:rPr lang="en-US" sz="1700" dirty="0">
                <a:solidFill>
                  <a:srgbClr val="B8A4FF"/>
                </a:solidFill>
                <a:latin typeface="Consolas" pitchFamily="34" charset="0"/>
                <a:ea typeface="Consolas" pitchFamily="34" charset="-122"/>
                <a:cs typeface="Consolas" pitchFamily="34" charset="-120"/>
              </a:rPr>
              <a:t>void</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MoveTo(</a:t>
            </a:r>
            <a:pPr indent="0" marL="0">
              <a:lnSpc>
                <a:spcPts val="2210"/>
              </a:lnSpc>
              <a:buNone/>
            </a:pPr>
            <a:r>
              <a:rPr lang="en-US" sz="1700" dirty="0">
                <a:solidFill>
                  <a:srgbClr val="55E4CF"/>
                </a:solidFill>
                <a:latin typeface="Consolas" pitchFamily="34" charset="0"/>
                <a:ea typeface="Consolas" pitchFamily="34" charset="-122"/>
                <a:cs typeface="Consolas" pitchFamily="34" charset="-120"/>
              </a:rPr>
              <a:t>BoardView</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board, </a:t>
            </a:r>
            <a:pPr indent="0" marL="0">
              <a:lnSpc>
                <a:spcPts val="2210"/>
              </a:lnSpc>
              <a:buNone/>
            </a:pPr>
            <a:r>
              <a:rPr lang="en-US" sz="1700" dirty="0">
                <a:solidFill>
                  <a:srgbClr val="55E4CF"/>
                </a:solidFill>
                <a:latin typeface="Consolas" pitchFamily="34" charset="0"/>
                <a:ea typeface="Consolas" pitchFamily="34" charset="-122"/>
                <a:cs typeface="Consolas" pitchFamily="34" charset="-120"/>
              </a:rPr>
              <a:t>Vector2Int</a:t>
            </a:r>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targetCell)</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transform.position = board.CellToWorld(targetCell);</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    }</a:t>
            </a:r>
            <a:endParaRPr lang="en-US" sz="1700" dirty="0"/>
          </a:p>
          <a:p>
            <a:pPr indent="0" marL="0">
              <a:lnSpc>
                <a:spcPts val="2210"/>
              </a:lnSpc>
              <a:buNone/>
            </a:pPr>
            <a:r>
              <a:rPr lang="en-US" sz="1700" dirty="0">
                <a:solidFill>
                  <a:srgbClr val="EEF5FF"/>
                </a:solidFill>
                <a:latin typeface="Consolas" pitchFamily="34" charset="0"/>
                <a:ea typeface="Consolas" pitchFamily="34" charset="-122"/>
                <a:cs typeface="Consolas" pitchFamily="34" charset="-120"/>
              </a:rPr>
              <a:t>}</a:t>
            </a:r>
            <a:endParaRPr lang="en-US" sz="1700" dirty="0"/>
          </a:p>
        </p:txBody>
      </p:sp>
      <p:sp>
        <p:nvSpPr>
          <p:cNvPr id="10" name="Shape 7"/>
          <p:cNvSpPr/>
          <p:nvPr/>
        </p:nvSpPr>
        <p:spPr>
          <a:xfrm>
            <a:off x="8869680" y="1783080"/>
            <a:ext cx="2743200" cy="1920240"/>
          </a:xfrm>
          <a:prstGeom prst="roundRect">
            <a:avLst>
              <a:gd name="adj" fmla="val 5714"/>
            </a:avLst>
          </a:prstGeom>
          <a:solidFill>
            <a:srgbClr val="10233A"/>
          </a:solidFill>
          <a:ln w="12700">
            <a:solidFill>
              <a:srgbClr val="2A405B"/>
            </a:solidFill>
            <a:prstDash val="solid"/>
          </a:ln>
        </p:spPr>
      </p:sp>
      <p:sp>
        <p:nvSpPr>
          <p:cNvPr id="11" name="Text 8"/>
          <p:cNvSpPr txBox="1"/>
          <p:nvPr/>
        </p:nvSpPr>
        <p:spPr>
          <a:xfrm>
            <a:off x="9052560" y="1874520"/>
            <a:ext cx="2468880" cy="365760"/>
          </a:xfrm>
          <a:prstGeom prst="rect">
            <a:avLst/>
          </a:prstGeom>
          <a:noFill/>
          <a:ln/>
        </p:spPr>
        <p:txBody>
          <a:bodyPr wrap="square" lIns="0" tIns="0" rIns="0" bIns="0" rtlCol="0" anchor="t"/>
          <a:lstStyle/>
          <a:p>
            <a:pPr indent="0" marL="0">
              <a:buNone/>
            </a:pPr>
            <a:r>
              <a:rPr lang="en-US" sz="1400" b="1" dirty="0">
                <a:solidFill>
                  <a:srgbClr val="AFBED1"/>
                </a:solidFill>
              </a:rPr>
              <a:t>GameObject · 검사</a:t>
            </a:r>
            <a:endParaRPr lang="en-US" sz="1400" dirty="0"/>
          </a:p>
        </p:txBody>
      </p:sp>
      <p:sp>
        <p:nvSpPr>
          <p:cNvPr id="12" name="Shape 9"/>
          <p:cNvSpPr/>
          <p:nvPr/>
        </p:nvSpPr>
        <p:spPr>
          <a:xfrm>
            <a:off x="9052560" y="2286000"/>
            <a:ext cx="2377440" cy="384048"/>
          </a:xfrm>
          <a:prstGeom prst="roundRect">
            <a:avLst>
              <a:gd name="adj" fmla="val 14286"/>
            </a:avLst>
          </a:prstGeom>
          <a:solidFill>
            <a:srgbClr val="142B45"/>
          </a:solidFill>
          <a:ln w="12700">
            <a:solidFill>
              <a:srgbClr val="142B45"/>
            </a:solidFill>
            <a:prstDash val="solid"/>
          </a:ln>
        </p:spPr>
      </p:sp>
      <p:sp>
        <p:nvSpPr>
          <p:cNvPr id="13" name="Text 10"/>
          <p:cNvSpPr txBox="1"/>
          <p:nvPr/>
        </p:nvSpPr>
        <p:spPr>
          <a:xfrm>
            <a:off x="9189720" y="2286000"/>
            <a:ext cx="2194560" cy="384048"/>
          </a:xfrm>
          <a:prstGeom prst="rect">
            <a:avLst/>
          </a:prstGeom>
          <a:noFill/>
          <a:ln/>
        </p:spPr>
        <p:txBody>
          <a:bodyPr wrap="square" lIns="0" tIns="0" rIns="0" bIns="0" rtlCol="0" anchor="ctr"/>
          <a:lstStyle/>
          <a:p>
            <a:pPr indent="0" marL="0">
              <a:buNone/>
            </a:pPr>
            <a:r>
              <a:rPr lang="en-US" sz="1400" dirty="0">
                <a:solidFill>
                  <a:srgbClr val="55E4CF"/>
                </a:solidFill>
                <a:latin typeface="Consolas" pitchFamily="34" charset="0"/>
                <a:ea typeface="Consolas" pitchFamily="34" charset="-122"/>
                <a:cs typeface="Consolas" pitchFamily="34" charset="-120"/>
              </a:rPr>
              <a:t>Transform</a:t>
            </a:r>
            <a:endParaRPr lang="en-US" sz="1400" dirty="0"/>
          </a:p>
        </p:txBody>
      </p:sp>
      <p:sp>
        <p:nvSpPr>
          <p:cNvPr id="14" name="Shape 11"/>
          <p:cNvSpPr/>
          <p:nvPr/>
        </p:nvSpPr>
        <p:spPr>
          <a:xfrm>
            <a:off x="9052560" y="2743200"/>
            <a:ext cx="2377440" cy="384048"/>
          </a:xfrm>
          <a:prstGeom prst="roundRect">
            <a:avLst>
              <a:gd name="adj" fmla="val 14286"/>
            </a:avLst>
          </a:prstGeom>
          <a:solidFill>
            <a:srgbClr val="142B45"/>
          </a:solidFill>
          <a:ln w="12700">
            <a:solidFill>
              <a:srgbClr val="142B45"/>
            </a:solidFill>
            <a:prstDash val="solid"/>
          </a:ln>
        </p:spPr>
      </p:sp>
      <p:sp>
        <p:nvSpPr>
          <p:cNvPr id="15" name="Text 12"/>
          <p:cNvSpPr txBox="1"/>
          <p:nvPr/>
        </p:nvSpPr>
        <p:spPr>
          <a:xfrm>
            <a:off x="9189720" y="2743200"/>
            <a:ext cx="2194560" cy="384048"/>
          </a:xfrm>
          <a:prstGeom prst="rect">
            <a:avLst/>
          </a:prstGeom>
          <a:noFill/>
          <a:ln/>
        </p:spPr>
        <p:txBody>
          <a:bodyPr wrap="square" lIns="0" tIns="0" rIns="0" bIns="0" rtlCol="0" anchor="ctr"/>
          <a:lstStyle/>
          <a:p>
            <a:pPr indent="0" marL="0">
              <a:buNone/>
            </a:pPr>
            <a:r>
              <a:rPr lang="en-US" sz="1400" dirty="0">
                <a:solidFill>
                  <a:srgbClr val="55E4CF"/>
                </a:solidFill>
                <a:latin typeface="Consolas" pitchFamily="34" charset="0"/>
                <a:ea typeface="Consolas" pitchFamily="34" charset="-122"/>
                <a:cs typeface="Consolas" pitchFamily="34" charset="-120"/>
              </a:rPr>
              <a:t>Unit</a:t>
            </a:r>
            <a:endParaRPr lang="en-US" sz="1400" dirty="0"/>
          </a:p>
        </p:txBody>
      </p:sp>
      <p:sp>
        <p:nvSpPr>
          <p:cNvPr id="16" name="Shape 13"/>
          <p:cNvSpPr/>
          <p:nvPr/>
        </p:nvSpPr>
        <p:spPr>
          <a:xfrm>
            <a:off x="9052560" y="3200400"/>
            <a:ext cx="2377440" cy="384048"/>
          </a:xfrm>
          <a:prstGeom prst="roundRect">
            <a:avLst>
              <a:gd name="adj" fmla="val 14286"/>
            </a:avLst>
          </a:prstGeom>
          <a:solidFill>
            <a:srgbClr val="142B45"/>
          </a:solidFill>
          <a:ln w="12700">
            <a:solidFill>
              <a:srgbClr val="142B45"/>
            </a:solidFill>
            <a:prstDash val="solid"/>
          </a:ln>
        </p:spPr>
      </p:sp>
      <p:sp>
        <p:nvSpPr>
          <p:cNvPr id="17" name="Text 14"/>
          <p:cNvSpPr txBox="1"/>
          <p:nvPr/>
        </p:nvSpPr>
        <p:spPr>
          <a:xfrm>
            <a:off x="9189720" y="3200400"/>
            <a:ext cx="2194560" cy="384048"/>
          </a:xfrm>
          <a:prstGeom prst="rect">
            <a:avLst/>
          </a:prstGeom>
          <a:noFill/>
          <a:ln/>
        </p:spPr>
        <p:txBody>
          <a:bodyPr wrap="square" lIns="0" tIns="0" rIns="0" bIns="0" rtlCol="0" anchor="ctr"/>
          <a:lstStyle/>
          <a:p>
            <a:pPr indent="0" marL="0">
              <a:buNone/>
            </a:pPr>
            <a:r>
              <a:rPr lang="en-US" sz="1400" dirty="0">
                <a:solidFill>
                  <a:srgbClr val="55E4CF"/>
                </a:solidFill>
                <a:latin typeface="Consolas" pitchFamily="34" charset="0"/>
                <a:ea typeface="Consolas" pitchFamily="34" charset="-122"/>
                <a:cs typeface="Consolas" pitchFamily="34" charset="-120"/>
              </a:rPr>
              <a:t>UnitAnimator</a:t>
            </a:r>
            <a:endParaRPr lang="en-US" sz="1400" dirty="0"/>
          </a:p>
        </p:txBody>
      </p:sp>
      <p:sp>
        <p:nvSpPr>
          <p:cNvPr id="18" name="Shape 15"/>
          <p:cNvSpPr/>
          <p:nvPr/>
        </p:nvSpPr>
        <p:spPr>
          <a:xfrm>
            <a:off x="8869680" y="3840480"/>
            <a:ext cx="2743200" cy="713232"/>
          </a:xfrm>
          <a:prstGeom prst="roundRect">
            <a:avLst>
              <a:gd name="adj" fmla="val 15385"/>
            </a:avLst>
          </a:prstGeom>
          <a:solidFill>
            <a:srgbClr val="10233A"/>
          </a:solidFill>
          <a:ln w="12700">
            <a:solidFill>
              <a:srgbClr val="2A405B"/>
            </a:solidFill>
            <a:prstDash val="solid"/>
          </a:ln>
        </p:spPr>
      </p:sp>
      <p:sp>
        <p:nvSpPr>
          <p:cNvPr id="19" name="Text 16"/>
          <p:cNvSpPr txBox="1"/>
          <p:nvPr/>
        </p:nvSpPr>
        <p:spPr>
          <a:xfrm>
            <a:off x="9052560" y="3904488"/>
            <a:ext cx="2468880" cy="274320"/>
          </a:xfrm>
          <a:prstGeom prst="rect">
            <a:avLst/>
          </a:prstGeom>
          <a:noFill/>
          <a:ln/>
        </p:spPr>
        <p:txBody>
          <a:bodyPr wrap="square" lIns="0" tIns="0" rIns="0" bIns="0" rtlCol="0" anchor="t"/>
          <a:lstStyle/>
          <a:p>
            <a:pPr indent="0" marL="0">
              <a:buNone/>
            </a:pPr>
            <a:r>
              <a:rPr lang="en-US" sz="1400" b="1" dirty="0">
                <a:solidFill>
                  <a:srgbClr val="B8A4FF"/>
                </a:solidFill>
              </a:rPr>
              <a:t>상속</a:t>
            </a:r>
            <a:endParaRPr lang="en-US" sz="1400" dirty="0"/>
          </a:p>
        </p:txBody>
      </p:sp>
      <p:sp>
        <p:nvSpPr>
          <p:cNvPr id="20" name="Text 17"/>
          <p:cNvSpPr txBox="1"/>
          <p:nvPr/>
        </p:nvSpPr>
        <p:spPr>
          <a:xfrm>
            <a:off x="9052560" y="4187952"/>
            <a:ext cx="2468880" cy="292608"/>
          </a:xfrm>
          <a:prstGeom prst="rect">
            <a:avLst/>
          </a:prstGeom>
          <a:noFill/>
          <a:ln/>
        </p:spPr>
        <p:txBody>
          <a:bodyPr wrap="square" lIns="0" tIns="0" rIns="0" bIns="0" rtlCol="0" anchor="t"/>
          <a:lstStyle/>
          <a:p>
            <a:pPr indent="0" marL="0">
              <a:buNone/>
            </a:pPr>
            <a:r>
              <a:rPr lang="en-US" sz="1400" dirty="0">
                <a:solidFill>
                  <a:srgbClr val="EEF5FF"/>
                </a:solidFill>
              </a:rPr>
              <a:t>Unit은 MonoBehaviour</a:t>
            </a:r>
            <a:endParaRPr lang="en-US" sz="1400" dirty="0"/>
          </a:p>
        </p:txBody>
      </p:sp>
      <p:sp>
        <p:nvSpPr>
          <p:cNvPr id="21" name="Shape 18"/>
          <p:cNvSpPr/>
          <p:nvPr/>
        </p:nvSpPr>
        <p:spPr>
          <a:xfrm>
            <a:off x="8869680" y="4645152"/>
            <a:ext cx="2743200" cy="713232"/>
          </a:xfrm>
          <a:prstGeom prst="roundRect">
            <a:avLst>
              <a:gd name="adj" fmla="val 15385"/>
            </a:avLst>
          </a:prstGeom>
          <a:solidFill>
            <a:srgbClr val="10233A"/>
          </a:solidFill>
          <a:ln w="12700">
            <a:solidFill>
              <a:srgbClr val="2A405B"/>
            </a:solidFill>
            <a:prstDash val="solid"/>
          </a:ln>
        </p:spPr>
      </p:sp>
      <p:sp>
        <p:nvSpPr>
          <p:cNvPr id="22" name="Text 19"/>
          <p:cNvSpPr txBox="1"/>
          <p:nvPr/>
        </p:nvSpPr>
        <p:spPr>
          <a:xfrm>
            <a:off x="9052560" y="4709160"/>
            <a:ext cx="2468880" cy="274320"/>
          </a:xfrm>
          <a:prstGeom prst="rect">
            <a:avLst/>
          </a:prstGeom>
          <a:noFill/>
          <a:ln/>
        </p:spPr>
        <p:txBody>
          <a:bodyPr wrap="square" lIns="0" tIns="0" rIns="0" bIns="0" rtlCol="0" anchor="t"/>
          <a:lstStyle/>
          <a:p>
            <a:pPr indent="0" marL="0">
              <a:buNone/>
            </a:pPr>
            <a:r>
              <a:rPr lang="en-US" sz="1400" b="1" dirty="0">
                <a:solidFill>
                  <a:srgbClr val="B8A4FF"/>
                </a:solidFill>
              </a:rPr>
              <a:t>조합</a:t>
            </a:r>
            <a:endParaRPr lang="en-US" sz="1400" dirty="0"/>
          </a:p>
        </p:txBody>
      </p:sp>
      <p:sp>
        <p:nvSpPr>
          <p:cNvPr id="23" name="Text 20"/>
          <p:cNvSpPr txBox="1"/>
          <p:nvPr/>
        </p:nvSpPr>
        <p:spPr>
          <a:xfrm>
            <a:off x="9052560" y="4992624"/>
            <a:ext cx="2468880" cy="292608"/>
          </a:xfrm>
          <a:prstGeom prst="rect">
            <a:avLst/>
          </a:prstGeom>
          <a:noFill/>
          <a:ln/>
        </p:spPr>
        <p:txBody>
          <a:bodyPr wrap="square" lIns="0" tIns="0" rIns="0" bIns="0" rtlCol="0" anchor="t"/>
          <a:lstStyle/>
          <a:p>
            <a:pPr indent="0" marL="0">
              <a:buNone/>
            </a:pPr>
            <a:r>
              <a:rPr lang="en-US" sz="1400" dirty="0">
                <a:solidFill>
                  <a:srgbClr val="EEF5FF"/>
                </a:solidFill>
              </a:rPr>
              <a:t>컴포넌트를 가진다</a:t>
            </a:r>
            <a:endParaRPr lang="en-US" sz="1400" dirty="0"/>
          </a:p>
        </p:txBody>
      </p:sp>
      <p:sp>
        <p:nvSpPr>
          <p:cNvPr id="24" name="Shape 21"/>
          <p:cNvSpPr/>
          <p:nvPr/>
        </p:nvSpPr>
        <p:spPr>
          <a:xfrm>
            <a:off x="8869680" y="5449824"/>
            <a:ext cx="2743200" cy="713232"/>
          </a:xfrm>
          <a:prstGeom prst="roundRect">
            <a:avLst>
              <a:gd name="adj" fmla="val 15385"/>
            </a:avLst>
          </a:prstGeom>
          <a:solidFill>
            <a:srgbClr val="10233A"/>
          </a:solidFill>
          <a:ln w="12700">
            <a:solidFill>
              <a:srgbClr val="2A405B"/>
            </a:solidFill>
            <a:prstDash val="solid"/>
          </a:ln>
        </p:spPr>
      </p:sp>
      <p:sp>
        <p:nvSpPr>
          <p:cNvPr id="25" name="Text 22"/>
          <p:cNvSpPr txBox="1"/>
          <p:nvPr/>
        </p:nvSpPr>
        <p:spPr>
          <a:xfrm>
            <a:off x="9052560" y="5513832"/>
            <a:ext cx="2468880" cy="274320"/>
          </a:xfrm>
          <a:prstGeom prst="rect">
            <a:avLst/>
          </a:prstGeom>
          <a:noFill/>
          <a:ln/>
        </p:spPr>
        <p:txBody>
          <a:bodyPr wrap="square" lIns="0" tIns="0" rIns="0" bIns="0" rtlCol="0" anchor="t"/>
          <a:lstStyle/>
          <a:p>
            <a:pPr indent="0" marL="0">
              <a:buNone/>
            </a:pPr>
            <a:r>
              <a:rPr lang="en-US" sz="1400" b="1" dirty="0">
                <a:solidFill>
                  <a:srgbClr val="83E58F"/>
                </a:solidFill>
              </a:rPr>
              <a:t>캡슐화</a:t>
            </a:r>
            <a:endParaRPr lang="en-US" sz="1400" dirty="0"/>
          </a:p>
        </p:txBody>
      </p:sp>
      <p:sp>
        <p:nvSpPr>
          <p:cNvPr id="26" name="Text 23"/>
          <p:cNvSpPr txBox="1"/>
          <p:nvPr/>
        </p:nvSpPr>
        <p:spPr>
          <a:xfrm>
            <a:off x="9052560" y="5797296"/>
            <a:ext cx="2468880" cy="292608"/>
          </a:xfrm>
          <a:prstGeom prst="rect">
            <a:avLst/>
          </a:prstGeom>
          <a:noFill/>
          <a:ln/>
        </p:spPr>
        <p:txBody>
          <a:bodyPr wrap="square" lIns="0" tIns="0" rIns="0" bIns="0" rtlCol="0" anchor="t"/>
          <a:lstStyle/>
          <a:p>
            <a:pPr indent="0" marL="0">
              <a:buNone/>
            </a:pPr>
            <a:r>
              <a:rPr lang="en-US" sz="1400" dirty="0">
                <a:solidFill>
                  <a:srgbClr val="EEF5FF"/>
                </a:solidFill>
                <a:latin typeface="Consolas" pitchFamily="34" charset="0"/>
                <a:ea typeface="Consolas" pitchFamily="34" charset="-122"/>
                <a:cs typeface="Consolas" pitchFamily="34" charset="-120"/>
              </a:rPr>
              <a:t>[SerializeField] private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548640" y="429768"/>
            <a:ext cx="146304" cy="146304"/>
          </a:xfrm>
          <a:prstGeom prst="ellipse">
            <a:avLst/>
          </a:prstGeom>
          <a:solidFill>
            <a:srgbClr val="55E4CF"/>
          </a:solidFill>
          <a:ln w="12700">
            <a:solidFill>
              <a:srgbClr val="55E4CF"/>
            </a:solidFill>
            <a:prstDash val="solid"/>
          </a:ln>
        </p:spPr>
      </p:sp>
      <p:sp>
        <p:nvSpPr>
          <p:cNvPr id="3" name="Text 1"/>
          <p:cNvSpPr txBox="1"/>
          <p:nvPr/>
        </p:nvSpPr>
        <p:spPr>
          <a:xfrm>
            <a:off x="804672" y="347472"/>
            <a:ext cx="8229600" cy="310896"/>
          </a:xfrm>
          <a:prstGeom prst="rect">
            <a:avLst/>
          </a:prstGeom>
          <a:noFill/>
          <a:ln/>
        </p:spPr>
        <p:txBody>
          <a:bodyPr wrap="square" lIns="0" tIns="0" rIns="0" bIns="0" rtlCol="0" anchor="ctr"/>
          <a:lstStyle/>
          <a:p>
            <a:pPr indent="0" marL="0">
              <a:buNone/>
            </a:pPr>
            <a:r>
              <a:rPr lang="en-US" sz="1300" b="1" spc="150" kern="0" dirty="0">
                <a:solidFill>
                  <a:srgbClr val="55E4CF"/>
                </a:solidFill>
              </a:rPr>
              <a:t>NEXT · LESSON 01</a:t>
            </a:r>
            <a:endParaRPr lang="en-US" sz="1300" dirty="0"/>
          </a:p>
        </p:txBody>
      </p:sp>
      <p:sp>
        <p:nvSpPr>
          <p:cNvPr id="4" name="Text 1"/>
          <p:cNvSpPr/>
          <p:nvPr>
            <p:ph idx="101" type="title" hasCustomPrompt="1"/>
          </p:nvPr>
        </p:nvSpPr>
        <p:spPr>
          <a:xfrm>
            <a:off x="548640" y="731520"/>
            <a:ext cx="11064240" cy="868680"/>
          </a:xfrm>
          <a:prstGeom prst="rect">
            <a:avLst/>
          </a:prstGeom>
          <a:noFill/>
          <a:ln/>
        </p:spPr>
        <p:txBody>
          <a:bodyPr wrap="square" lIns="0" tIns="0" rIns="0" bIns="0" rtlCol="0" anchor="t"/>
          <a:lstStyle/>
          <a:p>
            <a:pPr algn="l" indent="0" marL="0">
              <a:buNone/>
            </a:pPr>
            <a:r>
              <a:rPr lang="en-US" sz="2800" b="1" dirty="0">
                <a:solidFill>
                  <a:srgbClr val="EEF5FF"/>
                </a:solidFill>
              </a:rPr>
              <a:t>1차시 예고</a:t>
            </a:r>
            <a:endParaRPr lang="en-US" sz="2800" dirty="0"/>
          </a:p>
        </p:txBody>
      </p:sp>
      <p:sp>
        <p:nvSpPr>
          <p:cNvPr id="6" name="Shape 3"/>
          <p:cNvSpPr/>
          <p:nvPr/>
        </p:nvSpPr>
        <p:spPr>
          <a:xfrm>
            <a:off x="548640" y="1783080"/>
            <a:ext cx="5440680" cy="1554480"/>
          </a:xfrm>
          <a:prstGeom prst="roundRect">
            <a:avLst>
              <a:gd name="adj" fmla="val 7059"/>
            </a:avLst>
          </a:prstGeom>
          <a:solidFill>
            <a:srgbClr val="10233A"/>
          </a:solidFill>
          <a:ln w="12700">
            <a:solidFill>
              <a:srgbClr val="2A405B"/>
            </a:solidFill>
            <a:prstDash val="solid"/>
          </a:ln>
        </p:spPr>
      </p:sp>
      <p:sp>
        <p:nvSpPr>
          <p:cNvPr id="7" name="Text 4"/>
          <p:cNvSpPr txBox="1"/>
          <p:nvPr/>
        </p:nvSpPr>
        <p:spPr>
          <a:xfrm>
            <a:off x="777240" y="2011680"/>
            <a:ext cx="4983480" cy="363474"/>
          </a:xfrm>
          <a:prstGeom prst="rect">
            <a:avLst/>
          </a:prstGeom>
          <a:noFill/>
          <a:ln/>
        </p:spPr>
        <p:txBody>
          <a:bodyPr wrap="square" lIns="0" tIns="0" rIns="0" bIns="0" rtlCol="0" anchor="t"/>
          <a:lstStyle/>
          <a:p>
            <a:pPr indent="0" marL="0">
              <a:buNone/>
            </a:pPr>
            <a:r>
              <a:rPr lang="en-US" sz="1800" b="1" dirty="0">
                <a:solidFill>
                  <a:srgbClr val="55E4CF"/>
                </a:solidFill>
                <a:latin typeface="Consolas" pitchFamily="34" charset="0"/>
                <a:ea typeface="Consolas" pitchFamily="34" charset="-122"/>
                <a:cs typeface="Consolas" pitchFamily="34" charset="-120"/>
              </a:rPr>
              <a:t>Unit</a:t>
            </a:r>
            <a:endParaRPr lang="en-US" sz="1800" dirty="0"/>
          </a:p>
        </p:txBody>
      </p:sp>
      <p:sp>
        <p:nvSpPr>
          <p:cNvPr id="8" name="Text 5"/>
          <p:cNvSpPr txBox="1"/>
          <p:nvPr/>
        </p:nvSpPr>
        <p:spPr>
          <a:xfrm>
            <a:off x="777240" y="2448306"/>
            <a:ext cx="4983480" cy="752094"/>
          </a:xfrm>
          <a:prstGeom prst="rect">
            <a:avLst/>
          </a:prstGeom>
          <a:noFill/>
          <a:ln/>
        </p:spPr>
        <p:txBody>
          <a:bodyPr wrap="square" lIns="0" tIns="0" rIns="0" bIns="0" rtlCol="0" anchor="t"/>
          <a:lstStyle/>
          <a:p>
            <a:pPr indent="0" marL="0">
              <a:lnSpc>
                <a:spcPct val="115000"/>
              </a:lnSpc>
              <a:buNone/>
            </a:pPr>
            <a:r>
              <a:rPr lang="en-US" sz="1500" dirty="0">
                <a:solidFill>
                  <a:srgbClr val="AFBED1"/>
                </a:solidFill>
              </a:rPr>
              <a:t>이동할 수 있는지와 이동 거리를 알고, 자기 위치를 옮깁니다.</a:t>
            </a:r>
            <a:endParaRPr lang="en-US" sz="1500" dirty="0"/>
          </a:p>
        </p:txBody>
      </p:sp>
      <p:sp>
        <p:nvSpPr>
          <p:cNvPr id="9" name="Shape 6"/>
          <p:cNvSpPr/>
          <p:nvPr/>
        </p:nvSpPr>
        <p:spPr>
          <a:xfrm>
            <a:off x="6172200" y="1783080"/>
            <a:ext cx="5440680" cy="1554480"/>
          </a:xfrm>
          <a:prstGeom prst="roundRect">
            <a:avLst>
              <a:gd name="adj" fmla="val 7059"/>
            </a:avLst>
          </a:prstGeom>
          <a:solidFill>
            <a:srgbClr val="10233A"/>
          </a:solidFill>
          <a:ln w="12700">
            <a:solidFill>
              <a:srgbClr val="2A405B"/>
            </a:solidFill>
            <a:prstDash val="solid"/>
          </a:ln>
        </p:spPr>
      </p:sp>
      <p:sp>
        <p:nvSpPr>
          <p:cNvPr id="10" name="Text 7"/>
          <p:cNvSpPr txBox="1"/>
          <p:nvPr/>
        </p:nvSpPr>
        <p:spPr>
          <a:xfrm>
            <a:off x="6400800" y="2011680"/>
            <a:ext cx="4983480" cy="363474"/>
          </a:xfrm>
          <a:prstGeom prst="rect">
            <a:avLst/>
          </a:prstGeom>
          <a:noFill/>
          <a:ln/>
        </p:spPr>
        <p:txBody>
          <a:bodyPr wrap="square" lIns="0" tIns="0" rIns="0" bIns="0" rtlCol="0" anchor="t"/>
          <a:lstStyle/>
          <a:p>
            <a:pPr indent="0" marL="0">
              <a:buNone/>
            </a:pPr>
            <a:r>
              <a:rPr lang="en-US" sz="1800" b="1" dirty="0">
                <a:solidFill>
                  <a:srgbClr val="55E4CF"/>
                </a:solidFill>
                <a:latin typeface="Consolas" pitchFamily="34" charset="0"/>
                <a:ea typeface="Consolas" pitchFamily="34" charset="-122"/>
                <a:cs typeface="Consolas" pitchFamily="34" charset="-120"/>
              </a:rPr>
              <a:t>BoardView</a:t>
            </a:r>
            <a:endParaRPr lang="en-US" sz="1800" dirty="0"/>
          </a:p>
        </p:txBody>
      </p:sp>
      <p:sp>
        <p:nvSpPr>
          <p:cNvPr id="11" name="Text 8"/>
          <p:cNvSpPr txBox="1"/>
          <p:nvPr/>
        </p:nvSpPr>
        <p:spPr>
          <a:xfrm>
            <a:off x="6400800" y="2448306"/>
            <a:ext cx="4983480" cy="752094"/>
          </a:xfrm>
          <a:prstGeom prst="rect">
            <a:avLst/>
          </a:prstGeom>
          <a:noFill/>
          <a:ln/>
        </p:spPr>
        <p:txBody>
          <a:bodyPr wrap="square" lIns="0" tIns="0" rIns="0" bIns="0" rtlCol="0" anchor="t"/>
          <a:lstStyle/>
          <a:p>
            <a:pPr indent="0" marL="0">
              <a:lnSpc>
                <a:spcPct val="115000"/>
              </a:lnSpc>
              <a:buNone/>
            </a:pPr>
            <a:r>
              <a:rPr lang="en-US" sz="1500" dirty="0">
                <a:solidFill>
                  <a:srgbClr val="AFBED1"/>
                </a:solidFill>
              </a:rPr>
              <a:t>칸 좌표와 화면 좌표를 바꾸고, 이동 범위를 계산합니다.</a:t>
            </a:r>
            <a:endParaRPr lang="en-US" sz="1500" dirty="0"/>
          </a:p>
        </p:txBody>
      </p:sp>
      <p:sp>
        <p:nvSpPr>
          <p:cNvPr id="12" name="Shape 9"/>
          <p:cNvSpPr/>
          <p:nvPr/>
        </p:nvSpPr>
        <p:spPr>
          <a:xfrm>
            <a:off x="548640" y="3520440"/>
            <a:ext cx="5440680" cy="1554480"/>
          </a:xfrm>
          <a:prstGeom prst="roundRect">
            <a:avLst>
              <a:gd name="adj" fmla="val 7059"/>
            </a:avLst>
          </a:prstGeom>
          <a:solidFill>
            <a:srgbClr val="10233A"/>
          </a:solidFill>
          <a:ln w="12700">
            <a:solidFill>
              <a:srgbClr val="2A405B"/>
            </a:solidFill>
            <a:prstDash val="solid"/>
          </a:ln>
        </p:spPr>
      </p:sp>
      <p:sp>
        <p:nvSpPr>
          <p:cNvPr id="13" name="Text 10"/>
          <p:cNvSpPr txBox="1"/>
          <p:nvPr/>
        </p:nvSpPr>
        <p:spPr>
          <a:xfrm>
            <a:off x="777240" y="3749040"/>
            <a:ext cx="4983480" cy="363474"/>
          </a:xfrm>
          <a:prstGeom prst="rect">
            <a:avLst/>
          </a:prstGeom>
          <a:noFill/>
          <a:ln/>
        </p:spPr>
        <p:txBody>
          <a:bodyPr wrap="square" lIns="0" tIns="0" rIns="0" bIns="0" rtlCol="0" anchor="t"/>
          <a:lstStyle/>
          <a:p>
            <a:pPr indent="0" marL="0">
              <a:buNone/>
            </a:pPr>
            <a:r>
              <a:rPr lang="en-US" sz="1800" b="1" dirty="0">
                <a:solidFill>
                  <a:srgbClr val="55E4CF"/>
                </a:solidFill>
                <a:latin typeface="Consolas" pitchFamily="34" charset="0"/>
                <a:ea typeface="Consolas" pitchFamily="34" charset="-122"/>
                <a:cs typeface="Consolas" pitchFamily="34" charset="-120"/>
              </a:rPr>
              <a:t>BattleController</a:t>
            </a:r>
            <a:endParaRPr lang="en-US" sz="1800" dirty="0"/>
          </a:p>
        </p:txBody>
      </p:sp>
      <p:sp>
        <p:nvSpPr>
          <p:cNvPr id="14" name="Text 11"/>
          <p:cNvSpPr txBox="1"/>
          <p:nvPr/>
        </p:nvSpPr>
        <p:spPr>
          <a:xfrm>
            <a:off x="777240" y="4185666"/>
            <a:ext cx="4983480" cy="752094"/>
          </a:xfrm>
          <a:prstGeom prst="rect">
            <a:avLst/>
          </a:prstGeom>
          <a:noFill/>
          <a:ln/>
        </p:spPr>
        <p:txBody>
          <a:bodyPr wrap="square" lIns="0" tIns="0" rIns="0" bIns="0" rtlCol="0" anchor="t"/>
          <a:lstStyle/>
          <a:p>
            <a:pPr indent="0" marL="0">
              <a:lnSpc>
                <a:spcPct val="115000"/>
              </a:lnSpc>
              <a:buNone/>
            </a:pPr>
            <a:r>
              <a:rPr lang="en-US" sz="1500" dirty="0">
                <a:solidFill>
                  <a:srgbClr val="AFBED1"/>
                </a:solidFill>
              </a:rPr>
              <a:t>마우스 입력을 받아 유닛을 선택하고 이동을 요청합니다.</a:t>
            </a:r>
            <a:endParaRPr lang="en-US" sz="1500" dirty="0"/>
          </a:p>
        </p:txBody>
      </p:sp>
      <p:sp>
        <p:nvSpPr>
          <p:cNvPr id="15" name="Shape 12"/>
          <p:cNvSpPr/>
          <p:nvPr/>
        </p:nvSpPr>
        <p:spPr>
          <a:xfrm>
            <a:off x="6172200" y="3520440"/>
            <a:ext cx="5440680" cy="1554480"/>
          </a:xfrm>
          <a:prstGeom prst="roundRect">
            <a:avLst>
              <a:gd name="adj" fmla="val 7059"/>
            </a:avLst>
          </a:prstGeom>
          <a:solidFill>
            <a:srgbClr val="10233A"/>
          </a:solidFill>
          <a:ln w="12700">
            <a:solidFill>
              <a:srgbClr val="2A405B"/>
            </a:solidFill>
            <a:prstDash val="solid"/>
          </a:ln>
        </p:spPr>
      </p:sp>
      <p:sp>
        <p:nvSpPr>
          <p:cNvPr id="16" name="Text 13"/>
          <p:cNvSpPr txBox="1"/>
          <p:nvPr/>
        </p:nvSpPr>
        <p:spPr>
          <a:xfrm>
            <a:off x="6400800" y="3749040"/>
            <a:ext cx="4983480" cy="363474"/>
          </a:xfrm>
          <a:prstGeom prst="rect">
            <a:avLst/>
          </a:prstGeom>
          <a:noFill/>
          <a:ln/>
        </p:spPr>
        <p:txBody>
          <a:bodyPr wrap="square" lIns="0" tIns="0" rIns="0" bIns="0" rtlCol="0" anchor="t"/>
          <a:lstStyle/>
          <a:p>
            <a:pPr indent="0" marL="0">
              <a:buNone/>
            </a:pPr>
            <a:r>
              <a:rPr lang="en-US" sz="1800" b="1" dirty="0">
                <a:solidFill>
                  <a:srgbClr val="55E4CF"/>
                </a:solidFill>
                <a:latin typeface="Consolas" pitchFamily="34" charset="0"/>
                <a:ea typeface="Consolas" pitchFamily="34" charset="-122"/>
                <a:cs typeface="Consolas" pitchFamily="34" charset="-120"/>
              </a:rPr>
              <a:t>MovementCell</a:t>
            </a:r>
            <a:endParaRPr lang="en-US" sz="1800" dirty="0"/>
          </a:p>
        </p:txBody>
      </p:sp>
      <p:sp>
        <p:nvSpPr>
          <p:cNvPr id="17" name="Text 14"/>
          <p:cNvSpPr txBox="1"/>
          <p:nvPr/>
        </p:nvSpPr>
        <p:spPr>
          <a:xfrm>
            <a:off x="6400800" y="4185666"/>
            <a:ext cx="4983480" cy="752094"/>
          </a:xfrm>
          <a:prstGeom prst="rect">
            <a:avLst/>
          </a:prstGeom>
          <a:noFill/>
          <a:ln/>
        </p:spPr>
        <p:txBody>
          <a:bodyPr wrap="square" lIns="0" tIns="0" rIns="0" bIns="0" rtlCol="0" anchor="t"/>
          <a:lstStyle/>
          <a:p>
            <a:pPr indent="0" marL="0">
              <a:lnSpc>
                <a:spcPct val="115000"/>
              </a:lnSpc>
              <a:buNone/>
            </a:pPr>
            <a:r>
              <a:rPr lang="en-US" sz="1500" dirty="0">
                <a:solidFill>
                  <a:srgbClr val="AFBED1"/>
                </a:solidFill>
              </a:rPr>
              <a:t>이동 범위의 칸 하나와, 그 칸을 누가 차지하고 있는지를 담는 값입니다.</a:t>
            </a:r>
            <a:endParaRPr lang="en-US" sz="1500" dirty="0"/>
          </a:p>
        </p:txBody>
      </p:sp>
      <p:sp>
        <p:nvSpPr>
          <p:cNvPr id="18" name="Shape 15"/>
          <p:cNvSpPr/>
          <p:nvPr/>
        </p:nvSpPr>
        <p:spPr>
          <a:xfrm>
            <a:off x="548640" y="5349240"/>
            <a:ext cx="11064240" cy="777240"/>
          </a:xfrm>
          <a:prstGeom prst="roundRect">
            <a:avLst>
              <a:gd name="adj" fmla="val 14118"/>
            </a:avLst>
          </a:prstGeom>
          <a:solidFill>
            <a:srgbClr val="142B45"/>
          </a:solidFill>
          <a:ln w="12700">
            <a:solidFill>
              <a:srgbClr val="FFD16F"/>
            </a:solidFill>
            <a:prstDash val="solid"/>
          </a:ln>
        </p:spPr>
      </p:sp>
      <p:sp>
        <p:nvSpPr>
          <p:cNvPr id="19" name="Text 16"/>
          <p:cNvSpPr txBox="1"/>
          <p:nvPr/>
        </p:nvSpPr>
        <p:spPr>
          <a:xfrm>
            <a:off x="822960" y="5349240"/>
            <a:ext cx="10607040" cy="777240"/>
          </a:xfrm>
          <a:prstGeom prst="rect">
            <a:avLst/>
          </a:prstGeom>
          <a:noFill/>
          <a:ln/>
        </p:spPr>
        <p:txBody>
          <a:bodyPr wrap="square" lIns="0" tIns="0" rIns="0" bIns="0" rtlCol="0" anchor="ctr"/>
          <a:lstStyle/>
          <a:p>
            <a:pPr indent="0" marL="0">
              <a:buNone/>
            </a:pPr>
            <a:r>
              <a:rPr lang="en-US" sz="1700" b="1" dirty="0">
                <a:solidFill>
                  <a:srgbClr val="FFD16F"/>
                </a:solidFill>
              </a:rPr>
              <a:t>1차시 질문:  이 값은 누가 가지는가?  이 일은 누가 하는가?</a:t>
            </a:r>
            <a:endParaRPr lang="en-US" sz="17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BED1"/>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731520" y="1371600"/>
            <a:ext cx="9144000" cy="365760"/>
          </a:xfrm>
          <a:prstGeom prst="rect">
            <a:avLst/>
          </a:prstGeom>
          <a:noFill/>
          <a:ln/>
        </p:spPr>
        <p:txBody>
          <a:bodyPr wrap="square" lIns="0" tIns="0" rIns="0" bIns="0" rtlCol="0" anchor="t"/>
          <a:lstStyle/>
          <a:p>
            <a:pPr indent="0" marL="0">
              <a:buNone/>
            </a:pPr>
            <a:r>
              <a:rPr lang="en-US" sz="1400" b="1" spc="200" kern="0" dirty="0">
                <a:solidFill>
                  <a:srgbClr val="55E4CF"/>
                </a:solidFill>
              </a:rPr>
              <a:t>SUMMARY</a:t>
            </a:r>
            <a:endParaRPr lang="en-US" sz="1400" dirty="0"/>
          </a:p>
        </p:txBody>
      </p:sp>
      <p:sp>
        <p:nvSpPr>
          <p:cNvPr id="3" name="Text 1"/>
          <p:cNvSpPr txBox="1"/>
          <p:nvPr/>
        </p:nvSpPr>
        <p:spPr>
          <a:xfrm>
            <a:off x="731520" y="1828800"/>
            <a:ext cx="10698480" cy="914400"/>
          </a:xfrm>
          <a:prstGeom prst="rect">
            <a:avLst/>
          </a:prstGeom>
          <a:noFill/>
          <a:ln/>
        </p:spPr>
        <p:txBody>
          <a:bodyPr wrap="square" lIns="0" tIns="0" rIns="0" bIns="0" rtlCol="0" anchor="t"/>
          <a:lstStyle/>
          <a:p>
            <a:pPr indent="0" marL="0">
              <a:buNone/>
            </a:pPr>
            <a:r>
              <a:rPr lang="en-US" sz="4000" b="1" dirty="0">
                <a:solidFill>
                  <a:srgbClr val="EEF5FF"/>
                </a:solidFill>
              </a:rPr>
              <a:t>4대 특성이 해결하는 문제</a:t>
            </a:r>
            <a:endParaRPr lang="en-US" sz="4000" dirty="0"/>
          </a:p>
        </p:txBody>
      </p:sp>
      <p:sp>
        <p:nvSpPr>
          <p:cNvPr id="4" name="Shape 2"/>
          <p:cNvSpPr/>
          <p:nvPr/>
        </p:nvSpPr>
        <p:spPr>
          <a:xfrm>
            <a:off x="731520" y="3200400"/>
            <a:ext cx="2560320" cy="1371600"/>
          </a:xfrm>
          <a:prstGeom prst="roundRect">
            <a:avLst>
              <a:gd name="adj" fmla="val 8000"/>
            </a:avLst>
          </a:prstGeom>
          <a:solidFill>
            <a:srgbClr val="10233A"/>
          </a:solidFill>
          <a:ln w="12700">
            <a:solidFill>
              <a:srgbClr val="2A405B"/>
            </a:solidFill>
            <a:prstDash val="solid"/>
          </a:ln>
        </p:spPr>
      </p:sp>
      <p:sp>
        <p:nvSpPr>
          <p:cNvPr id="5" name="Shape 3"/>
          <p:cNvSpPr/>
          <p:nvPr/>
        </p:nvSpPr>
        <p:spPr>
          <a:xfrm>
            <a:off x="960120" y="3401568"/>
            <a:ext cx="219456" cy="219456"/>
          </a:xfrm>
          <a:prstGeom prst="ellipse">
            <a:avLst/>
          </a:prstGeom>
          <a:solidFill>
            <a:srgbClr val="83E58F"/>
          </a:solidFill>
          <a:ln w="12700">
            <a:solidFill>
              <a:srgbClr val="83E58F"/>
            </a:solidFill>
            <a:prstDash val="solid"/>
          </a:ln>
        </p:spPr>
      </p:sp>
      <p:sp>
        <p:nvSpPr>
          <p:cNvPr id="6" name="Text 4"/>
          <p:cNvSpPr txBox="1"/>
          <p:nvPr/>
        </p:nvSpPr>
        <p:spPr>
          <a:xfrm>
            <a:off x="1280160" y="3337560"/>
            <a:ext cx="1828800" cy="365760"/>
          </a:xfrm>
          <a:prstGeom prst="rect">
            <a:avLst/>
          </a:prstGeom>
          <a:noFill/>
          <a:ln/>
        </p:spPr>
        <p:txBody>
          <a:bodyPr wrap="square" lIns="0" tIns="0" rIns="0" bIns="0" rtlCol="0" anchor="t"/>
          <a:lstStyle/>
          <a:p>
            <a:pPr indent="0" marL="0">
              <a:buNone/>
            </a:pPr>
            <a:r>
              <a:rPr lang="en-US" sz="1800" b="1" dirty="0">
                <a:solidFill>
                  <a:srgbClr val="83E58F"/>
                </a:solidFill>
              </a:rPr>
              <a:t>캡슐화</a:t>
            </a:r>
            <a:endParaRPr lang="en-US" sz="1800" dirty="0"/>
          </a:p>
        </p:txBody>
      </p:sp>
      <p:sp>
        <p:nvSpPr>
          <p:cNvPr id="7" name="Text 5"/>
          <p:cNvSpPr txBox="1"/>
          <p:nvPr/>
        </p:nvSpPr>
        <p:spPr>
          <a:xfrm>
            <a:off x="960120" y="3840480"/>
            <a:ext cx="2194560" cy="594360"/>
          </a:xfrm>
          <a:prstGeom prst="rect">
            <a:avLst/>
          </a:prstGeom>
          <a:noFill/>
          <a:ln/>
        </p:spPr>
        <p:txBody>
          <a:bodyPr wrap="square" lIns="0" tIns="0" rIns="0" bIns="0" rtlCol="0" anchor="t"/>
          <a:lstStyle/>
          <a:p>
            <a:pPr indent="0" marL="0">
              <a:buNone/>
            </a:pPr>
            <a:r>
              <a:rPr lang="en-US" sz="1500" dirty="0">
                <a:solidFill>
                  <a:srgbClr val="EEF5FF"/>
                </a:solidFill>
              </a:rPr>
              <a:t>규칙이 깨지는 값 변경</a:t>
            </a:r>
            <a:endParaRPr lang="en-US" sz="1500" dirty="0"/>
          </a:p>
        </p:txBody>
      </p:sp>
      <p:sp>
        <p:nvSpPr>
          <p:cNvPr id="8" name="Shape 6"/>
          <p:cNvSpPr/>
          <p:nvPr/>
        </p:nvSpPr>
        <p:spPr>
          <a:xfrm>
            <a:off x="3474720" y="3200400"/>
            <a:ext cx="2560320" cy="1371600"/>
          </a:xfrm>
          <a:prstGeom prst="roundRect">
            <a:avLst>
              <a:gd name="adj" fmla="val 8000"/>
            </a:avLst>
          </a:prstGeom>
          <a:solidFill>
            <a:srgbClr val="10233A"/>
          </a:solidFill>
          <a:ln w="12700">
            <a:solidFill>
              <a:srgbClr val="2A405B"/>
            </a:solidFill>
            <a:prstDash val="solid"/>
          </a:ln>
        </p:spPr>
      </p:sp>
      <p:sp>
        <p:nvSpPr>
          <p:cNvPr id="9" name="Shape 7"/>
          <p:cNvSpPr/>
          <p:nvPr/>
        </p:nvSpPr>
        <p:spPr>
          <a:xfrm>
            <a:off x="3703320" y="3401568"/>
            <a:ext cx="219456" cy="219456"/>
          </a:xfrm>
          <a:prstGeom prst="ellipse">
            <a:avLst/>
          </a:prstGeom>
          <a:solidFill>
            <a:srgbClr val="B8A4FF"/>
          </a:solidFill>
          <a:ln w="12700">
            <a:solidFill>
              <a:srgbClr val="B8A4FF"/>
            </a:solidFill>
            <a:prstDash val="solid"/>
          </a:ln>
        </p:spPr>
      </p:sp>
      <p:sp>
        <p:nvSpPr>
          <p:cNvPr id="10" name="Text 8"/>
          <p:cNvSpPr txBox="1"/>
          <p:nvPr/>
        </p:nvSpPr>
        <p:spPr>
          <a:xfrm>
            <a:off x="4023360" y="3337560"/>
            <a:ext cx="1828800" cy="365760"/>
          </a:xfrm>
          <a:prstGeom prst="rect">
            <a:avLst/>
          </a:prstGeom>
          <a:noFill/>
          <a:ln/>
        </p:spPr>
        <p:txBody>
          <a:bodyPr wrap="square" lIns="0" tIns="0" rIns="0" bIns="0" rtlCol="0" anchor="t"/>
          <a:lstStyle/>
          <a:p>
            <a:pPr indent="0" marL="0">
              <a:buNone/>
            </a:pPr>
            <a:r>
              <a:rPr lang="en-US" sz="1800" b="1" dirty="0">
                <a:solidFill>
                  <a:srgbClr val="B8A4FF"/>
                </a:solidFill>
              </a:rPr>
              <a:t>상속</a:t>
            </a:r>
            <a:endParaRPr lang="en-US" sz="1800" dirty="0"/>
          </a:p>
        </p:txBody>
      </p:sp>
      <p:sp>
        <p:nvSpPr>
          <p:cNvPr id="11" name="Text 9"/>
          <p:cNvSpPr txBox="1"/>
          <p:nvPr/>
        </p:nvSpPr>
        <p:spPr>
          <a:xfrm>
            <a:off x="3703320" y="3840480"/>
            <a:ext cx="2194560" cy="594360"/>
          </a:xfrm>
          <a:prstGeom prst="rect">
            <a:avLst/>
          </a:prstGeom>
          <a:noFill/>
          <a:ln/>
        </p:spPr>
        <p:txBody>
          <a:bodyPr wrap="square" lIns="0" tIns="0" rIns="0" bIns="0" rtlCol="0" anchor="t"/>
          <a:lstStyle/>
          <a:p>
            <a:pPr indent="0" marL="0">
              <a:buNone/>
            </a:pPr>
            <a:r>
              <a:rPr lang="en-US" sz="1500" dirty="0">
                <a:solidFill>
                  <a:srgbClr val="EEF5FF"/>
                </a:solidFill>
              </a:rPr>
              <a:t>반복되는 코드</a:t>
            </a:r>
            <a:endParaRPr lang="en-US" sz="1500" dirty="0"/>
          </a:p>
        </p:txBody>
      </p:sp>
      <p:sp>
        <p:nvSpPr>
          <p:cNvPr id="12" name="Shape 10"/>
          <p:cNvSpPr/>
          <p:nvPr/>
        </p:nvSpPr>
        <p:spPr>
          <a:xfrm>
            <a:off x="6217920" y="3200400"/>
            <a:ext cx="2560320" cy="1371600"/>
          </a:xfrm>
          <a:prstGeom prst="roundRect">
            <a:avLst>
              <a:gd name="adj" fmla="val 8000"/>
            </a:avLst>
          </a:prstGeom>
          <a:solidFill>
            <a:srgbClr val="10233A"/>
          </a:solidFill>
          <a:ln w="12700">
            <a:solidFill>
              <a:srgbClr val="2A405B"/>
            </a:solidFill>
            <a:prstDash val="solid"/>
          </a:ln>
        </p:spPr>
      </p:sp>
      <p:sp>
        <p:nvSpPr>
          <p:cNvPr id="13" name="Shape 11"/>
          <p:cNvSpPr/>
          <p:nvPr/>
        </p:nvSpPr>
        <p:spPr>
          <a:xfrm>
            <a:off x="6446520" y="3401568"/>
            <a:ext cx="219456" cy="219456"/>
          </a:xfrm>
          <a:prstGeom prst="ellipse">
            <a:avLst/>
          </a:prstGeom>
          <a:solidFill>
            <a:srgbClr val="FFD16F"/>
          </a:solidFill>
          <a:ln w="12700">
            <a:solidFill>
              <a:srgbClr val="FFD16F"/>
            </a:solidFill>
            <a:prstDash val="solid"/>
          </a:ln>
        </p:spPr>
      </p:sp>
      <p:sp>
        <p:nvSpPr>
          <p:cNvPr id="14" name="Text 12"/>
          <p:cNvSpPr txBox="1"/>
          <p:nvPr/>
        </p:nvSpPr>
        <p:spPr>
          <a:xfrm>
            <a:off x="6766560" y="3337560"/>
            <a:ext cx="1828800" cy="365760"/>
          </a:xfrm>
          <a:prstGeom prst="rect">
            <a:avLst/>
          </a:prstGeom>
          <a:noFill/>
          <a:ln/>
        </p:spPr>
        <p:txBody>
          <a:bodyPr wrap="square" lIns="0" tIns="0" rIns="0" bIns="0" rtlCol="0" anchor="t"/>
          <a:lstStyle/>
          <a:p>
            <a:pPr indent="0" marL="0">
              <a:buNone/>
            </a:pPr>
            <a:r>
              <a:rPr lang="en-US" sz="1800" b="1" dirty="0">
                <a:solidFill>
                  <a:srgbClr val="FFD16F"/>
                </a:solidFill>
              </a:rPr>
              <a:t>다형성</a:t>
            </a:r>
            <a:endParaRPr lang="en-US" sz="1800" dirty="0"/>
          </a:p>
        </p:txBody>
      </p:sp>
      <p:sp>
        <p:nvSpPr>
          <p:cNvPr id="15" name="Text 13"/>
          <p:cNvSpPr txBox="1"/>
          <p:nvPr/>
        </p:nvSpPr>
        <p:spPr>
          <a:xfrm>
            <a:off x="6446520" y="3840480"/>
            <a:ext cx="2194560" cy="594360"/>
          </a:xfrm>
          <a:prstGeom prst="rect">
            <a:avLst/>
          </a:prstGeom>
          <a:noFill/>
          <a:ln/>
        </p:spPr>
        <p:txBody>
          <a:bodyPr wrap="square" lIns="0" tIns="0" rIns="0" bIns="0" rtlCol="0" anchor="t"/>
          <a:lstStyle/>
          <a:p>
            <a:pPr indent="0" marL="0">
              <a:buNone/>
            </a:pPr>
            <a:r>
              <a:rPr lang="en-US" sz="1500" dirty="0">
                <a:solidFill>
                  <a:srgbClr val="EEF5FF"/>
                </a:solidFill>
              </a:rPr>
              <a:t>기능마다 늘어나는 switch</a:t>
            </a:r>
            <a:endParaRPr lang="en-US" sz="1500" dirty="0"/>
          </a:p>
        </p:txBody>
      </p:sp>
      <p:sp>
        <p:nvSpPr>
          <p:cNvPr id="16" name="Shape 14"/>
          <p:cNvSpPr/>
          <p:nvPr/>
        </p:nvSpPr>
        <p:spPr>
          <a:xfrm>
            <a:off x="8961120" y="3200400"/>
            <a:ext cx="2560320" cy="1371600"/>
          </a:xfrm>
          <a:prstGeom prst="roundRect">
            <a:avLst>
              <a:gd name="adj" fmla="val 8000"/>
            </a:avLst>
          </a:prstGeom>
          <a:solidFill>
            <a:srgbClr val="10233A"/>
          </a:solidFill>
          <a:ln w="12700">
            <a:solidFill>
              <a:srgbClr val="2A405B"/>
            </a:solidFill>
            <a:prstDash val="solid"/>
          </a:ln>
        </p:spPr>
      </p:sp>
      <p:sp>
        <p:nvSpPr>
          <p:cNvPr id="17" name="Shape 15"/>
          <p:cNvSpPr/>
          <p:nvPr/>
        </p:nvSpPr>
        <p:spPr>
          <a:xfrm>
            <a:off x="9189720" y="3401568"/>
            <a:ext cx="219456" cy="219456"/>
          </a:xfrm>
          <a:prstGeom prst="ellipse">
            <a:avLst/>
          </a:prstGeom>
          <a:solidFill>
            <a:srgbClr val="8EC5FF"/>
          </a:solidFill>
          <a:ln w="12700">
            <a:solidFill>
              <a:srgbClr val="8EC5FF"/>
            </a:solidFill>
            <a:prstDash val="solid"/>
          </a:ln>
        </p:spPr>
      </p:sp>
      <p:sp>
        <p:nvSpPr>
          <p:cNvPr id="18" name="Text 16"/>
          <p:cNvSpPr txBox="1"/>
          <p:nvPr/>
        </p:nvSpPr>
        <p:spPr>
          <a:xfrm>
            <a:off x="9509760" y="3337560"/>
            <a:ext cx="1828800" cy="365760"/>
          </a:xfrm>
          <a:prstGeom prst="rect">
            <a:avLst/>
          </a:prstGeom>
          <a:noFill/>
          <a:ln/>
        </p:spPr>
        <p:txBody>
          <a:bodyPr wrap="square" lIns="0" tIns="0" rIns="0" bIns="0" rtlCol="0" anchor="t"/>
          <a:lstStyle/>
          <a:p>
            <a:pPr indent="0" marL="0">
              <a:buNone/>
            </a:pPr>
            <a:r>
              <a:rPr lang="en-US" sz="1800" b="1" dirty="0">
                <a:solidFill>
                  <a:srgbClr val="8EC5FF"/>
                </a:solidFill>
              </a:rPr>
              <a:t>추상화</a:t>
            </a:r>
            <a:endParaRPr lang="en-US" sz="1800" dirty="0"/>
          </a:p>
        </p:txBody>
      </p:sp>
      <p:sp>
        <p:nvSpPr>
          <p:cNvPr id="19" name="Text 17"/>
          <p:cNvSpPr txBox="1"/>
          <p:nvPr/>
        </p:nvSpPr>
        <p:spPr>
          <a:xfrm>
            <a:off x="9189720" y="3840480"/>
            <a:ext cx="2194560" cy="594360"/>
          </a:xfrm>
          <a:prstGeom prst="rect">
            <a:avLst/>
          </a:prstGeom>
          <a:noFill/>
          <a:ln/>
        </p:spPr>
        <p:txBody>
          <a:bodyPr wrap="square" lIns="0" tIns="0" rIns="0" bIns="0" rtlCol="0" anchor="t"/>
          <a:lstStyle/>
          <a:p>
            <a:pPr indent="0" marL="0">
              <a:buNone/>
            </a:pPr>
            <a:r>
              <a:rPr lang="en-US" sz="1500" dirty="0">
                <a:solidFill>
                  <a:srgbClr val="EEF5FF"/>
                </a:solidFill>
              </a:rPr>
              <a:t>빠뜨린 구현</a:t>
            </a:r>
            <a:endParaRPr lang="en-US" sz="1500" dirty="0"/>
          </a:p>
        </p:txBody>
      </p:sp>
    </p:spTree>
  </p:cSld>
  <p:clrMapOvr>
    <a:masterClrMapping/>
  </p:clrMapOvr>
</p:sld>
</file>

<file path=ppt/theme/theme1.xml><?xml version="1.0" encoding="utf-8"?>
<a:theme xmlns:a="http://schemas.openxmlformats.org/drawingml/2006/main" name="Mini Tactics Navy">
  <a:themeElements>
    <a:clrScheme name="Mini Tactics Navy">
      <a:dk1>
        <a:srgbClr val="091526"/>
      </a:dk1>
      <a:lt1>
        <a:srgbClr val="EEF5FF"/>
      </a:lt1>
      <a:dk2>
        <a:srgbClr val="10233A"/>
      </a:dk2>
      <a:lt2>
        <a:srgbClr val="AFBED1"/>
      </a:lt2>
      <a:accent1>
        <a:srgbClr val="55E4CF"/>
      </a:accent1>
      <a:accent2>
        <a:srgbClr val="B8A4FF"/>
      </a:accent2>
      <a:accent3>
        <a:srgbClr val="FFD16F"/>
      </a:accent3>
      <a:accent4>
        <a:srgbClr val="83E58F"/>
      </a:accent4>
      <a:accent5>
        <a:srgbClr val="8EC5FF"/>
      </a:accent5>
      <a:accent6>
        <a:srgbClr val="FF8C99"/>
      </a:accent6>
      <a:hlink>
        <a:srgbClr val="55E4CF"/>
      </a:hlink>
      <a:folHlink>
        <a:srgbClr val="B8A4FF"/>
      </a:folHlink>
    </a:clrScheme>
    <a:fontScheme name="Mini Tactics Navy">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0차시 객체지향 프로그래밍이란</dc:title>
  <dc:subject>유니티 프로그래밍 패턴 0차시</dc:subject>
  <dc:creator>PptxGenJS</dc:creator>
  <cp:lastModifiedBy>PptxGenJS</cp:lastModifiedBy>
  <cp:revision>1</cp:revision>
  <dcterms:created xsi:type="dcterms:W3CDTF">2026-10-26T05:41:14Z</dcterms:created>
  <dcterms:modified xsi:type="dcterms:W3CDTF">2026-10-26T05:41:14Z</dcterms:modified>
</cp:coreProperties>
</file>