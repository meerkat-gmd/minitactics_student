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c66e2a75-0cd0-1542-fd23-6a58bc9f1c87}">
          <p14:sldIdLst>
            <p14:sldId id="256"/>
            <p14:sldId id="257"/>
            <p14:sldId id="258"/>
          </p14:sldIdLst>
        </p14:section>
        <p14:section name="1 · 버튼에 행동 묶기" id="{4c63f68d-e568-91dd-425c-365e4e901739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2 · 누가 행동할지 정하기" id="{718f701a-4ab1-ea8f-0dba-1599c602b2f1}">
          <p14:sldIdLst>
            <p14:sldId id="265"/>
            <p14:sldId id="266"/>
            <p14:sldId id="267"/>
            <p14:sldId id="268"/>
            <p14:sldId id="269"/>
          </p14:sldIdLst>
        </p14:section>
        <p14:section name="3 · 되돌리기와 다시 하기" id="{3051db9c-0e3b-0a22-708b-1a6f21fad3cd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4 · 클래스와 함수" id="{77d19dd2-79c3-26ee-edd2-6441c7d6dce1}">
          <p14:sldIdLst>
            <p14:sldId id="278"/>
            <p14:sldId id="279"/>
            <p14:sldId id="280"/>
          </p14:sldIdLst>
        </p14:section>
        <p14:section name="5 · 쓸 때와 주의점" id="{752b4020-32ac-7d07-ff1b-f0d347f8952e}">
          <p14:sldIdLst>
            <p14:sldId id="281"/>
            <p14:sldId id="282"/>
            <p14:sldId id="283"/>
            <p14:sldId id="284"/>
          </p14:sldIdLst>
        </p14:section>
        <p14:section name="정리" id="{0332325d-e88a-dd75-6bc2-5f04c92b0133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원서 「명령」 장의 순서를 그대로 따라갑니다. 버튼 입력에서 시작해, 명령을 받을 대상을 바꾸고, 되돌리기와 다시 하기까지 확장합니다.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원서의 명령 장은 같은 아이디어를 세 번 확장합니다. 버튼 설정, 대상 바꾸기, 되돌리기입니다. 마지막에 이 패턴을 클래스 대신 함수로 만들 수 있는지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GoF의 정의는 요청을 객체로 감싸서, 요청을 바꿔 끼우거나 줄 세우거나 기록하고, 되돌릴 수 있게 한다는 것입니다. 원서의 저자는 이를 더 짧게, 메서드 호출을 객체로 만든 것이라고 정리합니다. 호출은 실행되는 순간 사라지지만, 객체는 변수에 담아 두고 넘기고 나중에 실행할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게임에는 버튼 입력을 읽어 행동으로 바꾸는 코드가 있습니다. 여기서 출발합니다.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단순한 입력 처리입니다. 매 프레임 버튼을 확인하고 눌린 버튼에 해당하는 함수를 바로 호출합니다. 버튼 배치가 절대 바뀌지 않는다면 이 코드로 충분합니다.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많은 게임이 설정 화면에서 버튼 배치를 바꿀 수 있게 합니다. 하지만 지금 코드에서 X 버튼은 Jump() 호출에 고정되어 있습니다. 설정이 바뀔 때마다 코드를 고칠 수는 없습니다. 버튼에 연결된 행동을 변수에 담아 바꿀 수 있어야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명령이 따를 약속으로 ICommand 인터페이스를 만듭니다. 실행 메서드 Execute() 하나만 있습니다. 점프, 총 쏘기처럼 행동마다 이 인터페이스를 구현한 클래스를 만듭니다. 이제 행동이 객체가 되었으므로 변수에 담을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InputHandler는 버튼마다 ICommand 필드를 가집니다. 버튼이 눌리면 그 필드에 담긴 명령을 실행합니다. 설정 화면에서 X에 총 쏘기를 묶으려면 필드에 FireCommand를 넣기만 하면 됩니다. HandleInput 코드는 바뀌지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어떤 버튼에 행동이 없을 수도 있습니다. 필드를 null로 두면 실행할 때마다 null인지 확인해야 합니다. 원서는 대신 Execute()가 아무 일도 하지 않는 명령을 넣으라고 권합니다. 이런 객체를 널 객체(Null Object)라고 부릅니다.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지금까지의 명령은 행동은 바꿀 수 있었지만, 행동하는 대상은 바꿀 수 없었습니다.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앞의 JumpCommand는 Jump()라는 함수가 플레이어 캐릭터를 찾아 점프시킨다고 가정했습니다. 그래서 이 명령으로는 다른 캐릭터를 점프시킬 수 없습니다. 명령이 대상과 결합되어 있는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Execute에 GameActor 매개변수를 추가합니다. 명령은 넘겨받은 대상에게 행동을 요청합니다. 입력 처리기는 명령을 바로 실행하지 않고 돌려주기만 합니다. 누구에게 실행할지는 호출하는 쪽이 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이제 같은 JumpCommand로 어떤 캐릭터든 점프시킬 수 있습니다. 적의 AI도 입력 처리기와 같은 명령 객체를 만들어 적 캐릭터를 움직이면 됩니다. 반대로 플레이어 캐릭터에 AI를 연결하면, 아무도 조작하지 않는 데모 화면을 만들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원서는 입력 처리기나 AI를 명령을 만드는 생산자, 캐릭터를 명령을 실행하는 소비자로 봅니다. 그 사이에 명령을 줄 세우면 둘이 서로를 몰라도 됩니다. 이 명령의 흐름을 직렬화해 네트워크로 보내면 다른 컴퓨터에서 같은 행동을 재생할 수도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명령 패턴이 가장 유명해진 쓰임새입니다. 턴제 전략 게임의 유닛 이동으로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원서는 턴제 전략 게임을 예로 듭니다. 플레이어가 유닛을 옮겨 본 뒤 마음에 들지 않으면 되돌릴 수 있게 하고 싶습니다. 레벨 편집기 같은 도구에서도 되돌리기는 필수입니다. 실행만 하던 명령으로는 되돌릴 수 없습니다. 어디서 왔는지 모르기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되돌릴 수 있는 명령의 약속에는 Undo()가 더해집니다. 이 절의 명령은 대상 유닛을 생성할 때 받아 직접 가지므로 Execute에 매개변수가 없습니다. Execute는 움직이기 전에 현재 위치를 _xBefore, _yBefore에 적어 두고 이동합니다. Undo는 적어 둔 위치로 되돌립니다.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점프 명령은 하나를 만들어 계속 다시 썼습니다. 이동 명령은 유닛과 목적지가 매번 다르므로 이동할 때마다 새로 만듭니다. 원서의 예제는 화면 좌표를 쓰므로 위로 가면 y가 1 줄어듭니다.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실행한 명령들을 목록에 순서대로 보관합니다. _current는 마지막으로 실행한 명령의 위치를 가리킵니다. 새 명령을 실행할 때 되돌려 둔 명령이 남아 있으면 먼저 버립니다. 되돌린 뒤 새 행동을 하면 그 뒤의 기록은 의미가 없어지기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Undo는 _current가 가리키는 명령을 되돌리고 위치를 한 칸 뒤로 옮깁니다. Redo는 위치를 한 칸 앞으로 옮기고 그 명령을 다시 실행합니다. 되돌릴 것이 없거나 다시 할 것이 없으면 아무것도 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유닛이 (2,2)에서 시작합니다. 위로 이동, 오른쪽 이동, Undo 두 번, Redo 한 번, 마지막으로 아래로 이동합니다. 마지막 줄에서 되돌려 두었던 m2가 버려지는 것이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되돌리기를 위해 객체 전체의 상태를 통째로 저장하는 방법도 있습니다. GoF의 메멘토 패턴입니다. 하지만 이동 하나 때문에 유닛 전체를 복사하는 것은 낭비입니다. 명령은 바뀌는 값, 즉 출발 위치만 기억합니다. 원서는 같은 생각을 리플레이에도 씁니다. 매 프레임의 전체 상태 대신 실행한 명령을 기록해 두었다가 같은 순서로 다시 실행합니다.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원서는 명령 패턴이 함수를 값으로 다루지 못하는 언어를 위한 방법이기도 하다고 말합니다. C#에는 델리게이트와 람다가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C#의 Action은 매개변수와 반환값이 없는 메서드를 담는 델리게이트입니다. 람다로 호출을 감싸면 그것이 곧 명령 객체입니다. 원서는 명령 패턴을 클로저, 즉 주변 변수를 함께 기억하는 함수를 흉내 내는 방법이라고 설명합니다. 실행 하나만 필요한 명령이라면 클래스를 따로 만들 필요가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원서는 실행과 되돌리기를 두 함수로 만들고, 두 함수가 출발 위치 변수를 함께 쓰는 예를 보여 줍니다. 동작은 같지만, 무엇을 기억하는지가 지역 변수 속에 숨습니다. 동작이 둘 이상이고 기억할 값이 있으면 이름 붙은 필드를 가진 클래스가 더 읽기 쉽다는 것이 원서의 정리입니다.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패턴을 고를 때의 판단 기준과, 원서가 소개하는 관련 패턴을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본 세 확장이 곧 이 패턴을 쓸 때입니다. 반대로 단순한 호출을 모두 명령 클래스로 바꾸면 클래스만 늘어납니다. 되돌리기 기록은 명령 객체가 계속 쌓이므로 얼마나 보관할지도 정해야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원서의 관련 자료 절입니다. 경량 패턴은 3강, 하위 클래스 샌드박스는 8강에서 배웁니다. 상태가 없는 명령을 하나만 만들어 쓰기 위해 싱글턴을 쓸 수도 있지만 원서는 권하지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Unity의 몇 가지 기능을 명령 패턴의 관점에서 봅니다. 입력 시스템은 행동과 키를 분리해 실행 중에 다시 묶을 수 있습니다. 버튼의 OnClick 같은 UnityEvent는 Inspector에서 연결한 메서드 호출을 저장합니다. 반면 에디터의 실행 취소는 객체의 상태를 기록하는 방식이어서 메멘토에 가깝습니다.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답을 가리고 먼저 학생에게 물어본 뒤 확인합니다. 다음 강의는 경량(Flyweight) 패턴입니다.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1109441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2강 · 명령(Command) 패턴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11094415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2강 · 명령(Command) 패턴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메서드 호출을 객체로 만들어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바꿔 끼우고, 미루고, 되돌린다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교재: 로버트 나이스트롬, 『게임 프로그래밍 패턴』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「명령」 장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오늘의 길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버튼 하나에 묶인 호출이 되돌릴 수 있는 기록이 되기까지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먼저, 명령 패턴은 한 문장으로 무엇일까?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548640" y="1828800"/>
            <a:ext cx="2057400" cy="21031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20299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06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버튼에 행동 묶기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918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호출을 객체로 바꾼다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651760" y="2880360"/>
            <a:ext cx="110414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2" name="card"/>
          <p:cNvSpPr/>
          <p:nvPr/>
        </p:nvSpPr>
        <p:spPr>
          <a:xfrm>
            <a:off x="2807894" y="1828800"/>
            <a:ext cx="2057400" cy="21031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036494" y="20299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36494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036494" y="2606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누가 행동할지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정하기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036494" y="32918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대상을 밖에서 넘긴다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911014" y="2880360"/>
            <a:ext cx="110414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8" name="card"/>
          <p:cNvSpPr/>
          <p:nvPr/>
        </p:nvSpPr>
        <p:spPr>
          <a:xfrm>
            <a:off x="5067148" y="1828800"/>
            <a:ext cx="2057400" cy="21031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295748" y="20299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295748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5295748" y="2606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되돌리기와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다시 하기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295748" y="32918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명령이 이전 값을 기억한다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170268" y="2880360"/>
            <a:ext cx="110414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4" name="card"/>
          <p:cNvSpPr/>
          <p:nvPr/>
        </p:nvSpPr>
        <p:spPr>
          <a:xfrm>
            <a:off x="7326401" y="1828800"/>
            <a:ext cx="2057400" cy="21031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555001" y="20299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555001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7555001" y="2606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클래스와 함수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7555001" y="32918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델리게이트와 비교한다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9429521" y="2880360"/>
            <a:ext cx="110414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0" name="card"/>
          <p:cNvSpPr/>
          <p:nvPr/>
        </p:nvSpPr>
        <p:spPr>
          <a:xfrm>
            <a:off x="9585655" y="1828800"/>
            <a:ext cx="2057400" cy="21031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814255" y="20299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814255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814255" y="2606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쓸 때와 주의점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9814255" y="32918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관련 패턴, Unity 대응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44348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오늘 예제는 원서와 같다: 게임패드의 X·Y·A·B 버튼, 그리고 턴제 전략 게임의 유닛 이동.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정의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명령은 메서드 호출을 객체로 만든 것이다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왜 호출을 객체로 만들어야 할까? 버튼 입력부터 보자.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4572000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965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메서드 호출</a:t>
            </a:r>
            <a:endParaRPr lang="en-US" sz="1800" dirty="0"/>
          </a:p>
        </p:txBody>
      </p:sp>
      <p:sp>
        <p:nvSpPr>
          <p:cNvPr id="8" name="codePanel"/>
          <p:cNvSpPr/>
          <p:nvPr/>
        </p:nvSpPr>
        <p:spPr>
          <a:xfrm>
            <a:off x="822960" y="2514600"/>
            <a:ext cx="4023360" cy="54864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9" name="code"/>
          <p:cNvSpPr txBox="1"/>
          <p:nvPr/>
        </p:nvSpPr>
        <p:spPr>
          <a:xfrm>
            <a:off x="932688" y="2606040"/>
            <a:ext cx="3803904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Jump();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246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실행되는 순간 끝난다. 저장하거나 다른 곳에 넘길 수 없다.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257800" y="2971800"/>
            <a:ext cx="914400" cy="91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6309360" y="1783080"/>
            <a:ext cx="5333695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3680" y="1965960"/>
            <a:ext cx="47850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명령 객체</a:t>
            </a:r>
            <a:endParaRPr lang="en-US" sz="1800" dirty="0"/>
          </a:p>
        </p:txBody>
      </p:sp>
      <p:sp>
        <p:nvSpPr>
          <p:cNvPr id="14" name="codePanel"/>
          <p:cNvSpPr/>
          <p:nvPr/>
        </p:nvSpPr>
        <p:spPr>
          <a:xfrm>
            <a:off x="6583680" y="2514600"/>
            <a:ext cx="4785055" cy="54864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code"/>
          <p:cNvSpPr txBox="1"/>
          <p:nvPr/>
        </p:nvSpPr>
        <p:spPr>
          <a:xfrm>
            <a:off x="6693408" y="2606040"/>
            <a:ext cx="4565599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ICommand jump = new JumpCommand();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6583680" y="3246120"/>
            <a:ext cx="4785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변수에 담아 두고, 다른 객체에 넘기고, 원할 때 실행한다. 기록해 두었다가 되돌릴 수도 있다.</a:t>
            </a:r>
            <a:endParaRPr lang="en-US" sz="1400" dirty="0"/>
          </a:p>
        </p:txBody>
      </p:sp>
      <p:sp>
        <p:nvSpPr>
          <p:cNvPr id="17" name="box"/>
          <p:cNvSpPr/>
          <p:nvPr/>
        </p:nvSpPr>
        <p:spPr>
          <a:xfrm>
            <a:off x="548640" y="4480560"/>
            <a:ext cx="11094415" cy="105156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480560"/>
            <a:ext cx="11094415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GoF의 정의: 요청을 객체로 감싸서, 요청을 바꿔 끼우고, 줄 세우거나 기록하고, 되돌릴 수 있게 한다.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"/>
          <p:cNvSpPr txBox="1"/>
          <p:nvPr/>
        </p:nvSpPr>
        <p:spPr>
          <a:xfrm>
            <a:off x="548640" y="21488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1부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버튼에 행동 묶기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9476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원서 「명령」 장의 첫 예제: 입력 설정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첫 시도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버튼마다 호출할 함수를 코드에 직접 적는다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그런데 플레이어가 버튼 배치를 바꾸고 싶다면?</a:t>
            </a:r>
            <a:endParaRPr lang="en-US" sz="1500" dirty="0"/>
          </a:p>
        </p:txBody>
      </p:sp>
      <p:sp>
        <p:nvSpPr>
          <p:cNvPr id="6" name="codePanel"/>
          <p:cNvSpPr/>
          <p:nvPr/>
        </p:nvSpPr>
        <p:spPr>
          <a:xfrm>
            <a:off x="548640" y="1691640"/>
            <a:ext cx="6766560" cy="2743200"/>
          </a:xfrm>
          <a:prstGeom prst="roundRect">
            <a:avLst>
              <a:gd name="adj" fmla="val 2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658368" y="1783080"/>
            <a:ext cx="6547104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InputHandler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HandleInput()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(IsPressed(Button.X)) Jump();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 if (IsPressed(Button.Y)) FireGun();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 if (IsPressed(Button.A)) SwapWeapon();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 if (IsPressed(Button.B)) LurchIneffectively();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8" name="codeCaption"/>
          <p:cNvSpPr txBox="1"/>
          <p:nvPr/>
        </p:nvSpPr>
        <p:spPr>
          <a:xfrm>
            <a:off x="4206240" y="1783080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원서 예제를 C#으로 옮긴 코드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691640"/>
          <a:ext cx="396209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8648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버튼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행동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점프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총 쏘기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무기 바꾸기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B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비틀거리기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0" name="card"/>
          <p:cNvSpPr/>
          <p:nvPr/>
        </p:nvSpPr>
        <p:spPr>
          <a:xfrm>
            <a:off x="548640" y="4663440"/>
            <a:ext cx="11094415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4882896"/>
            <a:ext cx="10682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충분한 때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2743200" y="4892040"/>
            <a:ext cx="8625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버튼 배치가 고정이라면 위에서 아래로 한 번 읽으면 끝나는 가장 쉬운 코드다.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한계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호출이 코드에 고정되어 있어 버튼을 바꿔 묶을 수 없다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호출을 바꿔 끼우려면, 호출을 값처럼 다룰 수 있어야 한다.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5120640" cy="3566160"/>
          </a:xfrm>
          <a:prstGeom prst="roundRect">
            <a:avLst>
              <a:gd name="adj" fmla="val 256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874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설정 화면 · 버튼 배치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68680" y="24688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X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4688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점프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200400" y="2724912"/>
            <a:ext cx="548640" cy="914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3840480" y="24688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총 쏘기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68680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868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Y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1546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총 쏘기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200400" y="3410712"/>
            <a:ext cx="548640" cy="914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3840480" y="31546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점프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68680" y="3840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868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600200" y="38404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무기 바꾸기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8404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868680" y="45262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6868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600200" y="45262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비틀거리기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45262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6" name="card"/>
          <p:cNvSpPr/>
          <p:nvPr/>
        </p:nvSpPr>
        <p:spPr>
          <a:xfrm>
            <a:off x="6035040" y="1737360"/>
            <a:ext cx="5608015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263640" y="193852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63640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812280" y="1956816"/>
            <a:ext cx="4647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많은 게임의 요구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6812280" y="2331720"/>
            <a:ext cx="4647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플레이어가 설정 화면에서 X와 Y의 행동을 서로 바꾸고 싶어 한다.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6035040" y="3611880"/>
            <a:ext cx="5608015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263640" y="381304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263640" y="3813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6812280" y="3831336"/>
            <a:ext cx="4647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지금 코드의 문제</a:t>
            </a:r>
            <a:endParaRPr lang="en-US" sz="1700" dirty="0"/>
          </a:p>
        </p:txBody>
      </p:sp>
      <p:sp>
        <p:nvSpPr>
          <p:cNvPr id="35" name="Text 32"/>
          <p:cNvSpPr txBox="1"/>
          <p:nvPr/>
        </p:nvSpPr>
        <p:spPr>
          <a:xfrm>
            <a:off x="6812280" y="4206240"/>
            <a:ext cx="4647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X 버튼이 Jump() 호출에 고정되어 있다. 함수 호출은 변수에 담아 바꿔 끼울 수 없다.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명령 객체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행동마다 Execute()를 가진 명령 클래스를 만든다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이 명령 객체들을 버튼에 어떻게 연결할까?</a:t>
            </a:r>
            <a:endParaRPr lang="en-US" sz="1500" dirty="0"/>
          </a:p>
        </p:txBody>
      </p:sp>
      <p:sp>
        <p:nvSpPr>
          <p:cNvPr id="6" name="codePanel"/>
          <p:cNvSpPr/>
          <p:nvPr/>
        </p:nvSpPr>
        <p:spPr>
          <a:xfrm>
            <a:off x="548640" y="1691640"/>
            <a:ext cx="6400800" cy="3931920"/>
          </a:xfrm>
          <a:prstGeom prst="roundRect">
            <a:avLst>
              <a:gd name="adj" fmla="val 186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658368" y="1783080"/>
            <a:ext cx="6181344" cy="3749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interface ICommand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Execute();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JumpCommand : ICommand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Execute() { Jump(); }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FireCommand : ICommand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Execute() { FireGun(); }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</p:txBody>
      </p:sp>
      <p:sp>
        <p:nvSpPr>
          <p:cNvPr id="8" name="codeCaption"/>
          <p:cNvSpPr txBox="1"/>
          <p:nvPr/>
        </p:nvSpPr>
        <p:spPr>
          <a:xfrm>
            <a:off x="3840480" y="1783080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원서 예제를 C#으로 옮긴 코드</a:t>
            </a:r>
            <a:endParaRPr lang="en-US" sz="1000" dirty="0"/>
          </a:p>
        </p:txBody>
      </p:sp>
      <p:sp>
        <p:nvSpPr>
          <p:cNvPr id="9" name="card"/>
          <p:cNvSpPr/>
          <p:nvPr/>
        </p:nvSpPr>
        <p:spPr>
          <a:xfrm>
            <a:off x="7315200" y="1691640"/>
            <a:ext cx="4327855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543800" y="1911096"/>
            <a:ext cx="3916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ICommand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543800" y="2468880"/>
            <a:ext cx="3870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모든 명령이 지킬 약속. 실행할 수 있다는 것 하나만 정한다.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7315200" y="3703320"/>
            <a:ext cx="4327855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543800" y="3922776"/>
            <a:ext cx="3916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구체적인 명령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7543800" y="4480560"/>
            <a:ext cx="38706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JumpCommand, FireCommand처럼 행동마다 하나씩 만든다. 무기 바꾸기와 비틀거리기도 같은 방식이다.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버튼에 연결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입력 처리기는 버튼마다 명령 하나를 가진다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아무 행동도 묶지 않은 버튼은 어떻게 처리할까?</a:t>
            </a:r>
            <a:endParaRPr lang="en-US" sz="1500" dirty="0"/>
          </a:p>
        </p:txBody>
      </p:sp>
      <p:sp>
        <p:nvSpPr>
          <p:cNvPr id="6" name="codePanel"/>
          <p:cNvSpPr/>
          <p:nvPr/>
        </p:nvSpPr>
        <p:spPr>
          <a:xfrm>
            <a:off x="548640" y="1691640"/>
            <a:ext cx="6766560" cy="3063240"/>
          </a:xfrm>
          <a:prstGeom prst="roundRect">
            <a:avLst>
              <a:gd name="adj" fmla="val 238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658368" y="1783080"/>
            <a:ext cx="6547104" cy="2880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InputHandler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ICommand _buttonX, _buttonY, _buttonA, _buttonB;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HandleInput()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(IsPressed(Button.X)) _buttonX.Execute();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 if (IsPressed(Button.Y)) _buttonY.Execute();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 if (IsPressed(Button.A)) _buttonA.Execute();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 if (IsPressed(Button.B)) _buttonB.Execute();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8" name="codeCaption"/>
          <p:cNvSpPr txBox="1"/>
          <p:nvPr/>
        </p:nvSpPr>
        <p:spPr>
          <a:xfrm>
            <a:off x="4206240" y="1783080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원서 예제를 C#으로 옮긴 코드</a:t>
            </a:r>
            <a:endParaRPr lang="en-US" sz="1000" dirty="0"/>
          </a:p>
        </p:txBody>
      </p:sp>
      <p:sp>
        <p:nvSpPr>
          <p:cNvPr id="9" name="codePanel"/>
          <p:cNvSpPr/>
          <p:nvPr/>
        </p:nvSpPr>
        <p:spPr>
          <a:xfrm>
            <a:off x="548640" y="4937760"/>
            <a:ext cx="6766560" cy="73152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code"/>
          <p:cNvSpPr txBox="1"/>
          <p:nvPr/>
        </p:nvSpPr>
        <p:spPr>
          <a:xfrm>
            <a:off x="658368" y="5029200"/>
            <a:ext cx="6547104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설정 화면에서 X에 총 쏘기를 묶으면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_buttonX = new FireCommand();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7680960" y="1691640"/>
            <a:ext cx="3962095" cy="187452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909560" y="1911096"/>
            <a:ext cx="3550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바뀌는 것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2468880"/>
            <a:ext cx="35048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버튼 필드에 담긴 명령 객체. 설정을 바꾸면 다른 명령을 넣는다.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7680960" y="3749040"/>
            <a:ext cx="3962095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09560" y="3968496"/>
            <a:ext cx="3550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바뀌지 않는 것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7909560" y="4526280"/>
            <a:ext cx="3504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HandleInput 코드. 어떤 명령이 담겼는지 모르고 Execute()만 부른다.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빈 버튼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묶인 행동이 없는 버튼에는 아무것도 하지 않는 명령을 넣는다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그런데 지금 명령은 누가 점프하는지 이미 정해져 있다.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null로 두면</a:t>
            </a:r>
            <a:endParaRPr lang="en-US" sz="1700" dirty="0"/>
          </a:p>
        </p:txBody>
      </p:sp>
      <p:sp>
        <p:nvSpPr>
          <p:cNvPr id="7" name="codePanel"/>
          <p:cNvSpPr/>
          <p:nvPr/>
        </p:nvSpPr>
        <p:spPr>
          <a:xfrm>
            <a:off x="548640" y="2103120"/>
            <a:ext cx="5303520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code"/>
          <p:cNvSpPr txBox="1"/>
          <p:nvPr/>
        </p:nvSpPr>
        <p:spPr>
          <a:xfrm>
            <a:off x="658368" y="2194560"/>
            <a:ext cx="508406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(IsPressed(Button.B) &amp;&amp; _buttonB != null)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_buttonB.Execute();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2918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아무것도 하지 않는 명령을 넣으면</a:t>
            </a:r>
            <a:endParaRPr lang="en-US" sz="1700" dirty="0"/>
          </a:p>
        </p:txBody>
      </p:sp>
      <p:sp>
        <p:nvSpPr>
          <p:cNvPr id="10" name="codePanel"/>
          <p:cNvSpPr/>
          <p:nvPr/>
        </p:nvSpPr>
        <p:spPr>
          <a:xfrm>
            <a:off x="548640" y="3703320"/>
            <a:ext cx="5303520" cy="1965960"/>
          </a:xfrm>
          <a:prstGeom prst="roundRect">
            <a:avLst>
              <a:gd name="adj" fmla="val 372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code"/>
          <p:cNvSpPr txBox="1"/>
          <p:nvPr/>
        </p:nvSpPr>
        <p:spPr>
          <a:xfrm>
            <a:off x="658368" y="3794760"/>
            <a:ext cx="5084064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DoNothingCommand : ICommand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Execute() { 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_buttonB = new DoNothingCommand();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6309360" y="1691640"/>
            <a:ext cx="5333695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37960" y="1911096"/>
            <a:ext cx="4922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널 객체(Null Object)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2468880"/>
            <a:ext cx="48764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약속은 지키되 아무 일도 하지 않는 객체. 쓰는 쪽은 비어 있는지 확인할 필요가 없다.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309360" y="3703320"/>
            <a:ext cx="5333695" cy="196596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37960" y="3922776"/>
            <a:ext cx="4922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결과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6537960" y="4480560"/>
            <a:ext cx="48764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HandleInput은 모든 버튼에 명령이 있다고 믿고 Execute()만 부른다.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"/>
          <p:cNvSpPr txBox="1"/>
          <p:nvPr/>
        </p:nvSpPr>
        <p:spPr>
          <a:xfrm>
            <a:off x="548640" y="21488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2부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누가 행동할지 정하기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9476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원서: 행위자에게 명령하기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남은 결합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JumpCommand는 플레이어 캐릭터만 점프시킬 수 있다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점프할 대상을 명령 밖에서 넘겨주면 어떨까?</a:t>
            </a:r>
            <a:endParaRPr lang="en-US" sz="1500" dirty="0"/>
          </a:p>
        </p:txBody>
      </p:sp>
      <p:sp>
        <p:nvSpPr>
          <p:cNvPr id="6" name="codePanel"/>
          <p:cNvSpPr/>
          <p:nvPr/>
        </p:nvSpPr>
        <p:spPr>
          <a:xfrm>
            <a:off x="548640" y="1737360"/>
            <a:ext cx="6766560" cy="1371600"/>
          </a:xfrm>
          <a:prstGeom prst="roundRect">
            <a:avLst>
              <a:gd name="adj" fmla="val 5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658368" y="1828800"/>
            <a:ext cx="6547104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JumpCommand : ICommand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Execute() { Jump(); }   // 누가 점프하는가?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548640" y="3383280"/>
            <a:ext cx="676656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3602736"/>
            <a:ext cx="6355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숨은 가정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416052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Jump()는 어딘가에 있는 플레이어 캐릭터를 직접 찾아 움직인다. 같은 명령으로 적이나 다른 아군을 점프시킬 방법이 없다.</a:t>
            </a:r>
            <a:endParaRPr lang="en-US" sz="1400" dirty="0"/>
          </a:p>
        </p:txBody>
      </p:sp>
      <p:sp>
        <p:nvSpPr>
          <p:cNvPr id="11" name="box"/>
          <p:cNvSpPr/>
          <p:nvPr/>
        </p:nvSpPr>
        <p:spPr>
          <a:xfrm>
            <a:off x="7680960" y="1737360"/>
            <a:ext cx="3962095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680960" y="1737360"/>
            <a:ext cx="3962095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JumpCommand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9662008" y="2560320"/>
            <a:ext cx="914" cy="73152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4" name="box"/>
          <p:cNvSpPr/>
          <p:nvPr/>
        </p:nvSpPr>
        <p:spPr>
          <a:xfrm>
            <a:off x="7680960" y="3291840"/>
            <a:ext cx="3962095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680960" y="3291840"/>
            <a:ext cx="3962095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플레이어 캐릭터</a:t>
            </a:r>
            <a:endParaRPr lang="en-US" sz="1600" dirty="0"/>
          </a:p>
        </p:txBody>
      </p:sp>
      <p:sp>
        <p:nvSpPr>
          <p:cNvPr id="16" name="box"/>
          <p:cNvSpPr/>
          <p:nvPr/>
        </p:nvSpPr>
        <p:spPr>
          <a:xfrm>
            <a:off x="7680960" y="4389120"/>
            <a:ext cx="3962095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9050">
            <a:solidFill>
              <a:schemeClr val="accent6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7680960" y="4389120"/>
            <a:ext cx="3962095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적 캐릭터 (닿지 않는다)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대상 넘기기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Execute가 행동할 대상을 매개변수로 받는다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대상을 바꿀 수 있게 되면 무엇이 가능해질까?</a:t>
            </a:r>
            <a:endParaRPr lang="en-US" sz="1500" dirty="0"/>
          </a:p>
        </p:txBody>
      </p:sp>
      <p:sp>
        <p:nvSpPr>
          <p:cNvPr id="6" name="codePanel"/>
          <p:cNvSpPr/>
          <p:nvPr/>
        </p:nvSpPr>
        <p:spPr>
          <a:xfrm>
            <a:off x="548640" y="1645920"/>
            <a:ext cx="5577840" cy="2423160"/>
          </a:xfrm>
          <a:prstGeom prst="roundRect">
            <a:avLst>
              <a:gd name="adj" fmla="val 301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658368" y="1737360"/>
            <a:ext cx="5358384" cy="2240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interface ICommand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Execute(GameActor actor);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JumpCommand : ICommand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Execute(GameActor actor) { actor.Jump();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8" name="codeCaption"/>
          <p:cNvSpPr txBox="1"/>
          <p:nvPr/>
        </p:nvSpPr>
        <p:spPr>
          <a:xfrm>
            <a:off x="3017520" y="1737360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원서 예제를 C#으로 옮긴 코드</a:t>
            </a:r>
            <a:endParaRPr lang="en-US" sz="1000" dirty="0"/>
          </a:p>
        </p:txBody>
      </p:sp>
      <p:sp>
        <p:nvSpPr>
          <p:cNvPr id="9" name="codePanel"/>
          <p:cNvSpPr/>
          <p:nvPr/>
        </p:nvSpPr>
        <p:spPr>
          <a:xfrm>
            <a:off x="6355080" y="1645920"/>
            <a:ext cx="5287975" cy="2423160"/>
          </a:xfrm>
          <a:prstGeom prst="roundRect">
            <a:avLst>
              <a:gd name="adj" fmla="val 301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code"/>
          <p:cNvSpPr txBox="1"/>
          <p:nvPr/>
        </p:nvSpPr>
        <p:spPr>
          <a:xfrm>
            <a:off x="6464808" y="1737360"/>
            <a:ext cx="5068519" cy="2240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InputHandler: 실행하지 않고 명령을 돌려준다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ICommand HandleInput()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(IsPressed(Button.X)) return _buttonX;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(IsPressed(Button.Y)) return _buttonY;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(IsPressed(Button.A)) return _buttonA;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(IsPressed(Button.B)) return _buttonB;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null;   // 아무 버튼도 누르지 않았다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297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호출하는 쪽</a:t>
            </a:r>
            <a:endParaRPr lang="en-US" sz="1600" dirty="0"/>
          </a:p>
        </p:txBody>
      </p:sp>
      <p:sp>
        <p:nvSpPr>
          <p:cNvPr id="12" name="codePanel"/>
          <p:cNvSpPr/>
          <p:nvPr/>
        </p:nvSpPr>
        <p:spPr>
          <a:xfrm>
            <a:off x="548640" y="4709160"/>
            <a:ext cx="11094415" cy="868680"/>
          </a:xfrm>
          <a:prstGeom prst="roundRect">
            <a:avLst>
              <a:gd name="adj" fmla="val 842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3" name="code"/>
          <p:cNvSpPr txBox="1"/>
          <p:nvPr/>
        </p:nvSpPr>
        <p:spPr>
          <a:xfrm>
            <a:off x="658368" y="4800600"/>
            <a:ext cx="10874959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ICommand command = _inputHandler.HandleInput();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(command != null) command.Execute(_player);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같은 명령, 다른 대상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명령을 만드는 쪽과 행동하는 쪽을 자유롭게 짝지을 수 있다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명령을 만드는 쪽과 실행하는 쪽 사이에 줄을 세우면 어떨까?</a:t>
            </a:r>
            <a:endParaRPr lang="en-US" sz="1500" dirty="0"/>
          </a:p>
        </p:txBody>
      </p:sp>
      <p:sp>
        <p:nvSpPr>
          <p:cNvPr id="6" name="box"/>
          <p:cNvSpPr/>
          <p:nvPr/>
        </p:nvSpPr>
        <p:spPr>
          <a:xfrm>
            <a:off x="731520" y="2011680"/>
            <a:ext cx="3017520" cy="8229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2011680"/>
            <a:ext cx="30175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입력 처리기 (플레이어)</a:t>
            </a:r>
            <a:endParaRPr lang="en-US" sz="1500" dirty="0"/>
          </a:p>
        </p:txBody>
      </p:sp>
      <p:sp>
        <p:nvSpPr>
          <p:cNvPr id="8" name="box"/>
          <p:cNvSpPr/>
          <p:nvPr/>
        </p:nvSpPr>
        <p:spPr>
          <a:xfrm>
            <a:off x="731520" y="3931920"/>
            <a:ext cx="3017520" cy="8229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3931920"/>
            <a:ext cx="30175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AI</a:t>
            </a:r>
            <a:endParaRPr lang="en-US" sz="1500" dirty="0"/>
          </a:p>
        </p:txBody>
      </p:sp>
      <p:sp>
        <p:nvSpPr>
          <p:cNvPr id="10" name="box"/>
          <p:cNvSpPr/>
          <p:nvPr/>
        </p:nvSpPr>
        <p:spPr>
          <a:xfrm>
            <a:off x="4572000" y="2971800"/>
            <a:ext cx="301752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0" y="2971800"/>
            <a:ext cx="30175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명령 객체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JumpCommand · FireCommand</a:t>
            </a:r>
            <a:endParaRPr lang="en-US" sz="1400" dirty="0"/>
          </a:p>
        </p:txBody>
      </p:sp>
      <p:sp>
        <p:nvSpPr>
          <p:cNvPr id="12" name="box"/>
          <p:cNvSpPr/>
          <p:nvPr/>
        </p:nvSpPr>
        <p:spPr>
          <a:xfrm>
            <a:off x="8412480" y="2011680"/>
            <a:ext cx="30175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0" y="2011680"/>
            <a:ext cx="30175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플레이어 캐릭터</a:t>
            </a:r>
            <a:endParaRPr lang="en-US" sz="1500" dirty="0"/>
          </a:p>
        </p:txBody>
      </p:sp>
      <p:sp>
        <p:nvSpPr>
          <p:cNvPr id="14" name="box"/>
          <p:cNvSpPr/>
          <p:nvPr/>
        </p:nvSpPr>
        <p:spPr>
          <a:xfrm>
            <a:off x="8412480" y="3931920"/>
            <a:ext cx="30175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0" y="3931920"/>
            <a:ext cx="30175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적 캐릭터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749040" y="2423160"/>
            <a:ext cx="822960" cy="82296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 flipV="1">
            <a:off x="3749040" y="3611880"/>
            <a:ext cx="822960" cy="73152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 flipV="1">
            <a:off x="7589520" y="2423160"/>
            <a:ext cx="822960" cy="82296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7589520" y="3611880"/>
            <a:ext cx="822960" cy="73152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731520" y="16002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만드는 쪽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412480" y="16002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실행할 대상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1206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예: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AI가 만든 명령을 플레이어 캐릭터에 실행하면, 사람이 조작하지 않아도 움직이는 데모 화면이 된다.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명령의 흐름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명령을 줄 세우면 만드는 쪽과 실행하는 쪽이 떨어진다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명령을 저장할 수 있다면, 실행한 것을 되돌릴 수도 있지 않을까?</a:t>
            </a:r>
            <a:endParaRPr lang="en-US" sz="1500" dirty="0"/>
          </a:p>
        </p:txBody>
      </p:sp>
      <p:sp>
        <p:nvSpPr>
          <p:cNvPr id="6" name="box"/>
          <p:cNvSpPr/>
          <p:nvPr/>
        </p:nvSpPr>
        <p:spPr>
          <a:xfrm>
            <a:off x="548640" y="2286000"/>
            <a:ext cx="2377440" cy="1005840"/>
          </a:xfrm>
          <a:prstGeom prst="roundRect">
            <a:avLst>
              <a:gd name="adj" fmla="val 727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2286000"/>
            <a:ext cx="23774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생산자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입력 처리기 · AI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657600" y="2148840"/>
            <a:ext cx="475488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840480" y="2194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명령 줄(큐)</a:t>
            </a:r>
            <a:endParaRPr lang="en-US" sz="1300" dirty="0"/>
          </a:p>
        </p:txBody>
      </p:sp>
      <p:sp>
        <p:nvSpPr>
          <p:cNvPr id="10" name="box"/>
          <p:cNvSpPr/>
          <p:nvPr/>
        </p:nvSpPr>
        <p:spPr>
          <a:xfrm>
            <a:off x="3886200" y="2606040"/>
            <a:ext cx="10058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886200" y="2606040"/>
            <a:ext cx="10058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점프</a:t>
            </a:r>
            <a:endParaRPr lang="en-US" sz="1300" dirty="0"/>
          </a:p>
        </p:txBody>
      </p:sp>
      <p:sp>
        <p:nvSpPr>
          <p:cNvPr id="12" name="box"/>
          <p:cNvSpPr/>
          <p:nvPr/>
        </p:nvSpPr>
        <p:spPr>
          <a:xfrm>
            <a:off x="5001768" y="2606040"/>
            <a:ext cx="10058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01768" y="2606040"/>
            <a:ext cx="10058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이동</a:t>
            </a:r>
            <a:endParaRPr lang="en-US" sz="1300" dirty="0"/>
          </a:p>
        </p:txBody>
      </p:sp>
      <p:sp>
        <p:nvSpPr>
          <p:cNvPr id="14" name="box"/>
          <p:cNvSpPr/>
          <p:nvPr/>
        </p:nvSpPr>
        <p:spPr>
          <a:xfrm>
            <a:off x="6117336" y="2606040"/>
            <a:ext cx="10058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17336" y="2606040"/>
            <a:ext cx="10058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총 쏘기</a:t>
            </a:r>
            <a:endParaRPr lang="en-US" sz="1300" dirty="0"/>
          </a:p>
        </p:txBody>
      </p:sp>
      <p:sp>
        <p:nvSpPr>
          <p:cNvPr id="16" name="box"/>
          <p:cNvSpPr/>
          <p:nvPr/>
        </p:nvSpPr>
        <p:spPr>
          <a:xfrm>
            <a:off x="7232904" y="2606040"/>
            <a:ext cx="10058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232904" y="2606040"/>
            <a:ext cx="10058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점프</a:t>
            </a:r>
            <a:endParaRPr lang="en-US" sz="1300" dirty="0"/>
          </a:p>
        </p:txBody>
      </p:sp>
      <p:sp>
        <p:nvSpPr>
          <p:cNvPr id="18" name="box"/>
          <p:cNvSpPr/>
          <p:nvPr/>
        </p:nvSpPr>
        <p:spPr>
          <a:xfrm>
            <a:off x="9144000" y="2286000"/>
            <a:ext cx="24688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44000" y="2286000"/>
            <a:ext cx="246888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소비자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캐릭터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2971800" y="2788920"/>
            <a:ext cx="640080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8458200" y="2788920"/>
            <a:ext cx="640080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2" name="card"/>
          <p:cNvSpPr/>
          <p:nvPr/>
        </p:nvSpPr>
        <p:spPr>
          <a:xfrm>
            <a:off x="548640" y="3840480"/>
            <a:ext cx="5440680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77240" y="405993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서로 몰라도 된다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461772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생산자는 명령을 줄에 넣기만 하고, 소비자는 줄에서 꺼내 실행하기만 한다.</a:t>
            </a:r>
            <a:endParaRPr lang="en-US" sz="1400" dirty="0"/>
          </a:p>
        </p:txBody>
      </p:sp>
      <p:sp>
        <p:nvSpPr>
          <p:cNvPr id="25" name="card"/>
          <p:cNvSpPr/>
          <p:nvPr/>
        </p:nvSpPr>
        <p:spPr>
          <a:xfrm>
            <a:off x="6217920" y="3840480"/>
            <a:ext cx="5425135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46520" y="4059936"/>
            <a:ext cx="5013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보내고 재생한다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6446520" y="4617720"/>
            <a:ext cx="4967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명령의 흐름을 직렬화해 네트워크로 보내면, 다른 컴퓨터에서 같은 행동을 재생할 수 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"/>
          <p:cNvSpPr txBox="1"/>
          <p:nvPr/>
        </p:nvSpPr>
        <p:spPr>
          <a:xfrm>
            <a:off x="548640" y="21488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3부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되돌리기와 다시 하기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9476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원서: 실행 취소와 재실행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새 요구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턴제 전략 게임에서 유닛 이동을 되돌리고 싶다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되돌리려면 이동 명령은 무엇을 더 기억해야 할까?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1783080"/>
            <a:ext cx="777240" cy="777240"/>
          </a:xfrm>
          <a:prstGeom prst="rect">
            <a:avLst/>
          </a:prstGeom>
          <a:solidFill>
            <a:schemeClr val="bg2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00200" y="1783080"/>
            <a:ext cx="777240" cy="777240"/>
          </a:xfrm>
          <a:prstGeom prst="rect">
            <a:avLst/>
          </a:prstGeom>
          <a:solidFill>
            <a:schemeClr val="bg2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77440" y="1783080"/>
            <a:ext cx="777240" cy="777240"/>
          </a:xfrm>
          <a:prstGeom prst="rect">
            <a:avLst/>
          </a:prstGeom>
          <a:solidFill>
            <a:schemeClr val="bg2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154680" y="1783080"/>
            <a:ext cx="777240" cy="777240"/>
          </a:xfrm>
          <a:prstGeom prst="rect">
            <a:avLst/>
          </a:prstGeom>
          <a:solidFill>
            <a:schemeClr val="bg2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931920" y="1783080"/>
            <a:ext cx="777240" cy="777240"/>
          </a:xfrm>
          <a:prstGeom prst="rect">
            <a:avLst/>
          </a:prstGeom>
          <a:solidFill>
            <a:schemeClr val="bg2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560320"/>
            <a:ext cx="777240" cy="777240"/>
          </a:xfrm>
          <a:prstGeom prst="rect">
            <a:avLst/>
          </a:prstGeom>
          <a:solidFill>
            <a:schemeClr val="bg2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600200" y="2560320"/>
            <a:ext cx="777240" cy="777240"/>
          </a:xfrm>
          <a:prstGeom prst="rect">
            <a:avLst/>
          </a:prstGeom>
          <a:solidFill>
            <a:schemeClr val="bg2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77440" y="2560320"/>
            <a:ext cx="777240" cy="777240"/>
          </a:xfrm>
          <a:prstGeom prst="rect">
            <a:avLst/>
          </a:prstGeom>
          <a:solidFill>
            <a:schemeClr val="bg2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154680" y="2560320"/>
            <a:ext cx="777240" cy="777240"/>
          </a:xfrm>
          <a:prstGeom prst="rect">
            <a:avLst/>
          </a:prstGeom>
          <a:solidFill>
            <a:schemeClr val="bg2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931920" y="2560320"/>
            <a:ext cx="777240" cy="777240"/>
          </a:xfrm>
          <a:prstGeom prst="rect">
            <a:avLst/>
          </a:prstGeom>
          <a:solidFill>
            <a:schemeClr val="bg2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2960" y="3337560"/>
            <a:ext cx="777240" cy="777240"/>
          </a:xfrm>
          <a:prstGeom prst="rect">
            <a:avLst/>
          </a:prstGeom>
          <a:solidFill>
            <a:schemeClr val="bg2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600200" y="3337560"/>
            <a:ext cx="777240" cy="777240"/>
          </a:xfrm>
          <a:prstGeom prst="rect">
            <a:avLst/>
          </a:prstGeom>
          <a:solidFill>
            <a:schemeClr val="bg2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377440" y="3337560"/>
            <a:ext cx="777240" cy="777240"/>
          </a:xfrm>
          <a:prstGeom prst="rect">
            <a:avLst/>
          </a:prstGeom>
          <a:solidFill>
            <a:schemeClr val="bg2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154680" y="3337560"/>
            <a:ext cx="777240" cy="777240"/>
          </a:xfrm>
          <a:prstGeom prst="rect">
            <a:avLst/>
          </a:prstGeom>
          <a:solidFill>
            <a:schemeClr val="bg2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931920" y="3337560"/>
            <a:ext cx="777240" cy="777240"/>
          </a:xfrm>
          <a:prstGeom prst="rect">
            <a:avLst/>
          </a:prstGeom>
          <a:solidFill>
            <a:schemeClr val="bg2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22960" y="4114800"/>
            <a:ext cx="777240" cy="777240"/>
          </a:xfrm>
          <a:prstGeom prst="rect">
            <a:avLst/>
          </a:prstGeom>
          <a:solidFill>
            <a:schemeClr val="bg2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600200" y="4114800"/>
            <a:ext cx="777240" cy="777240"/>
          </a:xfrm>
          <a:prstGeom prst="rect">
            <a:avLst/>
          </a:prstGeom>
          <a:solidFill>
            <a:schemeClr val="bg2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377440" y="4114800"/>
            <a:ext cx="777240" cy="777240"/>
          </a:xfrm>
          <a:prstGeom prst="rect">
            <a:avLst/>
          </a:prstGeom>
          <a:solidFill>
            <a:schemeClr val="bg2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154680" y="4114800"/>
            <a:ext cx="777240" cy="777240"/>
          </a:xfrm>
          <a:prstGeom prst="rect">
            <a:avLst/>
          </a:prstGeom>
          <a:solidFill>
            <a:schemeClr val="bg2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931920" y="4114800"/>
            <a:ext cx="777240" cy="777240"/>
          </a:xfrm>
          <a:prstGeom prst="rect">
            <a:avLst/>
          </a:prstGeom>
          <a:solidFill>
            <a:schemeClr val="bg2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200400" y="35661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출발 (2,2)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2514600" y="3429000"/>
            <a:ext cx="502920" cy="502920"/>
          </a:xfrm>
          <a:prstGeom prst="ellipse">
            <a:avLst/>
          </a:prstGeom>
          <a:solidFill>
            <a:schemeClr val="accent3">
              <a:alpha val="60000"/>
            </a:schemeClr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2514600" y="26517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00400" y="2788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도착 (2,1)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 flipV="1">
            <a:off x="2766060" y="3200400"/>
            <a:ext cx="914" cy="246888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1" name="Text 28"/>
          <p:cNvSpPr txBox="1"/>
          <p:nvPr/>
        </p:nvSpPr>
        <p:spPr>
          <a:xfrm>
            <a:off x="822960" y="5029200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위로 한 칸 이동했다. 다시 (2,2)로 돌아가려면?</a:t>
            </a:r>
            <a:endParaRPr lang="en-US" sz="1400" dirty="0"/>
          </a:p>
        </p:txBody>
      </p:sp>
      <p:sp>
        <p:nvSpPr>
          <p:cNvPr id="32" name="card"/>
          <p:cNvSpPr/>
          <p:nvPr/>
        </p:nvSpPr>
        <p:spPr>
          <a:xfrm>
            <a:off x="5303520" y="1783080"/>
            <a:ext cx="6339535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532120" y="198424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532120" y="1984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6080760" y="2002536"/>
            <a:ext cx="5379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실행만 하는 명령의 한계</a:t>
            </a:r>
            <a:endParaRPr lang="en-US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6080760" y="2377440"/>
            <a:ext cx="5379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목적지만 알고 출발 위치는 모른다. 실행이 끝나면 어디서 왔는지 사라진다.</a:t>
            </a:r>
            <a:endParaRPr lang="en-US" sz="1400" dirty="0"/>
          </a:p>
        </p:txBody>
      </p:sp>
      <p:sp>
        <p:nvSpPr>
          <p:cNvPr id="37" name="card"/>
          <p:cNvSpPr/>
          <p:nvPr/>
        </p:nvSpPr>
        <p:spPr>
          <a:xfrm>
            <a:off x="5303520" y="3657600"/>
            <a:ext cx="6339535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532120" y="38587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532120" y="3858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6080760" y="3877056"/>
            <a:ext cx="5379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필요한 것</a:t>
            </a:r>
            <a:endParaRPr lang="en-US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6080760" y="4251960"/>
            <a:ext cx="5379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명령에 Undo()를 두고, 실행하기 전의 위치를 기억해야 한다.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이동 명령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MoveUnitCommand는 이동하기 전 위치를 기억한다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이런 명령은 언제, 몇 개나 만들어질까?</a:t>
            </a:r>
            <a:endParaRPr lang="en-US" sz="1500" dirty="0"/>
          </a:p>
        </p:txBody>
      </p:sp>
      <p:sp>
        <p:nvSpPr>
          <p:cNvPr id="6" name="codePanel"/>
          <p:cNvSpPr/>
          <p:nvPr/>
        </p:nvSpPr>
        <p:spPr>
          <a:xfrm>
            <a:off x="548640" y="1600200"/>
            <a:ext cx="6949440" cy="4114800"/>
          </a:xfrm>
          <a:prstGeom prst="roundRect">
            <a:avLst>
              <a:gd name="adj" fmla="val 177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658368" y="1691640"/>
            <a:ext cx="6729984" cy="3931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MoveUnitCommand : IUndoableCommand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readonly Unit _unit;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readonly int _x, _y;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_xBefore, _yBefore;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MoveUnitCommand(Unit unit, int x, int y)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_unit = unit; _x = x; _y = y;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Execute()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_xBefore = _unit.X;   // 움직이기 전 위치를 기억한다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_yBefore = _unit.Y;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_unit.MoveTo(_x, _y);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Undo()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_unit.MoveTo(_xBefore, _yBefore);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8" name="codeCaption"/>
          <p:cNvSpPr txBox="1"/>
          <p:nvPr/>
        </p:nvSpPr>
        <p:spPr>
          <a:xfrm>
            <a:off x="4389120" y="1691640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원서 예제를 C#으로 옮긴 코드</a:t>
            </a:r>
            <a:endParaRPr lang="en-US" sz="1000" dirty="0"/>
          </a:p>
        </p:txBody>
      </p:sp>
      <p:sp>
        <p:nvSpPr>
          <p:cNvPr id="9" name="codePanel"/>
          <p:cNvSpPr/>
          <p:nvPr/>
        </p:nvSpPr>
        <p:spPr>
          <a:xfrm>
            <a:off x="7863840" y="1600200"/>
            <a:ext cx="3779215" cy="14630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code"/>
          <p:cNvSpPr txBox="1"/>
          <p:nvPr/>
        </p:nvSpPr>
        <p:spPr>
          <a:xfrm>
            <a:off x="7973568" y="1691640"/>
            <a:ext cx="3559759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interface IUndoableCommand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Execute();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Undo();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7863840" y="3291840"/>
            <a:ext cx="3779215" cy="2423160"/>
          </a:xfrm>
          <a:prstGeom prst="roundRect">
            <a:avLst>
              <a:gd name="adj" fmla="val 37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92440" y="3511296"/>
            <a:ext cx="3367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점프 명령과 다른 점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4069080"/>
            <a:ext cx="332201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JumpCommand는 누구에게나 쓸 수 있었다.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MoveUnitCommand는 특정 유닛과 목적지에 묶인 이동 한 번이다.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명령 만들기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입력이 들어올 때마다 새 이동 명령을 만든다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만든 명령들을 어떻게 보관해야 여러 번 되돌릴 수 있을까?</a:t>
            </a:r>
            <a:endParaRPr lang="en-US" sz="1500" dirty="0"/>
          </a:p>
        </p:txBody>
      </p:sp>
      <p:sp>
        <p:nvSpPr>
          <p:cNvPr id="6" name="codePanel"/>
          <p:cNvSpPr/>
          <p:nvPr/>
        </p:nvSpPr>
        <p:spPr>
          <a:xfrm>
            <a:off x="548640" y="1645920"/>
            <a:ext cx="6949440" cy="4023360"/>
          </a:xfrm>
          <a:prstGeom prst="roundRect">
            <a:avLst>
              <a:gd name="adj" fmla="val 1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658368" y="1737360"/>
            <a:ext cx="6729984" cy="3840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IUndoableCommand HandleInput()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Unit unit = GetSelectedUnit();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(IsPressed(Button.Up))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// 위로 한 칸: 화면 좌표에서는 y가 줄어든다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new MoveUnitCommand(unit, unit.X, unit.Y - 1);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(IsPressed(Button.Down))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new MoveUnitCommand(unit, unit.X, unit.Y + 1);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왼쪽, 오른쪽도 같은 방식이다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null;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8" name="codeCaption"/>
          <p:cNvSpPr txBox="1"/>
          <p:nvPr/>
        </p:nvSpPr>
        <p:spPr>
          <a:xfrm>
            <a:off x="4389120" y="1737360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원서 예제를 C#으로 옮긴 코드</a:t>
            </a:r>
            <a:endParaRPr lang="en-US" sz="1000" dirty="0"/>
          </a:p>
        </p:txBody>
      </p:sp>
      <p:sp>
        <p:nvSpPr>
          <p:cNvPr id="9" name="card"/>
          <p:cNvSpPr/>
          <p:nvPr/>
        </p:nvSpPr>
        <p:spPr>
          <a:xfrm>
            <a:off x="7863840" y="1645920"/>
            <a:ext cx="3779215" cy="187452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92440" y="1865376"/>
            <a:ext cx="3367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JumpCommand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092440" y="2423160"/>
            <a:ext cx="3322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상태가 없다. 하나를 만들어 버튼에 묶고 계속 다시 쓴다.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7863840" y="3703320"/>
            <a:ext cx="3779215" cy="196596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092440" y="3922776"/>
            <a:ext cx="3367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MoveUnitCommand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8092440" y="4480560"/>
            <a:ext cx="33220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유닛과 목적지를 가진다. 이동할 때마다 새로 만들고, 실행하면 기록으로 남는다.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실행 기록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실행한 명령을 목록에 쌓고, 현재 위치를 가리킨다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목록과 위치만으로 되돌리기와 다시 하기를 어떻게 할까?</a:t>
            </a:r>
            <a:endParaRPr lang="en-US" sz="1500" dirty="0"/>
          </a:p>
        </p:txBody>
      </p:sp>
      <p:sp>
        <p:nvSpPr>
          <p:cNvPr id="6" name="codePanel"/>
          <p:cNvSpPr/>
          <p:nvPr/>
        </p:nvSpPr>
        <p:spPr>
          <a:xfrm>
            <a:off x="548640" y="1645920"/>
            <a:ext cx="7589520" cy="3246120"/>
          </a:xfrm>
          <a:prstGeom prst="roundRect">
            <a:avLst>
              <a:gd name="adj" fmla="val 225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658368" y="1737360"/>
            <a:ext cx="7370064" cy="3063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CommandHistory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readonly List&lt;IUndoableCommand&gt; _commands = new List&lt;IUndoableCommand&gt;();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_current = -1;   // 마지막으로 실행한 명령의 위치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Execute(IUndoableCommand command)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// 되돌려 둔 명령이 있으면 버린다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_commands.RemoveRange(_current + 1, _commands.Count - _current - 1);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command.Execute();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_commands.Add(command);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_current++;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  <p:sp>
        <p:nvSpPr>
          <p:cNvPr id="8" name="codeCaption"/>
          <p:cNvSpPr txBox="1"/>
          <p:nvPr/>
        </p:nvSpPr>
        <p:spPr>
          <a:xfrm>
            <a:off x="5029200" y="1737360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원서 예제를 C#으로 옮긴 코드</a:t>
            </a:r>
            <a:endParaRPr lang="en-US" sz="1000" dirty="0"/>
          </a:p>
        </p:txBody>
      </p:sp>
      <p:sp>
        <p:nvSpPr>
          <p:cNvPr id="9" name="card"/>
          <p:cNvSpPr/>
          <p:nvPr/>
        </p:nvSpPr>
        <p:spPr>
          <a:xfrm>
            <a:off x="8503920" y="1645920"/>
            <a:ext cx="3139135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732520" y="1865376"/>
            <a:ext cx="2727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_commands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732520" y="2423160"/>
            <a:ext cx="2681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실행한 명령을 순서대로 담는다.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8503920" y="3337560"/>
            <a:ext cx="3139135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732520" y="3557016"/>
            <a:ext cx="2727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_current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8732520" y="4114800"/>
            <a:ext cx="2681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지금 상태를 만든 마지막 명령의 위치.</a:t>
            </a:r>
            <a:endParaRPr lang="en-US" sz="1400" dirty="0"/>
          </a:p>
        </p:txBody>
      </p:sp>
      <p:sp>
        <p:nvSpPr>
          <p:cNvPr id="15" name="box"/>
          <p:cNvSpPr/>
          <p:nvPr/>
        </p:nvSpPr>
        <p:spPr>
          <a:xfrm>
            <a:off x="548640" y="5120640"/>
            <a:ext cx="105156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5120640"/>
            <a:ext cx="10515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m1</a:t>
            </a:r>
            <a:endParaRPr lang="en-US" sz="1400" dirty="0"/>
          </a:p>
        </p:txBody>
      </p:sp>
      <p:sp>
        <p:nvSpPr>
          <p:cNvPr id="17" name="box"/>
          <p:cNvSpPr/>
          <p:nvPr/>
        </p:nvSpPr>
        <p:spPr>
          <a:xfrm>
            <a:off x="1737360" y="5120640"/>
            <a:ext cx="105156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737360" y="5120640"/>
            <a:ext cx="10515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m2</a:t>
            </a:r>
            <a:endParaRPr lang="en-US" sz="1400" dirty="0"/>
          </a:p>
        </p:txBody>
      </p:sp>
      <p:sp>
        <p:nvSpPr>
          <p:cNvPr id="19" name="box"/>
          <p:cNvSpPr/>
          <p:nvPr/>
        </p:nvSpPr>
        <p:spPr>
          <a:xfrm>
            <a:off x="2926080" y="5120640"/>
            <a:ext cx="105156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26080" y="5120640"/>
            <a:ext cx="10515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m3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06240" y="52120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_current = 1이면 m1, m2는 실행된 상태이고 m3는 되돌려 둔 명령이다.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되돌리기와 다시 하기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Undo는 위치를 한 칸 뒤로, Redo는 한 칸 앞으로 옮긴다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실제 이동 몇 번으로 기록이 어떻게 바뀌는지 따라가 보자.</a:t>
            </a:r>
            <a:endParaRPr lang="en-US" sz="1500" dirty="0"/>
          </a:p>
        </p:txBody>
      </p:sp>
      <p:sp>
        <p:nvSpPr>
          <p:cNvPr id="6" name="codePanel"/>
          <p:cNvSpPr/>
          <p:nvPr/>
        </p:nvSpPr>
        <p:spPr>
          <a:xfrm>
            <a:off x="548640" y="1645920"/>
            <a:ext cx="6949440" cy="3200400"/>
          </a:xfrm>
          <a:prstGeom prst="roundRect">
            <a:avLst>
              <a:gd name="adj" fmla="val 2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658368" y="1737360"/>
            <a:ext cx="6729984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Undo()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(_current &lt; 0) return;   // 되돌릴 명령이 없다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_commands[_current].Undo();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_current--;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Redo()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(_current + 1 &gt;= _commands.Count) return;   // 다시 할 명령이 없다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_current++;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_commands[_current].Execute();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8" name="codeCaption"/>
          <p:cNvSpPr txBox="1"/>
          <p:nvPr/>
        </p:nvSpPr>
        <p:spPr>
          <a:xfrm>
            <a:off x="4389120" y="1737360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CommandHistory의 나머지 메서드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1645920"/>
            <a:ext cx="3779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Undo 전</a:t>
            </a:r>
            <a:endParaRPr lang="en-US" sz="1400" dirty="0"/>
          </a:p>
        </p:txBody>
      </p:sp>
      <p:sp>
        <p:nvSpPr>
          <p:cNvPr id="10" name="box"/>
          <p:cNvSpPr/>
          <p:nvPr/>
        </p:nvSpPr>
        <p:spPr>
          <a:xfrm>
            <a:off x="7863840" y="2011680"/>
            <a:ext cx="105156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863840" y="2011680"/>
            <a:ext cx="10515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m1</a:t>
            </a:r>
            <a:endParaRPr lang="en-US" sz="1300" dirty="0"/>
          </a:p>
        </p:txBody>
      </p:sp>
      <p:sp>
        <p:nvSpPr>
          <p:cNvPr id="12" name="box"/>
          <p:cNvSpPr/>
          <p:nvPr/>
        </p:nvSpPr>
        <p:spPr>
          <a:xfrm>
            <a:off x="9052560" y="2011680"/>
            <a:ext cx="105156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052560" y="2011680"/>
            <a:ext cx="10515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m2</a:t>
            </a:r>
            <a:endParaRPr lang="en-US" sz="1300" dirty="0"/>
          </a:p>
        </p:txBody>
      </p:sp>
      <p:sp>
        <p:nvSpPr>
          <p:cNvPr id="14" name="box"/>
          <p:cNvSpPr/>
          <p:nvPr/>
        </p:nvSpPr>
        <p:spPr>
          <a:xfrm>
            <a:off x="10241280" y="2011680"/>
            <a:ext cx="105156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241280" y="2011680"/>
            <a:ext cx="10515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560320"/>
            <a:ext cx="3779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_current = 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2971800"/>
            <a:ext cx="3779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Undo 후: m3.Undo()</a:t>
            </a:r>
            <a:endParaRPr lang="en-US" sz="1400" dirty="0"/>
          </a:p>
        </p:txBody>
      </p:sp>
      <p:sp>
        <p:nvSpPr>
          <p:cNvPr id="18" name="box"/>
          <p:cNvSpPr/>
          <p:nvPr/>
        </p:nvSpPr>
        <p:spPr>
          <a:xfrm>
            <a:off x="7863840" y="3337560"/>
            <a:ext cx="105156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863840" y="3337560"/>
            <a:ext cx="10515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m1</a:t>
            </a:r>
            <a:endParaRPr lang="en-US" sz="1300" dirty="0"/>
          </a:p>
        </p:txBody>
      </p:sp>
      <p:sp>
        <p:nvSpPr>
          <p:cNvPr id="20" name="box"/>
          <p:cNvSpPr/>
          <p:nvPr/>
        </p:nvSpPr>
        <p:spPr>
          <a:xfrm>
            <a:off x="9052560" y="3337560"/>
            <a:ext cx="105156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052560" y="3337560"/>
            <a:ext cx="10515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m2</a:t>
            </a:r>
            <a:endParaRPr lang="en-US" sz="1300" dirty="0"/>
          </a:p>
        </p:txBody>
      </p:sp>
      <p:sp>
        <p:nvSpPr>
          <p:cNvPr id="22" name="box"/>
          <p:cNvSpPr/>
          <p:nvPr/>
        </p:nvSpPr>
        <p:spPr>
          <a:xfrm>
            <a:off x="10241280" y="3337560"/>
            <a:ext cx="105156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0241280" y="3337560"/>
            <a:ext cx="10515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m3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3886200"/>
            <a:ext cx="3779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_current = 1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4297680"/>
            <a:ext cx="3779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Redo 후: m3.Execute()</a:t>
            </a:r>
            <a:endParaRPr lang="en-US" sz="1400" dirty="0"/>
          </a:p>
        </p:txBody>
      </p:sp>
      <p:sp>
        <p:nvSpPr>
          <p:cNvPr id="26" name="box"/>
          <p:cNvSpPr/>
          <p:nvPr/>
        </p:nvSpPr>
        <p:spPr>
          <a:xfrm>
            <a:off x="7863840" y="4663440"/>
            <a:ext cx="105156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863840" y="4663440"/>
            <a:ext cx="10515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m1</a:t>
            </a:r>
            <a:endParaRPr lang="en-US" sz="1300" dirty="0"/>
          </a:p>
        </p:txBody>
      </p:sp>
      <p:sp>
        <p:nvSpPr>
          <p:cNvPr id="28" name="box"/>
          <p:cNvSpPr/>
          <p:nvPr/>
        </p:nvSpPr>
        <p:spPr>
          <a:xfrm>
            <a:off x="9052560" y="4663440"/>
            <a:ext cx="105156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52560" y="4663440"/>
            <a:ext cx="10515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m2</a:t>
            </a:r>
            <a:endParaRPr lang="en-US" sz="1300" dirty="0"/>
          </a:p>
        </p:txBody>
      </p:sp>
      <p:sp>
        <p:nvSpPr>
          <p:cNvPr id="30" name="box"/>
          <p:cNvSpPr/>
          <p:nvPr/>
        </p:nvSpPr>
        <p:spPr>
          <a:xfrm>
            <a:off x="10241280" y="4663440"/>
            <a:ext cx="105156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241280" y="4663440"/>
            <a:ext cx="10515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m3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7863840" y="5212080"/>
            <a:ext cx="3779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_current = 2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51206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Undo와 Redo는 목록을 지우지 않는다. 위치만 옮긴다.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추적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이동, 되돌리기, 다시 하기를 차례로 따라간다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기록을 남기는 다른 방법과 비교하면 명령은 무엇이 좋을까?</a:t>
            </a:r>
            <a:endParaRPr lang="en-US" sz="15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737360"/>
                <a:gridCol w="1280160"/>
                <a:gridCol w="478505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동작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유닛 위치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기록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_current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설명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시작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(2,2)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[ ]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-1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위로 이동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(2,1)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[m1]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m1은 출발 위치 (2,2)를 기억한다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오른쪽 이동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(3,1)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[m1, m2]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m2는 출발 위치 (2,1)을 기억한다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Undo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(2,1)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[m1, m2]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m2.Undo()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Undo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(2,2)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[m1, m2]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-1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m1.Undo()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Redo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(2,1)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[m1, m2]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m1.Execute()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아래로 이동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(2,2)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[m1, m3]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되돌려 두었던 m2를 버리고 m3를 쌓는다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명령으로 기록하는 이유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바뀐 값만 기억하므로 기록이 가볍다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그런데 명령마다 클래스를 꼭 만들어야 할까?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5349240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874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전체 상태를 저장한다 (메멘토)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이동할 때마다 유닛의 모든 값을 복사해 둔다. 바뀌지 않은 값까지 저장하므로 기록이 무겁다.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349240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37960" y="1874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바뀐 값만 기억한다 (명령)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46888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MoveUnitCommand는 출발 위치 두 값만 기억한다. 되돌리는 데 필요한 것만 가진다.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548640" y="4297680"/>
            <a:ext cx="11094415" cy="137160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4517136"/>
            <a:ext cx="10682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같은 생각으로 만드는 리플레이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50749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매 프레임의 전체 상태를 저장하지 않는다. 실행한 명령만 기록해 두었다가 같은 순서로 다시 실행하면 경기를 그대로 재생할 수 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"/>
          <p:cNvSpPr txBox="1"/>
          <p:nvPr/>
        </p:nvSpPr>
        <p:spPr>
          <a:xfrm>
            <a:off x="548640" y="21488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4부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클래스로 만들까, 함수로 만들까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9476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원서: 클래스만 좋고, 함수형은 별로인가?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델리게이트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간단한 명령은 Action 하나로 충분하다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되돌리기까지 필요하면 함수만으로도 될까?</a:t>
            </a:r>
            <a:endParaRPr lang="en-US" sz="1500" dirty="0"/>
          </a:p>
        </p:txBody>
      </p:sp>
      <p:sp>
        <p:nvSpPr>
          <p:cNvPr id="6" name="codePanel"/>
          <p:cNvSpPr/>
          <p:nvPr/>
        </p:nvSpPr>
        <p:spPr>
          <a:xfrm>
            <a:off x="548640" y="1691640"/>
            <a:ext cx="6766560" cy="292608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658368" y="1783080"/>
            <a:ext cx="6547104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버튼마다 Action 하나를 묶는다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 buttonX = () =&gt; player.Jump();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 buttonY = () =&gt; player.FireGun();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설정을 바꾸면 담긴 Action을 바꾼다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buttonX = () =&gt; player.FireGun();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실행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(IsPressed(Button.X)) buttonX();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7680960" y="1691640"/>
            <a:ext cx="3962095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909560" y="1911096"/>
            <a:ext cx="3550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람다 = 명령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2468880"/>
            <a:ext cx="3504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() =&gt; player.Jump()는 ‘player에게 점프하라고 부르는 일’을 값으로 만든 것이다.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7680960" y="3657600"/>
            <a:ext cx="3962095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909560" y="3877056"/>
            <a:ext cx="3550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클로저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4434840"/>
            <a:ext cx="3504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람다는 바깥 변수 player도 기억한다.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원서는 명령 패턴을 클로저의 흉내로 본다.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892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실행 한 가지만 필요하면 클래스 대신 Action으로 충분하다.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함수 두 개를 묶으면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Undo가 필요하면 클래스가 더 읽기 쉽다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그렇다면 이 패턴은 언제 쓰고, 무엇을 조심해야 할까?</a:t>
            </a:r>
            <a:endParaRPr lang="en-US" sz="1500" dirty="0"/>
          </a:p>
        </p:txBody>
      </p:sp>
      <p:sp>
        <p:nvSpPr>
          <p:cNvPr id="6" name="codePanel"/>
          <p:cNvSpPr/>
          <p:nvPr/>
        </p:nvSpPr>
        <p:spPr>
          <a:xfrm>
            <a:off x="548640" y="1691640"/>
            <a:ext cx="7498080" cy="3337560"/>
          </a:xfrm>
          <a:prstGeom prst="roundRect">
            <a:avLst>
              <a:gd name="adj" fmla="val 219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658368" y="1783080"/>
            <a:ext cx="7278624" cy="3154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(Action execute, Action undo) MakeMoveUnitCommand(Unit unit, int x, int y)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xBefore = 0, yBefore = 0;   // 두 람다가 함께 쓰는 변수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Action execute = () =&gt;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xBefore = unit.X;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yBefore = unit.Y;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unit.MoveTo(x, y);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Action undo = () =&gt; unit.MoveTo(xBefore, yBefore);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(execute, undo);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  <p:sp>
        <p:nvSpPr>
          <p:cNvPr id="8" name="card"/>
          <p:cNvSpPr/>
          <p:nvPr/>
        </p:nvSpPr>
        <p:spPr>
          <a:xfrm>
            <a:off x="8412480" y="1691640"/>
            <a:ext cx="3230575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41080" y="1911096"/>
            <a:ext cx="2819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함수로 만들면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기억하는 값이 지역 변수 안에 숨는다.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8412480" y="3520440"/>
            <a:ext cx="3230575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641080" y="3739896"/>
            <a:ext cx="2819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클래스로 만들면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641080" y="4297680"/>
            <a:ext cx="2773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_xBefore 같은 필드 이름으로 드러난다.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056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원서 예제를 C#으로 옮긴 코드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3949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실행만 필요하면 함수, 실행과 되돌리기가 함께 필요하면 클래스.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"/>
          <p:cNvSpPr txBox="1"/>
          <p:nvPr/>
        </p:nvSpPr>
        <p:spPr>
          <a:xfrm>
            <a:off x="548640" y="21488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5부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쓸 때와 주의점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9476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관련 패턴과 Unity 대응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쓸 때와 주의점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요청을 바꾸거나, 미루거나, 되돌려야 할 때 쓴다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원서는 명령 패턴과 함께 볼 패턴으로 무엇을 소개할까?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이럴 때 쓴다</a:t>
            </a:r>
            <a:endParaRPr lang="en-US" sz="2000" dirty="0"/>
          </a:p>
        </p:txBody>
      </p:sp>
      <p:sp>
        <p:nvSpPr>
          <p:cNvPr id="7" name="card"/>
          <p:cNvSpPr/>
          <p:nvPr/>
        </p:nvSpPr>
        <p:spPr>
          <a:xfrm>
            <a:off x="548640" y="2240280"/>
            <a:ext cx="534924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44144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4414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3429000"/>
            <a:ext cx="534924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7240" y="36301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548640" y="4617720"/>
            <a:ext cx="534924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77240" y="481888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4818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237744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입력과 행동의 연결을 실행 중에 바꿔야 한다. (버튼 설정)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356616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같은 요청을 여러 대상에게, 사람이나 AI가 보내야 한다.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371600" y="475488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요청을 줄 세우거나, 기록하거나, 되돌리거나, 재생해야 한다.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263640" y="169164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이것을 조심한다</a:t>
            </a:r>
            <a:endParaRPr lang="en-US" sz="2000" dirty="0"/>
          </a:p>
        </p:txBody>
      </p:sp>
      <p:sp>
        <p:nvSpPr>
          <p:cNvPr id="20" name="card"/>
          <p:cNvSpPr/>
          <p:nvPr/>
        </p:nvSpPr>
        <p:spPr>
          <a:xfrm>
            <a:off x="6263640" y="2240280"/>
            <a:ext cx="534924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92240" y="244144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92240" y="24414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263640" y="3429000"/>
            <a:ext cx="534924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92240" y="36301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9224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26" name="card"/>
          <p:cNvSpPr/>
          <p:nvPr/>
        </p:nvSpPr>
        <p:spPr>
          <a:xfrm>
            <a:off x="6263640" y="4617720"/>
            <a:ext cx="534924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92240" y="481888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492240" y="4818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7086600" y="237744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행동마다 클래스가 하나씩 늘어난다.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086600" y="356616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실행 하나만 필요한 간단한 호출은 Action으로 충분하다.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086600" y="475488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되돌리기 기록에는 명령이 계속 쌓이므로 보관할 개수를 정한다.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관련 패턴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원서가 함께 소개하는 패턴들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Unity에서는 이 생각이 어디에 쓰이고 있을까?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11094415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874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경량(Flyweight)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22960" y="2377440"/>
            <a:ext cx="822960" cy="347472"/>
          </a:xfrm>
          <a:prstGeom prst="roundRect">
            <a:avLst>
              <a:gd name="adj" fmla="val 2105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37744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3강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97680" y="1874520"/>
            <a:ext cx="70710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JumpCommand처럼 상태가 없는 명령은 모두 같으므로, 하나만 만들어 함께 쓴다.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063240"/>
            <a:ext cx="11094415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3200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하위 클래스 샌드박스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822960" y="3703320"/>
            <a:ext cx="822960" cy="347472"/>
          </a:xfrm>
          <a:prstGeom prst="roundRect">
            <a:avLst>
              <a:gd name="adj" fmla="val 2105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37033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8강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3200400"/>
            <a:ext cx="70710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명령의 부모 클래스가 쓸모 있는 도우미 메서드를 제공하고, 각 명령은 그것을 조합해 Execute를 만든다.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389120"/>
            <a:ext cx="11094415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4526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책임 연쇄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4526280"/>
            <a:ext cx="70710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명령을 받은 객체가 직접 처리하지 않고 다른 객체에 넘길 수 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Unity에서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Unity에도 호출을 값으로 다루는 기능이 있다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마지막으로 오늘 내용을 질문으로 확인해 보자.</a:t>
            </a:r>
            <a:endParaRPr lang="en-US" sz="15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0257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Unity 기능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명령 패턴과의 관계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Input System의 입력 액션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‘점프’ 같은 행동과 실제 키를 분리한다. 실행 중에 다른 키로 다시 묶을 수 있다. (1부의 버튼 설정)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UnityEvent (버튼의 OnClick)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Inspector에서 연결한 메서드 호출을 저장해 두었다가 클릭할 때 실행한다. (호출을 값으로 저장)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C#의 Action, 람다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간단한 명령을 클래스 없이 만든다. (4부)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에디터의 Undo.RecordObject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명령이 아니라 객체의 상태를 기록한다. 바뀐 값만 기억하는 명령과 비교해 볼 만하다. (메멘토에 가깝다)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확인 질문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질문으로 다시 정리한다</a:t>
            </a:r>
            <a:endParaRPr lang="en-US" sz="2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5394960"/>
                <a:gridCol w="569945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질문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답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명령 패턴을 한 문장으로 말하면?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메서드 호출을 객체로 만든 것이다.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행동이 묶이지 않은 버튼에는 null 대신 무엇을 넣나?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아무것도 하지 않는 명령(널 객체)을 넣는다.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Execute가 대상을 매개변수로 받으면 무엇이 가능해지나?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같은 명령으로 플레이어, 적, 데모 화면의 캐릭터를 모두 움직일 수 있다.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위·오른쪽 이동, Undo 두 번, Redo 뒤 아래로 이동하면 기록은?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[m1, m3]. 되돌려 두었던 m2는 버려진다.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되돌리기가 필요 없는 간단한 명령은 무엇으로 만들 수 있나?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C#의 Action 델리게이트와 람다로 충분하다.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강의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경량(Flyweight) 패턴: 반복되는 데이터를 여러 객체가 함께 쓴다.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terns Lecture">
  <a:themeElements>
    <a:clrScheme name="Patterns Lecture">
      <a:dk1>
        <a:srgbClr val="1F2430"/>
      </a:dk1>
      <a:lt1>
        <a:srgbClr val="FFFFFF"/>
      </a:lt1>
      <a:dk2>
        <a:srgbClr val="2B2D42"/>
      </a:dk2>
      <a:lt2>
        <a:srgbClr val="F1F3F6"/>
      </a:lt2>
      <a:accent1>
        <a:srgbClr val="E07A3F"/>
      </a:accent1>
      <a:accent2>
        <a:srgbClr val="2A9D8F"/>
      </a:accent2>
      <a:accent3>
        <a:srgbClr val="8D99AE"/>
      </a:accent3>
      <a:accent4>
        <a:srgbClr val="E9C46A"/>
      </a:accent4>
      <a:accent5>
        <a:srgbClr val="5C6577"/>
      </a:accent5>
      <a:accent6>
        <a:srgbClr val="C44536"/>
      </a:accent6>
      <a:hlink>
        <a:srgbClr val="2A9D8F"/>
      </a:hlink>
      <a:folHlink>
        <a:srgbClr val="5C6577"/>
      </a:folHlink>
    </a:clrScheme>
    <a:fontScheme name="Patterns Lectur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2강 명령(Command) 패턴</dc:title>
  <dc:subject>PptxGenJS Presentation</dc:subject>
  <dc:creator>Mini Tactics 패턴 수업</dc:creator>
  <cp:lastModifiedBy>Mini Tactics 패턴 수업</cp:lastModifiedBy>
  <cp:revision>1</cp:revision>
  <dcterms:created xsi:type="dcterms:W3CDTF">2026-10-27T00:49:21Z</dcterms:created>
  <dcterms:modified xsi:type="dcterms:W3CDTF">2026-10-27T00:49:21Z</dcterms:modified>
</cp:coreProperties>
</file>