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8b78b76-d12f-564e-3daa-ea90bcee6685}">
          <p14:sldIdLst>
            <p14:sldId id="256"/>
            <p14:sldId id="257"/>
          </p14:sldIdLst>
        </p14:section>
        <p14:section name="1 · 왜 나누는가" id="{a9ae2a50-f037-aede-86d8-072e789cc594}">
          <p14:sldIdLst>
            <p14:sldId id="258"/>
            <p14:sldId id="259"/>
            <p14:sldId id="260"/>
            <p14:sldId id="261"/>
          </p14:sldIdLst>
        </p14:section>
        <p14:section name="2 · 객체와 합성" id="{109dfea3-34ec-2978-7b4b-92bac35e9106}">
          <p14:sldIdLst>
            <p14:sldId id="262"/>
            <p14:sldId id="263"/>
            <p14:sldId id="264"/>
            <p14:sldId id="265"/>
          </p14:sldIdLst>
        </p14:section>
        <p14:section name="3 · 동기" id="{f882c030-2a3c-ba31-c5ca-819f8437ffc2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4 · 패턴" id="{146077a9-5fa5-33ac-cfa6-fcf9ac327c00}">
          <p14:sldIdLst>
            <p14:sldId id="272"/>
            <p14:sldId id="273"/>
          </p14:sldIdLst>
        </p14:section>
        <p14:section name="5 · 예제 코드" id="{608fdeeb-8b24-7349-0057-4a24180b1ee1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6 · 설계 결정" id="{72de1752-1e4c-53d6-a388-30f6ed2a7aaa}">
          <p14:sldIdLst>
            <p14:sldId id="280"/>
            <p14:sldId id="281"/>
            <p14:sldId id="282"/>
            <p14:sldId id="283"/>
            <p14:sldId id="284"/>
          </p14:sldIdLst>
        </p14:section>
        <p14:section name="정리" id="{001b721d-0b25-8326-2373-00d630a561db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오늘은 원서의 서문 격인 「아키텍처, 성능, 게임」 장으로 왜 코드를 나누는지 정리하고, 「컴포넌트」 장의 예제 하나를 처음부터 끝까지 따라갑니다.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패턴 장은 모두 의도, 동기, 패턴, 사용 시점, 주의점, 예제 코드, 설계 결정의 순서로 되어 있습니다. 오늘 컴포넌트 패턴도 이 순서로 설명합니다. 그 앞에 객체지향의 기본 개념을 짧게 다룹니다.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패턴을 배우기 전에, 패턴이 무엇을 좋게 만들려는지부터 정합니다.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구조의 좋고 나쁨을 변경의 쉬움으로 판단합니다. 코드를 바꿀 때 우리는 먼저 기존 코드를 읽고 머릿속에 불러온 뒤 고치고 정리합니다. 이 중 가장 많은 시간을 쓰는 단계가 이해하기라는 점을 강조합니다.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결합의 정의를 원서 방식으로 설명합니다. 한 코드를 이해하려면 다른 코드도 알아야 한다면 두 코드는 결합되어 있습니다. 결합을 줄이면 바꿀 부분만 이해하면 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디커플링을 무조건 좋다고 말하지 않습니다. 인터페이스와 간접 호출이 늘면 따라가야 할 코드도 늘고 실행 비용도 생깁니다. 필요해졌을 때 나누고 단순하게 유지하라는 것이 결론입니다.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컴포넌트 패턴은 객체를 어떻게 나누고 조립하는지에 관한 패턴입니다. 그래서 객체, 캡슐화, 상속과 합성을 먼저 짚습니다.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클래스는 정의이고, new로 만든 객체가 실제로 값을 가집니다. p1과 p2는 같은 클래스로 만들었지만 각자 velocity와 x를 따로 가집니다.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외부에서 필드를 직접 바꾸면 가속하고 이동하는 규칙이 여러 곳에 흩어집니다. 필드를 숨기고 메서드로만 바꾸게 하면 규칙이 한곳에 모입니다. 이것이 캡슐화이고, 그 객체가 맡은 일을 책임이라고 부릅니다.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상속은 '~의 한 종류'라는 관계로 부모의 상태와 행동을 물려받습니다. 합성은 '~을 가진다'는 관계로 다른 객체를 필드로 두고 일을 맡깁니다. 원서는 『GoF의 디자인 패턴』이 말한 ‘상속보다 합성’ 원칙을 소개하며 컴포넌트 패턴을 이 원칙의 연장으로 설명합니다.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 「컴포넌트」 장의 동기 예제입니다. 이 캐릭터 하나를 끝까지 따라갑니다.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예제 주인공은 플랫폼 게임의 제빵사 캐릭터입니다. 플레이어가 조종하는 캐릭터 하나가 입력, 물리, 그림, 소리라는 서로 다른 영역의 일을 모두 합니다. 이것이 패턴의 의도 문장입니다.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첫 코드는 Player 클래스 하나가 매 프레임 입력을 읽고, 위치를 옮기고 충돌을 해결하고, 속도에 맞는 그림을 그립니다. 처음에는 한 메서드만 읽으면 주인공의 모든 동작이 보여서 오히려 이해하기 쉽습니다.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실제 게임에서는 각 영역의 코드가 훨씬 길어집니다. 물리 담당자가 충돌을 고치려 해도 입력과 그림 코드 사이에서 자기 코드를 찾아야 하고, 담당자들이 같은 파일을 동시에 고치게 됩니다. 1부에서 본 이해하는 비용이 커지는 상황입니다.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재사용 예로 세 종류의 객체를 듭니다. 그림만 있는 장식물, 보이지 않고 충돌만 하는 구역, 둘 다 있는 소품입니다. 물리와 그림을 각각 부모 클래스로 만들면 소품은 두 부모가 필요합니다. C#은 클래스 다중 상속을 허용하지 않으므로 코드를 복사하거나 공통 부모에 모든 기능을 올려야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합성으로 바꾸면 객체의 종류를 계층으로 만들지 않고 부품의 조합으로 만듭니다. 소품은 물리 부품과 그림 부품을 둘 다 가지면 됩니다. 계층 문제가 사라집니다.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동기에서 찾은 해법에 이름을 붙이고 구조를 정리합니다.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패턴의 정의입니다. 하나의 개체가 여러 영역에 걸친다면, 각 영역의 코드를 별도 컴포넌트 클래스로 옮깁니다. 개체 자신은 컴포넌트들을 담는 그릇이 됩니다. 컴포넌트끼리는 서로를 몰라도 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예제 코드 절은 Player 클래스를 다섯 단계로 나눕니다. 각 단계에서 바뀌는 것만 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첫 코드의 입력 부분을 그대로 InputComponent로 옮깁니다. 이제 조이스틱을 읽는 법은 InputComponent만 압니다. 컴포넌트가 Player의 속도를 바꾸려면 Player의 상태를 공개해야 한다는 대가가 생깁니다. 이 대가는 설계 결정에서 다시 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물리 컴포넌트는 충돌 모양(volume)을, 그림 컴포넌트는 스프라이트들을 자기 필드로 가집니다. 각 영역의 데이터도 그 영역의 컴포넌트로 함께 옮겨 갔다는 점이 중요합니다.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얇아진 Player는 모든 컴포넌트가 함께 쓰는 위치와 속도, 그리고 컴포넌트를 부르는 순서만 가집니다. 순서가 중요하다는 점을 질문으로 확인합니다. 그림을 먼저 그리면 이번 프레임에 움직이기 전 위치가 화면에 나옵니다.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게임에는 타이틀 화면 뒤에서 캐릭터가 혼자 움직이는 데모 모드가 자주 있습니다. 입력을 인터페이스로 만들면 플레이어 입력 대신 AI 입력을 끼울 수 있고, 물리와 그림 코드는 바뀌지 않습니다. 같은 호출이 연결된 객체에 따라 다르게 동작하는 것을 다형성이라고 합니다. 비용은 프레임마다 인터페이스 호출 한 번입니다.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물리와 그림도 인터페이스로 만들면 Player에는 더 이상 주인공만의 코드가 남지 않습니다. 이름을 GameObject로 바꾸고, 어떤 컴포넌트를 넣을지는 바깥의 CreatePlayer 함수가 정합니다. 객체를 만들어 주는 이런 함수를 팩토리 메서드라고 부릅니다.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원서는 패턴을 적용할 때 고를 선택지를 설계 결정 절에 정리합니다. 두 가지를 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3단계의 Player는 자기 컴포넌트를 직접 new로 만들었고, 5단계의 GameObject는 생성자로 받았습니다. 직접 만들면 잘못 조립될 일이 없지만 조합을 바꾸려면 클래스를 고쳐야 합니다. 바깥에서 넣으면 같은 클래스로 여러 종류를 만들 수 있지만 조립 코드를 따로 관리해야 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컴포넌트를 나눠도 서로 정보가 필요합니다. 물리가 바꾼 위치를 그림이 읽어야 하기 때문입니다. 원서는 세 방법을 비교하고, 하나만 고르지 말고 섞어 쓰라고 결론짓습니다. 첫째 방법이 캡슐화를 약하게 만든다는 점은 1단계의 대가와 연결됩니다.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원서의 사용 시점과 주의점 절입니다. 작은 프로젝트에서는 과한 설계가 될 수 있다는 점을 1부의 추상화 비용과 연결해 설명합니다.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원서도 관련 자료로 Unity를 언급합니다. Unity의 GameObject는 컴포넌트를 담는 그릇이고, Transform·SpriteRenderer·직접 만든 MonoBehaviour 스크립트가 컴포넌트입니다. 오늘 본 설계 결정이 Unity에서 어떤 기능으로 나타나는지 대응시킵니다.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/>
            <a:r>
              <a:rPr lang="ko-KR" altLang="en-US" dirty="0"/>
              <a:t>답을 가리고 먼저 학생에게 물어본 뒤 확인합니다. 다음 강의는 명령(Command) 패턴입니다.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eaLnBrk="0"/>
            <a:fld id="{F7021451-1387-4CA6-816F-3879F97B5CBC}" type="slidenum">
              <a:rPr lang="ko-KR" altLang="en-US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 eaLnBrk="0">
              <a:buNone/>
              <a:defRPr lang="ko-KR" altLang="en-US" sz="1800" dirty="0">
                <a:solidFill>
                  <a:schemeClr val="accent3"/>
                </a:solidFill>
              </a:defRPr>
            </a:lvl1pPr>
          </a:lstStyle>
          <a:p>
            <a:pPr indent="0" marL="0" eaLnBrk="0">
              <a:buNone/>
            </a:pPr>
            <a:endParaRPr lang="ko-KR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 eaLnBrk="0">
              <a:buNone/>
              <a:defRPr lang="ko-KR" altLang="en-US" sz="1800" dirty="0">
                <a:solidFill>
                  <a:schemeClr val="accent3"/>
                </a:solidFill>
              </a:defRPr>
            </a:lvl1pPr>
          </a:lstStyle>
          <a:p>
            <a:pPr indent="0" marL="0" eaLnBrk="0">
              <a:buNone/>
            </a:pP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 eaLnBrk="0">
              <a:buNone/>
              <a:defRPr lang="ko-KR" alt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 eaLnBrk="0">
              <a:buNone/>
            </a:pPr>
            <a:endParaRPr lang="ko-KR" alt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1강 · 객체지향과 컴포넌트 패턴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eaLnBrk="0"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 ea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1강 · 객체지향과 컴포넌트 패턴</a:t>
            </a:r>
            <a:endParaRPr lang="ko-KR" alt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한 캐릭터 클래스가 모든 일을 맡을 때 생기는 문제와</a:t>
            </a: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그 일을 부품으로 나누는 방법</a:t>
            </a:r>
            <a:endParaRPr lang="ko-KR" altLang="en-US" sz="1800" dirty="0"/>
          </a:p>
          <a:p>
            <a:pPr indent="0" marL="0" eaLnBrk="0">
              <a:buNone/>
            </a:pP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교재: 로버트 나이스트롬, 『게임 프로그래밍 패턴』</a:t>
            </a:r>
            <a:endParaRPr lang="ko-KR" altLang="en-US" sz="1800" dirty="0"/>
          </a:p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「아키텍처, 성능, 게임」 장과 「컴포넌트」 장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오늘의 길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한 캐릭터 클래스가 부품으로 나뉘는 과정을 따라간다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먼저, 코드를 ‘잘 나눴다’는 것은 무엇을 기준으로 판단할까?</a:t>
            </a:r>
            <a:endParaRPr lang="ko-KR" alt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왜 나누는가</a:t>
            </a:r>
            <a:endParaRPr lang="ko-KR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좋은 구조의 기준</a:t>
            </a:r>
            <a:endParaRPr lang="ko-KR" alt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51760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2807894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36494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36494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036494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객체와 합성</a:t>
            </a:r>
            <a:endParaRPr lang="ko-KR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036494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상태·행동·캡슐화·상속과 합성</a:t>
            </a:r>
            <a:endParaRPr lang="ko-KR" alt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11014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5067148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95748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95748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95748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모든 일을 하는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주인공</a:t>
            </a:r>
            <a:endParaRPr lang="ko-KR" alt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295748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패턴이 필요한 이유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70268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7326401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55001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55001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4</a:t>
            </a:r>
            <a:endParaRPr lang="ko-KR" alt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555001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컴포넌트 패턴</a:t>
            </a:r>
            <a:endParaRPr lang="ko-KR" alt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555001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구조와 예제 코드</a:t>
            </a:r>
            <a:endParaRPr lang="ko-KR" alt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429521" y="2880360"/>
            <a:ext cx="11041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0" name="card"/>
          <p:cNvSpPr/>
          <p:nvPr/>
        </p:nvSpPr>
        <p:spPr>
          <a:xfrm>
            <a:off x="9585655" y="1828800"/>
            <a:ext cx="2057400" cy="21031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14255" y="20299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814255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5</a:t>
            </a:r>
            <a:endParaRPr lang="ko-KR" alt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814255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설계 결정과 Unity</a:t>
            </a:r>
            <a:endParaRPr lang="ko-KR" alt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814255" y="3246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조립·대화 방법, 엔진 대응</a:t>
            </a:r>
            <a:endParaRPr lang="ko-KR" alt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4348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600" dirty="0">
                <a:solidFill>
                  <a:schemeClr val="tx2"/>
                </a:solidFill>
              </a:rPr>
              <a:t>원서의 패턴 장은 모두 같은 순서로 쓰여 있다: 의도 → 동기 → 패턴 → 사용 시점 → 주의점 → 예제 코드 → 설계 결정. 오늘 컴포넌트 패턴도 이 순서를 따른다.</a:t>
            </a:r>
            <a:endParaRPr lang="ko-KR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1부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왜 나누는가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원서 「아키텍처, 성능, 게임」 장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좋은 구조의 기준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좋은 구조는 바꾸기 쉬운 구조다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그렇다면 이해해야 할 코드의 양을 어떻게 줄일까?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291840" cy="22860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1. 이해하기</a:t>
            </a:r>
            <a:endParaRPr lang="ko-KR" alt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바꿀 부분과 관련된 기존 코드를 읽고 머릿속에 불러온다.</a:t>
            </a:r>
            <a:endParaRPr lang="ko-KR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913632" y="2926080"/>
            <a:ext cx="46314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449928" y="1783080"/>
            <a:ext cx="329184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24248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2. 고치기</a:t>
            </a:r>
            <a:endParaRPr lang="ko-KR" alt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724248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새 기능이나 수정 사항을 코드로 쓴다.</a:t>
            </a:r>
            <a:endParaRPr lang="ko-KR" alt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14920" y="2926080"/>
            <a:ext cx="463144" cy="914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351215" y="1783080"/>
            <a:ext cx="329184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25535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200" b="1" dirty="0">
                <a:solidFill>
                  <a:schemeClr val="tx1"/>
                </a:solidFill>
              </a:rPr>
              <a:t>3. 정리하기</a:t>
            </a:r>
            <a:endParaRPr lang="ko-KR" alt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625535" y="26517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새 코드가 나머지 코드와 어울리도록 다듬는다.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4348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dirty="0">
                <a:solidFill>
                  <a:schemeClr val="tx2"/>
                </a:solidFill>
              </a:rPr>
              <a:t>프로그램을 바꾸는 일은 이 세 단계를 반복하는 일이다. </a:t>
            </a:r>
            <a:pPr indent="0" marL="0" eaLnBrk="0">
              <a:buNone/>
            </a:pPr>
            <a:r>
              <a:rPr lang="ko-KR" altLang="en-US" sz="1700" b="1" dirty="0">
                <a:solidFill>
                  <a:schemeClr val="accent1"/>
                </a:solidFill>
              </a:rPr>
              <a:t>가장 오래 걸리는 단계는 1. 이해하기</a:t>
            </a:r>
            <a:pPr indent="0" marL="0" eaLnBrk="0">
              <a:buNone/>
            </a:pPr>
            <a:r>
              <a:rPr lang="ko-KR" altLang="en-US" sz="1700" dirty="0">
                <a:solidFill>
                  <a:schemeClr val="tx2"/>
                </a:solidFill>
              </a:rPr>
              <a:t>이다. 그래서 원서는 좋은 구조를 ‘바꿀 때 이해해야 할 코드가 적은 구조’로 본다.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결합도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결합이 낮으면 한 부분만 이해하고 고칠 수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그럼 코드를 무조건 잘게 나누면 될까?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2880360"/>
          </a:xfrm>
          <a:prstGeom prst="roundRect">
            <a:avLst>
              <a:gd name="adj" fmla="val 3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accent6"/>
                </a:solidFill>
              </a:rPr>
              <a:t>결합이 높은 코드</a:t>
            </a:r>
            <a:endParaRPr lang="ko-KR" alt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한 곳을 바꾸려면 연결된 코드를 모두 읽고, 함께 고쳐야 할 수도 있다.</a:t>
            </a:r>
            <a:endParaRPr lang="ko-KR" altLang="en-US" sz="1400" dirty="0"/>
          </a:p>
        </p:txBody>
      </p:sp>
      <p:sp>
        <p:nvSpPr>
          <p:cNvPr id="9" name="Shape 6"/>
          <p:cNvSpPr/>
          <p:nvPr/>
        </p:nvSpPr>
        <p:spPr>
          <a:xfrm flipV="1">
            <a:off x="1645920" y="2423160"/>
            <a:ext cx="1097280" cy="228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0" y="2423160"/>
            <a:ext cx="1097280" cy="228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2651760"/>
            <a:ext cx="914400" cy="54864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0" y="2651760"/>
            <a:ext cx="548640" cy="73152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94560" y="3383280"/>
            <a:ext cx="1280160" cy="4572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3474720" y="3200400"/>
            <a:ext cx="1280160" cy="22860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2194560" y="2423160"/>
            <a:ext cx="548640" cy="96012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3474720" y="2651760"/>
            <a:ext cx="365760" cy="77724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45920" y="2651760"/>
            <a:ext cx="1828800" cy="77724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0" y="2423160"/>
            <a:ext cx="2011680" cy="77724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499616" y="2505456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96896" y="2276856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94176" y="2505456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08576" y="3054096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48256" y="3236976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28416" y="3282696"/>
            <a:ext cx="292608" cy="29260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63640" y="1691640"/>
            <a:ext cx="5349240" cy="2880360"/>
          </a:xfrm>
          <a:prstGeom prst="roundRect">
            <a:avLst>
              <a:gd name="adj" fmla="val 3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3796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accent2"/>
                </a:solidFill>
              </a:rPr>
              <a:t>결합이 낮은 코드</a:t>
            </a:r>
            <a:endParaRPr lang="ko-KR" alt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3794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묶음 하나만 읽고 고친다. 묶음 사이의 연결은 적고 분명하다.</a:t>
            </a:r>
            <a:endParaRPr lang="ko-KR" alt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178040" y="2560320"/>
            <a:ext cx="822960" cy="6400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H="1">
            <a:off x="7086600" y="3200400"/>
            <a:ext cx="914400" cy="1828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7086600" y="2560320"/>
            <a:ext cx="91440" cy="8229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829800" y="2560320"/>
            <a:ext cx="822960" cy="6400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H="1">
            <a:off x="9738360" y="3200400"/>
            <a:ext cx="914400" cy="1828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9738360" y="2560320"/>
            <a:ext cx="91440" cy="8229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01000" y="3200400"/>
            <a:ext cx="1737360" cy="1828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31736" y="241401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54696" y="305409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940296" y="323697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683496" y="241401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506456" y="305409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592056" y="323697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48640" y="48006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결합: </a:t>
            </a:r>
            <a:pPr indent="0" marL="0" eaLnBrk="0">
              <a:buNone/>
            </a:pPr>
            <a:r>
              <a:rPr lang="ko-KR" altLang="en-US" sz="1600" dirty="0">
                <a:solidFill>
                  <a:schemeClr val="tx2"/>
                </a:solidFill>
              </a:rPr>
              <a:t>한 코드를 이해하려면 다른 코드도 알아야 할 때, 두 코드는 결합되어 있다고 한다. 결합을 줄이는 일을 디커플링이라고 한다.</a:t>
            </a:r>
            <a:endParaRPr lang="ko-KR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추상화의 비용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나누는 데에도 비용이 든다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나눈다면, 나뉜 조각 하나는 무엇으로 이루어질까?</a:t>
            </a:r>
            <a:endParaRPr lang="ko-KR" alt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48640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956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간접 호출</a:t>
            </a:r>
            <a:endParaRPr lang="ko-KR" alt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146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인터페이스와 가상 호출을 거치면 실행 비용이 생기고, 실제로 무엇이 불리는지 찾아가는 데에도 시간이 든다.</a:t>
            </a:r>
            <a:endParaRPr lang="ko-KR" alt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335628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64228" y="1938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422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112868" y="1956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쓰이지 않는 유연성</a:t>
            </a:r>
            <a:endParaRPr lang="ko-KR" alt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64228" y="25146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‘언젠가 필요할지 몰라’ 만든 확장 지점은 오히려 코드를 이해하기 어렵게 만든다.</a:t>
            </a:r>
            <a:endParaRPr lang="ko-KR" alt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8122615" y="1737360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51215" y="1938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51215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899855" y="1956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세 목표의 균형</a:t>
            </a:r>
            <a:endParaRPr lang="ko-KR" alt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51215" y="25146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오래 개발할 때의 속도, 게임의 실행 속도, 지금 기능을 만드는 속도는 서로 부딪친다.</a:t>
            </a:r>
            <a:endParaRPr lang="ko-KR" altLang="en-US" sz="1500" dirty="0"/>
          </a:p>
        </p:txBody>
      </p:sp>
      <p:sp>
        <p:nvSpPr>
          <p:cNvPr id="21" name="box"/>
          <p:cNvSpPr/>
          <p:nvPr/>
        </p:nvSpPr>
        <p:spPr>
          <a:xfrm>
            <a:off x="548640" y="4800600"/>
            <a:ext cx="11094415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800600"/>
            <a:ext cx="11094415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700" b="1" dirty="0">
                <a:solidFill>
                  <a:schemeClr val="bg1"/>
                </a:solidFill>
              </a:rPr>
              <a:t>원서의 조언: 나누는 것이 실제로 도움이 될 때 나누고, 코드는 단순하게 유지한다.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2부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객체와 합성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컴포넌트 패턴을 읽기 위한 객체지향 기본기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클래스와 객체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객체는 상태와 행동을 함께 가진다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다른 코드가 velocity를 마음대로 바꾸면 어떻게 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91640"/>
            <a:ext cx="5760720" cy="36576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83080"/>
            <a:ext cx="5541264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상태: 객체마다 따로 가지는 값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velocity;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x, y;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행동: 자기 상태를 바꾸는 방법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Walk(int acceleration)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velocity += acceleration;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+= velocity;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500" dirty="0"/>
          </a:p>
          <a:p>
            <a:pPr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500" dirty="0"/>
          </a:p>
        </p:txBody>
      </p:sp>
      <p:sp>
        <p:nvSpPr>
          <p:cNvPr id="8" name="codeCaption"/>
          <p:cNvSpPr txBox="1"/>
          <p:nvPr/>
        </p:nvSpPr>
        <p:spPr>
          <a:xfrm>
            <a:off x="3200400" y="17830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설명용 예제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6720840" y="1691640"/>
            <a:ext cx="4922215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911096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클래스 = 정의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468880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Player 클래스는 ‘이런 값과 이런 행동을 가진다’는 설계도다.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720840" y="3474720"/>
            <a:ext cx="492221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3694176"/>
            <a:ext cx="4510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객체(인스턴스) = 실체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4251960"/>
            <a:ext cx="4465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var p1 = new Player();</a:t>
            </a:r>
            <a:endParaRPr lang="ko-KR" altLang="en-US" sz="1400" dirty="0"/>
          </a:p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var p2 = new Player();</a:t>
            </a:r>
            <a:endParaRPr lang="ko-KR" altLang="en-US" sz="1400" dirty="0"/>
          </a:p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p1.Walk(1)을 호출하면 p1의 값만 바뀐다.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캡슐화와 책임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상태를 바꾸는 규칙은 그 상태의 주인이 가진다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비슷한 객체를 여러 종류 만들 때는 코드를 어떻게 재사용할까?</a:t>
            </a:r>
            <a:endParaRPr lang="ko-KR" alt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6"/>
                </a:solidFill>
              </a:rPr>
              <a:t>밖에서 직접 바꾸면</a:t>
            </a:r>
            <a:endParaRPr lang="ko-KR" altLang="en-US" sz="1700" dirty="0"/>
          </a:p>
        </p:txBody>
      </p:sp>
      <p:sp>
        <p:nvSpPr>
          <p:cNvPr id="7" name="codePanel"/>
          <p:cNvSpPr/>
          <p:nvPr/>
        </p:nvSpPr>
        <p:spPr>
          <a:xfrm>
            <a:off x="548640" y="2103120"/>
            <a:ext cx="530352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58368" y="2194560"/>
            <a:ext cx="5084064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다른 클래스 어딘가에서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player.velocity = 999;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player.x = player.x + player.velocity;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520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2"/>
                </a:solidFill>
              </a:rPr>
              <a:t>주인에게 요청하면</a:t>
            </a:r>
            <a:endParaRPr lang="ko-KR" altLang="en-US" sz="1700" dirty="0"/>
          </a:p>
        </p:txBody>
      </p:sp>
      <p:sp>
        <p:nvSpPr>
          <p:cNvPr id="10" name="codePanel"/>
          <p:cNvSpPr/>
          <p:nvPr/>
        </p:nvSpPr>
        <p:spPr>
          <a:xfrm>
            <a:off x="548640" y="3931920"/>
            <a:ext cx="53035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658368" y="4023360"/>
            <a:ext cx="5084064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velocity와 x는 private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player.Walk(1);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309360" y="1691640"/>
            <a:ext cx="5333695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911096"/>
            <a:ext cx="4922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캡슐화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468880"/>
            <a:ext cx="4876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필드를 숨기고, 상태는 정해진 메서드로만 바꾸게 한다. 가속·이동 규칙이 Walk 한곳에 모인다.</a:t>
            </a:r>
            <a:endParaRPr lang="ko-KR" alt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309360" y="3566160"/>
            <a:ext cx="5333695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3785616"/>
            <a:ext cx="4922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책임</a:t>
            </a:r>
            <a:endParaRPr lang="ko-KR" alt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4343400"/>
            <a:ext cx="48764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객체가 알아야 할 정보와 해야 할 일. 이동 규칙을 바꿀 때 찾아갈 곳이 Player 하나로 정해진다.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재사용의 두 방법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물려받을 것인가, 부품으로 가질 것인가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 차이가 실제 게임 캐릭터에서 어떤 문제로 나타나는지 원서의 예제로 보자.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6"/>
                </a:solidFill>
              </a:rPr>
              <a:t>상속 · “~의 한 종류다”</a:t>
            </a:r>
            <a:endParaRPr lang="ko-KR" alt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“구역(Zone)은 물리 객체의 한 종류다.”</a:t>
            </a:r>
            <a:endParaRPr lang="ko-KR" altLang="en-US" sz="1500" dirty="0"/>
          </a:p>
        </p:txBody>
      </p:sp>
      <p:sp>
        <p:nvSpPr>
          <p:cNvPr id="9" name="codePanel"/>
          <p:cNvSpPr/>
          <p:nvPr/>
        </p:nvSpPr>
        <p:spPr>
          <a:xfrm>
            <a:off x="822960" y="2880360"/>
            <a:ext cx="480060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932688" y="2971800"/>
            <a:ext cx="458114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Zone : PhysicsObject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148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부모의 상태와 행동을 그대로 물려받는다. 부모는 하나만 고를 수 있다.</a:t>
            </a:r>
            <a:endParaRPr lang="ko-KR" alt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34924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2"/>
                </a:solidFill>
              </a:rPr>
              <a:t>합성 · “~을 가진다”</a:t>
            </a:r>
            <a:endParaRPr lang="ko-KR" alt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“구역(Zone)은 물리 부품을 가진다.”</a:t>
            </a:r>
            <a:endParaRPr lang="ko-KR" altLang="en-US" sz="1500" dirty="0"/>
          </a:p>
        </p:txBody>
      </p:sp>
      <p:sp>
        <p:nvSpPr>
          <p:cNvPr id="15" name="codePanel"/>
          <p:cNvSpPr/>
          <p:nvPr/>
        </p:nvSpPr>
        <p:spPr>
          <a:xfrm>
            <a:off x="6537960" y="2880360"/>
            <a:ext cx="480060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code"/>
          <p:cNvSpPr txBox="1"/>
          <p:nvPr/>
        </p:nvSpPr>
        <p:spPr>
          <a:xfrm>
            <a:off x="6647688" y="2971800"/>
            <a:ext cx="4581144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Zone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PhysicsComponent physics;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411480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필요한 부품을 필드로 가지고 일을 맡긴다. 부품은 여러 개 가질 수 있다.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디자인 패턴의 고전인 『GoF의 디자인 패턴』은 ‘클래스 상속보다 객체 합성을 선호하라’고 권한다. 컴포넌트 패턴은 이 생각을 게임 객체 전체로 넓힌 것이다.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3부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모든 일을 하는 주인공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컴포넌트 패턴의 의도와 동기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의도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한 개체가 여러 영역을 다루되, 영역끼리는 엮이지 않게 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 일들을 클래스 하나에 모두 넣으면 코드는 어떤 모양이 될까?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 flipH="1" flipV="1">
            <a:off x="1737360" y="2240280"/>
            <a:ext cx="1920240" cy="118872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657600" y="2240280"/>
            <a:ext cx="1920240" cy="118872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1737360" y="3429000"/>
            <a:ext cx="1920240" cy="13258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0" y="3429000"/>
            <a:ext cx="1920240" cy="13258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10" name="box"/>
          <p:cNvSpPr/>
          <p:nvPr/>
        </p:nvSpPr>
        <p:spPr>
          <a:xfrm>
            <a:off x="2651760" y="3017520"/>
            <a:ext cx="201168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51760" y="301752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2200" b="1" dirty="0">
                <a:solidFill>
                  <a:schemeClr val="bg1"/>
                </a:solidFill>
              </a:rPr>
              <a:t>주인공</a:t>
            </a:r>
            <a:endParaRPr lang="ko-KR" alt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" y="182880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1901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입력</a:t>
            </a:r>
            <a:endParaRPr lang="ko-KR" alt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조이스틱 방향을 읽는다</a:t>
            </a:r>
            <a:endParaRPr lang="ko-KR" alt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82880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1901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물리</a:t>
            </a:r>
            <a:endParaRPr lang="ko-KR" alt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이동하고 벽과 충돌한다</a:t>
            </a:r>
            <a:endParaRPr lang="ko-KR" alt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434340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그림</a:t>
            </a:r>
            <a:endParaRPr lang="ko-KR" alt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800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알맞은 그림을 그린다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4343400"/>
            <a:ext cx="1828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63440" y="4416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600" b="1" dirty="0">
                <a:solidFill>
                  <a:schemeClr val="tx1"/>
                </a:solidFill>
              </a:rPr>
              <a:t>소리</a:t>
            </a:r>
            <a:endParaRPr lang="ko-KR" alt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4800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점프·착지 소리를 낸다</a:t>
            </a:r>
            <a:endParaRPr lang="ko-KR" altLang="en-US" sz="1100" dirty="0"/>
          </a:p>
        </p:txBody>
      </p:sp>
      <p:sp>
        <p:nvSpPr>
          <p:cNvPr id="24" name="card"/>
          <p:cNvSpPr/>
          <p:nvPr/>
        </p:nvSpPr>
        <p:spPr>
          <a:xfrm>
            <a:off x="7498080" y="1783080"/>
            <a:ext cx="4144975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26680" y="2002536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예제 주인공</a:t>
            </a:r>
            <a:endParaRPr lang="ko-KR" alt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726680" y="2560320"/>
            <a:ext cx="3687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플랫폼 게임에서 플레이어가 조종하는 제빵사 캐릭터.</a:t>
            </a:r>
            <a:endParaRPr lang="ko-KR" alt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7498080" y="3703320"/>
            <a:ext cx="4144975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26680" y="3922776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패턴의 의도</a:t>
            </a:r>
            <a:endParaRPr lang="ko-KR" alt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7726680" y="4480560"/>
            <a:ext cx="3687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한 개체가 여러 영역에 걸쳐 일하더라도, 그 영역들이 서로 결합되지 않게 한다.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첫 시도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Update 메서드 하나가 입력·물리·그림을 모두 처리한다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기능이 늘어나면 이 메서드에는 무슨 일이 생길까?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00200"/>
            <a:ext cx="6949440" cy="4114800"/>
          </a:xfrm>
          <a:prstGeom prst="roundRect">
            <a:avLst>
              <a:gd name="adj" fmla="val 1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691640"/>
            <a:ext cx="6729984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Player 클래스의 필드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WalkAcceleration = 1;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velocity, x, y;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 volume;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 spriteStand, spriteWalkLeft, spriteWalkRight;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Update(World world, Graphics graphics)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입력: 조이스틱 방향으로 속도를 바꾼다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(Controller.GetJoystickDirection())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Direction.Left:  velocity -= WalkAcceleration; break;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Direction.Right: velocity += WalkAcceleration; break;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물리: 위치를 옮기고 충돌을 해결한다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+= velocity;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world.ResolveCollision(volume, ref x, ref y, ref velocity);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그림: 속도에 맞는 스프라이트를 그린다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Sprite sprite = spriteStand;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(velocity &lt; 0) sprite = spriteWalkLeft;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(velocity &gt; 0) sprite = spriteWalkRight;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graphics.Draw(sprite, x, y);</a:t>
            </a:r>
            <a:endParaRPr lang="ko-KR" altLang="en-US" sz="1100" dirty="0"/>
          </a:p>
          <a:p>
            <a:pPr indent="0" marL="0" eaLnBrk="0">
              <a:buNone/>
            </a:pPr>
            <a:r>
              <a:rPr lang="ko-KR" alt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10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6916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863840" y="1600200"/>
            <a:ext cx="377921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181965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충분한 때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377440"/>
            <a:ext cx="3322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캐릭터가 하나뿐이고 기능이 적으면, 이 메서드 하나만 읽어도 주인공의 동작 전체가 보인다.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863840" y="3657600"/>
            <a:ext cx="3779215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387705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섞여 있는 것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434840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입력(Controller), 물리(World), 그림(Graphics)이라는 세 영역의 코드가 한 메서드 안에 섞여 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한계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물리를 고치려 해도 입력과 그림 코드를 함께 읽어야 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영역별 코드를 재사용하려고 상속을 쓰면 해결될까?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4937760" cy="374904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Player.cs</a:t>
            </a:r>
            <a:endParaRPr lang="ko-KR" alt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4389120" cy="347472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chemeClr val="accent2">
                <a:alpha val="75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입력 코드</a:t>
            </a:r>
            <a:endParaRPr lang="ko-KR" alt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761488"/>
            <a:ext cx="4389120" cy="347472"/>
          </a:xfrm>
          <a:prstGeom prst="rect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>
                <a:alpha val="75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2761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물리 코드</a:t>
            </a:r>
            <a:endParaRPr lang="ko-KR" alt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3191256"/>
            <a:ext cx="4389120" cy="347472"/>
          </a:xfrm>
          <a:prstGeom prst="rect">
            <a:avLst/>
          </a:prstGeom>
          <a:solidFill>
            <a:schemeClr val="accent2">
              <a:alpha val="75000"/>
            </a:schemeClr>
          </a:solidFill>
          <a:ln w="12700">
            <a:solidFill>
              <a:schemeClr val="accent2">
                <a:alpha val="75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1912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입력 코드</a:t>
            </a:r>
            <a:endParaRPr lang="ko-KR" alt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621024"/>
            <a:ext cx="4389120" cy="347472"/>
          </a:xfrm>
          <a:prstGeom prst="rect">
            <a:avLst/>
          </a:prstGeom>
          <a:solidFill>
            <a:schemeClr val="accent4">
              <a:alpha val="75000"/>
            </a:schemeClr>
          </a:solidFill>
          <a:ln w="12700">
            <a:solidFill>
              <a:schemeClr val="accent4">
                <a:alpha val="75000"/>
              </a:scheme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6210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그림 코드</a:t>
            </a:r>
            <a:endParaRPr lang="ko-KR" alt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" y="4050792"/>
            <a:ext cx="4389120" cy="347472"/>
          </a:xfrm>
          <a:prstGeom prst="rect">
            <a:avLst/>
          </a:prstGeom>
          <a:solidFill>
            <a:schemeClr val="accent1">
              <a:alpha val="75000"/>
            </a:schemeClr>
          </a:solidFill>
          <a:ln w="12700">
            <a:solidFill>
              <a:schemeClr val="accent1">
                <a:alpha val="75000"/>
              </a:scheme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4050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물리 코드</a:t>
            </a:r>
            <a:endParaRPr lang="ko-KR" alt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4480560"/>
            <a:ext cx="4389120" cy="347472"/>
          </a:xfrm>
          <a:prstGeom prst="rect">
            <a:avLst/>
          </a:prstGeom>
          <a:solidFill>
            <a:schemeClr val="accent3">
              <a:alpha val="75000"/>
            </a:schemeClr>
          </a:solidFill>
          <a:ln w="12700">
            <a:solidFill>
              <a:schemeClr val="accent3">
                <a:alpha val="75000"/>
              </a:scheme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0120" y="4480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소리 코드</a:t>
            </a:r>
            <a:endParaRPr lang="ko-KR" alt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4910328"/>
            <a:ext cx="4389120" cy="347472"/>
          </a:xfrm>
          <a:prstGeom prst="rect">
            <a:avLst/>
          </a:prstGeom>
          <a:solidFill>
            <a:schemeClr val="accent4">
              <a:alpha val="75000"/>
            </a:schemeClr>
          </a:solidFill>
          <a:ln w="12700">
            <a:solidFill>
              <a:schemeClr val="accent4">
                <a:alpha val="75000"/>
              </a:scheme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" y="4910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tx1"/>
                </a:solidFill>
              </a:rPr>
              <a:t>그림 코드</a:t>
            </a:r>
            <a:endParaRPr lang="ko-KR" alt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5943600" y="1737360"/>
            <a:ext cx="569945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2200" y="1938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7220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1956816"/>
            <a:ext cx="4739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한 클래스가 세 영역을 모두 안다</a:t>
            </a:r>
            <a:endParaRPr lang="ko-KR" altLang="en-US" sz="1700" dirty="0"/>
          </a:p>
        </p:txBody>
      </p:sp>
      <p:sp>
        <p:nvSpPr>
          <p:cNvPr id="26" name="card"/>
          <p:cNvSpPr/>
          <p:nvPr/>
        </p:nvSpPr>
        <p:spPr>
          <a:xfrm>
            <a:off x="5943600" y="3017520"/>
            <a:ext cx="569945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72200" y="32186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72200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720840" y="3236976"/>
            <a:ext cx="4739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자기 코드를 찾는 데 시간이 든다</a:t>
            </a:r>
            <a:endParaRPr lang="ko-KR" altLang="en-US" sz="1700" dirty="0"/>
          </a:p>
        </p:txBody>
      </p:sp>
      <p:sp>
        <p:nvSpPr>
          <p:cNvPr id="30" name="card"/>
          <p:cNvSpPr/>
          <p:nvPr/>
        </p:nvSpPr>
        <p:spPr>
          <a:xfrm>
            <a:off x="5943600" y="4297680"/>
            <a:ext cx="569945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72200" y="44988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7220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720840" y="4517136"/>
            <a:ext cx="4739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담당자들이 한 파일에 몰린다</a:t>
            </a:r>
            <a:endParaRPr lang="ko-KR" alt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720840" y="2359152"/>
            <a:ext cx="4739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Player는 Controller, World, Graphics에 모두 의존한다. 어느 하나가 바뀌어도 Player를 고친다.</a:t>
            </a:r>
            <a:endParaRPr lang="ko-KR" alt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720840" y="3639312"/>
            <a:ext cx="4739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물리 담당자는 충돌을 고치려고 입력·그림 코드 사이를 읽어야 한다.</a:t>
            </a:r>
            <a:endParaRPr lang="ko-KR" alt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720840" y="4919472"/>
            <a:ext cx="4739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영역마다 담당자가 달라도 모두 Player.cs를 고친다.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상속으로 나누면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물리와 그림을 모두 가진 소품은 어느 부모를 물려받을까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상속 대신, 필요한 부품을 골라 끼우면 어떨까?</a:t>
            </a:r>
            <a:endParaRPr lang="ko-KR" altLang="en-US" sz="1500" dirty="0"/>
          </a:p>
        </p:txBody>
      </p:sp>
      <p:sp>
        <p:nvSpPr>
          <p:cNvPr id="6" name="box"/>
          <p:cNvSpPr/>
          <p:nvPr/>
        </p:nvSpPr>
        <p:spPr>
          <a:xfrm>
            <a:off x="3611880" y="1645920"/>
            <a:ext cx="228600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645920"/>
            <a:ext cx="2286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게임 객체</a:t>
            </a:r>
            <a:endParaRPr lang="ko-KR" altLang="en-US" sz="1500" dirty="0"/>
          </a:p>
        </p:txBody>
      </p:sp>
      <p:sp>
        <p:nvSpPr>
          <p:cNvPr id="8" name="box"/>
          <p:cNvSpPr/>
          <p:nvPr/>
        </p:nvSpPr>
        <p:spPr>
          <a:xfrm>
            <a:off x="1463040" y="2788920"/>
            <a:ext cx="22860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63040" y="2788920"/>
            <a:ext cx="2286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물리 객체</a:t>
            </a:r>
            <a:endParaRPr lang="ko-KR" altLang="en-US" sz="1500" dirty="0"/>
          </a:p>
        </p:txBody>
      </p:sp>
      <p:sp>
        <p:nvSpPr>
          <p:cNvPr id="10" name="box"/>
          <p:cNvSpPr/>
          <p:nvPr/>
        </p:nvSpPr>
        <p:spPr>
          <a:xfrm>
            <a:off x="5760720" y="2788920"/>
            <a:ext cx="22860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788920"/>
            <a:ext cx="2286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보이는 객체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 flipV="1">
            <a:off x="2606040" y="2212848"/>
            <a:ext cx="1783080" cy="5760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 flipH="1" flipV="1">
            <a:off x="5120640" y="2212848"/>
            <a:ext cx="1783080" cy="57607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box"/>
          <p:cNvSpPr/>
          <p:nvPr/>
        </p:nvSpPr>
        <p:spPr>
          <a:xfrm>
            <a:off x="731520" y="397764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3977640"/>
            <a:ext cx="1828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구역</a:t>
            </a:r>
            <a:endParaRPr lang="ko-KR" altLang="en-US" sz="1500" dirty="0"/>
          </a:p>
        </p:txBody>
      </p:sp>
      <p:sp>
        <p:nvSpPr>
          <p:cNvPr id="16" name="box"/>
          <p:cNvSpPr/>
          <p:nvPr/>
        </p:nvSpPr>
        <p:spPr>
          <a:xfrm>
            <a:off x="6949440" y="397764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3977640"/>
            <a:ext cx="1828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장식물</a:t>
            </a:r>
            <a:endParaRPr lang="ko-KR" altLang="en-US" sz="1500" dirty="0"/>
          </a:p>
        </p:txBody>
      </p:sp>
      <p:sp>
        <p:nvSpPr>
          <p:cNvPr id="18" name="box"/>
          <p:cNvSpPr/>
          <p:nvPr/>
        </p:nvSpPr>
        <p:spPr>
          <a:xfrm>
            <a:off x="3840480" y="3977640"/>
            <a:ext cx="18288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3840480" y="3977640"/>
            <a:ext cx="1828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accent6"/>
                </a:solidFill>
              </a:rPr>
              <a:t>소품</a:t>
            </a:r>
            <a:endParaRPr lang="ko-KR" altLang="en-US" sz="1500" dirty="0"/>
          </a:p>
        </p:txBody>
      </p:sp>
      <p:sp>
        <p:nvSpPr>
          <p:cNvPr id="20" name="Shape 17"/>
          <p:cNvSpPr/>
          <p:nvPr/>
        </p:nvSpPr>
        <p:spPr>
          <a:xfrm flipV="1">
            <a:off x="1645920" y="3355848"/>
            <a:ext cx="548640" cy="6217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 flipH="1" flipV="1">
            <a:off x="7315200" y="3355848"/>
            <a:ext cx="548640" cy="6217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H="1" flipV="1">
            <a:off x="3108960" y="3355848"/>
            <a:ext cx="1280160" cy="621792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 flipV="1">
            <a:off x="5120640" y="3355848"/>
            <a:ext cx="1280160" cy="621792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926080" y="4636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두 부모를 모두 물려받을 수 없다</a:t>
            </a:r>
            <a:endParaRPr lang="ko-KR" alt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189720" y="1645920"/>
            <a:ext cx="245333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72600" y="1700784"/>
            <a:ext cx="2179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장식물</a:t>
            </a:r>
            <a:endParaRPr lang="ko-KR" alt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372600" y="2029968"/>
            <a:ext cx="2179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그림만 있다 (풀, 꽃)</a:t>
            </a:r>
            <a:endParaRPr lang="ko-KR" alt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189720" y="2560320"/>
            <a:ext cx="245333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372600" y="2615184"/>
            <a:ext cx="2179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구역</a:t>
            </a:r>
            <a:endParaRPr lang="ko-KR" alt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372600" y="2944368"/>
            <a:ext cx="2179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충돌만 한다 (보이지 않는 영역)</a:t>
            </a:r>
            <a:endParaRPr lang="ko-KR" alt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189720" y="3474720"/>
            <a:ext cx="245333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372600" y="3529584"/>
            <a:ext cx="2179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소품</a:t>
            </a:r>
            <a:endParaRPr lang="ko-KR" alt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372600" y="3858768"/>
            <a:ext cx="2179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accent5"/>
                </a:solidFill>
              </a:rPr>
              <a:t>그림과 충돌이 모두 있다 (상자)</a:t>
            </a:r>
            <a:endParaRPr lang="ko-KR" alt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189720" y="4434840"/>
            <a:ext cx="2453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2"/>
                </a:solidFill>
              </a:rPr>
              <a:t>남는 선택은 한쪽 코드를 복사하거나, 물리와 그림을 모두 공통 부모인 게임 객체로 올리는 것이다. 그러면 장식물도 쓰지 않는 충돌 코드를 갖게 된다.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합성으로 나누면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필요한 부품만 골라 가진다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부품을 골라 끼우는 이 생각에 붙은 이름이 컴포넌트 패턴이다.</a:t>
            </a:r>
            <a:endParaRPr lang="ko-KR" alt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377440"/>
              </a:tblGrid>
              <a:tr h="640080"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객체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PhysicsComponent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GraphicsComponent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장식물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accent2"/>
                          </a:solidFill>
                        </a:rPr>
                        <a:t>가진다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구역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accent1"/>
                          </a:solidFill>
                        </a:rPr>
                        <a:t>가진다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소품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accent1"/>
                          </a:solidFill>
                        </a:rPr>
                        <a:t>가진다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>
                        <a:buNone/>
                      </a:pPr>
                      <a:r>
                        <a:rPr lang="ko-KR" altLang="en-US" sz="1600" b="1" dirty="0">
                          <a:solidFill>
                            <a:schemeClr val="accent2"/>
                          </a:solidFill>
                        </a:rPr>
                        <a:t>가진다</a:t>
                      </a:r>
                      <a:endParaRPr lang="ko-KR" alt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7772400" y="1737360"/>
            <a:ext cx="3870655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01000" y="1956816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종류 = 부품의 조합</a:t>
            </a:r>
            <a:endParaRPr lang="ko-KR" alt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001000" y="2514600"/>
            <a:ext cx="3413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객체의 종류를 상속 계층이 아니라, 어떤 부품을 가졌는지로 정한다.</a:t>
            </a:r>
            <a:endParaRPr lang="ko-KR" alt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7772400" y="3703320"/>
            <a:ext cx="3870655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01000" y="3922776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계층 문제가 사라진다</a:t>
            </a:r>
            <a:endParaRPr lang="ko-KR" alt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4480560"/>
            <a:ext cx="3413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소품은 두 부품을 모두 가지면 된다. 장식물은 충돌 코드를 갖지 않는다.</a:t>
            </a:r>
            <a:endParaRPr lang="ko-KR" altLang="en-US" sz="1400" dirty="0"/>
          </a:p>
        </p:txBody>
      </p:sp>
      <p:sp>
        <p:nvSpPr>
          <p:cNvPr id="13" name="codePanel"/>
          <p:cNvSpPr/>
          <p:nvPr/>
        </p:nvSpPr>
        <p:spPr>
          <a:xfrm>
            <a:off x="548640" y="4526280"/>
            <a:ext cx="6766560" cy="1143000"/>
          </a:xfrm>
          <a:prstGeom prst="roundRect">
            <a:avLst>
              <a:gd name="adj" fmla="val 64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code"/>
          <p:cNvSpPr txBox="1"/>
          <p:nvPr/>
        </p:nvSpPr>
        <p:spPr>
          <a:xfrm>
            <a:off x="658368" y="4617720"/>
            <a:ext cx="6547104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Prop   // 소품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PhysicsComponent physics;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GraphicsComponent graphics;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4부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컴포넌트 패턴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개체는 그릇, 컴포넌트는 영역 하나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패턴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개체는 컴포넌트를 담는 그릇이 되고, 컴포넌트는 한 영역만 맡는다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실제 코드에서는 어떤 순서로 나눌까? Player에서 입력부터 떼어 낸다.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6675120" cy="37033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게임 객체  (예: 주인공)</a:t>
            </a:r>
            <a:endParaRPr lang="ko-KR" alt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accent5"/>
                </a:solidFill>
              </a:rPr>
              <a:t>공유 상태: velocity, x, y</a:t>
            </a:r>
            <a:endParaRPr lang="ko-KR" alt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9718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입력</a:t>
            </a:r>
            <a:endParaRPr lang="ko-KR" alt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accent5"/>
                </a:solidFill>
              </a:rPr>
              <a:t>InputComponent</a:t>
            </a:r>
            <a:endParaRPr lang="ko-KR" alt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이 영역의 상태와</a:t>
            </a:r>
            <a:endParaRPr lang="ko-KR" altLang="en-US" sz="1200" dirty="0"/>
          </a:p>
          <a:p>
            <a:pPr algn="ctr" indent="0" marL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행동만 가진다</a:t>
            </a:r>
            <a:endParaRPr lang="ko-KR" alt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26080" y="29718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2608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물리</a:t>
            </a:r>
            <a:endParaRPr lang="ko-KR" alt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accent5"/>
                </a:solidFill>
              </a:rPr>
              <a:t>PhysicsComponent</a:t>
            </a:r>
            <a:endParaRPr lang="ko-KR" alt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이 영역의 상태와</a:t>
            </a:r>
            <a:endParaRPr lang="ko-KR" altLang="en-US" sz="1200" dirty="0"/>
          </a:p>
          <a:p>
            <a:pPr algn="ctr" indent="0" marL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행동만 가진다</a:t>
            </a:r>
            <a:endParaRPr lang="ko-KR" alt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29718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그림</a:t>
            </a:r>
            <a:endParaRPr lang="ko-KR" alt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200" b="1" dirty="0">
                <a:solidFill>
                  <a:schemeClr val="accent5"/>
                </a:solidFill>
              </a:rPr>
              <a:t>GraphicsComponent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이 영역의 상태와</a:t>
            </a:r>
            <a:endParaRPr lang="ko-KR" altLang="en-US" sz="1200" dirty="0"/>
          </a:p>
          <a:p>
            <a:pPr algn="ctr" indent="0" marL="0" eaLnBrk="0">
              <a:buNone/>
            </a:pPr>
            <a:r>
              <a:rPr lang="ko-KR" altLang="en-US" sz="1200" dirty="0">
                <a:solidFill>
                  <a:schemeClr val="tx2"/>
                </a:solidFill>
              </a:rPr>
              <a:t>행동만 가진다</a:t>
            </a:r>
            <a:endParaRPr lang="ko-KR" alt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7680960" y="1783080"/>
            <a:ext cx="396209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09560" y="19842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0956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458200" y="2002536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컴포넌트 = 영역 하나</a:t>
            </a:r>
            <a:endParaRPr lang="ko-KR" altLang="en-US" sz="1700" dirty="0"/>
          </a:p>
        </p:txBody>
      </p:sp>
      <p:sp>
        <p:nvSpPr>
          <p:cNvPr id="25" name="card"/>
          <p:cNvSpPr/>
          <p:nvPr/>
        </p:nvSpPr>
        <p:spPr>
          <a:xfrm>
            <a:off x="7680960" y="3063240"/>
            <a:ext cx="396209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09560" y="32644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0956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458200" y="3282696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개체 = 컴포넌트의 그릇</a:t>
            </a:r>
            <a:endParaRPr lang="ko-KR" altLang="en-US" sz="1700" dirty="0"/>
          </a:p>
        </p:txBody>
      </p:sp>
      <p:sp>
        <p:nvSpPr>
          <p:cNvPr id="29" name="card"/>
          <p:cNvSpPr/>
          <p:nvPr/>
        </p:nvSpPr>
        <p:spPr>
          <a:xfrm>
            <a:off x="7680960" y="4343400"/>
            <a:ext cx="396209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09560" y="45445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0956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458200" y="4562856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컴포넌트끼리는 몰라도 된다</a:t>
            </a:r>
            <a:endParaRPr lang="ko-KR" alt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5부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예제 코드: Player 클래스 나누기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입력 → 물리·그림 → 얇아진 Player → 바꿔 끼우기 → GameObject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1단계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입력 코드를 InputComponent로 옮긴다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같은 방법으로 물리와 그림도 옮기면?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94944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729984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InputComponent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int WalkAcceleration = 1;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Update(Player player)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switch (Controller.GetJoystickDirection())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Direction.Left:  player.Velocity -= WalkAcceleration; break;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Direction.Right: player.Velocity += WalkAcceleration; break;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0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odePanel"/>
          <p:cNvSpPr/>
          <p:nvPr/>
        </p:nvSpPr>
        <p:spPr>
          <a:xfrm>
            <a:off x="548640" y="4846320"/>
            <a:ext cx="694944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658368" y="4937760"/>
            <a:ext cx="6729984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Velocity, X, Y;   // 컴포넌트가 읽고 쓰도록 공개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 안에서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_input.Update(this);</a:t>
            </a:r>
            <a:endParaRPr lang="ko-KR" alt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7863840" y="1645920"/>
            <a:ext cx="3779215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186537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옮긴 것</a:t>
            </a:r>
            <a:endParaRPr lang="ko-KR" alt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423160"/>
            <a:ext cx="3322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조이스틱을 읽고 속도를 바꾸는 코드. Player는 더 이상 Controller를 모른다.</a:t>
            </a:r>
            <a:endParaRPr lang="ko-KR" alt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7863840" y="3794760"/>
            <a:ext cx="3779215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401421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대가</a:t>
            </a:r>
            <a:endParaRPr lang="ko-KR" alt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572000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컴포넌트가 Player의 Velocity를 바꿔야 하므로 Player의 상태를 공개했다. 캡슐화가 약해진 만큼을 기억해 둔다.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2단계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물리와 그림도 각자의 컴포넌트로 옮긴다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그러면 Player에는 무엇이 남을까?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5440680" cy="2971800"/>
          </a:xfrm>
          <a:prstGeom prst="roundRect">
            <a:avLst>
              <a:gd name="adj" fmla="val 24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522122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PhysicsComponent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 _volume;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Update(Player player, World world)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player.X += player.Velocity;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world.ResolveCollision(_volume,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ref player.X, ref player.Y, ref player.Velocity);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00" dirty="0"/>
          </a:p>
        </p:txBody>
      </p:sp>
      <p:sp>
        <p:nvSpPr>
          <p:cNvPr id="8" name="codeCaption"/>
          <p:cNvSpPr txBox="1"/>
          <p:nvPr/>
        </p:nvSpPr>
        <p:spPr>
          <a:xfrm>
            <a:off x="288036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odePanel"/>
          <p:cNvSpPr/>
          <p:nvPr/>
        </p:nvSpPr>
        <p:spPr>
          <a:xfrm>
            <a:off x="6217920" y="1645920"/>
            <a:ext cx="5425135" cy="2971800"/>
          </a:xfrm>
          <a:prstGeom prst="roundRect">
            <a:avLst>
              <a:gd name="adj" fmla="val 24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6327648" y="1737360"/>
            <a:ext cx="5205679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GraphicsComponent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Sprite _stand, _walkLeft, _walkRight;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Update(Player player, Graphics graphics)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Sprite sprite = _stand;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(player.Velocity &lt; 0) sprite = _walkLeft;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(player.Velocity &gt; 0) sprite = _walkRight;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graphics.Draw(sprite, player.X, player.Y);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00" dirty="0"/>
          </a:p>
        </p:txBody>
      </p:sp>
      <p:sp>
        <p:nvSpPr>
          <p:cNvPr id="11" name="box"/>
          <p:cNvSpPr/>
          <p:nvPr/>
        </p:nvSpPr>
        <p:spPr>
          <a:xfrm>
            <a:off x="548640" y="507492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코드뿐 아니라 데이터도 함께 옮겼다: 충돌 모양은 물리 컴포넌트로, 스프라이트는 그림 컴포넌트로.</a:t>
            </a:r>
            <a:endParaRPr lang="ko-KR" alt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3단계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Player에는 공유 상태와 호출 순서만 남는다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부품으로 나눴으니, 부품을 바꿔 끼울 수도 있을까?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949440" cy="3749040"/>
          </a:xfrm>
          <a:prstGeom prst="roundRect">
            <a:avLst>
              <a:gd name="adj" fmla="val 195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729984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Velocity, X, Y;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InputComponent _input = new InputComponent();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PhysicsComponent _physics = new PhysicsComponent();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GraphicsComponent _graphics = new GraphicsComponent();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Update(World world, Graphics graphics)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_input.Update(this);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_physics.Update(this, world);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_graphics.Update(this, graphics);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300" dirty="0"/>
          </a:p>
          <a:p>
            <a:pPr indent="0" marL="0" eaLnBrk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863840" y="1645920"/>
            <a:ext cx="3779215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186537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남은 것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423160"/>
            <a:ext cx="3322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모든 컴포넌트가 함께 쓰는 Velocity, X, Y와 세 컴포넌트를 부르는 순서.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863840" y="3474720"/>
            <a:ext cx="3779215" cy="1920240"/>
          </a:xfrm>
          <a:prstGeom prst="roundRect">
            <a:avLst>
              <a:gd name="adj" fmla="val 476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369417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accent4"/>
                </a:solidFill>
              </a:rPr>
              <a:t>예상 질문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251960"/>
            <a:ext cx="3322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그림을 물리보다 먼저 부르면?</a:t>
            </a:r>
            <a:endParaRPr lang="ko-KR" altLang="en-US" sz="1400" dirty="0"/>
          </a:p>
          <a:p>
            <a:pPr indent="0" marL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답: 이번 프레임에 이동하기 전의 위치를 그린다. 순서가 곧 규칙이다.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4단계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입력을 인터페이스로 만들면 데모 모드를 끼울 수 있다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모든 컴포넌트를 바꿔 끼울 수 있다면, Player라는 클래스가 아직 필요할까?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45920"/>
            <a:ext cx="6949440" cy="2971800"/>
          </a:xfrm>
          <a:prstGeom prst="roundRect">
            <a:avLst>
              <a:gd name="adj" fmla="val 246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737360"/>
            <a:ext cx="672998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IInputComponent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Update(Player player);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PlayerInputComponent : IInputComponent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Update(Player player) { /* 조이스틱을 읽는다 */ }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DemoInputComponent : IInputComponent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Update(Player player) { /* AI가 방향을 정한다 */ }</a:t>
            </a:r>
            <a:endParaRPr lang="ko-KR" altLang="en-US" sz="1150" dirty="0"/>
          </a:p>
          <a:p>
            <a:pPr indent="0" marL="0" eaLnBrk="0">
              <a:buNone/>
            </a:pPr>
            <a:r>
              <a:rPr lang="ko-KR" altLang="en-US" sz="11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15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odePanel"/>
          <p:cNvSpPr/>
          <p:nvPr/>
        </p:nvSpPr>
        <p:spPr>
          <a:xfrm>
            <a:off x="548640" y="4754880"/>
            <a:ext cx="6949440" cy="100584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658368" y="4846320"/>
            <a:ext cx="6729984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Player(IInputComponent input) { _input = input; }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player = new Player(new PlayerInputComponent());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demo   = new Player(new DemoInputComponent());</a:t>
            </a:r>
            <a:endParaRPr lang="ko-KR" alt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7863840" y="1645920"/>
            <a:ext cx="3779215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186537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다형성</a:t>
            </a:r>
            <a:endParaRPr lang="ko-KR" alt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2423160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같은 _input.Update(this) 호출이, 연결된 객체에 따라 조이스틱을 읽거나 AI가 조종한다.</a:t>
            </a:r>
            <a:endParaRPr lang="ko-KR" alt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7863840" y="3840480"/>
            <a:ext cx="3779215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405993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바뀌지 않는 것</a:t>
            </a:r>
            <a:endParaRPr lang="ko-KR" alt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617720"/>
            <a:ext cx="3322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물리와 그림 컴포넌트. 데모 모드를 위해 고친 곳은 입력 하나뿐이다.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5단계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Player 클래스는 사라지고, 부품을 조립한 GameObject만 남는다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이제 컴포넌트를 쓸 때 정해야 할 것들을 보자.</a:t>
            </a:r>
            <a:endParaRPr lang="ko-KR" altLang="en-US" sz="1500" dirty="0"/>
          </a:p>
        </p:txBody>
      </p:sp>
      <p:sp>
        <p:nvSpPr>
          <p:cNvPr id="6" name="codePanel"/>
          <p:cNvSpPr/>
          <p:nvPr/>
        </p:nvSpPr>
        <p:spPr>
          <a:xfrm>
            <a:off x="548640" y="1600200"/>
            <a:ext cx="6949440" cy="4069080"/>
          </a:xfrm>
          <a:prstGeom prst="roundRect">
            <a:avLst>
              <a:gd name="adj" fmla="val 17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1691640"/>
            <a:ext cx="6729984" cy="3886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GameObject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Velocity, X, Y;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IInputComponent _input;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IPhysicsComponent _physics;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readonly IGraphicsComponent _graphics;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GameObject(IInputComponent input,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IPhysicsComponent physics, IGraphicsComponent graphics)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_input = input; _physics = physics; _graphics = graphics;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Update는 3단계와 같은 순서로 세 컴포넌트를 부른다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GameObject CreatePlayer() =&gt; new GameObject(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PlayerInputComponent(),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PlayerPhysicsComponent(),</a:t>
            </a:r>
            <a:endParaRPr lang="ko-KR" altLang="en-US" sz="1200" dirty="0"/>
          </a:p>
          <a:p>
            <a:pPr indent="0" marL="0" eaLnBrk="0">
              <a:buNone/>
            </a:pPr>
            <a:r>
              <a:rPr lang="ko-KR" altLang="en-US" sz="12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PlayerGraphicsComponent());</a:t>
            </a:r>
            <a:endParaRPr lang="ko-KR" altLang="en-US" sz="1200" dirty="0"/>
          </a:p>
        </p:txBody>
      </p:sp>
      <p:sp>
        <p:nvSpPr>
          <p:cNvPr id="8" name="codeCaption"/>
          <p:cNvSpPr txBox="1"/>
          <p:nvPr/>
        </p:nvSpPr>
        <p:spPr>
          <a:xfrm>
            <a:off x="4389120" y="169164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원서 예제를 C#으로 옮긴 코드</a:t>
            </a:r>
            <a:endParaRPr lang="ko-KR" alt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863840" y="1600200"/>
            <a:ext cx="3779215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181965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주인공은 부품의 조합이다</a:t>
            </a:r>
            <a:endParaRPr lang="ko-KR" alt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377440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주인공은 이제 클래스가 아니라 PlayerInput + PlayerPhysics + PlayerGraphics 부품의 조합이다.</a:t>
            </a:r>
            <a:endParaRPr lang="ko-KR" alt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863840" y="3794760"/>
            <a:ext cx="3779215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4014216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700" b="1" dirty="0">
                <a:solidFill>
                  <a:schemeClr val="tx1"/>
                </a:solidFill>
              </a:rPr>
              <a:t>팩토리 메서드</a:t>
            </a:r>
            <a:endParaRPr lang="ko-KR" alt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4572000"/>
            <a:ext cx="3322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spcAft>
                <a:spcPts val="400"/>
              </a:spcAft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CreatePlayer처럼 어떤 부품으로 객체를 만들지 정해 주는 함수.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6부</a:t>
            </a:r>
            <a:endParaRPr lang="ko-KR" alt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 eaLnBrk="0">
              <a:buNone/>
            </a:pPr>
            <a:r>
              <a:rPr lang="ko-KR" altLang="en-US" sz="3600" b="1" dirty="0">
                <a:solidFill>
                  <a:schemeClr val="bg1"/>
                </a:solidFill>
              </a:rPr>
              <a:t>설계 결정</a:t>
            </a:r>
            <a:endParaRPr lang="ko-KR" alt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9476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>
              <a:buNone/>
            </a:pPr>
            <a:r>
              <a:rPr lang="ko-KR" altLang="en-US" sz="1800" dirty="0">
                <a:solidFill>
                  <a:schemeClr val="accent3"/>
                </a:solidFill>
              </a:rPr>
              <a:t>누가 조립하는가 · 컴포넌트끼리 어떻게 대화하는가</a:t>
            </a:r>
            <a:endParaRPr lang="ko-KR" alt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누가 조립하는가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컴포넌트를 객체가 직접 만들지, 바깥에서 넣어 줄지 정한다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조립된 컴포넌트끼리는 어떻게 정보를 주고받을까?</a:t>
            </a:r>
            <a:endParaRPr lang="ko-KR" alt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1"/>
                </a:solidFill>
              </a:rPr>
              <a:t>객체가 직접 만든다</a:t>
            </a:r>
            <a:endParaRPr lang="ko-KR" alt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3단계 Player: new InputComponent()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2"/>
                </a:solidFill>
              </a:rPr>
              <a:t>장점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필요한 부품을 항상 가지고 있고, 잘못 조립될 일이 없다.</a:t>
            </a:r>
            <a:endParaRPr lang="ko-KR" alt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06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6"/>
                </a:solidFill>
              </a:rPr>
              <a:t>단점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부품 조합이 클래스에 고정되어, 바꾸려면 그 클래스를 고쳐야 한다.</a:t>
            </a:r>
            <a:endParaRPr lang="ko-KR" alt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2"/>
                </a:solidFill>
              </a:rPr>
              <a:t>바깥에서 넣어 준다</a:t>
            </a:r>
            <a:endParaRPr lang="ko-KR" alt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accent5"/>
                </a:solidFill>
              </a:rPr>
              <a:t>5단계 GameObject + CreatePlayer</a:t>
            </a:r>
            <a:endParaRPr lang="ko-KR" alt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9718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2"/>
                </a:solidFill>
              </a:rPr>
              <a:t>장점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같은 GameObject로 여러 종류의 객체를 만든다. 인터페이스에만 의존한다.</a:t>
            </a:r>
            <a:endParaRPr lang="ko-KR" alt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206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6"/>
                </a:solidFill>
              </a:rPr>
              <a:t>단점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어떤 부품을 넣을지 정하는 조립 코드를 따로 관리해야 한다.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26</a:t>
            </a:fld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어떻게 대화하는가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컴포넌트끼리 정보를 주고받는 방법은 세 가지다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그렇다면 이 패턴은 언제 쓰고, 무엇을 조심해야 할까?</a:t>
            </a:r>
            <a:endParaRPr lang="ko-KR" alt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520440"/>
                <a:gridCol w="2240280"/>
                <a:gridCol w="2681935"/>
              </a:tblGrid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방법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예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장점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단점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컨테이너의 상태를 함께 쓴다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물리가 X, Y를 바꾸고 그림이 읽는다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컴포넌트끼리 서로를 모른다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일부만 쓰는 값도 컨테이너에 쌓이고, 호출 순서에 의존한다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서로를 직접 참조한다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그림이 물리의 IsOnGround()를 보고 점프 그림을 고른다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단순하고 빠르다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그 두 컴포넌트가 강하게 결합된다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메시지를 보낸다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충돌하면 ‘소리 재생’ 메시지를 그릇에 보내 모두에게 전달한다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가장 느슨하게 연결된다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구조가 가장 복잡하다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box"/>
          <p:cNvSpPr/>
          <p:nvPr/>
        </p:nvSpPr>
        <p:spPr>
          <a:xfrm>
            <a:off x="548640" y="4983480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983480"/>
            <a:ext cx="11094415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 eaLnBrk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원서의 결론: 섞어 쓴다. 위치처럼 모두가 쓰는 값은 공유 상태, 밀접한 짝은 직접 참조, 흘려보내는 알림은 메시지.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사용 시점과 주의점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여러 영역을 다루는 클래스가 커질 때 쓴다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Unity는 이 패턴을 엔진의 기본 구조로 쓰고 있다.</a:t>
            </a:r>
            <a:endParaRPr lang="ko-KR" alt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2"/>
                </a:solidFill>
              </a:rPr>
              <a:t>이럴 때 쓴다</a:t>
            </a:r>
            <a:endParaRPr lang="ko-KR" altLang="en-US" sz="2000" dirty="0"/>
          </a:p>
        </p:txBody>
      </p:sp>
      <p:sp>
        <p:nvSpPr>
          <p:cNvPr id="7" name="card"/>
          <p:cNvSpPr/>
          <p:nvPr/>
        </p:nvSpPr>
        <p:spPr>
          <a:xfrm>
            <a:off x="548640" y="224028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4414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48640" y="342900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630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461772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4818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3774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한 클래스가 여러 영역을 다루는데, 그 영역들을 서로 떼어 놓고 싶다.</a:t>
            </a:r>
            <a:endParaRPr lang="ko-KR" alt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5661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클래스가 너무 커져서 다루기 어렵다.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47548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여러 기능을 섞어 가진 객체가 필요한데, 상속으로는 원하는 만큼 재사용할 수 없다.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2000" b="1" dirty="0">
                <a:solidFill>
                  <a:schemeClr val="accent6"/>
                </a:solidFill>
              </a:rPr>
              <a:t>이것을 조심한다</a:t>
            </a:r>
            <a:endParaRPr lang="ko-KR" altLang="en-US" sz="2000" dirty="0"/>
          </a:p>
        </p:txBody>
      </p:sp>
      <p:sp>
        <p:nvSpPr>
          <p:cNvPr id="20" name="card"/>
          <p:cNvSpPr/>
          <p:nvPr/>
        </p:nvSpPr>
        <p:spPr>
          <a:xfrm>
            <a:off x="6263640" y="224028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24414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1</a:t>
            </a:r>
            <a:endParaRPr lang="ko-KR" alt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6263640" y="342900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3630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</a:t>
            </a:r>
            <a:endParaRPr lang="ko-KR" alt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6263640" y="4617720"/>
            <a:ext cx="5349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92240" y="4818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4818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3</a:t>
            </a:r>
            <a:endParaRPr lang="ko-KR" alt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086600" y="237744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객체 하나가 여러 객체의 묶음이 되어 만들고 연결하는 일이 복잡해진다.</a:t>
            </a:r>
            <a:endParaRPr lang="ko-KR" alt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35661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컴포넌트를 찾아가는 간접 참조가 늘어 성능에 민감한 반복문에서는 부담이 된다.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47548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400" dirty="0">
                <a:solidFill>
                  <a:schemeClr val="tx2"/>
                </a:solidFill>
              </a:rPr>
              <a:t>작은 프로젝트에서는 과한 설계일 수 있다.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28</a:t>
            </a:fld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Unity의 컴포넌트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Unity의 GameObject와 컴포넌트가 바로 이 구조다</a:t>
            </a:r>
            <a:endParaRPr lang="ko-KR" altLang="en-US" sz="2600" dirty="0"/>
          </a:p>
        </p:txBody>
      </p:sp>
      <p:sp>
        <p:nvSpPr>
          <p:cNvPr id="4" name="bridge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질문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마지막으로 오늘 내용을 질문으로 확인해 보자.</a:t>
            </a:r>
            <a:endParaRPr lang="ko-KR" alt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</a:tblGrid>
              <a:tr h="512064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원서의 개념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Unity에서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컨테이너(그릇)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GameObject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컴포넌트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Transform, SpriteRenderer, Collider, 직접 만든 MonoBehaviour 스크립트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바깥에서 조립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Inspector의 Add Component, 프리팹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공유 상태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모든 컴포넌트가 함께 쓰는 Transform의 위치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직접 참조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GetComponent&lt;T&gt;()로 같은 GameObject의 다른 컴포넌트를 찾는다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메시지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400" dirty="0">
                          <a:solidFill>
                            <a:schemeClr val="tx2"/>
                          </a:solidFill>
                        </a:rPr>
                        <a:t>SendMessage, C# 이벤트</a:t>
                      </a:r>
                      <a:endParaRPr lang="ko-KR" alt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412480" y="1691640"/>
            <a:ext cx="3230575" cy="3611880"/>
          </a:xfrm>
          <a:prstGeom prst="roundRect">
            <a:avLst>
              <a:gd name="adj" fmla="val 283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95360" y="1828800"/>
            <a:ext cx="2864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tx1"/>
                </a:solidFill>
              </a:rPr>
              <a:t>Player (GameObject)</a:t>
            </a:r>
            <a:endParaRPr lang="ko-KR" alt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595360" y="2331720"/>
            <a:ext cx="2864815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732520" y="233172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Transform</a:t>
            </a:r>
            <a:endParaRPr lang="ko-KR" alt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595360" y="3017520"/>
            <a:ext cx="2864815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32520" y="301752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SpriteRenderer</a:t>
            </a:r>
            <a:endParaRPr lang="ko-KR" alt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595360" y="3703320"/>
            <a:ext cx="2864815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732520" y="370332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BoxCollider2D</a:t>
            </a:r>
            <a:endParaRPr lang="ko-KR" alt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595360" y="4389120"/>
            <a:ext cx="2864815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732520" y="4389120"/>
            <a:ext cx="2590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PlayerMovement (스크립트)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29</a:t>
            </a:fld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329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확인 질문</a:t>
            </a:r>
            <a:endParaRPr lang="ko-KR" alt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0">
              <a:buNone/>
            </a:pPr>
            <a:r>
              <a:rPr lang="ko-KR" altLang="en-US" sz="2600" b="1" dirty="0">
                <a:solidFill>
                  <a:schemeClr val="tx1"/>
                </a:solidFill>
              </a:rPr>
              <a:t>질문으로 다시 정리한다</a:t>
            </a:r>
            <a:endParaRPr lang="ko-KR" alt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6655"/>
              </a:tblGrid>
              <a:tr h="457200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질문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답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좋은 구조를 판단하는 원서의 기준은?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바꿀 때 이해해야 할 코드가 적은가.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소품을 상속으로 만들기 어려운 이유는?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물리와 그림 두 부모가 필요하지만 C#은 클래스 다중 상속을 허용하지 않는다.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얇아진 Player가 그림을 물리보다 먼저 부르면?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이번 프레임에 이동하기 전의 위치를 그린다.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데모 모드를 만들 때 바뀌는 코드는?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입력 컴포넌트뿐이다. 물리와 그림은 그대로다.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Transform 위치를 여러 컴포넌트가 읽는 것은 어떤 대화 방법인가?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 eaLnBrk="0">
                        <a:buNone/>
                      </a:pPr>
                      <a:r>
                        <a:rPr lang="ko-KR" altLang="en-US" sz="1500" dirty="0">
                          <a:solidFill>
                            <a:schemeClr val="tx2"/>
                          </a:solidFill>
                        </a:rPr>
                        <a:t>컨테이너의 상태를 함께 쓰는 방법이다.</a:t>
                      </a:r>
                      <a:endParaRPr lang="ko-KR" altLang="en-US" sz="15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다음 강의  </a:t>
            </a:r>
            <a:pPr indent="0" marL="0" eaLnBrk="0">
              <a:buNone/>
            </a:pPr>
            <a:r>
              <a:rPr lang="ko-KR" altLang="en-US" sz="1500" dirty="0">
                <a:solidFill>
                  <a:schemeClr val="tx2"/>
                </a:solidFill>
              </a:rPr>
              <a:t>명령(Command) 패턴: 요청을 객체로 만들어 보관하고 되돌린다.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 eaLnBrk="0">
              <a:defRPr sz="1000">
                <a:solidFill>
                  <a:schemeClr val="accent3"/>
                </a:solidFill>
              </a:defRPr>
            </a:lvl1pPr>
          </a:lstStyle>
          <a:p>
            <a:pPr algn="r" eaLnBrk="0"/>
            <a:fld id="{F7021451-1387-4CA6-816F-3879F97B5CBC}" type="slidenum">
              <a:rPr b="0" lang="ko-KR" altLang="en-US"/>
              <a:t>30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terns Lecture">
  <a:themeElements>
    <a:clrScheme name="Patterns Lecture">
      <a:dk1>
        <a:srgbClr val="1F2430"/>
      </a:dk1>
      <a:lt1>
        <a:srgbClr val="FFFFFF"/>
      </a:lt1>
      <a:dk2>
        <a:srgbClr val="2B2D42"/>
      </a:dk2>
      <a:lt2>
        <a:srgbClr val="F1F3F6"/>
      </a:lt2>
      <a:accent1>
        <a:srgbClr val="E07A3F"/>
      </a:accent1>
      <a:accent2>
        <a:srgbClr val="2A9D8F"/>
      </a:accent2>
      <a:accent3>
        <a:srgbClr val="8D99AE"/>
      </a:accent3>
      <a:accent4>
        <a:srgbClr val="E9C46A"/>
      </a:accent4>
      <a:accent5>
        <a:srgbClr val="5C6577"/>
      </a:accent5>
      <a:accent6>
        <a:srgbClr val="C44536"/>
      </a:accent6>
      <a:hlink>
        <a:srgbClr val="2A9D8F"/>
      </a:hlink>
      <a:folHlink>
        <a:srgbClr val="5C6577"/>
      </a:folHlink>
    </a:clrScheme>
    <a:fontScheme name="Patterns Lectu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1강 객체지향과 컴포넌트 패턴</dc:title>
  <dc:subject>PptxGenJS Presentation</dc:subject>
  <dc:creator>Mini Tactics 패턴 수업</dc:creator>
  <cp:lastModifiedBy>Mini Tactics 패턴 수업</cp:lastModifiedBy>
  <cp:revision>1</cp:revision>
  <dcterms:created xsi:type="dcterms:W3CDTF">2026-10-27T07:26:14Z</dcterms:created>
  <dcterms:modified xsi:type="dcterms:W3CDTF">2026-10-27T07:26:14Z</dcterms:modified>
</cp:coreProperties>
</file>