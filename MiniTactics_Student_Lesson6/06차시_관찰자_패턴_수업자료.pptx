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시작" id="{eb538d17-4af7-1559-0935-2af795b80b98}">
          <p14:sldIdLst>
            <p14:sldId id="256"/>
            <p14:sldId id="257"/>
            <p14:sldId id="258"/>
          </p14:sldIdLst>
        </p14:section>
        <p14:section name="1 · 업적과 물리 코드" id="{09d9a6f3-adcf-e176-5300-f92fe7eb3fb8}">
          <p14:sldIdLst>
            <p14:sldId id="259"/>
            <p14:sldId id="260"/>
            <p14:sldId id="261"/>
            <p14:sldId id="262"/>
          </p14:sldIdLst>
        </p14:section>
        <p14:section name="2 · 관찰자와 대상" id="{af6b4cd8-6c43-a5c6-8263-98ccef538134}">
          <p14:sldIdLst>
            <p14:sldId id="263"/>
            <p14:sldId id="264"/>
            <p14:sldId id="265"/>
            <p14:sldId id="266"/>
            <p14:sldId id="267"/>
            <p14:sldId id="268"/>
          </p14:sldIdLst>
        </p14:section>
        <p14:section name="3 · 속도와 메모리" id="{325c66b6-52b0-e071-262c-8eb37361a251}">
          <p14:sldIdLst>
            <p14:sldId id="269"/>
            <p14:sldId id="270"/>
            <p14:sldId id="271"/>
            <p14:sldId id="272"/>
            <p14:sldId id="273"/>
            <p14:sldId id="274"/>
            <p14:sldId id="275"/>
          </p14:sldIdLst>
        </p14:section>
        <p14:section name="4 · 남은 문제" id="{e45692d6-da94-434f-2d11-1ff74552d381}">
          <p14:sldIdLst>
            <p14:sldId id="276"/>
            <p14:sldId id="277"/>
            <p14:sldId id="278"/>
            <p14:sldId id="279"/>
          </p14:sldIdLst>
        </p14:section>
        <p14:section name="5 · 오늘의 관찰자" id="{0eb7788f-4872-7195-de22-0e5428b30c23}">
          <p14:sldIdLst>
            <p14:sldId id="280"/>
            <p14:sldId id="281"/>
            <p14:sldId id="282"/>
            <p14:sldId id="283"/>
            <p14:sldId id="284"/>
            <p14:sldId id="285"/>
            <p14:sldId id="286"/>
          </p14:sldIdLst>
        </p14:section>
        <p14:section name="정리" id="{8cfddc7c-d32c-2c64-44c2-2316681476fe}">
          <p14:sldIdLst>
            <p14:sldId id="28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오늘은 원서 「관찰자」 장의 순서를 따라갑니다. 업적 시스템이라는 구체적인 문제에서 출발해 관찰자와 대상의 구조를 만들고, 성능에 대한 오해와 메모리 할당, 객체가 사라질 때의 문제를 차례로 살펴봅니다. 마지막에는 같은 구조를 C#의 event로 다시 씁니다.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원서의 관찰자 장은 업적 시스템 하나로 끝까지 설명합니다. 첫 시도와 그 한계를 보고, 관찰자와 대상을 만들고, 이 패턴을 두고 흔히 하는 걱정 두 가지를 검토합니다. 그다음 객체가 사라질 때 생기는 문제를 보고, 마지막으로 C#의 event로 같은 구조를 씁니다.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관찰자 패턴에는 두 역할이 있습니다. 무슨 일이 일어났다고 알리는 쪽을 대상(Subject), 그 알림을 받는 쪽을 관찰자(Observer)라고 부릅니다. 대상은 관찰자가 누구인지, 몇이나 되는지 모릅니다. GoF는 이것을 일대다 의존 관계로 정의합니다. C#의 event 키워드도 이 패턴을 언어에 넣은 것입니다.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3</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많은 게임에는 업적이 있습니다. 업적은 게임의 온갖 곳에서 일어난 일로 달성됩니다. 이것을 깔끔하게 만들기가 의외로 어렵습니다.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4</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업적은 ‘원숭이 악마 100마리 처치’, ‘다리에서 떨어지기’, ‘죽은 족제비만 들고 레벨 깨기’처럼 게임의 서로 다른 곳에서 일어난 일로 달성됩니다. 다리에서 떨어지는 일은 물리 엔진이 계산합니다. 그래서 가장 쉬운 방법은 물리 엔진이 떨어짐을 계산하는 곳에서 바로 업적을 달성시키는 것입니다. 이 코드는 원서가 말로 설명한 첫 시도를 코드로 옮긴 것입니다.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5</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물리 엔진은 선형대수와 충돌을 계산하는 코드입니다. 그 한가운데에 업적 호출이 들어오면 물리 엔진은 업적 시스템 없이는 컴파일조차 되지 않습니다. 업적을 고칠 때마다 물리 코드를 열어야 하고, 업적이 늘어날수록 전투, 인벤토리 같은 다른 코드에도 업적 호출이 퍼집니다.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6</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원서의 해결은 물리 코드가 업적을 직접 달성시키지 않고, 무슨 일이 일어났는지만 알리는 것입니다. 바닥에 있던 개체가 이번 프레임에 바닥을 벗어났다면 떨어지기 시작했다고 알립니다. 업적 시스템은 이 알림을 받도록 스스로 등록하고, 주인공이 다리 위에 있었는지는 업적 시스템이 판단합니다.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7</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알림을 받는 쪽을 관찰자, 알리는 쪽을 대상이라고 부릅니다. 두 역할을 차례로 코드로 만듭니다.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8</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관찰자 인터페이스에는 알림을 받는 OnNotify 메서드 하나만 있습니다. 매개변수는 무엇을 알릴지에 따라 정하면 됩니다. 원서는 어떤 개체에게 어떤 일이 일어났는지를 넘깁니다. 원서는 C++이라 순수 가상 함수를 가진 클래스이지만, C#에서는 인터페이스로 옮깁니다.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9</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업적 시스템은 IObserver를 구현합니다. 떨어짐 알림을 받으면 그 개체가 주인공인지, 주인공이 다리 위에 있었는지 확인하고 업적을 달성시킵니다. 주인공이 다리 위에 있는지는 다른 알림을 받아 업적 시스템이 스스로 갱신합니다. 업적 판정에 필요한 상태가 모두 업적 시스템 안으로 들어왔습니다.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10</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대상은 자신을 관찰하는 객체의 목록을 가집니다. 원서는 설명을 위해 고정 크기 배열을 쓰지만 실제로는 크기가 늘어나는 컬렉션을 쓴다고 말하므로 List로 옮깁니다. AddObserver와 RemoveObserver는 public이라 누가 들을지는 바깥 코드가 정합니다. Notify는 protected이고 목록을 차례로 돌며 OnNotify를 부릅니다. 원서는 알림 도중에 관찰자가 목록을 고치지 않는다고 가정합니다.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11</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물리 엔진이 Subject를 상속하면 protected인 Notify를 쓸 수 있고, 바깥에서는 알림을 보낼 수 없습니다. 원서는 상속 대신 합성을 더 권하기도 합니다. 물리 엔진 안에 ‘떨어짐’ 전용 대상 객체를 두고 관찰자가 그 객체에 등록하는 방식입니다. 원서는 이 차이를 이렇게 정리합니다. 관찰자 방식은 일을 한 객체를 관찰하고, 이벤트 방식은 일어난 일 자체를 나타내는 객체를 관찰합니다.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12</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업적 시스템과 오디오 시스템이 물리 엔진에 등록되어 있다고 합시다. 다리 위의 주인공이 떨어지기 시작하면 물리 엔진은 Notify 한 번을 부르고, 목록의 순서대로 두 관찰자의 OnNotify가 불립니다. 오디오 시스템을 제거하면 다음 알림부터는 업적 시스템만 받습니다. 물리 엔진의 코드는 한 줄도 바뀌지 않았습니다.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13</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관찰자 패턴을 두고 게임 프로그래머들이 자주 하는 걱정 두 가지를 검토합니다.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14</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관찰자 패턴이 느리다는 평은 대부분 이벤트, 메시지, 데이터 바인딩처럼 큐와 할당을 쓰는 무거운 시스템과 섞여서 생긴 오해입니다. 알림은 목록을 돌며 인터페이스 메서드를 부르는 일입니다. 오히려 주의할 점은 알림이 동기 호출이라는 것입니다. 모든 관찰자의 OnNotify가 끝나야 대상의 다음 줄이 실행되므로, 느린 관찰자는 대상도 멈춥니다. 원서는 이것을 ‘오히려 너무 빠르다’고 표현합니다.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15</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가비지 컬렉터가 있는 언어에서도 할당은 공짜가 아닙니다. 수거할 때 게임이 잠깐 멈출 수 있고, 오래 도는 게임에서는 메모리 조각화도 문제가 됩니다. 하지만 관찰자 패턴에서 할당이 일어나는 때는 목록이 커져야 하는 등록 때뿐입니다. 알림은 목록을 돌며 메서드를 부를 뿐이라 할당이 없습니다. 원서는 그래도 할당을 아예 없애고 싶다면 쓸 수 있는 방법을 이어서 보여 줍니다.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16</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원서의 방법은 대상이 따로 배열을 갖지 않고, 관찰자마다 다음 관찰자를 가리키는 필드를 두는 것입니다. 대상은 첫 관찰자만 기억합니다. C# 인터페이스는 필드를 가질 수 없으므로 관찰자를 추상 클래스로 바꿉니다. 원서의 friend 선언은 C#에 없으므로 같은 어셈블리에서만 보이는 internal로 옮깁니다. 등록은 맨 앞에 끼워 넣으므로 알림 순서는 등록의 역순이 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17</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제거는 두 경우로 나뉩니다. 빼낼 관찰자가 맨 앞이면 _head를 다음 관찰자로 옮깁니다. 그렇지 않으면 목록을 따라가다 Next가 빼낼 관찰자를 가리키는 관찰자를 찾아, 그 Next를 하나 건너뛰게 바꿉니다. 빼낸 관찰자의 Next는 비워 둡니다. 단일 연결 리스트라 제거는 목록 길이에 비례하는 시간이 걸리고, 이중 연결 리스트로 바꾸면 일정한 시간에 끝납니다.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18</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Notify는 _head에서 시작해 Next를 따라가며 모든 관찰자의 OnNotify를 부릅니다. 배열도 할당도 없습니다. 맨 앞에 끼워 넣었으므로 나중에 등록한 관찰자가 먼저 알림을 받습니다. 관찰자들이 서로 독립적이라면 순서는 상관없어야 합니다. 원서는 OnNotify가 멈추라는 값을 돌려주게 하면 책임 연쇄 패턴에 가까워진다고 덧붙입니다.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19</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관찰자 안에 Next를 두는 방식은 할당이 없지만, Next가 하나뿐이라 관찰자는 대상 하나에만 등록할 수 있습니다. 원서는 이를 풀기 위해 관찰자 참조와 다음 노드 참조를 가진 작은 노드 객체를 따로 둡니다. 노드는 객체 풀에서 미리 만들어 두고 꺼내 씁니다. 관찰자 안에 연결을 넣는 방식을 침투형 목록이라고 부르며, 덜 유연하지만 더 효율적입니다.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20</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속도와 메모리는 생각보다 큰 문제가 아니었습니다. 원서가 진짜 문제로 꼽는 것은 객체가 사라질 때와, 코드를 읽기 어려워지는 점입니다.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21</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관찰자를 없앴는데 대상의 목록에 그대로 남아 있으면, 대상은 없어진 객체에 계속 알림을 보냅니다. 반대로 대상을 없애면 관찰자는 오지 않을 알림을 계속 기다립니다. GoF 책은 이 문제를 다루지 않습니다. 원서는 세 방법을 소개합니다. 가장 쉬운 것은 관찰자가 사라질 때 스스로 해제하는 것입니다. 원서의 C++ 소멸자를 C#에서는 Dispose 메서드로 옮겼습니다.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22</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가비지 컬렉터는 아무도 참조하지 않는 객체만 치웁니다. 대상의 목록이 관찰자를 참조하고 있으면 그 관찰자는 살아 있습니다. 원서의 예는 캐릭터의 체력 같은 정보를 보여 주는 상태 화면입니다. 화면을 닫을 때 해제하지 않으면, 보이지 않는 화면이 메모리에 남아 알림을 받고 계속 갱신됩니다. 다시 열 때마다 하나씩 늘어납니다. 이것을 사라진 리스너 문제(lapsed listener problem)라고 부릅니다.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23</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직접 호출은 IDE에서 정의로 이동하면 받는 쪽을 바로 찾을 수 있습니다. 하지만 Notify가 누구에게 가는지는 코드에 적혀 있지 않습니다. 실행 중에 누가 등록했는지에 달려 있습니다. 원서의 기준은 이렇습니다. 어떤 통신을 이해하려고 양쪽을 함께 따져 봐야 한다면 더 명시적인 연결을 쓰라는 것입니다. 관찰자는 물리와 업적처럼 서로 관계없는 코드 덩어리 사이에 쓰고, 한 기능 안에서는 직접 호출을 씁니다.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24</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GoF 책은 클래스 중심의 객체지향이 한창이던 1994년에 나왔습니다. 오늘날에는 같은 생각을 더 가벼운 방법으로 씁니다.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25</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인터페이스 방식에서는 관찰자 클래스가 OnNotify를 하나만 가집니다. 그래서 여러 대상을 관찰하면 어느 대상의 알림인지 switch로 가려야 하고, 대상이 자신을 매개변수로 넘기기도 합니다. 원서는 요즘 관찰자는 대부분 메서드나 함수에 대한 참조라고 말합니다. C#의 event와 델리게이트가 그 예입니다. 원서는 더 나아가 값이 바뀌면 화면이 저절로 갱신되는 데이터 바인딩을 내일의 관찰자로 소개합니다.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26</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왼쪽은 대상인 물리 엔진입니다. Subject 클래스와 관찰자 목록 대신 EntityFell 이벤트 하나를 선언하고, 떨어지기 시작하면 Invoke로 알립니다. 등록한 메서드가 하나도 없으면 이벤트는 null이므로 ?.를 씁니다. 오른쪽은 관찰자인 업적 시스템입니다. 생성자에서 += 로 메서드를 등록하고, Dispose에서 -= 로 해제합니다. 4부의 해제 규칙이 그대로 남아 있습니다.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27</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C#의 event는 관찰자 패턴을 언어에 넣은 것입니다. 관찰자 목록은 이벤트 필드가 담은 델리게이트의 호출 목록이 맡습니다. += 와 -= 가 등록과 해제이고, Invoke가 알림입니다. event 키워드가 붙으면 바깥에서는 += 와 -= 만 쓸 수 있고, Invoke는 선언한 클래스만 할 수 있습니다. protected Notify와 같은 보호입니다. 델리게이트가 관찰자 객체를 참조하므로 사라진 리스너 문제는 그대로 남습니다.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28</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관찰자는 알리는 쪽이 듣는 쪽을 몰라야 할 때 씁니다. 물리와 업적처럼 서로 관계없는 코드 덩어리 사이가 대표적입니다. 반대로 알림은 동기 호출이라 느린 관찰자가 대상을 멈추고, 해제를 잊으면 사라진 리스너가 남고, 흐름이 실행 중에 정해져 코드만 읽어서는 추적하기 어렵습니다.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29</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원서 본문에 나온 관련 패턴입니다. 이벤트 큐는 10강, 객체 풀은 12강에서 배웁니다. 이벤트 큐는 알림을 바로 부르지 않고 줄에 넣어 두었다가 나중에 처리하므로, 관찰자의 동기 호출 문제를 피할 수 있습니다. 모델-뷰-컨트롤러 구조는 관찰자 패턴 위에 세워져 있습니다.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30</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C#의 event와 Action은 함수 참조 관찰자입니다. UnityEvent는 Inspector에서 관찰자를 등록할 수 있는 이벤트이고, 버튼의 onClick이 대표적입니다. 등록과 해제는 보통 OnEnable과 OnDisable에서 짝지어 합니다. Destroy한 컴포넌트에 알림이 가서 그 컴포넌트를 쓰면 MissingReferenceException이 납니다. SceneManager.sceneLoaded 같은 정적 이벤트는 장면이 바뀌어도 사라지지 않으므로 해제를 잊으면 사라진 리스너가 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31</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답을 가리고 먼저 학생에게 물어본 뒤 확인합니다. 다음 강의는 타입 객체(Type Object) 패턴입니다.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32</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1094415" cy="1737360"/>
          </a:xfrm>
          <a:prstGeom prst="rect">
            <a:avLst/>
          </a:prstGeom>
          <a:noFill/>
          <a:ln/>
        </p:spPr>
        <p:txBody>
          <a:bodyPr wrap="square" rtlCol="0"/>
          <a:lstStyle>
            <a:lvl1pPr algn="l" indent="0" marL="0" eaLnBrk="0">
              <a:buNone/>
              <a:defRPr lang="ko-KR" altLang="en-US" sz="4000" b="1" dirty="0">
                <a:solidFill>
                  <a:schemeClr val="bg1"/>
                </a:solidFill>
              </a:defRPr>
            </a:lvl1pPr>
          </a:lstStyle>
          <a:p>
            <a:pPr algn="l" indent="0" marL="0" eaLnBrk="0">
              <a:buNone/>
            </a:pPr>
            <a:endParaRPr lang="ko-KR" altLang="en-US" sz="4000" dirty="0"/>
          </a:p>
        </p:txBody>
      </p:sp>
      <p:sp>
        <p:nvSpPr>
          <p:cNvPr id="3" name="Text 0"/>
          <p:cNvSpPr/>
          <p:nvPr>
            <p:ph idx="101" type="body" hasCustomPrompt="1"/>
          </p:nvPr>
        </p:nvSpPr>
        <p:spPr>
          <a:xfrm>
            <a:off x="548640" y="3931920"/>
            <a:ext cx="11094415" cy="1280160"/>
          </a:xfrm>
          <a:prstGeom prst="rect">
            <a:avLst/>
          </a:prstGeom>
          <a:noFill/>
          <a:ln/>
        </p:spPr>
        <p:txBody>
          <a:bodyPr wrap="square" rtlCol="0"/>
          <a:lstStyle>
            <a:lvl1pPr indent="0" marL="0" eaLnBrk="0">
              <a:buNone/>
              <a:defRPr lang="ko-KR" altLang="en-US" sz="1800" dirty="0">
                <a:solidFill>
                  <a:schemeClr val="accent3"/>
                </a:solidFill>
              </a:defRPr>
            </a:lvl1pPr>
          </a:lstStyle>
          <a:p>
            <a:pPr indent="0" marL="0" eaLnBrk="0">
              <a:buNone/>
            </a:pPr>
            <a:endParaRPr lang="ko-KR" alt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651760"/>
            <a:ext cx="11094415" cy="1097280"/>
          </a:xfrm>
          <a:prstGeom prst="rect">
            <a:avLst/>
          </a:prstGeom>
          <a:noFill/>
          <a:ln/>
        </p:spPr>
        <p:txBody>
          <a:bodyPr wrap="square" rtlCol="0"/>
          <a:lstStyle>
            <a:lvl1pPr algn="l" indent="0" marL="0" eaLnBrk="0">
              <a:buNone/>
              <a:defRPr lang="ko-KR" altLang="en-US" sz="3600" b="1" dirty="0">
                <a:solidFill>
                  <a:schemeClr val="bg1"/>
                </a:solidFill>
              </a:defRPr>
            </a:lvl1pPr>
          </a:lstStyle>
          <a:p>
            <a:pPr algn="l" indent="0" marL="0" eaLnBrk="0">
              <a:buNone/>
            </a:pPr>
            <a:endParaRPr lang="ko-KR" altLang="en-US" sz="3600" dirty="0"/>
          </a:p>
        </p:txBody>
      </p:sp>
      <p:sp>
        <p:nvSpPr>
          <p:cNvPr id="3" name="Text 0"/>
          <p:cNvSpPr/>
          <p:nvPr>
            <p:ph idx="101" type="body" hasCustomPrompt="1"/>
          </p:nvPr>
        </p:nvSpPr>
        <p:spPr>
          <a:xfrm>
            <a:off x="548640" y="3794760"/>
            <a:ext cx="11094415" cy="731520"/>
          </a:xfrm>
          <a:prstGeom prst="rect">
            <a:avLst/>
          </a:prstGeom>
          <a:noFill/>
          <a:ln/>
        </p:spPr>
        <p:txBody>
          <a:bodyPr wrap="square" rtlCol="0"/>
          <a:lstStyle>
            <a:lvl1pPr indent="0" marL="0" eaLnBrk="0">
              <a:buNone/>
              <a:defRPr lang="ko-KR" altLang="en-US" sz="1800" dirty="0">
                <a:solidFill>
                  <a:schemeClr val="accent3"/>
                </a:solidFill>
              </a:defRPr>
            </a:lvl1pPr>
          </a:lstStyle>
          <a:p>
            <a:pPr indent="0" marL="0" eaLnBrk="0">
              <a:buNone/>
            </a:pPr>
            <a:endParaRPr lang="ko-KR" alt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1003</a:t>
            </a:fld>
            <a:endParaRPr lang="ko-KR"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1094415" cy="731520"/>
          </a:xfrm>
          <a:prstGeom prst="rect">
            <a:avLst/>
          </a:prstGeom>
          <a:noFill/>
          <a:ln/>
        </p:spPr>
        <p:txBody>
          <a:bodyPr wrap="square" rtlCol="0"/>
          <a:lstStyle>
            <a:lvl1pPr algn="l" indent="0" marL="0" eaLnBrk="0">
              <a:buNone/>
              <a:defRPr lang="ko-KR" altLang="en-US" sz="2600" b="1" dirty="0">
                <a:solidFill>
                  <a:schemeClr val="tx1"/>
                </a:solidFill>
              </a:defRPr>
            </a:lvl1pPr>
          </a:lstStyle>
          <a:p>
            <a:pPr algn="l" indent="0" marL="0" eaLnBrk="0">
              <a:buNone/>
            </a:pPr>
            <a:endParaRPr lang="ko-KR" altLang="en-US" sz="26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eaLnBrk="0">
              <a:buNone/>
            </a:pPr>
            <a:r>
              <a:rPr lang="ko-KR" altLang="en-US" sz="1000" dirty="0">
                <a:solidFill>
                  <a:schemeClr val="accent3"/>
                </a:solidFill>
              </a:rPr>
              <a:t>6강 · 관찰자(Observer) 패턴</a:t>
            </a:r>
            <a:endParaRPr lang="ko-KR" altLang="en-US" sz="10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1004</a:t>
            </a:fld>
            <a:endParaRPr lang="ko-KR" alt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null</a:t>
            </a:fld>
            <a:endParaRPr lang="ko-KR"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eaLnBrk="0">
        <a:defRPr lang="ko-KR" alt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1094415" cy="1737360"/>
          </a:xfrm>
          <a:prstGeom prst="rect">
            <a:avLst/>
          </a:prstGeom>
          <a:noFill/>
          <a:ln/>
        </p:spPr>
        <p:txBody>
          <a:bodyPr wrap="square" rtlCol="0" anchor="b"/>
          <a:lstStyle/>
          <a:p>
            <a:pPr algn="l" indent="0" marL="0" eaLnBrk="0">
              <a:buNone/>
            </a:pPr>
            <a:r>
              <a:rPr lang="ko-KR" altLang="en-US" sz="4000" b="1" dirty="0">
                <a:solidFill>
                  <a:schemeClr val="bg1"/>
                </a:solidFill>
              </a:rPr>
              <a:t>6강 · 관찰자(Observer) 패턴</a:t>
            </a:r>
            <a:endParaRPr lang="ko-KR" altLang="en-US" sz="4000" dirty="0"/>
          </a:p>
        </p:txBody>
      </p:sp>
      <p:sp>
        <p:nvSpPr>
          <p:cNvPr id="3" name="Text 0"/>
          <p:cNvSpPr/>
          <p:nvPr>
            <p:ph idx="101" type="body" hasCustomPrompt="1"/>
          </p:nvPr>
        </p:nvSpPr>
        <p:spPr>
          <a:xfrm>
            <a:off x="548640" y="3931920"/>
            <a:ext cx="11094415" cy="1280160"/>
          </a:xfrm>
          <a:prstGeom prst="rect">
            <a:avLst/>
          </a:prstGeom>
          <a:noFill/>
          <a:ln/>
        </p:spPr>
        <p:txBody>
          <a:bodyPr wrap="square" rtlCol="0" anchor="t"/>
          <a:lstStyle/>
          <a:p>
            <a:pPr indent="0" marL="0" eaLnBrk="0">
              <a:buNone/>
            </a:pPr>
            <a:r>
              <a:rPr lang="ko-KR" altLang="en-US" sz="1800" dirty="0">
                <a:solidFill>
                  <a:schemeClr val="accent3"/>
                </a:solidFill>
              </a:rPr>
              <a:t>일어난 일을 알리기만 하고</a:t>
            </a:r>
            <a:endParaRPr lang="ko-KR" altLang="en-US" sz="1800" dirty="0"/>
          </a:p>
          <a:p>
            <a:pPr indent="0" marL="0" eaLnBrk="0">
              <a:buNone/>
            </a:pPr>
            <a:r>
              <a:rPr lang="ko-KR" altLang="en-US" sz="1800" dirty="0">
                <a:solidFill>
                  <a:schemeClr val="accent3"/>
                </a:solidFill>
              </a:rPr>
              <a:t>누가 듣는지는 모르는 코드</a:t>
            </a:r>
            <a:endParaRPr lang="ko-KR" altLang="en-US" sz="1800" dirty="0"/>
          </a:p>
          <a:p>
            <a:pPr indent="0" marL="0" eaLnBrk="0">
              <a:buNone/>
            </a:pPr>
            <a:endParaRPr lang="ko-KR" altLang="en-US" sz="1800" dirty="0"/>
          </a:p>
          <a:p>
            <a:pPr indent="0" marL="0" eaLnBrk="0">
              <a:buNone/>
            </a:pPr>
            <a:r>
              <a:rPr lang="ko-KR" altLang="en-US" sz="1800" dirty="0">
                <a:solidFill>
                  <a:schemeClr val="accent3"/>
                </a:solidFill>
              </a:rPr>
              <a:t>교재: 로버트 나이스트롬, 『게임 프로그래밍 패턴』</a:t>
            </a:r>
            <a:endParaRPr lang="ko-KR" altLang="en-US" sz="1800" dirty="0"/>
          </a:p>
          <a:p>
            <a:pPr indent="0" marL="0" eaLnBrk="0">
              <a:buNone/>
            </a:pPr>
            <a:r>
              <a:rPr lang="ko-KR" altLang="en-US" sz="1800" dirty="0">
                <a:solidFill>
                  <a:schemeClr val="accent3"/>
                </a:solidFill>
              </a:rPr>
              <a:t>「관찰자」 장</a:t>
            </a:r>
            <a:endParaRPr lang="ko-KR" alt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오늘의 길</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물리 코드에 박힌 업적 호출이 알림으로 바뀌기까지</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먼저, 관찰자 패턴은 한 문장으로 무엇일까?</a:t>
            </a:r>
            <a:endParaRPr lang="ko-KR" altLang="en-US" sz="1500" dirty="0"/>
          </a:p>
        </p:txBody>
      </p:sp>
      <p:sp>
        <p:nvSpPr>
          <p:cNvPr id="6" name="card"/>
          <p:cNvSpPr/>
          <p:nvPr/>
        </p:nvSpPr>
        <p:spPr>
          <a:xfrm>
            <a:off x="548640" y="1828800"/>
            <a:ext cx="2057400" cy="2103120"/>
          </a:xfrm>
          <a:prstGeom prst="roundRect">
            <a:avLst>
              <a:gd name="adj" fmla="val 4444"/>
            </a:avLst>
          </a:prstGeom>
          <a:solidFill>
            <a:schemeClr val="bg2"/>
          </a:solidFill>
          <a:ln w="12700">
            <a:solidFill>
              <a:schemeClr val="bg2"/>
            </a:solidFill>
            <a:prstDash val="solid"/>
          </a:ln>
        </p:spPr>
      </p:sp>
      <p:sp>
        <p:nvSpPr>
          <p:cNvPr id="7" name="Shape 4"/>
          <p:cNvSpPr/>
          <p:nvPr/>
        </p:nvSpPr>
        <p:spPr>
          <a:xfrm>
            <a:off x="777240" y="2029968"/>
            <a:ext cx="420624" cy="420624"/>
          </a:xfrm>
          <a:prstGeom prst="ellipse">
            <a:avLst/>
          </a:prstGeom>
          <a:solidFill>
            <a:schemeClr val="accent1"/>
          </a:solidFill>
          <a:ln w="12700">
            <a:solidFill>
              <a:schemeClr val="accent1"/>
            </a:solidFill>
            <a:prstDash val="solid"/>
          </a:ln>
        </p:spPr>
      </p:sp>
      <p:sp>
        <p:nvSpPr>
          <p:cNvPr id="8" name="Text 5"/>
          <p:cNvSpPr txBox="1"/>
          <p:nvPr/>
        </p:nvSpPr>
        <p:spPr>
          <a:xfrm>
            <a:off x="777240" y="202996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1</a:t>
            </a:r>
            <a:endParaRPr lang="ko-KR" altLang="en-US" sz="1500" dirty="0"/>
          </a:p>
        </p:txBody>
      </p:sp>
      <p:sp>
        <p:nvSpPr>
          <p:cNvPr id="9" name="Text 6"/>
          <p:cNvSpPr txBox="1"/>
          <p:nvPr/>
        </p:nvSpPr>
        <p:spPr>
          <a:xfrm>
            <a:off x="777240" y="2606040"/>
            <a:ext cx="1691640" cy="640080"/>
          </a:xfrm>
          <a:prstGeom prst="rect">
            <a:avLst/>
          </a:prstGeom>
          <a:noFill/>
          <a:ln/>
        </p:spPr>
        <p:txBody>
          <a:bodyPr wrap="square" lIns="0" tIns="0" rIns="0" bIns="0" rtlCol="0" anchor="t"/>
          <a:lstStyle/>
          <a:p>
            <a:pPr indent="0" marL="0" eaLnBrk="0">
              <a:buNone/>
            </a:pPr>
            <a:r>
              <a:rPr lang="ko-KR" altLang="en-US" sz="1500" b="1" dirty="0">
                <a:solidFill>
                  <a:schemeClr val="tx1"/>
                </a:solidFill>
              </a:rPr>
              <a:t>업적과 물리 코드</a:t>
            </a:r>
            <a:endParaRPr lang="ko-KR" altLang="en-US" sz="1500" dirty="0"/>
          </a:p>
        </p:txBody>
      </p:sp>
      <p:sp>
        <p:nvSpPr>
          <p:cNvPr id="10" name="Text 7"/>
          <p:cNvSpPr txBox="1"/>
          <p:nvPr/>
        </p:nvSpPr>
        <p:spPr>
          <a:xfrm>
            <a:off x="777240" y="3154680"/>
            <a:ext cx="1691640" cy="685800"/>
          </a:xfrm>
          <a:prstGeom prst="rect">
            <a:avLst/>
          </a:prstGeom>
          <a:noFill/>
          <a:ln/>
        </p:spPr>
        <p:txBody>
          <a:bodyPr wrap="square" lIns="0" tIns="0" rIns="0" bIns="0" rtlCol="0" anchor="t"/>
          <a:lstStyle/>
          <a:p>
            <a:pPr indent="0" marL="0" eaLnBrk="0">
              <a:buNone/>
            </a:pPr>
            <a:r>
              <a:rPr lang="ko-KR" altLang="en-US" sz="1300" dirty="0">
                <a:solidFill>
                  <a:schemeClr val="accent5"/>
                </a:solidFill>
              </a:rPr>
              <a:t>알리기만 하고 누가 듣는지 모른다</a:t>
            </a:r>
            <a:endParaRPr lang="ko-KR" altLang="en-US" sz="1300" dirty="0"/>
          </a:p>
        </p:txBody>
      </p:sp>
      <p:sp>
        <p:nvSpPr>
          <p:cNvPr id="11" name="Shape 8"/>
          <p:cNvSpPr/>
          <p:nvPr/>
        </p:nvSpPr>
        <p:spPr>
          <a:xfrm>
            <a:off x="2651760" y="2880360"/>
            <a:ext cx="110414" cy="914"/>
          </a:xfrm>
          <a:prstGeom prst="line">
            <a:avLst/>
          </a:prstGeom>
          <a:noFill/>
          <a:ln w="22225">
            <a:solidFill>
              <a:schemeClr val="accent3"/>
            </a:solidFill>
            <a:prstDash val="solid"/>
            <a:tailEnd type="triangle"/>
          </a:ln>
        </p:spPr>
      </p:sp>
      <p:sp>
        <p:nvSpPr>
          <p:cNvPr id="12" name="card"/>
          <p:cNvSpPr/>
          <p:nvPr/>
        </p:nvSpPr>
        <p:spPr>
          <a:xfrm>
            <a:off x="2807894" y="1828800"/>
            <a:ext cx="2057400" cy="2103120"/>
          </a:xfrm>
          <a:prstGeom prst="roundRect">
            <a:avLst>
              <a:gd name="adj" fmla="val 4444"/>
            </a:avLst>
          </a:prstGeom>
          <a:solidFill>
            <a:schemeClr val="bg2"/>
          </a:solidFill>
          <a:ln w="12700">
            <a:solidFill>
              <a:schemeClr val="bg2"/>
            </a:solidFill>
            <a:prstDash val="solid"/>
          </a:ln>
        </p:spPr>
      </p:sp>
      <p:sp>
        <p:nvSpPr>
          <p:cNvPr id="13" name="Shape 10"/>
          <p:cNvSpPr/>
          <p:nvPr/>
        </p:nvSpPr>
        <p:spPr>
          <a:xfrm>
            <a:off x="3036494" y="2029968"/>
            <a:ext cx="420624" cy="420624"/>
          </a:xfrm>
          <a:prstGeom prst="ellipse">
            <a:avLst/>
          </a:prstGeom>
          <a:solidFill>
            <a:schemeClr val="accent1"/>
          </a:solidFill>
          <a:ln w="12700">
            <a:solidFill>
              <a:schemeClr val="accent1"/>
            </a:solidFill>
            <a:prstDash val="solid"/>
          </a:ln>
        </p:spPr>
      </p:sp>
      <p:sp>
        <p:nvSpPr>
          <p:cNvPr id="14" name="Text 11"/>
          <p:cNvSpPr txBox="1"/>
          <p:nvPr/>
        </p:nvSpPr>
        <p:spPr>
          <a:xfrm>
            <a:off x="3036494" y="202996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2</a:t>
            </a:r>
            <a:endParaRPr lang="ko-KR" altLang="en-US" sz="1500" dirty="0"/>
          </a:p>
        </p:txBody>
      </p:sp>
      <p:sp>
        <p:nvSpPr>
          <p:cNvPr id="15" name="Text 12"/>
          <p:cNvSpPr txBox="1"/>
          <p:nvPr/>
        </p:nvSpPr>
        <p:spPr>
          <a:xfrm>
            <a:off x="3036494" y="2606040"/>
            <a:ext cx="1691640" cy="640080"/>
          </a:xfrm>
          <a:prstGeom prst="rect">
            <a:avLst/>
          </a:prstGeom>
          <a:noFill/>
          <a:ln/>
        </p:spPr>
        <p:txBody>
          <a:bodyPr wrap="square" lIns="0" tIns="0" rIns="0" bIns="0" rtlCol="0" anchor="t"/>
          <a:lstStyle/>
          <a:p>
            <a:pPr indent="0" marL="0" eaLnBrk="0">
              <a:buNone/>
            </a:pPr>
            <a:r>
              <a:rPr lang="ko-KR" altLang="en-US" sz="1500" b="1" dirty="0">
                <a:solidFill>
                  <a:schemeClr val="tx1"/>
                </a:solidFill>
              </a:rPr>
              <a:t>관찰자와 대상</a:t>
            </a:r>
            <a:endParaRPr lang="ko-KR" altLang="en-US" sz="1500" dirty="0"/>
          </a:p>
        </p:txBody>
      </p:sp>
      <p:sp>
        <p:nvSpPr>
          <p:cNvPr id="16" name="Text 13"/>
          <p:cNvSpPr txBox="1"/>
          <p:nvPr/>
        </p:nvSpPr>
        <p:spPr>
          <a:xfrm>
            <a:off x="3036494" y="3154680"/>
            <a:ext cx="1691640" cy="685800"/>
          </a:xfrm>
          <a:prstGeom prst="rect">
            <a:avLst/>
          </a:prstGeom>
          <a:noFill/>
          <a:ln/>
        </p:spPr>
        <p:txBody>
          <a:bodyPr wrap="square" lIns="0" tIns="0" rIns="0" bIns="0" rtlCol="0" anchor="t"/>
          <a:lstStyle/>
          <a:p>
            <a:pPr indent="0" marL="0" eaLnBrk="0">
              <a:buNone/>
            </a:pPr>
            <a:r>
              <a:rPr lang="ko-KR" altLang="en-US" sz="1300" dirty="0">
                <a:solidFill>
                  <a:schemeClr val="accent5"/>
                </a:solidFill>
              </a:rPr>
              <a:t>목록에 등록하고 차례로 알린다</a:t>
            </a:r>
            <a:endParaRPr lang="ko-KR" altLang="en-US" sz="1300" dirty="0"/>
          </a:p>
        </p:txBody>
      </p:sp>
      <p:sp>
        <p:nvSpPr>
          <p:cNvPr id="17" name="Shape 14"/>
          <p:cNvSpPr/>
          <p:nvPr/>
        </p:nvSpPr>
        <p:spPr>
          <a:xfrm>
            <a:off x="4911014" y="2880360"/>
            <a:ext cx="110414" cy="914"/>
          </a:xfrm>
          <a:prstGeom prst="line">
            <a:avLst/>
          </a:prstGeom>
          <a:noFill/>
          <a:ln w="22225">
            <a:solidFill>
              <a:schemeClr val="accent3"/>
            </a:solidFill>
            <a:prstDash val="solid"/>
            <a:tailEnd type="triangle"/>
          </a:ln>
        </p:spPr>
      </p:sp>
      <p:sp>
        <p:nvSpPr>
          <p:cNvPr id="18" name="card"/>
          <p:cNvSpPr/>
          <p:nvPr/>
        </p:nvSpPr>
        <p:spPr>
          <a:xfrm>
            <a:off x="5067148" y="1828800"/>
            <a:ext cx="2057400" cy="2103120"/>
          </a:xfrm>
          <a:prstGeom prst="roundRect">
            <a:avLst>
              <a:gd name="adj" fmla="val 4444"/>
            </a:avLst>
          </a:prstGeom>
          <a:solidFill>
            <a:schemeClr val="bg2"/>
          </a:solidFill>
          <a:ln w="12700">
            <a:solidFill>
              <a:schemeClr val="bg2"/>
            </a:solidFill>
            <a:prstDash val="solid"/>
          </a:ln>
        </p:spPr>
      </p:sp>
      <p:sp>
        <p:nvSpPr>
          <p:cNvPr id="19" name="Shape 16"/>
          <p:cNvSpPr/>
          <p:nvPr/>
        </p:nvSpPr>
        <p:spPr>
          <a:xfrm>
            <a:off x="5295748" y="2029968"/>
            <a:ext cx="420624" cy="420624"/>
          </a:xfrm>
          <a:prstGeom prst="ellipse">
            <a:avLst/>
          </a:prstGeom>
          <a:solidFill>
            <a:schemeClr val="accent1"/>
          </a:solidFill>
          <a:ln w="12700">
            <a:solidFill>
              <a:schemeClr val="accent1"/>
            </a:solidFill>
            <a:prstDash val="solid"/>
          </a:ln>
        </p:spPr>
      </p:sp>
      <p:sp>
        <p:nvSpPr>
          <p:cNvPr id="20" name="Text 17"/>
          <p:cNvSpPr txBox="1"/>
          <p:nvPr/>
        </p:nvSpPr>
        <p:spPr>
          <a:xfrm>
            <a:off x="5295748" y="202996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3</a:t>
            </a:r>
            <a:endParaRPr lang="ko-KR" altLang="en-US" sz="1500" dirty="0"/>
          </a:p>
        </p:txBody>
      </p:sp>
      <p:sp>
        <p:nvSpPr>
          <p:cNvPr id="21" name="Text 18"/>
          <p:cNvSpPr txBox="1"/>
          <p:nvPr/>
        </p:nvSpPr>
        <p:spPr>
          <a:xfrm>
            <a:off x="5295748" y="2606040"/>
            <a:ext cx="1691640" cy="640080"/>
          </a:xfrm>
          <a:prstGeom prst="rect">
            <a:avLst/>
          </a:prstGeom>
          <a:noFill/>
          <a:ln/>
        </p:spPr>
        <p:txBody>
          <a:bodyPr wrap="square" lIns="0" tIns="0" rIns="0" bIns="0" rtlCol="0" anchor="t"/>
          <a:lstStyle/>
          <a:p>
            <a:pPr indent="0" marL="0" eaLnBrk="0">
              <a:buNone/>
            </a:pPr>
            <a:r>
              <a:rPr lang="ko-KR" altLang="en-US" sz="1500" b="1" dirty="0">
                <a:solidFill>
                  <a:schemeClr val="tx1"/>
                </a:solidFill>
              </a:rPr>
              <a:t>속도와 메모리</a:t>
            </a:r>
            <a:endParaRPr lang="ko-KR" altLang="en-US" sz="1500" dirty="0"/>
          </a:p>
        </p:txBody>
      </p:sp>
      <p:sp>
        <p:nvSpPr>
          <p:cNvPr id="22" name="Text 19"/>
          <p:cNvSpPr txBox="1"/>
          <p:nvPr/>
        </p:nvSpPr>
        <p:spPr>
          <a:xfrm>
            <a:off x="5295748" y="3154680"/>
            <a:ext cx="1691640" cy="685800"/>
          </a:xfrm>
          <a:prstGeom prst="rect">
            <a:avLst/>
          </a:prstGeom>
          <a:noFill/>
          <a:ln/>
        </p:spPr>
        <p:txBody>
          <a:bodyPr wrap="square" lIns="0" tIns="0" rIns="0" bIns="0" rtlCol="0" anchor="t"/>
          <a:lstStyle/>
          <a:p>
            <a:pPr indent="0" marL="0" eaLnBrk="0">
              <a:buNone/>
            </a:pPr>
            <a:r>
              <a:rPr lang="ko-KR" altLang="en-US" sz="1300" dirty="0">
                <a:solidFill>
                  <a:schemeClr val="accent5"/>
                </a:solidFill>
              </a:rPr>
              <a:t>느리다는 오해, 연결 리스트</a:t>
            </a:r>
            <a:endParaRPr lang="ko-KR" altLang="en-US" sz="1300" dirty="0"/>
          </a:p>
        </p:txBody>
      </p:sp>
      <p:sp>
        <p:nvSpPr>
          <p:cNvPr id="23" name="Shape 20"/>
          <p:cNvSpPr/>
          <p:nvPr/>
        </p:nvSpPr>
        <p:spPr>
          <a:xfrm>
            <a:off x="7170268" y="2880360"/>
            <a:ext cx="110414" cy="914"/>
          </a:xfrm>
          <a:prstGeom prst="line">
            <a:avLst/>
          </a:prstGeom>
          <a:noFill/>
          <a:ln w="22225">
            <a:solidFill>
              <a:schemeClr val="accent3"/>
            </a:solidFill>
            <a:prstDash val="solid"/>
            <a:tailEnd type="triangle"/>
          </a:ln>
        </p:spPr>
      </p:sp>
      <p:sp>
        <p:nvSpPr>
          <p:cNvPr id="24" name="card"/>
          <p:cNvSpPr/>
          <p:nvPr/>
        </p:nvSpPr>
        <p:spPr>
          <a:xfrm>
            <a:off x="7326401" y="1828800"/>
            <a:ext cx="2057400" cy="2103120"/>
          </a:xfrm>
          <a:prstGeom prst="roundRect">
            <a:avLst>
              <a:gd name="adj" fmla="val 4444"/>
            </a:avLst>
          </a:prstGeom>
          <a:solidFill>
            <a:schemeClr val="bg2"/>
          </a:solidFill>
          <a:ln w="12700">
            <a:solidFill>
              <a:schemeClr val="bg2"/>
            </a:solidFill>
            <a:prstDash val="solid"/>
          </a:ln>
        </p:spPr>
      </p:sp>
      <p:sp>
        <p:nvSpPr>
          <p:cNvPr id="25" name="Shape 22"/>
          <p:cNvSpPr/>
          <p:nvPr/>
        </p:nvSpPr>
        <p:spPr>
          <a:xfrm>
            <a:off x="7555001" y="2029968"/>
            <a:ext cx="420624" cy="420624"/>
          </a:xfrm>
          <a:prstGeom prst="ellipse">
            <a:avLst/>
          </a:prstGeom>
          <a:solidFill>
            <a:schemeClr val="accent1"/>
          </a:solidFill>
          <a:ln w="12700">
            <a:solidFill>
              <a:schemeClr val="accent1"/>
            </a:solidFill>
            <a:prstDash val="solid"/>
          </a:ln>
        </p:spPr>
      </p:sp>
      <p:sp>
        <p:nvSpPr>
          <p:cNvPr id="26" name="Text 23"/>
          <p:cNvSpPr txBox="1"/>
          <p:nvPr/>
        </p:nvSpPr>
        <p:spPr>
          <a:xfrm>
            <a:off x="7555001" y="202996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4</a:t>
            </a:r>
            <a:endParaRPr lang="ko-KR" altLang="en-US" sz="1500" dirty="0"/>
          </a:p>
        </p:txBody>
      </p:sp>
      <p:sp>
        <p:nvSpPr>
          <p:cNvPr id="27" name="Text 24"/>
          <p:cNvSpPr txBox="1"/>
          <p:nvPr/>
        </p:nvSpPr>
        <p:spPr>
          <a:xfrm>
            <a:off x="7555001" y="2606040"/>
            <a:ext cx="1691640" cy="640080"/>
          </a:xfrm>
          <a:prstGeom prst="rect">
            <a:avLst/>
          </a:prstGeom>
          <a:noFill/>
          <a:ln/>
        </p:spPr>
        <p:txBody>
          <a:bodyPr wrap="square" lIns="0" tIns="0" rIns="0" bIns="0" rtlCol="0" anchor="t"/>
          <a:lstStyle/>
          <a:p>
            <a:pPr indent="0" marL="0" eaLnBrk="0">
              <a:buNone/>
            </a:pPr>
            <a:r>
              <a:rPr lang="ko-KR" altLang="en-US" sz="1500" b="1" dirty="0">
                <a:solidFill>
                  <a:schemeClr val="tx1"/>
                </a:solidFill>
              </a:rPr>
              <a:t>남은 문제</a:t>
            </a:r>
            <a:endParaRPr lang="ko-KR" altLang="en-US" sz="1500" dirty="0"/>
          </a:p>
        </p:txBody>
      </p:sp>
      <p:sp>
        <p:nvSpPr>
          <p:cNvPr id="28" name="Text 25"/>
          <p:cNvSpPr txBox="1"/>
          <p:nvPr/>
        </p:nvSpPr>
        <p:spPr>
          <a:xfrm>
            <a:off x="7555001" y="3154680"/>
            <a:ext cx="1691640" cy="685800"/>
          </a:xfrm>
          <a:prstGeom prst="rect">
            <a:avLst/>
          </a:prstGeom>
          <a:noFill/>
          <a:ln/>
        </p:spPr>
        <p:txBody>
          <a:bodyPr wrap="square" lIns="0" tIns="0" rIns="0" bIns="0" rtlCol="0" anchor="t"/>
          <a:lstStyle/>
          <a:p>
            <a:pPr indent="0" marL="0" eaLnBrk="0">
              <a:buNone/>
            </a:pPr>
            <a:r>
              <a:rPr lang="ko-KR" altLang="en-US" sz="1300" dirty="0">
                <a:solidFill>
                  <a:schemeClr val="accent5"/>
                </a:solidFill>
              </a:rPr>
              <a:t>파괴, 사라진 리스너, 추적</a:t>
            </a:r>
            <a:endParaRPr lang="ko-KR" altLang="en-US" sz="1300" dirty="0"/>
          </a:p>
        </p:txBody>
      </p:sp>
      <p:sp>
        <p:nvSpPr>
          <p:cNvPr id="29" name="Shape 26"/>
          <p:cNvSpPr/>
          <p:nvPr/>
        </p:nvSpPr>
        <p:spPr>
          <a:xfrm>
            <a:off x="9429521" y="2880360"/>
            <a:ext cx="110414" cy="914"/>
          </a:xfrm>
          <a:prstGeom prst="line">
            <a:avLst/>
          </a:prstGeom>
          <a:noFill/>
          <a:ln w="22225">
            <a:solidFill>
              <a:schemeClr val="accent3"/>
            </a:solidFill>
            <a:prstDash val="solid"/>
            <a:tailEnd type="triangle"/>
          </a:ln>
        </p:spPr>
      </p:sp>
      <p:sp>
        <p:nvSpPr>
          <p:cNvPr id="30" name="card"/>
          <p:cNvSpPr/>
          <p:nvPr/>
        </p:nvSpPr>
        <p:spPr>
          <a:xfrm>
            <a:off x="9585655" y="1828800"/>
            <a:ext cx="2057400" cy="2103120"/>
          </a:xfrm>
          <a:prstGeom prst="roundRect">
            <a:avLst>
              <a:gd name="adj" fmla="val 4444"/>
            </a:avLst>
          </a:prstGeom>
          <a:solidFill>
            <a:schemeClr val="bg2"/>
          </a:solidFill>
          <a:ln w="12700">
            <a:solidFill>
              <a:schemeClr val="bg2"/>
            </a:solidFill>
            <a:prstDash val="solid"/>
          </a:ln>
        </p:spPr>
      </p:sp>
      <p:sp>
        <p:nvSpPr>
          <p:cNvPr id="31" name="Shape 28"/>
          <p:cNvSpPr/>
          <p:nvPr/>
        </p:nvSpPr>
        <p:spPr>
          <a:xfrm>
            <a:off x="9814255" y="2029968"/>
            <a:ext cx="420624" cy="420624"/>
          </a:xfrm>
          <a:prstGeom prst="ellipse">
            <a:avLst/>
          </a:prstGeom>
          <a:solidFill>
            <a:schemeClr val="accent1"/>
          </a:solidFill>
          <a:ln w="12700">
            <a:solidFill>
              <a:schemeClr val="accent1"/>
            </a:solidFill>
            <a:prstDash val="solid"/>
          </a:ln>
        </p:spPr>
      </p:sp>
      <p:sp>
        <p:nvSpPr>
          <p:cNvPr id="32" name="Text 29"/>
          <p:cNvSpPr txBox="1"/>
          <p:nvPr/>
        </p:nvSpPr>
        <p:spPr>
          <a:xfrm>
            <a:off x="9814255" y="202996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5</a:t>
            </a:r>
            <a:endParaRPr lang="ko-KR" altLang="en-US" sz="1500" dirty="0"/>
          </a:p>
        </p:txBody>
      </p:sp>
      <p:sp>
        <p:nvSpPr>
          <p:cNvPr id="33" name="Text 30"/>
          <p:cNvSpPr txBox="1"/>
          <p:nvPr/>
        </p:nvSpPr>
        <p:spPr>
          <a:xfrm>
            <a:off x="9814255" y="2606040"/>
            <a:ext cx="1691640" cy="640080"/>
          </a:xfrm>
          <a:prstGeom prst="rect">
            <a:avLst/>
          </a:prstGeom>
          <a:noFill/>
          <a:ln/>
        </p:spPr>
        <p:txBody>
          <a:bodyPr wrap="square" lIns="0" tIns="0" rIns="0" bIns="0" rtlCol="0" anchor="t"/>
          <a:lstStyle/>
          <a:p>
            <a:pPr indent="0" marL="0" eaLnBrk="0">
              <a:buNone/>
            </a:pPr>
            <a:r>
              <a:rPr lang="ko-KR" altLang="en-US" sz="1500" b="1" dirty="0">
                <a:solidFill>
                  <a:schemeClr val="tx1"/>
                </a:solidFill>
              </a:rPr>
              <a:t>오늘의 관찰자</a:t>
            </a:r>
            <a:endParaRPr lang="ko-KR" altLang="en-US" sz="1500" dirty="0"/>
          </a:p>
        </p:txBody>
      </p:sp>
      <p:sp>
        <p:nvSpPr>
          <p:cNvPr id="34" name="Text 31"/>
          <p:cNvSpPr txBox="1"/>
          <p:nvPr/>
        </p:nvSpPr>
        <p:spPr>
          <a:xfrm>
            <a:off x="9814255" y="3154680"/>
            <a:ext cx="1691640" cy="685800"/>
          </a:xfrm>
          <a:prstGeom prst="rect">
            <a:avLst/>
          </a:prstGeom>
          <a:noFill/>
          <a:ln/>
        </p:spPr>
        <p:txBody>
          <a:bodyPr wrap="square" lIns="0" tIns="0" rIns="0" bIns="0" rtlCol="0" anchor="t"/>
          <a:lstStyle/>
          <a:p>
            <a:pPr indent="0" marL="0" eaLnBrk="0">
              <a:buNone/>
            </a:pPr>
            <a:r>
              <a:rPr lang="ko-KR" altLang="en-US" sz="1300" dirty="0">
                <a:solidFill>
                  <a:schemeClr val="accent5"/>
                </a:solidFill>
              </a:rPr>
              <a:t>C#의 event, 쓸 때와 주의점</a:t>
            </a:r>
            <a:endParaRPr lang="ko-KR" altLang="en-US" sz="1300" dirty="0"/>
          </a:p>
        </p:txBody>
      </p:sp>
      <p:sp>
        <p:nvSpPr>
          <p:cNvPr id="35" name="Text 32"/>
          <p:cNvSpPr txBox="1"/>
          <p:nvPr/>
        </p:nvSpPr>
        <p:spPr>
          <a:xfrm>
            <a:off x="548640" y="4434840"/>
            <a:ext cx="11094415" cy="548640"/>
          </a:xfrm>
          <a:prstGeom prst="rect">
            <a:avLst/>
          </a:prstGeom>
          <a:noFill/>
          <a:ln/>
        </p:spPr>
        <p:txBody>
          <a:bodyPr wrap="square" lIns="0" tIns="0" rIns="0" bIns="0" rtlCol="0" anchor="t"/>
          <a:lstStyle/>
          <a:p>
            <a:pPr indent="0" marL="0" eaLnBrk="0">
              <a:buNone/>
            </a:pPr>
            <a:r>
              <a:rPr lang="ko-KR" altLang="en-US" sz="1600" dirty="0">
                <a:solidFill>
                  <a:schemeClr val="tx2"/>
                </a:solidFill>
              </a:rPr>
              <a:t>오늘 예제는 원서와 같다: 주인공이 다리에서 떨어지면 업적을 주는 업적 시스템과, 떨어짐을 계산하는 물리 엔진.</a:t>
            </a:r>
            <a:endParaRPr lang="ko-KR" altLang="en-US" sz="16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a:t>
            </a:fld>
            <a:endParaRPr lang="ko-KR"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정의</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관찰자는 일어난 일을 알리기만 하고, 누가 듣는지는 모른다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왜 직접 부르지 않고 알리기만 해야 할까? 업적 시스템부터 보자.</a:t>
            </a:r>
            <a:endParaRPr lang="ko-KR" altLang="en-US" sz="1500" dirty="0"/>
          </a:p>
        </p:txBody>
      </p:sp>
      <p:sp>
        <p:nvSpPr>
          <p:cNvPr id="6" name="Shape 3"/>
          <p:cNvSpPr/>
          <p:nvPr/>
        </p:nvSpPr>
        <p:spPr>
          <a:xfrm>
            <a:off x="548640" y="1783080"/>
            <a:ext cx="4572000" cy="2377440"/>
          </a:xfrm>
          <a:prstGeom prst="roundRect">
            <a:avLst>
              <a:gd name="adj" fmla="val 3846"/>
            </a:avLst>
          </a:prstGeom>
          <a:solidFill>
            <a:schemeClr val="bg2"/>
          </a:solidFill>
          <a:ln w="12700">
            <a:solidFill>
              <a:schemeClr val="bg2"/>
            </a:solidFill>
            <a:prstDash val="solid"/>
          </a:ln>
        </p:spPr>
      </p:sp>
      <p:sp>
        <p:nvSpPr>
          <p:cNvPr id="7" name="Text 4"/>
          <p:cNvSpPr txBox="1"/>
          <p:nvPr/>
        </p:nvSpPr>
        <p:spPr>
          <a:xfrm>
            <a:off x="822960" y="1965960"/>
            <a:ext cx="4023360" cy="411480"/>
          </a:xfrm>
          <a:prstGeom prst="rect">
            <a:avLst/>
          </a:prstGeom>
          <a:noFill/>
          <a:ln/>
        </p:spPr>
        <p:txBody>
          <a:bodyPr wrap="square" lIns="0" tIns="0" rIns="0" bIns="0" rtlCol="0" anchor="t"/>
          <a:lstStyle/>
          <a:p>
            <a:pPr indent="0" marL="0" eaLnBrk="0">
              <a:buNone/>
            </a:pPr>
            <a:r>
              <a:rPr lang="ko-KR" altLang="en-US" sz="1800" b="1" dirty="0">
                <a:solidFill>
                  <a:schemeClr val="accent6"/>
                </a:solidFill>
              </a:rPr>
              <a:t>직접 부르기</a:t>
            </a:r>
            <a:endParaRPr lang="ko-KR" altLang="en-US" sz="1800" dirty="0"/>
          </a:p>
        </p:txBody>
      </p:sp>
      <p:sp>
        <p:nvSpPr>
          <p:cNvPr id="8" name="codePanel"/>
          <p:cNvSpPr/>
          <p:nvPr/>
        </p:nvSpPr>
        <p:spPr>
          <a:xfrm>
            <a:off x="822960" y="2514600"/>
            <a:ext cx="4023360" cy="548640"/>
          </a:xfrm>
          <a:prstGeom prst="roundRect">
            <a:avLst>
              <a:gd name="adj" fmla="val 13333"/>
            </a:avLst>
          </a:prstGeom>
          <a:solidFill>
            <a:schemeClr val="tx1"/>
          </a:solidFill>
          <a:ln w="12700">
            <a:solidFill>
              <a:schemeClr val="tx1"/>
            </a:solidFill>
            <a:prstDash val="solid"/>
          </a:ln>
        </p:spPr>
      </p:sp>
      <p:sp>
        <p:nvSpPr>
          <p:cNvPr id="9" name="code"/>
          <p:cNvSpPr txBox="1"/>
          <p:nvPr/>
        </p:nvSpPr>
        <p:spPr>
          <a:xfrm>
            <a:off x="932688" y="2606040"/>
            <a:ext cx="3803904" cy="365760"/>
          </a:xfrm>
          <a:prstGeom prst="rect">
            <a:avLst/>
          </a:prstGeom>
          <a:noFill/>
          <a:ln/>
        </p:spPr>
        <p:txBody>
          <a:bodyPr wrap="square" lIns="635" tIns="635" rIns="635" bIns="635" rtlCol="0" anchor="t"/>
          <a:lstStyle/>
          <a:p>
            <a:pPr indent="0" marL="0" eaLnBrk="0">
              <a:buNone/>
            </a:pPr>
            <a:r>
              <a:rPr lang="ko-KR" altLang="en-US" sz="1500" dirty="0">
                <a:solidFill>
                  <a:schemeClr val="bg1"/>
                </a:solidFill>
                <a:latin typeface="Consolas" pitchFamily="34" charset="0"/>
                <a:ea typeface="Consolas" pitchFamily="34" charset="-122"/>
                <a:cs typeface="Consolas" pitchFamily="34" charset="-120"/>
              </a:rPr>
              <a:t>_achievements.Unlock(...);</a:t>
            </a:r>
            <a:endParaRPr lang="ko-KR" altLang="en-US" sz="1500" dirty="0"/>
          </a:p>
        </p:txBody>
      </p:sp>
      <p:sp>
        <p:nvSpPr>
          <p:cNvPr id="10" name="Text 7"/>
          <p:cNvSpPr txBox="1"/>
          <p:nvPr/>
        </p:nvSpPr>
        <p:spPr>
          <a:xfrm>
            <a:off x="822960" y="3246120"/>
            <a:ext cx="4023360" cy="731520"/>
          </a:xfrm>
          <a:prstGeom prst="rect">
            <a:avLst/>
          </a:prstGeom>
          <a:noFill/>
          <a:ln/>
        </p:spPr>
        <p:txBody>
          <a:bodyPr wrap="square" lIns="0" tIns="0" rIns="0" bIns="0" rtlCol="0" anchor="t"/>
          <a:lstStyle/>
          <a:p>
            <a:pPr indent="0" marL="0" eaLnBrk="0">
              <a:buNone/>
            </a:pPr>
            <a:r>
              <a:rPr lang="ko-KR" altLang="en-US" sz="1400" dirty="0">
                <a:solidFill>
                  <a:schemeClr val="tx2"/>
                </a:solidFill>
              </a:rPr>
              <a:t>부르는 쪽이 받는 쪽을 알아야 한다. 받는 쪽이 바뀌면 부르는 쪽도 고친다.</a:t>
            </a:r>
            <a:endParaRPr lang="ko-KR" altLang="en-US" sz="1400" dirty="0"/>
          </a:p>
        </p:txBody>
      </p:sp>
      <p:sp>
        <p:nvSpPr>
          <p:cNvPr id="11" name="Shape 8"/>
          <p:cNvSpPr/>
          <p:nvPr/>
        </p:nvSpPr>
        <p:spPr>
          <a:xfrm>
            <a:off x="5257800" y="2971800"/>
            <a:ext cx="914400" cy="914"/>
          </a:xfrm>
          <a:prstGeom prst="line">
            <a:avLst/>
          </a:prstGeom>
          <a:noFill/>
          <a:ln w="31750">
            <a:solidFill>
              <a:schemeClr val="accent1"/>
            </a:solidFill>
            <a:prstDash val="solid"/>
            <a:tailEnd type="triangle"/>
          </a:ln>
        </p:spPr>
      </p:sp>
      <p:sp>
        <p:nvSpPr>
          <p:cNvPr id="12" name="Shape 9"/>
          <p:cNvSpPr/>
          <p:nvPr/>
        </p:nvSpPr>
        <p:spPr>
          <a:xfrm>
            <a:off x="6309360" y="1783080"/>
            <a:ext cx="5333695" cy="2377440"/>
          </a:xfrm>
          <a:prstGeom prst="roundRect">
            <a:avLst>
              <a:gd name="adj" fmla="val 3846"/>
            </a:avLst>
          </a:prstGeom>
          <a:solidFill>
            <a:schemeClr val="bg2"/>
          </a:solidFill>
          <a:ln w="12700">
            <a:solidFill>
              <a:schemeClr val="bg2"/>
            </a:solidFill>
            <a:prstDash val="solid"/>
          </a:ln>
        </p:spPr>
      </p:sp>
      <p:sp>
        <p:nvSpPr>
          <p:cNvPr id="13" name="Text 10"/>
          <p:cNvSpPr txBox="1"/>
          <p:nvPr/>
        </p:nvSpPr>
        <p:spPr>
          <a:xfrm>
            <a:off x="6583680" y="1965960"/>
            <a:ext cx="4785055" cy="411480"/>
          </a:xfrm>
          <a:prstGeom prst="rect">
            <a:avLst/>
          </a:prstGeom>
          <a:noFill/>
          <a:ln/>
        </p:spPr>
        <p:txBody>
          <a:bodyPr wrap="square" lIns="0" tIns="0" rIns="0" bIns="0" rtlCol="0" anchor="t"/>
          <a:lstStyle/>
          <a:p>
            <a:pPr indent="0" marL="0" eaLnBrk="0">
              <a:buNone/>
            </a:pPr>
            <a:r>
              <a:rPr lang="ko-KR" altLang="en-US" sz="1800" b="1" dirty="0">
                <a:solidFill>
                  <a:schemeClr val="accent2"/>
                </a:solidFill>
              </a:rPr>
              <a:t>알리기</a:t>
            </a:r>
            <a:endParaRPr lang="ko-KR" altLang="en-US" sz="1800" dirty="0"/>
          </a:p>
        </p:txBody>
      </p:sp>
      <p:sp>
        <p:nvSpPr>
          <p:cNvPr id="14" name="codePanel"/>
          <p:cNvSpPr/>
          <p:nvPr/>
        </p:nvSpPr>
        <p:spPr>
          <a:xfrm>
            <a:off x="6583680" y="2514600"/>
            <a:ext cx="4785055" cy="548640"/>
          </a:xfrm>
          <a:prstGeom prst="roundRect">
            <a:avLst>
              <a:gd name="adj" fmla="val 13333"/>
            </a:avLst>
          </a:prstGeom>
          <a:solidFill>
            <a:schemeClr val="tx1"/>
          </a:solidFill>
          <a:ln w="12700">
            <a:solidFill>
              <a:schemeClr val="tx1"/>
            </a:solidFill>
            <a:prstDash val="solid"/>
          </a:ln>
        </p:spPr>
      </p:sp>
      <p:sp>
        <p:nvSpPr>
          <p:cNvPr id="15" name="code"/>
          <p:cNvSpPr txBox="1"/>
          <p:nvPr/>
        </p:nvSpPr>
        <p:spPr>
          <a:xfrm>
            <a:off x="6693408" y="2606040"/>
            <a:ext cx="4565599" cy="365760"/>
          </a:xfrm>
          <a:prstGeom prst="rect">
            <a:avLst/>
          </a:prstGeom>
          <a:noFill/>
          <a:ln/>
        </p:spPr>
        <p:txBody>
          <a:bodyPr wrap="square" lIns="635" tIns="635" rIns="635" bIns="635" rtlCol="0" anchor="t"/>
          <a:lstStyle/>
          <a:p>
            <a:pPr indent="0" marL="0" eaLnBrk="0">
              <a:buNone/>
            </a:pPr>
            <a:r>
              <a:rPr lang="ko-KR" altLang="en-US" sz="1500" dirty="0">
                <a:solidFill>
                  <a:schemeClr val="bg1"/>
                </a:solidFill>
                <a:latin typeface="Consolas" pitchFamily="34" charset="0"/>
                <a:ea typeface="Consolas" pitchFamily="34" charset="-122"/>
                <a:cs typeface="Consolas" pitchFamily="34" charset="-120"/>
              </a:rPr>
              <a:t>Notify(entity, Event.EntityFell);</a:t>
            </a:r>
            <a:endParaRPr lang="ko-KR" altLang="en-US" sz="1500" dirty="0"/>
          </a:p>
        </p:txBody>
      </p:sp>
      <p:sp>
        <p:nvSpPr>
          <p:cNvPr id="16" name="Text 13"/>
          <p:cNvSpPr txBox="1"/>
          <p:nvPr/>
        </p:nvSpPr>
        <p:spPr>
          <a:xfrm>
            <a:off x="6583680" y="3246120"/>
            <a:ext cx="4785055" cy="731520"/>
          </a:xfrm>
          <a:prstGeom prst="rect">
            <a:avLst/>
          </a:prstGeom>
          <a:noFill/>
          <a:ln/>
        </p:spPr>
        <p:txBody>
          <a:bodyPr wrap="square" lIns="0" tIns="0" rIns="0" bIns="0" rtlCol="0" anchor="t"/>
          <a:lstStyle/>
          <a:p>
            <a:pPr indent="0" marL="0" eaLnBrk="0">
              <a:buNone/>
            </a:pPr>
            <a:r>
              <a:rPr lang="ko-KR" altLang="en-US" sz="1400" dirty="0">
                <a:solidFill>
                  <a:schemeClr val="tx2"/>
                </a:solidFill>
              </a:rPr>
              <a:t>‘떨어지기 시작했다’는 사실만 알린다. 누가 듣는지, 몇이 듣는지, 아무도 안 듣는지 모른다.</a:t>
            </a:r>
            <a:endParaRPr lang="ko-KR" altLang="en-US" sz="1400" dirty="0"/>
          </a:p>
        </p:txBody>
      </p:sp>
      <p:sp>
        <p:nvSpPr>
          <p:cNvPr id="17" name="box"/>
          <p:cNvSpPr/>
          <p:nvPr/>
        </p:nvSpPr>
        <p:spPr>
          <a:xfrm>
            <a:off x="548640" y="4480560"/>
            <a:ext cx="11094415" cy="1051560"/>
          </a:xfrm>
          <a:prstGeom prst="roundRect">
            <a:avLst>
              <a:gd name="adj" fmla="val 6957"/>
            </a:avLst>
          </a:prstGeom>
          <a:solidFill>
            <a:schemeClr val="tx2"/>
          </a:solidFill>
          <a:ln w="12700">
            <a:solidFill>
              <a:schemeClr val="tx2"/>
            </a:solidFill>
            <a:prstDash val="solid"/>
          </a:ln>
        </p:spPr>
      </p:sp>
      <p:sp>
        <p:nvSpPr>
          <p:cNvPr id="18" name="Text 15"/>
          <p:cNvSpPr txBox="1"/>
          <p:nvPr/>
        </p:nvSpPr>
        <p:spPr>
          <a:xfrm>
            <a:off x="548640" y="4480560"/>
            <a:ext cx="11094415" cy="1051560"/>
          </a:xfrm>
          <a:prstGeom prst="rect">
            <a:avLst/>
          </a:prstGeom>
          <a:noFill/>
          <a:ln/>
        </p:spPr>
        <p:txBody>
          <a:bodyPr wrap="square" lIns="635" tIns="635" rIns="635" bIns="635" rtlCol="0" anchor="ctr"/>
          <a:lstStyle/>
          <a:p>
            <a:pPr algn="ctr" indent="0" marL="0" eaLnBrk="0">
              <a:buNone/>
            </a:pPr>
            <a:r>
              <a:rPr lang="ko-KR" altLang="en-US" sz="1700" dirty="0">
                <a:solidFill>
                  <a:schemeClr val="bg1"/>
                </a:solidFill>
              </a:rPr>
              <a:t>GoF의 정의: 객체 사이에 일대다 의존 관계를 두어, 한 객체의 상태가 바뀌면 그 객체에 의존하는 객체들이 모두 알림을 받고 갱신되게 한다.</a:t>
            </a:r>
            <a:endParaRPr lang="ko-KR" altLang="en-US" sz="17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3</a:t>
            </a:fld>
            <a:endParaRPr lang="ko-KR"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part"/>
          <p:cNvSpPr txBox="1"/>
          <p:nvPr/>
        </p:nvSpPr>
        <p:spPr>
          <a:xfrm>
            <a:off x="548640" y="2148840"/>
            <a:ext cx="5486400" cy="457200"/>
          </a:xfrm>
          <a:prstGeom prst="rect">
            <a:avLst/>
          </a:prstGeom>
          <a:noFill/>
          <a:ln/>
        </p:spPr>
        <p:txBody>
          <a:bodyPr wrap="square" lIns="0" tIns="0" rIns="0" bIns="0" rtlCol="0" anchor="ctr"/>
          <a:lstStyle/>
          <a:p>
            <a:pPr indent="0" marL="0" eaLnBrk="0">
              <a:buNone/>
            </a:pPr>
            <a:r>
              <a:rPr lang="ko-KR" altLang="en-US" sz="1600" b="1" dirty="0">
                <a:solidFill>
                  <a:schemeClr val="accent1"/>
                </a:solidFill>
              </a:rPr>
              <a:t>1부</a:t>
            </a:r>
            <a:endParaRPr lang="ko-KR" altLang="en-US" sz="1600" dirty="0"/>
          </a:p>
        </p:txBody>
      </p:sp>
      <p:sp>
        <p:nvSpPr>
          <p:cNvPr id="3" name="Text 0"/>
          <p:cNvSpPr/>
          <p:nvPr>
            <p:ph idx="100" type="title" hasCustomPrompt="1"/>
          </p:nvPr>
        </p:nvSpPr>
        <p:spPr>
          <a:xfrm>
            <a:off x="548640" y="2651760"/>
            <a:ext cx="11094415" cy="1097280"/>
          </a:xfrm>
          <a:prstGeom prst="rect">
            <a:avLst/>
          </a:prstGeom>
          <a:noFill/>
          <a:ln/>
        </p:spPr>
        <p:txBody>
          <a:bodyPr wrap="square" rtlCol="0" anchor="ctr"/>
          <a:lstStyle/>
          <a:p>
            <a:pPr algn="l" indent="0" marL="0" eaLnBrk="0">
              <a:buNone/>
            </a:pPr>
            <a:r>
              <a:rPr lang="ko-KR" altLang="en-US" sz="3600" b="1" dirty="0">
                <a:solidFill>
                  <a:schemeClr val="bg1"/>
                </a:solidFill>
              </a:rPr>
              <a:t>업적과 물리 코드</a:t>
            </a:r>
            <a:endParaRPr lang="ko-KR" altLang="en-US" sz="3600" dirty="0"/>
          </a:p>
        </p:txBody>
      </p:sp>
      <p:sp>
        <p:nvSpPr>
          <p:cNvPr id="4" name="Text 0"/>
          <p:cNvSpPr/>
          <p:nvPr>
            <p:ph idx="101" type="body" hasCustomPrompt="1"/>
          </p:nvPr>
        </p:nvSpPr>
        <p:spPr>
          <a:xfrm>
            <a:off x="548640" y="3794760"/>
            <a:ext cx="11094415" cy="731520"/>
          </a:xfrm>
          <a:prstGeom prst="rect">
            <a:avLst/>
          </a:prstGeom>
          <a:noFill/>
          <a:ln/>
        </p:spPr>
        <p:txBody>
          <a:bodyPr wrap="square" rtlCol="0" anchor="t"/>
          <a:lstStyle/>
          <a:p>
            <a:pPr indent="0" marL="0" eaLnBrk="0">
              <a:buNone/>
            </a:pPr>
            <a:r>
              <a:rPr lang="ko-KR" altLang="en-US" sz="1800" dirty="0">
                <a:solidFill>
                  <a:schemeClr val="accent3"/>
                </a:solidFill>
              </a:rPr>
              <a:t>원서: 업적 달성</a:t>
            </a:r>
            <a:endParaRPr lang="ko-KR" alt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4</a:t>
            </a:fld>
            <a:endParaRPr lang="ko-KR"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첫 시도</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업적 판정을 물리 코드 한가운데에 직접 넣는다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이렇게 넣으면 무엇이 문제일까?</a:t>
            </a:r>
            <a:endParaRPr lang="ko-KR" altLang="en-US" sz="1500" dirty="0"/>
          </a:p>
        </p:txBody>
      </p:sp>
      <p:sp>
        <p:nvSpPr>
          <p:cNvPr id="6" name="codePanel"/>
          <p:cNvSpPr/>
          <p:nvPr/>
        </p:nvSpPr>
        <p:spPr>
          <a:xfrm>
            <a:off x="548640" y="1645920"/>
            <a:ext cx="7315200" cy="4023360"/>
          </a:xfrm>
          <a:prstGeom prst="roundRect">
            <a:avLst>
              <a:gd name="adj" fmla="val 1818"/>
            </a:avLst>
          </a:prstGeom>
          <a:solidFill>
            <a:schemeClr val="tx1"/>
          </a:solidFill>
          <a:ln w="12700">
            <a:solidFill>
              <a:schemeClr val="tx1"/>
            </a:solidFill>
            <a:prstDash val="solid"/>
          </a:ln>
        </p:spPr>
      </p:sp>
      <p:sp>
        <p:nvSpPr>
          <p:cNvPr id="7" name="code"/>
          <p:cNvSpPr txBox="1"/>
          <p:nvPr/>
        </p:nvSpPr>
        <p:spPr>
          <a:xfrm>
            <a:off x="658368" y="1737360"/>
            <a:ext cx="7095744" cy="3840480"/>
          </a:xfrm>
          <a:prstGeom prst="rect">
            <a:avLst/>
          </a:prstGeom>
          <a:noFill/>
          <a:ln/>
        </p:spPr>
        <p:txBody>
          <a:bodyPr wrap="square" lIns="635" tIns="635" rIns="635" bIns="635" rtlCol="0" anchor="t"/>
          <a:lstStyle/>
          <a:p>
            <a:pPr indent="0" marL="0" eaLnBrk="0">
              <a:buNone/>
            </a:pPr>
            <a:r>
              <a:rPr lang="ko-KR" altLang="en-US" sz="1300" dirty="0">
                <a:solidFill>
                  <a:schemeClr val="bg1"/>
                </a:solidFill>
                <a:latin typeface="Consolas" pitchFamily="34" charset="0"/>
                <a:ea typeface="Consolas" pitchFamily="34" charset="-122"/>
                <a:cs typeface="Consolas" pitchFamily="34" charset="-120"/>
              </a:rPr>
              <a:t>public class Physics</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a:t>
            </a:r>
            <a:endParaRPr lang="ko-KR" altLang="en-US" sz="1300" dirty="0"/>
          </a:p>
          <a:p>
            <a:pPr indent="0" marL="0" eaLnBrk="0">
              <a:buNone/>
            </a:pPr>
            <a:r>
              <a:rPr lang="ko-KR" altLang="en-US" sz="1300" b="1" dirty="0">
                <a:solidFill>
                  <a:schemeClr val="accent4"/>
                </a:solidFill>
                <a:latin typeface="Consolas" pitchFamily="34" charset="0"/>
                <a:ea typeface="Consolas" pitchFamily="34" charset="-122"/>
                <a:cs typeface="Consolas" pitchFamily="34" charset="-120"/>
              </a:rPr>
              <a:t>    Achievements _achievements;   // 물리 엔진이 업적 시스템을 안다</a:t>
            </a:r>
            <a:endParaRPr lang="ko-KR" altLang="en-US" sz="1300" dirty="0"/>
          </a:p>
          <a:p>
            <a:pPr indent="0" marL="0" eaLnBrk="0">
              <a:buNone/>
            </a:pPr>
            <a:r>
              <a:rPr lang="ko-KR" altLang="en-US" sz="1300" b="1" dirty="0">
                <a:solidFill>
                  <a:schemeClr val="accent4"/>
                </a:solidFill>
                <a:latin typeface="Consolas" pitchFamily="34" charset="0"/>
                <a:ea typeface="Consolas" pitchFamily="34" charset="-122"/>
                <a:cs typeface="Consolas" pitchFamily="34" charset="-120"/>
              </a:rPr>
              <a:t>    bool _heroIsOnBridge;         // 업적 때문에 다리 위치까지 추적한다</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public void UpdateEntity(Entity entity)</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bool wasOnSurface = entity.IsOnSurface();</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entity.Accelerate(Gravity);</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entity.Update();</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if (wasOnSurface &amp;&amp; !entity.IsOnSurface()</a:t>
            </a:r>
            <a:endParaRPr lang="ko-KR" altLang="en-US" sz="1300" dirty="0"/>
          </a:p>
          <a:p>
            <a:pPr indent="0" marL="0" eaLnBrk="0">
              <a:buNone/>
            </a:pPr>
            <a:r>
              <a:rPr lang="ko-KR" altLang="en-US" sz="1300" b="1" dirty="0">
                <a:solidFill>
                  <a:schemeClr val="accent4"/>
                </a:solidFill>
                <a:latin typeface="Consolas" pitchFamily="34" charset="0"/>
                <a:ea typeface="Consolas" pitchFamily="34" charset="-122"/>
                <a:cs typeface="Consolas" pitchFamily="34" charset="-120"/>
              </a:rPr>
              <a:t>            &amp;&amp; entity.IsHero() &amp;&amp; _heroIsOnBridge)</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b="1" dirty="0">
                <a:solidFill>
                  <a:schemeClr val="accent4"/>
                </a:solidFill>
                <a:latin typeface="Consolas" pitchFamily="34" charset="0"/>
                <a:ea typeface="Consolas" pitchFamily="34" charset="-122"/>
                <a:cs typeface="Consolas" pitchFamily="34" charset="-120"/>
              </a:rPr>
              <a:t>            _achievements.Unlock(Achievement.FellOffBridge);</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a:t>
            </a:r>
            <a:endParaRPr lang="ko-KR" altLang="en-US" sz="1300" dirty="0"/>
          </a:p>
        </p:txBody>
      </p:sp>
      <p:sp>
        <p:nvSpPr>
          <p:cNvPr id="8" name="codeCaption"/>
          <p:cNvSpPr txBox="1"/>
          <p:nvPr/>
        </p:nvSpPr>
        <p:spPr>
          <a:xfrm>
            <a:off x="4754880" y="1737360"/>
            <a:ext cx="2971800" cy="237744"/>
          </a:xfrm>
          <a:prstGeom prst="rect">
            <a:avLst/>
          </a:prstGeom>
          <a:noFill/>
          <a:ln/>
        </p:spPr>
        <p:txBody>
          <a:bodyPr wrap="square" lIns="0" tIns="0" rIns="0" bIns="0" rtlCol="0" anchor="ctr"/>
          <a:lstStyle/>
          <a:p>
            <a:pPr algn="r" indent="0" marL="0" eaLnBrk="0">
              <a:buNone/>
            </a:pPr>
            <a:r>
              <a:rPr lang="ko-KR" altLang="en-US" sz="1000" dirty="0">
                <a:solidFill>
                  <a:schemeClr val="accent3"/>
                </a:solidFill>
              </a:rPr>
              <a:t>원서의 설명을 코드로 옮긴 첫 시도</a:t>
            </a:r>
            <a:endParaRPr lang="ko-KR" altLang="en-US" sz="1000" dirty="0"/>
          </a:p>
        </p:txBody>
      </p:sp>
      <p:sp>
        <p:nvSpPr>
          <p:cNvPr id="9" name="Text 6"/>
          <p:cNvSpPr txBox="1"/>
          <p:nvPr/>
        </p:nvSpPr>
        <p:spPr>
          <a:xfrm>
            <a:off x="8229600" y="1645920"/>
            <a:ext cx="3413455" cy="365760"/>
          </a:xfrm>
          <a:prstGeom prst="rect">
            <a:avLst/>
          </a:prstGeom>
          <a:noFill/>
          <a:ln/>
        </p:spPr>
        <p:txBody>
          <a:bodyPr wrap="square" lIns="0" tIns="0" rIns="0" bIns="0" rtlCol="0" anchor="t"/>
          <a:lstStyle/>
          <a:p>
            <a:pPr indent="0" marL="0" eaLnBrk="0">
              <a:buNone/>
            </a:pPr>
            <a:r>
              <a:rPr lang="ko-KR" altLang="en-US" sz="1600" b="1" dirty="0">
                <a:solidFill>
                  <a:schemeClr val="tx1"/>
                </a:solidFill>
              </a:rPr>
              <a:t>업적의 예</a:t>
            </a:r>
            <a:endParaRPr lang="ko-KR" altLang="en-US" sz="1600" dirty="0"/>
          </a:p>
        </p:txBody>
      </p:sp>
      <p:sp>
        <p:nvSpPr>
          <p:cNvPr id="10" name="Shape 7"/>
          <p:cNvSpPr/>
          <p:nvPr/>
        </p:nvSpPr>
        <p:spPr>
          <a:xfrm>
            <a:off x="8229600" y="2103120"/>
            <a:ext cx="3413455" cy="1005840"/>
          </a:xfrm>
          <a:prstGeom prst="roundRect">
            <a:avLst>
              <a:gd name="adj" fmla="val 9091"/>
            </a:avLst>
          </a:prstGeom>
          <a:solidFill>
            <a:schemeClr val="bg2"/>
          </a:solidFill>
          <a:ln w="12700">
            <a:solidFill>
              <a:schemeClr val="bg2"/>
            </a:solidFill>
            <a:prstDash val="solid"/>
          </a:ln>
        </p:spPr>
      </p:sp>
      <p:sp>
        <p:nvSpPr>
          <p:cNvPr id="11" name="Text 8"/>
          <p:cNvSpPr txBox="1"/>
          <p:nvPr/>
        </p:nvSpPr>
        <p:spPr>
          <a:xfrm>
            <a:off x="8458200" y="2212848"/>
            <a:ext cx="2956255" cy="411480"/>
          </a:xfrm>
          <a:prstGeom prst="rect">
            <a:avLst/>
          </a:prstGeom>
          <a:noFill/>
          <a:ln/>
        </p:spPr>
        <p:txBody>
          <a:bodyPr wrap="square" lIns="0" tIns="0" rIns="0" bIns="0" rtlCol="0" anchor="t"/>
          <a:lstStyle/>
          <a:p>
            <a:pPr indent="0" marL="0" eaLnBrk="0">
              <a:buNone/>
            </a:pPr>
            <a:r>
              <a:rPr lang="ko-KR" altLang="en-US" sz="1500" b="1" dirty="0">
                <a:solidFill>
                  <a:schemeClr val="tx1"/>
                </a:solidFill>
              </a:rPr>
              <a:t>원숭이 악마 100마리 처치</a:t>
            </a:r>
            <a:endParaRPr lang="ko-KR" altLang="en-US" sz="1500" dirty="0"/>
          </a:p>
        </p:txBody>
      </p:sp>
      <p:sp>
        <p:nvSpPr>
          <p:cNvPr id="12" name="Text 9"/>
          <p:cNvSpPr txBox="1"/>
          <p:nvPr/>
        </p:nvSpPr>
        <p:spPr>
          <a:xfrm>
            <a:off x="8458200" y="2651760"/>
            <a:ext cx="2956255" cy="347472"/>
          </a:xfrm>
          <a:prstGeom prst="rect">
            <a:avLst/>
          </a:prstGeom>
          <a:noFill/>
          <a:ln/>
        </p:spPr>
        <p:txBody>
          <a:bodyPr wrap="square" lIns="0" tIns="0" rIns="0" bIns="0" rtlCol="0" anchor="t"/>
          <a:lstStyle/>
          <a:p>
            <a:pPr indent="0" marL="0" eaLnBrk="0">
              <a:buNone/>
            </a:pPr>
            <a:r>
              <a:rPr lang="ko-KR" altLang="en-US" sz="1300" dirty="0">
                <a:solidFill>
                  <a:schemeClr val="accent5"/>
                </a:solidFill>
              </a:rPr>
              <a:t>일어나는 곳: 전투 코드</a:t>
            </a:r>
            <a:endParaRPr lang="ko-KR" altLang="en-US" sz="1300" dirty="0"/>
          </a:p>
        </p:txBody>
      </p:sp>
      <p:sp>
        <p:nvSpPr>
          <p:cNvPr id="13" name="Shape 10"/>
          <p:cNvSpPr/>
          <p:nvPr/>
        </p:nvSpPr>
        <p:spPr>
          <a:xfrm>
            <a:off x="8229600" y="3291840"/>
            <a:ext cx="3413455" cy="1005840"/>
          </a:xfrm>
          <a:prstGeom prst="roundRect">
            <a:avLst>
              <a:gd name="adj" fmla="val 9091"/>
            </a:avLst>
          </a:prstGeom>
          <a:solidFill>
            <a:schemeClr val="accent1"/>
          </a:solidFill>
          <a:ln w="12700">
            <a:solidFill>
              <a:schemeClr val="accent1"/>
            </a:solidFill>
            <a:prstDash val="solid"/>
          </a:ln>
        </p:spPr>
      </p:sp>
      <p:sp>
        <p:nvSpPr>
          <p:cNvPr id="14" name="Text 11"/>
          <p:cNvSpPr txBox="1"/>
          <p:nvPr/>
        </p:nvSpPr>
        <p:spPr>
          <a:xfrm>
            <a:off x="8458200" y="3401568"/>
            <a:ext cx="2956255" cy="411480"/>
          </a:xfrm>
          <a:prstGeom prst="rect">
            <a:avLst/>
          </a:prstGeom>
          <a:noFill/>
          <a:ln/>
        </p:spPr>
        <p:txBody>
          <a:bodyPr wrap="square" lIns="0" tIns="0" rIns="0" bIns="0" rtlCol="0" anchor="t"/>
          <a:lstStyle/>
          <a:p>
            <a:pPr indent="0" marL="0" eaLnBrk="0">
              <a:buNone/>
            </a:pPr>
            <a:r>
              <a:rPr lang="ko-KR" altLang="en-US" sz="1500" b="1" dirty="0">
                <a:solidFill>
                  <a:schemeClr val="bg1"/>
                </a:solidFill>
              </a:rPr>
              <a:t>다리에서 떨어지기</a:t>
            </a:r>
            <a:endParaRPr lang="ko-KR" altLang="en-US" sz="1500" dirty="0"/>
          </a:p>
        </p:txBody>
      </p:sp>
      <p:sp>
        <p:nvSpPr>
          <p:cNvPr id="15" name="Text 12"/>
          <p:cNvSpPr txBox="1"/>
          <p:nvPr/>
        </p:nvSpPr>
        <p:spPr>
          <a:xfrm>
            <a:off x="8458200" y="3840480"/>
            <a:ext cx="2956255" cy="347472"/>
          </a:xfrm>
          <a:prstGeom prst="rect">
            <a:avLst/>
          </a:prstGeom>
          <a:noFill/>
          <a:ln/>
        </p:spPr>
        <p:txBody>
          <a:bodyPr wrap="square" lIns="0" tIns="0" rIns="0" bIns="0" rtlCol="0" anchor="t"/>
          <a:lstStyle/>
          <a:p>
            <a:pPr indent="0" marL="0" eaLnBrk="0">
              <a:buNone/>
            </a:pPr>
            <a:r>
              <a:rPr lang="ko-KR" altLang="en-US" sz="1300" dirty="0">
                <a:solidFill>
                  <a:schemeClr val="bg1"/>
                </a:solidFill>
              </a:rPr>
              <a:t>일어나는 곳: 물리 코드</a:t>
            </a:r>
            <a:endParaRPr lang="ko-KR" altLang="en-US" sz="1300" dirty="0"/>
          </a:p>
        </p:txBody>
      </p:sp>
      <p:sp>
        <p:nvSpPr>
          <p:cNvPr id="16" name="Shape 13"/>
          <p:cNvSpPr/>
          <p:nvPr/>
        </p:nvSpPr>
        <p:spPr>
          <a:xfrm>
            <a:off x="8229600" y="4480560"/>
            <a:ext cx="3413455" cy="1005840"/>
          </a:xfrm>
          <a:prstGeom prst="roundRect">
            <a:avLst>
              <a:gd name="adj" fmla="val 9091"/>
            </a:avLst>
          </a:prstGeom>
          <a:solidFill>
            <a:schemeClr val="bg2"/>
          </a:solidFill>
          <a:ln w="12700">
            <a:solidFill>
              <a:schemeClr val="bg2"/>
            </a:solidFill>
            <a:prstDash val="solid"/>
          </a:ln>
        </p:spPr>
      </p:sp>
      <p:sp>
        <p:nvSpPr>
          <p:cNvPr id="17" name="Text 14"/>
          <p:cNvSpPr txBox="1"/>
          <p:nvPr/>
        </p:nvSpPr>
        <p:spPr>
          <a:xfrm>
            <a:off x="8458200" y="4590288"/>
            <a:ext cx="2956255" cy="411480"/>
          </a:xfrm>
          <a:prstGeom prst="rect">
            <a:avLst/>
          </a:prstGeom>
          <a:noFill/>
          <a:ln/>
        </p:spPr>
        <p:txBody>
          <a:bodyPr wrap="square" lIns="0" tIns="0" rIns="0" bIns="0" rtlCol="0" anchor="t"/>
          <a:lstStyle/>
          <a:p>
            <a:pPr indent="0" marL="0" eaLnBrk="0">
              <a:buNone/>
            </a:pPr>
            <a:r>
              <a:rPr lang="ko-KR" altLang="en-US" sz="1500" b="1" dirty="0">
                <a:solidFill>
                  <a:schemeClr val="tx1"/>
                </a:solidFill>
              </a:rPr>
              <a:t>죽은 족제비만 들고 레벨 깨기</a:t>
            </a:r>
            <a:endParaRPr lang="ko-KR" altLang="en-US" sz="1500" dirty="0"/>
          </a:p>
        </p:txBody>
      </p:sp>
      <p:sp>
        <p:nvSpPr>
          <p:cNvPr id="18" name="Text 15"/>
          <p:cNvSpPr txBox="1"/>
          <p:nvPr/>
        </p:nvSpPr>
        <p:spPr>
          <a:xfrm>
            <a:off x="8458200" y="5029200"/>
            <a:ext cx="2956255" cy="347472"/>
          </a:xfrm>
          <a:prstGeom prst="rect">
            <a:avLst/>
          </a:prstGeom>
          <a:noFill/>
          <a:ln/>
        </p:spPr>
        <p:txBody>
          <a:bodyPr wrap="square" lIns="0" tIns="0" rIns="0" bIns="0" rtlCol="0" anchor="t"/>
          <a:lstStyle/>
          <a:p>
            <a:pPr indent="0" marL="0" eaLnBrk="0">
              <a:buNone/>
            </a:pPr>
            <a:r>
              <a:rPr lang="ko-KR" altLang="en-US" sz="1300" dirty="0">
                <a:solidFill>
                  <a:schemeClr val="accent5"/>
                </a:solidFill>
              </a:rPr>
              <a:t>일어나는 곳: 인벤토리 코드</a:t>
            </a:r>
            <a:endParaRPr lang="ko-KR" altLang="en-US" sz="13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5</a:t>
            </a:fld>
            <a:endParaRPr lang="ko-KR"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한계</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물리 엔진이 업적 시스템에 묶이고, 업적 호출이 곳곳에 퍼진다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물리 코드가 업적을 모르게 하려면 어떻게 해야 할까?</a:t>
            </a:r>
            <a:endParaRPr lang="ko-KR" altLang="en-US" sz="1500" dirty="0"/>
          </a:p>
        </p:txBody>
      </p:sp>
      <p:sp>
        <p:nvSpPr>
          <p:cNvPr id="6" name="box"/>
          <p:cNvSpPr/>
          <p:nvPr/>
        </p:nvSpPr>
        <p:spPr>
          <a:xfrm>
            <a:off x="731520" y="1828800"/>
            <a:ext cx="2377440" cy="777240"/>
          </a:xfrm>
          <a:prstGeom prst="roundRect">
            <a:avLst>
              <a:gd name="adj" fmla="val 9412"/>
            </a:avLst>
          </a:prstGeom>
          <a:solidFill>
            <a:schemeClr val="bg2"/>
          </a:solidFill>
          <a:ln w="12700">
            <a:solidFill>
              <a:schemeClr val="bg2"/>
            </a:solidFill>
            <a:prstDash val="solid"/>
          </a:ln>
        </p:spPr>
      </p:sp>
      <p:sp>
        <p:nvSpPr>
          <p:cNvPr id="7" name="Text 4"/>
          <p:cNvSpPr txBox="1"/>
          <p:nvPr/>
        </p:nvSpPr>
        <p:spPr>
          <a:xfrm>
            <a:off x="731520" y="1828800"/>
            <a:ext cx="2377440" cy="777240"/>
          </a:xfrm>
          <a:prstGeom prst="rect">
            <a:avLst/>
          </a:prstGeom>
          <a:noFill/>
          <a:ln/>
        </p:spPr>
        <p:txBody>
          <a:bodyPr wrap="square" lIns="635" tIns="635" rIns="635" bIns="635" rtlCol="0" anchor="ctr"/>
          <a:lstStyle/>
          <a:p>
            <a:pPr algn="ctr" indent="0" marL="0" eaLnBrk="0">
              <a:buNone/>
            </a:pPr>
            <a:r>
              <a:rPr lang="ko-KR" altLang="en-US" sz="1600" b="1" dirty="0">
                <a:solidFill>
                  <a:schemeClr val="tx1"/>
                </a:solidFill>
              </a:rPr>
              <a:t>물리 엔진</a:t>
            </a:r>
            <a:endParaRPr lang="ko-KR" altLang="en-US" sz="1600" dirty="0"/>
          </a:p>
        </p:txBody>
      </p:sp>
      <p:sp>
        <p:nvSpPr>
          <p:cNvPr id="8" name="box"/>
          <p:cNvSpPr/>
          <p:nvPr/>
        </p:nvSpPr>
        <p:spPr>
          <a:xfrm>
            <a:off x="731520" y="3063240"/>
            <a:ext cx="2377440" cy="777240"/>
          </a:xfrm>
          <a:prstGeom prst="roundRect">
            <a:avLst>
              <a:gd name="adj" fmla="val 9412"/>
            </a:avLst>
          </a:prstGeom>
          <a:solidFill>
            <a:schemeClr val="bg2"/>
          </a:solidFill>
          <a:ln w="12700">
            <a:solidFill>
              <a:schemeClr val="bg2"/>
            </a:solidFill>
            <a:prstDash val="solid"/>
          </a:ln>
        </p:spPr>
      </p:sp>
      <p:sp>
        <p:nvSpPr>
          <p:cNvPr id="9" name="Text 6"/>
          <p:cNvSpPr txBox="1"/>
          <p:nvPr/>
        </p:nvSpPr>
        <p:spPr>
          <a:xfrm>
            <a:off x="731520" y="3063240"/>
            <a:ext cx="2377440" cy="777240"/>
          </a:xfrm>
          <a:prstGeom prst="rect">
            <a:avLst/>
          </a:prstGeom>
          <a:noFill/>
          <a:ln/>
        </p:spPr>
        <p:txBody>
          <a:bodyPr wrap="square" lIns="635" tIns="635" rIns="635" bIns="635" rtlCol="0" anchor="ctr"/>
          <a:lstStyle/>
          <a:p>
            <a:pPr algn="ctr" indent="0" marL="0" eaLnBrk="0">
              <a:buNone/>
            </a:pPr>
            <a:r>
              <a:rPr lang="ko-KR" altLang="en-US" sz="1600" b="1" dirty="0">
                <a:solidFill>
                  <a:schemeClr val="tx1"/>
                </a:solidFill>
              </a:rPr>
              <a:t>전투</a:t>
            </a:r>
            <a:endParaRPr lang="ko-KR" altLang="en-US" sz="1600" dirty="0"/>
          </a:p>
        </p:txBody>
      </p:sp>
      <p:sp>
        <p:nvSpPr>
          <p:cNvPr id="10" name="box"/>
          <p:cNvSpPr/>
          <p:nvPr/>
        </p:nvSpPr>
        <p:spPr>
          <a:xfrm>
            <a:off x="731520" y="4297680"/>
            <a:ext cx="2377440" cy="777240"/>
          </a:xfrm>
          <a:prstGeom prst="roundRect">
            <a:avLst>
              <a:gd name="adj" fmla="val 9412"/>
            </a:avLst>
          </a:prstGeom>
          <a:solidFill>
            <a:schemeClr val="bg2"/>
          </a:solidFill>
          <a:ln w="12700">
            <a:solidFill>
              <a:schemeClr val="bg2"/>
            </a:solidFill>
            <a:prstDash val="solid"/>
          </a:ln>
        </p:spPr>
      </p:sp>
      <p:sp>
        <p:nvSpPr>
          <p:cNvPr id="11" name="Text 8"/>
          <p:cNvSpPr txBox="1"/>
          <p:nvPr/>
        </p:nvSpPr>
        <p:spPr>
          <a:xfrm>
            <a:off x="731520" y="4297680"/>
            <a:ext cx="2377440" cy="777240"/>
          </a:xfrm>
          <a:prstGeom prst="rect">
            <a:avLst/>
          </a:prstGeom>
          <a:noFill/>
          <a:ln/>
        </p:spPr>
        <p:txBody>
          <a:bodyPr wrap="square" lIns="635" tIns="635" rIns="635" bIns="635" rtlCol="0" anchor="ctr"/>
          <a:lstStyle/>
          <a:p>
            <a:pPr algn="ctr" indent="0" marL="0" eaLnBrk="0">
              <a:buNone/>
            </a:pPr>
            <a:r>
              <a:rPr lang="ko-KR" altLang="en-US" sz="1600" b="1" dirty="0">
                <a:solidFill>
                  <a:schemeClr val="tx1"/>
                </a:solidFill>
              </a:rPr>
              <a:t>인벤토리</a:t>
            </a:r>
            <a:endParaRPr lang="ko-KR" altLang="en-US" sz="1600" dirty="0"/>
          </a:p>
        </p:txBody>
      </p:sp>
      <p:sp>
        <p:nvSpPr>
          <p:cNvPr id="12" name="box"/>
          <p:cNvSpPr/>
          <p:nvPr/>
        </p:nvSpPr>
        <p:spPr>
          <a:xfrm>
            <a:off x="4023360" y="3063240"/>
            <a:ext cx="1828800" cy="777240"/>
          </a:xfrm>
          <a:prstGeom prst="roundRect">
            <a:avLst>
              <a:gd name="adj" fmla="val 9412"/>
            </a:avLst>
          </a:prstGeom>
          <a:solidFill>
            <a:schemeClr val="accent6"/>
          </a:solidFill>
          <a:ln w="12700">
            <a:solidFill>
              <a:schemeClr val="accent6"/>
            </a:solidFill>
            <a:prstDash val="solid"/>
          </a:ln>
        </p:spPr>
      </p:sp>
      <p:sp>
        <p:nvSpPr>
          <p:cNvPr id="13" name="Text 10"/>
          <p:cNvSpPr txBox="1"/>
          <p:nvPr/>
        </p:nvSpPr>
        <p:spPr>
          <a:xfrm>
            <a:off x="4023360" y="3063240"/>
            <a:ext cx="1828800" cy="777240"/>
          </a:xfrm>
          <a:prstGeom prst="rect">
            <a:avLst/>
          </a:prstGeom>
          <a:noFill/>
          <a:ln/>
        </p:spPr>
        <p:txBody>
          <a:bodyPr wrap="square" lIns="635" tIns="635" rIns="635" bIns="635" rtlCol="0" anchor="ctr"/>
          <a:lstStyle/>
          <a:p>
            <a:pPr algn="ctr" indent="0" marL="0" eaLnBrk="0">
              <a:buNone/>
            </a:pPr>
            <a:r>
              <a:rPr lang="ko-KR" altLang="en-US" sz="1600" b="1" dirty="0">
                <a:solidFill>
                  <a:schemeClr val="bg1"/>
                </a:solidFill>
              </a:rPr>
              <a:t>업적 시스템</a:t>
            </a:r>
            <a:endParaRPr lang="ko-KR" altLang="en-US" sz="1600" dirty="0"/>
          </a:p>
        </p:txBody>
      </p:sp>
      <p:sp>
        <p:nvSpPr>
          <p:cNvPr id="14" name="Shape 11"/>
          <p:cNvSpPr/>
          <p:nvPr/>
        </p:nvSpPr>
        <p:spPr>
          <a:xfrm>
            <a:off x="3154680" y="2217420"/>
            <a:ext cx="822960" cy="1234440"/>
          </a:xfrm>
          <a:prstGeom prst="line">
            <a:avLst/>
          </a:prstGeom>
          <a:noFill/>
          <a:ln w="22225">
            <a:solidFill>
              <a:schemeClr val="accent6"/>
            </a:solidFill>
            <a:prstDash val="solid"/>
            <a:tailEnd type="triangle"/>
          </a:ln>
        </p:spPr>
      </p:sp>
      <p:sp>
        <p:nvSpPr>
          <p:cNvPr id="15" name="Shape 12"/>
          <p:cNvSpPr/>
          <p:nvPr/>
        </p:nvSpPr>
        <p:spPr>
          <a:xfrm>
            <a:off x="3154680" y="3451860"/>
            <a:ext cx="822960" cy="914"/>
          </a:xfrm>
          <a:prstGeom prst="line">
            <a:avLst/>
          </a:prstGeom>
          <a:noFill/>
          <a:ln w="22225">
            <a:solidFill>
              <a:schemeClr val="accent6"/>
            </a:solidFill>
            <a:prstDash val="solid"/>
            <a:tailEnd type="triangle"/>
          </a:ln>
        </p:spPr>
      </p:sp>
      <p:sp>
        <p:nvSpPr>
          <p:cNvPr id="16" name="Shape 13"/>
          <p:cNvSpPr/>
          <p:nvPr/>
        </p:nvSpPr>
        <p:spPr>
          <a:xfrm flipV="1">
            <a:off x="3154680" y="3451860"/>
            <a:ext cx="822960" cy="1234440"/>
          </a:xfrm>
          <a:prstGeom prst="line">
            <a:avLst/>
          </a:prstGeom>
          <a:noFill/>
          <a:ln w="22225">
            <a:solidFill>
              <a:schemeClr val="accent6"/>
            </a:solidFill>
            <a:prstDash val="solid"/>
            <a:tailEnd type="triangle"/>
          </a:ln>
        </p:spPr>
      </p:sp>
      <p:sp>
        <p:nvSpPr>
          <p:cNvPr id="17" name="Text 14"/>
          <p:cNvSpPr txBox="1"/>
          <p:nvPr/>
        </p:nvSpPr>
        <p:spPr>
          <a:xfrm>
            <a:off x="731520" y="5257800"/>
            <a:ext cx="5303520" cy="365760"/>
          </a:xfrm>
          <a:prstGeom prst="rect">
            <a:avLst/>
          </a:prstGeom>
          <a:noFill/>
          <a:ln/>
        </p:spPr>
        <p:txBody>
          <a:bodyPr wrap="square" lIns="0" tIns="0" rIns="0" bIns="0" rtlCol="0" anchor="t"/>
          <a:lstStyle/>
          <a:p>
            <a:pPr indent="0" marL="0" eaLnBrk="0">
              <a:buNone/>
            </a:pPr>
            <a:r>
              <a:rPr lang="ko-KR" altLang="en-US" sz="1400" dirty="0">
                <a:solidFill>
                  <a:schemeClr val="tx2"/>
                </a:solidFill>
              </a:rPr>
              <a:t>모든 코드가 업적 시스템을 직접 부른다.</a:t>
            </a:r>
            <a:endParaRPr lang="ko-KR" altLang="en-US" sz="1400" dirty="0"/>
          </a:p>
        </p:txBody>
      </p:sp>
      <p:sp>
        <p:nvSpPr>
          <p:cNvPr id="18" name="card"/>
          <p:cNvSpPr/>
          <p:nvPr/>
        </p:nvSpPr>
        <p:spPr>
          <a:xfrm>
            <a:off x="6492240" y="1737360"/>
            <a:ext cx="5150815" cy="1188720"/>
          </a:xfrm>
          <a:prstGeom prst="roundRect">
            <a:avLst>
              <a:gd name="adj" fmla="val 7692"/>
            </a:avLst>
          </a:prstGeom>
          <a:solidFill>
            <a:schemeClr val="bg2"/>
          </a:solidFill>
          <a:ln w="12700">
            <a:solidFill>
              <a:schemeClr val="bg2"/>
            </a:solidFill>
            <a:prstDash val="solid"/>
          </a:ln>
        </p:spPr>
      </p:sp>
      <p:sp>
        <p:nvSpPr>
          <p:cNvPr id="19" name="Shape 16"/>
          <p:cNvSpPr/>
          <p:nvPr/>
        </p:nvSpPr>
        <p:spPr>
          <a:xfrm>
            <a:off x="6720840" y="1938528"/>
            <a:ext cx="420624" cy="420624"/>
          </a:xfrm>
          <a:prstGeom prst="ellipse">
            <a:avLst/>
          </a:prstGeom>
          <a:solidFill>
            <a:schemeClr val="accent1"/>
          </a:solidFill>
          <a:ln w="12700">
            <a:solidFill>
              <a:schemeClr val="accent1"/>
            </a:solidFill>
            <a:prstDash val="solid"/>
          </a:ln>
        </p:spPr>
      </p:sp>
      <p:sp>
        <p:nvSpPr>
          <p:cNvPr id="20" name="Text 17"/>
          <p:cNvSpPr txBox="1"/>
          <p:nvPr/>
        </p:nvSpPr>
        <p:spPr>
          <a:xfrm>
            <a:off x="6720840" y="193852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1</a:t>
            </a:r>
            <a:endParaRPr lang="ko-KR" altLang="en-US" sz="1500" dirty="0"/>
          </a:p>
        </p:txBody>
      </p:sp>
      <p:sp>
        <p:nvSpPr>
          <p:cNvPr id="21" name="Text 18"/>
          <p:cNvSpPr txBox="1"/>
          <p:nvPr/>
        </p:nvSpPr>
        <p:spPr>
          <a:xfrm>
            <a:off x="7269480" y="1956816"/>
            <a:ext cx="419069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물리 코드가 업적을 안다</a:t>
            </a:r>
            <a:endParaRPr lang="ko-KR" altLang="en-US" sz="1700" dirty="0"/>
          </a:p>
        </p:txBody>
      </p:sp>
      <p:sp>
        <p:nvSpPr>
          <p:cNvPr id="22" name="Text 19"/>
          <p:cNvSpPr txBox="1"/>
          <p:nvPr/>
        </p:nvSpPr>
        <p:spPr>
          <a:xfrm>
            <a:off x="7269480" y="2377440"/>
            <a:ext cx="4190695" cy="457200"/>
          </a:xfrm>
          <a:prstGeom prst="rect">
            <a:avLst/>
          </a:prstGeom>
          <a:noFill/>
          <a:ln/>
        </p:spPr>
        <p:txBody>
          <a:bodyPr wrap="square" lIns="0" tIns="0" rIns="0" bIns="0" rtlCol="0" anchor="t"/>
          <a:lstStyle/>
          <a:p>
            <a:pPr indent="0" marL="0" eaLnBrk="0">
              <a:buNone/>
            </a:pPr>
            <a:r>
              <a:rPr lang="ko-KR" altLang="en-US" sz="1400" dirty="0">
                <a:solidFill>
                  <a:schemeClr val="tx2"/>
                </a:solidFill>
              </a:rPr>
              <a:t>업적 시스템 없이는 컴파일조차 되지 않는다.</a:t>
            </a:r>
            <a:endParaRPr lang="ko-KR" altLang="en-US" sz="1400" dirty="0"/>
          </a:p>
        </p:txBody>
      </p:sp>
      <p:sp>
        <p:nvSpPr>
          <p:cNvPr id="23" name="card"/>
          <p:cNvSpPr/>
          <p:nvPr/>
        </p:nvSpPr>
        <p:spPr>
          <a:xfrm>
            <a:off x="6492240" y="3063240"/>
            <a:ext cx="5150815" cy="1188720"/>
          </a:xfrm>
          <a:prstGeom prst="roundRect">
            <a:avLst>
              <a:gd name="adj" fmla="val 7692"/>
            </a:avLst>
          </a:prstGeom>
          <a:solidFill>
            <a:schemeClr val="bg2"/>
          </a:solidFill>
          <a:ln w="12700">
            <a:solidFill>
              <a:schemeClr val="bg2"/>
            </a:solidFill>
            <a:prstDash val="solid"/>
          </a:ln>
        </p:spPr>
      </p:sp>
      <p:sp>
        <p:nvSpPr>
          <p:cNvPr id="24" name="Shape 21"/>
          <p:cNvSpPr/>
          <p:nvPr/>
        </p:nvSpPr>
        <p:spPr>
          <a:xfrm>
            <a:off x="6720840" y="3264408"/>
            <a:ext cx="420624" cy="420624"/>
          </a:xfrm>
          <a:prstGeom prst="ellipse">
            <a:avLst/>
          </a:prstGeom>
          <a:solidFill>
            <a:schemeClr val="accent1"/>
          </a:solidFill>
          <a:ln w="12700">
            <a:solidFill>
              <a:schemeClr val="accent1"/>
            </a:solidFill>
            <a:prstDash val="solid"/>
          </a:ln>
        </p:spPr>
      </p:sp>
      <p:sp>
        <p:nvSpPr>
          <p:cNvPr id="25" name="Text 22"/>
          <p:cNvSpPr txBox="1"/>
          <p:nvPr/>
        </p:nvSpPr>
        <p:spPr>
          <a:xfrm>
            <a:off x="6720840" y="326440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2</a:t>
            </a:r>
            <a:endParaRPr lang="ko-KR" altLang="en-US" sz="1500" dirty="0"/>
          </a:p>
        </p:txBody>
      </p:sp>
      <p:sp>
        <p:nvSpPr>
          <p:cNvPr id="26" name="Text 23"/>
          <p:cNvSpPr txBox="1"/>
          <p:nvPr/>
        </p:nvSpPr>
        <p:spPr>
          <a:xfrm>
            <a:off x="7269480" y="3282696"/>
            <a:ext cx="419069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업적을 바꾸면 물리 코드를 고친다</a:t>
            </a:r>
            <a:endParaRPr lang="ko-KR" altLang="en-US" sz="1700" dirty="0"/>
          </a:p>
        </p:txBody>
      </p:sp>
      <p:sp>
        <p:nvSpPr>
          <p:cNvPr id="27" name="Text 24"/>
          <p:cNvSpPr txBox="1"/>
          <p:nvPr/>
        </p:nvSpPr>
        <p:spPr>
          <a:xfrm>
            <a:off x="7269480" y="3703320"/>
            <a:ext cx="4190695" cy="457200"/>
          </a:xfrm>
          <a:prstGeom prst="rect">
            <a:avLst/>
          </a:prstGeom>
          <a:noFill/>
          <a:ln/>
        </p:spPr>
        <p:txBody>
          <a:bodyPr wrap="square" lIns="0" tIns="0" rIns="0" bIns="0" rtlCol="0" anchor="t"/>
          <a:lstStyle/>
          <a:p>
            <a:pPr indent="0" marL="0" eaLnBrk="0">
              <a:buNone/>
            </a:pPr>
            <a:r>
              <a:rPr lang="ko-KR" altLang="en-US" sz="1400" dirty="0">
                <a:solidFill>
                  <a:schemeClr val="tx2"/>
                </a:solidFill>
              </a:rPr>
              <a:t>업적 조건 하나를 바꾸려고 충돌 계산 코드를 연다.</a:t>
            </a:r>
            <a:endParaRPr lang="ko-KR" altLang="en-US" sz="1400" dirty="0"/>
          </a:p>
        </p:txBody>
      </p:sp>
      <p:sp>
        <p:nvSpPr>
          <p:cNvPr id="28" name="card"/>
          <p:cNvSpPr/>
          <p:nvPr/>
        </p:nvSpPr>
        <p:spPr>
          <a:xfrm>
            <a:off x="6492240" y="4389120"/>
            <a:ext cx="5150815" cy="1188720"/>
          </a:xfrm>
          <a:prstGeom prst="roundRect">
            <a:avLst>
              <a:gd name="adj" fmla="val 7692"/>
            </a:avLst>
          </a:prstGeom>
          <a:solidFill>
            <a:schemeClr val="bg2"/>
          </a:solidFill>
          <a:ln w="12700">
            <a:solidFill>
              <a:schemeClr val="bg2"/>
            </a:solidFill>
            <a:prstDash val="solid"/>
          </a:ln>
        </p:spPr>
      </p:sp>
      <p:sp>
        <p:nvSpPr>
          <p:cNvPr id="29" name="Shape 26"/>
          <p:cNvSpPr/>
          <p:nvPr/>
        </p:nvSpPr>
        <p:spPr>
          <a:xfrm>
            <a:off x="6720840" y="4590288"/>
            <a:ext cx="420624" cy="420624"/>
          </a:xfrm>
          <a:prstGeom prst="ellipse">
            <a:avLst/>
          </a:prstGeom>
          <a:solidFill>
            <a:schemeClr val="accent1"/>
          </a:solidFill>
          <a:ln w="12700">
            <a:solidFill>
              <a:schemeClr val="accent1"/>
            </a:solidFill>
            <a:prstDash val="solid"/>
          </a:ln>
        </p:spPr>
      </p:sp>
      <p:sp>
        <p:nvSpPr>
          <p:cNvPr id="30" name="Text 27"/>
          <p:cNvSpPr txBox="1"/>
          <p:nvPr/>
        </p:nvSpPr>
        <p:spPr>
          <a:xfrm>
            <a:off x="6720840" y="459028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3</a:t>
            </a:r>
            <a:endParaRPr lang="ko-KR" altLang="en-US" sz="1500" dirty="0"/>
          </a:p>
        </p:txBody>
      </p:sp>
      <p:sp>
        <p:nvSpPr>
          <p:cNvPr id="31" name="Text 28"/>
          <p:cNvSpPr txBox="1"/>
          <p:nvPr/>
        </p:nvSpPr>
        <p:spPr>
          <a:xfrm>
            <a:off x="7269480" y="4608576"/>
            <a:ext cx="419069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업적 호출이 곳곳에 퍼진다</a:t>
            </a:r>
            <a:endParaRPr lang="ko-KR" altLang="en-US" sz="1700" dirty="0"/>
          </a:p>
        </p:txBody>
      </p:sp>
      <p:sp>
        <p:nvSpPr>
          <p:cNvPr id="32" name="Text 29"/>
          <p:cNvSpPr txBox="1"/>
          <p:nvPr/>
        </p:nvSpPr>
        <p:spPr>
          <a:xfrm>
            <a:off x="7269480" y="5029200"/>
            <a:ext cx="4190695" cy="457200"/>
          </a:xfrm>
          <a:prstGeom prst="rect">
            <a:avLst/>
          </a:prstGeom>
          <a:noFill/>
          <a:ln/>
        </p:spPr>
        <p:txBody>
          <a:bodyPr wrap="square" lIns="0" tIns="0" rIns="0" bIns="0" rtlCol="0" anchor="t"/>
          <a:lstStyle/>
          <a:p>
            <a:pPr indent="0" marL="0" eaLnBrk="0">
              <a:buNone/>
            </a:pPr>
            <a:r>
              <a:rPr lang="ko-KR" altLang="en-US" sz="1400" dirty="0">
                <a:solidFill>
                  <a:schemeClr val="tx2"/>
                </a:solidFill>
              </a:rPr>
              <a:t>업적이 늘수록 전투, 인벤토리에도 호출이 생긴다.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6</a:t>
            </a:fld>
            <a:endParaRPr lang="ko-KR"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알리기만 하기</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물리 코드는 ‘떨어지기 시작했다’고 알리기만 한다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알림을 받을 쪽은 어떤 모양이어야 할까?</a:t>
            </a:r>
            <a:endParaRPr lang="ko-KR" altLang="en-US" sz="1500" dirty="0"/>
          </a:p>
        </p:txBody>
      </p:sp>
      <p:sp>
        <p:nvSpPr>
          <p:cNvPr id="6" name="codePanel"/>
          <p:cNvSpPr/>
          <p:nvPr/>
        </p:nvSpPr>
        <p:spPr>
          <a:xfrm>
            <a:off x="548640" y="1645920"/>
            <a:ext cx="6583680" cy="2880360"/>
          </a:xfrm>
          <a:prstGeom prst="roundRect">
            <a:avLst>
              <a:gd name="adj" fmla="val 2540"/>
            </a:avLst>
          </a:prstGeom>
          <a:solidFill>
            <a:schemeClr val="tx1"/>
          </a:solidFill>
          <a:ln w="12700">
            <a:solidFill>
              <a:schemeClr val="tx1"/>
            </a:solidFill>
            <a:prstDash val="solid"/>
          </a:ln>
        </p:spPr>
      </p:sp>
      <p:sp>
        <p:nvSpPr>
          <p:cNvPr id="7" name="code"/>
          <p:cNvSpPr txBox="1"/>
          <p:nvPr/>
        </p:nvSpPr>
        <p:spPr>
          <a:xfrm>
            <a:off x="658368" y="1737360"/>
            <a:ext cx="6364224" cy="2697480"/>
          </a:xfrm>
          <a:prstGeom prst="rect">
            <a:avLst/>
          </a:prstGeom>
          <a:noFill/>
          <a:ln/>
        </p:spPr>
        <p:txBody>
          <a:bodyPr wrap="square" lIns="635" tIns="635" rIns="635" bIns="635" rtlCol="0" anchor="t"/>
          <a:lstStyle/>
          <a:p>
            <a:pPr indent="0" marL="0" eaLnBrk="0">
              <a:buNone/>
            </a:pPr>
            <a:r>
              <a:rPr lang="ko-KR" altLang="en-US" sz="1400" dirty="0">
                <a:solidFill>
                  <a:schemeClr val="bg1"/>
                </a:solidFill>
                <a:latin typeface="Consolas" pitchFamily="34" charset="0"/>
                <a:ea typeface="Consolas" pitchFamily="34" charset="-122"/>
                <a:cs typeface="Consolas" pitchFamily="34" charset="-120"/>
              </a:rPr>
              <a:t>public void UpdateEntity(Entity entity)</a:t>
            </a:r>
            <a:endParaRPr lang="ko-KR" altLang="en-US" sz="1400" dirty="0"/>
          </a:p>
          <a:p>
            <a:pPr indent="0" marL="0" eaLnBrk="0">
              <a:buNone/>
            </a:pPr>
            <a:r>
              <a:rPr lang="ko-KR" altLang="en-US" sz="1400" dirty="0">
                <a:solidFill>
                  <a:schemeClr val="bg1"/>
                </a:solidFill>
                <a:latin typeface="Consolas" pitchFamily="34" charset="0"/>
                <a:ea typeface="Consolas" pitchFamily="34" charset="-122"/>
                <a:cs typeface="Consolas" pitchFamily="34" charset="-120"/>
              </a:rPr>
              <a:t>{</a:t>
            </a:r>
            <a:endParaRPr lang="ko-KR" altLang="en-US" sz="1400" dirty="0"/>
          </a:p>
          <a:p>
            <a:pPr indent="0" marL="0" eaLnBrk="0">
              <a:buNone/>
            </a:pPr>
            <a:r>
              <a:rPr lang="ko-KR" altLang="en-US" sz="1400" dirty="0">
                <a:solidFill>
                  <a:schemeClr val="bg1"/>
                </a:solidFill>
                <a:latin typeface="Consolas" pitchFamily="34" charset="0"/>
                <a:ea typeface="Consolas" pitchFamily="34" charset="-122"/>
                <a:cs typeface="Consolas" pitchFamily="34" charset="-120"/>
              </a:rPr>
              <a:t>    bool wasOnSurface = entity.IsOnSurface();</a:t>
            </a:r>
            <a:endParaRPr lang="ko-KR" altLang="en-US" sz="1400" dirty="0"/>
          </a:p>
          <a:p>
            <a:pPr indent="0" marL="0" eaLnBrk="0">
              <a:buNone/>
            </a:pPr>
            <a:r>
              <a:rPr lang="ko-KR" altLang="en-US" sz="1400" dirty="0">
                <a:solidFill>
                  <a:schemeClr val="bg1"/>
                </a:solidFill>
                <a:latin typeface="Consolas" pitchFamily="34" charset="0"/>
                <a:ea typeface="Consolas" pitchFamily="34" charset="-122"/>
                <a:cs typeface="Consolas" pitchFamily="34" charset="-120"/>
              </a:rPr>
              <a:t>    entity.Accelerate(Gravity);</a:t>
            </a:r>
            <a:endParaRPr lang="ko-KR" altLang="en-US" sz="1400" dirty="0"/>
          </a:p>
          <a:p>
            <a:pPr indent="0" marL="0" eaLnBrk="0">
              <a:buNone/>
            </a:pPr>
            <a:r>
              <a:rPr lang="ko-KR" altLang="en-US" sz="1400" dirty="0">
                <a:solidFill>
                  <a:schemeClr val="bg1"/>
                </a:solidFill>
                <a:latin typeface="Consolas" pitchFamily="34" charset="0"/>
                <a:ea typeface="Consolas" pitchFamily="34" charset="-122"/>
                <a:cs typeface="Consolas" pitchFamily="34" charset="-120"/>
              </a:rPr>
              <a:t>    entity.Update();</a:t>
            </a:r>
            <a:endParaRPr lang="ko-KR" altLang="en-US" sz="1400" dirty="0"/>
          </a:p>
          <a:p>
            <a:pPr indent="0" marL="0" eaLnBrk="0">
              <a:buNone/>
            </a:pPr>
            <a:r>
              <a:rPr lang="ko-KR" altLang="en-US" sz="1400" dirty="0">
                <a:solidFill>
                  <a:schemeClr val="bg1"/>
                </a:solidFill>
                <a:latin typeface="Consolas" pitchFamily="34" charset="0"/>
                <a:ea typeface="Consolas" pitchFamily="34" charset="-122"/>
                <a:cs typeface="Consolas" pitchFamily="34" charset="-120"/>
              </a:rPr>
              <a:t> </a:t>
            </a:r>
            <a:endParaRPr lang="ko-KR" altLang="en-US" sz="1400" dirty="0"/>
          </a:p>
          <a:p>
            <a:pPr indent="0" marL="0" eaLnBrk="0">
              <a:buNone/>
            </a:pPr>
            <a:r>
              <a:rPr lang="ko-KR" altLang="en-US" sz="1400" b="1" dirty="0">
                <a:solidFill>
                  <a:schemeClr val="accent4"/>
                </a:solidFill>
                <a:latin typeface="Consolas" pitchFamily="34" charset="0"/>
                <a:ea typeface="Consolas" pitchFamily="34" charset="-122"/>
                <a:cs typeface="Consolas" pitchFamily="34" charset="-120"/>
              </a:rPr>
              <a:t>    if (wasOnSurface &amp;&amp; !entity.IsOnSurface())</a:t>
            </a:r>
            <a:endParaRPr lang="ko-KR" altLang="en-US" sz="1400" dirty="0"/>
          </a:p>
          <a:p>
            <a:pPr indent="0" marL="0" eaLnBrk="0">
              <a:buNone/>
            </a:pPr>
            <a:r>
              <a:rPr lang="ko-KR" altLang="en-US" sz="1400" dirty="0">
                <a:solidFill>
                  <a:schemeClr val="bg1"/>
                </a:solidFill>
                <a:latin typeface="Consolas" pitchFamily="34" charset="0"/>
                <a:ea typeface="Consolas" pitchFamily="34" charset="-122"/>
                <a:cs typeface="Consolas" pitchFamily="34" charset="-120"/>
              </a:rPr>
              <a:t>    {</a:t>
            </a:r>
            <a:endParaRPr lang="ko-KR" altLang="en-US" sz="1400" dirty="0"/>
          </a:p>
          <a:p>
            <a:pPr indent="0" marL="0" eaLnBrk="0">
              <a:buNone/>
            </a:pPr>
            <a:r>
              <a:rPr lang="ko-KR" altLang="en-US" sz="1400" b="1" dirty="0">
                <a:solidFill>
                  <a:schemeClr val="accent4"/>
                </a:solidFill>
                <a:latin typeface="Consolas" pitchFamily="34" charset="0"/>
                <a:ea typeface="Consolas" pitchFamily="34" charset="-122"/>
                <a:cs typeface="Consolas" pitchFamily="34" charset="-120"/>
              </a:rPr>
              <a:t>        Notify(entity, Event.EntityFell);</a:t>
            </a:r>
            <a:endParaRPr lang="ko-KR" altLang="en-US" sz="1400" dirty="0"/>
          </a:p>
          <a:p>
            <a:pPr indent="0" marL="0" eaLnBrk="0">
              <a:buNone/>
            </a:pPr>
            <a:r>
              <a:rPr lang="ko-KR" altLang="en-US" sz="1400" dirty="0">
                <a:solidFill>
                  <a:schemeClr val="bg1"/>
                </a:solidFill>
                <a:latin typeface="Consolas" pitchFamily="34" charset="0"/>
                <a:ea typeface="Consolas" pitchFamily="34" charset="-122"/>
                <a:cs typeface="Consolas" pitchFamily="34" charset="-120"/>
              </a:rPr>
              <a:t>    }</a:t>
            </a:r>
            <a:endParaRPr lang="ko-KR" altLang="en-US" sz="1400" dirty="0"/>
          </a:p>
          <a:p>
            <a:pPr indent="0" marL="0" eaLnBrk="0">
              <a:buNone/>
            </a:pPr>
            <a:r>
              <a:rPr lang="ko-KR" altLang="en-US" sz="1400" dirty="0">
                <a:solidFill>
                  <a:schemeClr val="bg1"/>
                </a:solidFill>
                <a:latin typeface="Consolas" pitchFamily="34" charset="0"/>
                <a:ea typeface="Consolas" pitchFamily="34" charset="-122"/>
                <a:cs typeface="Consolas" pitchFamily="34" charset="-120"/>
              </a:rPr>
              <a:t>}</a:t>
            </a:r>
            <a:endParaRPr lang="ko-KR" altLang="en-US" sz="1400" dirty="0"/>
          </a:p>
        </p:txBody>
      </p:sp>
      <p:sp>
        <p:nvSpPr>
          <p:cNvPr id="8" name="codeCaption"/>
          <p:cNvSpPr txBox="1"/>
          <p:nvPr/>
        </p:nvSpPr>
        <p:spPr>
          <a:xfrm>
            <a:off x="4023360" y="1737360"/>
            <a:ext cx="2971800" cy="237744"/>
          </a:xfrm>
          <a:prstGeom prst="rect">
            <a:avLst/>
          </a:prstGeom>
          <a:noFill/>
          <a:ln/>
        </p:spPr>
        <p:txBody>
          <a:bodyPr wrap="square" lIns="0" tIns="0" rIns="0" bIns="0" rtlCol="0" anchor="ctr"/>
          <a:lstStyle/>
          <a:p>
            <a:pPr algn="r" indent="0" marL="0" eaLnBrk="0">
              <a:buNone/>
            </a:pPr>
            <a:r>
              <a:rPr lang="ko-KR" altLang="en-US" sz="1000" dirty="0">
                <a:solidFill>
                  <a:schemeClr val="accent3"/>
                </a:solidFill>
              </a:rPr>
              <a:t>원서 예제를 C#으로 옮긴 코드</a:t>
            </a:r>
            <a:endParaRPr lang="ko-KR" altLang="en-US" sz="1000" dirty="0"/>
          </a:p>
        </p:txBody>
      </p:sp>
      <p:sp>
        <p:nvSpPr>
          <p:cNvPr id="9" name="card"/>
          <p:cNvSpPr/>
          <p:nvPr/>
        </p:nvSpPr>
        <p:spPr>
          <a:xfrm>
            <a:off x="7498080" y="1645920"/>
            <a:ext cx="4144975" cy="1783080"/>
          </a:xfrm>
          <a:prstGeom prst="roundRect">
            <a:avLst>
              <a:gd name="adj" fmla="val 5128"/>
            </a:avLst>
          </a:prstGeom>
          <a:solidFill>
            <a:schemeClr val="bg2"/>
          </a:solidFill>
          <a:ln w="12700">
            <a:solidFill>
              <a:schemeClr val="bg2"/>
            </a:solidFill>
            <a:prstDash val="solid"/>
          </a:ln>
        </p:spPr>
      </p:sp>
      <p:sp>
        <p:nvSpPr>
          <p:cNvPr id="10" name="Text 7"/>
          <p:cNvSpPr txBox="1"/>
          <p:nvPr/>
        </p:nvSpPr>
        <p:spPr>
          <a:xfrm>
            <a:off x="7726680" y="1865376"/>
            <a:ext cx="3733495" cy="411480"/>
          </a:xfrm>
          <a:prstGeom prst="rect">
            <a:avLst/>
          </a:prstGeom>
          <a:noFill/>
          <a:ln/>
        </p:spPr>
        <p:txBody>
          <a:bodyPr wrap="square" lIns="0" tIns="0" rIns="0" bIns="0" rtlCol="0" anchor="ctr"/>
          <a:lstStyle/>
          <a:p>
            <a:pPr indent="0" marL="0" eaLnBrk="0">
              <a:buNone/>
            </a:pPr>
            <a:r>
              <a:rPr lang="ko-KR" altLang="en-US" sz="1700" b="1" dirty="0">
                <a:solidFill>
                  <a:schemeClr val="accent2"/>
                </a:solidFill>
              </a:rPr>
              <a:t>물리 코드가 아는 것</a:t>
            </a:r>
            <a:endParaRPr lang="ko-KR" altLang="en-US" sz="1700" dirty="0"/>
          </a:p>
        </p:txBody>
      </p:sp>
      <p:sp>
        <p:nvSpPr>
          <p:cNvPr id="11" name="Text 8"/>
          <p:cNvSpPr txBox="1"/>
          <p:nvPr/>
        </p:nvSpPr>
        <p:spPr>
          <a:xfrm>
            <a:off x="7726680" y="2423160"/>
            <a:ext cx="3687775" cy="868680"/>
          </a:xfrm>
          <a:prstGeom prst="rect">
            <a:avLst/>
          </a:prstGeom>
          <a:noFill/>
          <a:ln/>
        </p:spPr>
        <p:txBody>
          <a:bodyPr wrap="square" lIns="0" tIns="0" rIns="0" bIns="0" rtlCol="0" anchor="t"/>
          <a:lstStyle/>
          <a:p>
            <a:pPr indent="0" marL="0" eaLnBrk="0">
              <a:spcAft>
                <a:spcPts val="400"/>
              </a:spcAft>
              <a:buNone/>
            </a:pPr>
            <a:r>
              <a:rPr lang="ko-KR" altLang="en-US" sz="1400" dirty="0">
                <a:solidFill>
                  <a:schemeClr val="tx2"/>
                </a:solidFill>
              </a:rPr>
              <a:t>어떤 개체가 떨어지기 시작했다는 사실 하나.</a:t>
            </a:r>
            <a:endParaRPr lang="ko-KR" altLang="en-US" sz="1400" dirty="0"/>
          </a:p>
        </p:txBody>
      </p:sp>
      <p:sp>
        <p:nvSpPr>
          <p:cNvPr id="12" name="card"/>
          <p:cNvSpPr/>
          <p:nvPr/>
        </p:nvSpPr>
        <p:spPr>
          <a:xfrm>
            <a:off x="7498080" y="3611880"/>
            <a:ext cx="4144975" cy="2057400"/>
          </a:xfrm>
          <a:prstGeom prst="roundRect">
            <a:avLst>
              <a:gd name="adj" fmla="val 4444"/>
            </a:avLst>
          </a:prstGeom>
          <a:solidFill>
            <a:schemeClr val="bg2"/>
          </a:solidFill>
          <a:ln w="12700">
            <a:solidFill>
              <a:schemeClr val="bg2"/>
            </a:solidFill>
            <a:prstDash val="solid"/>
          </a:ln>
        </p:spPr>
      </p:sp>
      <p:sp>
        <p:nvSpPr>
          <p:cNvPr id="13" name="Text 10"/>
          <p:cNvSpPr txBox="1"/>
          <p:nvPr/>
        </p:nvSpPr>
        <p:spPr>
          <a:xfrm>
            <a:off x="7726680" y="3831336"/>
            <a:ext cx="3733495" cy="411480"/>
          </a:xfrm>
          <a:prstGeom prst="rect">
            <a:avLst/>
          </a:prstGeom>
          <a:noFill/>
          <a:ln/>
        </p:spPr>
        <p:txBody>
          <a:bodyPr wrap="square" lIns="0" tIns="0" rIns="0" bIns="0" rtlCol="0" anchor="ctr"/>
          <a:lstStyle/>
          <a:p>
            <a:pPr indent="0" marL="0" eaLnBrk="0">
              <a:buNone/>
            </a:pPr>
            <a:r>
              <a:rPr lang="ko-KR" altLang="en-US" sz="1700" b="1" dirty="0">
                <a:solidFill>
                  <a:schemeClr val="accent6"/>
                </a:solidFill>
              </a:rPr>
              <a:t>물리 코드가 모르는 것</a:t>
            </a:r>
            <a:endParaRPr lang="ko-KR" altLang="en-US" sz="1700" dirty="0"/>
          </a:p>
        </p:txBody>
      </p:sp>
      <p:sp>
        <p:nvSpPr>
          <p:cNvPr id="14" name="Text 11"/>
          <p:cNvSpPr txBox="1"/>
          <p:nvPr/>
        </p:nvSpPr>
        <p:spPr>
          <a:xfrm>
            <a:off x="7726680" y="4389120"/>
            <a:ext cx="3687775" cy="1143000"/>
          </a:xfrm>
          <a:prstGeom prst="rect">
            <a:avLst/>
          </a:prstGeom>
          <a:noFill/>
          <a:ln/>
        </p:spPr>
        <p:txBody>
          <a:bodyPr wrap="square" lIns="0" tIns="0" rIns="0" bIns="0" rtlCol="0" anchor="t"/>
          <a:lstStyle/>
          <a:p>
            <a:pPr indent="0" marL="0" eaLnBrk="0">
              <a:spcAft>
                <a:spcPts val="400"/>
              </a:spcAft>
              <a:buNone/>
            </a:pPr>
            <a:r>
              <a:rPr lang="ko-KR" altLang="en-US" sz="1400" dirty="0">
                <a:solidFill>
                  <a:schemeClr val="tx2"/>
                </a:solidFill>
              </a:rPr>
              <a:t>누가 듣는지, 업적 시스템이 있는지, 주인공이 다리 위였는지.</a:t>
            </a:r>
            <a:endParaRPr lang="ko-KR" altLang="en-US" sz="1400" dirty="0"/>
          </a:p>
        </p:txBody>
      </p:sp>
      <p:sp>
        <p:nvSpPr>
          <p:cNvPr id="15" name="box"/>
          <p:cNvSpPr/>
          <p:nvPr/>
        </p:nvSpPr>
        <p:spPr>
          <a:xfrm>
            <a:off x="548640" y="4754880"/>
            <a:ext cx="6583680" cy="914400"/>
          </a:xfrm>
          <a:prstGeom prst="roundRect">
            <a:avLst>
              <a:gd name="adj" fmla="val 8000"/>
            </a:avLst>
          </a:prstGeom>
          <a:solidFill>
            <a:schemeClr val="tx2"/>
          </a:solidFill>
          <a:ln w="12700">
            <a:solidFill>
              <a:schemeClr val="tx2"/>
            </a:solidFill>
            <a:prstDash val="solid"/>
          </a:ln>
        </p:spPr>
      </p:sp>
      <p:sp>
        <p:nvSpPr>
          <p:cNvPr id="16" name="Text 13"/>
          <p:cNvSpPr txBox="1"/>
          <p:nvPr/>
        </p:nvSpPr>
        <p:spPr>
          <a:xfrm>
            <a:off x="548640" y="4754880"/>
            <a:ext cx="6583680" cy="914400"/>
          </a:xfrm>
          <a:prstGeom prst="rect">
            <a:avLst/>
          </a:prstGeom>
          <a:noFill/>
          <a:ln/>
        </p:spPr>
        <p:txBody>
          <a:bodyPr wrap="square" lIns="635" tIns="635" rIns="635" bIns="635" rtlCol="0" anchor="ctr"/>
          <a:lstStyle/>
          <a:p>
            <a:pPr algn="ctr" indent="0" marL="0" eaLnBrk="0">
              <a:buNone/>
            </a:pPr>
            <a:r>
              <a:rPr lang="ko-KR" altLang="en-US" sz="1500" dirty="0">
                <a:solidFill>
                  <a:schemeClr val="bg1"/>
                </a:solidFill>
              </a:rPr>
              <a:t>업적 시스템을 통째로 지워도 물리 엔진은 그대로 컴파일되고 동작한다.</a:t>
            </a:r>
            <a:endParaRPr lang="ko-KR" alt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7</a:t>
            </a:fld>
            <a:endParaRPr lang="ko-KR"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part"/>
          <p:cNvSpPr txBox="1"/>
          <p:nvPr/>
        </p:nvSpPr>
        <p:spPr>
          <a:xfrm>
            <a:off x="548640" y="2148840"/>
            <a:ext cx="5486400" cy="457200"/>
          </a:xfrm>
          <a:prstGeom prst="rect">
            <a:avLst/>
          </a:prstGeom>
          <a:noFill/>
          <a:ln/>
        </p:spPr>
        <p:txBody>
          <a:bodyPr wrap="square" lIns="0" tIns="0" rIns="0" bIns="0" rtlCol="0" anchor="ctr"/>
          <a:lstStyle/>
          <a:p>
            <a:pPr indent="0" marL="0" eaLnBrk="0">
              <a:buNone/>
            </a:pPr>
            <a:r>
              <a:rPr lang="ko-KR" altLang="en-US" sz="1600" b="1" dirty="0">
                <a:solidFill>
                  <a:schemeClr val="accent1"/>
                </a:solidFill>
              </a:rPr>
              <a:t>2부</a:t>
            </a:r>
            <a:endParaRPr lang="ko-KR" altLang="en-US" sz="1600" dirty="0"/>
          </a:p>
        </p:txBody>
      </p:sp>
      <p:sp>
        <p:nvSpPr>
          <p:cNvPr id="3" name="Text 0"/>
          <p:cNvSpPr/>
          <p:nvPr>
            <p:ph idx="100" type="title" hasCustomPrompt="1"/>
          </p:nvPr>
        </p:nvSpPr>
        <p:spPr>
          <a:xfrm>
            <a:off x="548640" y="2651760"/>
            <a:ext cx="11094415" cy="1097280"/>
          </a:xfrm>
          <a:prstGeom prst="rect">
            <a:avLst/>
          </a:prstGeom>
          <a:noFill/>
          <a:ln/>
        </p:spPr>
        <p:txBody>
          <a:bodyPr wrap="square" rtlCol="0" anchor="ctr"/>
          <a:lstStyle/>
          <a:p>
            <a:pPr algn="l" indent="0" marL="0" eaLnBrk="0">
              <a:buNone/>
            </a:pPr>
            <a:r>
              <a:rPr lang="ko-KR" altLang="en-US" sz="3600" b="1" dirty="0">
                <a:solidFill>
                  <a:schemeClr val="bg1"/>
                </a:solidFill>
              </a:rPr>
              <a:t>관찰자와 대상</a:t>
            </a:r>
            <a:endParaRPr lang="ko-KR" altLang="en-US" sz="3600" dirty="0"/>
          </a:p>
        </p:txBody>
      </p:sp>
      <p:sp>
        <p:nvSpPr>
          <p:cNvPr id="4" name="Text 0"/>
          <p:cNvSpPr/>
          <p:nvPr>
            <p:ph idx="101" type="body" hasCustomPrompt="1"/>
          </p:nvPr>
        </p:nvSpPr>
        <p:spPr>
          <a:xfrm>
            <a:off x="548640" y="3794760"/>
            <a:ext cx="11094415" cy="731520"/>
          </a:xfrm>
          <a:prstGeom prst="rect">
            <a:avLst/>
          </a:prstGeom>
          <a:noFill/>
          <a:ln/>
        </p:spPr>
        <p:txBody>
          <a:bodyPr wrap="square" rtlCol="0" anchor="t"/>
          <a:lstStyle/>
          <a:p>
            <a:pPr indent="0" marL="0" eaLnBrk="0">
              <a:buNone/>
            </a:pPr>
            <a:r>
              <a:rPr lang="ko-KR" altLang="en-US" sz="1800" dirty="0">
                <a:solidFill>
                  <a:schemeClr val="accent3"/>
                </a:solidFill>
              </a:rPr>
              <a:t>원서: 작동 원리</a:t>
            </a:r>
            <a:endParaRPr lang="ko-KR" alt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8</a:t>
            </a:fld>
            <a:endParaRPr lang="ko-KR"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관찰자</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관찰자는 알림을 받는 메서드 하나를 약속한다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업적 시스템은 이 약속을 어떻게 지킬까?</a:t>
            </a:r>
            <a:endParaRPr lang="ko-KR" altLang="en-US" sz="1500" dirty="0"/>
          </a:p>
        </p:txBody>
      </p:sp>
      <p:sp>
        <p:nvSpPr>
          <p:cNvPr id="6" name="codePanel"/>
          <p:cNvSpPr/>
          <p:nvPr/>
        </p:nvSpPr>
        <p:spPr>
          <a:xfrm>
            <a:off x="548640" y="1645920"/>
            <a:ext cx="6217920" cy="2926080"/>
          </a:xfrm>
          <a:prstGeom prst="roundRect">
            <a:avLst>
              <a:gd name="adj" fmla="val 2500"/>
            </a:avLst>
          </a:prstGeom>
          <a:solidFill>
            <a:schemeClr val="tx1"/>
          </a:solidFill>
          <a:ln w="12700">
            <a:solidFill>
              <a:schemeClr val="tx1"/>
            </a:solidFill>
            <a:prstDash val="solid"/>
          </a:ln>
        </p:spPr>
      </p:sp>
      <p:sp>
        <p:nvSpPr>
          <p:cNvPr id="7" name="code"/>
          <p:cNvSpPr txBox="1"/>
          <p:nvPr/>
        </p:nvSpPr>
        <p:spPr>
          <a:xfrm>
            <a:off x="658368" y="1737360"/>
            <a:ext cx="5998464" cy="2743200"/>
          </a:xfrm>
          <a:prstGeom prst="rect">
            <a:avLst/>
          </a:prstGeom>
          <a:noFill/>
          <a:ln/>
        </p:spPr>
        <p:txBody>
          <a:bodyPr wrap="square" lIns="635" tIns="635" rIns="635" bIns="635" rtlCol="0" anchor="t"/>
          <a:lstStyle/>
          <a:p>
            <a:pPr indent="0" marL="0" eaLnBrk="0">
              <a:buNone/>
            </a:pPr>
            <a:r>
              <a:rPr lang="ko-KR" altLang="en-US" sz="1500" dirty="0">
                <a:solidFill>
                  <a:schemeClr val="bg1"/>
                </a:solidFill>
                <a:latin typeface="Consolas" pitchFamily="34" charset="0"/>
                <a:ea typeface="Consolas" pitchFamily="34" charset="-122"/>
                <a:cs typeface="Consolas" pitchFamily="34" charset="-120"/>
              </a:rPr>
              <a:t>public interface IObserver</a:t>
            </a:r>
            <a:endParaRPr lang="ko-KR" altLang="en-US" sz="1500" dirty="0"/>
          </a:p>
          <a:p>
            <a:pPr indent="0" marL="0" eaLnBrk="0">
              <a:buNone/>
            </a:pPr>
            <a:r>
              <a:rPr lang="ko-KR" altLang="en-US" sz="1500" dirty="0">
                <a:solidFill>
                  <a:schemeClr val="bg1"/>
                </a:solidFill>
                <a:latin typeface="Consolas" pitchFamily="34" charset="0"/>
                <a:ea typeface="Consolas" pitchFamily="34" charset="-122"/>
                <a:cs typeface="Consolas" pitchFamily="34" charset="-120"/>
              </a:rPr>
              <a:t>{</a:t>
            </a:r>
            <a:endParaRPr lang="ko-KR" altLang="en-US" sz="1500" dirty="0"/>
          </a:p>
          <a:p>
            <a:pPr indent="0" marL="0" eaLnBrk="0">
              <a:buNone/>
            </a:pPr>
            <a:r>
              <a:rPr lang="ko-KR" altLang="en-US" sz="1500" b="1" dirty="0">
                <a:solidFill>
                  <a:schemeClr val="accent4"/>
                </a:solidFill>
                <a:latin typeface="Consolas" pitchFamily="34" charset="0"/>
                <a:ea typeface="Consolas" pitchFamily="34" charset="-122"/>
                <a:cs typeface="Consolas" pitchFamily="34" charset="-120"/>
              </a:rPr>
              <a:t>    void OnNotify(Entity entity, Event e);</a:t>
            </a:r>
            <a:endParaRPr lang="ko-KR" altLang="en-US" sz="1500" dirty="0"/>
          </a:p>
          <a:p>
            <a:pPr indent="0" marL="0" eaLnBrk="0">
              <a:buNone/>
            </a:pPr>
            <a:r>
              <a:rPr lang="ko-KR" altLang="en-US" sz="1500" dirty="0">
                <a:solidFill>
                  <a:schemeClr val="bg1"/>
                </a:solidFill>
                <a:latin typeface="Consolas" pitchFamily="34" charset="0"/>
                <a:ea typeface="Consolas" pitchFamily="34" charset="-122"/>
                <a:cs typeface="Consolas" pitchFamily="34" charset="-120"/>
              </a:rPr>
              <a:t>}</a:t>
            </a:r>
            <a:endParaRPr lang="ko-KR" altLang="en-US" sz="1500" dirty="0"/>
          </a:p>
          <a:p>
            <a:pPr indent="0" marL="0" eaLnBrk="0">
              <a:buNone/>
            </a:pPr>
            <a:r>
              <a:rPr lang="ko-KR" altLang="en-US" sz="1500" dirty="0">
                <a:solidFill>
                  <a:schemeClr val="bg1"/>
                </a:solidFill>
                <a:latin typeface="Consolas" pitchFamily="34" charset="0"/>
                <a:ea typeface="Consolas" pitchFamily="34" charset="-122"/>
                <a:cs typeface="Consolas" pitchFamily="34" charset="-120"/>
              </a:rPr>
              <a:t> </a:t>
            </a:r>
            <a:endParaRPr lang="ko-KR" altLang="en-US" sz="1500" dirty="0"/>
          </a:p>
          <a:p>
            <a:pPr indent="0" marL="0" eaLnBrk="0">
              <a:buNone/>
            </a:pPr>
            <a:r>
              <a:rPr lang="ko-KR" altLang="en-US" sz="1500" dirty="0">
                <a:solidFill>
                  <a:schemeClr val="bg1"/>
                </a:solidFill>
                <a:latin typeface="Consolas" pitchFamily="34" charset="0"/>
                <a:ea typeface="Consolas" pitchFamily="34" charset="-122"/>
                <a:cs typeface="Consolas" pitchFamily="34" charset="-120"/>
              </a:rPr>
              <a:t>public enum Event</a:t>
            </a:r>
            <a:endParaRPr lang="ko-KR" altLang="en-US" sz="1500" dirty="0"/>
          </a:p>
          <a:p>
            <a:pPr indent="0" marL="0" eaLnBrk="0">
              <a:buNone/>
            </a:pPr>
            <a:r>
              <a:rPr lang="ko-KR" altLang="en-US" sz="1500" dirty="0">
                <a:solidFill>
                  <a:schemeClr val="bg1"/>
                </a:solidFill>
                <a:latin typeface="Consolas" pitchFamily="34" charset="0"/>
                <a:ea typeface="Consolas" pitchFamily="34" charset="-122"/>
                <a:cs typeface="Consolas" pitchFamily="34" charset="-120"/>
              </a:rPr>
              <a:t>{</a:t>
            </a:r>
            <a:endParaRPr lang="ko-KR" altLang="en-US" sz="1500" dirty="0"/>
          </a:p>
          <a:p>
            <a:pPr indent="0" marL="0" eaLnBrk="0">
              <a:buNone/>
            </a:pPr>
            <a:r>
              <a:rPr lang="ko-KR" altLang="en-US" sz="1500" dirty="0">
                <a:solidFill>
                  <a:schemeClr val="bg1"/>
                </a:solidFill>
                <a:latin typeface="Consolas" pitchFamily="34" charset="0"/>
                <a:ea typeface="Consolas" pitchFamily="34" charset="-122"/>
                <a:cs typeface="Consolas" pitchFamily="34" charset="-120"/>
              </a:rPr>
              <a:t>    EntityFell,</a:t>
            </a:r>
            <a:endParaRPr lang="ko-KR" altLang="en-US" sz="1500" dirty="0"/>
          </a:p>
          <a:p>
            <a:pPr indent="0" marL="0" eaLnBrk="0">
              <a:buNone/>
            </a:pPr>
            <a:r>
              <a:rPr lang="ko-KR" altLang="en-US" sz="1500" dirty="0">
                <a:solidFill>
                  <a:schemeClr val="accent3"/>
                </a:solidFill>
                <a:latin typeface="Consolas" pitchFamily="34" charset="0"/>
                <a:ea typeface="Consolas" pitchFamily="34" charset="-122"/>
                <a:cs typeface="Consolas" pitchFamily="34" charset="-120"/>
              </a:rPr>
              <a:t>    // 다른 알림 종류...</a:t>
            </a:r>
            <a:endParaRPr lang="ko-KR" altLang="en-US" sz="1500" dirty="0"/>
          </a:p>
          <a:p>
            <a:pPr indent="0" marL="0" eaLnBrk="0">
              <a:buNone/>
            </a:pPr>
            <a:r>
              <a:rPr lang="ko-KR" altLang="en-US" sz="1500" dirty="0">
                <a:solidFill>
                  <a:schemeClr val="bg1"/>
                </a:solidFill>
                <a:latin typeface="Consolas" pitchFamily="34" charset="0"/>
                <a:ea typeface="Consolas" pitchFamily="34" charset="-122"/>
                <a:cs typeface="Consolas" pitchFamily="34" charset="-120"/>
              </a:rPr>
              <a:t>}</a:t>
            </a:r>
            <a:endParaRPr lang="ko-KR" altLang="en-US" sz="1500" dirty="0"/>
          </a:p>
        </p:txBody>
      </p:sp>
      <p:sp>
        <p:nvSpPr>
          <p:cNvPr id="8" name="codeCaption"/>
          <p:cNvSpPr txBox="1"/>
          <p:nvPr/>
        </p:nvSpPr>
        <p:spPr>
          <a:xfrm>
            <a:off x="3657600" y="1737360"/>
            <a:ext cx="2971800" cy="237744"/>
          </a:xfrm>
          <a:prstGeom prst="rect">
            <a:avLst/>
          </a:prstGeom>
          <a:noFill/>
          <a:ln/>
        </p:spPr>
        <p:txBody>
          <a:bodyPr wrap="square" lIns="0" tIns="0" rIns="0" bIns="0" rtlCol="0" anchor="ctr"/>
          <a:lstStyle/>
          <a:p>
            <a:pPr algn="r" indent="0" marL="0" eaLnBrk="0">
              <a:buNone/>
            </a:pPr>
            <a:r>
              <a:rPr lang="ko-KR" altLang="en-US" sz="1000" dirty="0">
                <a:solidFill>
                  <a:schemeClr val="accent3"/>
                </a:solidFill>
              </a:rPr>
              <a:t>원서 예제를 C#으로 옮긴 코드</a:t>
            </a:r>
            <a:endParaRPr lang="ko-KR" altLang="en-US" sz="1000" dirty="0"/>
          </a:p>
        </p:txBody>
      </p:sp>
      <p:sp>
        <p:nvSpPr>
          <p:cNvPr id="9" name="card"/>
          <p:cNvSpPr/>
          <p:nvPr/>
        </p:nvSpPr>
        <p:spPr>
          <a:xfrm>
            <a:off x="7132320" y="1645920"/>
            <a:ext cx="4510735" cy="1828800"/>
          </a:xfrm>
          <a:prstGeom prst="roundRect">
            <a:avLst>
              <a:gd name="adj" fmla="val 5000"/>
            </a:avLst>
          </a:prstGeom>
          <a:solidFill>
            <a:schemeClr val="bg2"/>
          </a:solidFill>
          <a:ln w="12700">
            <a:solidFill>
              <a:schemeClr val="bg2"/>
            </a:solidFill>
            <a:prstDash val="solid"/>
          </a:ln>
        </p:spPr>
      </p:sp>
      <p:sp>
        <p:nvSpPr>
          <p:cNvPr id="10" name="Text 7"/>
          <p:cNvSpPr txBox="1"/>
          <p:nvPr/>
        </p:nvSpPr>
        <p:spPr>
          <a:xfrm>
            <a:off x="7360920" y="1865376"/>
            <a:ext cx="409925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OnNotify</a:t>
            </a:r>
            <a:endParaRPr lang="ko-KR" altLang="en-US" sz="1700" dirty="0"/>
          </a:p>
        </p:txBody>
      </p:sp>
      <p:sp>
        <p:nvSpPr>
          <p:cNvPr id="11" name="Text 8"/>
          <p:cNvSpPr txBox="1"/>
          <p:nvPr/>
        </p:nvSpPr>
        <p:spPr>
          <a:xfrm>
            <a:off x="7360920" y="2423160"/>
            <a:ext cx="4053535" cy="914400"/>
          </a:xfrm>
          <a:prstGeom prst="rect">
            <a:avLst/>
          </a:prstGeom>
          <a:noFill/>
          <a:ln/>
        </p:spPr>
        <p:txBody>
          <a:bodyPr wrap="square" lIns="0" tIns="0" rIns="0" bIns="0" rtlCol="0" anchor="t"/>
          <a:lstStyle/>
          <a:p>
            <a:pPr indent="0" marL="0" eaLnBrk="0">
              <a:spcAft>
                <a:spcPts val="400"/>
              </a:spcAft>
              <a:buNone/>
            </a:pPr>
            <a:r>
              <a:rPr lang="ko-KR" altLang="en-US" sz="1400" dirty="0">
                <a:solidFill>
                  <a:schemeClr val="tx2"/>
                </a:solidFill>
              </a:rPr>
              <a:t>대상이 알릴 때 부르는 메서드. 관찰자는 이 메서드 하나만 지키면 된다.</a:t>
            </a:r>
            <a:endParaRPr lang="ko-KR" altLang="en-US" sz="1400" dirty="0"/>
          </a:p>
        </p:txBody>
      </p:sp>
      <p:sp>
        <p:nvSpPr>
          <p:cNvPr id="12" name="card"/>
          <p:cNvSpPr/>
          <p:nvPr/>
        </p:nvSpPr>
        <p:spPr>
          <a:xfrm>
            <a:off x="7132320" y="3657600"/>
            <a:ext cx="4510735" cy="2011680"/>
          </a:xfrm>
          <a:prstGeom prst="roundRect">
            <a:avLst>
              <a:gd name="adj" fmla="val 4545"/>
            </a:avLst>
          </a:prstGeom>
          <a:solidFill>
            <a:schemeClr val="bg2"/>
          </a:solidFill>
          <a:ln w="12700">
            <a:solidFill>
              <a:schemeClr val="bg2"/>
            </a:solidFill>
            <a:prstDash val="solid"/>
          </a:ln>
        </p:spPr>
      </p:sp>
      <p:sp>
        <p:nvSpPr>
          <p:cNvPr id="13" name="Text 10"/>
          <p:cNvSpPr txBox="1"/>
          <p:nvPr/>
        </p:nvSpPr>
        <p:spPr>
          <a:xfrm>
            <a:off x="7360920" y="3877056"/>
            <a:ext cx="409925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매개변수</a:t>
            </a:r>
            <a:endParaRPr lang="ko-KR" altLang="en-US" sz="1700" dirty="0"/>
          </a:p>
        </p:txBody>
      </p:sp>
      <p:sp>
        <p:nvSpPr>
          <p:cNvPr id="14" name="Text 11"/>
          <p:cNvSpPr txBox="1"/>
          <p:nvPr/>
        </p:nvSpPr>
        <p:spPr>
          <a:xfrm>
            <a:off x="7360920" y="4434840"/>
            <a:ext cx="4053535" cy="1097280"/>
          </a:xfrm>
          <a:prstGeom prst="rect">
            <a:avLst/>
          </a:prstGeom>
          <a:noFill/>
          <a:ln/>
        </p:spPr>
        <p:txBody>
          <a:bodyPr wrap="square" lIns="0" tIns="0" rIns="0" bIns="0" rtlCol="0" anchor="t"/>
          <a:lstStyle/>
          <a:p>
            <a:pPr indent="0" marL="0" eaLnBrk="0">
              <a:spcAft>
                <a:spcPts val="400"/>
              </a:spcAft>
              <a:buNone/>
            </a:pPr>
            <a:r>
              <a:rPr lang="ko-KR" altLang="en-US" sz="1400" dirty="0">
                <a:solidFill>
                  <a:schemeClr val="tx2"/>
                </a:solidFill>
              </a:rPr>
              <a:t>정해진 모양은 없다. 원서는 무슨 일(Event)이 누구(Entity)에게 일어났는지를 넘긴다.</a:t>
            </a:r>
            <a:endParaRPr lang="ko-KR" altLang="en-US" sz="1400" dirty="0"/>
          </a:p>
        </p:txBody>
      </p:sp>
      <p:sp>
        <p:nvSpPr>
          <p:cNvPr id="15" name="Text 12"/>
          <p:cNvSpPr txBox="1"/>
          <p:nvPr/>
        </p:nvSpPr>
        <p:spPr>
          <a:xfrm>
            <a:off x="548640" y="4846320"/>
            <a:ext cx="6217920" cy="731520"/>
          </a:xfrm>
          <a:prstGeom prst="rect">
            <a:avLst/>
          </a:prstGeom>
          <a:noFill/>
          <a:ln/>
        </p:spPr>
        <p:txBody>
          <a:bodyPr wrap="square" lIns="0" tIns="0" rIns="0" bIns="0" rtlCol="0" anchor="t"/>
          <a:lstStyle/>
          <a:p>
            <a:pPr indent="0" marL="0" eaLnBrk="0">
              <a:buNone/>
            </a:pPr>
            <a:r>
              <a:rPr lang="ko-KR" altLang="en-US" sz="1500" dirty="0">
                <a:solidFill>
                  <a:schemeClr val="tx2"/>
                </a:solidFill>
              </a:rPr>
              <a:t>대상은 IObserver라는 약속만 알고, 뒤에 있는 클래스는 모른다.</a:t>
            </a:r>
            <a:endParaRPr lang="ko-KR" alt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9</a:t>
            </a:fld>
            <a:endParaRPr lang="ko-KR"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구체적인 관찰자</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업적 시스템은 관찰자가 되어 알림을 해석한다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그럼 알리는 쪽은 관찰자들을 어떻게 기억하고 부를까?</a:t>
            </a:r>
            <a:endParaRPr lang="ko-KR" altLang="en-US" sz="1500" dirty="0"/>
          </a:p>
        </p:txBody>
      </p:sp>
      <p:sp>
        <p:nvSpPr>
          <p:cNvPr id="6" name="codePanel"/>
          <p:cNvSpPr/>
          <p:nvPr/>
        </p:nvSpPr>
        <p:spPr>
          <a:xfrm>
            <a:off x="548640" y="1600200"/>
            <a:ext cx="7498080" cy="4114800"/>
          </a:xfrm>
          <a:prstGeom prst="roundRect">
            <a:avLst>
              <a:gd name="adj" fmla="val 1778"/>
            </a:avLst>
          </a:prstGeom>
          <a:solidFill>
            <a:schemeClr val="tx1"/>
          </a:solidFill>
          <a:ln w="12700">
            <a:solidFill>
              <a:schemeClr val="tx1"/>
            </a:solidFill>
            <a:prstDash val="solid"/>
          </a:ln>
        </p:spPr>
      </p:sp>
      <p:sp>
        <p:nvSpPr>
          <p:cNvPr id="7" name="code"/>
          <p:cNvSpPr txBox="1"/>
          <p:nvPr/>
        </p:nvSpPr>
        <p:spPr>
          <a:xfrm>
            <a:off x="658368" y="1691640"/>
            <a:ext cx="7278624" cy="3931920"/>
          </a:xfrm>
          <a:prstGeom prst="rect">
            <a:avLst/>
          </a:prstGeom>
          <a:noFill/>
          <a:ln/>
        </p:spPr>
        <p:txBody>
          <a:bodyPr wrap="square" lIns="635" tIns="635" rIns="635" bIns="635" rtlCol="0" anchor="t"/>
          <a:lstStyle/>
          <a:p>
            <a:pPr indent="0" marL="0" eaLnBrk="0">
              <a:buNone/>
            </a:pPr>
            <a:r>
              <a:rPr lang="ko-KR" altLang="en-US" sz="1200" dirty="0">
                <a:solidFill>
                  <a:schemeClr val="bg1"/>
                </a:solidFill>
                <a:latin typeface="Consolas" pitchFamily="34" charset="0"/>
                <a:ea typeface="Consolas" pitchFamily="34" charset="-122"/>
                <a:cs typeface="Consolas" pitchFamily="34" charset="-120"/>
              </a:rPr>
              <a:t>public class Achievements : IObserver</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a:t>
            </a:r>
            <a:endParaRPr lang="ko-KR" altLang="en-US" sz="1200" dirty="0"/>
          </a:p>
          <a:p>
            <a:pPr indent="0" marL="0" eaLnBrk="0">
              <a:buNone/>
            </a:pPr>
            <a:r>
              <a:rPr lang="ko-KR" altLang="en-US" sz="1200" b="1" dirty="0">
                <a:solidFill>
                  <a:schemeClr val="accent4"/>
                </a:solidFill>
                <a:latin typeface="Consolas" pitchFamily="34" charset="0"/>
                <a:ea typeface="Consolas" pitchFamily="34" charset="-122"/>
                <a:cs typeface="Consolas" pitchFamily="34" charset="-120"/>
              </a:rPr>
              <a:t>    bool _heroIsOnBridge;</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public void OnNotify(Entity entity, Event e)</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switch (e)</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case Event.EntityFell:</a:t>
            </a:r>
            <a:endParaRPr lang="ko-KR" altLang="en-US" sz="1200" dirty="0"/>
          </a:p>
          <a:p>
            <a:pPr indent="0" marL="0" eaLnBrk="0">
              <a:buNone/>
            </a:pPr>
            <a:r>
              <a:rPr lang="ko-KR" altLang="en-US" sz="1200" b="1" dirty="0">
                <a:solidFill>
                  <a:schemeClr val="accent4"/>
                </a:solidFill>
                <a:latin typeface="Consolas" pitchFamily="34" charset="0"/>
                <a:ea typeface="Consolas" pitchFamily="34" charset="-122"/>
                <a:cs typeface="Consolas" pitchFamily="34" charset="-120"/>
              </a:rPr>
              <a:t>                if (entity.IsHero() &amp;&amp; _heroIsOnBridge)</a:t>
            </a:r>
            <a:endParaRPr lang="ko-KR" altLang="en-US" sz="1200" dirty="0"/>
          </a:p>
          <a:p>
            <a:pPr indent="0" marL="0" eaLnBrk="0">
              <a:buNone/>
            </a:pPr>
            <a:r>
              <a:rPr lang="ko-KR" altLang="en-US" sz="1200" b="1" dirty="0">
                <a:solidFill>
                  <a:schemeClr val="accent4"/>
                </a:solidFill>
                <a:latin typeface="Consolas" pitchFamily="34" charset="0"/>
                <a:ea typeface="Consolas" pitchFamily="34" charset="-122"/>
                <a:cs typeface="Consolas" pitchFamily="34" charset="-120"/>
              </a:rPr>
              <a:t>                    Unlock(Achievement.FellOffBridge);</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break;</a:t>
            </a:r>
            <a:endParaRPr lang="ko-KR" altLang="en-US" sz="1200" dirty="0"/>
          </a:p>
          <a:p>
            <a:pPr indent="0" marL="0" eaLnBrk="0">
              <a:buNone/>
            </a:pPr>
            <a:r>
              <a:rPr lang="ko-KR" altLang="en-US" sz="1200" dirty="0">
                <a:solidFill>
                  <a:schemeClr val="accent3"/>
                </a:solidFill>
                <a:latin typeface="Consolas" pitchFamily="34" charset="0"/>
                <a:ea typeface="Consolas" pitchFamily="34" charset="-122"/>
                <a:cs typeface="Consolas" pitchFamily="34" charset="-120"/>
              </a:rPr>
              <a:t>            // 다른 알림을 처리하고 _heroIsOnBridge를 갱신한다...</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void Unlock(Achievement achievement)</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accent3"/>
                </a:solidFill>
                <a:latin typeface="Consolas" pitchFamily="34" charset="0"/>
                <a:ea typeface="Consolas" pitchFamily="34" charset="-122"/>
                <a:cs typeface="Consolas" pitchFamily="34" charset="-120"/>
              </a:rPr>
              <a:t>        // 아직 달성하지 않았다면 달성 처리한다...</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a:t>
            </a:r>
            <a:endParaRPr lang="ko-KR" altLang="en-US" sz="1200" dirty="0"/>
          </a:p>
        </p:txBody>
      </p:sp>
      <p:sp>
        <p:nvSpPr>
          <p:cNvPr id="8" name="codeCaption"/>
          <p:cNvSpPr txBox="1"/>
          <p:nvPr/>
        </p:nvSpPr>
        <p:spPr>
          <a:xfrm>
            <a:off x="4937760" y="1691640"/>
            <a:ext cx="2971800" cy="237744"/>
          </a:xfrm>
          <a:prstGeom prst="rect">
            <a:avLst/>
          </a:prstGeom>
          <a:noFill/>
          <a:ln/>
        </p:spPr>
        <p:txBody>
          <a:bodyPr wrap="square" lIns="0" tIns="0" rIns="0" bIns="0" rtlCol="0" anchor="ctr"/>
          <a:lstStyle/>
          <a:p>
            <a:pPr algn="r" indent="0" marL="0" eaLnBrk="0">
              <a:buNone/>
            </a:pPr>
            <a:r>
              <a:rPr lang="ko-KR" altLang="en-US" sz="1000" dirty="0">
                <a:solidFill>
                  <a:schemeClr val="accent3"/>
                </a:solidFill>
              </a:rPr>
              <a:t>원서 예제를 C#으로 옮긴 코드</a:t>
            </a:r>
            <a:endParaRPr lang="ko-KR" altLang="en-US" sz="1000" dirty="0"/>
          </a:p>
        </p:txBody>
      </p:sp>
      <p:sp>
        <p:nvSpPr>
          <p:cNvPr id="9" name="card"/>
          <p:cNvSpPr/>
          <p:nvPr/>
        </p:nvSpPr>
        <p:spPr>
          <a:xfrm>
            <a:off x="8412480" y="1600200"/>
            <a:ext cx="3230575" cy="1920240"/>
          </a:xfrm>
          <a:prstGeom prst="roundRect">
            <a:avLst>
              <a:gd name="adj" fmla="val 4762"/>
            </a:avLst>
          </a:prstGeom>
          <a:solidFill>
            <a:schemeClr val="bg2"/>
          </a:solidFill>
          <a:ln w="12700">
            <a:solidFill>
              <a:schemeClr val="bg2"/>
            </a:solidFill>
            <a:prstDash val="solid"/>
          </a:ln>
        </p:spPr>
      </p:sp>
      <p:sp>
        <p:nvSpPr>
          <p:cNvPr id="10" name="Text 7"/>
          <p:cNvSpPr txBox="1"/>
          <p:nvPr/>
        </p:nvSpPr>
        <p:spPr>
          <a:xfrm>
            <a:off x="8641080" y="1819656"/>
            <a:ext cx="281909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판정은 여기서</a:t>
            </a:r>
            <a:endParaRPr lang="ko-KR" altLang="en-US" sz="1700" dirty="0"/>
          </a:p>
        </p:txBody>
      </p:sp>
      <p:sp>
        <p:nvSpPr>
          <p:cNvPr id="11" name="Text 8"/>
          <p:cNvSpPr txBox="1"/>
          <p:nvPr/>
        </p:nvSpPr>
        <p:spPr>
          <a:xfrm>
            <a:off x="8641080" y="2377440"/>
            <a:ext cx="2773375" cy="1005840"/>
          </a:xfrm>
          <a:prstGeom prst="rect">
            <a:avLst/>
          </a:prstGeom>
          <a:noFill/>
          <a:ln/>
        </p:spPr>
        <p:txBody>
          <a:bodyPr wrap="square" lIns="0" tIns="0" rIns="0" bIns="0" rtlCol="0" anchor="t"/>
          <a:lstStyle/>
          <a:p>
            <a:pPr indent="0" marL="0" eaLnBrk="0">
              <a:spcAft>
                <a:spcPts val="400"/>
              </a:spcAft>
              <a:buNone/>
            </a:pPr>
            <a:r>
              <a:rPr lang="ko-KR" altLang="en-US" sz="1400" dirty="0">
                <a:solidFill>
                  <a:schemeClr val="tx2"/>
                </a:solidFill>
              </a:rPr>
              <a:t>주인공인지, 다리 위였는지는 업적 시스템이 확인한다.</a:t>
            </a:r>
            <a:endParaRPr lang="ko-KR" altLang="en-US" sz="1400" dirty="0"/>
          </a:p>
        </p:txBody>
      </p:sp>
      <p:sp>
        <p:nvSpPr>
          <p:cNvPr id="12" name="card"/>
          <p:cNvSpPr/>
          <p:nvPr/>
        </p:nvSpPr>
        <p:spPr>
          <a:xfrm>
            <a:off x="8412480" y="3703320"/>
            <a:ext cx="3230575" cy="2011680"/>
          </a:xfrm>
          <a:prstGeom prst="roundRect">
            <a:avLst>
              <a:gd name="adj" fmla="val 4545"/>
            </a:avLst>
          </a:prstGeom>
          <a:solidFill>
            <a:schemeClr val="bg2"/>
          </a:solidFill>
          <a:ln w="12700">
            <a:solidFill>
              <a:schemeClr val="bg2"/>
            </a:solidFill>
            <a:prstDash val="solid"/>
          </a:ln>
        </p:spPr>
      </p:sp>
      <p:sp>
        <p:nvSpPr>
          <p:cNvPr id="13" name="Text 10"/>
          <p:cNvSpPr txBox="1"/>
          <p:nvPr/>
        </p:nvSpPr>
        <p:spPr>
          <a:xfrm>
            <a:off x="8641080" y="3922776"/>
            <a:ext cx="281909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상태도 여기에</a:t>
            </a:r>
            <a:endParaRPr lang="ko-KR" altLang="en-US" sz="1700" dirty="0"/>
          </a:p>
        </p:txBody>
      </p:sp>
      <p:sp>
        <p:nvSpPr>
          <p:cNvPr id="14" name="Text 11"/>
          <p:cNvSpPr txBox="1"/>
          <p:nvPr/>
        </p:nvSpPr>
        <p:spPr>
          <a:xfrm>
            <a:off x="8641080" y="4480560"/>
            <a:ext cx="2773375" cy="1097280"/>
          </a:xfrm>
          <a:prstGeom prst="rect">
            <a:avLst/>
          </a:prstGeom>
          <a:noFill/>
          <a:ln/>
        </p:spPr>
        <p:txBody>
          <a:bodyPr wrap="square" lIns="0" tIns="0" rIns="0" bIns="0" rtlCol="0" anchor="t"/>
          <a:lstStyle/>
          <a:p>
            <a:pPr indent="0" marL="0" eaLnBrk="0">
              <a:spcAft>
                <a:spcPts val="400"/>
              </a:spcAft>
              <a:buNone/>
            </a:pPr>
            <a:r>
              <a:rPr lang="ko-KR" altLang="en-US" sz="1400" dirty="0">
                <a:solidFill>
                  <a:schemeClr val="tx2"/>
                </a:solidFill>
              </a:rPr>
              <a:t>물리 엔진에 있던 _heroIsOnBridge가 업적 시스템으로 옮겨 왔다.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10</a:t>
            </a:fld>
            <a:endParaRPr lang="ko-KR"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대상</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대상은 관찰자 목록을 가지고, 추가·제거·알림을 한다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물리 엔진은 어떻게 이 대상이 될까?</a:t>
            </a:r>
            <a:endParaRPr lang="ko-KR" altLang="en-US" sz="1500" dirty="0"/>
          </a:p>
        </p:txBody>
      </p:sp>
      <p:sp>
        <p:nvSpPr>
          <p:cNvPr id="6" name="codePanel"/>
          <p:cNvSpPr/>
          <p:nvPr/>
        </p:nvSpPr>
        <p:spPr>
          <a:xfrm>
            <a:off x="548640" y="1600200"/>
            <a:ext cx="7132320" cy="4114800"/>
          </a:xfrm>
          <a:prstGeom prst="roundRect">
            <a:avLst>
              <a:gd name="adj" fmla="val 1778"/>
            </a:avLst>
          </a:prstGeom>
          <a:solidFill>
            <a:schemeClr val="tx1"/>
          </a:solidFill>
          <a:ln w="12700">
            <a:solidFill>
              <a:schemeClr val="tx1"/>
            </a:solidFill>
            <a:prstDash val="solid"/>
          </a:ln>
        </p:spPr>
      </p:sp>
      <p:sp>
        <p:nvSpPr>
          <p:cNvPr id="7" name="code"/>
          <p:cNvSpPr txBox="1"/>
          <p:nvPr/>
        </p:nvSpPr>
        <p:spPr>
          <a:xfrm>
            <a:off x="658368" y="1691640"/>
            <a:ext cx="6912864" cy="3931920"/>
          </a:xfrm>
          <a:prstGeom prst="rect">
            <a:avLst/>
          </a:prstGeom>
          <a:noFill/>
          <a:ln/>
        </p:spPr>
        <p:txBody>
          <a:bodyPr wrap="square" lIns="635" tIns="635" rIns="635" bIns="635" rtlCol="0" anchor="t"/>
          <a:lstStyle/>
          <a:p>
            <a:pPr indent="0" marL="0" eaLnBrk="0">
              <a:buNone/>
            </a:pPr>
            <a:r>
              <a:rPr lang="ko-KR" altLang="en-US" sz="1200" dirty="0">
                <a:solidFill>
                  <a:schemeClr val="bg1"/>
                </a:solidFill>
                <a:latin typeface="Consolas" pitchFamily="34" charset="0"/>
                <a:ea typeface="Consolas" pitchFamily="34" charset="-122"/>
                <a:cs typeface="Consolas" pitchFamily="34" charset="-120"/>
              </a:rPr>
              <a:t>public class Subject</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a:t>
            </a:r>
            <a:endParaRPr lang="ko-KR" altLang="en-US" sz="1200" dirty="0"/>
          </a:p>
          <a:p>
            <a:pPr indent="0" marL="0" eaLnBrk="0">
              <a:buNone/>
            </a:pPr>
            <a:r>
              <a:rPr lang="ko-KR" altLang="en-US" sz="1200" b="1" dirty="0">
                <a:solidFill>
                  <a:schemeClr val="accent4"/>
                </a:solidFill>
                <a:latin typeface="Consolas" pitchFamily="34" charset="0"/>
                <a:ea typeface="Consolas" pitchFamily="34" charset="-122"/>
                <a:cs typeface="Consolas" pitchFamily="34" charset="-120"/>
              </a:rPr>
              <a:t>    readonly List&lt;IObserver&gt; _observers = new List&lt;IObserver&gt;();</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public void AddObserver(IObserver observer)</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_observers.Add(observer);</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public void RemoveObserver(IObserver observer)</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_observers.Remove(observer);</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b="1" dirty="0">
                <a:solidFill>
                  <a:schemeClr val="accent4"/>
                </a:solidFill>
                <a:latin typeface="Consolas" pitchFamily="34" charset="0"/>
                <a:ea typeface="Consolas" pitchFamily="34" charset="-122"/>
                <a:cs typeface="Consolas" pitchFamily="34" charset="-120"/>
              </a:rPr>
              <a:t>    protected void Notify(Entity entity, Event e)</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foreach (IObserver observer in _observers)</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b="1" dirty="0">
                <a:solidFill>
                  <a:schemeClr val="accent4"/>
                </a:solidFill>
                <a:latin typeface="Consolas" pitchFamily="34" charset="0"/>
                <a:ea typeface="Consolas" pitchFamily="34" charset="-122"/>
                <a:cs typeface="Consolas" pitchFamily="34" charset="-120"/>
              </a:rPr>
              <a:t>            observer.OnNotify(entity, e);</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a:t>
            </a:r>
            <a:endParaRPr lang="ko-KR" altLang="en-US" sz="1200" dirty="0"/>
          </a:p>
        </p:txBody>
      </p:sp>
      <p:sp>
        <p:nvSpPr>
          <p:cNvPr id="8" name="codeCaption"/>
          <p:cNvSpPr txBox="1"/>
          <p:nvPr/>
        </p:nvSpPr>
        <p:spPr>
          <a:xfrm>
            <a:off x="4572000" y="1691640"/>
            <a:ext cx="2971800" cy="237744"/>
          </a:xfrm>
          <a:prstGeom prst="rect">
            <a:avLst/>
          </a:prstGeom>
          <a:noFill/>
          <a:ln/>
        </p:spPr>
        <p:txBody>
          <a:bodyPr wrap="square" lIns="0" tIns="0" rIns="0" bIns="0" rtlCol="0" anchor="ctr"/>
          <a:lstStyle/>
          <a:p>
            <a:pPr algn="r" indent="0" marL="0" eaLnBrk="0">
              <a:buNone/>
            </a:pPr>
            <a:r>
              <a:rPr lang="ko-KR" altLang="en-US" sz="1000" dirty="0">
                <a:solidFill>
                  <a:schemeClr val="accent3"/>
                </a:solidFill>
              </a:rPr>
              <a:t>원서 예제를 C#으로 옮긴 코드</a:t>
            </a:r>
            <a:endParaRPr lang="ko-KR" altLang="en-US" sz="1000" dirty="0"/>
          </a:p>
        </p:txBody>
      </p:sp>
      <p:sp>
        <p:nvSpPr>
          <p:cNvPr id="9" name="card"/>
          <p:cNvSpPr/>
          <p:nvPr/>
        </p:nvSpPr>
        <p:spPr>
          <a:xfrm>
            <a:off x="8046720" y="1600200"/>
            <a:ext cx="3596335" cy="1280160"/>
          </a:xfrm>
          <a:prstGeom prst="roundRect">
            <a:avLst>
              <a:gd name="adj" fmla="val 7143"/>
            </a:avLst>
          </a:prstGeom>
          <a:solidFill>
            <a:schemeClr val="bg2"/>
          </a:solidFill>
          <a:ln w="12700">
            <a:solidFill>
              <a:schemeClr val="bg2"/>
            </a:solidFill>
            <a:prstDash val="solid"/>
          </a:ln>
        </p:spPr>
      </p:sp>
      <p:sp>
        <p:nvSpPr>
          <p:cNvPr id="10" name="Text 7"/>
          <p:cNvSpPr txBox="1"/>
          <p:nvPr/>
        </p:nvSpPr>
        <p:spPr>
          <a:xfrm>
            <a:off x="8275320" y="1819656"/>
            <a:ext cx="318485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Add · Remove는 public</a:t>
            </a:r>
            <a:endParaRPr lang="ko-KR" altLang="en-US" sz="1700" dirty="0"/>
          </a:p>
        </p:txBody>
      </p:sp>
      <p:sp>
        <p:nvSpPr>
          <p:cNvPr id="11" name="Text 8"/>
          <p:cNvSpPr txBox="1"/>
          <p:nvPr/>
        </p:nvSpPr>
        <p:spPr>
          <a:xfrm>
            <a:off x="8275320" y="2377440"/>
            <a:ext cx="3139135" cy="365760"/>
          </a:xfrm>
          <a:prstGeom prst="rect">
            <a:avLst/>
          </a:prstGeom>
          <a:noFill/>
          <a:ln/>
        </p:spPr>
        <p:txBody>
          <a:bodyPr wrap="square" lIns="0" tIns="0" rIns="0" bIns="0" rtlCol="0" anchor="t"/>
          <a:lstStyle/>
          <a:p>
            <a:pPr indent="0" marL="0" eaLnBrk="0">
              <a:spcAft>
                <a:spcPts val="400"/>
              </a:spcAft>
              <a:buNone/>
            </a:pPr>
            <a:r>
              <a:rPr lang="ko-KR" altLang="en-US" sz="1400" dirty="0">
                <a:solidFill>
                  <a:schemeClr val="tx2"/>
                </a:solidFill>
              </a:rPr>
              <a:t>누가 들을지는 바깥 코드가 정한다.</a:t>
            </a:r>
            <a:endParaRPr lang="ko-KR" altLang="en-US" sz="1400" dirty="0"/>
          </a:p>
        </p:txBody>
      </p:sp>
      <p:sp>
        <p:nvSpPr>
          <p:cNvPr id="12" name="card"/>
          <p:cNvSpPr/>
          <p:nvPr/>
        </p:nvSpPr>
        <p:spPr>
          <a:xfrm>
            <a:off x="8046720" y="3017520"/>
            <a:ext cx="3596335" cy="1280160"/>
          </a:xfrm>
          <a:prstGeom prst="roundRect">
            <a:avLst>
              <a:gd name="adj" fmla="val 7143"/>
            </a:avLst>
          </a:prstGeom>
          <a:solidFill>
            <a:schemeClr val="bg2"/>
          </a:solidFill>
          <a:ln w="12700">
            <a:solidFill>
              <a:schemeClr val="bg2"/>
            </a:solidFill>
            <a:prstDash val="solid"/>
          </a:ln>
        </p:spPr>
      </p:sp>
      <p:sp>
        <p:nvSpPr>
          <p:cNvPr id="13" name="Text 10"/>
          <p:cNvSpPr txBox="1"/>
          <p:nvPr/>
        </p:nvSpPr>
        <p:spPr>
          <a:xfrm>
            <a:off x="8275320" y="3236976"/>
            <a:ext cx="318485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Notify는 protected</a:t>
            </a:r>
            <a:endParaRPr lang="ko-KR" altLang="en-US" sz="1700" dirty="0"/>
          </a:p>
        </p:txBody>
      </p:sp>
      <p:sp>
        <p:nvSpPr>
          <p:cNvPr id="14" name="Text 11"/>
          <p:cNvSpPr txBox="1"/>
          <p:nvPr/>
        </p:nvSpPr>
        <p:spPr>
          <a:xfrm>
            <a:off x="8275320" y="3794760"/>
            <a:ext cx="3139135" cy="365760"/>
          </a:xfrm>
          <a:prstGeom prst="rect">
            <a:avLst/>
          </a:prstGeom>
          <a:noFill/>
          <a:ln/>
        </p:spPr>
        <p:txBody>
          <a:bodyPr wrap="square" lIns="0" tIns="0" rIns="0" bIns="0" rtlCol="0" anchor="t"/>
          <a:lstStyle/>
          <a:p>
            <a:pPr indent="0" marL="0" eaLnBrk="0">
              <a:spcAft>
                <a:spcPts val="400"/>
              </a:spcAft>
              <a:buNone/>
            </a:pPr>
            <a:r>
              <a:rPr lang="ko-KR" altLang="en-US" sz="1400" dirty="0">
                <a:solidFill>
                  <a:schemeClr val="tx2"/>
                </a:solidFill>
              </a:rPr>
              <a:t>알림은 대상 자신만 보낸다.</a:t>
            </a:r>
            <a:endParaRPr lang="ko-KR" altLang="en-US" sz="1400" dirty="0"/>
          </a:p>
        </p:txBody>
      </p:sp>
      <p:sp>
        <p:nvSpPr>
          <p:cNvPr id="15" name="card"/>
          <p:cNvSpPr/>
          <p:nvPr/>
        </p:nvSpPr>
        <p:spPr>
          <a:xfrm>
            <a:off x="8046720" y="4434840"/>
            <a:ext cx="3596335" cy="1280160"/>
          </a:xfrm>
          <a:prstGeom prst="roundRect">
            <a:avLst>
              <a:gd name="adj" fmla="val 7143"/>
            </a:avLst>
          </a:prstGeom>
          <a:solidFill>
            <a:schemeClr val="bg2"/>
          </a:solidFill>
          <a:ln w="12700">
            <a:solidFill>
              <a:schemeClr val="bg2"/>
            </a:solidFill>
            <a:prstDash val="solid"/>
          </a:ln>
        </p:spPr>
      </p:sp>
      <p:sp>
        <p:nvSpPr>
          <p:cNvPr id="16" name="Text 13"/>
          <p:cNvSpPr txBox="1"/>
          <p:nvPr/>
        </p:nvSpPr>
        <p:spPr>
          <a:xfrm>
            <a:off x="8275320" y="4654296"/>
            <a:ext cx="318485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왜 목록인가</a:t>
            </a:r>
            <a:endParaRPr lang="ko-KR" altLang="en-US" sz="1700" dirty="0"/>
          </a:p>
        </p:txBody>
      </p:sp>
      <p:sp>
        <p:nvSpPr>
          <p:cNvPr id="17" name="Text 14"/>
          <p:cNvSpPr txBox="1"/>
          <p:nvPr/>
        </p:nvSpPr>
        <p:spPr>
          <a:xfrm>
            <a:off x="8275320" y="5212080"/>
            <a:ext cx="3139135" cy="365760"/>
          </a:xfrm>
          <a:prstGeom prst="rect">
            <a:avLst/>
          </a:prstGeom>
          <a:noFill/>
          <a:ln/>
        </p:spPr>
        <p:txBody>
          <a:bodyPr wrap="square" lIns="0" tIns="0" rIns="0" bIns="0" rtlCol="0" anchor="t"/>
          <a:lstStyle/>
          <a:p>
            <a:pPr indent="0" marL="0" eaLnBrk="0">
              <a:spcAft>
                <a:spcPts val="400"/>
              </a:spcAft>
              <a:buNone/>
            </a:pPr>
            <a:r>
              <a:rPr lang="ko-KR" altLang="en-US" sz="1400" dirty="0">
                <a:solidFill>
                  <a:schemeClr val="tx2"/>
                </a:solidFill>
              </a:rPr>
              <a:t>관찰자가 하나뿐이면 서로를 밀어낸다.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11</a:t>
            </a:fld>
            <a:endParaRPr lang="ko-KR"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물리 엔진을 대상으로</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Physics가 Subject를 상속하면 알림을 보낼 수 있다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실제로 등록하고 떨어뜨려 보면 어떤 순서로 호출될까?</a:t>
            </a:r>
            <a:endParaRPr lang="ko-KR" altLang="en-US" sz="1500" dirty="0"/>
          </a:p>
        </p:txBody>
      </p:sp>
      <p:sp>
        <p:nvSpPr>
          <p:cNvPr id="6" name="Text 3"/>
          <p:cNvSpPr txBox="1"/>
          <p:nvPr/>
        </p:nvSpPr>
        <p:spPr>
          <a:xfrm>
            <a:off x="548640" y="1645920"/>
            <a:ext cx="5486400" cy="365760"/>
          </a:xfrm>
          <a:prstGeom prst="rect">
            <a:avLst/>
          </a:prstGeom>
          <a:noFill/>
          <a:ln/>
        </p:spPr>
        <p:txBody>
          <a:bodyPr wrap="square" lIns="0" tIns="0" rIns="0" bIns="0" rtlCol="0" anchor="t"/>
          <a:lstStyle/>
          <a:p>
            <a:pPr indent="0" marL="0" eaLnBrk="0">
              <a:buNone/>
            </a:pPr>
            <a:r>
              <a:rPr lang="ko-KR" altLang="en-US" sz="1700" b="1" dirty="0">
                <a:solidFill>
                  <a:schemeClr val="accent2"/>
                </a:solidFill>
              </a:rPr>
              <a:t>상속: 물리 엔진이 대상이다</a:t>
            </a:r>
            <a:endParaRPr lang="ko-KR" altLang="en-US" sz="1700" dirty="0"/>
          </a:p>
        </p:txBody>
      </p:sp>
      <p:sp>
        <p:nvSpPr>
          <p:cNvPr id="7" name="codePanel"/>
          <p:cNvSpPr/>
          <p:nvPr/>
        </p:nvSpPr>
        <p:spPr>
          <a:xfrm>
            <a:off x="548640" y="2057400"/>
            <a:ext cx="5486400" cy="2148840"/>
          </a:xfrm>
          <a:prstGeom prst="roundRect">
            <a:avLst>
              <a:gd name="adj" fmla="val 3404"/>
            </a:avLst>
          </a:prstGeom>
          <a:solidFill>
            <a:schemeClr val="tx1"/>
          </a:solidFill>
          <a:ln w="12700">
            <a:solidFill>
              <a:schemeClr val="tx1"/>
            </a:solidFill>
            <a:prstDash val="solid"/>
          </a:ln>
        </p:spPr>
      </p:sp>
      <p:sp>
        <p:nvSpPr>
          <p:cNvPr id="8" name="code"/>
          <p:cNvSpPr txBox="1"/>
          <p:nvPr/>
        </p:nvSpPr>
        <p:spPr>
          <a:xfrm>
            <a:off x="658368" y="2148840"/>
            <a:ext cx="5266944" cy="1965960"/>
          </a:xfrm>
          <a:prstGeom prst="rect">
            <a:avLst/>
          </a:prstGeom>
          <a:noFill/>
          <a:ln/>
        </p:spPr>
        <p:txBody>
          <a:bodyPr wrap="square" lIns="635" tIns="635" rIns="635" bIns="635" rtlCol="0" anchor="t"/>
          <a:lstStyle/>
          <a:p>
            <a:pPr indent="0" marL="0" eaLnBrk="0">
              <a:buNone/>
            </a:pPr>
            <a:r>
              <a:rPr lang="ko-KR" altLang="en-US" sz="1300" b="1" dirty="0">
                <a:solidFill>
                  <a:schemeClr val="accent4"/>
                </a:solidFill>
                <a:latin typeface="Consolas" pitchFamily="34" charset="0"/>
                <a:ea typeface="Consolas" pitchFamily="34" charset="-122"/>
                <a:cs typeface="Consolas" pitchFamily="34" charset="-120"/>
              </a:rPr>
              <a:t>public class Physics : Subject</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public void UpdateEntity(Entity entity)</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dirty="0">
                <a:solidFill>
                  <a:schemeClr val="accent3"/>
                </a:solidFill>
                <a:latin typeface="Consolas" pitchFamily="34" charset="0"/>
                <a:ea typeface="Consolas" pitchFamily="34" charset="-122"/>
                <a:cs typeface="Consolas" pitchFamily="34" charset="-120"/>
              </a:rPr>
              <a:t>        // ... 떨어지기 시작하면</a:t>
            </a:r>
            <a:endParaRPr lang="ko-KR" altLang="en-US" sz="1300" dirty="0"/>
          </a:p>
          <a:p>
            <a:pPr indent="0" marL="0" eaLnBrk="0">
              <a:buNone/>
            </a:pPr>
            <a:r>
              <a:rPr lang="ko-KR" altLang="en-US" sz="1300" b="1" dirty="0">
                <a:solidFill>
                  <a:schemeClr val="accent4"/>
                </a:solidFill>
                <a:latin typeface="Consolas" pitchFamily="34" charset="0"/>
                <a:ea typeface="Consolas" pitchFamily="34" charset="-122"/>
                <a:cs typeface="Consolas" pitchFamily="34" charset="-120"/>
              </a:rPr>
              <a:t>        Notify(entity, Event.EntityFell);</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a:t>
            </a:r>
            <a:endParaRPr lang="ko-KR" altLang="en-US" sz="1300" dirty="0"/>
          </a:p>
        </p:txBody>
      </p:sp>
      <p:sp>
        <p:nvSpPr>
          <p:cNvPr id="9" name="codeCaption"/>
          <p:cNvSpPr txBox="1"/>
          <p:nvPr/>
        </p:nvSpPr>
        <p:spPr>
          <a:xfrm>
            <a:off x="2926080" y="2148840"/>
            <a:ext cx="2971800" cy="237744"/>
          </a:xfrm>
          <a:prstGeom prst="rect">
            <a:avLst/>
          </a:prstGeom>
          <a:noFill/>
          <a:ln/>
        </p:spPr>
        <p:txBody>
          <a:bodyPr wrap="square" lIns="0" tIns="0" rIns="0" bIns="0" rtlCol="0" anchor="ctr"/>
          <a:lstStyle/>
          <a:p>
            <a:pPr algn="r" indent="0" marL="0" eaLnBrk="0">
              <a:buNone/>
            </a:pPr>
            <a:r>
              <a:rPr lang="ko-KR" altLang="en-US" sz="1000" dirty="0">
                <a:solidFill>
                  <a:schemeClr val="accent3"/>
                </a:solidFill>
              </a:rPr>
              <a:t>원서 예제를 C#으로 옮긴 코드</a:t>
            </a:r>
            <a:endParaRPr lang="ko-KR" altLang="en-US" sz="1000" dirty="0"/>
          </a:p>
        </p:txBody>
      </p:sp>
      <p:sp>
        <p:nvSpPr>
          <p:cNvPr id="10" name="Text 7"/>
          <p:cNvSpPr txBox="1"/>
          <p:nvPr/>
        </p:nvSpPr>
        <p:spPr>
          <a:xfrm>
            <a:off x="6400800" y="1645920"/>
            <a:ext cx="5242255" cy="365760"/>
          </a:xfrm>
          <a:prstGeom prst="rect">
            <a:avLst/>
          </a:prstGeom>
          <a:noFill/>
          <a:ln/>
        </p:spPr>
        <p:txBody>
          <a:bodyPr wrap="square" lIns="0" tIns="0" rIns="0" bIns="0" rtlCol="0" anchor="t"/>
          <a:lstStyle/>
          <a:p>
            <a:pPr indent="0" marL="0" eaLnBrk="0">
              <a:buNone/>
            </a:pPr>
            <a:r>
              <a:rPr lang="ko-KR" altLang="en-US" sz="1700" b="1" dirty="0">
                <a:solidFill>
                  <a:schemeClr val="accent2"/>
                </a:solidFill>
              </a:rPr>
              <a:t>합성: ‘떨어짐’을 나타내는 대상에 등록한다</a:t>
            </a:r>
            <a:endParaRPr lang="ko-KR" altLang="en-US" sz="1700" dirty="0"/>
          </a:p>
        </p:txBody>
      </p:sp>
      <p:sp>
        <p:nvSpPr>
          <p:cNvPr id="11" name="codePanel"/>
          <p:cNvSpPr/>
          <p:nvPr/>
        </p:nvSpPr>
        <p:spPr>
          <a:xfrm>
            <a:off x="6400800" y="2057400"/>
            <a:ext cx="5242255" cy="685800"/>
          </a:xfrm>
          <a:prstGeom prst="roundRect">
            <a:avLst>
              <a:gd name="adj" fmla="val 10667"/>
            </a:avLst>
          </a:prstGeom>
          <a:solidFill>
            <a:schemeClr val="tx1"/>
          </a:solidFill>
          <a:ln w="12700">
            <a:solidFill>
              <a:schemeClr val="tx1"/>
            </a:solidFill>
            <a:prstDash val="solid"/>
          </a:ln>
        </p:spPr>
      </p:sp>
      <p:sp>
        <p:nvSpPr>
          <p:cNvPr id="12" name="code"/>
          <p:cNvSpPr txBox="1"/>
          <p:nvPr/>
        </p:nvSpPr>
        <p:spPr>
          <a:xfrm>
            <a:off x="6510528" y="2148840"/>
            <a:ext cx="5022799" cy="502920"/>
          </a:xfrm>
          <a:prstGeom prst="rect">
            <a:avLst/>
          </a:prstGeom>
          <a:noFill/>
          <a:ln/>
        </p:spPr>
        <p:txBody>
          <a:bodyPr wrap="square" lIns="635" tIns="635" rIns="635" bIns="635" rtlCol="0" anchor="t"/>
          <a:lstStyle/>
          <a:p>
            <a:pPr indent="0" marL="0" eaLnBrk="0">
              <a:buNone/>
            </a:pPr>
            <a:r>
              <a:rPr lang="ko-KR" altLang="en-US" sz="1300" dirty="0">
                <a:solidFill>
                  <a:schemeClr val="accent3"/>
                </a:solidFill>
                <a:latin typeface="Consolas" pitchFamily="34" charset="0"/>
                <a:ea typeface="Consolas" pitchFamily="34" charset="-122"/>
                <a:cs typeface="Consolas" pitchFamily="34" charset="-120"/>
              </a:rPr>
              <a:t>// 관찰자 쪽 코드</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physics.EntityFell().AddObserver(this);</a:t>
            </a:r>
            <a:endParaRPr lang="ko-KR" altLang="en-US" sz="1300" dirty="0"/>
          </a:p>
        </p:txBody>
      </p:sp>
      <p:sp>
        <p:nvSpPr>
          <p:cNvPr id="13" name="codeCaption"/>
          <p:cNvSpPr txBox="1"/>
          <p:nvPr/>
        </p:nvSpPr>
        <p:spPr>
          <a:xfrm>
            <a:off x="8534095" y="2148840"/>
            <a:ext cx="2971800" cy="237744"/>
          </a:xfrm>
          <a:prstGeom prst="rect">
            <a:avLst/>
          </a:prstGeom>
          <a:noFill/>
          <a:ln/>
        </p:spPr>
        <p:txBody>
          <a:bodyPr wrap="square" lIns="0" tIns="0" rIns="0" bIns="0" rtlCol="0" anchor="ctr"/>
          <a:lstStyle/>
          <a:p>
            <a:pPr algn="r" indent="0" marL="0" eaLnBrk="0">
              <a:buNone/>
            </a:pPr>
            <a:r>
              <a:rPr lang="ko-KR" altLang="en-US" sz="1000" dirty="0">
                <a:solidFill>
                  <a:schemeClr val="accent3"/>
                </a:solidFill>
              </a:rPr>
              <a:t>원서 예제를 C#으로 옮긴 코드</a:t>
            </a:r>
            <a:endParaRPr lang="ko-KR" altLang="en-US" sz="1000" dirty="0"/>
          </a:p>
        </p:txBody>
      </p:sp>
      <p:sp>
        <p:nvSpPr>
          <p:cNvPr id="14" name="card"/>
          <p:cNvSpPr/>
          <p:nvPr/>
        </p:nvSpPr>
        <p:spPr>
          <a:xfrm>
            <a:off x="6400800" y="2880360"/>
            <a:ext cx="5242255" cy="1325880"/>
          </a:xfrm>
          <a:prstGeom prst="roundRect">
            <a:avLst>
              <a:gd name="adj" fmla="val 6897"/>
            </a:avLst>
          </a:prstGeom>
          <a:solidFill>
            <a:schemeClr val="bg2"/>
          </a:solidFill>
          <a:ln w="12700">
            <a:solidFill>
              <a:schemeClr val="bg2"/>
            </a:solidFill>
            <a:prstDash val="solid"/>
          </a:ln>
        </p:spPr>
      </p:sp>
      <p:sp>
        <p:nvSpPr>
          <p:cNvPr id="15" name="Text 12"/>
          <p:cNvSpPr txBox="1"/>
          <p:nvPr/>
        </p:nvSpPr>
        <p:spPr>
          <a:xfrm>
            <a:off x="6629400" y="3099816"/>
            <a:ext cx="483077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차이</a:t>
            </a:r>
            <a:endParaRPr lang="ko-KR" altLang="en-US" sz="1700" dirty="0"/>
          </a:p>
        </p:txBody>
      </p:sp>
      <p:sp>
        <p:nvSpPr>
          <p:cNvPr id="16" name="Text 13"/>
          <p:cNvSpPr txBox="1"/>
          <p:nvPr/>
        </p:nvSpPr>
        <p:spPr>
          <a:xfrm>
            <a:off x="7498080" y="3063240"/>
            <a:ext cx="3962095" cy="960120"/>
          </a:xfrm>
          <a:prstGeom prst="rect">
            <a:avLst/>
          </a:prstGeom>
          <a:noFill/>
          <a:ln/>
        </p:spPr>
        <p:txBody>
          <a:bodyPr wrap="square" lIns="0" tIns="0" rIns="0" bIns="0" rtlCol="0" anchor="ctr"/>
          <a:lstStyle/>
          <a:p>
            <a:pPr indent="0" marL="0" eaLnBrk="0">
              <a:buNone/>
            </a:pPr>
            <a:r>
              <a:rPr lang="ko-KR" altLang="en-US" sz="1400" dirty="0">
                <a:solidFill>
                  <a:schemeClr val="tx2"/>
                </a:solidFill>
              </a:rPr>
              <a:t>일을 한 객체보다 일어난 일을 관찰한다.</a:t>
            </a:r>
            <a:endParaRPr lang="ko-KR" altLang="en-US" sz="1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4480560"/>
          <a:ext cx="11094415" cy="914400"/>
        </p:xfrm>
        <a:graphic>
          <a:graphicData uri="http://schemas.openxmlformats.org/drawingml/2006/table">
            <a:tbl>
              <a:tblPr/>
              <a:tblGrid>
                <a:gridCol w="1828800"/>
                <a:gridCol w="4114800"/>
                <a:gridCol w="5150815"/>
              </a:tblGrid>
              <a:tr h="384048">
                <a:tc>
                  <a:txBody>
                    <a:bodyPr/>
                    <a:lstStyle/>
                    <a:p>
                      <a:pPr indent="0" marL="0" eaLnBrk="0">
                        <a:buNone/>
                      </a:pPr>
                      <a:r>
                        <a:rPr lang="ko-KR" altLang="en-US" sz="1400" b="1" dirty="0">
                          <a:solidFill>
                            <a:schemeClr val="bg1"/>
                          </a:solidFill>
                        </a:rPr>
                        <a:t>방식</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400" b="1" dirty="0">
                          <a:solidFill>
                            <a:schemeClr val="bg1"/>
                          </a:solidFill>
                        </a:rPr>
                        <a:t>관찰하는 것</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400" b="1" dirty="0">
                          <a:solidFill>
                            <a:schemeClr val="bg1"/>
                          </a:solidFill>
                        </a:rPr>
                        <a:t>예</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r>
              <a:tr h="384048">
                <a:tc>
                  <a:txBody>
                    <a:bodyPr/>
                    <a:lstStyle/>
                    <a:p>
                      <a:pPr indent="0" marL="0" eaLnBrk="0">
                        <a:buNone/>
                      </a:pPr>
                      <a:r>
                        <a:rPr lang="ko-KR" altLang="en-US" sz="1400" b="1" dirty="0">
                          <a:solidFill>
                            <a:schemeClr val="tx1"/>
                          </a:solidFill>
                        </a:rPr>
                        <a:t>관찰자</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일을 한 객체</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물리 엔진에 등록한다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384048">
                <a:tc>
                  <a:txBody>
                    <a:bodyPr/>
                    <a:lstStyle/>
                    <a:p>
                      <a:pPr indent="0" marL="0" eaLnBrk="0">
                        <a:buNone/>
                      </a:pPr>
                      <a:r>
                        <a:rPr lang="ko-KR" altLang="en-US" sz="1400" b="1" dirty="0">
                          <a:solidFill>
                            <a:schemeClr val="tx1"/>
                          </a:solidFill>
                        </a:rPr>
                        <a:t>이벤트</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일어난 일을 나타내는 객체</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‘떨어짐’ 대상에 등록한다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12</a:t>
            </a:fld>
            <a:endParaRPr lang="ko-KR"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추적</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두 관찰자를 등록하고 주인공을 떨어뜨린다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그런데 이 패턴은 느리다는 말을 자주 듣는다. 정말일까?</a:t>
            </a:r>
            <a:endParaRPr lang="ko-KR" altLang="en-US" sz="15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822960"/>
                <a:gridCol w="3749040"/>
                <a:gridCol w="1828800"/>
                <a:gridCol w="4693615"/>
              </a:tblGrid>
              <a:tr h="420624">
                <a:tc>
                  <a:txBody>
                    <a:bodyPr/>
                    <a:lstStyle/>
                    <a:p>
                      <a:pPr indent="0" marL="0" eaLnBrk="0">
                        <a:buNone/>
                      </a:pPr>
                      <a:r>
                        <a:rPr lang="ko-KR" altLang="en-US" sz="1400" b="1" dirty="0">
                          <a:solidFill>
                            <a:schemeClr val="bg1"/>
                          </a:solidFill>
                        </a:rPr>
                        <a:t>단계</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400" b="1" dirty="0">
                          <a:solidFill>
                            <a:schemeClr val="bg1"/>
                          </a:solidFill>
                        </a:rPr>
                        <a:t>코드</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400" b="1" dirty="0">
                          <a:solidFill>
                            <a:schemeClr val="bg1"/>
                          </a:solidFill>
                        </a:rPr>
                        <a:t>관찰자 목록</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400" b="1" dirty="0">
                          <a:solidFill>
                            <a:schemeClr val="bg1"/>
                          </a:solidFill>
                        </a:rPr>
                        <a:t>일어나는 일</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r>
              <a:tr h="475488">
                <a:tc>
                  <a:txBody>
                    <a:bodyPr/>
                    <a:lstStyle/>
                    <a:p>
                      <a:pPr indent="0" marL="0" eaLnBrk="0">
                        <a:buNone/>
                      </a:pPr>
                      <a:r>
                        <a:rPr lang="ko-KR" altLang="en-US" sz="1400" b="1" dirty="0">
                          <a:solidFill>
                            <a:schemeClr val="tx1"/>
                          </a:solidFill>
                        </a:rPr>
                        <a:t>1</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physics.AddObserver(achievements)</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[업적]</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업적 시스템이 듣기 시작한다.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475488">
                <a:tc>
                  <a:txBody>
                    <a:bodyPr/>
                    <a:lstStyle/>
                    <a:p>
                      <a:pPr indent="0" marL="0" eaLnBrk="0">
                        <a:buNone/>
                      </a:pPr>
                      <a:r>
                        <a:rPr lang="ko-KR" altLang="en-US" sz="1400" b="1" dirty="0">
                          <a:solidFill>
                            <a:schemeClr val="tx1"/>
                          </a:solidFill>
                        </a:rPr>
                        <a:t>2</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physics.AddObserver(audio)</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[업적, 오디오]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오디오 시스템도 듣는다.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640080">
                <a:tc>
                  <a:txBody>
                    <a:bodyPr/>
                    <a:lstStyle/>
                    <a:p>
                      <a:pPr indent="0" marL="0" eaLnBrk="0">
                        <a:buNone/>
                      </a:pPr>
                      <a:r>
                        <a:rPr lang="ko-KR" altLang="en-US" sz="1400" b="1" dirty="0">
                          <a:solidFill>
                            <a:schemeClr val="tx1"/>
                          </a:solidFill>
                        </a:rPr>
                        <a:t>3</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physics.UpdateEntity(hero)</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[업적, 오디오]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주인공이 떨어져 Notify(hero, EntityFell)을 부른다.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640080">
                <a:tc>
                  <a:txBody>
                    <a:bodyPr/>
                    <a:lstStyle/>
                    <a:p>
                      <a:pPr indent="0" marL="0" eaLnBrk="0">
                        <a:buNone/>
                      </a:pPr>
                      <a:r>
                        <a:rPr lang="ko-KR" altLang="en-US" sz="1400" b="1" dirty="0">
                          <a:solidFill>
                            <a:schemeClr val="tx1"/>
                          </a:solidFill>
                        </a:rPr>
                        <a:t>4</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achievements.OnNotify(...)</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주인공이고 다리 위였으므로 FellOffBridge를 달성한다.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475488">
                <a:tc>
                  <a:txBody>
                    <a:bodyPr/>
                    <a:lstStyle/>
                    <a:p>
                      <a:pPr indent="0" marL="0" eaLnBrk="0">
                        <a:buNone/>
                      </a:pPr>
                      <a:r>
                        <a:rPr lang="ko-KR" altLang="en-US" sz="1400" b="1" dirty="0">
                          <a:solidFill>
                            <a:schemeClr val="tx1"/>
                          </a:solidFill>
                        </a:rPr>
                        <a:t>5</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audio.OnNotify(...)</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떨어지는 소리를 낸다.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548640">
                <a:tc>
                  <a:txBody>
                    <a:bodyPr/>
                    <a:lstStyle/>
                    <a:p>
                      <a:pPr indent="0" marL="0" eaLnBrk="0">
                        <a:buNone/>
                      </a:pPr>
                      <a:r>
                        <a:rPr lang="ko-KR" altLang="en-US" sz="1400" b="1" dirty="0">
                          <a:solidFill>
                            <a:schemeClr val="tx1"/>
                          </a:solidFill>
                        </a:rPr>
                        <a:t>6</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physics.RemoveObserver(audio)</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[업적]</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다음 낙하부터는 업적 시스템만 알림을 받는다.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bl>
          </a:graphicData>
        </a:graphic>
      </p:graphicFrame>
      <p:sp>
        <p:nvSpPr>
          <p:cNvPr id="7" name="Text 3"/>
          <p:cNvSpPr txBox="1"/>
          <p:nvPr/>
        </p:nvSpPr>
        <p:spPr>
          <a:xfrm>
            <a:off x="548640" y="5468112"/>
            <a:ext cx="11094415" cy="320040"/>
          </a:xfrm>
          <a:prstGeom prst="rect">
            <a:avLst/>
          </a:prstGeom>
          <a:noFill/>
          <a:ln/>
        </p:spPr>
        <p:txBody>
          <a:bodyPr wrap="square" lIns="0" tIns="0" rIns="0" bIns="0" rtlCol="0" anchor="t"/>
          <a:lstStyle/>
          <a:p>
            <a:pPr indent="0" marL="0" eaLnBrk="0">
              <a:buNone/>
            </a:pPr>
            <a:r>
              <a:rPr lang="ko-KR" altLang="en-US" sz="1400" b="1" dirty="0">
                <a:solidFill>
                  <a:schemeClr val="accent1"/>
                </a:solidFill>
              </a:rPr>
              <a:t>1~6 단계 내내 Physics 클래스의 코드는 바뀌지 않는다.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13</a:t>
            </a:fld>
            <a:endParaRPr lang="ko-KR"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part"/>
          <p:cNvSpPr txBox="1"/>
          <p:nvPr/>
        </p:nvSpPr>
        <p:spPr>
          <a:xfrm>
            <a:off x="548640" y="2148840"/>
            <a:ext cx="5486400" cy="457200"/>
          </a:xfrm>
          <a:prstGeom prst="rect">
            <a:avLst/>
          </a:prstGeom>
          <a:noFill/>
          <a:ln/>
        </p:spPr>
        <p:txBody>
          <a:bodyPr wrap="square" lIns="0" tIns="0" rIns="0" bIns="0" rtlCol="0" anchor="ctr"/>
          <a:lstStyle/>
          <a:p>
            <a:pPr indent="0" marL="0" eaLnBrk="0">
              <a:buNone/>
            </a:pPr>
            <a:r>
              <a:rPr lang="ko-KR" altLang="en-US" sz="1600" b="1" dirty="0">
                <a:solidFill>
                  <a:schemeClr val="accent1"/>
                </a:solidFill>
              </a:rPr>
              <a:t>3부</a:t>
            </a:r>
            <a:endParaRPr lang="ko-KR" altLang="en-US" sz="1600" dirty="0"/>
          </a:p>
        </p:txBody>
      </p:sp>
      <p:sp>
        <p:nvSpPr>
          <p:cNvPr id="3" name="Text 0"/>
          <p:cNvSpPr/>
          <p:nvPr>
            <p:ph idx="100" type="title" hasCustomPrompt="1"/>
          </p:nvPr>
        </p:nvSpPr>
        <p:spPr>
          <a:xfrm>
            <a:off x="548640" y="2651760"/>
            <a:ext cx="11094415" cy="1097280"/>
          </a:xfrm>
          <a:prstGeom prst="rect">
            <a:avLst/>
          </a:prstGeom>
          <a:noFill/>
          <a:ln/>
        </p:spPr>
        <p:txBody>
          <a:bodyPr wrap="square" rtlCol="0" anchor="ctr"/>
          <a:lstStyle/>
          <a:p>
            <a:pPr algn="l" indent="0" marL="0" eaLnBrk="0">
              <a:buNone/>
            </a:pPr>
            <a:r>
              <a:rPr lang="ko-KR" altLang="en-US" sz="3600" b="1" dirty="0">
                <a:solidFill>
                  <a:schemeClr val="bg1"/>
                </a:solidFill>
              </a:rPr>
              <a:t>속도와 메모리</a:t>
            </a:r>
            <a:endParaRPr lang="ko-KR" altLang="en-US" sz="3600" dirty="0"/>
          </a:p>
        </p:txBody>
      </p:sp>
      <p:sp>
        <p:nvSpPr>
          <p:cNvPr id="4" name="Text 0"/>
          <p:cNvSpPr/>
          <p:nvPr>
            <p:ph idx="101" type="body" hasCustomPrompt="1"/>
          </p:nvPr>
        </p:nvSpPr>
        <p:spPr>
          <a:xfrm>
            <a:off x="548640" y="3794760"/>
            <a:ext cx="11094415" cy="731520"/>
          </a:xfrm>
          <a:prstGeom prst="rect">
            <a:avLst/>
          </a:prstGeom>
          <a:noFill/>
          <a:ln/>
        </p:spPr>
        <p:txBody>
          <a:bodyPr wrap="square" rtlCol="0" anchor="t"/>
          <a:lstStyle/>
          <a:p>
            <a:pPr indent="0" marL="0" eaLnBrk="0">
              <a:buNone/>
            </a:pPr>
            <a:r>
              <a:rPr lang="ko-KR" altLang="en-US" sz="1800" dirty="0">
                <a:solidFill>
                  <a:schemeClr val="accent3"/>
                </a:solidFill>
              </a:rPr>
              <a:t>원서: 너무 느려요 · 동적 할당을 너무 많이 해요</a:t>
            </a:r>
            <a:endParaRPr lang="ko-KR" alt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14</a:t>
            </a:fld>
            <a:endParaRPr lang="ko-KR"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너무 느리다?</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알림은 목록을 돌며 메서드를 부르는 것이 전부다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그렇다면 메모리 할당은 어떨까?</a:t>
            </a:r>
            <a:endParaRPr lang="ko-KR" altLang="en-US" sz="1500" dirty="0"/>
          </a:p>
        </p:txBody>
      </p:sp>
      <p:sp>
        <p:nvSpPr>
          <p:cNvPr id="6" name="card"/>
          <p:cNvSpPr/>
          <p:nvPr/>
        </p:nvSpPr>
        <p:spPr>
          <a:xfrm>
            <a:off x="548640" y="1645920"/>
            <a:ext cx="5394960" cy="1417320"/>
          </a:xfrm>
          <a:prstGeom prst="roundRect">
            <a:avLst>
              <a:gd name="adj" fmla="val 6452"/>
            </a:avLst>
          </a:prstGeom>
          <a:solidFill>
            <a:schemeClr val="bg2"/>
          </a:solidFill>
          <a:ln w="12700">
            <a:solidFill>
              <a:schemeClr val="bg2"/>
            </a:solidFill>
            <a:prstDash val="solid"/>
          </a:ln>
        </p:spPr>
      </p:sp>
      <p:sp>
        <p:nvSpPr>
          <p:cNvPr id="7" name="Text 4"/>
          <p:cNvSpPr txBox="1"/>
          <p:nvPr/>
        </p:nvSpPr>
        <p:spPr>
          <a:xfrm>
            <a:off x="777240" y="1865376"/>
            <a:ext cx="4983480" cy="411480"/>
          </a:xfrm>
          <a:prstGeom prst="rect">
            <a:avLst/>
          </a:prstGeom>
          <a:noFill/>
          <a:ln/>
        </p:spPr>
        <p:txBody>
          <a:bodyPr wrap="square" lIns="0" tIns="0" rIns="0" bIns="0" rtlCol="0" anchor="ctr"/>
          <a:lstStyle/>
          <a:p>
            <a:pPr indent="0" marL="0" eaLnBrk="0">
              <a:buNone/>
            </a:pPr>
            <a:r>
              <a:rPr lang="ko-KR" altLang="en-US" sz="1700" b="1" dirty="0">
                <a:solidFill>
                  <a:schemeClr val="accent2"/>
                </a:solidFill>
              </a:rPr>
              <a:t>알림의 비용</a:t>
            </a:r>
            <a:endParaRPr lang="ko-KR" altLang="en-US" sz="1700" dirty="0"/>
          </a:p>
        </p:txBody>
      </p:sp>
      <p:sp>
        <p:nvSpPr>
          <p:cNvPr id="8" name="Text 5"/>
          <p:cNvSpPr txBox="1"/>
          <p:nvPr/>
        </p:nvSpPr>
        <p:spPr>
          <a:xfrm>
            <a:off x="777240" y="2423160"/>
            <a:ext cx="4937760" cy="502920"/>
          </a:xfrm>
          <a:prstGeom prst="rect">
            <a:avLst/>
          </a:prstGeom>
          <a:noFill/>
          <a:ln/>
        </p:spPr>
        <p:txBody>
          <a:bodyPr wrap="square" lIns="0" tIns="0" rIns="0" bIns="0" rtlCol="0" anchor="t"/>
          <a:lstStyle/>
          <a:p>
            <a:pPr indent="0" marL="0" eaLnBrk="0">
              <a:spcAft>
                <a:spcPts val="400"/>
              </a:spcAft>
              <a:buNone/>
            </a:pPr>
            <a:r>
              <a:rPr lang="ko-KR" altLang="en-US" sz="1400" dirty="0">
                <a:solidFill>
                  <a:schemeClr val="tx2"/>
                </a:solidFill>
              </a:rPr>
              <a:t>목록 순회와 인터페이스 메서드 호출. 핫 루프만 피하면 충분히 싸다.</a:t>
            </a:r>
            <a:endParaRPr lang="ko-KR" altLang="en-US" sz="1400" dirty="0"/>
          </a:p>
        </p:txBody>
      </p:sp>
      <p:sp>
        <p:nvSpPr>
          <p:cNvPr id="9" name="card"/>
          <p:cNvSpPr/>
          <p:nvPr/>
        </p:nvSpPr>
        <p:spPr>
          <a:xfrm>
            <a:off x="548640" y="3200400"/>
            <a:ext cx="5394960" cy="1417320"/>
          </a:xfrm>
          <a:prstGeom prst="roundRect">
            <a:avLst>
              <a:gd name="adj" fmla="val 6452"/>
            </a:avLst>
          </a:prstGeom>
          <a:solidFill>
            <a:schemeClr val="bg2"/>
          </a:solidFill>
          <a:ln w="12700">
            <a:solidFill>
              <a:schemeClr val="bg2"/>
            </a:solidFill>
            <a:prstDash val="solid"/>
          </a:ln>
        </p:spPr>
      </p:sp>
      <p:sp>
        <p:nvSpPr>
          <p:cNvPr id="10" name="Text 7"/>
          <p:cNvSpPr txBox="1"/>
          <p:nvPr/>
        </p:nvSpPr>
        <p:spPr>
          <a:xfrm>
            <a:off x="777240" y="3419856"/>
            <a:ext cx="4983480" cy="411480"/>
          </a:xfrm>
          <a:prstGeom prst="rect">
            <a:avLst/>
          </a:prstGeom>
          <a:noFill/>
          <a:ln/>
        </p:spPr>
        <p:txBody>
          <a:bodyPr wrap="square" lIns="0" tIns="0" rIns="0" bIns="0" rtlCol="0" anchor="ctr"/>
          <a:lstStyle/>
          <a:p>
            <a:pPr indent="0" marL="0" eaLnBrk="0">
              <a:buNone/>
            </a:pPr>
            <a:r>
              <a:rPr lang="ko-KR" altLang="en-US" sz="1700" b="1" dirty="0">
                <a:solidFill>
                  <a:schemeClr val="accent2"/>
                </a:solidFill>
              </a:rPr>
              <a:t>오해의 원인</a:t>
            </a:r>
            <a:endParaRPr lang="ko-KR" altLang="en-US" sz="1700" dirty="0"/>
          </a:p>
        </p:txBody>
      </p:sp>
      <p:sp>
        <p:nvSpPr>
          <p:cNvPr id="11" name="Text 8"/>
          <p:cNvSpPr txBox="1"/>
          <p:nvPr/>
        </p:nvSpPr>
        <p:spPr>
          <a:xfrm>
            <a:off x="777240" y="3977640"/>
            <a:ext cx="4937760" cy="502920"/>
          </a:xfrm>
          <a:prstGeom prst="rect">
            <a:avLst/>
          </a:prstGeom>
          <a:noFill/>
          <a:ln/>
        </p:spPr>
        <p:txBody>
          <a:bodyPr wrap="square" lIns="0" tIns="0" rIns="0" bIns="0" rtlCol="0" anchor="t"/>
          <a:lstStyle/>
          <a:p>
            <a:pPr indent="0" marL="0" eaLnBrk="0">
              <a:spcAft>
                <a:spcPts val="400"/>
              </a:spcAft>
              <a:buNone/>
            </a:pPr>
            <a:r>
              <a:rPr lang="ko-KR" altLang="en-US" sz="1400" dirty="0">
                <a:solidFill>
                  <a:schemeClr val="tx2"/>
                </a:solidFill>
              </a:rPr>
              <a:t>큐와 할당을 쓰는 이벤트·메시지 시스템과 혼동한다.</a:t>
            </a:r>
            <a:endParaRPr lang="ko-KR" altLang="en-US" sz="1400" dirty="0"/>
          </a:p>
        </p:txBody>
      </p:sp>
      <p:sp>
        <p:nvSpPr>
          <p:cNvPr id="12" name="card"/>
          <p:cNvSpPr/>
          <p:nvPr/>
        </p:nvSpPr>
        <p:spPr>
          <a:xfrm>
            <a:off x="548640" y="4754880"/>
            <a:ext cx="5394960" cy="960120"/>
          </a:xfrm>
          <a:prstGeom prst="roundRect">
            <a:avLst>
              <a:gd name="adj" fmla="val 9524"/>
            </a:avLst>
          </a:prstGeom>
          <a:solidFill>
            <a:schemeClr val="tx2"/>
          </a:solidFill>
          <a:ln w="12700">
            <a:solidFill>
              <a:schemeClr val="tx2"/>
            </a:solidFill>
            <a:prstDash val="solid"/>
          </a:ln>
        </p:spPr>
      </p:sp>
      <p:sp>
        <p:nvSpPr>
          <p:cNvPr id="13" name="Text 10"/>
          <p:cNvSpPr txBox="1"/>
          <p:nvPr/>
        </p:nvSpPr>
        <p:spPr>
          <a:xfrm>
            <a:off x="777240" y="4974336"/>
            <a:ext cx="4983480" cy="411480"/>
          </a:xfrm>
          <a:prstGeom prst="rect">
            <a:avLst/>
          </a:prstGeom>
          <a:noFill/>
          <a:ln/>
        </p:spPr>
        <p:txBody>
          <a:bodyPr wrap="square" lIns="0" tIns="0" rIns="0" bIns="0" rtlCol="0" anchor="ctr"/>
          <a:lstStyle/>
          <a:p>
            <a:pPr indent="0" marL="0" eaLnBrk="0">
              <a:buNone/>
            </a:pPr>
            <a:r>
              <a:rPr lang="ko-KR" altLang="en-US" sz="1700" b="1" dirty="0">
                <a:solidFill>
                  <a:schemeClr val="accent4"/>
                </a:solidFill>
              </a:rPr>
              <a:t>느린 일은 넘긴다</a:t>
            </a:r>
            <a:endParaRPr lang="ko-KR" altLang="en-US" sz="1700" dirty="0"/>
          </a:p>
        </p:txBody>
      </p:sp>
      <p:sp>
        <p:nvSpPr>
          <p:cNvPr id="14" name="Text 11"/>
          <p:cNvSpPr txBox="1"/>
          <p:nvPr/>
        </p:nvSpPr>
        <p:spPr>
          <a:xfrm>
            <a:off x="777240" y="5532120"/>
            <a:ext cx="4937760" cy="45720"/>
          </a:xfrm>
          <a:prstGeom prst="rect">
            <a:avLst/>
          </a:prstGeom>
          <a:noFill/>
          <a:ln/>
        </p:spPr>
        <p:txBody>
          <a:bodyPr wrap="square" lIns="0" tIns="0" rIns="0" bIns="0" rtlCol="0" anchor="t"/>
          <a:lstStyle/>
          <a:p>
            <a:pPr indent="0" marL="0" eaLnBrk="0">
              <a:buNone/>
            </a:pPr>
            <a:endParaRPr lang="ko-KR" altLang="en-US" sz="1400" dirty="0"/>
          </a:p>
        </p:txBody>
      </p:sp>
      <p:sp>
        <p:nvSpPr>
          <p:cNvPr id="15" name="Text 12"/>
          <p:cNvSpPr txBox="1"/>
          <p:nvPr/>
        </p:nvSpPr>
        <p:spPr>
          <a:xfrm>
            <a:off x="2926080" y="4956048"/>
            <a:ext cx="2834640" cy="548640"/>
          </a:xfrm>
          <a:prstGeom prst="rect">
            <a:avLst/>
          </a:prstGeom>
          <a:noFill/>
          <a:ln/>
        </p:spPr>
        <p:txBody>
          <a:bodyPr wrap="square" lIns="0" tIns="0" rIns="0" bIns="0" rtlCol="0" anchor="ctr"/>
          <a:lstStyle/>
          <a:p>
            <a:pPr indent="0" marL="0" eaLnBrk="0">
              <a:buNone/>
            </a:pPr>
            <a:r>
              <a:rPr lang="ko-KR" altLang="en-US" sz="1400" dirty="0">
                <a:solidFill>
                  <a:schemeClr val="bg1"/>
                </a:solidFill>
              </a:rPr>
              <a:t>다른 스레드나 작업 큐로 보낸다.</a:t>
            </a:r>
            <a:endParaRPr lang="ko-KR" altLang="en-US" sz="1400" dirty="0"/>
          </a:p>
        </p:txBody>
      </p:sp>
      <p:sp>
        <p:nvSpPr>
          <p:cNvPr id="16" name="Text 13"/>
          <p:cNvSpPr txBox="1"/>
          <p:nvPr/>
        </p:nvSpPr>
        <p:spPr>
          <a:xfrm>
            <a:off x="6309360" y="1645920"/>
            <a:ext cx="5333695" cy="365760"/>
          </a:xfrm>
          <a:prstGeom prst="rect">
            <a:avLst/>
          </a:prstGeom>
          <a:noFill/>
          <a:ln/>
        </p:spPr>
        <p:txBody>
          <a:bodyPr wrap="square" lIns="0" tIns="0" rIns="0" bIns="0" rtlCol="0" anchor="t"/>
          <a:lstStyle/>
          <a:p>
            <a:pPr indent="0" marL="0" eaLnBrk="0">
              <a:buNone/>
            </a:pPr>
            <a:r>
              <a:rPr lang="ko-KR" altLang="en-US" sz="1600" b="1" dirty="0">
                <a:solidFill>
                  <a:schemeClr val="tx1"/>
                </a:solidFill>
              </a:rPr>
              <a:t>동기 호출: 한 줄씩 차례로 끝난다</a:t>
            </a:r>
            <a:endParaRPr lang="ko-KR" altLang="en-US" sz="1600" dirty="0"/>
          </a:p>
        </p:txBody>
      </p:sp>
      <p:sp>
        <p:nvSpPr>
          <p:cNvPr id="17" name="box"/>
          <p:cNvSpPr/>
          <p:nvPr/>
        </p:nvSpPr>
        <p:spPr>
          <a:xfrm>
            <a:off x="6583680" y="2103120"/>
            <a:ext cx="4785055" cy="594360"/>
          </a:xfrm>
          <a:prstGeom prst="roundRect">
            <a:avLst>
              <a:gd name="adj" fmla="val 12308"/>
            </a:avLst>
          </a:prstGeom>
          <a:solidFill>
            <a:schemeClr val="bg2"/>
          </a:solidFill>
          <a:ln w="12700">
            <a:solidFill>
              <a:schemeClr val="bg2"/>
            </a:solidFill>
            <a:prstDash val="solid"/>
          </a:ln>
        </p:spPr>
      </p:sp>
      <p:sp>
        <p:nvSpPr>
          <p:cNvPr id="18" name="Text 15"/>
          <p:cNvSpPr txBox="1"/>
          <p:nvPr/>
        </p:nvSpPr>
        <p:spPr>
          <a:xfrm>
            <a:off x="6583680" y="2103120"/>
            <a:ext cx="4785055" cy="594360"/>
          </a:xfrm>
          <a:prstGeom prst="rect">
            <a:avLst/>
          </a:prstGeom>
          <a:noFill/>
          <a:ln/>
        </p:spPr>
        <p:txBody>
          <a:bodyPr wrap="square" lIns="635" tIns="635" rIns="635" bIns="635" rtlCol="0" anchor="ctr"/>
          <a:lstStyle/>
          <a:p>
            <a:pPr algn="ctr" indent="0" marL="0" eaLnBrk="0">
              <a:buNone/>
            </a:pPr>
            <a:r>
              <a:rPr lang="ko-KR" altLang="en-US" sz="1400" b="1" dirty="0">
                <a:solidFill>
                  <a:schemeClr val="tx1"/>
                </a:solidFill>
              </a:rPr>
              <a:t>UpdateEntity: Notify 호출</a:t>
            </a:r>
            <a:endParaRPr lang="ko-KR" altLang="en-US" sz="1400" dirty="0"/>
          </a:p>
        </p:txBody>
      </p:sp>
      <p:sp>
        <p:nvSpPr>
          <p:cNvPr id="19" name="Shape 16"/>
          <p:cNvSpPr/>
          <p:nvPr/>
        </p:nvSpPr>
        <p:spPr>
          <a:xfrm>
            <a:off x="8976208" y="2715768"/>
            <a:ext cx="914" cy="237744"/>
          </a:xfrm>
          <a:prstGeom prst="line">
            <a:avLst/>
          </a:prstGeom>
          <a:noFill/>
          <a:ln w="22225">
            <a:solidFill>
              <a:schemeClr val="accent3"/>
            </a:solidFill>
            <a:prstDash val="solid"/>
            <a:tailEnd type="triangle"/>
          </a:ln>
        </p:spPr>
      </p:sp>
      <p:sp>
        <p:nvSpPr>
          <p:cNvPr id="20" name="box"/>
          <p:cNvSpPr/>
          <p:nvPr/>
        </p:nvSpPr>
        <p:spPr>
          <a:xfrm>
            <a:off x="6583680" y="2971800"/>
            <a:ext cx="4785055" cy="594360"/>
          </a:xfrm>
          <a:prstGeom prst="roundRect">
            <a:avLst>
              <a:gd name="adj" fmla="val 12308"/>
            </a:avLst>
          </a:prstGeom>
          <a:solidFill>
            <a:schemeClr val="bg2"/>
          </a:solidFill>
          <a:ln w="12700">
            <a:solidFill>
              <a:schemeClr val="bg2"/>
            </a:solidFill>
            <a:prstDash val="solid"/>
          </a:ln>
        </p:spPr>
      </p:sp>
      <p:sp>
        <p:nvSpPr>
          <p:cNvPr id="21" name="Text 18"/>
          <p:cNvSpPr txBox="1"/>
          <p:nvPr/>
        </p:nvSpPr>
        <p:spPr>
          <a:xfrm>
            <a:off x="6583680" y="2971800"/>
            <a:ext cx="4785055" cy="594360"/>
          </a:xfrm>
          <a:prstGeom prst="rect">
            <a:avLst/>
          </a:prstGeom>
          <a:noFill/>
          <a:ln/>
        </p:spPr>
        <p:txBody>
          <a:bodyPr wrap="square" lIns="635" tIns="635" rIns="635" bIns="635" rtlCol="0" anchor="ctr"/>
          <a:lstStyle/>
          <a:p>
            <a:pPr algn="ctr" indent="0" marL="0" eaLnBrk="0">
              <a:buNone/>
            </a:pPr>
            <a:r>
              <a:rPr lang="ko-KR" altLang="en-US" sz="1400" b="1" dirty="0">
                <a:solidFill>
                  <a:schemeClr val="tx1"/>
                </a:solidFill>
              </a:rPr>
              <a:t>업적.OnNotify 실행 후 돌아옴</a:t>
            </a:r>
            <a:endParaRPr lang="ko-KR" altLang="en-US" sz="1400" dirty="0"/>
          </a:p>
        </p:txBody>
      </p:sp>
      <p:sp>
        <p:nvSpPr>
          <p:cNvPr id="22" name="Shape 19"/>
          <p:cNvSpPr/>
          <p:nvPr/>
        </p:nvSpPr>
        <p:spPr>
          <a:xfrm>
            <a:off x="8976208" y="3584448"/>
            <a:ext cx="914" cy="237744"/>
          </a:xfrm>
          <a:prstGeom prst="line">
            <a:avLst/>
          </a:prstGeom>
          <a:noFill/>
          <a:ln w="22225">
            <a:solidFill>
              <a:schemeClr val="accent3"/>
            </a:solidFill>
            <a:prstDash val="solid"/>
            <a:tailEnd type="triangle"/>
          </a:ln>
        </p:spPr>
      </p:sp>
      <p:sp>
        <p:nvSpPr>
          <p:cNvPr id="23" name="box"/>
          <p:cNvSpPr/>
          <p:nvPr/>
        </p:nvSpPr>
        <p:spPr>
          <a:xfrm>
            <a:off x="6583680" y="3840480"/>
            <a:ext cx="4785055" cy="594360"/>
          </a:xfrm>
          <a:prstGeom prst="roundRect">
            <a:avLst>
              <a:gd name="adj" fmla="val 12308"/>
            </a:avLst>
          </a:prstGeom>
          <a:solidFill>
            <a:schemeClr val="accent6"/>
          </a:solidFill>
          <a:ln w="12700">
            <a:solidFill>
              <a:schemeClr val="accent6"/>
            </a:solidFill>
            <a:prstDash val="solid"/>
          </a:ln>
        </p:spPr>
      </p:sp>
      <p:sp>
        <p:nvSpPr>
          <p:cNvPr id="24" name="Text 21"/>
          <p:cNvSpPr txBox="1"/>
          <p:nvPr/>
        </p:nvSpPr>
        <p:spPr>
          <a:xfrm>
            <a:off x="6583680" y="3840480"/>
            <a:ext cx="4785055" cy="594360"/>
          </a:xfrm>
          <a:prstGeom prst="rect">
            <a:avLst/>
          </a:prstGeom>
          <a:noFill/>
          <a:ln/>
        </p:spPr>
        <p:txBody>
          <a:bodyPr wrap="square" lIns="635" tIns="635" rIns="635" bIns="635" rtlCol="0" anchor="ctr"/>
          <a:lstStyle/>
          <a:p>
            <a:pPr algn="ctr" indent="0" marL="0" eaLnBrk="0">
              <a:buNone/>
            </a:pPr>
            <a:r>
              <a:rPr lang="ko-KR" altLang="en-US" sz="1400" b="1" dirty="0">
                <a:solidFill>
                  <a:schemeClr val="bg1"/>
                </a:solidFill>
              </a:rPr>
              <a:t>오디오.OnNotify가 오래 걸림</a:t>
            </a:r>
            <a:endParaRPr lang="ko-KR" altLang="en-US" sz="1400" dirty="0"/>
          </a:p>
        </p:txBody>
      </p:sp>
      <p:sp>
        <p:nvSpPr>
          <p:cNvPr id="25" name="Shape 22"/>
          <p:cNvSpPr/>
          <p:nvPr/>
        </p:nvSpPr>
        <p:spPr>
          <a:xfrm>
            <a:off x="8976208" y="4453128"/>
            <a:ext cx="914" cy="237744"/>
          </a:xfrm>
          <a:prstGeom prst="line">
            <a:avLst/>
          </a:prstGeom>
          <a:noFill/>
          <a:ln w="22225">
            <a:solidFill>
              <a:schemeClr val="accent3"/>
            </a:solidFill>
            <a:prstDash val="solid"/>
            <a:tailEnd type="triangle"/>
          </a:ln>
        </p:spPr>
      </p:sp>
      <p:sp>
        <p:nvSpPr>
          <p:cNvPr id="26" name="box"/>
          <p:cNvSpPr/>
          <p:nvPr/>
        </p:nvSpPr>
        <p:spPr>
          <a:xfrm>
            <a:off x="6583680" y="4709160"/>
            <a:ext cx="4785055" cy="594360"/>
          </a:xfrm>
          <a:prstGeom prst="roundRect">
            <a:avLst>
              <a:gd name="adj" fmla="val 12308"/>
            </a:avLst>
          </a:prstGeom>
          <a:solidFill>
            <a:schemeClr val="bg2"/>
          </a:solidFill>
          <a:ln w="12700">
            <a:solidFill>
              <a:schemeClr val="bg2"/>
            </a:solidFill>
            <a:prstDash val="solid"/>
          </a:ln>
        </p:spPr>
      </p:sp>
      <p:sp>
        <p:nvSpPr>
          <p:cNvPr id="27" name="Text 24"/>
          <p:cNvSpPr txBox="1"/>
          <p:nvPr/>
        </p:nvSpPr>
        <p:spPr>
          <a:xfrm>
            <a:off x="6583680" y="4709160"/>
            <a:ext cx="4785055" cy="594360"/>
          </a:xfrm>
          <a:prstGeom prst="rect">
            <a:avLst/>
          </a:prstGeom>
          <a:noFill/>
          <a:ln/>
        </p:spPr>
        <p:txBody>
          <a:bodyPr wrap="square" lIns="635" tIns="635" rIns="635" bIns="635" rtlCol="0" anchor="ctr"/>
          <a:lstStyle/>
          <a:p>
            <a:pPr algn="ctr" indent="0" marL="0" eaLnBrk="0">
              <a:buNone/>
            </a:pPr>
            <a:r>
              <a:rPr lang="ko-KR" altLang="en-US" sz="1400" b="1" dirty="0">
                <a:solidFill>
                  <a:schemeClr val="tx1"/>
                </a:solidFill>
              </a:rPr>
              <a:t>UpdateEntity의 다음 줄</a:t>
            </a:r>
            <a:endParaRPr lang="ko-KR" altLang="en-US" sz="1400" dirty="0"/>
          </a:p>
        </p:txBody>
      </p:sp>
      <p:sp>
        <p:nvSpPr>
          <p:cNvPr id="28" name="Text 25"/>
          <p:cNvSpPr txBox="1"/>
          <p:nvPr/>
        </p:nvSpPr>
        <p:spPr>
          <a:xfrm>
            <a:off x="6309360" y="5349240"/>
            <a:ext cx="5333695" cy="502920"/>
          </a:xfrm>
          <a:prstGeom prst="rect">
            <a:avLst/>
          </a:prstGeom>
          <a:noFill/>
          <a:ln/>
        </p:spPr>
        <p:txBody>
          <a:bodyPr wrap="square" lIns="0" tIns="0" rIns="0" bIns="0" rtlCol="0" anchor="t"/>
          <a:lstStyle/>
          <a:p>
            <a:pPr indent="0" marL="0" eaLnBrk="0">
              <a:buNone/>
            </a:pPr>
            <a:r>
              <a:rPr lang="ko-KR" altLang="en-US" sz="1300" dirty="0">
                <a:solidFill>
                  <a:schemeClr val="accent5"/>
                </a:solidFill>
              </a:rPr>
              <a:t>오디오가 끝날 때까지 물리 엔진도 기다린다. 스레드와 락이 얽힌 엔진이라면 이벤트 큐(10강)가 더 맞을 수 있다.</a:t>
            </a:r>
            <a:endParaRPr lang="ko-KR" altLang="en-US" sz="13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15</a:t>
            </a:fld>
            <a:endParaRPr lang="ko-KR"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동적 할당</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할당은 등록과 해제 때만 일어나고, 알림 때는 없다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등록할 때의 할당마저 없애려면 목록을 어디에 두어야 할까?</a:t>
            </a:r>
            <a:endParaRPr lang="ko-KR" altLang="en-US" sz="1500" dirty="0"/>
          </a:p>
        </p:txBody>
      </p:sp>
      <p:sp>
        <p:nvSpPr>
          <p:cNvPr id="6" name="codePanel"/>
          <p:cNvSpPr/>
          <p:nvPr/>
        </p:nvSpPr>
        <p:spPr>
          <a:xfrm>
            <a:off x="548640" y="1645920"/>
            <a:ext cx="6766560" cy="2240280"/>
          </a:xfrm>
          <a:prstGeom prst="roundRect">
            <a:avLst>
              <a:gd name="adj" fmla="val 3265"/>
            </a:avLst>
          </a:prstGeom>
          <a:solidFill>
            <a:schemeClr val="tx1"/>
          </a:solidFill>
          <a:ln w="12700">
            <a:solidFill>
              <a:schemeClr val="tx1"/>
            </a:solidFill>
            <a:prstDash val="solid"/>
          </a:ln>
        </p:spPr>
      </p:sp>
      <p:sp>
        <p:nvSpPr>
          <p:cNvPr id="7" name="code"/>
          <p:cNvSpPr txBox="1"/>
          <p:nvPr/>
        </p:nvSpPr>
        <p:spPr>
          <a:xfrm>
            <a:off x="658368" y="1737360"/>
            <a:ext cx="6547104" cy="2057400"/>
          </a:xfrm>
          <a:prstGeom prst="rect">
            <a:avLst/>
          </a:prstGeom>
          <a:noFill/>
          <a:ln/>
        </p:spPr>
        <p:txBody>
          <a:bodyPr wrap="square" lIns="635" tIns="635" rIns="635" bIns="635" rtlCol="0" anchor="t"/>
          <a:lstStyle/>
          <a:p>
            <a:pPr indent="0" marL="0" eaLnBrk="0">
              <a:buNone/>
            </a:pPr>
            <a:r>
              <a:rPr lang="ko-KR" altLang="en-US" sz="1400" dirty="0">
                <a:solidFill>
                  <a:schemeClr val="accent3"/>
                </a:solidFill>
                <a:latin typeface="Consolas" pitchFamily="34" charset="0"/>
                <a:ea typeface="Consolas" pitchFamily="34" charset="-122"/>
                <a:cs typeface="Consolas" pitchFamily="34" charset="-120"/>
              </a:rPr>
              <a:t>// 등록할 때: 목록이 꽉 차면 더 큰 배열을 새로 할당한다</a:t>
            </a:r>
            <a:endParaRPr lang="ko-KR" altLang="en-US" sz="1400" dirty="0"/>
          </a:p>
          <a:p>
            <a:pPr indent="0" marL="0" eaLnBrk="0">
              <a:buNone/>
            </a:pPr>
            <a:r>
              <a:rPr lang="ko-KR" altLang="en-US" sz="1400" b="1" dirty="0">
                <a:solidFill>
                  <a:schemeClr val="accent4"/>
                </a:solidFill>
                <a:latin typeface="Consolas" pitchFamily="34" charset="0"/>
                <a:ea typeface="Consolas" pitchFamily="34" charset="-122"/>
                <a:cs typeface="Consolas" pitchFamily="34" charset="-120"/>
              </a:rPr>
              <a:t>_observers.Add(observer);</a:t>
            </a:r>
            <a:endParaRPr lang="ko-KR" altLang="en-US" sz="1400" dirty="0"/>
          </a:p>
          <a:p>
            <a:pPr indent="0" marL="0" eaLnBrk="0">
              <a:buNone/>
            </a:pPr>
            <a:r>
              <a:rPr lang="ko-KR" altLang="en-US" sz="1400" dirty="0">
                <a:solidFill>
                  <a:schemeClr val="bg1"/>
                </a:solidFill>
                <a:latin typeface="Consolas" pitchFamily="34" charset="0"/>
                <a:ea typeface="Consolas" pitchFamily="34" charset="-122"/>
                <a:cs typeface="Consolas" pitchFamily="34" charset="-120"/>
              </a:rPr>
              <a:t> </a:t>
            </a:r>
            <a:endParaRPr lang="ko-KR" altLang="en-US" sz="1400" dirty="0"/>
          </a:p>
          <a:p>
            <a:pPr indent="0" marL="0" eaLnBrk="0">
              <a:buNone/>
            </a:pPr>
            <a:r>
              <a:rPr lang="ko-KR" altLang="en-US" sz="1400" dirty="0">
                <a:solidFill>
                  <a:schemeClr val="accent3"/>
                </a:solidFill>
                <a:latin typeface="Consolas" pitchFamily="34" charset="0"/>
                <a:ea typeface="Consolas" pitchFamily="34" charset="-122"/>
                <a:cs typeface="Consolas" pitchFamily="34" charset="-120"/>
              </a:rPr>
              <a:t>// 알릴 때: 목록을 돌며 메서드만 부른다. 할당이 없다</a:t>
            </a:r>
            <a:endParaRPr lang="ko-KR" altLang="en-US" sz="1400" dirty="0"/>
          </a:p>
          <a:p>
            <a:pPr indent="0" marL="0" eaLnBrk="0">
              <a:buNone/>
            </a:pPr>
            <a:r>
              <a:rPr lang="ko-KR" altLang="en-US" sz="1400" dirty="0">
                <a:solidFill>
                  <a:schemeClr val="bg1"/>
                </a:solidFill>
                <a:latin typeface="Consolas" pitchFamily="34" charset="0"/>
                <a:ea typeface="Consolas" pitchFamily="34" charset="-122"/>
                <a:cs typeface="Consolas" pitchFamily="34" charset="-120"/>
              </a:rPr>
              <a:t>foreach (IObserver observer in _observers)</a:t>
            </a:r>
            <a:endParaRPr lang="ko-KR" altLang="en-US" sz="1400" dirty="0"/>
          </a:p>
          <a:p>
            <a:pPr indent="0" marL="0" eaLnBrk="0">
              <a:buNone/>
            </a:pPr>
            <a:r>
              <a:rPr lang="ko-KR" altLang="en-US" sz="1400" dirty="0">
                <a:solidFill>
                  <a:schemeClr val="bg1"/>
                </a:solidFill>
                <a:latin typeface="Consolas" pitchFamily="34" charset="0"/>
                <a:ea typeface="Consolas" pitchFamily="34" charset="-122"/>
                <a:cs typeface="Consolas" pitchFamily="34" charset="-120"/>
              </a:rPr>
              <a:t>{</a:t>
            </a:r>
            <a:endParaRPr lang="ko-KR" altLang="en-US" sz="1400" dirty="0"/>
          </a:p>
          <a:p>
            <a:pPr indent="0" marL="0" eaLnBrk="0">
              <a:buNone/>
            </a:pPr>
            <a:r>
              <a:rPr lang="ko-KR" altLang="en-US" sz="1400" b="1" dirty="0">
                <a:solidFill>
                  <a:schemeClr val="accent4"/>
                </a:solidFill>
                <a:latin typeface="Consolas" pitchFamily="34" charset="0"/>
                <a:ea typeface="Consolas" pitchFamily="34" charset="-122"/>
                <a:cs typeface="Consolas" pitchFamily="34" charset="-120"/>
              </a:rPr>
              <a:t>    observer.OnNotify(entity, e);</a:t>
            </a:r>
            <a:endParaRPr lang="ko-KR" altLang="en-US" sz="1400" dirty="0"/>
          </a:p>
          <a:p>
            <a:pPr indent="0" marL="0" eaLnBrk="0">
              <a:buNone/>
            </a:pPr>
            <a:r>
              <a:rPr lang="ko-KR" altLang="en-US" sz="1400" dirty="0">
                <a:solidFill>
                  <a:schemeClr val="bg1"/>
                </a:solidFill>
                <a:latin typeface="Consolas" pitchFamily="34" charset="0"/>
                <a:ea typeface="Consolas" pitchFamily="34" charset="-122"/>
                <a:cs typeface="Consolas" pitchFamily="34" charset="-120"/>
              </a:rPr>
              <a:t>}</a:t>
            </a:r>
            <a:endParaRPr lang="ko-KR" altLang="en-US" sz="1400" dirty="0"/>
          </a:p>
        </p:txBody>
      </p:sp>
      <p:sp>
        <p:nvSpPr>
          <p:cNvPr id="8" name="card"/>
          <p:cNvSpPr/>
          <p:nvPr/>
        </p:nvSpPr>
        <p:spPr>
          <a:xfrm>
            <a:off x="7680960" y="1645920"/>
            <a:ext cx="3962095" cy="1920240"/>
          </a:xfrm>
          <a:prstGeom prst="roundRect">
            <a:avLst>
              <a:gd name="adj" fmla="val 4762"/>
            </a:avLst>
          </a:prstGeom>
          <a:solidFill>
            <a:schemeClr val="bg2"/>
          </a:solidFill>
          <a:ln w="12700">
            <a:solidFill>
              <a:schemeClr val="bg2"/>
            </a:solidFill>
            <a:prstDash val="solid"/>
          </a:ln>
        </p:spPr>
      </p:sp>
      <p:sp>
        <p:nvSpPr>
          <p:cNvPr id="9" name="Text 6"/>
          <p:cNvSpPr txBox="1"/>
          <p:nvPr/>
        </p:nvSpPr>
        <p:spPr>
          <a:xfrm>
            <a:off x="7909560" y="1865376"/>
            <a:ext cx="3550615" cy="411480"/>
          </a:xfrm>
          <a:prstGeom prst="rect">
            <a:avLst/>
          </a:prstGeom>
          <a:noFill/>
          <a:ln/>
        </p:spPr>
        <p:txBody>
          <a:bodyPr wrap="square" lIns="0" tIns="0" rIns="0" bIns="0" rtlCol="0" anchor="ctr"/>
          <a:lstStyle/>
          <a:p>
            <a:pPr indent="0" marL="0" eaLnBrk="0">
              <a:buNone/>
            </a:pPr>
            <a:r>
              <a:rPr lang="ko-KR" altLang="en-US" sz="1700" b="1" dirty="0">
                <a:solidFill>
                  <a:schemeClr val="accent6"/>
                </a:solidFill>
              </a:rPr>
              <a:t>할당이 걱정되는 이유</a:t>
            </a:r>
            <a:endParaRPr lang="ko-KR" altLang="en-US" sz="1700" dirty="0"/>
          </a:p>
        </p:txBody>
      </p:sp>
      <p:sp>
        <p:nvSpPr>
          <p:cNvPr id="10" name="Text 7"/>
          <p:cNvSpPr txBox="1"/>
          <p:nvPr/>
        </p:nvSpPr>
        <p:spPr>
          <a:xfrm>
            <a:off x="7909560" y="2423160"/>
            <a:ext cx="3504895" cy="1005840"/>
          </a:xfrm>
          <a:prstGeom prst="rect">
            <a:avLst/>
          </a:prstGeom>
          <a:noFill/>
          <a:ln/>
        </p:spPr>
        <p:txBody>
          <a:bodyPr wrap="square" lIns="0" tIns="0" rIns="0" bIns="0" rtlCol="0" anchor="t"/>
          <a:lstStyle/>
          <a:p>
            <a:pPr indent="0" marL="0" eaLnBrk="0">
              <a:spcAft>
                <a:spcPts val="400"/>
              </a:spcAft>
              <a:buNone/>
            </a:pPr>
            <a:r>
              <a:rPr lang="ko-KR" altLang="en-US" sz="1400" dirty="0">
                <a:solidFill>
                  <a:schemeClr val="tx2"/>
                </a:solidFill>
              </a:rPr>
              <a:t>수거할 때 잠깐 멈춘다. 오래 도는 게임은 메모리가 조각난다.</a:t>
            </a:r>
            <a:endParaRPr lang="ko-KR" altLang="en-US" sz="1400" dirty="0"/>
          </a:p>
        </p:txBody>
      </p:sp>
      <p:sp>
        <p:nvSpPr>
          <p:cNvPr id="11" name="card"/>
          <p:cNvSpPr/>
          <p:nvPr/>
        </p:nvSpPr>
        <p:spPr>
          <a:xfrm>
            <a:off x="7680960" y="3749040"/>
            <a:ext cx="3962095" cy="1920240"/>
          </a:xfrm>
          <a:prstGeom prst="roundRect">
            <a:avLst>
              <a:gd name="adj" fmla="val 4762"/>
            </a:avLst>
          </a:prstGeom>
          <a:solidFill>
            <a:schemeClr val="bg2"/>
          </a:solidFill>
          <a:ln w="12700">
            <a:solidFill>
              <a:schemeClr val="bg2"/>
            </a:solidFill>
            <a:prstDash val="solid"/>
          </a:ln>
        </p:spPr>
      </p:sp>
      <p:sp>
        <p:nvSpPr>
          <p:cNvPr id="12" name="Text 9"/>
          <p:cNvSpPr txBox="1"/>
          <p:nvPr/>
        </p:nvSpPr>
        <p:spPr>
          <a:xfrm>
            <a:off x="7909560" y="3968496"/>
            <a:ext cx="3550615" cy="411480"/>
          </a:xfrm>
          <a:prstGeom prst="rect">
            <a:avLst/>
          </a:prstGeom>
          <a:noFill/>
          <a:ln/>
        </p:spPr>
        <p:txBody>
          <a:bodyPr wrap="square" lIns="0" tIns="0" rIns="0" bIns="0" rtlCol="0" anchor="ctr"/>
          <a:lstStyle/>
          <a:p>
            <a:pPr indent="0" marL="0" eaLnBrk="0">
              <a:buNone/>
            </a:pPr>
            <a:r>
              <a:rPr lang="ko-KR" altLang="en-US" sz="1700" b="1" dirty="0">
                <a:solidFill>
                  <a:schemeClr val="accent2"/>
                </a:solidFill>
              </a:rPr>
              <a:t>실제로 할당되는 때</a:t>
            </a:r>
            <a:endParaRPr lang="ko-KR" altLang="en-US" sz="1700" dirty="0"/>
          </a:p>
        </p:txBody>
      </p:sp>
      <p:sp>
        <p:nvSpPr>
          <p:cNvPr id="13" name="Text 10"/>
          <p:cNvSpPr txBox="1"/>
          <p:nvPr/>
        </p:nvSpPr>
        <p:spPr>
          <a:xfrm>
            <a:off x="7909560" y="4526280"/>
            <a:ext cx="3504895" cy="1005840"/>
          </a:xfrm>
          <a:prstGeom prst="rect">
            <a:avLst/>
          </a:prstGeom>
          <a:noFill/>
          <a:ln/>
        </p:spPr>
        <p:txBody>
          <a:bodyPr wrap="square" lIns="0" tIns="0" rIns="0" bIns="0" rtlCol="0" anchor="t"/>
          <a:lstStyle/>
          <a:p>
            <a:pPr indent="0" marL="0" eaLnBrk="0">
              <a:spcAft>
                <a:spcPts val="400"/>
              </a:spcAft>
              <a:buNone/>
            </a:pPr>
            <a:r>
              <a:rPr lang="ko-KR" altLang="en-US" sz="1400" dirty="0">
                <a:solidFill>
                  <a:schemeClr val="tx2"/>
                </a:solidFill>
              </a:rPr>
              <a:t>관찰자를 등록하거나 해제할 때뿐이다. 보통 게임 시작이나 화면 전환 때다.</a:t>
            </a:r>
            <a:endParaRPr lang="ko-KR" altLang="en-US" sz="1400" dirty="0"/>
          </a:p>
        </p:txBody>
      </p:sp>
      <p:sp>
        <p:nvSpPr>
          <p:cNvPr id="14" name="Text 11"/>
          <p:cNvSpPr txBox="1"/>
          <p:nvPr/>
        </p:nvSpPr>
        <p:spPr>
          <a:xfrm>
            <a:off x="548640" y="4160520"/>
            <a:ext cx="6766560" cy="731520"/>
          </a:xfrm>
          <a:prstGeom prst="rect">
            <a:avLst/>
          </a:prstGeom>
          <a:noFill/>
          <a:ln/>
        </p:spPr>
        <p:txBody>
          <a:bodyPr wrap="square" lIns="0" tIns="0" rIns="0" bIns="0" rtlCol="0" anchor="t"/>
          <a:lstStyle/>
          <a:p>
            <a:pPr indent="0" marL="0" eaLnBrk="0">
              <a:buNone/>
            </a:pPr>
            <a:r>
              <a:rPr lang="ko-KR" altLang="en-US" sz="1500" dirty="0">
                <a:solidFill>
                  <a:schemeClr val="tx2"/>
                </a:solidFill>
              </a:rPr>
              <a:t>목록을 담을 배열 자체가 없다면 등록할 때도 할당할 것이 없다.</a:t>
            </a:r>
            <a:endParaRPr lang="ko-KR" alt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16</a:t>
            </a:fld>
            <a:endParaRPr lang="ko-KR"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연결 리스트 관찰자</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목록을 관찰자 자신에게 꿰어 둔다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목록 중간의 관찰자는 어떻게 빼낼까?</a:t>
            </a:r>
            <a:endParaRPr lang="ko-KR" altLang="en-US" sz="1500" dirty="0"/>
          </a:p>
        </p:txBody>
      </p:sp>
      <p:sp>
        <p:nvSpPr>
          <p:cNvPr id="6" name="codePanel"/>
          <p:cNvSpPr/>
          <p:nvPr/>
        </p:nvSpPr>
        <p:spPr>
          <a:xfrm>
            <a:off x="548640" y="1645920"/>
            <a:ext cx="6949440" cy="4023360"/>
          </a:xfrm>
          <a:prstGeom prst="roundRect">
            <a:avLst>
              <a:gd name="adj" fmla="val 1818"/>
            </a:avLst>
          </a:prstGeom>
          <a:solidFill>
            <a:schemeClr val="tx1"/>
          </a:solidFill>
          <a:ln w="12700">
            <a:solidFill>
              <a:schemeClr val="tx1"/>
            </a:solidFill>
            <a:prstDash val="solid"/>
          </a:ln>
        </p:spPr>
      </p:sp>
      <p:sp>
        <p:nvSpPr>
          <p:cNvPr id="7" name="code"/>
          <p:cNvSpPr txBox="1"/>
          <p:nvPr/>
        </p:nvSpPr>
        <p:spPr>
          <a:xfrm>
            <a:off x="658368" y="1737360"/>
            <a:ext cx="6729984" cy="3840480"/>
          </a:xfrm>
          <a:prstGeom prst="rect">
            <a:avLst/>
          </a:prstGeom>
          <a:noFill/>
          <a:ln/>
        </p:spPr>
        <p:txBody>
          <a:bodyPr wrap="square" lIns="635" tIns="635" rIns="635" bIns="635" rtlCol="0" anchor="t"/>
          <a:lstStyle/>
          <a:p>
            <a:pPr indent="0" marL="0" eaLnBrk="0">
              <a:buNone/>
            </a:pPr>
            <a:r>
              <a:rPr lang="ko-KR" altLang="en-US" sz="1300" dirty="0">
                <a:solidFill>
                  <a:schemeClr val="bg1"/>
                </a:solidFill>
                <a:latin typeface="Consolas" pitchFamily="34" charset="0"/>
                <a:ea typeface="Consolas" pitchFamily="34" charset="-122"/>
                <a:cs typeface="Consolas" pitchFamily="34" charset="-120"/>
              </a:rPr>
              <a:t>public abstract class Observer</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a:t>
            </a:r>
            <a:endParaRPr lang="ko-KR" altLang="en-US" sz="1300" dirty="0"/>
          </a:p>
          <a:p>
            <a:pPr indent="0" marL="0" eaLnBrk="0">
              <a:buNone/>
            </a:pPr>
            <a:r>
              <a:rPr lang="ko-KR" altLang="en-US" sz="1300" b="1" dirty="0">
                <a:solidFill>
                  <a:schemeClr val="accent4"/>
                </a:solidFill>
                <a:latin typeface="Consolas" pitchFamily="34" charset="0"/>
                <a:ea typeface="Consolas" pitchFamily="34" charset="-122"/>
                <a:cs typeface="Consolas" pitchFamily="34" charset="-120"/>
              </a:rPr>
              <a:t>    internal Observer Next;   // 목록의 다음 관찰자</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public abstract void OnNotify(Entity entity, Event e);</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public class Subject</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a:t>
            </a:r>
            <a:endParaRPr lang="ko-KR" altLang="en-US" sz="1300" dirty="0"/>
          </a:p>
          <a:p>
            <a:pPr indent="0" marL="0" eaLnBrk="0">
              <a:buNone/>
            </a:pPr>
            <a:r>
              <a:rPr lang="ko-KR" altLang="en-US" sz="1300" b="1" dirty="0">
                <a:solidFill>
                  <a:schemeClr val="accent4"/>
                </a:solidFill>
                <a:latin typeface="Consolas" pitchFamily="34" charset="0"/>
                <a:ea typeface="Consolas" pitchFamily="34" charset="-122"/>
                <a:cs typeface="Consolas" pitchFamily="34" charset="-120"/>
              </a:rPr>
              <a:t>    Observer _head;   // 목록의 첫 관찰자</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public void AddObserver(Observer observer)</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b="1" dirty="0">
                <a:solidFill>
                  <a:schemeClr val="accent4"/>
                </a:solidFill>
                <a:latin typeface="Consolas" pitchFamily="34" charset="0"/>
                <a:ea typeface="Consolas" pitchFamily="34" charset="-122"/>
                <a:cs typeface="Consolas" pitchFamily="34" charset="-120"/>
              </a:rPr>
              <a:t>        observer.Next = _head;   // 맨 앞에 끼워 넣는다</a:t>
            </a:r>
            <a:endParaRPr lang="ko-KR" altLang="en-US" sz="1300" dirty="0"/>
          </a:p>
          <a:p>
            <a:pPr indent="0" marL="0" eaLnBrk="0">
              <a:buNone/>
            </a:pPr>
            <a:r>
              <a:rPr lang="ko-KR" altLang="en-US" sz="1300" b="1" dirty="0">
                <a:solidFill>
                  <a:schemeClr val="accent4"/>
                </a:solidFill>
                <a:latin typeface="Consolas" pitchFamily="34" charset="0"/>
                <a:ea typeface="Consolas" pitchFamily="34" charset="-122"/>
                <a:cs typeface="Consolas" pitchFamily="34" charset="-120"/>
              </a:rPr>
              <a:t>        _head = observer;</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a:t>
            </a:r>
            <a:endParaRPr lang="ko-KR" altLang="en-US" sz="1300" dirty="0"/>
          </a:p>
        </p:txBody>
      </p:sp>
      <p:sp>
        <p:nvSpPr>
          <p:cNvPr id="8" name="codeCaption"/>
          <p:cNvSpPr txBox="1"/>
          <p:nvPr/>
        </p:nvSpPr>
        <p:spPr>
          <a:xfrm>
            <a:off x="4389120" y="1737360"/>
            <a:ext cx="2971800" cy="237744"/>
          </a:xfrm>
          <a:prstGeom prst="rect">
            <a:avLst/>
          </a:prstGeom>
          <a:noFill/>
          <a:ln/>
        </p:spPr>
        <p:txBody>
          <a:bodyPr wrap="square" lIns="0" tIns="0" rIns="0" bIns="0" rtlCol="0" anchor="ctr"/>
          <a:lstStyle/>
          <a:p>
            <a:pPr algn="r" indent="0" marL="0" eaLnBrk="0">
              <a:buNone/>
            </a:pPr>
            <a:r>
              <a:rPr lang="ko-KR" altLang="en-US" sz="1000" dirty="0">
                <a:solidFill>
                  <a:schemeClr val="accent3"/>
                </a:solidFill>
              </a:rPr>
              <a:t>원서 예제를 C#으로 옮긴 코드</a:t>
            </a:r>
            <a:endParaRPr lang="ko-KR" altLang="en-US" sz="1000" dirty="0"/>
          </a:p>
        </p:txBody>
      </p:sp>
      <p:sp>
        <p:nvSpPr>
          <p:cNvPr id="9" name="Text 6"/>
          <p:cNvSpPr txBox="1"/>
          <p:nvPr/>
        </p:nvSpPr>
        <p:spPr>
          <a:xfrm>
            <a:off x="7863840" y="1645920"/>
            <a:ext cx="3779215" cy="365760"/>
          </a:xfrm>
          <a:prstGeom prst="rect">
            <a:avLst/>
          </a:prstGeom>
          <a:noFill/>
          <a:ln/>
        </p:spPr>
        <p:txBody>
          <a:bodyPr wrap="square" lIns="0" tIns="0" rIns="0" bIns="0" rtlCol="0" anchor="t"/>
          <a:lstStyle/>
          <a:p>
            <a:pPr indent="0" marL="0" eaLnBrk="0">
              <a:buNone/>
            </a:pPr>
            <a:r>
              <a:rPr lang="ko-KR" altLang="en-US" sz="1500" b="1" dirty="0">
                <a:solidFill>
                  <a:schemeClr val="tx1"/>
                </a:solidFill>
              </a:rPr>
              <a:t>업적, 오디오 순서로 등록한 뒤</a:t>
            </a:r>
            <a:endParaRPr lang="ko-KR" altLang="en-US" sz="1500" dirty="0"/>
          </a:p>
        </p:txBody>
      </p:sp>
      <p:sp>
        <p:nvSpPr>
          <p:cNvPr id="10" name="box"/>
          <p:cNvSpPr/>
          <p:nvPr/>
        </p:nvSpPr>
        <p:spPr>
          <a:xfrm>
            <a:off x="8412480" y="2103120"/>
            <a:ext cx="2681935" cy="502920"/>
          </a:xfrm>
          <a:prstGeom prst="roundRect">
            <a:avLst>
              <a:gd name="adj" fmla="val 14545"/>
            </a:avLst>
          </a:prstGeom>
          <a:solidFill>
            <a:schemeClr val="tx2"/>
          </a:solidFill>
          <a:ln w="12700">
            <a:solidFill>
              <a:schemeClr val="tx2"/>
            </a:solidFill>
            <a:prstDash val="solid"/>
          </a:ln>
        </p:spPr>
      </p:sp>
      <p:sp>
        <p:nvSpPr>
          <p:cNvPr id="11" name="Text 8"/>
          <p:cNvSpPr txBox="1"/>
          <p:nvPr/>
        </p:nvSpPr>
        <p:spPr>
          <a:xfrm>
            <a:off x="8412480" y="2103120"/>
            <a:ext cx="2681935" cy="502920"/>
          </a:xfrm>
          <a:prstGeom prst="rect">
            <a:avLst/>
          </a:prstGeom>
          <a:noFill/>
          <a:ln/>
        </p:spPr>
        <p:txBody>
          <a:bodyPr wrap="square" lIns="635" tIns="635" rIns="635" bIns="635" rtlCol="0" anchor="ctr"/>
          <a:lstStyle/>
          <a:p>
            <a:pPr algn="ctr" indent="0" marL="0" eaLnBrk="0">
              <a:buNone/>
            </a:pPr>
            <a:r>
              <a:rPr lang="ko-KR" altLang="en-US" sz="1400" b="1" dirty="0">
                <a:solidFill>
                  <a:schemeClr val="bg1"/>
                </a:solidFill>
              </a:rPr>
              <a:t>_head</a:t>
            </a:r>
            <a:endParaRPr lang="ko-KR" altLang="en-US" sz="1400" dirty="0"/>
          </a:p>
        </p:txBody>
      </p:sp>
      <p:sp>
        <p:nvSpPr>
          <p:cNvPr id="12" name="Shape 9"/>
          <p:cNvSpPr/>
          <p:nvPr/>
        </p:nvSpPr>
        <p:spPr>
          <a:xfrm>
            <a:off x="9753448" y="2624328"/>
            <a:ext cx="914" cy="237744"/>
          </a:xfrm>
          <a:prstGeom prst="line">
            <a:avLst/>
          </a:prstGeom>
          <a:noFill/>
          <a:ln w="22225">
            <a:solidFill>
              <a:schemeClr val="accent3"/>
            </a:solidFill>
            <a:prstDash val="solid"/>
            <a:tailEnd type="triangle"/>
          </a:ln>
        </p:spPr>
      </p:sp>
      <p:sp>
        <p:nvSpPr>
          <p:cNvPr id="13" name="box"/>
          <p:cNvSpPr/>
          <p:nvPr/>
        </p:nvSpPr>
        <p:spPr>
          <a:xfrm>
            <a:off x="8412480" y="2880360"/>
            <a:ext cx="2681935" cy="502920"/>
          </a:xfrm>
          <a:prstGeom prst="roundRect">
            <a:avLst>
              <a:gd name="adj" fmla="val 14545"/>
            </a:avLst>
          </a:prstGeom>
          <a:solidFill>
            <a:schemeClr val="accent1"/>
          </a:solidFill>
          <a:ln w="12700">
            <a:solidFill>
              <a:schemeClr val="accent1"/>
            </a:solidFill>
            <a:prstDash val="solid"/>
          </a:ln>
        </p:spPr>
      </p:sp>
      <p:sp>
        <p:nvSpPr>
          <p:cNvPr id="14" name="Text 11"/>
          <p:cNvSpPr txBox="1"/>
          <p:nvPr/>
        </p:nvSpPr>
        <p:spPr>
          <a:xfrm>
            <a:off x="8412480" y="2880360"/>
            <a:ext cx="2681935" cy="502920"/>
          </a:xfrm>
          <a:prstGeom prst="rect">
            <a:avLst/>
          </a:prstGeom>
          <a:noFill/>
          <a:ln/>
        </p:spPr>
        <p:txBody>
          <a:bodyPr wrap="square" lIns="635" tIns="635" rIns="635" bIns="635" rtlCol="0" anchor="ctr"/>
          <a:lstStyle/>
          <a:p>
            <a:pPr algn="ctr" indent="0" marL="0" eaLnBrk="0">
              <a:buNone/>
            </a:pPr>
            <a:r>
              <a:rPr lang="ko-KR" altLang="en-US" sz="1400" b="1" dirty="0">
                <a:solidFill>
                  <a:schemeClr val="bg1"/>
                </a:solidFill>
              </a:rPr>
              <a:t>오디오</a:t>
            </a:r>
            <a:endParaRPr lang="ko-KR" altLang="en-US" sz="1400" dirty="0"/>
          </a:p>
        </p:txBody>
      </p:sp>
      <p:sp>
        <p:nvSpPr>
          <p:cNvPr id="15" name="Shape 12"/>
          <p:cNvSpPr/>
          <p:nvPr/>
        </p:nvSpPr>
        <p:spPr>
          <a:xfrm>
            <a:off x="9753448" y="3401568"/>
            <a:ext cx="914" cy="237744"/>
          </a:xfrm>
          <a:prstGeom prst="line">
            <a:avLst/>
          </a:prstGeom>
          <a:noFill/>
          <a:ln w="22225">
            <a:solidFill>
              <a:schemeClr val="accent3"/>
            </a:solidFill>
            <a:prstDash val="solid"/>
            <a:tailEnd type="triangle"/>
          </a:ln>
        </p:spPr>
      </p:sp>
      <p:sp>
        <p:nvSpPr>
          <p:cNvPr id="16" name="box"/>
          <p:cNvSpPr/>
          <p:nvPr/>
        </p:nvSpPr>
        <p:spPr>
          <a:xfrm>
            <a:off x="8412480" y="3657600"/>
            <a:ext cx="2681935" cy="502920"/>
          </a:xfrm>
          <a:prstGeom prst="roundRect">
            <a:avLst>
              <a:gd name="adj" fmla="val 14545"/>
            </a:avLst>
          </a:prstGeom>
          <a:solidFill>
            <a:schemeClr val="accent1"/>
          </a:solidFill>
          <a:ln w="12700">
            <a:solidFill>
              <a:schemeClr val="accent1"/>
            </a:solidFill>
            <a:prstDash val="solid"/>
          </a:ln>
        </p:spPr>
      </p:sp>
      <p:sp>
        <p:nvSpPr>
          <p:cNvPr id="17" name="Text 14"/>
          <p:cNvSpPr txBox="1"/>
          <p:nvPr/>
        </p:nvSpPr>
        <p:spPr>
          <a:xfrm>
            <a:off x="8412480" y="3657600"/>
            <a:ext cx="2681935" cy="502920"/>
          </a:xfrm>
          <a:prstGeom prst="rect">
            <a:avLst/>
          </a:prstGeom>
          <a:noFill/>
          <a:ln/>
        </p:spPr>
        <p:txBody>
          <a:bodyPr wrap="square" lIns="635" tIns="635" rIns="635" bIns="635" rtlCol="0" anchor="ctr"/>
          <a:lstStyle/>
          <a:p>
            <a:pPr algn="ctr" indent="0" marL="0" eaLnBrk="0">
              <a:buNone/>
            </a:pPr>
            <a:r>
              <a:rPr lang="ko-KR" altLang="en-US" sz="1400" b="1" dirty="0">
                <a:solidFill>
                  <a:schemeClr val="bg1"/>
                </a:solidFill>
              </a:rPr>
              <a:t>업적</a:t>
            </a:r>
            <a:endParaRPr lang="ko-KR" altLang="en-US" sz="1400" dirty="0"/>
          </a:p>
        </p:txBody>
      </p:sp>
      <p:sp>
        <p:nvSpPr>
          <p:cNvPr id="18" name="Shape 15"/>
          <p:cNvSpPr/>
          <p:nvPr/>
        </p:nvSpPr>
        <p:spPr>
          <a:xfrm>
            <a:off x="9753448" y="4178808"/>
            <a:ext cx="914" cy="237744"/>
          </a:xfrm>
          <a:prstGeom prst="line">
            <a:avLst/>
          </a:prstGeom>
          <a:noFill/>
          <a:ln w="22225">
            <a:solidFill>
              <a:schemeClr val="accent3"/>
            </a:solidFill>
            <a:prstDash val="solid"/>
            <a:tailEnd type="triangle"/>
          </a:ln>
        </p:spPr>
      </p:sp>
      <p:sp>
        <p:nvSpPr>
          <p:cNvPr id="19" name="box"/>
          <p:cNvSpPr/>
          <p:nvPr/>
        </p:nvSpPr>
        <p:spPr>
          <a:xfrm>
            <a:off x="8412480" y="4434840"/>
            <a:ext cx="2681935" cy="502920"/>
          </a:xfrm>
          <a:prstGeom prst="roundRect">
            <a:avLst>
              <a:gd name="adj" fmla="val 14545"/>
            </a:avLst>
          </a:prstGeom>
          <a:solidFill>
            <a:schemeClr val="bg2"/>
          </a:solidFill>
          <a:ln w="12700">
            <a:solidFill>
              <a:schemeClr val="bg2"/>
            </a:solidFill>
            <a:prstDash val="solid"/>
          </a:ln>
        </p:spPr>
      </p:sp>
      <p:sp>
        <p:nvSpPr>
          <p:cNvPr id="20" name="Text 17"/>
          <p:cNvSpPr txBox="1"/>
          <p:nvPr/>
        </p:nvSpPr>
        <p:spPr>
          <a:xfrm>
            <a:off x="8412480" y="4434840"/>
            <a:ext cx="2681935" cy="502920"/>
          </a:xfrm>
          <a:prstGeom prst="rect">
            <a:avLst/>
          </a:prstGeom>
          <a:noFill/>
          <a:ln/>
        </p:spPr>
        <p:txBody>
          <a:bodyPr wrap="square" lIns="635" tIns="635" rIns="635" bIns="635" rtlCol="0" anchor="ctr"/>
          <a:lstStyle/>
          <a:p>
            <a:pPr algn="ctr" indent="0" marL="0" eaLnBrk="0">
              <a:buNone/>
            </a:pPr>
            <a:r>
              <a:rPr lang="ko-KR" altLang="en-US" sz="1400" b="1" dirty="0">
                <a:solidFill>
                  <a:schemeClr val="accent3"/>
                </a:solidFill>
              </a:rPr>
              <a:t>null</a:t>
            </a:r>
            <a:endParaRPr lang="ko-KR" altLang="en-US" sz="1400" dirty="0"/>
          </a:p>
        </p:txBody>
      </p:sp>
      <p:sp>
        <p:nvSpPr>
          <p:cNvPr id="21" name="Text 18"/>
          <p:cNvSpPr txBox="1"/>
          <p:nvPr/>
        </p:nvSpPr>
        <p:spPr>
          <a:xfrm>
            <a:off x="7863840" y="4937760"/>
            <a:ext cx="3779215" cy="731520"/>
          </a:xfrm>
          <a:prstGeom prst="rect">
            <a:avLst/>
          </a:prstGeom>
          <a:noFill/>
          <a:ln/>
        </p:spPr>
        <p:txBody>
          <a:bodyPr wrap="square" lIns="0" tIns="0" rIns="0" bIns="0" rtlCol="0" anchor="t"/>
          <a:lstStyle/>
          <a:p>
            <a:pPr indent="0" marL="0" eaLnBrk="0">
              <a:buNone/>
            </a:pPr>
            <a:r>
              <a:rPr lang="ko-KR" altLang="en-US" sz="1300" dirty="0">
                <a:solidFill>
                  <a:schemeClr val="accent5"/>
                </a:solidFill>
              </a:rPr>
              <a:t>C#으로 옮기며: 인터페이스는 필드를 가질 수 없어 추상 클래스로, friend는 internal로 바꿨다.</a:t>
            </a:r>
            <a:endParaRPr lang="ko-KR" altLang="en-US" sz="13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17</a:t>
            </a:fld>
            <a:endParaRPr lang="ko-KR"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목록에서 빼기</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맨 앞이면 _head를 옮기고, 아니면 앞 관찰자의 Next를 바꾼다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알림은 이 목록을 어떻게 따라갈까?</a:t>
            </a:r>
            <a:endParaRPr lang="ko-KR" altLang="en-US" sz="1500" dirty="0"/>
          </a:p>
        </p:txBody>
      </p:sp>
      <p:sp>
        <p:nvSpPr>
          <p:cNvPr id="6" name="codePanel"/>
          <p:cNvSpPr/>
          <p:nvPr/>
        </p:nvSpPr>
        <p:spPr>
          <a:xfrm>
            <a:off x="548640" y="1600200"/>
            <a:ext cx="6583680" cy="4114800"/>
          </a:xfrm>
          <a:prstGeom prst="roundRect">
            <a:avLst>
              <a:gd name="adj" fmla="val 1778"/>
            </a:avLst>
          </a:prstGeom>
          <a:solidFill>
            <a:schemeClr val="tx1"/>
          </a:solidFill>
          <a:ln w="12700">
            <a:solidFill>
              <a:schemeClr val="tx1"/>
            </a:solidFill>
            <a:prstDash val="solid"/>
          </a:ln>
        </p:spPr>
      </p:sp>
      <p:sp>
        <p:nvSpPr>
          <p:cNvPr id="7" name="code"/>
          <p:cNvSpPr txBox="1"/>
          <p:nvPr/>
        </p:nvSpPr>
        <p:spPr>
          <a:xfrm>
            <a:off x="658368" y="1691640"/>
            <a:ext cx="6364224" cy="3931920"/>
          </a:xfrm>
          <a:prstGeom prst="rect">
            <a:avLst/>
          </a:prstGeom>
          <a:noFill/>
          <a:ln/>
        </p:spPr>
        <p:txBody>
          <a:bodyPr wrap="square" lIns="635" tIns="635" rIns="635" bIns="635" rtlCol="0" anchor="t"/>
          <a:lstStyle/>
          <a:p>
            <a:pPr indent="0" marL="0" eaLnBrk="0">
              <a:buNone/>
            </a:pPr>
            <a:r>
              <a:rPr lang="ko-KR" altLang="en-US" sz="1200" dirty="0">
                <a:solidFill>
                  <a:schemeClr val="bg1"/>
                </a:solidFill>
                <a:latin typeface="Consolas" pitchFamily="34" charset="0"/>
                <a:ea typeface="Consolas" pitchFamily="34" charset="-122"/>
                <a:cs typeface="Consolas" pitchFamily="34" charset="-120"/>
              </a:rPr>
              <a:t>public void RemoveObserver(Observer observer)</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if (_head == observer)</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b="1" dirty="0">
                <a:solidFill>
                  <a:schemeClr val="accent4"/>
                </a:solidFill>
                <a:latin typeface="Consolas" pitchFamily="34" charset="0"/>
                <a:ea typeface="Consolas" pitchFamily="34" charset="-122"/>
                <a:cs typeface="Consolas" pitchFamily="34" charset="-120"/>
              </a:rPr>
              <a:t>        _head = observer.Next;</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observer.Next = null;</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return;</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Observer current = _head;</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while (current != null)</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if (current.Next == observer)</a:t>
            </a:r>
            <a:endParaRPr lang="ko-KR" altLang="en-US" sz="1200" dirty="0"/>
          </a:p>
          <a:p>
            <a:pPr indent="0" marL="0" eaLnBrk="0">
              <a:buNone/>
            </a:pPr>
            <a:r>
              <a:rPr lang="ko-KR" altLang="en-US" sz="1200" b="1" dirty="0">
                <a:solidFill>
                  <a:schemeClr val="accent4"/>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current.Next = observer.Next;</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observer.Next = null;</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return;</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current = current.Next;</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a:t>
            </a:r>
            <a:endParaRPr lang="ko-KR" altLang="en-US" sz="1200" dirty="0"/>
          </a:p>
        </p:txBody>
      </p:sp>
      <p:sp>
        <p:nvSpPr>
          <p:cNvPr id="8" name="codeCaption"/>
          <p:cNvSpPr txBox="1"/>
          <p:nvPr/>
        </p:nvSpPr>
        <p:spPr>
          <a:xfrm>
            <a:off x="4023360" y="1691640"/>
            <a:ext cx="2971800" cy="237744"/>
          </a:xfrm>
          <a:prstGeom prst="rect">
            <a:avLst/>
          </a:prstGeom>
          <a:noFill/>
          <a:ln/>
        </p:spPr>
        <p:txBody>
          <a:bodyPr wrap="square" lIns="0" tIns="0" rIns="0" bIns="0" rtlCol="0" anchor="ctr"/>
          <a:lstStyle/>
          <a:p>
            <a:pPr algn="r" indent="0" marL="0" eaLnBrk="0">
              <a:buNone/>
            </a:pPr>
            <a:r>
              <a:rPr lang="ko-KR" altLang="en-US" sz="1000" dirty="0">
                <a:solidFill>
                  <a:schemeClr val="accent3"/>
                </a:solidFill>
              </a:rPr>
              <a:t>원서 예제를 C#으로 옮긴 코드</a:t>
            </a:r>
            <a:endParaRPr lang="ko-KR" altLang="en-US" sz="1000" dirty="0"/>
          </a:p>
        </p:txBody>
      </p:sp>
      <p:sp>
        <p:nvSpPr>
          <p:cNvPr id="9" name="Text 6"/>
          <p:cNvSpPr txBox="1"/>
          <p:nvPr/>
        </p:nvSpPr>
        <p:spPr>
          <a:xfrm>
            <a:off x="7498080" y="1600200"/>
            <a:ext cx="4144975" cy="365760"/>
          </a:xfrm>
          <a:prstGeom prst="rect">
            <a:avLst/>
          </a:prstGeom>
          <a:noFill/>
          <a:ln/>
        </p:spPr>
        <p:txBody>
          <a:bodyPr wrap="square" lIns="0" tIns="0" rIns="0" bIns="0" rtlCol="0" anchor="t"/>
          <a:lstStyle/>
          <a:p>
            <a:pPr indent="0" marL="0" eaLnBrk="0">
              <a:buNone/>
            </a:pPr>
            <a:r>
              <a:rPr lang="ko-KR" altLang="en-US" sz="1500" b="1" dirty="0">
                <a:solidFill>
                  <a:schemeClr val="tx1"/>
                </a:solidFill>
              </a:rPr>
              <a:t>오디오 → 업적 → 전투에서 업적을 뺄 때</a:t>
            </a:r>
            <a:endParaRPr lang="ko-KR" altLang="en-US" sz="1500" dirty="0"/>
          </a:p>
        </p:txBody>
      </p:sp>
      <p:sp>
        <p:nvSpPr>
          <p:cNvPr id="10" name="Text 7"/>
          <p:cNvSpPr txBox="1"/>
          <p:nvPr/>
        </p:nvSpPr>
        <p:spPr>
          <a:xfrm>
            <a:off x="7498080" y="2057400"/>
            <a:ext cx="914400" cy="274320"/>
          </a:xfrm>
          <a:prstGeom prst="rect">
            <a:avLst/>
          </a:prstGeom>
          <a:noFill/>
          <a:ln/>
        </p:spPr>
        <p:txBody>
          <a:bodyPr wrap="square" lIns="0" tIns="0" rIns="0" bIns="0" rtlCol="0" anchor="t"/>
          <a:lstStyle/>
          <a:p>
            <a:pPr indent="0" marL="0" eaLnBrk="0">
              <a:buNone/>
            </a:pPr>
            <a:r>
              <a:rPr lang="ko-KR" altLang="en-US" sz="1300" b="1" dirty="0">
                <a:solidFill>
                  <a:schemeClr val="accent5"/>
                </a:solidFill>
              </a:rPr>
              <a:t>전</a:t>
            </a:r>
            <a:endParaRPr lang="ko-KR" altLang="en-US" sz="1300" dirty="0"/>
          </a:p>
        </p:txBody>
      </p:sp>
      <p:sp>
        <p:nvSpPr>
          <p:cNvPr id="11" name="box"/>
          <p:cNvSpPr/>
          <p:nvPr/>
        </p:nvSpPr>
        <p:spPr>
          <a:xfrm>
            <a:off x="7498080" y="2377440"/>
            <a:ext cx="1188720" cy="502920"/>
          </a:xfrm>
          <a:prstGeom prst="roundRect">
            <a:avLst>
              <a:gd name="adj" fmla="val 14545"/>
            </a:avLst>
          </a:prstGeom>
          <a:solidFill>
            <a:schemeClr val="accent1"/>
          </a:solidFill>
          <a:ln w="12700">
            <a:solidFill>
              <a:schemeClr val="accent1"/>
            </a:solidFill>
            <a:prstDash val="solid"/>
          </a:ln>
        </p:spPr>
      </p:sp>
      <p:sp>
        <p:nvSpPr>
          <p:cNvPr id="12" name="Text 9"/>
          <p:cNvSpPr txBox="1"/>
          <p:nvPr/>
        </p:nvSpPr>
        <p:spPr>
          <a:xfrm>
            <a:off x="7498080" y="2377440"/>
            <a:ext cx="1188720" cy="502920"/>
          </a:xfrm>
          <a:prstGeom prst="rect">
            <a:avLst/>
          </a:prstGeom>
          <a:noFill/>
          <a:ln/>
        </p:spPr>
        <p:txBody>
          <a:bodyPr wrap="square" lIns="635" tIns="635" rIns="635" bIns="635" rtlCol="0" anchor="ctr"/>
          <a:lstStyle/>
          <a:p>
            <a:pPr algn="ctr" indent="0" marL="0" eaLnBrk="0">
              <a:buNone/>
            </a:pPr>
            <a:r>
              <a:rPr lang="ko-KR" altLang="en-US" sz="1300" b="1" dirty="0">
                <a:solidFill>
                  <a:schemeClr val="bg1"/>
                </a:solidFill>
              </a:rPr>
              <a:t>오디오</a:t>
            </a:r>
            <a:endParaRPr lang="ko-KR" altLang="en-US" sz="1300" dirty="0"/>
          </a:p>
        </p:txBody>
      </p:sp>
      <p:sp>
        <p:nvSpPr>
          <p:cNvPr id="13" name="Shape 10"/>
          <p:cNvSpPr/>
          <p:nvPr/>
        </p:nvSpPr>
        <p:spPr>
          <a:xfrm>
            <a:off x="8714232" y="2633472"/>
            <a:ext cx="234544" cy="914"/>
          </a:xfrm>
          <a:prstGeom prst="line">
            <a:avLst/>
          </a:prstGeom>
          <a:noFill/>
          <a:ln w="22225">
            <a:solidFill>
              <a:schemeClr val="accent3"/>
            </a:solidFill>
            <a:prstDash val="solid"/>
            <a:tailEnd type="triangle"/>
          </a:ln>
        </p:spPr>
      </p:sp>
      <p:sp>
        <p:nvSpPr>
          <p:cNvPr id="14" name="box"/>
          <p:cNvSpPr/>
          <p:nvPr/>
        </p:nvSpPr>
        <p:spPr>
          <a:xfrm>
            <a:off x="8976208" y="2377440"/>
            <a:ext cx="1188720" cy="502920"/>
          </a:xfrm>
          <a:prstGeom prst="roundRect">
            <a:avLst>
              <a:gd name="adj" fmla="val 14545"/>
            </a:avLst>
          </a:prstGeom>
          <a:solidFill>
            <a:schemeClr val="accent6"/>
          </a:solidFill>
          <a:ln w="12700">
            <a:solidFill>
              <a:schemeClr val="accent6"/>
            </a:solidFill>
            <a:prstDash val="solid"/>
          </a:ln>
        </p:spPr>
      </p:sp>
      <p:sp>
        <p:nvSpPr>
          <p:cNvPr id="15" name="Text 12"/>
          <p:cNvSpPr txBox="1"/>
          <p:nvPr/>
        </p:nvSpPr>
        <p:spPr>
          <a:xfrm>
            <a:off x="8976208" y="2377440"/>
            <a:ext cx="1188720" cy="502920"/>
          </a:xfrm>
          <a:prstGeom prst="rect">
            <a:avLst/>
          </a:prstGeom>
          <a:noFill/>
          <a:ln/>
        </p:spPr>
        <p:txBody>
          <a:bodyPr wrap="square" lIns="635" tIns="635" rIns="635" bIns="635" rtlCol="0" anchor="ctr"/>
          <a:lstStyle/>
          <a:p>
            <a:pPr algn="ctr" indent="0" marL="0" eaLnBrk="0">
              <a:buNone/>
            </a:pPr>
            <a:r>
              <a:rPr lang="ko-KR" altLang="en-US" sz="1300" b="1" dirty="0">
                <a:solidFill>
                  <a:schemeClr val="bg1"/>
                </a:solidFill>
              </a:rPr>
              <a:t>업적</a:t>
            </a:r>
            <a:endParaRPr lang="ko-KR" altLang="en-US" sz="1300" dirty="0"/>
          </a:p>
        </p:txBody>
      </p:sp>
      <p:sp>
        <p:nvSpPr>
          <p:cNvPr id="16" name="Shape 13"/>
          <p:cNvSpPr/>
          <p:nvPr/>
        </p:nvSpPr>
        <p:spPr>
          <a:xfrm>
            <a:off x="10192360" y="2633472"/>
            <a:ext cx="234544" cy="914"/>
          </a:xfrm>
          <a:prstGeom prst="line">
            <a:avLst/>
          </a:prstGeom>
          <a:noFill/>
          <a:ln w="22225">
            <a:solidFill>
              <a:schemeClr val="accent3"/>
            </a:solidFill>
            <a:prstDash val="solid"/>
            <a:tailEnd type="triangle"/>
          </a:ln>
        </p:spPr>
      </p:sp>
      <p:sp>
        <p:nvSpPr>
          <p:cNvPr id="17" name="box"/>
          <p:cNvSpPr/>
          <p:nvPr/>
        </p:nvSpPr>
        <p:spPr>
          <a:xfrm>
            <a:off x="10454335" y="2377440"/>
            <a:ext cx="1188720" cy="502920"/>
          </a:xfrm>
          <a:prstGeom prst="roundRect">
            <a:avLst>
              <a:gd name="adj" fmla="val 14545"/>
            </a:avLst>
          </a:prstGeom>
          <a:solidFill>
            <a:schemeClr val="accent1"/>
          </a:solidFill>
          <a:ln w="12700">
            <a:solidFill>
              <a:schemeClr val="accent1"/>
            </a:solidFill>
            <a:prstDash val="solid"/>
          </a:ln>
        </p:spPr>
      </p:sp>
      <p:sp>
        <p:nvSpPr>
          <p:cNvPr id="18" name="Text 15"/>
          <p:cNvSpPr txBox="1"/>
          <p:nvPr/>
        </p:nvSpPr>
        <p:spPr>
          <a:xfrm>
            <a:off x="10454335" y="2377440"/>
            <a:ext cx="1188720" cy="502920"/>
          </a:xfrm>
          <a:prstGeom prst="rect">
            <a:avLst/>
          </a:prstGeom>
          <a:noFill/>
          <a:ln/>
        </p:spPr>
        <p:txBody>
          <a:bodyPr wrap="square" lIns="635" tIns="635" rIns="635" bIns="635" rtlCol="0" anchor="ctr"/>
          <a:lstStyle/>
          <a:p>
            <a:pPr algn="ctr" indent="0" marL="0" eaLnBrk="0">
              <a:buNone/>
            </a:pPr>
            <a:r>
              <a:rPr lang="ko-KR" altLang="en-US" sz="1300" b="1" dirty="0">
                <a:solidFill>
                  <a:schemeClr val="bg1"/>
                </a:solidFill>
              </a:rPr>
              <a:t>전투</a:t>
            </a:r>
            <a:endParaRPr lang="ko-KR" altLang="en-US" sz="1300" dirty="0"/>
          </a:p>
        </p:txBody>
      </p:sp>
      <p:sp>
        <p:nvSpPr>
          <p:cNvPr id="19" name="Text 16"/>
          <p:cNvSpPr txBox="1"/>
          <p:nvPr/>
        </p:nvSpPr>
        <p:spPr>
          <a:xfrm>
            <a:off x="7498080" y="3063240"/>
            <a:ext cx="4144975" cy="274320"/>
          </a:xfrm>
          <a:prstGeom prst="rect">
            <a:avLst/>
          </a:prstGeom>
          <a:noFill/>
          <a:ln/>
        </p:spPr>
        <p:txBody>
          <a:bodyPr wrap="square" lIns="0" tIns="0" rIns="0" bIns="0" rtlCol="0" anchor="t"/>
          <a:lstStyle/>
          <a:p>
            <a:pPr indent="0" marL="0" eaLnBrk="0">
              <a:buNone/>
            </a:pPr>
            <a:r>
              <a:rPr lang="ko-KR" altLang="en-US" sz="1300" b="1" dirty="0">
                <a:solidFill>
                  <a:schemeClr val="accent5"/>
                </a:solidFill>
              </a:rPr>
              <a:t>후: 오디오.Next = 전투</a:t>
            </a:r>
            <a:endParaRPr lang="ko-KR" altLang="en-US" sz="1300" dirty="0"/>
          </a:p>
        </p:txBody>
      </p:sp>
      <p:sp>
        <p:nvSpPr>
          <p:cNvPr id="20" name="box"/>
          <p:cNvSpPr/>
          <p:nvPr/>
        </p:nvSpPr>
        <p:spPr>
          <a:xfrm>
            <a:off x="7498080" y="3383280"/>
            <a:ext cx="1188720" cy="502920"/>
          </a:xfrm>
          <a:prstGeom prst="roundRect">
            <a:avLst>
              <a:gd name="adj" fmla="val 14545"/>
            </a:avLst>
          </a:prstGeom>
          <a:solidFill>
            <a:schemeClr val="accent1"/>
          </a:solidFill>
          <a:ln w="12700">
            <a:solidFill>
              <a:schemeClr val="accent1"/>
            </a:solidFill>
            <a:prstDash val="solid"/>
          </a:ln>
        </p:spPr>
      </p:sp>
      <p:sp>
        <p:nvSpPr>
          <p:cNvPr id="21" name="Text 18"/>
          <p:cNvSpPr txBox="1"/>
          <p:nvPr/>
        </p:nvSpPr>
        <p:spPr>
          <a:xfrm>
            <a:off x="7498080" y="3383280"/>
            <a:ext cx="1188720" cy="502920"/>
          </a:xfrm>
          <a:prstGeom prst="rect">
            <a:avLst/>
          </a:prstGeom>
          <a:noFill/>
          <a:ln/>
        </p:spPr>
        <p:txBody>
          <a:bodyPr wrap="square" lIns="635" tIns="635" rIns="635" bIns="635" rtlCol="0" anchor="ctr"/>
          <a:lstStyle/>
          <a:p>
            <a:pPr algn="ctr" indent="0" marL="0" eaLnBrk="0">
              <a:buNone/>
            </a:pPr>
            <a:r>
              <a:rPr lang="ko-KR" altLang="en-US" sz="1300" b="1" dirty="0">
                <a:solidFill>
                  <a:schemeClr val="bg1"/>
                </a:solidFill>
              </a:rPr>
              <a:t>오디오</a:t>
            </a:r>
            <a:endParaRPr lang="ko-KR" altLang="en-US" sz="1300" dirty="0"/>
          </a:p>
        </p:txBody>
      </p:sp>
      <p:sp>
        <p:nvSpPr>
          <p:cNvPr id="22" name="Shape 19"/>
          <p:cNvSpPr/>
          <p:nvPr/>
        </p:nvSpPr>
        <p:spPr>
          <a:xfrm>
            <a:off x="8714232" y="3639312"/>
            <a:ext cx="1712671" cy="914"/>
          </a:xfrm>
          <a:prstGeom prst="line">
            <a:avLst/>
          </a:prstGeom>
          <a:noFill/>
          <a:ln w="22225">
            <a:solidFill>
              <a:schemeClr val="accent3"/>
            </a:solidFill>
            <a:prstDash val="solid"/>
            <a:tailEnd type="triangle"/>
          </a:ln>
        </p:spPr>
      </p:sp>
      <p:sp>
        <p:nvSpPr>
          <p:cNvPr id="23" name="box"/>
          <p:cNvSpPr/>
          <p:nvPr/>
        </p:nvSpPr>
        <p:spPr>
          <a:xfrm>
            <a:off x="10454335" y="3383280"/>
            <a:ext cx="1188720" cy="502920"/>
          </a:xfrm>
          <a:prstGeom prst="roundRect">
            <a:avLst>
              <a:gd name="adj" fmla="val 14545"/>
            </a:avLst>
          </a:prstGeom>
          <a:solidFill>
            <a:schemeClr val="accent1"/>
          </a:solidFill>
          <a:ln w="12700">
            <a:solidFill>
              <a:schemeClr val="accent1"/>
            </a:solidFill>
            <a:prstDash val="solid"/>
          </a:ln>
        </p:spPr>
      </p:sp>
      <p:sp>
        <p:nvSpPr>
          <p:cNvPr id="24" name="Text 21"/>
          <p:cNvSpPr txBox="1"/>
          <p:nvPr/>
        </p:nvSpPr>
        <p:spPr>
          <a:xfrm>
            <a:off x="10454335" y="3383280"/>
            <a:ext cx="1188720" cy="502920"/>
          </a:xfrm>
          <a:prstGeom prst="rect">
            <a:avLst/>
          </a:prstGeom>
          <a:noFill/>
          <a:ln/>
        </p:spPr>
        <p:txBody>
          <a:bodyPr wrap="square" lIns="635" tIns="635" rIns="635" bIns="635" rtlCol="0" anchor="ctr"/>
          <a:lstStyle/>
          <a:p>
            <a:pPr algn="ctr" indent="0" marL="0" eaLnBrk="0">
              <a:buNone/>
            </a:pPr>
            <a:r>
              <a:rPr lang="ko-KR" altLang="en-US" sz="1300" b="1" dirty="0">
                <a:solidFill>
                  <a:schemeClr val="bg1"/>
                </a:solidFill>
              </a:rPr>
              <a:t>전투</a:t>
            </a:r>
            <a:endParaRPr lang="ko-KR" altLang="en-US" sz="1300" dirty="0"/>
          </a:p>
        </p:txBody>
      </p:sp>
      <p:sp>
        <p:nvSpPr>
          <p:cNvPr id="25" name="card"/>
          <p:cNvSpPr/>
          <p:nvPr/>
        </p:nvSpPr>
        <p:spPr>
          <a:xfrm>
            <a:off x="7498080" y="4206240"/>
            <a:ext cx="4144975" cy="1508760"/>
          </a:xfrm>
          <a:prstGeom prst="roundRect">
            <a:avLst>
              <a:gd name="adj" fmla="val 6061"/>
            </a:avLst>
          </a:prstGeom>
          <a:solidFill>
            <a:schemeClr val="bg2"/>
          </a:solidFill>
          <a:ln w="12700">
            <a:solidFill>
              <a:schemeClr val="bg2"/>
            </a:solidFill>
            <a:prstDash val="solid"/>
          </a:ln>
        </p:spPr>
      </p:sp>
      <p:sp>
        <p:nvSpPr>
          <p:cNvPr id="26" name="Text 23"/>
          <p:cNvSpPr txBox="1"/>
          <p:nvPr/>
        </p:nvSpPr>
        <p:spPr>
          <a:xfrm>
            <a:off x="7726680" y="4425696"/>
            <a:ext cx="373349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제거에 드는 시간</a:t>
            </a:r>
            <a:endParaRPr lang="ko-KR" altLang="en-US" sz="1700" dirty="0"/>
          </a:p>
        </p:txBody>
      </p:sp>
      <p:sp>
        <p:nvSpPr>
          <p:cNvPr id="27" name="Text 24"/>
          <p:cNvSpPr txBox="1"/>
          <p:nvPr/>
        </p:nvSpPr>
        <p:spPr>
          <a:xfrm>
            <a:off x="7726680" y="4983480"/>
            <a:ext cx="3687775" cy="594360"/>
          </a:xfrm>
          <a:prstGeom prst="rect">
            <a:avLst/>
          </a:prstGeom>
          <a:noFill/>
          <a:ln/>
        </p:spPr>
        <p:txBody>
          <a:bodyPr wrap="square" lIns="0" tIns="0" rIns="0" bIns="0" rtlCol="0" anchor="t"/>
          <a:lstStyle/>
          <a:p>
            <a:pPr indent="0" marL="0" eaLnBrk="0">
              <a:spcAft>
                <a:spcPts val="400"/>
              </a:spcAft>
              <a:buNone/>
            </a:pPr>
            <a:r>
              <a:rPr lang="ko-KR" altLang="en-US" sz="1400" dirty="0">
                <a:solidFill>
                  <a:schemeClr val="tx2"/>
                </a:solidFill>
              </a:rPr>
              <a:t>단일 연결: 목록을 따라가야 한다.</a:t>
            </a:r>
            <a:endParaRPr lang="ko-KR" altLang="en-US" sz="1400" dirty="0"/>
          </a:p>
          <a:p>
            <a:pPr indent="0" marL="0" eaLnBrk="0">
              <a:spcAft>
                <a:spcPts val="400"/>
              </a:spcAft>
              <a:buNone/>
            </a:pPr>
            <a:r>
              <a:rPr lang="ko-KR" altLang="en-US" sz="1400" dirty="0">
                <a:solidFill>
                  <a:schemeClr val="tx2"/>
                </a:solidFill>
              </a:rPr>
              <a:t>이중 연결: 이전 관찰자를 바로 안다.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18</a:t>
            </a:fld>
            <a:endParaRPr lang="ko-KR"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알리기</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알림은 _head부터 Next를 따라 끝까지 간다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그런데 Next 필드가 하나뿐이면 관찰자는 대상을 몇 개나 볼 수 있을까?</a:t>
            </a:r>
            <a:endParaRPr lang="ko-KR" altLang="en-US" sz="1500" dirty="0"/>
          </a:p>
        </p:txBody>
      </p:sp>
      <p:sp>
        <p:nvSpPr>
          <p:cNvPr id="6" name="codePanel"/>
          <p:cNvSpPr/>
          <p:nvPr/>
        </p:nvSpPr>
        <p:spPr>
          <a:xfrm>
            <a:off x="548640" y="1645920"/>
            <a:ext cx="5669280" cy="2606040"/>
          </a:xfrm>
          <a:prstGeom prst="roundRect">
            <a:avLst>
              <a:gd name="adj" fmla="val 2807"/>
            </a:avLst>
          </a:prstGeom>
          <a:solidFill>
            <a:schemeClr val="tx1"/>
          </a:solidFill>
          <a:ln w="12700">
            <a:solidFill>
              <a:schemeClr val="tx1"/>
            </a:solidFill>
            <a:prstDash val="solid"/>
          </a:ln>
        </p:spPr>
      </p:sp>
      <p:sp>
        <p:nvSpPr>
          <p:cNvPr id="7" name="code"/>
          <p:cNvSpPr txBox="1"/>
          <p:nvPr/>
        </p:nvSpPr>
        <p:spPr>
          <a:xfrm>
            <a:off x="658368" y="1737360"/>
            <a:ext cx="5449824" cy="2423160"/>
          </a:xfrm>
          <a:prstGeom prst="rect">
            <a:avLst/>
          </a:prstGeom>
          <a:noFill/>
          <a:ln/>
        </p:spPr>
        <p:txBody>
          <a:bodyPr wrap="square" lIns="635" tIns="635" rIns="635" bIns="635" rtlCol="0" anchor="t"/>
          <a:lstStyle/>
          <a:p>
            <a:pPr indent="0" marL="0" eaLnBrk="0">
              <a:buNone/>
            </a:pPr>
            <a:r>
              <a:rPr lang="ko-KR" altLang="en-US" sz="1350" dirty="0">
                <a:solidFill>
                  <a:schemeClr val="accent3"/>
                </a:solidFill>
                <a:latin typeface="Consolas" pitchFamily="34" charset="0"/>
                <a:ea typeface="Consolas" pitchFamily="34" charset="-122"/>
                <a:cs typeface="Consolas" pitchFamily="34" charset="-120"/>
              </a:rPr>
              <a:t>// Subject의 알림</a:t>
            </a:r>
            <a:endParaRPr lang="ko-KR" altLang="en-US" sz="1350" dirty="0"/>
          </a:p>
          <a:p>
            <a:pPr indent="0" marL="0" eaLnBrk="0">
              <a:buNone/>
            </a:pPr>
            <a:r>
              <a:rPr lang="ko-KR" altLang="en-US" sz="1350" dirty="0">
                <a:solidFill>
                  <a:schemeClr val="bg1"/>
                </a:solidFill>
                <a:latin typeface="Consolas" pitchFamily="34" charset="0"/>
                <a:ea typeface="Consolas" pitchFamily="34" charset="-122"/>
                <a:cs typeface="Consolas" pitchFamily="34" charset="-120"/>
              </a:rPr>
              <a:t>protected void Notify(Entity entity, Event e)</a:t>
            </a:r>
            <a:endParaRPr lang="ko-KR" altLang="en-US" sz="1350" dirty="0"/>
          </a:p>
          <a:p>
            <a:pPr indent="0" marL="0" eaLnBrk="0">
              <a:buNone/>
            </a:pPr>
            <a:r>
              <a:rPr lang="ko-KR" altLang="en-US" sz="1350" dirty="0">
                <a:solidFill>
                  <a:schemeClr val="bg1"/>
                </a:solidFill>
                <a:latin typeface="Consolas" pitchFamily="34" charset="0"/>
                <a:ea typeface="Consolas" pitchFamily="34" charset="-122"/>
                <a:cs typeface="Consolas" pitchFamily="34" charset="-120"/>
              </a:rPr>
              <a:t>{</a:t>
            </a:r>
            <a:endParaRPr lang="ko-KR" altLang="en-US" sz="1350" dirty="0"/>
          </a:p>
          <a:p>
            <a:pPr indent="0" marL="0" eaLnBrk="0">
              <a:buNone/>
            </a:pPr>
            <a:r>
              <a:rPr lang="ko-KR" altLang="en-US" sz="1350" b="1" dirty="0">
                <a:solidFill>
                  <a:schemeClr val="accent4"/>
                </a:solidFill>
                <a:latin typeface="Consolas" pitchFamily="34" charset="0"/>
                <a:ea typeface="Consolas" pitchFamily="34" charset="-122"/>
                <a:cs typeface="Consolas" pitchFamily="34" charset="-120"/>
              </a:rPr>
              <a:t>    Observer observer = _head;</a:t>
            </a:r>
            <a:endParaRPr lang="ko-KR" altLang="en-US" sz="1350" dirty="0"/>
          </a:p>
          <a:p>
            <a:pPr indent="0" marL="0" eaLnBrk="0">
              <a:buNone/>
            </a:pPr>
            <a:r>
              <a:rPr lang="ko-KR" altLang="en-US" sz="1350" dirty="0">
                <a:solidFill>
                  <a:schemeClr val="bg1"/>
                </a:solidFill>
                <a:latin typeface="Consolas" pitchFamily="34" charset="0"/>
                <a:ea typeface="Consolas" pitchFamily="34" charset="-122"/>
                <a:cs typeface="Consolas" pitchFamily="34" charset="-120"/>
              </a:rPr>
              <a:t>    while (observer != null)</a:t>
            </a:r>
            <a:endParaRPr lang="ko-KR" altLang="en-US" sz="1350" dirty="0"/>
          </a:p>
          <a:p>
            <a:pPr indent="0" marL="0" eaLnBrk="0">
              <a:buNone/>
            </a:pPr>
            <a:r>
              <a:rPr lang="ko-KR" altLang="en-US" sz="1350" dirty="0">
                <a:solidFill>
                  <a:schemeClr val="bg1"/>
                </a:solidFill>
                <a:latin typeface="Consolas" pitchFamily="34" charset="0"/>
                <a:ea typeface="Consolas" pitchFamily="34" charset="-122"/>
                <a:cs typeface="Consolas" pitchFamily="34" charset="-120"/>
              </a:rPr>
              <a:t>    {</a:t>
            </a:r>
            <a:endParaRPr lang="ko-KR" altLang="en-US" sz="1350" dirty="0"/>
          </a:p>
          <a:p>
            <a:pPr indent="0" marL="0" eaLnBrk="0">
              <a:buNone/>
            </a:pPr>
            <a:r>
              <a:rPr lang="ko-KR" altLang="en-US" sz="1350" dirty="0">
                <a:solidFill>
                  <a:schemeClr val="bg1"/>
                </a:solidFill>
                <a:latin typeface="Consolas" pitchFamily="34" charset="0"/>
                <a:ea typeface="Consolas" pitchFamily="34" charset="-122"/>
                <a:cs typeface="Consolas" pitchFamily="34" charset="-120"/>
              </a:rPr>
              <a:t>        observer.OnNotify(entity, e);</a:t>
            </a:r>
            <a:endParaRPr lang="ko-KR" altLang="en-US" sz="1350" dirty="0"/>
          </a:p>
          <a:p>
            <a:pPr indent="0" marL="0" eaLnBrk="0">
              <a:buNone/>
            </a:pPr>
            <a:r>
              <a:rPr lang="ko-KR" altLang="en-US" sz="1350" b="1" dirty="0">
                <a:solidFill>
                  <a:schemeClr val="accent4"/>
                </a:solidFill>
                <a:latin typeface="Consolas" pitchFamily="34" charset="0"/>
                <a:ea typeface="Consolas" pitchFamily="34" charset="-122"/>
                <a:cs typeface="Consolas" pitchFamily="34" charset="-120"/>
              </a:rPr>
              <a:t>        observer = observer.Next;</a:t>
            </a:r>
            <a:endParaRPr lang="ko-KR" altLang="en-US" sz="1350" dirty="0"/>
          </a:p>
          <a:p>
            <a:pPr indent="0" marL="0" eaLnBrk="0">
              <a:buNone/>
            </a:pPr>
            <a:r>
              <a:rPr lang="ko-KR" altLang="en-US" sz="1350" dirty="0">
                <a:solidFill>
                  <a:schemeClr val="bg1"/>
                </a:solidFill>
                <a:latin typeface="Consolas" pitchFamily="34" charset="0"/>
                <a:ea typeface="Consolas" pitchFamily="34" charset="-122"/>
                <a:cs typeface="Consolas" pitchFamily="34" charset="-120"/>
              </a:rPr>
              <a:t>    }</a:t>
            </a:r>
            <a:endParaRPr lang="ko-KR" altLang="en-US" sz="1350" dirty="0"/>
          </a:p>
          <a:p>
            <a:pPr indent="0" marL="0" eaLnBrk="0">
              <a:buNone/>
            </a:pPr>
            <a:r>
              <a:rPr lang="ko-KR" altLang="en-US" sz="1350" dirty="0">
                <a:solidFill>
                  <a:schemeClr val="bg1"/>
                </a:solidFill>
                <a:latin typeface="Consolas" pitchFamily="34" charset="0"/>
                <a:ea typeface="Consolas" pitchFamily="34" charset="-122"/>
                <a:cs typeface="Consolas" pitchFamily="34" charset="-120"/>
              </a:rPr>
              <a:t>}</a:t>
            </a:r>
            <a:endParaRPr lang="ko-KR" altLang="en-US" sz="1350" dirty="0"/>
          </a:p>
        </p:txBody>
      </p:sp>
      <p:sp>
        <p:nvSpPr>
          <p:cNvPr id="8" name="codeCaption"/>
          <p:cNvSpPr txBox="1"/>
          <p:nvPr/>
        </p:nvSpPr>
        <p:spPr>
          <a:xfrm>
            <a:off x="3108960" y="1737360"/>
            <a:ext cx="2971800" cy="237744"/>
          </a:xfrm>
          <a:prstGeom prst="rect">
            <a:avLst/>
          </a:prstGeom>
          <a:noFill/>
          <a:ln/>
        </p:spPr>
        <p:txBody>
          <a:bodyPr wrap="square" lIns="0" tIns="0" rIns="0" bIns="0" rtlCol="0" anchor="ctr"/>
          <a:lstStyle/>
          <a:p>
            <a:pPr algn="r" indent="0" marL="0" eaLnBrk="0">
              <a:buNone/>
            </a:pPr>
            <a:r>
              <a:rPr lang="ko-KR" altLang="en-US" sz="1000" dirty="0">
                <a:solidFill>
                  <a:schemeClr val="accent3"/>
                </a:solidFill>
              </a:rPr>
              <a:t>원서 예제를 C#으로 옮긴 코드</a:t>
            </a:r>
            <a:endParaRPr lang="ko-KR" altLang="en-US" sz="1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583680" y="1645920"/>
          <a:ext cx="5059375" cy="914400"/>
        </p:xfrm>
        <a:graphic>
          <a:graphicData uri="http://schemas.openxmlformats.org/drawingml/2006/table">
            <a:tbl>
              <a:tblPr/>
              <a:tblGrid>
                <a:gridCol w="2148840"/>
                <a:gridCol w="1600200"/>
                <a:gridCol w="1310335"/>
              </a:tblGrid>
              <a:tr h="502920">
                <a:tc>
                  <a:txBody>
                    <a:bodyPr/>
                    <a:lstStyle/>
                    <a:p>
                      <a:pPr indent="0" marL="0" eaLnBrk="0">
                        <a:buNone/>
                      </a:pPr>
                      <a:r>
                        <a:rPr lang="ko-KR" altLang="en-US" sz="1300" b="1" dirty="0">
                          <a:solidFill>
                            <a:schemeClr val="bg1"/>
                          </a:solidFill>
                        </a:rPr>
                        <a:t>동작</a:t>
                      </a:r>
                      <a:endParaRPr lang="ko-KR" altLang="en-US" sz="13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300" b="1" dirty="0">
                          <a:solidFill>
                            <a:schemeClr val="bg1"/>
                          </a:solidFill>
                        </a:rPr>
                        <a:t>목록 (_head부터)</a:t>
                      </a:r>
                      <a:endParaRPr lang="ko-KR" altLang="en-US" sz="13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300" b="1" dirty="0">
                          <a:solidFill>
                            <a:schemeClr val="bg1"/>
                          </a:solidFill>
                        </a:rPr>
                        <a:t>알림 순서</a:t>
                      </a:r>
                      <a:endParaRPr lang="ko-KR" altLang="en-US" sz="13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r>
              <a:tr h="502920">
                <a:tc>
                  <a:txBody>
                    <a:bodyPr/>
                    <a:lstStyle/>
                    <a:p>
                      <a:pPr indent="0" marL="0" eaLnBrk="0">
                        <a:buNone/>
                      </a:pPr>
                      <a:r>
                        <a:rPr lang="ko-KR" altLang="en-US" sz="1300" b="1" dirty="0">
                          <a:solidFill>
                            <a:schemeClr val="tx1"/>
                          </a:solidFill>
                        </a:rPr>
                        <a:t>AddObserver(업적)</a:t>
                      </a:r>
                      <a:endParaRPr lang="ko-KR" altLang="en-US" sz="13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300" dirty="0">
                          <a:solidFill>
                            <a:schemeClr val="tx2"/>
                          </a:solidFill>
                        </a:rPr>
                        <a:t>업적</a:t>
                      </a:r>
                      <a:endParaRPr lang="ko-KR" altLang="en-US" sz="13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300" dirty="0">
                          <a:solidFill>
                            <a:schemeClr val="tx2"/>
                          </a:solidFill>
                        </a:rPr>
                        <a:t>업적</a:t>
                      </a:r>
                      <a:endParaRPr lang="ko-KR" altLang="en-US" sz="13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502920">
                <a:tc>
                  <a:txBody>
                    <a:bodyPr/>
                    <a:lstStyle/>
                    <a:p>
                      <a:pPr indent="0" marL="0" eaLnBrk="0">
                        <a:buNone/>
                      </a:pPr>
                      <a:r>
                        <a:rPr lang="ko-KR" altLang="en-US" sz="1300" b="1" dirty="0">
                          <a:solidFill>
                            <a:schemeClr val="tx1"/>
                          </a:solidFill>
                        </a:rPr>
                        <a:t>AddObserver(오디오)</a:t>
                      </a:r>
                      <a:endParaRPr lang="ko-KR" altLang="en-US" sz="13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300" dirty="0">
                          <a:solidFill>
                            <a:schemeClr val="tx2"/>
                          </a:solidFill>
                        </a:rPr>
                        <a:t>오디오 → 업적</a:t>
                      </a:r>
                      <a:endParaRPr lang="ko-KR" altLang="en-US" sz="13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300" dirty="0">
                          <a:solidFill>
                            <a:schemeClr val="tx2"/>
                          </a:solidFill>
                        </a:rPr>
                        <a:t>오디오, 업적</a:t>
                      </a:r>
                      <a:endParaRPr lang="ko-KR" altLang="en-US" sz="13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502920">
                <a:tc>
                  <a:txBody>
                    <a:bodyPr/>
                    <a:lstStyle/>
                    <a:p>
                      <a:pPr indent="0" marL="0" eaLnBrk="0">
                        <a:buNone/>
                      </a:pPr>
                      <a:r>
                        <a:rPr lang="ko-KR" altLang="en-US" sz="1300" b="1" dirty="0">
                          <a:solidFill>
                            <a:schemeClr val="tx1"/>
                          </a:solidFill>
                        </a:rPr>
                        <a:t>RemoveObserver(업적)</a:t>
                      </a:r>
                      <a:endParaRPr lang="ko-KR" altLang="en-US" sz="13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300" dirty="0">
                          <a:solidFill>
                            <a:schemeClr val="tx2"/>
                          </a:solidFill>
                        </a:rPr>
                        <a:t>오디오</a:t>
                      </a:r>
                      <a:endParaRPr lang="ko-KR" altLang="en-US" sz="13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300" dirty="0">
                          <a:solidFill>
                            <a:schemeClr val="tx2"/>
                          </a:solidFill>
                        </a:rPr>
                        <a:t>오디오</a:t>
                      </a:r>
                      <a:endParaRPr lang="ko-KR" altLang="en-US" sz="13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bl>
          </a:graphicData>
        </a:graphic>
      </p:graphicFrame>
      <p:sp>
        <p:nvSpPr>
          <p:cNvPr id="10" name="card"/>
          <p:cNvSpPr/>
          <p:nvPr/>
        </p:nvSpPr>
        <p:spPr>
          <a:xfrm>
            <a:off x="6583680" y="3840480"/>
            <a:ext cx="5059375" cy="1828800"/>
          </a:xfrm>
          <a:prstGeom prst="roundRect">
            <a:avLst>
              <a:gd name="adj" fmla="val 5000"/>
            </a:avLst>
          </a:prstGeom>
          <a:solidFill>
            <a:schemeClr val="bg2"/>
          </a:solidFill>
          <a:ln w="12700">
            <a:solidFill>
              <a:schemeClr val="bg2"/>
            </a:solidFill>
            <a:prstDash val="solid"/>
          </a:ln>
        </p:spPr>
      </p:sp>
      <p:sp>
        <p:nvSpPr>
          <p:cNvPr id="11" name="Text 7"/>
          <p:cNvSpPr txBox="1"/>
          <p:nvPr/>
        </p:nvSpPr>
        <p:spPr>
          <a:xfrm>
            <a:off x="6812280" y="4059936"/>
            <a:ext cx="464789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순서에 기대지 않는다</a:t>
            </a:r>
            <a:endParaRPr lang="ko-KR" altLang="en-US" sz="1700" dirty="0"/>
          </a:p>
        </p:txBody>
      </p:sp>
      <p:sp>
        <p:nvSpPr>
          <p:cNvPr id="12" name="Text 8"/>
          <p:cNvSpPr txBox="1"/>
          <p:nvPr/>
        </p:nvSpPr>
        <p:spPr>
          <a:xfrm>
            <a:off x="6812280" y="4617720"/>
            <a:ext cx="4602175" cy="914400"/>
          </a:xfrm>
          <a:prstGeom prst="rect">
            <a:avLst/>
          </a:prstGeom>
          <a:noFill/>
          <a:ln/>
        </p:spPr>
        <p:txBody>
          <a:bodyPr wrap="square" lIns="0" tIns="0" rIns="0" bIns="0" rtlCol="0" anchor="t"/>
          <a:lstStyle/>
          <a:p>
            <a:pPr indent="0" marL="0" eaLnBrk="0">
              <a:spcAft>
                <a:spcPts val="400"/>
              </a:spcAft>
              <a:buNone/>
            </a:pPr>
            <a:r>
              <a:rPr lang="ko-KR" altLang="en-US" sz="1400" dirty="0">
                <a:solidFill>
                  <a:schemeClr val="tx2"/>
                </a:solidFill>
              </a:rPr>
              <a:t>관찰자는 자신이 유일한 관찰자인 것처럼 행동해야 한다. 순서가 중요하다면 관찰자끼리 결합된 것이다.</a:t>
            </a:r>
            <a:endParaRPr lang="ko-KR" altLang="en-US" sz="1400" dirty="0"/>
          </a:p>
        </p:txBody>
      </p:sp>
      <p:sp>
        <p:nvSpPr>
          <p:cNvPr id="13" name="card"/>
          <p:cNvSpPr/>
          <p:nvPr/>
        </p:nvSpPr>
        <p:spPr>
          <a:xfrm>
            <a:off x="548640" y="4480560"/>
            <a:ext cx="5669280" cy="1188720"/>
          </a:xfrm>
          <a:prstGeom prst="roundRect">
            <a:avLst>
              <a:gd name="adj" fmla="val 7692"/>
            </a:avLst>
          </a:prstGeom>
          <a:solidFill>
            <a:schemeClr val="bg2"/>
          </a:solidFill>
          <a:ln w="12700">
            <a:solidFill>
              <a:schemeClr val="bg2"/>
            </a:solidFill>
            <a:prstDash val="solid"/>
          </a:ln>
        </p:spPr>
      </p:sp>
      <p:sp>
        <p:nvSpPr>
          <p:cNvPr id="14" name="Text 10"/>
          <p:cNvSpPr txBox="1"/>
          <p:nvPr/>
        </p:nvSpPr>
        <p:spPr>
          <a:xfrm>
            <a:off x="777240" y="4700016"/>
            <a:ext cx="5257800"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멈추게 하면?</a:t>
            </a:r>
            <a:endParaRPr lang="ko-KR" altLang="en-US" sz="1700" dirty="0"/>
          </a:p>
        </p:txBody>
      </p:sp>
      <p:sp>
        <p:nvSpPr>
          <p:cNvPr id="15" name="Text 11"/>
          <p:cNvSpPr txBox="1"/>
          <p:nvPr/>
        </p:nvSpPr>
        <p:spPr>
          <a:xfrm>
            <a:off x="2606040" y="4617720"/>
            <a:ext cx="3429000" cy="914400"/>
          </a:xfrm>
          <a:prstGeom prst="rect">
            <a:avLst/>
          </a:prstGeom>
          <a:noFill/>
          <a:ln/>
        </p:spPr>
        <p:txBody>
          <a:bodyPr wrap="square" lIns="0" tIns="0" rIns="0" bIns="0" rtlCol="0" anchor="ctr"/>
          <a:lstStyle/>
          <a:p>
            <a:pPr indent="0" marL="0" eaLnBrk="0">
              <a:buNone/>
            </a:pPr>
            <a:r>
              <a:rPr lang="ko-KR" altLang="en-US" sz="1300" dirty="0">
                <a:solidFill>
                  <a:schemeClr val="tx2"/>
                </a:solidFill>
              </a:rPr>
              <a:t>OnNotify가 멈추라는 값을 돌려주면 책임 연쇄 패턴에 가까워진다.</a:t>
            </a:r>
            <a:endParaRPr lang="ko-KR" altLang="en-US" sz="13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19</a:t>
            </a:fld>
            <a:endParaRPr lang="ko-KR"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노드 풀</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노드를 따로 두면 관찰자 하나가 여러 대상을 볼 수 있다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할당 문제를 풀었으니, 이제 객체가 사라질 때를 보자.</a:t>
            </a:r>
            <a:endParaRPr lang="ko-KR" altLang="en-US" sz="1500" dirty="0"/>
          </a:p>
        </p:txBody>
      </p:sp>
      <p:sp>
        <p:nvSpPr>
          <p:cNvPr id="6" name="box"/>
          <p:cNvSpPr/>
          <p:nvPr/>
        </p:nvSpPr>
        <p:spPr>
          <a:xfrm>
            <a:off x="731520" y="1920240"/>
            <a:ext cx="1920240" cy="640080"/>
          </a:xfrm>
          <a:prstGeom prst="roundRect">
            <a:avLst>
              <a:gd name="adj" fmla="val 11429"/>
            </a:avLst>
          </a:prstGeom>
          <a:solidFill>
            <a:schemeClr val="tx2"/>
          </a:solidFill>
          <a:ln w="12700">
            <a:solidFill>
              <a:schemeClr val="tx2"/>
            </a:solidFill>
            <a:prstDash val="solid"/>
          </a:ln>
        </p:spPr>
      </p:sp>
      <p:sp>
        <p:nvSpPr>
          <p:cNvPr id="7" name="Text 4"/>
          <p:cNvSpPr txBox="1"/>
          <p:nvPr/>
        </p:nvSpPr>
        <p:spPr>
          <a:xfrm>
            <a:off x="731520" y="1920240"/>
            <a:ext cx="1920240" cy="640080"/>
          </a:xfrm>
          <a:prstGeom prst="rect">
            <a:avLst/>
          </a:prstGeom>
          <a:noFill/>
          <a:ln/>
        </p:spPr>
        <p:txBody>
          <a:bodyPr wrap="square" lIns="635" tIns="635" rIns="635" bIns="635" rtlCol="0" anchor="ctr"/>
          <a:lstStyle/>
          <a:p>
            <a:pPr algn="ctr" indent="0" marL="0" eaLnBrk="0">
              <a:buNone/>
            </a:pPr>
            <a:r>
              <a:rPr lang="ko-KR" altLang="en-US" sz="1500" b="1" dirty="0">
                <a:solidFill>
                  <a:schemeClr val="bg1"/>
                </a:solidFill>
              </a:rPr>
              <a:t>대상 A</a:t>
            </a:r>
            <a:endParaRPr lang="ko-KR" altLang="en-US" sz="1500" dirty="0"/>
          </a:p>
        </p:txBody>
      </p:sp>
      <p:sp>
        <p:nvSpPr>
          <p:cNvPr id="8" name="box"/>
          <p:cNvSpPr/>
          <p:nvPr/>
        </p:nvSpPr>
        <p:spPr>
          <a:xfrm>
            <a:off x="731520" y="3931920"/>
            <a:ext cx="1920240" cy="640080"/>
          </a:xfrm>
          <a:prstGeom prst="roundRect">
            <a:avLst>
              <a:gd name="adj" fmla="val 11429"/>
            </a:avLst>
          </a:prstGeom>
          <a:solidFill>
            <a:schemeClr val="tx2"/>
          </a:solidFill>
          <a:ln w="12700">
            <a:solidFill>
              <a:schemeClr val="tx2"/>
            </a:solidFill>
            <a:prstDash val="solid"/>
          </a:ln>
        </p:spPr>
      </p:sp>
      <p:sp>
        <p:nvSpPr>
          <p:cNvPr id="9" name="Text 6"/>
          <p:cNvSpPr txBox="1"/>
          <p:nvPr/>
        </p:nvSpPr>
        <p:spPr>
          <a:xfrm>
            <a:off x="731520" y="3931920"/>
            <a:ext cx="1920240" cy="640080"/>
          </a:xfrm>
          <a:prstGeom prst="rect">
            <a:avLst/>
          </a:prstGeom>
          <a:noFill/>
          <a:ln/>
        </p:spPr>
        <p:txBody>
          <a:bodyPr wrap="square" lIns="635" tIns="635" rIns="635" bIns="635" rtlCol="0" anchor="ctr"/>
          <a:lstStyle/>
          <a:p>
            <a:pPr algn="ctr" indent="0" marL="0" eaLnBrk="0">
              <a:buNone/>
            </a:pPr>
            <a:r>
              <a:rPr lang="ko-KR" altLang="en-US" sz="1500" b="1" dirty="0">
                <a:solidFill>
                  <a:schemeClr val="bg1"/>
                </a:solidFill>
              </a:rPr>
              <a:t>대상 B</a:t>
            </a:r>
            <a:endParaRPr lang="ko-KR" altLang="en-US" sz="1500" dirty="0"/>
          </a:p>
        </p:txBody>
      </p:sp>
      <p:sp>
        <p:nvSpPr>
          <p:cNvPr id="10" name="box"/>
          <p:cNvSpPr/>
          <p:nvPr/>
        </p:nvSpPr>
        <p:spPr>
          <a:xfrm>
            <a:off x="3200400" y="1920240"/>
            <a:ext cx="1737360" cy="640080"/>
          </a:xfrm>
          <a:prstGeom prst="roundRect">
            <a:avLst>
              <a:gd name="adj" fmla="val 11429"/>
            </a:avLst>
          </a:prstGeom>
          <a:solidFill>
            <a:schemeClr val="bg2"/>
          </a:solidFill>
          <a:ln w="12700">
            <a:solidFill>
              <a:schemeClr val="bg2"/>
            </a:solidFill>
            <a:prstDash val="solid"/>
          </a:ln>
        </p:spPr>
      </p:sp>
      <p:sp>
        <p:nvSpPr>
          <p:cNvPr id="11" name="Text 8"/>
          <p:cNvSpPr txBox="1"/>
          <p:nvPr/>
        </p:nvSpPr>
        <p:spPr>
          <a:xfrm>
            <a:off x="3200400" y="1920240"/>
            <a:ext cx="1737360" cy="640080"/>
          </a:xfrm>
          <a:prstGeom prst="rect">
            <a:avLst/>
          </a:prstGeom>
          <a:noFill/>
          <a:ln/>
        </p:spPr>
        <p:txBody>
          <a:bodyPr wrap="square" lIns="635" tIns="635" rIns="635" bIns="635" rtlCol="0" anchor="ctr"/>
          <a:lstStyle/>
          <a:p>
            <a:pPr algn="ctr" indent="0" marL="0" eaLnBrk="0">
              <a:buNone/>
            </a:pPr>
            <a:r>
              <a:rPr lang="ko-KR" altLang="en-US" sz="1400" b="1" dirty="0">
                <a:solidFill>
                  <a:schemeClr val="tx1"/>
                </a:solidFill>
              </a:rPr>
              <a:t>노드</a:t>
            </a:r>
            <a:endParaRPr lang="ko-KR" altLang="en-US" sz="1400" dirty="0"/>
          </a:p>
        </p:txBody>
      </p:sp>
      <p:sp>
        <p:nvSpPr>
          <p:cNvPr id="12" name="box"/>
          <p:cNvSpPr/>
          <p:nvPr/>
        </p:nvSpPr>
        <p:spPr>
          <a:xfrm>
            <a:off x="3200400" y="3931920"/>
            <a:ext cx="1737360" cy="640080"/>
          </a:xfrm>
          <a:prstGeom prst="roundRect">
            <a:avLst>
              <a:gd name="adj" fmla="val 11429"/>
            </a:avLst>
          </a:prstGeom>
          <a:solidFill>
            <a:schemeClr val="bg2"/>
          </a:solidFill>
          <a:ln w="12700">
            <a:solidFill>
              <a:schemeClr val="bg2"/>
            </a:solidFill>
            <a:prstDash val="solid"/>
          </a:ln>
        </p:spPr>
      </p:sp>
      <p:sp>
        <p:nvSpPr>
          <p:cNvPr id="13" name="Text 10"/>
          <p:cNvSpPr txBox="1"/>
          <p:nvPr/>
        </p:nvSpPr>
        <p:spPr>
          <a:xfrm>
            <a:off x="3200400" y="3931920"/>
            <a:ext cx="1737360" cy="640080"/>
          </a:xfrm>
          <a:prstGeom prst="rect">
            <a:avLst/>
          </a:prstGeom>
          <a:noFill/>
          <a:ln/>
        </p:spPr>
        <p:txBody>
          <a:bodyPr wrap="square" lIns="635" tIns="635" rIns="635" bIns="635" rtlCol="0" anchor="ctr"/>
          <a:lstStyle/>
          <a:p>
            <a:pPr algn="ctr" indent="0" marL="0" eaLnBrk="0">
              <a:buNone/>
            </a:pPr>
            <a:r>
              <a:rPr lang="ko-KR" altLang="en-US" sz="1400" b="1" dirty="0">
                <a:solidFill>
                  <a:schemeClr val="tx1"/>
                </a:solidFill>
              </a:rPr>
              <a:t>노드</a:t>
            </a:r>
            <a:endParaRPr lang="ko-KR" altLang="en-US" sz="1400" dirty="0"/>
          </a:p>
        </p:txBody>
      </p:sp>
      <p:sp>
        <p:nvSpPr>
          <p:cNvPr id="14" name="box"/>
          <p:cNvSpPr/>
          <p:nvPr/>
        </p:nvSpPr>
        <p:spPr>
          <a:xfrm>
            <a:off x="5760720" y="2926080"/>
            <a:ext cx="1645920" cy="640080"/>
          </a:xfrm>
          <a:prstGeom prst="roundRect">
            <a:avLst>
              <a:gd name="adj" fmla="val 11429"/>
            </a:avLst>
          </a:prstGeom>
          <a:solidFill>
            <a:schemeClr val="accent1"/>
          </a:solidFill>
          <a:ln w="12700">
            <a:solidFill>
              <a:schemeClr val="accent1"/>
            </a:solidFill>
            <a:prstDash val="solid"/>
          </a:ln>
        </p:spPr>
      </p:sp>
      <p:sp>
        <p:nvSpPr>
          <p:cNvPr id="15" name="Text 12"/>
          <p:cNvSpPr txBox="1"/>
          <p:nvPr/>
        </p:nvSpPr>
        <p:spPr>
          <a:xfrm>
            <a:off x="5760720" y="2926080"/>
            <a:ext cx="1645920" cy="640080"/>
          </a:xfrm>
          <a:prstGeom prst="rect">
            <a:avLst/>
          </a:prstGeom>
          <a:noFill/>
          <a:ln/>
        </p:spPr>
        <p:txBody>
          <a:bodyPr wrap="square" lIns="635" tIns="635" rIns="635" bIns="635" rtlCol="0" anchor="ctr"/>
          <a:lstStyle/>
          <a:p>
            <a:pPr algn="ctr" indent="0" marL="0" eaLnBrk="0">
              <a:buNone/>
            </a:pPr>
            <a:r>
              <a:rPr lang="ko-KR" altLang="en-US" sz="1500" b="1" dirty="0">
                <a:solidFill>
                  <a:schemeClr val="bg1"/>
                </a:solidFill>
              </a:rPr>
              <a:t>업적</a:t>
            </a:r>
            <a:endParaRPr lang="ko-KR" altLang="en-US" sz="1500" dirty="0"/>
          </a:p>
        </p:txBody>
      </p:sp>
      <p:sp>
        <p:nvSpPr>
          <p:cNvPr id="16" name="Shape 13"/>
          <p:cNvSpPr/>
          <p:nvPr/>
        </p:nvSpPr>
        <p:spPr>
          <a:xfrm>
            <a:off x="2697480" y="2240280"/>
            <a:ext cx="457200" cy="914"/>
          </a:xfrm>
          <a:prstGeom prst="line">
            <a:avLst/>
          </a:prstGeom>
          <a:noFill/>
          <a:ln w="22225">
            <a:solidFill>
              <a:schemeClr val="accent3"/>
            </a:solidFill>
            <a:prstDash val="solid"/>
            <a:tailEnd type="triangle"/>
          </a:ln>
        </p:spPr>
      </p:sp>
      <p:sp>
        <p:nvSpPr>
          <p:cNvPr id="17" name="Shape 14"/>
          <p:cNvSpPr/>
          <p:nvPr/>
        </p:nvSpPr>
        <p:spPr>
          <a:xfrm>
            <a:off x="2697480" y="4251960"/>
            <a:ext cx="457200" cy="914"/>
          </a:xfrm>
          <a:prstGeom prst="line">
            <a:avLst/>
          </a:prstGeom>
          <a:noFill/>
          <a:ln w="22225">
            <a:solidFill>
              <a:schemeClr val="accent3"/>
            </a:solidFill>
            <a:prstDash val="solid"/>
            <a:tailEnd type="triangle"/>
          </a:ln>
        </p:spPr>
      </p:sp>
      <p:sp>
        <p:nvSpPr>
          <p:cNvPr id="18" name="Shape 15"/>
          <p:cNvSpPr/>
          <p:nvPr/>
        </p:nvSpPr>
        <p:spPr>
          <a:xfrm>
            <a:off x="4983480" y="2240280"/>
            <a:ext cx="731520" cy="914400"/>
          </a:xfrm>
          <a:prstGeom prst="line">
            <a:avLst/>
          </a:prstGeom>
          <a:noFill/>
          <a:ln w="22225">
            <a:solidFill>
              <a:schemeClr val="accent1"/>
            </a:solidFill>
            <a:prstDash val="solid"/>
            <a:tailEnd type="triangle"/>
          </a:ln>
        </p:spPr>
      </p:sp>
      <p:sp>
        <p:nvSpPr>
          <p:cNvPr id="19" name="Shape 16"/>
          <p:cNvSpPr/>
          <p:nvPr/>
        </p:nvSpPr>
        <p:spPr>
          <a:xfrm flipV="1">
            <a:off x="4983480" y="3337560"/>
            <a:ext cx="731520" cy="914400"/>
          </a:xfrm>
          <a:prstGeom prst="line">
            <a:avLst/>
          </a:prstGeom>
          <a:noFill/>
          <a:ln w="22225">
            <a:solidFill>
              <a:schemeClr val="accent1"/>
            </a:solidFill>
            <a:prstDash val="solid"/>
            <a:tailEnd type="triangle"/>
          </a:ln>
        </p:spPr>
      </p:sp>
      <p:sp>
        <p:nvSpPr>
          <p:cNvPr id="20" name="Text 17"/>
          <p:cNvSpPr txBox="1"/>
          <p:nvPr/>
        </p:nvSpPr>
        <p:spPr>
          <a:xfrm>
            <a:off x="548640" y="4892040"/>
            <a:ext cx="6949440" cy="640080"/>
          </a:xfrm>
          <a:prstGeom prst="rect">
            <a:avLst/>
          </a:prstGeom>
          <a:noFill/>
          <a:ln/>
        </p:spPr>
        <p:txBody>
          <a:bodyPr wrap="square" lIns="0" tIns="0" rIns="0" bIns="0" rtlCol="0" anchor="t"/>
          <a:lstStyle/>
          <a:p>
            <a:pPr indent="0" marL="0" eaLnBrk="0">
              <a:buNone/>
            </a:pPr>
            <a:r>
              <a:rPr lang="ko-KR" altLang="en-US" sz="1400" dirty="0">
                <a:solidFill>
                  <a:schemeClr val="tx2"/>
                </a:solidFill>
              </a:rPr>
              <a:t>노드 = 관찰자 참조 + 다음 노드 참조. 객체 풀(12강)에서 꺼내 쓴다.</a:t>
            </a:r>
            <a:endParaRPr lang="ko-KR" altLang="en-US" sz="1400" dirty="0"/>
          </a:p>
        </p:txBody>
      </p:sp>
      <p:sp>
        <p:nvSpPr>
          <p:cNvPr id="21" name="card"/>
          <p:cNvSpPr/>
          <p:nvPr/>
        </p:nvSpPr>
        <p:spPr>
          <a:xfrm>
            <a:off x="7863840" y="1691640"/>
            <a:ext cx="3779215" cy="1828800"/>
          </a:xfrm>
          <a:prstGeom prst="roundRect">
            <a:avLst>
              <a:gd name="adj" fmla="val 5000"/>
            </a:avLst>
          </a:prstGeom>
          <a:solidFill>
            <a:schemeClr val="bg2"/>
          </a:solidFill>
          <a:ln w="12700">
            <a:solidFill>
              <a:schemeClr val="bg2"/>
            </a:solidFill>
            <a:prstDash val="solid"/>
          </a:ln>
        </p:spPr>
      </p:sp>
      <p:sp>
        <p:nvSpPr>
          <p:cNvPr id="22" name="Text 19"/>
          <p:cNvSpPr txBox="1"/>
          <p:nvPr/>
        </p:nvSpPr>
        <p:spPr>
          <a:xfrm>
            <a:off x="8092440" y="1911096"/>
            <a:ext cx="336773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침투형 목록</a:t>
            </a:r>
            <a:endParaRPr lang="ko-KR" altLang="en-US" sz="1700" dirty="0"/>
          </a:p>
        </p:txBody>
      </p:sp>
      <p:sp>
        <p:nvSpPr>
          <p:cNvPr id="23" name="Text 20"/>
          <p:cNvSpPr txBox="1"/>
          <p:nvPr/>
        </p:nvSpPr>
        <p:spPr>
          <a:xfrm>
            <a:off x="8092440" y="2468880"/>
            <a:ext cx="3322015" cy="914400"/>
          </a:xfrm>
          <a:prstGeom prst="rect">
            <a:avLst/>
          </a:prstGeom>
          <a:noFill/>
          <a:ln/>
        </p:spPr>
        <p:txBody>
          <a:bodyPr wrap="square" lIns="0" tIns="0" rIns="0" bIns="0" rtlCol="0" anchor="t"/>
          <a:lstStyle/>
          <a:p>
            <a:pPr indent="0" marL="0" eaLnBrk="0">
              <a:spcAft>
                <a:spcPts val="400"/>
              </a:spcAft>
              <a:buNone/>
            </a:pPr>
            <a:r>
              <a:rPr lang="ko-KR" altLang="en-US" sz="1400" dirty="0">
                <a:solidFill>
                  <a:schemeClr val="tx2"/>
                </a:solidFill>
              </a:rPr>
              <a:t>관찰자 안에 Next를 둔다. 할당이 없지만 대상 하나만 볼 수 있다.</a:t>
            </a:r>
            <a:endParaRPr lang="ko-KR" altLang="en-US" sz="1400" dirty="0"/>
          </a:p>
        </p:txBody>
      </p:sp>
      <p:sp>
        <p:nvSpPr>
          <p:cNvPr id="24" name="card"/>
          <p:cNvSpPr/>
          <p:nvPr/>
        </p:nvSpPr>
        <p:spPr>
          <a:xfrm>
            <a:off x="7863840" y="3703320"/>
            <a:ext cx="3779215" cy="1965960"/>
          </a:xfrm>
          <a:prstGeom prst="roundRect">
            <a:avLst>
              <a:gd name="adj" fmla="val 4651"/>
            </a:avLst>
          </a:prstGeom>
          <a:solidFill>
            <a:schemeClr val="bg2"/>
          </a:solidFill>
          <a:ln w="12700">
            <a:solidFill>
              <a:schemeClr val="bg2"/>
            </a:solidFill>
            <a:prstDash val="solid"/>
          </a:ln>
        </p:spPr>
      </p:sp>
      <p:sp>
        <p:nvSpPr>
          <p:cNvPr id="25" name="Text 22"/>
          <p:cNvSpPr txBox="1"/>
          <p:nvPr/>
        </p:nvSpPr>
        <p:spPr>
          <a:xfrm>
            <a:off x="8092440" y="3922776"/>
            <a:ext cx="336773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노드를 둔 목록</a:t>
            </a:r>
            <a:endParaRPr lang="ko-KR" altLang="en-US" sz="1700" dirty="0"/>
          </a:p>
        </p:txBody>
      </p:sp>
      <p:sp>
        <p:nvSpPr>
          <p:cNvPr id="26" name="Text 23"/>
          <p:cNvSpPr txBox="1"/>
          <p:nvPr/>
        </p:nvSpPr>
        <p:spPr>
          <a:xfrm>
            <a:off x="8092440" y="4480560"/>
            <a:ext cx="3322015" cy="1051560"/>
          </a:xfrm>
          <a:prstGeom prst="rect">
            <a:avLst/>
          </a:prstGeom>
          <a:noFill/>
          <a:ln/>
        </p:spPr>
        <p:txBody>
          <a:bodyPr wrap="square" lIns="0" tIns="0" rIns="0" bIns="0" rtlCol="0" anchor="t"/>
          <a:lstStyle/>
          <a:p>
            <a:pPr indent="0" marL="0" eaLnBrk="0">
              <a:spcAft>
                <a:spcPts val="400"/>
              </a:spcAft>
              <a:buNone/>
            </a:pPr>
            <a:r>
              <a:rPr lang="ko-KR" altLang="en-US" sz="1400" dirty="0">
                <a:solidFill>
                  <a:schemeClr val="tx2"/>
                </a:solidFill>
              </a:rPr>
              <a:t>연결을 노드가 맡는다. 관찰자는 여러 대상에 등록할 수 있다.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20</a:t>
            </a:fld>
            <a:endParaRPr lang="ko-KR"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part"/>
          <p:cNvSpPr txBox="1"/>
          <p:nvPr/>
        </p:nvSpPr>
        <p:spPr>
          <a:xfrm>
            <a:off x="548640" y="2148840"/>
            <a:ext cx="5486400" cy="457200"/>
          </a:xfrm>
          <a:prstGeom prst="rect">
            <a:avLst/>
          </a:prstGeom>
          <a:noFill/>
          <a:ln/>
        </p:spPr>
        <p:txBody>
          <a:bodyPr wrap="square" lIns="0" tIns="0" rIns="0" bIns="0" rtlCol="0" anchor="ctr"/>
          <a:lstStyle/>
          <a:p>
            <a:pPr indent="0" marL="0" eaLnBrk="0">
              <a:buNone/>
            </a:pPr>
            <a:r>
              <a:rPr lang="ko-KR" altLang="en-US" sz="1600" b="1" dirty="0">
                <a:solidFill>
                  <a:schemeClr val="accent1"/>
                </a:solidFill>
              </a:rPr>
              <a:t>4부</a:t>
            </a:r>
            <a:endParaRPr lang="ko-KR" altLang="en-US" sz="1600" dirty="0"/>
          </a:p>
        </p:txBody>
      </p:sp>
      <p:sp>
        <p:nvSpPr>
          <p:cNvPr id="3" name="Text 0"/>
          <p:cNvSpPr/>
          <p:nvPr>
            <p:ph idx="100" type="title" hasCustomPrompt="1"/>
          </p:nvPr>
        </p:nvSpPr>
        <p:spPr>
          <a:xfrm>
            <a:off x="548640" y="2651760"/>
            <a:ext cx="11094415" cy="1097280"/>
          </a:xfrm>
          <a:prstGeom prst="rect">
            <a:avLst/>
          </a:prstGeom>
          <a:noFill/>
          <a:ln/>
        </p:spPr>
        <p:txBody>
          <a:bodyPr wrap="square" rtlCol="0" anchor="ctr"/>
          <a:lstStyle/>
          <a:p>
            <a:pPr algn="l" indent="0" marL="0" eaLnBrk="0">
              <a:buNone/>
            </a:pPr>
            <a:r>
              <a:rPr lang="ko-KR" altLang="en-US" sz="3600" b="1" dirty="0">
                <a:solidFill>
                  <a:schemeClr val="bg1"/>
                </a:solidFill>
              </a:rPr>
              <a:t>남은 문제</a:t>
            </a:r>
            <a:endParaRPr lang="ko-KR" altLang="en-US" sz="3600" dirty="0"/>
          </a:p>
        </p:txBody>
      </p:sp>
      <p:sp>
        <p:nvSpPr>
          <p:cNvPr id="4" name="Text 0"/>
          <p:cNvSpPr/>
          <p:nvPr>
            <p:ph idx="101" type="body" hasCustomPrompt="1"/>
          </p:nvPr>
        </p:nvSpPr>
        <p:spPr>
          <a:xfrm>
            <a:off x="548640" y="3794760"/>
            <a:ext cx="11094415" cy="731520"/>
          </a:xfrm>
          <a:prstGeom prst="rect">
            <a:avLst/>
          </a:prstGeom>
          <a:noFill/>
          <a:ln/>
        </p:spPr>
        <p:txBody>
          <a:bodyPr wrap="square" rtlCol="0" anchor="t"/>
          <a:lstStyle/>
          <a:p>
            <a:pPr indent="0" marL="0" eaLnBrk="0">
              <a:buNone/>
            </a:pPr>
            <a:r>
              <a:rPr lang="ko-KR" altLang="en-US" sz="1800" dirty="0">
                <a:solidFill>
                  <a:schemeClr val="accent3"/>
                </a:solidFill>
              </a:rPr>
              <a:t>원서: 남은 문제점들</a:t>
            </a:r>
            <a:endParaRPr lang="ko-KR" alt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21</a:t>
            </a:fld>
            <a:endParaRPr lang="ko-KR"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대상과 관찰자의 파괴</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관찰자가 사라질 때 스스로 등록을 해제한다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가비지 컬렉터가 있는 C#이라면 이 걱정이 없지 않을까?</a:t>
            </a:r>
            <a:endParaRPr lang="ko-KR" altLang="en-US" sz="1500" dirty="0"/>
          </a:p>
        </p:txBody>
      </p:sp>
      <p:sp>
        <p:nvSpPr>
          <p:cNvPr id="6" name="codePanel"/>
          <p:cNvSpPr/>
          <p:nvPr/>
        </p:nvSpPr>
        <p:spPr>
          <a:xfrm>
            <a:off x="548640" y="1600200"/>
            <a:ext cx="6400800" cy="4114800"/>
          </a:xfrm>
          <a:prstGeom prst="roundRect">
            <a:avLst>
              <a:gd name="adj" fmla="val 1778"/>
            </a:avLst>
          </a:prstGeom>
          <a:solidFill>
            <a:schemeClr val="tx1"/>
          </a:solidFill>
          <a:ln w="12700">
            <a:solidFill>
              <a:schemeClr val="tx1"/>
            </a:solidFill>
            <a:prstDash val="solid"/>
          </a:ln>
        </p:spPr>
      </p:sp>
      <p:sp>
        <p:nvSpPr>
          <p:cNvPr id="7" name="code"/>
          <p:cNvSpPr txBox="1"/>
          <p:nvPr/>
        </p:nvSpPr>
        <p:spPr>
          <a:xfrm>
            <a:off x="658368" y="1691640"/>
            <a:ext cx="6181344" cy="3931920"/>
          </a:xfrm>
          <a:prstGeom prst="rect">
            <a:avLst/>
          </a:prstGeom>
          <a:noFill/>
          <a:ln/>
        </p:spPr>
        <p:txBody>
          <a:bodyPr wrap="square" lIns="635" tIns="635" rIns="635" bIns="635" rtlCol="0" anchor="t"/>
          <a:lstStyle/>
          <a:p>
            <a:pPr indent="0" marL="0" eaLnBrk="0">
              <a:buNone/>
            </a:pPr>
            <a:r>
              <a:rPr lang="ko-KR" altLang="en-US" sz="1300" dirty="0">
                <a:solidFill>
                  <a:schemeClr val="accent3"/>
                </a:solidFill>
                <a:latin typeface="Consolas" pitchFamily="34" charset="0"/>
                <a:ea typeface="Consolas" pitchFamily="34" charset="-122"/>
                <a:cs typeface="Consolas" pitchFamily="34" charset="-120"/>
              </a:rPr>
              <a:t>// 업적 시스템 (관찰자)</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public class Achievements : IObserver, IDisposable</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readonly Physics _physics;</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public Achievements(Physics physics)</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_physics = physics;</a:t>
            </a:r>
            <a:endParaRPr lang="ko-KR" altLang="en-US" sz="1300" dirty="0"/>
          </a:p>
          <a:p>
            <a:pPr indent="0" marL="0" eaLnBrk="0">
              <a:buNone/>
            </a:pPr>
            <a:r>
              <a:rPr lang="ko-KR" altLang="en-US" sz="1300" b="1" dirty="0">
                <a:solidFill>
                  <a:schemeClr val="accent4"/>
                </a:solidFill>
                <a:latin typeface="Consolas" pitchFamily="34" charset="0"/>
                <a:ea typeface="Consolas" pitchFamily="34" charset="-122"/>
                <a:cs typeface="Consolas" pitchFamily="34" charset="-120"/>
              </a:rPr>
              <a:t>        _physics.AddObserver(this);</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public void Dispose()</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dirty="0">
                <a:solidFill>
                  <a:schemeClr val="accent3"/>
                </a:solidFill>
                <a:latin typeface="Consolas" pitchFamily="34" charset="0"/>
                <a:ea typeface="Consolas" pitchFamily="34" charset="-122"/>
                <a:cs typeface="Consolas" pitchFamily="34" charset="-120"/>
              </a:rPr>
              <a:t>        // 사라지기 전에 등록을 해제한다</a:t>
            </a:r>
            <a:endParaRPr lang="ko-KR" altLang="en-US" sz="1300" dirty="0"/>
          </a:p>
          <a:p>
            <a:pPr indent="0" marL="0" eaLnBrk="0">
              <a:buNone/>
            </a:pPr>
            <a:r>
              <a:rPr lang="ko-KR" altLang="en-US" sz="1300" b="1" dirty="0">
                <a:solidFill>
                  <a:schemeClr val="accent4"/>
                </a:solidFill>
                <a:latin typeface="Consolas" pitchFamily="34" charset="0"/>
                <a:ea typeface="Consolas" pitchFamily="34" charset="-122"/>
                <a:cs typeface="Consolas" pitchFamily="34" charset="-120"/>
              </a:rPr>
              <a:t>        _physics.RemoveObserver(this);</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dirty="0">
                <a:solidFill>
                  <a:schemeClr val="accent3"/>
                </a:solidFill>
                <a:latin typeface="Consolas" pitchFamily="34" charset="0"/>
                <a:ea typeface="Consolas" pitchFamily="34" charset="-122"/>
                <a:cs typeface="Consolas" pitchFamily="34" charset="-120"/>
              </a:rPr>
              <a:t>    // OnNotify ...</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a:t>
            </a:r>
            <a:endParaRPr lang="ko-KR" altLang="en-US" sz="1300" dirty="0"/>
          </a:p>
        </p:txBody>
      </p:sp>
      <p:sp>
        <p:nvSpPr>
          <p:cNvPr id="8" name="codeCaption"/>
          <p:cNvSpPr txBox="1"/>
          <p:nvPr/>
        </p:nvSpPr>
        <p:spPr>
          <a:xfrm>
            <a:off x="3840480" y="1691640"/>
            <a:ext cx="2971800" cy="237744"/>
          </a:xfrm>
          <a:prstGeom prst="rect">
            <a:avLst/>
          </a:prstGeom>
          <a:noFill/>
          <a:ln/>
        </p:spPr>
        <p:txBody>
          <a:bodyPr wrap="square" lIns="0" tIns="0" rIns="0" bIns="0" rtlCol="0" anchor="ctr"/>
          <a:lstStyle/>
          <a:p>
            <a:pPr algn="r" indent="0" marL="0" eaLnBrk="0">
              <a:buNone/>
            </a:pPr>
            <a:r>
              <a:rPr lang="ko-KR" altLang="en-US" sz="1000" dirty="0">
                <a:solidFill>
                  <a:schemeClr val="accent3"/>
                </a:solidFill>
              </a:rPr>
              <a:t>원서의 소멸자 해제를 C#의 Dispose로 옮긴 코드</a:t>
            </a:r>
            <a:endParaRPr lang="ko-KR" altLang="en-US" sz="1000" dirty="0"/>
          </a:p>
        </p:txBody>
      </p:sp>
      <p:sp>
        <p:nvSpPr>
          <p:cNvPr id="9" name="card"/>
          <p:cNvSpPr/>
          <p:nvPr/>
        </p:nvSpPr>
        <p:spPr>
          <a:xfrm>
            <a:off x="7315200" y="1600200"/>
            <a:ext cx="4327855" cy="1280160"/>
          </a:xfrm>
          <a:prstGeom prst="roundRect">
            <a:avLst>
              <a:gd name="adj" fmla="val 7143"/>
            </a:avLst>
          </a:prstGeom>
          <a:solidFill>
            <a:schemeClr val="bg2"/>
          </a:solidFill>
          <a:ln w="12700">
            <a:solidFill>
              <a:schemeClr val="bg2"/>
            </a:solidFill>
            <a:prstDash val="solid"/>
          </a:ln>
        </p:spPr>
      </p:sp>
      <p:sp>
        <p:nvSpPr>
          <p:cNvPr id="10" name="Shape 7"/>
          <p:cNvSpPr/>
          <p:nvPr/>
        </p:nvSpPr>
        <p:spPr>
          <a:xfrm>
            <a:off x="7543800" y="1801368"/>
            <a:ext cx="420624" cy="420624"/>
          </a:xfrm>
          <a:prstGeom prst="ellipse">
            <a:avLst/>
          </a:prstGeom>
          <a:solidFill>
            <a:schemeClr val="accent1"/>
          </a:solidFill>
          <a:ln w="12700">
            <a:solidFill>
              <a:schemeClr val="accent1"/>
            </a:solidFill>
            <a:prstDash val="solid"/>
          </a:ln>
        </p:spPr>
      </p:sp>
      <p:sp>
        <p:nvSpPr>
          <p:cNvPr id="11" name="Text 8"/>
          <p:cNvSpPr txBox="1"/>
          <p:nvPr/>
        </p:nvSpPr>
        <p:spPr>
          <a:xfrm>
            <a:off x="7543800" y="180136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1</a:t>
            </a:r>
            <a:endParaRPr lang="ko-KR" altLang="en-US" sz="1500" dirty="0"/>
          </a:p>
        </p:txBody>
      </p:sp>
      <p:sp>
        <p:nvSpPr>
          <p:cNvPr id="12" name="Text 9"/>
          <p:cNvSpPr txBox="1"/>
          <p:nvPr/>
        </p:nvSpPr>
        <p:spPr>
          <a:xfrm>
            <a:off x="8092440" y="1819656"/>
            <a:ext cx="336773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관찰자가 스스로 해제한다</a:t>
            </a:r>
            <a:endParaRPr lang="ko-KR" altLang="en-US" sz="1700" dirty="0"/>
          </a:p>
        </p:txBody>
      </p:sp>
      <p:sp>
        <p:nvSpPr>
          <p:cNvPr id="13" name="Text 10"/>
          <p:cNvSpPr txBox="1"/>
          <p:nvPr/>
        </p:nvSpPr>
        <p:spPr>
          <a:xfrm>
            <a:off x="8092440" y="2240280"/>
            <a:ext cx="3367735" cy="548640"/>
          </a:xfrm>
          <a:prstGeom prst="rect">
            <a:avLst/>
          </a:prstGeom>
          <a:noFill/>
          <a:ln/>
        </p:spPr>
        <p:txBody>
          <a:bodyPr wrap="square" lIns="0" tIns="0" rIns="0" bIns="0" rtlCol="0" anchor="t"/>
          <a:lstStyle/>
          <a:p>
            <a:pPr indent="0" marL="0" eaLnBrk="0">
              <a:buNone/>
            </a:pPr>
            <a:r>
              <a:rPr lang="ko-KR" altLang="en-US" sz="1300" dirty="0">
                <a:solidFill>
                  <a:schemeClr val="tx2"/>
                </a:solidFill>
              </a:rPr>
              <a:t>가장 쉽다. 잊지 않고 부르는 것이 어렵다.</a:t>
            </a:r>
            <a:endParaRPr lang="ko-KR" altLang="en-US" sz="1300" dirty="0"/>
          </a:p>
        </p:txBody>
      </p:sp>
      <p:sp>
        <p:nvSpPr>
          <p:cNvPr id="14" name="card"/>
          <p:cNvSpPr/>
          <p:nvPr/>
        </p:nvSpPr>
        <p:spPr>
          <a:xfrm>
            <a:off x="7315200" y="2999232"/>
            <a:ext cx="4327855" cy="1280160"/>
          </a:xfrm>
          <a:prstGeom prst="roundRect">
            <a:avLst>
              <a:gd name="adj" fmla="val 7143"/>
            </a:avLst>
          </a:prstGeom>
          <a:solidFill>
            <a:schemeClr val="bg2"/>
          </a:solidFill>
          <a:ln w="12700">
            <a:solidFill>
              <a:schemeClr val="bg2"/>
            </a:solidFill>
            <a:prstDash val="solid"/>
          </a:ln>
        </p:spPr>
      </p:sp>
      <p:sp>
        <p:nvSpPr>
          <p:cNvPr id="15" name="Shape 12"/>
          <p:cNvSpPr/>
          <p:nvPr/>
        </p:nvSpPr>
        <p:spPr>
          <a:xfrm>
            <a:off x="7543800" y="3200400"/>
            <a:ext cx="420624" cy="420624"/>
          </a:xfrm>
          <a:prstGeom prst="ellipse">
            <a:avLst/>
          </a:prstGeom>
          <a:solidFill>
            <a:schemeClr val="accent1"/>
          </a:solidFill>
          <a:ln w="12700">
            <a:solidFill>
              <a:schemeClr val="accent1"/>
            </a:solidFill>
            <a:prstDash val="solid"/>
          </a:ln>
        </p:spPr>
      </p:sp>
      <p:sp>
        <p:nvSpPr>
          <p:cNvPr id="16" name="Text 13"/>
          <p:cNvSpPr txBox="1"/>
          <p:nvPr/>
        </p:nvSpPr>
        <p:spPr>
          <a:xfrm>
            <a:off x="7543800" y="3200400"/>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2</a:t>
            </a:r>
            <a:endParaRPr lang="ko-KR" altLang="en-US" sz="1500" dirty="0"/>
          </a:p>
        </p:txBody>
      </p:sp>
      <p:sp>
        <p:nvSpPr>
          <p:cNvPr id="17" name="Text 14"/>
          <p:cNvSpPr txBox="1"/>
          <p:nvPr/>
        </p:nvSpPr>
        <p:spPr>
          <a:xfrm>
            <a:off x="8092440" y="3218688"/>
            <a:ext cx="336773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대상이 마지막 알림을 보낸다</a:t>
            </a:r>
            <a:endParaRPr lang="ko-KR" altLang="en-US" sz="1700" dirty="0"/>
          </a:p>
        </p:txBody>
      </p:sp>
      <p:sp>
        <p:nvSpPr>
          <p:cNvPr id="18" name="Text 15"/>
          <p:cNvSpPr txBox="1"/>
          <p:nvPr/>
        </p:nvSpPr>
        <p:spPr>
          <a:xfrm>
            <a:off x="8092440" y="3639312"/>
            <a:ext cx="3367735" cy="548640"/>
          </a:xfrm>
          <a:prstGeom prst="rect">
            <a:avLst/>
          </a:prstGeom>
          <a:noFill/>
          <a:ln/>
        </p:spPr>
        <p:txBody>
          <a:bodyPr wrap="square" lIns="0" tIns="0" rIns="0" bIns="0" rtlCol="0" anchor="t"/>
          <a:lstStyle/>
          <a:p>
            <a:pPr indent="0" marL="0" eaLnBrk="0">
              <a:buNone/>
            </a:pPr>
            <a:r>
              <a:rPr lang="ko-KR" altLang="en-US" sz="1300" dirty="0">
                <a:solidFill>
                  <a:schemeClr val="tx2"/>
                </a:solidFill>
              </a:rPr>
              <a:t>사라지기 직전 ‘곧 사라진다’고 알린다.</a:t>
            </a:r>
            <a:endParaRPr lang="ko-KR" altLang="en-US" sz="1300" dirty="0"/>
          </a:p>
        </p:txBody>
      </p:sp>
      <p:sp>
        <p:nvSpPr>
          <p:cNvPr id="19" name="card"/>
          <p:cNvSpPr/>
          <p:nvPr/>
        </p:nvSpPr>
        <p:spPr>
          <a:xfrm>
            <a:off x="7315200" y="4398264"/>
            <a:ext cx="4327855" cy="1280160"/>
          </a:xfrm>
          <a:prstGeom prst="roundRect">
            <a:avLst>
              <a:gd name="adj" fmla="val 7143"/>
            </a:avLst>
          </a:prstGeom>
          <a:solidFill>
            <a:schemeClr val="bg2"/>
          </a:solidFill>
          <a:ln w="12700">
            <a:solidFill>
              <a:schemeClr val="bg2"/>
            </a:solidFill>
            <a:prstDash val="solid"/>
          </a:ln>
        </p:spPr>
      </p:sp>
      <p:sp>
        <p:nvSpPr>
          <p:cNvPr id="20" name="Shape 17"/>
          <p:cNvSpPr/>
          <p:nvPr/>
        </p:nvSpPr>
        <p:spPr>
          <a:xfrm>
            <a:off x="7543800" y="4599432"/>
            <a:ext cx="420624" cy="420624"/>
          </a:xfrm>
          <a:prstGeom prst="ellipse">
            <a:avLst/>
          </a:prstGeom>
          <a:solidFill>
            <a:schemeClr val="accent1"/>
          </a:solidFill>
          <a:ln w="12700">
            <a:solidFill>
              <a:schemeClr val="accent1"/>
            </a:solidFill>
            <a:prstDash val="solid"/>
          </a:ln>
        </p:spPr>
      </p:sp>
      <p:sp>
        <p:nvSpPr>
          <p:cNvPr id="21" name="Text 18"/>
          <p:cNvSpPr txBox="1"/>
          <p:nvPr/>
        </p:nvSpPr>
        <p:spPr>
          <a:xfrm>
            <a:off x="7543800" y="4599432"/>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3</a:t>
            </a:r>
            <a:endParaRPr lang="ko-KR" altLang="en-US" sz="1500" dirty="0"/>
          </a:p>
        </p:txBody>
      </p:sp>
      <p:sp>
        <p:nvSpPr>
          <p:cNvPr id="22" name="Text 19"/>
          <p:cNvSpPr txBox="1"/>
          <p:nvPr/>
        </p:nvSpPr>
        <p:spPr>
          <a:xfrm>
            <a:off x="8092440" y="4617720"/>
            <a:ext cx="336773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자동으로 해제한다</a:t>
            </a:r>
            <a:endParaRPr lang="ko-KR" altLang="en-US" sz="1700" dirty="0"/>
          </a:p>
        </p:txBody>
      </p:sp>
      <p:sp>
        <p:nvSpPr>
          <p:cNvPr id="23" name="Text 20"/>
          <p:cNvSpPr txBox="1"/>
          <p:nvPr/>
        </p:nvSpPr>
        <p:spPr>
          <a:xfrm>
            <a:off x="8092440" y="5038344"/>
            <a:ext cx="3367735" cy="548640"/>
          </a:xfrm>
          <a:prstGeom prst="rect">
            <a:avLst/>
          </a:prstGeom>
          <a:noFill/>
          <a:ln/>
        </p:spPr>
        <p:txBody>
          <a:bodyPr wrap="square" lIns="0" tIns="0" rIns="0" bIns="0" rtlCol="0" anchor="t"/>
          <a:lstStyle/>
          <a:p>
            <a:pPr indent="0" marL="0" eaLnBrk="0">
              <a:buNone/>
            </a:pPr>
            <a:r>
              <a:rPr lang="ko-KR" altLang="en-US" sz="1300" dirty="0">
                <a:solidFill>
                  <a:schemeClr val="tx2"/>
                </a:solidFill>
              </a:rPr>
              <a:t>관찰자가 등록한 대상을 모두 기억했다가 사라질 때 전부 해제한다.</a:t>
            </a:r>
            <a:endParaRPr lang="ko-KR" altLang="en-US" sz="13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22</a:t>
            </a:fld>
            <a:endParaRPr lang="ko-KR"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사라진 리스너</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해제하지 않은 관찰자는 가비지 컬렉터도 치우지 못한다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해제를 잘해도 남는 문제는 무엇일까?</a:t>
            </a:r>
            <a:endParaRPr lang="ko-KR" altLang="en-US" sz="15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3108960"/>
                <a:gridCol w="2743200"/>
                <a:gridCol w="2286000"/>
                <a:gridCol w="2956255"/>
              </a:tblGrid>
              <a:tr h="512064">
                <a:tc>
                  <a:txBody>
                    <a:bodyPr/>
                    <a:lstStyle/>
                    <a:p>
                      <a:pPr indent="0" marL="0" eaLnBrk="0">
                        <a:buNone/>
                      </a:pPr>
                      <a:r>
                        <a:rPr lang="ko-KR" altLang="en-US" sz="1400" b="1" dirty="0">
                          <a:solidFill>
                            <a:schemeClr val="bg1"/>
                          </a:solidFill>
                        </a:rPr>
                        <a:t>동작</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400" b="1" dirty="0">
                          <a:solidFill>
                            <a:schemeClr val="bg1"/>
                          </a:solidFill>
                        </a:rPr>
                        <a:t>대상의 관찰자 목록</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400" b="1" dirty="0">
                          <a:solidFill>
                            <a:schemeClr val="bg1"/>
                          </a:solidFill>
                        </a:rPr>
                        <a:t>메모리에 남은 화면</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400" b="1" dirty="0">
                          <a:solidFill>
                            <a:schemeClr val="bg1"/>
                          </a:solidFill>
                        </a:rPr>
                        <a:t>체력이 바뀔 때 갱신되는 화면</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r>
              <a:tr h="512064">
                <a:tc>
                  <a:txBody>
                    <a:bodyPr/>
                    <a:lstStyle/>
                    <a:p>
                      <a:pPr indent="0" marL="0" eaLnBrk="0">
                        <a:buNone/>
                      </a:pPr>
                      <a:r>
                        <a:rPr lang="ko-KR" altLang="en-US" sz="1400" b="1" dirty="0">
                          <a:solidFill>
                            <a:schemeClr val="tx1"/>
                          </a:solidFill>
                        </a:rPr>
                        <a:t>상태 화면을 연다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[화면1]</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화면1</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화면1</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512064">
                <a:tc>
                  <a:txBody>
                    <a:bodyPr/>
                    <a:lstStyle/>
                    <a:p>
                      <a:pPr indent="0" marL="0" eaLnBrk="0">
                        <a:buNone/>
                      </a:pPr>
                      <a:r>
                        <a:rPr lang="ko-KR" altLang="en-US" sz="1400" b="1" dirty="0">
                          <a:solidFill>
                            <a:schemeClr val="tx1"/>
                          </a:solidFill>
                        </a:rPr>
                        <a:t>화면을 닫는다 (해제하지 않음)</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[화면1]</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화면1</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화면1 (보이지 않는데 갱신)</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512064">
                <a:tc>
                  <a:txBody>
                    <a:bodyPr/>
                    <a:lstStyle/>
                    <a:p>
                      <a:pPr indent="0" marL="0" eaLnBrk="0">
                        <a:buNone/>
                      </a:pPr>
                      <a:r>
                        <a:rPr lang="ko-KR" altLang="en-US" sz="1400" b="1" dirty="0">
                          <a:solidFill>
                            <a:schemeClr val="tx1"/>
                          </a:solidFill>
                        </a:rPr>
                        <a:t>다시 연다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[화면1, 화면2]</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화면1, 화면2</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화면1, 화면2</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512064">
                <a:tc>
                  <a:txBody>
                    <a:bodyPr/>
                    <a:lstStyle/>
                    <a:p>
                      <a:pPr indent="0" marL="0" eaLnBrk="0">
                        <a:buNone/>
                      </a:pPr>
                      <a:r>
                        <a:rPr lang="ko-KR" altLang="en-US" sz="1400" b="1" dirty="0">
                          <a:solidFill>
                            <a:schemeClr val="tx1"/>
                          </a:solidFill>
                        </a:rPr>
                        <a:t>닫고 또 연다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[화면1, 화면2, 화면3]</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3개</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3개 모두</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bl>
          </a:graphicData>
        </a:graphic>
      </p:graphicFrame>
      <p:sp>
        <p:nvSpPr>
          <p:cNvPr id="7" name="card"/>
          <p:cNvSpPr/>
          <p:nvPr/>
        </p:nvSpPr>
        <p:spPr>
          <a:xfrm>
            <a:off x="548640" y="4434840"/>
            <a:ext cx="11094415" cy="1280160"/>
          </a:xfrm>
          <a:prstGeom prst="roundRect">
            <a:avLst>
              <a:gd name="adj" fmla="val 7143"/>
            </a:avLst>
          </a:prstGeom>
          <a:solidFill>
            <a:schemeClr val="tx2"/>
          </a:solidFill>
          <a:ln w="12700">
            <a:solidFill>
              <a:schemeClr val="tx2"/>
            </a:solidFill>
            <a:prstDash val="solid"/>
          </a:ln>
        </p:spPr>
      </p:sp>
      <p:sp>
        <p:nvSpPr>
          <p:cNvPr id="8" name="Text 4"/>
          <p:cNvSpPr txBox="1"/>
          <p:nvPr/>
        </p:nvSpPr>
        <p:spPr>
          <a:xfrm>
            <a:off x="777240" y="4654296"/>
            <a:ext cx="10682935" cy="411480"/>
          </a:xfrm>
          <a:prstGeom prst="rect">
            <a:avLst/>
          </a:prstGeom>
          <a:noFill/>
          <a:ln/>
        </p:spPr>
        <p:txBody>
          <a:bodyPr wrap="square" lIns="0" tIns="0" rIns="0" bIns="0" rtlCol="0" anchor="ctr"/>
          <a:lstStyle/>
          <a:p>
            <a:pPr indent="0" marL="0" eaLnBrk="0">
              <a:buNone/>
            </a:pPr>
            <a:r>
              <a:rPr lang="ko-KR" altLang="en-US" sz="1700" b="1" dirty="0">
                <a:solidFill>
                  <a:schemeClr val="accent4"/>
                </a:solidFill>
              </a:rPr>
              <a:t>해결은 규칙을 지키는 것</a:t>
            </a:r>
            <a:endParaRPr lang="ko-KR" altLang="en-US" sz="1700" dirty="0"/>
          </a:p>
        </p:txBody>
      </p:sp>
      <p:sp>
        <p:nvSpPr>
          <p:cNvPr id="9" name="Text 5"/>
          <p:cNvSpPr txBox="1"/>
          <p:nvPr/>
        </p:nvSpPr>
        <p:spPr>
          <a:xfrm>
            <a:off x="777240" y="5212080"/>
            <a:ext cx="10637215" cy="365760"/>
          </a:xfrm>
          <a:prstGeom prst="rect">
            <a:avLst/>
          </a:prstGeom>
          <a:noFill/>
          <a:ln/>
        </p:spPr>
        <p:txBody>
          <a:bodyPr wrap="square" lIns="0" tIns="0" rIns="0" bIns="0" rtlCol="0" anchor="t"/>
          <a:lstStyle/>
          <a:p>
            <a:pPr indent="0" marL="0" eaLnBrk="0">
              <a:buNone/>
            </a:pPr>
            <a:endParaRPr lang="ko-KR" altLang="en-US" sz="1400" dirty="0"/>
          </a:p>
        </p:txBody>
      </p:sp>
      <p:sp>
        <p:nvSpPr>
          <p:cNvPr id="10" name="Text 6"/>
          <p:cNvSpPr txBox="1"/>
          <p:nvPr/>
        </p:nvSpPr>
        <p:spPr>
          <a:xfrm>
            <a:off x="777240" y="5166360"/>
            <a:ext cx="10637215" cy="411480"/>
          </a:xfrm>
          <a:prstGeom prst="rect">
            <a:avLst/>
          </a:prstGeom>
          <a:noFill/>
          <a:ln/>
        </p:spPr>
        <p:txBody>
          <a:bodyPr wrap="square" lIns="0" tIns="0" rIns="0" bIns="0" rtlCol="0" anchor="t"/>
          <a:lstStyle/>
          <a:p>
            <a:pPr indent="0" marL="0" eaLnBrk="0">
              <a:buNone/>
            </a:pPr>
            <a:r>
              <a:rPr lang="ko-KR" altLang="en-US" sz="1500" dirty="0">
                <a:solidFill>
                  <a:schemeClr val="bg1"/>
                </a:solidFill>
              </a:rPr>
              <a:t>화면을 닫을 때 RemoveObserver를 부른다. 그러면 목록에는 지금 열려 있는 화면 하나만 남는다.</a:t>
            </a:r>
            <a:endParaRPr lang="ko-KR" alt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23</a:t>
            </a:fld>
            <a:endParaRPr lang="ko-KR"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무슨 일이 일어나는가</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알림을 받는 쪽은 실행해 봐야 알 수 있다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인터페이스 대신 더 가벼운 방법은 없을까?</a:t>
            </a:r>
            <a:endParaRPr lang="ko-KR" altLang="en-US" sz="1500" dirty="0"/>
          </a:p>
        </p:txBody>
      </p:sp>
      <p:sp>
        <p:nvSpPr>
          <p:cNvPr id="6" name="Shape 3"/>
          <p:cNvSpPr/>
          <p:nvPr/>
        </p:nvSpPr>
        <p:spPr>
          <a:xfrm>
            <a:off x="548640" y="1691640"/>
            <a:ext cx="5349240" cy="2286000"/>
          </a:xfrm>
          <a:prstGeom prst="roundRect">
            <a:avLst>
              <a:gd name="adj" fmla="val 4000"/>
            </a:avLst>
          </a:prstGeom>
          <a:solidFill>
            <a:schemeClr val="bg2"/>
          </a:solidFill>
          <a:ln w="12700">
            <a:solidFill>
              <a:schemeClr val="bg2"/>
            </a:solidFill>
            <a:prstDash val="solid"/>
          </a:ln>
        </p:spPr>
      </p:sp>
      <p:sp>
        <p:nvSpPr>
          <p:cNvPr id="7" name="Text 4"/>
          <p:cNvSpPr txBox="1"/>
          <p:nvPr/>
        </p:nvSpPr>
        <p:spPr>
          <a:xfrm>
            <a:off x="822960" y="1828800"/>
            <a:ext cx="4846320" cy="411480"/>
          </a:xfrm>
          <a:prstGeom prst="rect">
            <a:avLst/>
          </a:prstGeom>
          <a:noFill/>
          <a:ln/>
        </p:spPr>
        <p:txBody>
          <a:bodyPr wrap="square" lIns="0" tIns="0" rIns="0" bIns="0" rtlCol="0" anchor="t"/>
          <a:lstStyle/>
          <a:p>
            <a:pPr indent="0" marL="0" eaLnBrk="0">
              <a:buNone/>
            </a:pPr>
            <a:r>
              <a:rPr lang="ko-KR" altLang="en-US" sz="1800" b="1" dirty="0">
                <a:solidFill>
                  <a:schemeClr val="accent2"/>
                </a:solidFill>
              </a:rPr>
              <a:t>직접 호출</a:t>
            </a:r>
            <a:endParaRPr lang="ko-KR" altLang="en-US" sz="1800" dirty="0"/>
          </a:p>
        </p:txBody>
      </p:sp>
      <p:sp>
        <p:nvSpPr>
          <p:cNvPr id="8" name="codePanel"/>
          <p:cNvSpPr/>
          <p:nvPr/>
        </p:nvSpPr>
        <p:spPr>
          <a:xfrm>
            <a:off x="822960" y="2331720"/>
            <a:ext cx="4800600" cy="548640"/>
          </a:xfrm>
          <a:prstGeom prst="roundRect">
            <a:avLst>
              <a:gd name="adj" fmla="val 13333"/>
            </a:avLst>
          </a:prstGeom>
          <a:solidFill>
            <a:schemeClr val="tx1"/>
          </a:solidFill>
          <a:ln w="12700">
            <a:solidFill>
              <a:schemeClr val="tx1"/>
            </a:solidFill>
            <a:prstDash val="solid"/>
          </a:ln>
        </p:spPr>
      </p:sp>
      <p:sp>
        <p:nvSpPr>
          <p:cNvPr id="9" name="code"/>
          <p:cNvSpPr txBox="1"/>
          <p:nvPr/>
        </p:nvSpPr>
        <p:spPr>
          <a:xfrm>
            <a:off x="932688" y="2423160"/>
            <a:ext cx="4581144" cy="365760"/>
          </a:xfrm>
          <a:prstGeom prst="rect">
            <a:avLst/>
          </a:prstGeom>
          <a:noFill/>
          <a:ln/>
        </p:spPr>
        <p:txBody>
          <a:bodyPr wrap="square" lIns="635" tIns="635" rIns="635" bIns="635" rtlCol="0" anchor="t"/>
          <a:lstStyle/>
          <a:p>
            <a:pPr indent="0" marL="0" eaLnBrk="0">
              <a:buNone/>
            </a:pPr>
            <a:r>
              <a:rPr lang="ko-KR" altLang="en-US" sz="1400" dirty="0">
                <a:solidFill>
                  <a:schemeClr val="bg1"/>
                </a:solidFill>
                <a:latin typeface="Consolas" pitchFamily="34" charset="0"/>
                <a:ea typeface="Consolas" pitchFamily="34" charset="-122"/>
                <a:cs typeface="Consolas" pitchFamily="34" charset="-120"/>
              </a:rPr>
              <a:t>_achievements.Unlock(...);</a:t>
            </a:r>
            <a:endParaRPr lang="ko-KR" altLang="en-US" sz="1400" dirty="0"/>
          </a:p>
        </p:txBody>
      </p:sp>
      <p:sp>
        <p:nvSpPr>
          <p:cNvPr id="10" name="Text 7"/>
          <p:cNvSpPr txBox="1"/>
          <p:nvPr/>
        </p:nvSpPr>
        <p:spPr>
          <a:xfrm>
            <a:off x="822960" y="3063240"/>
            <a:ext cx="4846320" cy="731520"/>
          </a:xfrm>
          <a:prstGeom prst="rect">
            <a:avLst/>
          </a:prstGeom>
          <a:noFill/>
          <a:ln/>
        </p:spPr>
        <p:txBody>
          <a:bodyPr wrap="square" lIns="0" tIns="0" rIns="0" bIns="0" rtlCol="0" anchor="t"/>
          <a:lstStyle/>
          <a:p>
            <a:pPr indent="0" marL="0" eaLnBrk="0">
              <a:buNone/>
            </a:pPr>
            <a:r>
              <a:rPr lang="ko-KR" altLang="en-US" sz="1500" dirty="0">
                <a:solidFill>
                  <a:schemeClr val="tx2"/>
                </a:solidFill>
              </a:rPr>
              <a:t>정의로 이동하면 받는 쪽이 바로 보인다.</a:t>
            </a:r>
            <a:endParaRPr lang="ko-KR" altLang="en-US" sz="1500" dirty="0"/>
          </a:p>
        </p:txBody>
      </p:sp>
      <p:sp>
        <p:nvSpPr>
          <p:cNvPr id="11" name="Shape 8"/>
          <p:cNvSpPr/>
          <p:nvPr/>
        </p:nvSpPr>
        <p:spPr>
          <a:xfrm>
            <a:off x="6263640" y="1691640"/>
            <a:ext cx="5349240" cy="2286000"/>
          </a:xfrm>
          <a:prstGeom prst="roundRect">
            <a:avLst>
              <a:gd name="adj" fmla="val 4000"/>
            </a:avLst>
          </a:prstGeom>
          <a:solidFill>
            <a:schemeClr val="bg2"/>
          </a:solidFill>
          <a:ln w="12700">
            <a:solidFill>
              <a:schemeClr val="bg2"/>
            </a:solidFill>
            <a:prstDash val="solid"/>
          </a:ln>
        </p:spPr>
      </p:sp>
      <p:sp>
        <p:nvSpPr>
          <p:cNvPr id="12" name="Text 9"/>
          <p:cNvSpPr txBox="1"/>
          <p:nvPr/>
        </p:nvSpPr>
        <p:spPr>
          <a:xfrm>
            <a:off x="6537960" y="1828800"/>
            <a:ext cx="4846320" cy="411480"/>
          </a:xfrm>
          <a:prstGeom prst="rect">
            <a:avLst/>
          </a:prstGeom>
          <a:noFill/>
          <a:ln/>
        </p:spPr>
        <p:txBody>
          <a:bodyPr wrap="square" lIns="0" tIns="0" rIns="0" bIns="0" rtlCol="0" anchor="t"/>
          <a:lstStyle/>
          <a:p>
            <a:pPr indent="0" marL="0" eaLnBrk="0">
              <a:buNone/>
            </a:pPr>
            <a:r>
              <a:rPr lang="ko-KR" altLang="en-US" sz="1800" b="1" dirty="0">
                <a:solidFill>
                  <a:schemeClr val="accent6"/>
                </a:solidFill>
              </a:rPr>
              <a:t>알림</a:t>
            </a:r>
            <a:endParaRPr lang="ko-KR" altLang="en-US" sz="1800" dirty="0"/>
          </a:p>
        </p:txBody>
      </p:sp>
      <p:sp>
        <p:nvSpPr>
          <p:cNvPr id="13" name="codePanel"/>
          <p:cNvSpPr/>
          <p:nvPr/>
        </p:nvSpPr>
        <p:spPr>
          <a:xfrm>
            <a:off x="6537960" y="2331720"/>
            <a:ext cx="4800600" cy="548640"/>
          </a:xfrm>
          <a:prstGeom prst="roundRect">
            <a:avLst>
              <a:gd name="adj" fmla="val 13333"/>
            </a:avLst>
          </a:prstGeom>
          <a:solidFill>
            <a:schemeClr val="tx1"/>
          </a:solidFill>
          <a:ln w="12700">
            <a:solidFill>
              <a:schemeClr val="tx1"/>
            </a:solidFill>
            <a:prstDash val="solid"/>
          </a:ln>
        </p:spPr>
      </p:sp>
      <p:sp>
        <p:nvSpPr>
          <p:cNvPr id="14" name="code"/>
          <p:cNvSpPr txBox="1"/>
          <p:nvPr/>
        </p:nvSpPr>
        <p:spPr>
          <a:xfrm>
            <a:off x="6647688" y="2423160"/>
            <a:ext cx="4581144" cy="365760"/>
          </a:xfrm>
          <a:prstGeom prst="rect">
            <a:avLst/>
          </a:prstGeom>
          <a:noFill/>
          <a:ln/>
        </p:spPr>
        <p:txBody>
          <a:bodyPr wrap="square" lIns="635" tIns="635" rIns="635" bIns="635" rtlCol="0" anchor="t"/>
          <a:lstStyle/>
          <a:p>
            <a:pPr indent="0" marL="0" eaLnBrk="0">
              <a:buNone/>
            </a:pPr>
            <a:r>
              <a:rPr lang="ko-KR" altLang="en-US" sz="1400" dirty="0">
                <a:solidFill>
                  <a:schemeClr val="bg1"/>
                </a:solidFill>
                <a:latin typeface="Consolas" pitchFamily="34" charset="0"/>
                <a:ea typeface="Consolas" pitchFamily="34" charset="-122"/>
                <a:cs typeface="Consolas" pitchFamily="34" charset="-120"/>
              </a:rPr>
              <a:t>Notify(entity, Event.EntityFell);</a:t>
            </a:r>
            <a:endParaRPr lang="ko-KR" altLang="en-US" sz="1400" dirty="0"/>
          </a:p>
        </p:txBody>
      </p:sp>
      <p:sp>
        <p:nvSpPr>
          <p:cNvPr id="15" name="Text 12"/>
          <p:cNvSpPr txBox="1"/>
          <p:nvPr/>
        </p:nvSpPr>
        <p:spPr>
          <a:xfrm>
            <a:off x="6537960" y="3063240"/>
            <a:ext cx="4846320" cy="731520"/>
          </a:xfrm>
          <a:prstGeom prst="rect">
            <a:avLst/>
          </a:prstGeom>
          <a:noFill/>
          <a:ln/>
        </p:spPr>
        <p:txBody>
          <a:bodyPr wrap="square" lIns="0" tIns="0" rIns="0" bIns="0" rtlCol="0" anchor="t"/>
          <a:lstStyle/>
          <a:p>
            <a:pPr indent="0" marL="0" eaLnBrk="0">
              <a:buNone/>
            </a:pPr>
            <a:r>
              <a:rPr lang="ko-KR" altLang="en-US" sz="1500" dirty="0">
                <a:solidFill>
                  <a:schemeClr val="tx2"/>
                </a:solidFill>
              </a:rPr>
              <a:t>받는 쪽은 실행 중에 누가 등록했는지에 달려 있다.</a:t>
            </a:r>
            <a:endParaRPr lang="ko-KR" altLang="en-US" sz="1500" dirty="0"/>
          </a:p>
        </p:txBody>
      </p:sp>
      <p:sp>
        <p:nvSpPr>
          <p:cNvPr id="16" name="card"/>
          <p:cNvSpPr/>
          <p:nvPr/>
        </p:nvSpPr>
        <p:spPr>
          <a:xfrm>
            <a:off x="548640" y="4206240"/>
            <a:ext cx="11094415" cy="1463040"/>
          </a:xfrm>
          <a:prstGeom prst="roundRect">
            <a:avLst>
              <a:gd name="adj" fmla="val 6250"/>
            </a:avLst>
          </a:prstGeom>
          <a:solidFill>
            <a:schemeClr val="tx2"/>
          </a:solidFill>
          <a:ln w="12700">
            <a:solidFill>
              <a:schemeClr val="tx2"/>
            </a:solidFill>
            <a:prstDash val="solid"/>
          </a:ln>
        </p:spPr>
      </p:sp>
      <p:sp>
        <p:nvSpPr>
          <p:cNvPr id="17" name="Text 14"/>
          <p:cNvSpPr txBox="1"/>
          <p:nvPr/>
        </p:nvSpPr>
        <p:spPr>
          <a:xfrm>
            <a:off x="777240" y="4425696"/>
            <a:ext cx="10682935" cy="411480"/>
          </a:xfrm>
          <a:prstGeom prst="rect">
            <a:avLst/>
          </a:prstGeom>
          <a:noFill/>
          <a:ln/>
        </p:spPr>
        <p:txBody>
          <a:bodyPr wrap="square" lIns="0" tIns="0" rIns="0" bIns="0" rtlCol="0" anchor="ctr"/>
          <a:lstStyle/>
          <a:p>
            <a:pPr indent="0" marL="0" eaLnBrk="0">
              <a:buNone/>
            </a:pPr>
            <a:r>
              <a:rPr lang="ko-KR" altLang="en-US" sz="1700" b="1" dirty="0">
                <a:solidFill>
                  <a:schemeClr val="accent4"/>
                </a:solidFill>
              </a:rPr>
              <a:t>원서의 기준</a:t>
            </a:r>
            <a:endParaRPr lang="ko-KR" altLang="en-US" sz="1700" dirty="0"/>
          </a:p>
        </p:txBody>
      </p:sp>
      <p:sp>
        <p:nvSpPr>
          <p:cNvPr id="18" name="Text 15"/>
          <p:cNvSpPr txBox="1"/>
          <p:nvPr/>
        </p:nvSpPr>
        <p:spPr>
          <a:xfrm>
            <a:off x="777240" y="4983480"/>
            <a:ext cx="10637215" cy="548640"/>
          </a:xfrm>
          <a:prstGeom prst="rect">
            <a:avLst/>
          </a:prstGeom>
          <a:noFill/>
          <a:ln/>
        </p:spPr>
        <p:txBody>
          <a:bodyPr wrap="square" lIns="0" tIns="0" rIns="0" bIns="0" rtlCol="0" anchor="t"/>
          <a:lstStyle/>
          <a:p>
            <a:pPr indent="0" marL="0" eaLnBrk="0">
              <a:buNone/>
            </a:pPr>
            <a:endParaRPr lang="ko-KR" altLang="en-US" sz="1400" dirty="0"/>
          </a:p>
        </p:txBody>
      </p:sp>
      <p:sp>
        <p:nvSpPr>
          <p:cNvPr id="19" name="Text 16"/>
          <p:cNvSpPr txBox="1"/>
          <p:nvPr/>
        </p:nvSpPr>
        <p:spPr>
          <a:xfrm>
            <a:off x="777240" y="4937760"/>
            <a:ext cx="10637215" cy="640080"/>
          </a:xfrm>
          <a:prstGeom prst="rect">
            <a:avLst/>
          </a:prstGeom>
          <a:noFill/>
          <a:ln/>
        </p:spPr>
        <p:txBody>
          <a:bodyPr wrap="square" lIns="0" tIns="0" rIns="0" bIns="0" rtlCol="0" anchor="t"/>
          <a:lstStyle/>
          <a:p>
            <a:pPr indent="0" marL="0" eaLnBrk="0">
              <a:buNone/>
            </a:pPr>
            <a:r>
              <a:rPr lang="ko-KR" altLang="en-US" sz="1500" dirty="0">
                <a:solidFill>
                  <a:schemeClr val="bg1"/>
                </a:solidFill>
              </a:rPr>
              <a:t>통신을 이해하려고 양쪽을 함께 따져 봐야 한다면 직접 연결한다. 관찰자는 물리와 업적처럼 서로 관계없는 코드 덩어리 사이에 쓴다.</a:t>
            </a:r>
            <a:endParaRPr lang="ko-KR" alt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24</a:t>
            </a:fld>
            <a:endParaRPr lang="ko-KR"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part"/>
          <p:cNvSpPr txBox="1"/>
          <p:nvPr/>
        </p:nvSpPr>
        <p:spPr>
          <a:xfrm>
            <a:off x="548640" y="2148840"/>
            <a:ext cx="5486400" cy="457200"/>
          </a:xfrm>
          <a:prstGeom prst="rect">
            <a:avLst/>
          </a:prstGeom>
          <a:noFill/>
          <a:ln/>
        </p:spPr>
        <p:txBody>
          <a:bodyPr wrap="square" lIns="0" tIns="0" rIns="0" bIns="0" rtlCol="0" anchor="ctr"/>
          <a:lstStyle/>
          <a:p>
            <a:pPr indent="0" marL="0" eaLnBrk="0">
              <a:buNone/>
            </a:pPr>
            <a:r>
              <a:rPr lang="ko-KR" altLang="en-US" sz="1600" b="1" dirty="0">
                <a:solidFill>
                  <a:schemeClr val="accent1"/>
                </a:solidFill>
              </a:rPr>
              <a:t>5부</a:t>
            </a:r>
            <a:endParaRPr lang="ko-KR" altLang="en-US" sz="1600" dirty="0"/>
          </a:p>
        </p:txBody>
      </p:sp>
      <p:sp>
        <p:nvSpPr>
          <p:cNvPr id="3" name="Text 0"/>
          <p:cNvSpPr/>
          <p:nvPr>
            <p:ph idx="100" type="title" hasCustomPrompt="1"/>
          </p:nvPr>
        </p:nvSpPr>
        <p:spPr>
          <a:xfrm>
            <a:off x="548640" y="2651760"/>
            <a:ext cx="11094415" cy="1097280"/>
          </a:xfrm>
          <a:prstGeom prst="rect">
            <a:avLst/>
          </a:prstGeom>
          <a:noFill/>
          <a:ln/>
        </p:spPr>
        <p:txBody>
          <a:bodyPr wrap="square" rtlCol="0" anchor="ctr"/>
          <a:lstStyle/>
          <a:p>
            <a:pPr algn="l" indent="0" marL="0" eaLnBrk="0">
              <a:buNone/>
            </a:pPr>
            <a:r>
              <a:rPr lang="ko-KR" altLang="en-US" sz="3600" b="1" dirty="0">
                <a:solidFill>
                  <a:schemeClr val="bg1"/>
                </a:solidFill>
              </a:rPr>
              <a:t>오늘의 관찰자</a:t>
            </a:r>
            <a:endParaRPr lang="ko-KR" altLang="en-US" sz="3600" dirty="0"/>
          </a:p>
        </p:txBody>
      </p:sp>
      <p:sp>
        <p:nvSpPr>
          <p:cNvPr id="4" name="Text 0"/>
          <p:cNvSpPr/>
          <p:nvPr>
            <p:ph idx="101" type="body" hasCustomPrompt="1"/>
          </p:nvPr>
        </p:nvSpPr>
        <p:spPr>
          <a:xfrm>
            <a:off x="548640" y="3794760"/>
            <a:ext cx="11094415" cy="731520"/>
          </a:xfrm>
          <a:prstGeom prst="rect">
            <a:avLst/>
          </a:prstGeom>
          <a:noFill/>
          <a:ln/>
        </p:spPr>
        <p:txBody>
          <a:bodyPr wrap="square" rtlCol="0" anchor="t"/>
          <a:lstStyle/>
          <a:p>
            <a:pPr indent="0" marL="0" eaLnBrk="0">
              <a:buNone/>
            </a:pPr>
            <a:r>
              <a:rPr lang="ko-KR" altLang="en-US" sz="1800" dirty="0">
                <a:solidFill>
                  <a:schemeClr val="accent3"/>
                </a:solidFill>
              </a:rPr>
              <a:t>원서: 오늘날의 관찰자 · 내일의 관찰자</a:t>
            </a:r>
            <a:endParaRPr lang="ko-KR" alt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25</a:t>
            </a:fld>
            <a:endParaRPr lang="ko-KR"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함수 참조</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관찰자가 클래스가 아니라 메서드 참조여도 된다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C#의 event로 업적 예제를 다시 쓰면 어떻게 될까?</a:t>
            </a:r>
            <a:endParaRPr lang="ko-KR" altLang="en-US" sz="1500" dirty="0"/>
          </a:p>
        </p:txBody>
      </p:sp>
      <p:sp>
        <p:nvSpPr>
          <p:cNvPr id="6" name="Shape 3"/>
          <p:cNvSpPr/>
          <p:nvPr/>
        </p:nvSpPr>
        <p:spPr>
          <a:xfrm>
            <a:off x="548640" y="1691640"/>
            <a:ext cx="5349240" cy="2514600"/>
          </a:xfrm>
          <a:prstGeom prst="roundRect">
            <a:avLst>
              <a:gd name="adj" fmla="val 3636"/>
            </a:avLst>
          </a:prstGeom>
          <a:solidFill>
            <a:schemeClr val="bg2"/>
          </a:solidFill>
          <a:ln w="12700">
            <a:solidFill>
              <a:schemeClr val="bg2"/>
            </a:solidFill>
            <a:prstDash val="solid"/>
          </a:ln>
        </p:spPr>
      </p:sp>
      <p:sp>
        <p:nvSpPr>
          <p:cNvPr id="7" name="Text 4"/>
          <p:cNvSpPr txBox="1"/>
          <p:nvPr/>
        </p:nvSpPr>
        <p:spPr>
          <a:xfrm>
            <a:off x="822960" y="1828800"/>
            <a:ext cx="4846320" cy="411480"/>
          </a:xfrm>
          <a:prstGeom prst="rect">
            <a:avLst/>
          </a:prstGeom>
          <a:noFill/>
          <a:ln/>
        </p:spPr>
        <p:txBody>
          <a:bodyPr wrap="square" lIns="0" tIns="0" rIns="0" bIns="0" rtlCol="0" anchor="t"/>
          <a:lstStyle/>
          <a:p>
            <a:pPr indent="0" marL="0" eaLnBrk="0">
              <a:buNone/>
            </a:pPr>
            <a:r>
              <a:rPr lang="ko-KR" altLang="en-US" sz="1800" b="1" dirty="0">
                <a:solidFill>
                  <a:schemeClr val="accent6"/>
                </a:solidFill>
              </a:rPr>
              <a:t>인터페이스 관찰자 (1994)</a:t>
            </a:r>
            <a:endParaRPr lang="ko-KR" altLang="en-US" sz="1800" dirty="0"/>
          </a:p>
        </p:txBody>
      </p:sp>
      <p:sp>
        <p:nvSpPr>
          <p:cNvPr id="8" name="codePanel"/>
          <p:cNvSpPr/>
          <p:nvPr/>
        </p:nvSpPr>
        <p:spPr>
          <a:xfrm>
            <a:off x="822960" y="2331720"/>
            <a:ext cx="4800600" cy="868680"/>
          </a:xfrm>
          <a:prstGeom prst="roundRect">
            <a:avLst>
              <a:gd name="adj" fmla="val 8421"/>
            </a:avLst>
          </a:prstGeom>
          <a:solidFill>
            <a:schemeClr val="tx1"/>
          </a:solidFill>
          <a:ln w="12700">
            <a:solidFill>
              <a:schemeClr val="tx1"/>
            </a:solidFill>
            <a:prstDash val="solid"/>
          </a:ln>
        </p:spPr>
      </p:sp>
      <p:sp>
        <p:nvSpPr>
          <p:cNvPr id="9" name="code"/>
          <p:cNvSpPr txBox="1"/>
          <p:nvPr/>
        </p:nvSpPr>
        <p:spPr>
          <a:xfrm>
            <a:off x="932688" y="2423160"/>
            <a:ext cx="4581144" cy="685800"/>
          </a:xfrm>
          <a:prstGeom prst="rect">
            <a:avLst/>
          </a:prstGeom>
          <a:noFill/>
          <a:ln/>
        </p:spPr>
        <p:txBody>
          <a:bodyPr wrap="square" lIns="635" tIns="635" rIns="635" bIns="635" rtlCol="0" anchor="t"/>
          <a:lstStyle/>
          <a:p>
            <a:pPr indent="0" marL="0" eaLnBrk="0">
              <a:buNone/>
            </a:pPr>
            <a:r>
              <a:rPr lang="ko-KR" altLang="en-US" sz="1300" dirty="0">
                <a:solidFill>
                  <a:schemeClr val="accent3"/>
                </a:solidFill>
                <a:latin typeface="Consolas" pitchFamily="34" charset="0"/>
                <a:ea typeface="Consolas" pitchFamily="34" charset="-122"/>
                <a:cs typeface="Consolas" pitchFamily="34" charset="-120"/>
              </a:rPr>
              <a:t>// 관찰자 = IObserver를 구현한 객체</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physics.AddObserver(achievements);</a:t>
            </a:r>
            <a:endParaRPr lang="ko-KR" altLang="en-US" sz="1300" dirty="0"/>
          </a:p>
        </p:txBody>
      </p:sp>
      <p:sp>
        <p:nvSpPr>
          <p:cNvPr id="10" name="Text 7"/>
          <p:cNvSpPr txBox="1"/>
          <p:nvPr/>
        </p:nvSpPr>
        <p:spPr>
          <a:xfrm>
            <a:off x="822960" y="3337560"/>
            <a:ext cx="4846320" cy="777240"/>
          </a:xfrm>
          <a:prstGeom prst="rect">
            <a:avLst/>
          </a:prstGeom>
          <a:noFill/>
          <a:ln/>
        </p:spPr>
        <p:txBody>
          <a:bodyPr wrap="square" lIns="0" tIns="0" rIns="0" bIns="0" rtlCol="0" anchor="t"/>
          <a:lstStyle/>
          <a:p>
            <a:pPr indent="0" marL="0" eaLnBrk="0">
              <a:buNone/>
            </a:pPr>
            <a:r>
              <a:rPr lang="ko-KR" altLang="en-US" sz="1400" dirty="0">
                <a:solidFill>
                  <a:schemeClr val="tx2"/>
                </a:solidFill>
              </a:rPr>
              <a:t>OnNotify가 하나뿐이라, 대상이 여럿이면 어느 대상의 알림인지 안에서 가려야 한다.</a:t>
            </a:r>
            <a:endParaRPr lang="ko-KR" altLang="en-US" sz="1400" dirty="0"/>
          </a:p>
        </p:txBody>
      </p:sp>
      <p:sp>
        <p:nvSpPr>
          <p:cNvPr id="11" name="Shape 8"/>
          <p:cNvSpPr/>
          <p:nvPr/>
        </p:nvSpPr>
        <p:spPr>
          <a:xfrm>
            <a:off x="6263640" y="1691640"/>
            <a:ext cx="5349240" cy="2514600"/>
          </a:xfrm>
          <a:prstGeom prst="roundRect">
            <a:avLst>
              <a:gd name="adj" fmla="val 3636"/>
            </a:avLst>
          </a:prstGeom>
          <a:solidFill>
            <a:schemeClr val="bg2"/>
          </a:solidFill>
          <a:ln w="12700">
            <a:solidFill>
              <a:schemeClr val="bg2"/>
            </a:solidFill>
            <a:prstDash val="solid"/>
          </a:ln>
        </p:spPr>
      </p:sp>
      <p:sp>
        <p:nvSpPr>
          <p:cNvPr id="12" name="Text 9"/>
          <p:cNvSpPr txBox="1"/>
          <p:nvPr/>
        </p:nvSpPr>
        <p:spPr>
          <a:xfrm>
            <a:off x="6537960" y="1828800"/>
            <a:ext cx="4846320" cy="411480"/>
          </a:xfrm>
          <a:prstGeom prst="rect">
            <a:avLst/>
          </a:prstGeom>
          <a:noFill/>
          <a:ln/>
        </p:spPr>
        <p:txBody>
          <a:bodyPr wrap="square" lIns="0" tIns="0" rIns="0" bIns="0" rtlCol="0" anchor="t"/>
          <a:lstStyle/>
          <a:p>
            <a:pPr indent="0" marL="0" eaLnBrk="0">
              <a:buNone/>
            </a:pPr>
            <a:r>
              <a:rPr lang="ko-KR" altLang="en-US" sz="1800" b="1" dirty="0">
                <a:solidFill>
                  <a:schemeClr val="accent2"/>
                </a:solidFill>
              </a:rPr>
              <a:t>함수 참조 관찰자</a:t>
            </a:r>
            <a:endParaRPr lang="ko-KR" altLang="en-US" sz="1800" dirty="0"/>
          </a:p>
        </p:txBody>
      </p:sp>
      <p:sp>
        <p:nvSpPr>
          <p:cNvPr id="13" name="codePanel"/>
          <p:cNvSpPr/>
          <p:nvPr/>
        </p:nvSpPr>
        <p:spPr>
          <a:xfrm>
            <a:off x="6537960" y="2331720"/>
            <a:ext cx="4800600" cy="868680"/>
          </a:xfrm>
          <a:prstGeom prst="roundRect">
            <a:avLst>
              <a:gd name="adj" fmla="val 8421"/>
            </a:avLst>
          </a:prstGeom>
          <a:solidFill>
            <a:schemeClr val="tx1"/>
          </a:solidFill>
          <a:ln w="12700">
            <a:solidFill>
              <a:schemeClr val="tx1"/>
            </a:solidFill>
            <a:prstDash val="solid"/>
          </a:ln>
        </p:spPr>
      </p:sp>
      <p:sp>
        <p:nvSpPr>
          <p:cNvPr id="14" name="code"/>
          <p:cNvSpPr txBox="1"/>
          <p:nvPr/>
        </p:nvSpPr>
        <p:spPr>
          <a:xfrm>
            <a:off x="6647688" y="2423160"/>
            <a:ext cx="4581144" cy="685800"/>
          </a:xfrm>
          <a:prstGeom prst="rect">
            <a:avLst/>
          </a:prstGeom>
          <a:noFill/>
          <a:ln/>
        </p:spPr>
        <p:txBody>
          <a:bodyPr wrap="square" lIns="635" tIns="635" rIns="635" bIns="635" rtlCol="0" anchor="t"/>
          <a:lstStyle/>
          <a:p>
            <a:pPr indent="0" marL="0" eaLnBrk="0">
              <a:buNone/>
            </a:pPr>
            <a:r>
              <a:rPr lang="ko-KR" altLang="en-US" sz="1300" dirty="0">
                <a:solidFill>
                  <a:schemeClr val="accent3"/>
                </a:solidFill>
                <a:latin typeface="Consolas" pitchFamily="34" charset="0"/>
                <a:ea typeface="Consolas" pitchFamily="34" charset="-122"/>
                <a:cs typeface="Consolas" pitchFamily="34" charset="-120"/>
              </a:rPr>
              <a:t>// 관찰자 = 메서드 참조</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Action&lt;Entity&gt; observer = OnEntityFell;</a:t>
            </a:r>
            <a:endParaRPr lang="ko-KR" altLang="en-US" sz="1300" dirty="0"/>
          </a:p>
        </p:txBody>
      </p:sp>
      <p:sp>
        <p:nvSpPr>
          <p:cNvPr id="15" name="Text 12"/>
          <p:cNvSpPr txBox="1"/>
          <p:nvPr/>
        </p:nvSpPr>
        <p:spPr>
          <a:xfrm>
            <a:off x="6537960" y="3337560"/>
            <a:ext cx="4846320" cy="777240"/>
          </a:xfrm>
          <a:prstGeom prst="rect">
            <a:avLst/>
          </a:prstGeom>
          <a:noFill/>
          <a:ln/>
        </p:spPr>
        <p:txBody>
          <a:bodyPr wrap="square" lIns="0" tIns="0" rIns="0" bIns="0" rtlCol="0" anchor="t"/>
          <a:lstStyle/>
          <a:p>
            <a:pPr indent="0" marL="0" eaLnBrk="0">
              <a:buNone/>
            </a:pPr>
            <a:r>
              <a:rPr lang="ko-KR" altLang="en-US" sz="1400" dirty="0">
                <a:solidFill>
                  <a:schemeClr val="tx2"/>
                </a:solidFill>
              </a:rPr>
              <a:t>알림마다 받을 메서드를 따로 연결한다. 클래스가 인터페이스를 구현할 필요가 없다.</a:t>
            </a:r>
            <a:endParaRPr lang="ko-KR" altLang="en-US" sz="1400" dirty="0"/>
          </a:p>
        </p:txBody>
      </p:sp>
      <p:sp>
        <p:nvSpPr>
          <p:cNvPr id="16" name="card"/>
          <p:cNvSpPr/>
          <p:nvPr/>
        </p:nvSpPr>
        <p:spPr>
          <a:xfrm>
            <a:off x="548640" y="4434840"/>
            <a:ext cx="11094415" cy="1280160"/>
          </a:xfrm>
          <a:prstGeom prst="roundRect">
            <a:avLst>
              <a:gd name="adj" fmla="val 7143"/>
            </a:avLst>
          </a:prstGeom>
          <a:solidFill>
            <a:schemeClr val="tx2"/>
          </a:solidFill>
          <a:ln w="12700">
            <a:solidFill>
              <a:schemeClr val="tx2"/>
            </a:solidFill>
            <a:prstDash val="solid"/>
          </a:ln>
        </p:spPr>
      </p:sp>
      <p:sp>
        <p:nvSpPr>
          <p:cNvPr id="17" name="Text 14"/>
          <p:cNvSpPr txBox="1"/>
          <p:nvPr/>
        </p:nvSpPr>
        <p:spPr>
          <a:xfrm>
            <a:off x="777240" y="4654296"/>
            <a:ext cx="10682935" cy="411480"/>
          </a:xfrm>
          <a:prstGeom prst="rect">
            <a:avLst/>
          </a:prstGeom>
          <a:noFill/>
          <a:ln/>
        </p:spPr>
        <p:txBody>
          <a:bodyPr wrap="square" lIns="0" tIns="0" rIns="0" bIns="0" rtlCol="0" anchor="ctr"/>
          <a:lstStyle/>
          <a:p>
            <a:pPr indent="0" marL="0" eaLnBrk="0">
              <a:buNone/>
            </a:pPr>
            <a:r>
              <a:rPr lang="ko-KR" altLang="en-US" sz="1700" b="1" dirty="0">
                <a:solidFill>
                  <a:schemeClr val="accent4"/>
                </a:solidFill>
              </a:rPr>
              <a:t>내일의 관찰자: 데이터 바인딩</a:t>
            </a:r>
            <a:endParaRPr lang="ko-KR" altLang="en-US" sz="1700" dirty="0"/>
          </a:p>
        </p:txBody>
      </p:sp>
      <p:sp>
        <p:nvSpPr>
          <p:cNvPr id="18" name="Text 15"/>
          <p:cNvSpPr txBox="1"/>
          <p:nvPr/>
        </p:nvSpPr>
        <p:spPr>
          <a:xfrm>
            <a:off x="777240" y="5212080"/>
            <a:ext cx="10637215" cy="365760"/>
          </a:xfrm>
          <a:prstGeom prst="rect">
            <a:avLst/>
          </a:prstGeom>
          <a:noFill/>
          <a:ln/>
        </p:spPr>
        <p:txBody>
          <a:bodyPr wrap="square" lIns="0" tIns="0" rIns="0" bIns="0" rtlCol="0" anchor="t"/>
          <a:lstStyle/>
          <a:p>
            <a:pPr indent="0" marL="0" eaLnBrk="0">
              <a:buNone/>
            </a:pPr>
            <a:endParaRPr lang="ko-KR" altLang="en-US" sz="1400" dirty="0"/>
          </a:p>
        </p:txBody>
      </p:sp>
      <p:sp>
        <p:nvSpPr>
          <p:cNvPr id="19" name="Text 16"/>
          <p:cNvSpPr txBox="1"/>
          <p:nvPr/>
        </p:nvSpPr>
        <p:spPr>
          <a:xfrm>
            <a:off x="777240" y="5166360"/>
            <a:ext cx="10637215" cy="411480"/>
          </a:xfrm>
          <a:prstGeom prst="rect">
            <a:avLst/>
          </a:prstGeom>
          <a:noFill/>
          <a:ln/>
        </p:spPr>
        <p:txBody>
          <a:bodyPr wrap="square" lIns="0" tIns="0" rIns="0" bIns="0" rtlCol="0" anchor="t"/>
          <a:lstStyle/>
          <a:p>
            <a:pPr indent="0" marL="0" eaLnBrk="0">
              <a:buNone/>
            </a:pPr>
            <a:r>
              <a:rPr lang="ko-KR" altLang="en-US" sz="1500" dirty="0">
                <a:solidFill>
                  <a:schemeClr val="bg1"/>
                </a:solidFill>
              </a:rPr>
              <a:t>값이 바뀌면 화면이 저절로 갱신된다. 엔진 핵심에는 느릴 수 있지만 UI처럼 덜 민감한 곳에 쓰인다.</a:t>
            </a:r>
            <a:endParaRPr lang="ko-KR" alt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26</a:t>
            </a:fld>
            <a:endParaRPr lang="ko-KR"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C#의 event</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같은 구조를 event와 +=, -= 연산자로 쓴다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원서의 구조와 C# event는 정확히 어떻게 대응할까?</a:t>
            </a:r>
            <a:endParaRPr lang="ko-KR" altLang="en-US" sz="1500" dirty="0"/>
          </a:p>
        </p:txBody>
      </p:sp>
      <p:sp>
        <p:nvSpPr>
          <p:cNvPr id="6" name="codePanel"/>
          <p:cNvSpPr/>
          <p:nvPr/>
        </p:nvSpPr>
        <p:spPr>
          <a:xfrm>
            <a:off x="548640" y="1600200"/>
            <a:ext cx="5212080" cy="4114800"/>
          </a:xfrm>
          <a:prstGeom prst="roundRect">
            <a:avLst>
              <a:gd name="adj" fmla="val 1778"/>
            </a:avLst>
          </a:prstGeom>
          <a:solidFill>
            <a:schemeClr val="tx1"/>
          </a:solidFill>
          <a:ln w="12700">
            <a:solidFill>
              <a:schemeClr val="tx1"/>
            </a:solidFill>
            <a:prstDash val="solid"/>
          </a:ln>
        </p:spPr>
      </p:sp>
      <p:sp>
        <p:nvSpPr>
          <p:cNvPr id="7" name="code"/>
          <p:cNvSpPr txBox="1"/>
          <p:nvPr/>
        </p:nvSpPr>
        <p:spPr>
          <a:xfrm>
            <a:off x="658368" y="1691640"/>
            <a:ext cx="4992624" cy="3931920"/>
          </a:xfrm>
          <a:prstGeom prst="rect">
            <a:avLst/>
          </a:prstGeom>
          <a:noFill/>
          <a:ln/>
        </p:spPr>
        <p:txBody>
          <a:bodyPr wrap="square" lIns="635" tIns="635" rIns="635" bIns="635" rtlCol="0" anchor="t"/>
          <a:lstStyle/>
          <a:p>
            <a:pPr indent="0" marL="0" eaLnBrk="0">
              <a:buNone/>
            </a:pPr>
            <a:r>
              <a:rPr lang="ko-KR" altLang="en-US" sz="1200" dirty="0">
                <a:solidFill>
                  <a:schemeClr val="bg1"/>
                </a:solidFill>
                <a:latin typeface="Consolas" pitchFamily="34" charset="0"/>
                <a:ea typeface="Consolas" pitchFamily="34" charset="-122"/>
                <a:cs typeface="Consolas" pitchFamily="34" charset="-120"/>
              </a:rPr>
              <a:t>public class Physics</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a:t>
            </a:r>
            <a:endParaRPr lang="ko-KR" altLang="en-US" sz="1200" dirty="0"/>
          </a:p>
          <a:p>
            <a:pPr indent="0" marL="0" eaLnBrk="0">
              <a:buNone/>
            </a:pPr>
            <a:r>
              <a:rPr lang="ko-KR" altLang="en-US" sz="1200" b="1" dirty="0">
                <a:solidFill>
                  <a:schemeClr val="accent4"/>
                </a:solidFill>
                <a:latin typeface="Consolas" pitchFamily="34" charset="0"/>
                <a:ea typeface="Consolas" pitchFamily="34" charset="-122"/>
                <a:cs typeface="Consolas" pitchFamily="34" charset="-120"/>
              </a:rPr>
              <a:t>    public event Action&lt;Entity&gt; EntityFell;</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public void UpdateEntity(Entity entity)</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bool wasOnSurface = entity.IsOnSurface();</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entity.Accelerate(Gravity);</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entity.Update();</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if (wasOnSurface &amp;&amp; !entity.IsOnSurface())</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b="1" dirty="0">
                <a:solidFill>
                  <a:schemeClr val="accent4"/>
                </a:solidFill>
                <a:latin typeface="Consolas" pitchFamily="34" charset="0"/>
                <a:ea typeface="Consolas" pitchFamily="34" charset="-122"/>
                <a:cs typeface="Consolas" pitchFamily="34" charset="-120"/>
              </a:rPr>
              <a:t>            EntityFell?.Invoke(entity);</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a:t>
            </a:r>
            <a:endParaRPr lang="ko-KR" altLang="en-US" sz="1200" dirty="0"/>
          </a:p>
        </p:txBody>
      </p:sp>
      <p:sp>
        <p:nvSpPr>
          <p:cNvPr id="8" name="codeCaption"/>
          <p:cNvSpPr txBox="1"/>
          <p:nvPr/>
        </p:nvSpPr>
        <p:spPr>
          <a:xfrm>
            <a:off x="2651760" y="1691640"/>
            <a:ext cx="2971800" cy="237744"/>
          </a:xfrm>
          <a:prstGeom prst="rect">
            <a:avLst/>
          </a:prstGeom>
          <a:noFill/>
          <a:ln/>
        </p:spPr>
        <p:txBody>
          <a:bodyPr wrap="square" lIns="0" tIns="0" rIns="0" bIns="0" rtlCol="0" anchor="ctr"/>
          <a:lstStyle/>
          <a:p>
            <a:pPr algn="r" indent="0" marL="0" eaLnBrk="0">
              <a:buNone/>
            </a:pPr>
            <a:r>
              <a:rPr lang="ko-KR" altLang="en-US" sz="1000" dirty="0">
                <a:solidFill>
                  <a:schemeClr val="accent3"/>
                </a:solidFill>
              </a:rPr>
              <a:t>원서 예제를 C# event로 옮긴 코드</a:t>
            </a:r>
            <a:endParaRPr lang="ko-KR" altLang="en-US" sz="1000" dirty="0"/>
          </a:p>
        </p:txBody>
      </p:sp>
      <p:sp>
        <p:nvSpPr>
          <p:cNvPr id="9" name="codePanel"/>
          <p:cNvSpPr/>
          <p:nvPr/>
        </p:nvSpPr>
        <p:spPr>
          <a:xfrm>
            <a:off x="5989320" y="1600200"/>
            <a:ext cx="5653735" cy="4114800"/>
          </a:xfrm>
          <a:prstGeom prst="roundRect">
            <a:avLst>
              <a:gd name="adj" fmla="val 1778"/>
            </a:avLst>
          </a:prstGeom>
          <a:solidFill>
            <a:schemeClr val="tx1"/>
          </a:solidFill>
          <a:ln w="12700">
            <a:solidFill>
              <a:schemeClr val="tx1"/>
            </a:solidFill>
            <a:prstDash val="solid"/>
          </a:ln>
        </p:spPr>
      </p:sp>
      <p:sp>
        <p:nvSpPr>
          <p:cNvPr id="10" name="code"/>
          <p:cNvSpPr txBox="1"/>
          <p:nvPr/>
        </p:nvSpPr>
        <p:spPr>
          <a:xfrm>
            <a:off x="6099048" y="1691640"/>
            <a:ext cx="5434279" cy="3931920"/>
          </a:xfrm>
          <a:prstGeom prst="rect">
            <a:avLst/>
          </a:prstGeom>
          <a:noFill/>
          <a:ln/>
        </p:spPr>
        <p:txBody>
          <a:bodyPr wrap="square" lIns="635" tIns="635" rIns="635" bIns="635" rtlCol="0" anchor="t"/>
          <a:lstStyle/>
          <a:p>
            <a:pPr indent="0" marL="0" eaLnBrk="0">
              <a:buNone/>
            </a:pPr>
            <a:r>
              <a:rPr lang="ko-KR" altLang="en-US" sz="1150" dirty="0">
                <a:solidFill>
                  <a:schemeClr val="bg1"/>
                </a:solidFill>
                <a:latin typeface="Consolas" pitchFamily="34" charset="0"/>
                <a:ea typeface="Consolas" pitchFamily="34" charset="-122"/>
                <a:cs typeface="Consolas" pitchFamily="34" charset="-120"/>
              </a:rPr>
              <a:t>public class Achievements : IDisposable</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readonly Physics _physics;</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bool _heroIsOnBridge;</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public Achievements(Physics physics)</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_physics = physics;</a:t>
            </a:r>
            <a:endParaRPr lang="ko-KR" altLang="en-US" sz="1150" dirty="0"/>
          </a:p>
          <a:p>
            <a:pPr indent="0" marL="0" eaLnBrk="0">
              <a:buNone/>
            </a:pPr>
            <a:r>
              <a:rPr lang="ko-KR" altLang="en-US" sz="1150" b="1" dirty="0">
                <a:solidFill>
                  <a:schemeClr val="accent4"/>
                </a:solidFill>
                <a:latin typeface="Consolas" pitchFamily="34" charset="0"/>
                <a:ea typeface="Consolas" pitchFamily="34" charset="-122"/>
                <a:cs typeface="Consolas" pitchFamily="34" charset="-120"/>
              </a:rPr>
              <a:t>        _physics.EntityFell += OnEntityFell;</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void OnEntityFell(Entity entity)</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if (entity.IsHero() &amp;&amp; _heroIsOnBridge)</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Unlock(Achievement.FellOffBridge);</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public void Dispose()</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a:t>
            </a:r>
            <a:endParaRPr lang="ko-KR" altLang="en-US" sz="1150" dirty="0"/>
          </a:p>
          <a:p>
            <a:pPr indent="0" marL="0" eaLnBrk="0">
              <a:buNone/>
            </a:pPr>
            <a:r>
              <a:rPr lang="ko-KR" altLang="en-US" sz="1150" b="1" dirty="0">
                <a:solidFill>
                  <a:schemeClr val="accent4"/>
                </a:solidFill>
                <a:latin typeface="Consolas" pitchFamily="34" charset="0"/>
                <a:ea typeface="Consolas" pitchFamily="34" charset="-122"/>
                <a:cs typeface="Consolas" pitchFamily="34" charset="-120"/>
              </a:rPr>
              <a:t>        _physics.EntityFell -= OnEntityFell;</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a:t>
            </a:r>
            <a:endParaRPr lang="ko-KR" altLang="en-US" sz="115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27</a:t>
            </a:fld>
            <a:endParaRPr lang="ko-KR"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대응</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원서의 대상과 관찰자가 C# event의 어디에 있는가</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그렇다면 이 패턴은 언제 쓰고, 무엇을 조심해야 할까?</a:t>
            </a:r>
            <a:endParaRPr lang="ko-KR" altLang="en-US" sz="15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2743200"/>
                <a:gridCol w="3657600"/>
                <a:gridCol w="4693615"/>
              </a:tblGrid>
              <a:tr h="420624">
                <a:tc>
                  <a:txBody>
                    <a:bodyPr/>
                    <a:lstStyle/>
                    <a:p>
                      <a:pPr indent="0" marL="0" eaLnBrk="0">
                        <a:buNone/>
                      </a:pPr>
                      <a:r>
                        <a:rPr lang="ko-KR" altLang="en-US" sz="1400" b="1" dirty="0">
                          <a:solidFill>
                            <a:schemeClr val="bg1"/>
                          </a:solidFill>
                        </a:rPr>
                        <a:t>원서의 구조</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400" b="1" dirty="0">
                          <a:solidFill>
                            <a:schemeClr val="bg1"/>
                          </a:solidFill>
                        </a:rPr>
                        <a:t>C# event</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400" b="1" dirty="0">
                          <a:solidFill>
                            <a:schemeClr val="bg1"/>
                          </a:solidFill>
                        </a:rPr>
                        <a:t>설명</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r>
              <a:tr h="502920">
                <a:tc>
                  <a:txBody>
                    <a:bodyPr/>
                    <a:lstStyle/>
                    <a:p>
                      <a:pPr indent="0" marL="0" eaLnBrk="0">
                        <a:buNone/>
                      </a:pPr>
                      <a:r>
                        <a:rPr lang="ko-KR" altLang="en-US" sz="1400" b="1" dirty="0">
                          <a:solidFill>
                            <a:schemeClr val="tx1"/>
                          </a:solidFill>
                        </a:rPr>
                        <a:t>관찰자 목록</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event 필드 (델리게이트의 호출 목록)</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등록한 메서드들을 순서대로 담는다.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502920">
                <a:tc>
                  <a:txBody>
                    <a:bodyPr/>
                    <a:lstStyle/>
                    <a:p>
                      <a:pPr indent="0" marL="0" eaLnBrk="0">
                        <a:buNone/>
                      </a:pPr>
                      <a:r>
                        <a:rPr lang="ko-KR" altLang="en-US" sz="1400" b="1" dirty="0">
                          <a:solidFill>
                            <a:schemeClr val="tx1"/>
                          </a:solidFill>
                        </a:rPr>
                        <a:t>AddObserver(observer)</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EntityFell += OnEntityFell;</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목록에 메서드를 더한다. 이때 새 델리게이트가 할당된다.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502920">
                <a:tc>
                  <a:txBody>
                    <a:bodyPr/>
                    <a:lstStyle/>
                    <a:p>
                      <a:pPr indent="0" marL="0" eaLnBrk="0">
                        <a:buNone/>
                      </a:pPr>
                      <a:r>
                        <a:rPr lang="ko-KR" altLang="en-US" sz="1400" b="1" dirty="0">
                          <a:solidFill>
                            <a:schemeClr val="tx1"/>
                          </a:solidFill>
                        </a:rPr>
                        <a:t>RemoveObserver(observer)</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EntityFell -= OnEntityFell;</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목록에서 메서드를 뺀다.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502920">
                <a:tc>
                  <a:txBody>
                    <a:bodyPr/>
                    <a:lstStyle/>
                    <a:p>
                      <a:pPr indent="0" marL="0" eaLnBrk="0">
                        <a:buNone/>
                      </a:pPr>
                      <a:r>
                        <a:rPr lang="ko-KR" altLang="en-US" sz="1400" b="1" dirty="0">
                          <a:solidFill>
                            <a:schemeClr val="tx1"/>
                          </a:solidFill>
                        </a:rPr>
                        <a:t>Notify(entity, e)</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EntityFell?.Invoke(entity);</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등록된 메서드를 차례로 동기 호출한다.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502920">
                <a:tc>
                  <a:txBody>
                    <a:bodyPr/>
                    <a:lstStyle/>
                    <a:p>
                      <a:pPr indent="0" marL="0" eaLnBrk="0">
                        <a:buNone/>
                      </a:pPr>
                      <a:r>
                        <a:rPr lang="ko-KR" altLang="en-US" sz="1400" b="1" dirty="0">
                          <a:solidFill>
                            <a:schemeClr val="tx1"/>
                          </a:solidFill>
                        </a:rPr>
                        <a:t>IObserver.OnNotify</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Action&lt;Entity&gt;에 맞는 메서드</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인터페이스 구현 없이 메서드 모양만 맞춘다.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502920">
                <a:tc>
                  <a:txBody>
                    <a:bodyPr/>
                    <a:lstStyle/>
                    <a:p>
                      <a:pPr indent="0" marL="0" eaLnBrk="0">
                        <a:buNone/>
                      </a:pPr>
                      <a:r>
                        <a:rPr lang="ko-KR" altLang="en-US" sz="1400" b="1" dirty="0">
                          <a:solidFill>
                            <a:schemeClr val="tx1"/>
                          </a:solidFill>
                        </a:rPr>
                        <a:t>protected Notify</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event 키워드</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바깥은 +=, -= 만 쓰고, Invoke는 선언한 클래스만 한다.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bl>
          </a:graphicData>
        </a:graphic>
      </p:graphicFrame>
      <p:sp>
        <p:nvSpPr>
          <p:cNvPr id="7" name="Text 3"/>
          <p:cNvSpPr txBox="1"/>
          <p:nvPr/>
        </p:nvSpPr>
        <p:spPr>
          <a:xfrm>
            <a:off x="548640" y="5394960"/>
            <a:ext cx="11094415" cy="365760"/>
          </a:xfrm>
          <a:prstGeom prst="rect">
            <a:avLst/>
          </a:prstGeom>
          <a:noFill/>
          <a:ln/>
        </p:spPr>
        <p:txBody>
          <a:bodyPr wrap="square" lIns="0" tIns="0" rIns="0" bIns="0" rtlCol="0" anchor="t"/>
          <a:lstStyle/>
          <a:p>
            <a:pPr indent="0" marL="0" eaLnBrk="0">
              <a:buNone/>
            </a:pPr>
            <a:r>
              <a:rPr lang="ko-KR" altLang="en-US" sz="1400" b="1" dirty="0">
                <a:solidFill>
                  <a:schemeClr val="accent6"/>
                </a:solidFill>
              </a:rPr>
              <a:t>델리게이트가 관찰자를 참조하므로, -= 를 잊으면 사라진 리스너 문제가 그대로 생긴다.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28</a:t>
            </a:fld>
            <a:endParaRPr lang="ko-KR"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쓸 때와 주의점</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서로 관계없는 코드가 소식을 주고받을 때 쓴다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원서는 관찰자 패턴과 함께 볼 패턴으로 무엇을 소개할까?</a:t>
            </a:r>
            <a:endParaRPr lang="ko-KR" altLang="en-US" sz="1500" dirty="0"/>
          </a:p>
        </p:txBody>
      </p:sp>
      <p:sp>
        <p:nvSpPr>
          <p:cNvPr id="6" name="Text 3"/>
          <p:cNvSpPr txBox="1"/>
          <p:nvPr/>
        </p:nvSpPr>
        <p:spPr>
          <a:xfrm>
            <a:off x="548640" y="1691640"/>
            <a:ext cx="5349240" cy="457200"/>
          </a:xfrm>
          <a:prstGeom prst="rect">
            <a:avLst/>
          </a:prstGeom>
          <a:noFill/>
          <a:ln/>
        </p:spPr>
        <p:txBody>
          <a:bodyPr wrap="square" lIns="0" tIns="0" rIns="0" bIns="0" rtlCol="0" anchor="t"/>
          <a:lstStyle/>
          <a:p>
            <a:pPr indent="0" marL="0" eaLnBrk="0">
              <a:buNone/>
            </a:pPr>
            <a:r>
              <a:rPr lang="ko-KR" altLang="en-US" sz="2000" b="1" dirty="0">
                <a:solidFill>
                  <a:schemeClr val="accent2"/>
                </a:solidFill>
              </a:rPr>
              <a:t>이럴 때 쓴다</a:t>
            </a:r>
            <a:endParaRPr lang="ko-KR" altLang="en-US" sz="2000" dirty="0"/>
          </a:p>
        </p:txBody>
      </p:sp>
      <p:sp>
        <p:nvSpPr>
          <p:cNvPr id="7" name="card"/>
          <p:cNvSpPr/>
          <p:nvPr/>
        </p:nvSpPr>
        <p:spPr>
          <a:xfrm>
            <a:off x="548640" y="2240280"/>
            <a:ext cx="5349240" cy="1051560"/>
          </a:xfrm>
          <a:prstGeom prst="roundRect">
            <a:avLst>
              <a:gd name="adj" fmla="val 8696"/>
            </a:avLst>
          </a:prstGeom>
          <a:solidFill>
            <a:schemeClr val="bg2"/>
          </a:solidFill>
          <a:ln w="12700">
            <a:solidFill>
              <a:schemeClr val="bg2"/>
            </a:solidFill>
            <a:prstDash val="solid"/>
          </a:ln>
        </p:spPr>
      </p:sp>
      <p:sp>
        <p:nvSpPr>
          <p:cNvPr id="8" name="Shape 5"/>
          <p:cNvSpPr/>
          <p:nvPr/>
        </p:nvSpPr>
        <p:spPr>
          <a:xfrm>
            <a:off x="777240" y="2441448"/>
            <a:ext cx="420624" cy="420624"/>
          </a:xfrm>
          <a:prstGeom prst="ellipse">
            <a:avLst/>
          </a:prstGeom>
          <a:solidFill>
            <a:schemeClr val="accent1"/>
          </a:solidFill>
          <a:ln w="12700">
            <a:solidFill>
              <a:schemeClr val="accent1"/>
            </a:solidFill>
            <a:prstDash val="solid"/>
          </a:ln>
        </p:spPr>
      </p:sp>
      <p:sp>
        <p:nvSpPr>
          <p:cNvPr id="9" name="Text 6"/>
          <p:cNvSpPr txBox="1"/>
          <p:nvPr/>
        </p:nvSpPr>
        <p:spPr>
          <a:xfrm>
            <a:off x="777240" y="244144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1</a:t>
            </a:r>
            <a:endParaRPr lang="ko-KR" altLang="en-US" sz="1500" dirty="0"/>
          </a:p>
        </p:txBody>
      </p:sp>
      <p:sp>
        <p:nvSpPr>
          <p:cNvPr id="10" name="card"/>
          <p:cNvSpPr/>
          <p:nvPr/>
        </p:nvSpPr>
        <p:spPr>
          <a:xfrm>
            <a:off x="548640" y="3429000"/>
            <a:ext cx="5349240" cy="1051560"/>
          </a:xfrm>
          <a:prstGeom prst="roundRect">
            <a:avLst>
              <a:gd name="adj" fmla="val 8696"/>
            </a:avLst>
          </a:prstGeom>
          <a:solidFill>
            <a:schemeClr val="bg2"/>
          </a:solidFill>
          <a:ln w="12700">
            <a:solidFill>
              <a:schemeClr val="bg2"/>
            </a:solidFill>
            <a:prstDash val="solid"/>
          </a:ln>
        </p:spPr>
      </p:sp>
      <p:sp>
        <p:nvSpPr>
          <p:cNvPr id="11" name="Shape 8"/>
          <p:cNvSpPr/>
          <p:nvPr/>
        </p:nvSpPr>
        <p:spPr>
          <a:xfrm>
            <a:off x="777240" y="3630168"/>
            <a:ext cx="420624" cy="420624"/>
          </a:xfrm>
          <a:prstGeom prst="ellipse">
            <a:avLst/>
          </a:prstGeom>
          <a:solidFill>
            <a:schemeClr val="accent1"/>
          </a:solidFill>
          <a:ln w="12700">
            <a:solidFill>
              <a:schemeClr val="accent1"/>
            </a:solidFill>
            <a:prstDash val="solid"/>
          </a:ln>
        </p:spPr>
      </p:sp>
      <p:sp>
        <p:nvSpPr>
          <p:cNvPr id="12" name="Text 9"/>
          <p:cNvSpPr txBox="1"/>
          <p:nvPr/>
        </p:nvSpPr>
        <p:spPr>
          <a:xfrm>
            <a:off x="777240" y="363016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2</a:t>
            </a:r>
            <a:endParaRPr lang="ko-KR" altLang="en-US" sz="1500" dirty="0"/>
          </a:p>
        </p:txBody>
      </p:sp>
      <p:sp>
        <p:nvSpPr>
          <p:cNvPr id="13" name="card"/>
          <p:cNvSpPr/>
          <p:nvPr/>
        </p:nvSpPr>
        <p:spPr>
          <a:xfrm>
            <a:off x="548640" y="4617720"/>
            <a:ext cx="5349240" cy="1051560"/>
          </a:xfrm>
          <a:prstGeom prst="roundRect">
            <a:avLst>
              <a:gd name="adj" fmla="val 8696"/>
            </a:avLst>
          </a:prstGeom>
          <a:solidFill>
            <a:schemeClr val="bg2"/>
          </a:solidFill>
          <a:ln w="12700">
            <a:solidFill>
              <a:schemeClr val="bg2"/>
            </a:solidFill>
            <a:prstDash val="solid"/>
          </a:ln>
        </p:spPr>
      </p:sp>
      <p:sp>
        <p:nvSpPr>
          <p:cNvPr id="14" name="Shape 11"/>
          <p:cNvSpPr/>
          <p:nvPr/>
        </p:nvSpPr>
        <p:spPr>
          <a:xfrm>
            <a:off x="777240" y="4818888"/>
            <a:ext cx="420624" cy="420624"/>
          </a:xfrm>
          <a:prstGeom prst="ellipse">
            <a:avLst/>
          </a:prstGeom>
          <a:solidFill>
            <a:schemeClr val="accent1"/>
          </a:solidFill>
          <a:ln w="12700">
            <a:solidFill>
              <a:schemeClr val="accent1"/>
            </a:solidFill>
            <a:prstDash val="solid"/>
          </a:ln>
        </p:spPr>
      </p:sp>
      <p:sp>
        <p:nvSpPr>
          <p:cNvPr id="15" name="Text 12"/>
          <p:cNvSpPr txBox="1"/>
          <p:nvPr/>
        </p:nvSpPr>
        <p:spPr>
          <a:xfrm>
            <a:off x="777240" y="481888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3</a:t>
            </a:r>
            <a:endParaRPr lang="ko-KR" altLang="en-US" sz="1500" dirty="0"/>
          </a:p>
        </p:txBody>
      </p:sp>
      <p:sp>
        <p:nvSpPr>
          <p:cNvPr id="16" name="Text 13"/>
          <p:cNvSpPr txBox="1"/>
          <p:nvPr/>
        </p:nvSpPr>
        <p:spPr>
          <a:xfrm>
            <a:off x="1371600" y="2377440"/>
            <a:ext cx="4343400" cy="822960"/>
          </a:xfrm>
          <a:prstGeom prst="rect">
            <a:avLst/>
          </a:prstGeom>
          <a:noFill/>
          <a:ln/>
        </p:spPr>
        <p:txBody>
          <a:bodyPr wrap="square" lIns="0" tIns="0" rIns="0" bIns="0" rtlCol="0" anchor="ctr"/>
          <a:lstStyle/>
          <a:p>
            <a:pPr indent="0" marL="0" eaLnBrk="0">
              <a:buNone/>
            </a:pPr>
            <a:r>
              <a:rPr lang="ko-KR" altLang="en-US" sz="1400" dirty="0">
                <a:solidFill>
                  <a:schemeClr val="tx2"/>
                </a:solidFill>
              </a:rPr>
              <a:t>물리와 업적처럼 서로 관계없는 코드가 소식을 주고받아야 한다.</a:t>
            </a:r>
            <a:endParaRPr lang="ko-KR" altLang="en-US" sz="1400" dirty="0"/>
          </a:p>
        </p:txBody>
      </p:sp>
      <p:sp>
        <p:nvSpPr>
          <p:cNvPr id="17" name="Text 14"/>
          <p:cNvSpPr txBox="1"/>
          <p:nvPr/>
        </p:nvSpPr>
        <p:spPr>
          <a:xfrm>
            <a:off x="1371600" y="3566160"/>
            <a:ext cx="4343400" cy="822960"/>
          </a:xfrm>
          <a:prstGeom prst="rect">
            <a:avLst/>
          </a:prstGeom>
          <a:noFill/>
          <a:ln/>
        </p:spPr>
        <p:txBody>
          <a:bodyPr wrap="square" lIns="0" tIns="0" rIns="0" bIns="0" rtlCol="0" anchor="ctr"/>
          <a:lstStyle/>
          <a:p>
            <a:pPr indent="0" marL="0" eaLnBrk="0">
              <a:buNone/>
            </a:pPr>
            <a:r>
              <a:rPr lang="ko-KR" altLang="en-US" sz="1400" dirty="0">
                <a:solidFill>
                  <a:schemeClr val="tx2"/>
                </a:solidFill>
              </a:rPr>
              <a:t>알리는 쪽이 듣는 쪽을 몰라야 한다. 듣는 쪽이 늘거나 빠져도 그대로다.</a:t>
            </a:r>
            <a:endParaRPr lang="ko-KR" altLang="en-US" sz="1400" dirty="0"/>
          </a:p>
        </p:txBody>
      </p:sp>
      <p:sp>
        <p:nvSpPr>
          <p:cNvPr id="18" name="Text 15"/>
          <p:cNvSpPr txBox="1"/>
          <p:nvPr/>
        </p:nvSpPr>
        <p:spPr>
          <a:xfrm>
            <a:off x="1371600" y="4754880"/>
            <a:ext cx="4343400" cy="822960"/>
          </a:xfrm>
          <a:prstGeom prst="rect">
            <a:avLst/>
          </a:prstGeom>
          <a:noFill/>
          <a:ln/>
        </p:spPr>
        <p:txBody>
          <a:bodyPr wrap="square" lIns="0" tIns="0" rIns="0" bIns="0" rtlCol="0" anchor="ctr"/>
          <a:lstStyle/>
          <a:p>
            <a:pPr indent="0" marL="0" eaLnBrk="0">
              <a:buNone/>
            </a:pPr>
            <a:r>
              <a:rPr lang="ko-KR" altLang="en-US" sz="1400" dirty="0">
                <a:solidFill>
                  <a:schemeClr val="tx2"/>
                </a:solidFill>
              </a:rPr>
              <a:t>같은 일을 업적, 오디오처럼 여러 시스템이 각자 알아야 한다.</a:t>
            </a:r>
            <a:endParaRPr lang="ko-KR" altLang="en-US" sz="1400" dirty="0"/>
          </a:p>
        </p:txBody>
      </p:sp>
      <p:sp>
        <p:nvSpPr>
          <p:cNvPr id="19" name="Text 16"/>
          <p:cNvSpPr txBox="1"/>
          <p:nvPr/>
        </p:nvSpPr>
        <p:spPr>
          <a:xfrm>
            <a:off x="6263640" y="1691640"/>
            <a:ext cx="5349240" cy="457200"/>
          </a:xfrm>
          <a:prstGeom prst="rect">
            <a:avLst/>
          </a:prstGeom>
          <a:noFill/>
          <a:ln/>
        </p:spPr>
        <p:txBody>
          <a:bodyPr wrap="square" lIns="0" tIns="0" rIns="0" bIns="0" rtlCol="0" anchor="t"/>
          <a:lstStyle/>
          <a:p>
            <a:pPr indent="0" marL="0" eaLnBrk="0">
              <a:buNone/>
            </a:pPr>
            <a:r>
              <a:rPr lang="ko-KR" altLang="en-US" sz="2000" b="1" dirty="0">
                <a:solidFill>
                  <a:schemeClr val="accent6"/>
                </a:solidFill>
              </a:rPr>
              <a:t>이것을 조심한다</a:t>
            </a:r>
            <a:endParaRPr lang="ko-KR" altLang="en-US" sz="2000" dirty="0"/>
          </a:p>
        </p:txBody>
      </p:sp>
      <p:sp>
        <p:nvSpPr>
          <p:cNvPr id="20" name="card"/>
          <p:cNvSpPr/>
          <p:nvPr/>
        </p:nvSpPr>
        <p:spPr>
          <a:xfrm>
            <a:off x="6263640" y="2240280"/>
            <a:ext cx="5349240" cy="1051560"/>
          </a:xfrm>
          <a:prstGeom prst="roundRect">
            <a:avLst>
              <a:gd name="adj" fmla="val 8696"/>
            </a:avLst>
          </a:prstGeom>
          <a:solidFill>
            <a:schemeClr val="bg2"/>
          </a:solidFill>
          <a:ln w="12700">
            <a:solidFill>
              <a:schemeClr val="bg2"/>
            </a:solidFill>
            <a:prstDash val="solid"/>
          </a:ln>
        </p:spPr>
      </p:sp>
      <p:sp>
        <p:nvSpPr>
          <p:cNvPr id="21" name="Shape 18"/>
          <p:cNvSpPr/>
          <p:nvPr/>
        </p:nvSpPr>
        <p:spPr>
          <a:xfrm>
            <a:off x="6492240" y="2441448"/>
            <a:ext cx="420624" cy="420624"/>
          </a:xfrm>
          <a:prstGeom prst="ellipse">
            <a:avLst/>
          </a:prstGeom>
          <a:solidFill>
            <a:schemeClr val="accent1"/>
          </a:solidFill>
          <a:ln w="12700">
            <a:solidFill>
              <a:schemeClr val="accent1"/>
            </a:solidFill>
            <a:prstDash val="solid"/>
          </a:ln>
        </p:spPr>
      </p:sp>
      <p:sp>
        <p:nvSpPr>
          <p:cNvPr id="22" name="Text 19"/>
          <p:cNvSpPr txBox="1"/>
          <p:nvPr/>
        </p:nvSpPr>
        <p:spPr>
          <a:xfrm>
            <a:off x="6492240" y="244144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1</a:t>
            </a:r>
            <a:endParaRPr lang="ko-KR" altLang="en-US" sz="1500" dirty="0"/>
          </a:p>
        </p:txBody>
      </p:sp>
      <p:sp>
        <p:nvSpPr>
          <p:cNvPr id="23" name="card"/>
          <p:cNvSpPr/>
          <p:nvPr/>
        </p:nvSpPr>
        <p:spPr>
          <a:xfrm>
            <a:off x="6263640" y="3429000"/>
            <a:ext cx="5349240" cy="1051560"/>
          </a:xfrm>
          <a:prstGeom prst="roundRect">
            <a:avLst>
              <a:gd name="adj" fmla="val 8696"/>
            </a:avLst>
          </a:prstGeom>
          <a:solidFill>
            <a:schemeClr val="bg2"/>
          </a:solidFill>
          <a:ln w="12700">
            <a:solidFill>
              <a:schemeClr val="bg2"/>
            </a:solidFill>
            <a:prstDash val="solid"/>
          </a:ln>
        </p:spPr>
      </p:sp>
      <p:sp>
        <p:nvSpPr>
          <p:cNvPr id="24" name="Shape 21"/>
          <p:cNvSpPr/>
          <p:nvPr/>
        </p:nvSpPr>
        <p:spPr>
          <a:xfrm>
            <a:off x="6492240" y="3630168"/>
            <a:ext cx="420624" cy="420624"/>
          </a:xfrm>
          <a:prstGeom prst="ellipse">
            <a:avLst/>
          </a:prstGeom>
          <a:solidFill>
            <a:schemeClr val="accent1"/>
          </a:solidFill>
          <a:ln w="12700">
            <a:solidFill>
              <a:schemeClr val="accent1"/>
            </a:solidFill>
            <a:prstDash val="solid"/>
          </a:ln>
        </p:spPr>
      </p:sp>
      <p:sp>
        <p:nvSpPr>
          <p:cNvPr id="25" name="Text 22"/>
          <p:cNvSpPr txBox="1"/>
          <p:nvPr/>
        </p:nvSpPr>
        <p:spPr>
          <a:xfrm>
            <a:off x="6492240" y="363016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2</a:t>
            </a:r>
            <a:endParaRPr lang="ko-KR" altLang="en-US" sz="1500" dirty="0"/>
          </a:p>
        </p:txBody>
      </p:sp>
      <p:sp>
        <p:nvSpPr>
          <p:cNvPr id="26" name="card"/>
          <p:cNvSpPr/>
          <p:nvPr/>
        </p:nvSpPr>
        <p:spPr>
          <a:xfrm>
            <a:off x="6263640" y="4617720"/>
            <a:ext cx="5349240" cy="1051560"/>
          </a:xfrm>
          <a:prstGeom prst="roundRect">
            <a:avLst>
              <a:gd name="adj" fmla="val 8696"/>
            </a:avLst>
          </a:prstGeom>
          <a:solidFill>
            <a:schemeClr val="bg2"/>
          </a:solidFill>
          <a:ln w="12700">
            <a:solidFill>
              <a:schemeClr val="bg2"/>
            </a:solidFill>
            <a:prstDash val="solid"/>
          </a:ln>
        </p:spPr>
      </p:sp>
      <p:sp>
        <p:nvSpPr>
          <p:cNvPr id="27" name="Shape 24"/>
          <p:cNvSpPr/>
          <p:nvPr/>
        </p:nvSpPr>
        <p:spPr>
          <a:xfrm>
            <a:off x="6492240" y="4818888"/>
            <a:ext cx="420624" cy="420624"/>
          </a:xfrm>
          <a:prstGeom prst="ellipse">
            <a:avLst/>
          </a:prstGeom>
          <a:solidFill>
            <a:schemeClr val="accent1"/>
          </a:solidFill>
          <a:ln w="12700">
            <a:solidFill>
              <a:schemeClr val="accent1"/>
            </a:solidFill>
            <a:prstDash val="solid"/>
          </a:ln>
        </p:spPr>
      </p:sp>
      <p:sp>
        <p:nvSpPr>
          <p:cNvPr id="28" name="Text 25"/>
          <p:cNvSpPr txBox="1"/>
          <p:nvPr/>
        </p:nvSpPr>
        <p:spPr>
          <a:xfrm>
            <a:off x="6492240" y="481888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3</a:t>
            </a:r>
            <a:endParaRPr lang="ko-KR" altLang="en-US" sz="1500" dirty="0"/>
          </a:p>
        </p:txBody>
      </p:sp>
      <p:sp>
        <p:nvSpPr>
          <p:cNvPr id="29" name="Text 26"/>
          <p:cNvSpPr txBox="1"/>
          <p:nvPr/>
        </p:nvSpPr>
        <p:spPr>
          <a:xfrm>
            <a:off x="7086600" y="2377440"/>
            <a:ext cx="4343400" cy="822960"/>
          </a:xfrm>
          <a:prstGeom prst="rect">
            <a:avLst/>
          </a:prstGeom>
          <a:noFill/>
          <a:ln/>
        </p:spPr>
        <p:txBody>
          <a:bodyPr wrap="square" lIns="0" tIns="0" rIns="0" bIns="0" rtlCol="0" anchor="ctr"/>
          <a:lstStyle/>
          <a:p>
            <a:pPr indent="0" marL="0" eaLnBrk="0">
              <a:buNone/>
            </a:pPr>
            <a:r>
              <a:rPr lang="ko-KR" altLang="en-US" sz="1400" dirty="0">
                <a:solidFill>
                  <a:schemeClr val="tx2"/>
                </a:solidFill>
              </a:rPr>
              <a:t>동기 호출이라 느린 관찰자가 대상을 멈춘다.</a:t>
            </a:r>
            <a:endParaRPr lang="ko-KR" altLang="en-US" sz="1400" dirty="0"/>
          </a:p>
        </p:txBody>
      </p:sp>
      <p:sp>
        <p:nvSpPr>
          <p:cNvPr id="30" name="Text 27"/>
          <p:cNvSpPr txBox="1"/>
          <p:nvPr/>
        </p:nvSpPr>
        <p:spPr>
          <a:xfrm>
            <a:off x="7086600" y="3566160"/>
            <a:ext cx="4343400" cy="822960"/>
          </a:xfrm>
          <a:prstGeom prst="rect">
            <a:avLst/>
          </a:prstGeom>
          <a:noFill/>
          <a:ln/>
        </p:spPr>
        <p:txBody>
          <a:bodyPr wrap="square" lIns="0" tIns="0" rIns="0" bIns="0" rtlCol="0" anchor="ctr"/>
          <a:lstStyle/>
          <a:p>
            <a:pPr indent="0" marL="0" eaLnBrk="0">
              <a:buNone/>
            </a:pPr>
            <a:r>
              <a:rPr lang="ko-KR" altLang="en-US" sz="1400" dirty="0">
                <a:solidFill>
                  <a:schemeClr val="tx2"/>
                </a:solidFill>
              </a:rPr>
              <a:t>해제를 잊으면 사라진 리스너가 남는다.</a:t>
            </a:r>
            <a:endParaRPr lang="ko-KR" altLang="en-US" sz="1400" dirty="0"/>
          </a:p>
        </p:txBody>
      </p:sp>
      <p:sp>
        <p:nvSpPr>
          <p:cNvPr id="31" name="Text 28"/>
          <p:cNvSpPr txBox="1"/>
          <p:nvPr/>
        </p:nvSpPr>
        <p:spPr>
          <a:xfrm>
            <a:off x="7086600" y="4754880"/>
            <a:ext cx="4343400" cy="822960"/>
          </a:xfrm>
          <a:prstGeom prst="rect">
            <a:avLst/>
          </a:prstGeom>
          <a:noFill/>
          <a:ln/>
        </p:spPr>
        <p:txBody>
          <a:bodyPr wrap="square" lIns="0" tIns="0" rIns="0" bIns="0" rtlCol="0" anchor="ctr"/>
          <a:lstStyle/>
          <a:p>
            <a:pPr indent="0" marL="0" eaLnBrk="0">
              <a:buNone/>
            </a:pPr>
            <a:r>
              <a:rPr lang="ko-KR" altLang="en-US" sz="1400" dirty="0">
                <a:solidFill>
                  <a:schemeClr val="tx2"/>
                </a:solidFill>
              </a:rPr>
              <a:t>받는 쪽이 실행 중에 정해져 추적하기 어렵다.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29</a:t>
            </a:fld>
            <a:endParaRPr lang="ko-KR"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관련 패턴</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원서가 함께 소개하는 패턴들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Unity에서는 이 생각이 어디에 쓰이고 있을까?</a:t>
            </a:r>
            <a:endParaRPr lang="ko-KR" altLang="en-US" sz="1500" dirty="0"/>
          </a:p>
        </p:txBody>
      </p:sp>
      <p:sp>
        <p:nvSpPr>
          <p:cNvPr id="6" name="Shape 3"/>
          <p:cNvSpPr/>
          <p:nvPr/>
        </p:nvSpPr>
        <p:spPr>
          <a:xfrm>
            <a:off x="548640" y="1691640"/>
            <a:ext cx="11094415" cy="896112"/>
          </a:xfrm>
          <a:prstGeom prst="roundRect">
            <a:avLst>
              <a:gd name="adj" fmla="val 10204"/>
            </a:avLst>
          </a:prstGeom>
          <a:solidFill>
            <a:schemeClr val="bg2"/>
          </a:solidFill>
          <a:ln w="12700">
            <a:solidFill>
              <a:schemeClr val="bg2"/>
            </a:solidFill>
            <a:prstDash val="solid"/>
          </a:ln>
        </p:spPr>
      </p:sp>
      <p:sp>
        <p:nvSpPr>
          <p:cNvPr id="7" name="Text 4"/>
          <p:cNvSpPr txBox="1"/>
          <p:nvPr/>
        </p:nvSpPr>
        <p:spPr>
          <a:xfrm>
            <a:off x="822960" y="1764792"/>
            <a:ext cx="3291840"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이벤트 큐(Event Queue)</a:t>
            </a:r>
            <a:endParaRPr lang="ko-KR" altLang="en-US" sz="1700" dirty="0"/>
          </a:p>
        </p:txBody>
      </p:sp>
      <p:sp>
        <p:nvSpPr>
          <p:cNvPr id="8" name="Shape 5"/>
          <p:cNvSpPr/>
          <p:nvPr/>
        </p:nvSpPr>
        <p:spPr>
          <a:xfrm>
            <a:off x="822960" y="2194560"/>
            <a:ext cx="822960" cy="310896"/>
          </a:xfrm>
          <a:prstGeom prst="roundRect">
            <a:avLst>
              <a:gd name="adj" fmla="val 23529"/>
            </a:avLst>
          </a:prstGeom>
          <a:solidFill>
            <a:schemeClr val="accent1"/>
          </a:solidFill>
          <a:ln w="12700">
            <a:solidFill>
              <a:schemeClr val="accent1"/>
            </a:solidFill>
            <a:prstDash val="solid"/>
          </a:ln>
        </p:spPr>
      </p:sp>
      <p:sp>
        <p:nvSpPr>
          <p:cNvPr id="9" name="Text 6"/>
          <p:cNvSpPr txBox="1"/>
          <p:nvPr/>
        </p:nvSpPr>
        <p:spPr>
          <a:xfrm>
            <a:off x="822960" y="2194560"/>
            <a:ext cx="822960" cy="310896"/>
          </a:xfrm>
          <a:prstGeom prst="rect">
            <a:avLst/>
          </a:prstGeom>
          <a:noFill/>
          <a:ln/>
        </p:spPr>
        <p:txBody>
          <a:bodyPr wrap="square" lIns="0" tIns="0" rIns="0" bIns="0" rtlCol="0" anchor="ctr"/>
          <a:lstStyle/>
          <a:p>
            <a:pPr algn="ctr" indent="0" marL="0" eaLnBrk="0">
              <a:buNone/>
            </a:pPr>
            <a:r>
              <a:rPr lang="ko-KR" altLang="en-US" sz="1200" b="1" dirty="0">
                <a:solidFill>
                  <a:schemeClr val="bg1"/>
                </a:solidFill>
              </a:rPr>
              <a:t>10강</a:t>
            </a:r>
            <a:endParaRPr lang="ko-KR" altLang="en-US" sz="1200" dirty="0"/>
          </a:p>
        </p:txBody>
      </p:sp>
      <p:sp>
        <p:nvSpPr>
          <p:cNvPr id="10" name="Text 7"/>
          <p:cNvSpPr txBox="1"/>
          <p:nvPr/>
        </p:nvSpPr>
        <p:spPr>
          <a:xfrm>
            <a:off x="4297680" y="1783080"/>
            <a:ext cx="7071055" cy="713232"/>
          </a:xfrm>
          <a:prstGeom prst="rect">
            <a:avLst/>
          </a:prstGeom>
          <a:noFill/>
          <a:ln/>
        </p:spPr>
        <p:txBody>
          <a:bodyPr wrap="square" lIns="0" tIns="0" rIns="0" bIns="0" rtlCol="0" anchor="ctr"/>
          <a:lstStyle/>
          <a:p>
            <a:pPr indent="0" marL="0" eaLnBrk="0">
              <a:buNone/>
            </a:pPr>
            <a:r>
              <a:rPr lang="ko-KR" altLang="en-US" sz="1500" dirty="0">
                <a:solidFill>
                  <a:schemeClr val="tx2"/>
                </a:solidFill>
              </a:rPr>
              <a:t>알림을 바로 부르지 않고 줄에 넣었다가 나중에 처리한다. 동기 호출의 대안이다.</a:t>
            </a:r>
            <a:endParaRPr lang="ko-KR" altLang="en-US" sz="1500" dirty="0"/>
          </a:p>
        </p:txBody>
      </p:sp>
      <p:sp>
        <p:nvSpPr>
          <p:cNvPr id="11" name="Shape 8"/>
          <p:cNvSpPr/>
          <p:nvPr/>
        </p:nvSpPr>
        <p:spPr>
          <a:xfrm>
            <a:off x="548640" y="2697480"/>
            <a:ext cx="11094415" cy="896112"/>
          </a:xfrm>
          <a:prstGeom prst="roundRect">
            <a:avLst>
              <a:gd name="adj" fmla="val 10204"/>
            </a:avLst>
          </a:prstGeom>
          <a:solidFill>
            <a:schemeClr val="bg2"/>
          </a:solidFill>
          <a:ln w="12700">
            <a:solidFill>
              <a:schemeClr val="bg2"/>
            </a:solidFill>
            <a:prstDash val="solid"/>
          </a:ln>
        </p:spPr>
      </p:sp>
      <p:sp>
        <p:nvSpPr>
          <p:cNvPr id="12" name="Text 9"/>
          <p:cNvSpPr txBox="1"/>
          <p:nvPr/>
        </p:nvSpPr>
        <p:spPr>
          <a:xfrm>
            <a:off x="822960" y="2770632"/>
            <a:ext cx="3291840"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객체 풀(Object Pool)</a:t>
            </a:r>
            <a:endParaRPr lang="ko-KR" altLang="en-US" sz="1700" dirty="0"/>
          </a:p>
        </p:txBody>
      </p:sp>
      <p:sp>
        <p:nvSpPr>
          <p:cNvPr id="13" name="Shape 10"/>
          <p:cNvSpPr/>
          <p:nvPr/>
        </p:nvSpPr>
        <p:spPr>
          <a:xfrm>
            <a:off x="822960" y="3200400"/>
            <a:ext cx="822960" cy="310896"/>
          </a:xfrm>
          <a:prstGeom prst="roundRect">
            <a:avLst>
              <a:gd name="adj" fmla="val 23529"/>
            </a:avLst>
          </a:prstGeom>
          <a:solidFill>
            <a:schemeClr val="accent1"/>
          </a:solidFill>
          <a:ln w="12700">
            <a:solidFill>
              <a:schemeClr val="accent1"/>
            </a:solidFill>
            <a:prstDash val="solid"/>
          </a:ln>
        </p:spPr>
      </p:sp>
      <p:sp>
        <p:nvSpPr>
          <p:cNvPr id="14" name="Text 11"/>
          <p:cNvSpPr txBox="1"/>
          <p:nvPr/>
        </p:nvSpPr>
        <p:spPr>
          <a:xfrm>
            <a:off x="822960" y="3200400"/>
            <a:ext cx="822960" cy="310896"/>
          </a:xfrm>
          <a:prstGeom prst="rect">
            <a:avLst/>
          </a:prstGeom>
          <a:noFill/>
          <a:ln/>
        </p:spPr>
        <p:txBody>
          <a:bodyPr wrap="square" lIns="0" tIns="0" rIns="0" bIns="0" rtlCol="0" anchor="ctr"/>
          <a:lstStyle/>
          <a:p>
            <a:pPr algn="ctr" indent="0" marL="0" eaLnBrk="0">
              <a:buNone/>
            </a:pPr>
            <a:r>
              <a:rPr lang="ko-KR" altLang="en-US" sz="1200" b="1" dirty="0">
                <a:solidFill>
                  <a:schemeClr val="bg1"/>
                </a:solidFill>
              </a:rPr>
              <a:t>12강</a:t>
            </a:r>
            <a:endParaRPr lang="ko-KR" altLang="en-US" sz="1200" dirty="0"/>
          </a:p>
        </p:txBody>
      </p:sp>
      <p:sp>
        <p:nvSpPr>
          <p:cNvPr id="15" name="Text 12"/>
          <p:cNvSpPr txBox="1"/>
          <p:nvPr/>
        </p:nvSpPr>
        <p:spPr>
          <a:xfrm>
            <a:off x="4297680" y="2788920"/>
            <a:ext cx="7071055" cy="713232"/>
          </a:xfrm>
          <a:prstGeom prst="rect">
            <a:avLst/>
          </a:prstGeom>
          <a:noFill/>
          <a:ln/>
        </p:spPr>
        <p:txBody>
          <a:bodyPr wrap="square" lIns="0" tIns="0" rIns="0" bIns="0" rtlCol="0" anchor="ctr"/>
          <a:lstStyle/>
          <a:p>
            <a:pPr indent="0" marL="0" eaLnBrk="0">
              <a:buNone/>
            </a:pPr>
            <a:r>
              <a:rPr lang="ko-KR" altLang="en-US" sz="1500" dirty="0">
                <a:solidFill>
                  <a:schemeClr val="tx2"/>
                </a:solidFill>
              </a:rPr>
              <a:t>관찰자 목록의 노드를 미리 만들어 두고 꺼내 쓴다. 등록 때의 할당을 없앤다.</a:t>
            </a:r>
            <a:endParaRPr lang="ko-KR" altLang="en-US" sz="1500" dirty="0"/>
          </a:p>
        </p:txBody>
      </p:sp>
      <p:sp>
        <p:nvSpPr>
          <p:cNvPr id="16" name="Shape 13"/>
          <p:cNvSpPr/>
          <p:nvPr/>
        </p:nvSpPr>
        <p:spPr>
          <a:xfrm>
            <a:off x="548640" y="3703320"/>
            <a:ext cx="11094415" cy="896112"/>
          </a:xfrm>
          <a:prstGeom prst="roundRect">
            <a:avLst>
              <a:gd name="adj" fmla="val 10204"/>
            </a:avLst>
          </a:prstGeom>
          <a:solidFill>
            <a:schemeClr val="bg2"/>
          </a:solidFill>
          <a:ln w="12700">
            <a:solidFill>
              <a:schemeClr val="bg2"/>
            </a:solidFill>
            <a:prstDash val="solid"/>
          </a:ln>
        </p:spPr>
      </p:sp>
      <p:sp>
        <p:nvSpPr>
          <p:cNvPr id="17" name="Text 14"/>
          <p:cNvSpPr txBox="1"/>
          <p:nvPr/>
        </p:nvSpPr>
        <p:spPr>
          <a:xfrm>
            <a:off x="822960" y="3776472"/>
            <a:ext cx="3291840"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책임 연쇄</a:t>
            </a:r>
            <a:endParaRPr lang="ko-KR" altLang="en-US" sz="1700" dirty="0"/>
          </a:p>
        </p:txBody>
      </p:sp>
      <p:sp>
        <p:nvSpPr>
          <p:cNvPr id="18" name="Text 15"/>
          <p:cNvSpPr txBox="1"/>
          <p:nvPr/>
        </p:nvSpPr>
        <p:spPr>
          <a:xfrm>
            <a:off x="4297680" y="3794760"/>
            <a:ext cx="7071055" cy="713232"/>
          </a:xfrm>
          <a:prstGeom prst="rect">
            <a:avLst/>
          </a:prstGeom>
          <a:noFill/>
          <a:ln/>
        </p:spPr>
        <p:txBody>
          <a:bodyPr wrap="square" lIns="0" tIns="0" rIns="0" bIns="0" rtlCol="0" anchor="ctr"/>
          <a:lstStyle/>
          <a:p>
            <a:pPr indent="0" marL="0" eaLnBrk="0">
              <a:buNone/>
            </a:pPr>
            <a:r>
              <a:rPr lang="ko-KR" altLang="en-US" sz="1500" dirty="0">
                <a:solidFill>
                  <a:schemeClr val="tx2"/>
                </a:solidFill>
              </a:rPr>
              <a:t>OnNotify가 멈추라는 값을 돌려주면, 처리될 때까지 차례로 넘기는 구조가 된다.</a:t>
            </a:r>
            <a:endParaRPr lang="ko-KR" altLang="en-US" sz="1500" dirty="0"/>
          </a:p>
        </p:txBody>
      </p:sp>
      <p:sp>
        <p:nvSpPr>
          <p:cNvPr id="19" name="Shape 16"/>
          <p:cNvSpPr/>
          <p:nvPr/>
        </p:nvSpPr>
        <p:spPr>
          <a:xfrm>
            <a:off x="548640" y="4709160"/>
            <a:ext cx="11094415" cy="896112"/>
          </a:xfrm>
          <a:prstGeom prst="roundRect">
            <a:avLst>
              <a:gd name="adj" fmla="val 10204"/>
            </a:avLst>
          </a:prstGeom>
          <a:solidFill>
            <a:schemeClr val="bg2"/>
          </a:solidFill>
          <a:ln w="12700">
            <a:solidFill>
              <a:schemeClr val="bg2"/>
            </a:solidFill>
            <a:prstDash val="solid"/>
          </a:ln>
        </p:spPr>
      </p:sp>
      <p:sp>
        <p:nvSpPr>
          <p:cNvPr id="20" name="Text 17"/>
          <p:cNvSpPr txBox="1"/>
          <p:nvPr/>
        </p:nvSpPr>
        <p:spPr>
          <a:xfrm>
            <a:off x="822960" y="4782312"/>
            <a:ext cx="3291840"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모델-뷰-컨트롤러</a:t>
            </a:r>
            <a:endParaRPr lang="ko-KR" altLang="en-US" sz="1700" dirty="0"/>
          </a:p>
        </p:txBody>
      </p:sp>
      <p:sp>
        <p:nvSpPr>
          <p:cNvPr id="21" name="Text 18"/>
          <p:cNvSpPr txBox="1"/>
          <p:nvPr/>
        </p:nvSpPr>
        <p:spPr>
          <a:xfrm>
            <a:off x="4297680" y="4800600"/>
            <a:ext cx="7071055" cy="713232"/>
          </a:xfrm>
          <a:prstGeom prst="rect">
            <a:avLst/>
          </a:prstGeom>
          <a:noFill/>
          <a:ln/>
        </p:spPr>
        <p:txBody>
          <a:bodyPr wrap="square" lIns="0" tIns="0" rIns="0" bIns="0" rtlCol="0" anchor="ctr"/>
          <a:lstStyle/>
          <a:p>
            <a:pPr indent="0" marL="0" eaLnBrk="0">
              <a:buNone/>
            </a:pPr>
            <a:r>
              <a:rPr lang="ko-KR" altLang="en-US" sz="1500" dirty="0">
                <a:solidFill>
                  <a:schemeClr val="tx2"/>
                </a:solidFill>
              </a:rPr>
              <a:t>모델이 바뀌면 뷰가 알림을 받아 갱신한다. 관찰자 패턴 위에 세운 구조다.</a:t>
            </a:r>
            <a:endParaRPr lang="ko-KR" alt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30</a:t>
            </a:fld>
            <a:endParaRPr lang="ko-KR"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Unity에서</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Unity와 C#에도 관찰자가 이미 들어 있다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마지막으로 오늘 내용을 질문으로 확인해 보자.</a:t>
            </a:r>
            <a:endParaRPr lang="ko-KR" altLang="en-US" sz="15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3291840"/>
                <a:gridCol w="7802575"/>
              </a:tblGrid>
              <a:tr h="438912">
                <a:tc>
                  <a:txBody>
                    <a:bodyPr/>
                    <a:lstStyle/>
                    <a:p>
                      <a:pPr indent="0" marL="0" eaLnBrk="0">
                        <a:buNone/>
                      </a:pPr>
                      <a:r>
                        <a:rPr lang="ko-KR" altLang="en-US" sz="1400" b="1" dirty="0">
                          <a:solidFill>
                            <a:schemeClr val="bg1"/>
                          </a:solidFill>
                        </a:rPr>
                        <a:t>Unity · C# 기능</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400" b="1" dirty="0">
                          <a:solidFill>
                            <a:schemeClr val="bg1"/>
                          </a:solidFill>
                        </a:rPr>
                        <a:t>관찰자 패턴과의 관계</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r>
              <a:tr h="731520">
                <a:tc>
                  <a:txBody>
                    <a:bodyPr/>
                    <a:lstStyle/>
                    <a:p>
                      <a:pPr indent="0" marL="0" eaLnBrk="0">
                        <a:buNone/>
                      </a:pPr>
                      <a:r>
                        <a:rPr lang="ko-KR" altLang="en-US" sz="1400" b="1" dirty="0">
                          <a:solidFill>
                            <a:schemeClr val="tx1"/>
                          </a:solidFill>
                        </a:rPr>
                        <a:t>C#의 event, Action&lt;T&gt;</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관찰자가 메서드 참조인 오늘날의 관찰자. += 로 등록, -= 로 해제, Invoke로 알린다. (5부)</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731520">
                <a:tc>
                  <a:txBody>
                    <a:bodyPr/>
                    <a:lstStyle/>
                    <a:p>
                      <a:pPr indent="0" marL="0" eaLnBrk="0">
                        <a:buNone/>
                      </a:pPr>
                      <a:r>
                        <a:rPr lang="ko-KR" altLang="en-US" sz="1400" b="1" dirty="0">
                          <a:solidFill>
                            <a:schemeClr val="tx1"/>
                          </a:solidFill>
                        </a:rPr>
                        <a:t>UnityEvent (버튼의 onClick)</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Inspector나 AddListener, RemoveListener로 관찰자를 등록한다. 버튼이 대상이다.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731520">
                <a:tc>
                  <a:txBody>
                    <a:bodyPr/>
                    <a:lstStyle/>
                    <a:p>
                      <a:pPr indent="0" marL="0" eaLnBrk="0">
                        <a:buNone/>
                      </a:pPr>
                      <a:r>
                        <a:rPr lang="ko-KR" altLang="en-US" sz="1400" b="1" dirty="0">
                          <a:solidFill>
                            <a:schemeClr val="tx1"/>
                          </a:solidFill>
                        </a:rPr>
                        <a:t>OnEnable · OnDisable</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켜질 때 += , 꺼질 때 -= 로 짝지어 사라진 관찰자에 알림이 가지 않게 한다. (4부의 해제 규칙)</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731520">
                <a:tc>
                  <a:txBody>
                    <a:bodyPr/>
                    <a:lstStyle/>
                    <a:p>
                      <a:pPr indent="0" marL="0" eaLnBrk="0">
                        <a:buNone/>
                      </a:pPr>
                      <a:r>
                        <a:rPr lang="ko-KR" altLang="en-US" sz="1400" b="1" dirty="0">
                          <a:solidFill>
                            <a:schemeClr val="tx1"/>
                          </a:solidFill>
                        </a:rPr>
                        <a:t>Destroy한 컴포넌트</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C# 참조는 남지만 Unity 객체는 사라졌다. 알림을 받아 쓰면 MissingReferenceException이 난다.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731520">
                <a:tc>
                  <a:txBody>
                    <a:bodyPr/>
                    <a:lstStyle/>
                    <a:p>
                      <a:pPr indent="0" marL="0" eaLnBrk="0">
                        <a:buNone/>
                      </a:pPr>
                      <a:r>
                        <a:rPr lang="ko-KR" altLang="en-US" sz="1400" b="1" dirty="0">
                          <a:solidFill>
                            <a:schemeClr val="tx1"/>
                          </a:solidFill>
                        </a:rPr>
                        <a:t>SceneManager.sceneLoaded</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정적 이벤트라 장면이 바뀌어도 대상이 남는다. 해제를 잊으면 사라진 리스너 문제가 생긴다.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31</a:t>
            </a:fld>
            <a:endParaRPr lang="ko-KR"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확인 질문</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질문으로 다시 정리한다</a:t>
            </a:r>
            <a:endParaRPr lang="ko-KR" altLang="en-US" sz="26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5394960"/>
                <a:gridCol w="5699455"/>
              </a:tblGrid>
              <a:tr h="457200">
                <a:tc>
                  <a:txBody>
                    <a:bodyPr/>
                    <a:lstStyle/>
                    <a:p>
                      <a:pPr indent="0" marL="0" eaLnBrk="0">
                        <a:buNone/>
                      </a:pPr>
                      <a:r>
                        <a:rPr lang="ko-KR" altLang="en-US" sz="1500" b="1" dirty="0">
                          <a:solidFill>
                            <a:schemeClr val="bg1"/>
                          </a:solidFill>
                        </a:rPr>
                        <a:t>질문</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500" b="1" dirty="0">
                          <a:solidFill>
                            <a:schemeClr val="bg1"/>
                          </a:solidFill>
                        </a:rPr>
                        <a:t>답</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r>
              <a:tr h="658368">
                <a:tc>
                  <a:txBody>
                    <a:bodyPr/>
                    <a:lstStyle/>
                    <a:p>
                      <a:pPr indent="0" marL="0" eaLnBrk="0">
                        <a:buNone/>
                      </a:pPr>
                      <a:r>
                        <a:rPr lang="ko-KR" altLang="en-US" sz="1500" b="1" dirty="0">
                          <a:solidFill>
                            <a:schemeClr val="tx1"/>
                          </a:solidFill>
                        </a:rPr>
                        <a:t>대상은 관찰자에 대해 무엇을 아나?</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IObserver 약속만 안다. 누가 듣는지는 모른다.</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658368">
                <a:tc>
                  <a:txBody>
                    <a:bodyPr/>
                    <a:lstStyle/>
                    <a:p>
                      <a:pPr indent="0" marL="0" eaLnBrk="0">
                        <a:buNone/>
                      </a:pPr>
                      <a:r>
                        <a:rPr lang="ko-KR" altLang="en-US" sz="1500" b="1" dirty="0">
                          <a:solidFill>
                            <a:schemeClr val="tx1"/>
                          </a:solidFill>
                        </a:rPr>
                        <a:t>Notify를 protected로 두는 이유는?</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알림은 대상 자신만 보내게 하려고. 등록과 해제만 바깥에 연다.</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658368">
                <a:tc>
                  <a:txBody>
                    <a:bodyPr/>
                    <a:lstStyle/>
                    <a:p>
                      <a:pPr indent="0" marL="0" eaLnBrk="0">
                        <a:buNone/>
                      </a:pPr>
                      <a:r>
                        <a:rPr lang="ko-KR" altLang="en-US" sz="1500" b="1" dirty="0">
                          <a:solidFill>
                            <a:schemeClr val="tx1"/>
                          </a:solidFill>
                        </a:rPr>
                        <a:t>연결 리스트에 업적, 오디오 순으로 등록하면?</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오디오, 업적 순으로 알린다. 등록의 역순이다.</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658368">
                <a:tc>
                  <a:txBody>
                    <a:bodyPr/>
                    <a:lstStyle/>
                    <a:p>
                      <a:pPr indent="0" marL="0" eaLnBrk="0">
                        <a:buNone/>
                      </a:pPr>
                      <a:r>
                        <a:rPr lang="ko-KR" altLang="en-US" sz="1500" b="1" dirty="0">
                          <a:solidFill>
                            <a:schemeClr val="tx1"/>
                          </a:solidFill>
                        </a:rPr>
                        <a:t>닫은 화면이 가비지 컬렉터가 있는데도 남는 이유는?</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대상의 목록이 화면을 참조하기 때문이다. 사라진 리스너 문제다.</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658368">
                <a:tc>
                  <a:txBody>
                    <a:bodyPr/>
                    <a:lstStyle/>
                    <a:p>
                      <a:pPr indent="0" marL="0" eaLnBrk="0">
                        <a:buNone/>
                      </a:pPr>
                      <a:r>
                        <a:rPr lang="ko-KR" altLang="en-US" sz="1500" b="1" dirty="0">
                          <a:solidFill>
                            <a:schemeClr val="tx1"/>
                          </a:solidFill>
                        </a:rPr>
                        <a:t>C# event에서 등록, 해제, 알림에 해당하는 것은?</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 , -= , EntityFell?.Invoke(entity).</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bl>
          </a:graphicData>
        </a:graphic>
      </p:graphicFrame>
      <p:sp>
        <p:nvSpPr>
          <p:cNvPr id="6" name="Text 2"/>
          <p:cNvSpPr txBox="1"/>
          <p:nvPr/>
        </p:nvSpPr>
        <p:spPr>
          <a:xfrm>
            <a:off x="548640" y="5870448"/>
            <a:ext cx="11094415" cy="411480"/>
          </a:xfrm>
          <a:prstGeom prst="rect">
            <a:avLst/>
          </a:prstGeom>
          <a:noFill/>
          <a:ln/>
        </p:spPr>
        <p:txBody>
          <a:bodyPr wrap="square" lIns="0" tIns="0" rIns="0" bIns="0" rtlCol="0" anchor="t"/>
          <a:lstStyle/>
          <a:p>
            <a:pPr indent="0" marL="0" eaLnBrk="0">
              <a:buNone/>
            </a:pPr>
            <a:r>
              <a:rPr lang="ko-KR" altLang="en-US" sz="1500" b="1" dirty="0">
                <a:solidFill>
                  <a:schemeClr val="accent1"/>
                </a:solidFill>
              </a:rPr>
              <a:t>다음 강의  </a:t>
            </a:r>
            <a:pPr indent="0" marL="0" eaLnBrk="0">
              <a:buNone/>
            </a:pPr>
            <a:r>
              <a:rPr lang="ko-KR" altLang="en-US" sz="1500" dirty="0">
                <a:solidFill>
                  <a:schemeClr val="tx2"/>
                </a:solidFill>
              </a:rPr>
              <a:t>타입 객체(Type Object) 패턴: 종류마다 클래스를 만들지 않고, 종류를 데이터 객체로 표현한다.</a:t>
            </a:r>
            <a:endParaRPr lang="ko-KR" alt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32</a:t>
            </a:fld>
            <a:endParaRPr lang="ko-KR" altLang="en-US"/>
          </a:p>
        </p:txBody>
      </p:sp>
    </p:spTree>
  </p:cSld>
  <p:clrMapOvr>
    <a:masterClrMapping/>
  </p:clrMapOvr>
</p:sld>
</file>

<file path=ppt/theme/theme1.xml><?xml version="1.0" encoding="utf-8"?>
<a:theme xmlns:a="http://schemas.openxmlformats.org/drawingml/2006/main" name="Patterns Lecture">
  <a:themeElements>
    <a:clrScheme name="Patterns Lecture">
      <a:dk1>
        <a:srgbClr val="1F2430"/>
      </a:dk1>
      <a:lt1>
        <a:srgbClr val="FFFFFF"/>
      </a:lt1>
      <a:dk2>
        <a:srgbClr val="2B2D42"/>
      </a:dk2>
      <a:lt2>
        <a:srgbClr val="F1F3F6"/>
      </a:lt2>
      <a:accent1>
        <a:srgbClr val="E07A3F"/>
      </a:accent1>
      <a:accent2>
        <a:srgbClr val="2A9D8F"/>
      </a:accent2>
      <a:accent3>
        <a:srgbClr val="8D99AE"/>
      </a:accent3>
      <a:accent4>
        <a:srgbClr val="E9C46A"/>
      </a:accent4>
      <a:accent5>
        <a:srgbClr val="5C6577"/>
      </a:accent5>
      <a:accent6>
        <a:srgbClr val="C44536"/>
      </a:accent6>
      <a:hlink>
        <a:srgbClr val="2A9D8F"/>
      </a:hlink>
      <a:folHlink>
        <a:srgbClr val="5C6577"/>
      </a:folHlink>
    </a:clrScheme>
    <a:fontScheme name="Patterns Lecture">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6강 관찰자(Observer) 패턴</dc:title>
  <dc:subject>PptxGenJS Presentation</dc:subject>
  <dc:creator>Mini Tactics 패턴 수업</dc:creator>
  <cp:lastModifiedBy>Mini Tactics 패턴 수업</cp:lastModifiedBy>
  <cp:revision>1</cp:revision>
  <dcterms:created xsi:type="dcterms:W3CDTF">2026-10-27T07:27:46Z</dcterms:created>
  <dcterms:modified xsi:type="dcterms:W3CDTF">2026-10-27T07:27:46Z</dcterms:modified>
</cp:coreProperties>
</file>