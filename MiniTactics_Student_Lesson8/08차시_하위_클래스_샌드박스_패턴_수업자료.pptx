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1b37ebf7-10a2-c8d2-0b36-a757164c2260}">
          <p14:sldIdLst>
            <p14:sldId id="256"/>
            <p14:sldId id="257"/>
            <p14:sldId id="258"/>
          </p14:sldIdLst>
        </p14:section>
        <p14:section name="1 · 초능력 백 가지" id="{ec13a88d-115f-9faf-a7b2-11ec708daf65}">
          <p14:sldIdLst>
            <p14:sldId id="259"/>
            <p14:sldId id="260"/>
            <p14:sldId id="261"/>
            <p14:sldId id="262"/>
            <p14:sldId id="263"/>
          </p14:sldIdLst>
        </p14:section>
        <p14:section name="2 · 기반 클래스가 주는 도구" id="{f5db5cd1-464e-dbec-5e14-dc2fe0102774}">
          <p14:sldIdLst>
            <p14:sldId id="264"/>
            <p14:sldId id="265"/>
            <p14:sldId id="266"/>
            <p14:sldId id="267"/>
            <p14:sldId id="268"/>
          </p14:sldIdLst>
        </p14:section>
        <p14:section name="3 · 도구 늘리기" id="{6c2e25e9-f54a-47e9-bec0-78fc1debc65d}">
          <p14:sldIdLst>
            <p14:sldId id="269"/>
            <p14:sldId id="270"/>
            <p14:sldId id="271"/>
            <p14:sldId id="272"/>
            <p14:sldId id="273"/>
          </p14:sldIdLst>
        </p14:section>
        <p14:section name="4 · 설계 결정" id="{e02909c5-d41e-4f4d-52f0-1e8d0fe8c9fd}">
          <p14:sldIdLst>
            <p14:sldId id="274"/>
            <p14:sldId id="275"/>
            <p14:sldId id="276"/>
            <p14:sldId id="277"/>
            <p14:sldId id="278"/>
            <p14:sldId id="279"/>
            <p14:sldId id="280"/>
            <p14:sldId id="281"/>
          </p14:sldIdLst>
        </p14:section>
        <p14:section name="5 · 쓸 때와 주의점" id="{d372c3df-cbd3-5c27-0c44-140fb2e602b1}">
          <p14:sldIdLst>
            <p14:sldId id="282"/>
            <p14:sldId id="283"/>
            <p14:sldId id="284"/>
            <p14:sldId id="285"/>
            <p14:sldId id="286"/>
          </p14:sldIdLst>
        </p14:section>
        <p14:section name="정리" id="{98592f61-3071-fbbd-40a0-41cf3e895511}">
          <p14:sldIdLst>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오늘은 원서 「하위 클래스 샌드박스」 장의 순서를 그대로 따라갑니다. 초능력이 수백 가지인 슈퍼히어로 게임에서 출발해, 초능력 클래스들이 게임 엔진을 직접 건드릴 때의 문제를 보고, 기반 클래스가 도구를 나눠 주는 구조로 바꿉니다. 마지막으로 이 패턴을 쓸 때 정해야 할 설계 결정들을 살펴봅니다.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흐름은 다섯 단계입니다. 초능력 클래스가 엔진을 직접 부르는 상황에서 문제를 찾고, 기반 클래스가 도구를 주는 구조를 만듭니다. 그 도구를 늘려 더 복잡한 초능력을 만들고, 이 패턴을 쓸 때 정할 것들을 비교합니다. 마지막에 언제 쓰는지와 관련 패턴을 정리합니다.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원서가 밝히는 의도는 한 문장입니다. 기반 클래스가 제공하는 기능들을 써서 하위 클래스에서 행동을 정의한다는 것입니다. 기반 클래스는 소리 내기, 파티클 뿌리기, 움직이기 같은 도구를 줍니다. 하위 클래스는 비어 있는 메서드 하나를 그 도구들로 채웁니다. 이 메서드 안이 하위 클래스가 노는 모래 상자, 즉 샌드박스입니다.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슈퍼히어로 게임을 만듭니다. 기획자는 플레이어가 고를 초능력을 수십, 수백 가지 원합니다. 여기서 출발합니다.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계획은 단순합니다. Superpower라는 기반 클래스를 두고, 초능력마다 하위 클래스를 하나씩 만듭니다. 기획서를 팀원들에게 나눠 주고 각자 만들면 초능력 클래스가 백 개쯤 생깁니다. 문제는 초능력이 하는 일이 다양하다는 점입니다. 소리를 내고, 시각 효과를 만들고, AI와 주고받고, 다른 개체를 만들거나 없애고, 물리에도 손을 댑니다. 코드의 거의 모든 곳을 건드리게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동기 절을 코드로 옮겨 본 가상 코드입니다. 냉동 광선과 열 광선은 결국 꽤 비슷합니다. 두 사람이 따로 만들면 소리 재생, 파티클, 물리 코드가 거의 그대로 복사됩니다. 게다가 그래픽 엔진에는 바깥에서 쓰라고 연 층이 하나뿐인데도, 초능력 코드가 안쪽 층까지 직접 부르게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네 가지 문제를 듭니다. 첫째, 비슷한 초능력끼리 코드가 중복됩니다. 둘째, 엔진의 모든 부분이 초능력 클래스와 결합됩니다. 셋째, 그래서 오디오나 그래픽 시스템을 고치면 엉뚱한 초능력이 깨집니다. 그래픽이나 오디오 담당자가 게임플레이 코드까지 책임지게 되는 셈입니다. 넷째, 모든 초능력이 지켜야 할 규칙을 정하기 어렵습니다. 예를 들어 모든 소리를 줄 세우고 우선순위를 매기고 싶어도, 백 개의 클래스가 각자 사운드 엔진을 부르고 있으면 손쓸 방법이 없습니다.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초능력을 만드는 사람에게 갖고 놀 기본 도구들을 쥐여 줍니다. 소리를 내고 싶으면 PlaySound(), 파티클이 필요하면 SpawnParticles()를 쓰면 됩니다. 필요한 것을 도구가 다 덮어 주므로 엔진의 다른 곳을 뒤질 이유가 없습니다. 도구는 Superpower의 protected 메서드로 둡니다. protected는 하위 클래스가 부르라고 있는 메서드라는 표시입니다. 도구를 쓸 자리로는 하위 클래스가 반드시 구현할 protected 추상 메서드 하나를 둡니다. 이것이 샌드박스 메서드입니다.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예제 코드는 짧습니다. 패턴이 단순하기 때문입니다. 원서는 이 패턴의 핵심이 구현의 복잡함이 아니라 의도에 있다고 말합니다.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Activate()가 샌드박스 메서드입니다. abstract이므로 하위 클래스는 반드시 재정의해야 하고, 초능력을 만드는 사람은 할 일이 어디에 들어갈지 바로 압니다. 나머지 Move, PlaySound, SpawnParticles가 제공 기능입니다. 실제 게임에서는 이 메서드 안에서 물리 코드, 오디오 엔진, 파티클 시스템을 부릅니다. 즉 Superpower가 게임의 다른 시스템과 결합되는 곳은 이 메서드들뿐입니다. 원서는 Activate를 누가 부르는지는 다루지 않습니다. C#에서 게임 코드가 부르게 하려면 기반 클래스에 public 메서드를 하나 두고 그 안에서 Activate를 부르면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주인공을 공중으로 튀어 오르게 하는 초능력입니다. 원서도 그저 점프가 대단한 초능력은 아니라고 농담하지만, 기본을 보이기에는 충분합니다. 뛰는 소리를 내고, 먼지 파티클을 열 개 뿌리고, 위로 20만큼 움직입니다. 이 클래스가 부르는 것은 모두 Superpower의 protected 메서드입니다. 오디오 엔진도, 파티클 시스템도, 물리 코드도 직접 알지 못합니다.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왼쪽은 첫 시도입니다. 하위 클래스마다 여러 시스템과 직접 연결되어 선이 엉킵니다. 오른쪽은 패턴을 쓴 구조입니다. Superpower 자신은 여러 시스템과 결합되지만, 백 개의 하위 클래스는 기반 클래스 하나와만 결합됩니다. 상속 단계는 깊지 않지만 한 기반 클래스 아래에 하위 클래스가 넓게 달립니다. 원서는 이런 넓은 상속 트리가 깊은 트리보다 다루기 쉽다고 봅니다. Superpower에 들인 노력이 수많은 클래스에 한꺼번에 돌아갑니다.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1부에서 본 문제들이 실제로 어떻게 풀리는지 비교합니다. 오디오 엔진의 함수가 바뀌어도, 소리를 줄 세우는 규칙을 새로 만들어도, 고칠 곳은 PlaySound 하나입니다. 여러 하위 클래스에 같은 코드가 보이면 그 코드를 기반 클래스의 새 제공 기능으로 올립니다. 제공 기능을 가능한 한 높은 수준으로 만들수록 중복이 줄어듭니다.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SkyLaunch는 너무 단순합니다. 원서는 여기서 이 패턴이 정말 필요한 때가 언제인지 묻고, 도구를 하나씩 늘려 갑니다.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모든 초능력이 SkyLaunch처럼 소리, 파티클, 이동의 조합일 뿐이라면 이 패턴은 필요 없습니다. Superpower가 Activate를 직접 구현하고, 소리 ID, 파티클 종류, 이동 거리를 필드로 가지면 됩니다. 원서가 말로만 설명한 방법을 코드로 옮긴 가상 코드입니다. 이 방법은 모든 초능력이 같은 방식으로 움직이고 데이터만 다를 때만 통합니다. 그때는 7강의 타입 객체처럼 데이터로 정의하는 편이 낫습니다.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기반 클래스에 주인공의 위치를 돌려주는 메서드 세 개를 더합니다. 본문은 원서처럼 생략했습니다. 이 메서드들은 게임의 상태를 바꾸지 않고 읽기만 합니다. 하위 클래스는 이제 지금 주인공이 어디에 있는지 물어보고 그에 따라 다르게 행동할 수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상태를 읽을 수 있게 되자 샌드박스 메서드 안에 진짜 제어 흐름이 생겼습니다. 땅 위에 있으면 뛰어오르고, 땅 가까이 있으면 한 번 더 뛰는 2단 점프를 하고, 높이 떠 있으면 아래로 내리꽂는 급강하 공격을 합니다. 지금은 if 문 몇 개뿐이지만, 샌드박스 메서드는 온전한 메서드이므로 어떤 코드든 쓸 수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높이가 0이면 첫 번째 분기, 5이면 두 번째 분기로 갑니다. 10은 10보다 작지 않으므로 세 번째 분기로 갑니다. 마지막 줄의 어두운 상자는 원서의 덧붙임입니다. 행동이 이렇게 복잡한 명령형 흐름이면 데이터로 정의하기 어렵습니다. 그래서 초능력을 데이터로 정의하지 않고 이 패턴을 고르는 이유가 되기도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이 패턴을 무른 패턴이라고 부릅니다. 기본 생각은 분명하지만 세부 장치가 정해져 있지 않아서, 쓸 때마다 결정할 것이 많습니다. 세 가지 질문을 차례로 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19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가장 큰 질문입니다. 한쪽 끝은 기반 클래스가 아무 기능도 주지 않고 샌드박스 메서드만 두는 경우입니다. 하위 클래스는 바깥 시스템을 직접 불러야 하므로, 이 패턴을 쓴다고 말하기도 어렵습니다. 다른 끝은 하위 클래스에 필요한 모든 기능을 기반 클래스가 주는 경우입니다. 하위 클래스는 기반 클래스하고만 결합됩니다. 그 사이에 넓은 중간 지대가 있습니다. 기능을 많이 줄수록 하위 클래스의 결합은 줄고 기반 클래스의 결합은 늘어납니다. 결합을 없애는 것이 아니라 기반 클래스로 밀어 올리는 것입니다.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경험칙 세 가지입니다. 첫째, 한두 하위 클래스만 쓰는 기능은 기반 클래스를 복잡하게 만들 만큼의 이득이 없습니다. 그런 하위 클래스는 바깥 시스템을 직접 불러도 됩니다. 둘째, 상태를 바꾸지 않는 호출은 결합이 생기더라도 비교적 안전합니다. 다만 멀티스레드 게임이나 결정적 동기화가 필요한 온라인 게임에서는 읽기만 해도 문제가 될 수 있습니다. 상태를 바꾸는 호출은 결합이 깊으므로, 눈에 잘 띄는 기반 클래스의 제공 기능으로 올릴 좋은 후보입니다. 셋째, 바깥 메서드를 그대로 전달만 하는 기능은 가치가 적어 보입니다. 하지만 오른쪽 코드처럼 _soundEngine 필드를 하위 클래스에게서 감추는 효과가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제공 기능이 많아지면 기반 클래스에 메서드가 끝없이 쌓입니다. 왼쪽처럼 소리 관련 메서드 세 개를 Superpower에 직접 두는 대신, 오른쪽처럼 SoundPlayer 클래스로 옮기고 Superpower는 그 객체를 돌려주는 메서드 하나만 둘 수 있습니다. 원서의 setVolume에는 볼륨 값이 빠져 있어 C#으로 옮기며 volume 매개변수를 보탰습니다. 이렇게 옮기면 세 가지가 좋아집니다. 기반 클래스의 메서드 수가 셋에서 하나로 줄고, 덜 결합된 도우미 클래스의 코드는 고치기 쉽고, Superpower가 SoundId와 오디오 코드 대신 SoundPlayer 하나와만 결합됩니다.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기반 클래스는 하위 클래스에게 감추고 싶은 데이터를 갖는 경우가 많습니다. 예를 들어 SpawnParticles를 구현하려면 파티클 시스템 객체가 필요합니다. 가장 단순한 방법은 기반 클래스의 생성자 인자로 받는 것입니다. 그러면 초능력이 만들어질 때 반드시 파티클 시스템을 갖습니다. 하지만 SkyLaunch를 보면 문제가 드러납니다. 모든 하위 클래스가 기반 클래스의 생성자를 부르는 생성자를 갖고 그 인자를 넘겨야 합니다. 감추고 싶던 상태가 모든 하위 클래스에 드러나고, 기반 클래스에 상태가 하나 늘 때마다 모든 하위 클래스의 생성자를 고쳐야 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23</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초기화를 두 단계로 나눕니다. 생성자는 매개변수 없이 객체를 만들기만 하고, 그다음 기반 클래스에 정의된 Init 메서드로 나머지 데이터를 넘깁니다. SkyLaunch의 생성자에는 아무것도 넘기지 않으므로 SkyLaunch는 감춘 상태와 결합되지 않습니다. 문제는 Init을 반드시 불러야 한다는 점입니다. 잊으면 반쯤 만들어진, 동작하지 않는 초능력이 생깁니다. 그래서 만드는 과정 전체를 함수 하나로 묶습니다. C#에는 friend가 없지만, 생성자를 internal로 두면 같은 어셈블리 밖에서 직접 만드는 것은 막을 수 있습니다.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24</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왼쪽은 정적 상태입니다. 모든 초능력이 같은 파티클 시스템을 쓴다면, 기반 클래스의 private static 필드에 두고 게임 시작 때 Superpower.Init을 한 번만 부르면 됩니다. 초능력 객체는 원하는 하위 클래스의 생성자로 자유롭게 만들 수 있고, 객체마다 필드를 저장하지 않으므로 메모리도 아낍니다. 다만 여러 객체가 같은 상태를 공유하므로 5강 싱글턴의 문제가 상당 부분 남습니다. 오른쪽은 서비스 중개자입니다. 바깥 코드가 상태를 미리 넣어 주는 대신, 기반 클래스가 필요할 때 중개자에게서 스스로 가져옵니다. 서비스 중개자는 11강에서 자세히 배웁니다.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25</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네 방법을 정리합니다. 생성자와 2단계 초기화는 초능력 객체마다 상태를 넣습니다. 정적 상태는 기반 클래스에 한 번만 넣습니다. 서비스 중개자는 바깥에서 넣지 않고 기반 클래스가 가져옵니다. 초능력마다 다른 상태가 필요한지, 모두 같은 상태를 쓰는지에 따라 고릅니다.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26</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원서는 이 패턴이 게임 밖에서도 흔하다고 말합니다. protected 비가상 메서드를 두고 있다면 이미 비슷한 것을 쓰고 있을 가능성이 큽니다.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27</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왼쪽 네 가지가 원서가 드는 사용 조건입니다. 오른쪽은 주의점입니다. 상속이 요즘 비판받는 이유 중 하나는 기반 클래스에 코드가 계속 쌓이는 것인데, 이 패턴은 특히 그렇습니다. 하위 클래스가 기반 클래스를 거쳐 게임의 나머지에 닿으므로 기반 클래스는 모든 시스템과 결합되고, 하위 클래스도 기반 클래스에 단단히 묶입니다. 그래서 기반 클래스를 고치면 무언가 깨지기 쉽습니다. 이것을 취약한 기반 클래스 문제라고 부릅니다. 반대로 결합이 기반 클래스로 몰린 덕분에 대부분의 행동이 담긴 하위 클래스들은 깔끔하게 떨어져 있습니다. 기반 클래스가 너무 커지면 제공 기능 일부를 별도 클래스로 나누고, 이때 1강에서 본 컴포넌트 패턴이 도움이 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28</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두 패턴 모두 기본 동작 몇 개를 조합해 메서드 하나를 만듭니다. 하위 클래스 샌드박스에서는 조합하는 메서드가 하위 클래스에 있고, 기본 동작은 기반 클래스에 있습니다. 템플릿 메서드 패턴에서는 반대로 기반 클래스가 조합하는 메서드를 갖고, 기본 동작을 하위 클래스가 구현합니다. 원서는 그래서 하위 클래스 샌드박스를 템플릿 메서드의 역할을 뒤바꾼 패턴이라고 부릅니다.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29</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원서의 관련 자료 절과 본문에 나온 패턴들입니다. 업데이트 메서드 패턴의 업데이트 메서드는 흔히 샌드박스 메서드이기도 합니다. 템플릿 메서드는 앞에서 본 것처럼 역할이 뒤바뀐 패턴입니다. 퍼사드 패턴은 여러 시스템을 단순한 API 하나 뒤에 감추는데, 여기서는 기반 클래스가 게임 엔진 전체를 하위 클래스에게서 감추는 퍼사드 역할을 합니다. 컴포넌트는 1강에서 배웠습니다. 또 원서는 하위 클래스가 아주 많아지면 행동을 데이터로 정의하는 편이 나을 수 있다며 7강의 타입 객체, 9강의 바이트코드를 권합니다.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30</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Unity의 기능을 하위 클래스 샌드박스의 관점에서 봅니다. MonoBehaviour를 상속한 스크립트는 기반 클래스가 주는 transform, GetComponent, StartCoroutine 같은 기능으로 Update 같은 메서드를 채웁니다. 다만 Update는 가상 메서드를 재정의하는 것이 아니라 Unity가 이름으로 찾아 부르는 메서드이고, 제공 기능도 protected가 아니라 public입니다. StateMachineBehaviour와 Editor는 실제로 virtual 메서드를 재정의하는 형태입니다. 마지막 줄은 설계 결정 3과 이어집니다. MonoBehaviour는 생성자로 인자를 넘길 수 없으므로 AddComponent로 만든 뒤 초기화 메서드를 부르는 2단계 초기화가 흔합니다.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31</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0"/>
            <a:r>
              <a:rPr lang="ko-KR" altLang="en-US" dirty="0"/>
              <a:t>답을 가리고 먼저 학생에게 물어본 뒤 확인합니다. 다음 강의는 바이트코드(Bytecode) 패턴입니다. 오늘 원서가 하위 클래스가 너무 많을 때 권한 방법 가운데 하나입니다.</a:t>
            </a:r>
            <a:endParaRPr lang="ko-KR" altLang="en-US" dirty="0"/>
          </a:p>
        </p:txBody>
      </p:sp>
      <p:sp>
        <p:nvSpPr>
          <p:cNvPr id="4" name="Slide Number Placeholder 3"/>
          <p:cNvSpPr>
            <a:spLocks noGrp="1"/>
          </p:cNvSpPr>
          <p:nvPr>
            <p:ph type="sldNum" sz="quarter" idx="10"/>
          </p:nvPr>
        </p:nvSpPr>
        <p:spPr/>
        <p:txBody>
          <a:bodyPr/>
          <a:lstStyle/>
          <a:p>
            <a:pPr eaLnBrk="0"/>
            <a:fld id="{F7021451-1387-4CA6-816F-3879F97B5CBC}" type="slidenum">
              <a:rPr lang="ko-KR" altLang="en-US"/>
              <a:t>32</a:t>
            </a:fld>
            <a:endParaRPr lang="ko-KR"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lstStyle>
            <a:lvl1pPr algn="l" indent="0" marL="0" eaLnBrk="0">
              <a:buNone/>
              <a:defRPr lang="ko-KR" altLang="en-US" sz="4000" b="1" dirty="0">
                <a:solidFill>
                  <a:schemeClr val="bg1"/>
                </a:solidFill>
              </a:defRPr>
            </a:lvl1pPr>
          </a:lstStyle>
          <a:p>
            <a:pPr algn="l" indent="0" marL="0" eaLnBrk="0">
              <a:buNone/>
            </a:pP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1094415" cy="1097280"/>
          </a:xfrm>
          <a:prstGeom prst="rect">
            <a:avLst/>
          </a:prstGeom>
          <a:noFill/>
          <a:ln/>
        </p:spPr>
        <p:txBody>
          <a:bodyPr wrap="square" rtlCol="0"/>
          <a:lstStyle>
            <a:lvl1pPr algn="l" indent="0" marL="0" eaLnBrk="0">
              <a:buNone/>
              <a:defRPr lang="ko-KR" altLang="en-US" sz="3600" b="1" dirty="0">
                <a:solidFill>
                  <a:schemeClr val="bg1"/>
                </a:solidFill>
              </a:defRPr>
            </a:lvl1pPr>
          </a:lstStyle>
          <a:p>
            <a:pPr algn="l" indent="0" marL="0" eaLnBrk="0">
              <a:buNone/>
            </a:pPr>
            <a:endParaRPr lang="ko-KR" altLang="en-US" sz="3600" dirty="0"/>
          </a:p>
        </p:txBody>
      </p:sp>
      <p:sp>
        <p:nvSpPr>
          <p:cNvPr id="3" name="Text 0"/>
          <p:cNvSpPr/>
          <p:nvPr>
            <p:ph idx="101" type="body" hasCustomPrompt="1"/>
          </p:nvPr>
        </p:nvSpPr>
        <p:spPr>
          <a:xfrm>
            <a:off x="548640" y="3794760"/>
            <a:ext cx="11094415" cy="731520"/>
          </a:xfrm>
          <a:prstGeom prst="rect">
            <a:avLst/>
          </a:prstGeom>
          <a:noFill/>
          <a:ln/>
        </p:spPr>
        <p:txBody>
          <a:bodyPr wrap="square" rtlCol="0"/>
          <a:lstStyle>
            <a:lvl1pPr indent="0" marL="0" eaLnBrk="0">
              <a:buNone/>
              <a:defRPr lang="ko-KR" altLang="en-US" sz="1800" dirty="0">
                <a:solidFill>
                  <a:schemeClr val="accent3"/>
                </a:solidFill>
              </a:defRPr>
            </a:lvl1pPr>
          </a:lstStyle>
          <a:p>
            <a:pPr indent="0" marL="0" eaLnBrk="0">
              <a:buNone/>
            </a:pP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94415" cy="731520"/>
          </a:xfrm>
          <a:prstGeom prst="rect">
            <a:avLst/>
          </a:prstGeom>
          <a:noFill/>
          <a:ln/>
        </p:spPr>
        <p:txBody>
          <a:bodyPr wrap="square" rtlCol="0"/>
          <a:lstStyle>
            <a:lvl1pPr algn="l" indent="0" marL="0" eaLnBrk="0">
              <a:buNone/>
              <a:defRPr lang="ko-KR" altLang="en-US" sz="2600" b="1" dirty="0">
                <a:solidFill>
                  <a:schemeClr val="tx1"/>
                </a:solidFill>
              </a:defRPr>
            </a:lvl1pPr>
          </a:lstStyle>
          <a:p>
            <a:pPr algn="l" indent="0" marL="0" eaLnBrk="0">
              <a:buNone/>
            </a:pPr>
            <a:endParaRPr lang="ko-KR" altLang="en-US" sz="2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eaLnBrk="0">
              <a:buNone/>
            </a:pPr>
            <a:r>
              <a:rPr lang="ko-KR" altLang="en-US" sz="1000" dirty="0">
                <a:solidFill>
                  <a:schemeClr val="accent3"/>
                </a:solidFill>
              </a:rPr>
              <a:t>8강 · 하위 클래스 샌드박스(Subclass Sandbox) 패턴</a:t>
            </a:r>
            <a:endParaRPr lang="ko-KR" alt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1004</a:t>
            </a:fld>
            <a:endParaRPr lang="ko-KR"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eaLnBrk="0">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737360"/>
          </a:xfrm>
          <a:prstGeom prst="rect">
            <a:avLst/>
          </a:prstGeom>
          <a:noFill/>
          <a:ln/>
        </p:spPr>
        <p:txBody>
          <a:bodyPr wrap="square" rtlCol="0" anchor="b"/>
          <a:lstStyle/>
          <a:p>
            <a:pPr algn="l" indent="0" marL="0" eaLnBrk="0">
              <a:buNone/>
            </a:pPr>
            <a:r>
              <a:rPr lang="ko-KR" altLang="en-US" sz="4000" b="1" dirty="0">
                <a:solidFill>
                  <a:schemeClr val="bg1"/>
                </a:solidFill>
              </a:rPr>
              <a:t>8강 · 하위 클래스 샌드박스(Subclass Sandbox) 패턴</a:t>
            </a:r>
            <a:endParaRPr lang="ko-KR" altLang="en-US" sz="4000" dirty="0"/>
          </a:p>
        </p:txBody>
      </p:sp>
      <p:sp>
        <p:nvSpPr>
          <p:cNvPr id="3" name="Text 0"/>
          <p:cNvSpPr/>
          <p:nvPr>
            <p:ph idx="101" type="body" hasCustomPrompt="1"/>
          </p:nvPr>
        </p:nvSpPr>
        <p:spPr>
          <a:xfrm>
            <a:off x="548640" y="3931920"/>
            <a:ext cx="11094415" cy="1280160"/>
          </a:xfrm>
          <a:prstGeom prst="rect">
            <a:avLst/>
          </a:prstGeom>
          <a:noFill/>
          <a:ln/>
        </p:spPr>
        <p:txBody>
          <a:bodyPr wrap="square" rtlCol="0" anchor="t"/>
          <a:lstStyle/>
          <a:p>
            <a:pPr indent="0" marL="0" eaLnBrk="0">
              <a:buNone/>
            </a:pPr>
            <a:r>
              <a:rPr lang="ko-KR" altLang="en-US" sz="1800" dirty="0">
                <a:solidFill>
                  <a:schemeClr val="accent3"/>
                </a:solidFill>
              </a:rPr>
              <a:t>기반 클래스가 도구를 주고</a:t>
            </a:r>
            <a:endParaRPr lang="ko-KR" altLang="en-US" sz="1800" dirty="0"/>
          </a:p>
          <a:p>
            <a:pPr indent="0" marL="0" eaLnBrk="0">
              <a:buNone/>
            </a:pPr>
            <a:r>
              <a:rPr lang="ko-KR" altLang="en-US" sz="1800" dirty="0">
                <a:solidFill>
                  <a:schemeClr val="accent3"/>
                </a:solidFill>
              </a:rPr>
              <a:t>하위 클래스는 그 도구로만 행동을 만든다</a:t>
            </a:r>
            <a:endParaRPr lang="ko-KR" altLang="en-US" sz="1800" dirty="0"/>
          </a:p>
          <a:p>
            <a:pPr indent="0" marL="0" eaLnBrk="0">
              <a:buNone/>
            </a:pPr>
            <a:endParaRPr lang="ko-KR" altLang="en-US" sz="1800" dirty="0"/>
          </a:p>
          <a:p>
            <a:pPr indent="0" marL="0" eaLnBrk="0">
              <a:buNone/>
            </a:pPr>
            <a:r>
              <a:rPr lang="ko-KR" altLang="en-US" sz="1800" dirty="0">
                <a:solidFill>
                  <a:schemeClr val="accent3"/>
                </a:solidFill>
              </a:rPr>
              <a:t>교재: 로버트 나이스트롬, 『게임 프로그래밍 패턴』</a:t>
            </a:r>
            <a:endParaRPr lang="ko-KR" altLang="en-US" sz="1800" dirty="0"/>
          </a:p>
          <a:p>
            <a:pPr indent="0" marL="0" eaLnBrk="0">
              <a:buNone/>
            </a:pPr>
            <a:r>
              <a:rPr lang="ko-KR" altLang="en-US" sz="1800" dirty="0">
                <a:solidFill>
                  <a:schemeClr val="accent3"/>
                </a:solidFill>
              </a:rPr>
              <a:t>「하위 클래스 샌드박스」 장</a:t>
            </a:r>
            <a:endParaRPr lang="ko-KR" alt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오늘의 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초능력 백 가지가 기반 클래스 하나에만 기대기까지</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먼저, 하위 클래스 샌드박스 패턴은 한 문장으로 무엇일까?</a:t>
            </a:r>
            <a:endParaRPr lang="ko-KR" altLang="en-US" sz="1500" dirty="0"/>
          </a:p>
        </p:txBody>
      </p:sp>
      <p:sp>
        <p:nvSpPr>
          <p:cNvPr id="6" name="card"/>
          <p:cNvSpPr/>
          <p:nvPr/>
        </p:nvSpPr>
        <p:spPr>
          <a:xfrm>
            <a:off x="548640" y="1828800"/>
            <a:ext cx="2057400" cy="2103120"/>
          </a:xfrm>
          <a:prstGeom prst="roundRect">
            <a:avLst>
              <a:gd name="adj" fmla="val 4444"/>
            </a:avLst>
          </a:prstGeom>
          <a:solidFill>
            <a:schemeClr val="bg2"/>
          </a:solidFill>
          <a:ln w="12700">
            <a:solidFill>
              <a:schemeClr val="bg2"/>
            </a:solidFill>
            <a:prstDash val="solid"/>
          </a:ln>
        </p:spPr>
      </p:sp>
      <p:sp>
        <p:nvSpPr>
          <p:cNvPr id="7" name="Shape 4"/>
          <p:cNvSpPr/>
          <p:nvPr/>
        </p:nvSpPr>
        <p:spPr>
          <a:xfrm>
            <a:off x="777240" y="202996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777240"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초능력 백 가지</a:t>
            </a:r>
            <a:endParaRPr lang="ko-KR" altLang="en-US" sz="1500" dirty="0"/>
          </a:p>
        </p:txBody>
      </p:sp>
      <p:sp>
        <p:nvSpPr>
          <p:cNvPr id="10" name="Text 7"/>
          <p:cNvSpPr txBox="1"/>
          <p:nvPr/>
        </p:nvSpPr>
        <p:spPr>
          <a:xfrm>
            <a:off x="777240"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하위 클래스가 엔진을</a:t>
            </a:r>
            <a:endParaRPr lang="ko-KR" altLang="en-US" sz="1300" dirty="0"/>
          </a:p>
          <a:p>
            <a:pPr indent="0" marL="0" eaLnBrk="0">
              <a:buNone/>
            </a:pPr>
            <a:r>
              <a:rPr lang="ko-KR" altLang="en-US" sz="1300" dirty="0">
                <a:solidFill>
                  <a:schemeClr val="accent5"/>
                </a:solidFill>
              </a:rPr>
              <a:t>직접 부른다</a:t>
            </a:r>
            <a:endParaRPr lang="ko-KR" altLang="en-US" sz="1300" dirty="0"/>
          </a:p>
        </p:txBody>
      </p:sp>
      <p:sp>
        <p:nvSpPr>
          <p:cNvPr id="11" name="Shape 8"/>
          <p:cNvSpPr/>
          <p:nvPr/>
        </p:nvSpPr>
        <p:spPr>
          <a:xfrm>
            <a:off x="2651760" y="2880360"/>
            <a:ext cx="110414" cy="914"/>
          </a:xfrm>
          <a:prstGeom prst="line">
            <a:avLst/>
          </a:prstGeom>
          <a:noFill/>
          <a:ln w="22225">
            <a:solidFill>
              <a:schemeClr val="accent3"/>
            </a:solidFill>
            <a:prstDash val="solid"/>
            <a:tailEnd type="triangle"/>
          </a:ln>
        </p:spPr>
      </p:sp>
      <p:sp>
        <p:nvSpPr>
          <p:cNvPr id="12" name="card"/>
          <p:cNvSpPr/>
          <p:nvPr/>
        </p:nvSpPr>
        <p:spPr>
          <a:xfrm>
            <a:off x="2807894" y="1828800"/>
            <a:ext cx="2057400" cy="2103120"/>
          </a:xfrm>
          <a:prstGeom prst="roundRect">
            <a:avLst>
              <a:gd name="adj" fmla="val 4444"/>
            </a:avLst>
          </a:prstGeom>
          <a:solidFill>
            <a:schemeClr val="bg2"/>
          </a:solidFill>
          <a:ln w="12700">
            <a:solidFill>
              <a:schemeClr val="bg2"/>
            </a:solidFill>
            <a:prstDash val="solid"/>
          </a:ln>
        </p:spPr>
      </p:sp>
      <p:sp>
        <p:nvSpPr>
          <p:cNvPr id="13" name="Shape 10"/>
          <p:cNvSpPr/>
          <p:nvPr/>
        </p:nvSpPr>
        <p:spPr>
          <a:xfrm>
            <a:off x="3036494" y="2029968"/>
            <a:ext cx="420624" cy="420624"/>
          </a:xfrm>
          <a:prstGeom prst="ellipse">
            <a:avLst/>
          </a:prstGeom>
          <a:solidFill>
            <a:schemeClr val="accent1"/>
          </a:solidFill>
          <a:ln w="12700">
            <a:solidFill>
              <a:schemeClr val="accent1"/>
            </a:solidFill>
            <a:prstDash val="solid"/>
          </a:ln>
        </p:spPr>
      </p:sp>
      <p:sp>
        <p:nvSpPr>
          <p:cNvPr id="14" name="Text 11"/>
          <p:cNvSpPr txBox="1"/>
          <p:nvPr/>
        </p:nvSpPr>
        <p:spPr>
          <a:xfrm>
            <a:off x="3036494"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5" name="Text 12"/>
          <p:cNvSpPr txBox="1"/>
          <p:nvPr/>
        </p:nvSpPr>
        <p:spPr>
          <a:xfrm>
            <a:off x="3036494"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기반 클래스가</a:t>
            </a:r>
            <a:endParaRPr lang="ko-KR" altLang="en-US" sz="1500" dirty="0"/>
          </a:p>
          <a:p>
            <a:pPr indent="0" marL="0" eaLnBrk="0">
              <a:buNone/>
            </a:pPr>
            <a:r>
              <a:rPr lang="ko-KR" altLang="en-US" sz="1500" b="1" dirty="0">
                <a:solidFill>
                  <a:schemeClr val="tx1"/>
                </a:solidFill>
              </a:rPr>
              <a:t>주는 도구</a:t>
            </a:r>
            <a:endParaRPr lang="ko-KR" altLang="en-US" sz="1500" dirty="0"/>
          </a:p>
        </p:txBody>
      </p:sp>
      <p:sp>
        <p:nvSpPr>
          <p:cNvPr id="16" name="Text 13"/>
          <p:cNvSpPr txBox="1"/>
          <p:nvPr/>
        </p:nvSpPr>
        <p:spPr>
          <a:xfrm>
            <a:off x="3036494"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protected 도구와</a:t>
            </a:r>
            <a:endParaRPr lang="ko-KR" altLang="en-US" sz="1300" dirty="0"/>
          </a:p>
          <a:p>
            <a:pPr indent="0" marL="0" eaLnBrk="0">
              <a:buNone/>
            </a:pPr>
            <a:r>
              <a:rPr lang="ko-KR" altLang="en-US" sz="1300" dirty="0">
                <a:solidFill>
                  <a:schemeClr val="accent5"/>
                </a:solidFill>
              </a:rPr>
              <a:t>Activate()</a:t>
            </a:r>
            <a:endParaRPr lang="ko-KR" altLang="en-US" sz="1300" dirty="0"/>
          </a:p>
        </p:txBody>
      </p:sp>
      <p:sp>
        <p:nvSpPr>
          <p:cNvPr id="17" name="Shape 14"/>
          <p:cNvSpPr/>
          <p:nvPr/>
        </p:nvSpPr>
        <p:spPr>
          <a:xfrm>
            <a:off x="4911014" y="2880360"/>
            <a:ext cx="110414" cy="914"/>
          </a:xfrm>
          <a:prstGeom prst="line">
            <a:avLst/>
          </a:prstGeom>
          <a:noFill/>
          <a:ln w="22225">
            <a:solidFill>
              <a:schemeClr val="accent3"/>
            </a:solidFill>
            <a:prstDash val="solid"/>
            <a:tailEnd type="triangle"/>
          </a:ln>
        </p:spPr>
      </p:sp>
      <p:sp>
        <p:nvSpPr>
          <p:cNvPr id="18" name="card"/>
          <p:cNvSpPr/>
          <p:nvPr/>
        </p:nvSpPr>
        <p:spPr>
          <a:xfrm>
            <a:off x="5067148" y="1828800"/>
            <a:ext cx="2057400" cy="2103120"/>
          </a:xfrm>
          <a:prstGeom prst="roundRect">
            <a:avLst>
              <a:gd name="adj" fmla="val 4444"/>
            </a:avLst>
          </a:prstGeom>
          <a:solidFill>
            <a:schemeClr val="bg2"/>
          </a:solidFill>
          <a:ln w="12700">
            <a:solidFill>
              <a:schemeClr val="bg2"/>
            </a:solidFill>
            <a:prstDash val="solid"/>
          </a:ln>
        </p:spPr>
      </p:sp>
      <p:sp>
        <p:nvSpPr>
          <p:cNvPr id="19" name="Shape 16"/>
          <p:cNvSpPr/>
          <p:nvPr/>
        </p:nvSpPr>
        <p:spPr>
          <a:xfrm>
            <a:off x="5295748" y="2029968"/>
            <a:ext cx="420624" cy="420624"/>
          </a:xfrm>
          <a:prstGeom prst="ellipse">
            <a:avLst/>
          </a:prstGeom>
          <a:solidFill>
            <a:schemeClr val="accent1"/>
          </a:solidFill>
          <a:ln w="12700">
            <a:solidFill>
              <a:schemeClr val="accent1"/>
            </a:solidFill>
            <a:prstDash val="solid"/>
          </a:ln>
        </p:spPr>
      </p:sp>
      <p:sp>
        <p:nvSpPr>
          <p:cNvPr id="20" name="Text 17"/>
          <p:cNvSpPr txBox="1"/>
          <p:nvPr/>
        </p:nvSpPr>
        <p:spPr>
          <a:xfrm>
            <a:off x="5295748"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21" name="Text 18"/>
          <p:cNvSpPr txBox="1"/>
          <p:nvPr/>
        </p:nvSpPr>
        <p:spPr>
          <a:xfrm>
            <a:off x="5295748"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도구 늘리기</a:t>
            </a:r>
            <a:endParaRPr lang="ko-KR" altLang="en-US" sz="1500" dirty="0"/>
          </a:p>
        </p:txBody>
      </p:sp>
      <p:sp>
        <p:nvSpPr>
          <p:cNvPr id="22" name="Text 19"/>
          <p:cNvSpPr txBox="1"/>
          <p:nvPr/>
        </p:nvSpPr>
        <p:spPr>
          <a:xfrm>
            <a:off x="5295748"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상태를 묻고</a:t>
            </a:r>
            <a:endParaRPr lang="ko-KR" altLang="en-US" sz="1300" dirty="0"/>
          </a:p>
          <a:p>
            <a:pPr indent="0" marL="0" eaLnBrk="0">
              <a:buNone/>
            </a:pPr>
            <a:r>
              <a:rPr lang="ko-KR" altLang="en-US" sz="1300" dirty="0">
                <a:solidFill>
                  <a:schemeClr val="accent5"/>
                </a:solidFill>
              </a:rPr>
              <a:t>분기한다</a:t>
            </a:r>
            <a:endParaRPr lang="ko-KR" altLang="en-US" sz="1300" dirty="0"/>
          </a:p>
        </p:txBody>
      </p:sp>
      <p:sp>
        <p:nvSpPr>
          <p:cNvPr id="23" name="Shape 20"/>
          <p:cNvSpPr/>
          <p:nvPr/>
        </p:nvSpPr>
        <p:spPr>
          <a:xfrm>
            <a:off x="7170268" y="2880360"/>
            <a:ext cx="110414" cy="914"/>
          </a:xfrm>
          <a:prstGeom prst="line">
            <a:avLst/>
          </a:prstGeom>
          <a:noFill/>
          <a:ln w="22225">
            <a:solidFill>
              <a:schemeClr val="accent3"/>
            </a:solidFill>
            <a:prstDash val="solid"/>
            <a:tailEnd type="triangle"/>
          </a:ln>
        </p:spPr>
      </p:sp>
      <p:sp>
        <p:nvSpPr>
          <p:cNvPr id="24" name="card"/>
          <p:cNvSpPr/>
          <p:nvPr/>
        </p:nvSpPr>
        <p:spPr>
          <a:xfrm>
            <a:off x="7326401" y="1828800"/>
            <a:ext cx="2057400" cy="2103120"/>
          </a:xfrm>
          <a:prstGeom prst="roundRect">
            <a:avLst>
              <a:gd name="adj" fmla="val 4444"/>
            </a:avLst>
          </a:prstGeom>
          <a:solidFill>
            <a:schemeClr val="bg2"/>
          </a:solidFill>
          <a:ln w="12700">
            <a:solidFill>
              <a:schemeClr val="bg2"/>
            </a:solidFill>
            <a:prstDash val="solid"/>
          </a:ln>
        </p:spPr>
      </p:sp>
      <p:sp>
        <p:nvSpPr>
          <p:cNvPr id="25" name="Shape 22"/>
          <p:cNvSpPr/>
          <p:nvPr/>
        </p:nvSpPr>
        <p:spPr>
          <a:xfrm>
            <a:off x="7555001" y="2029968"/>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7555001"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7" name="Text 24"/>
          <p:cNvSpPr txBox="1"/>
          <p:nvPr/>
        </p:nvSpPr>
        <p:spPr>
          <a:xfrm>
            <a:off x="7555001"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설계 결정</a:t>
            </a:r>
            <a:endParaRPr lang="ko-KR" altLang="en-US" sz="1500" dirty="0"/>
          </a:p>
        </p:txBody>
      </p:sp>
      <p:sp>
        <p:nvSpPr>
          <p:cNvPr id="28" name="Text 25"/>
          <p:cNvSpPr txBox="1"/>
          <p:nvPr/>
        </p:nvSpPr>
        <p:spPr>
          <a:xfrm>
            <a:off x="7555001"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무엇을, 어떻게,</a:t>
            </a:r>
            <a:endParaRPr lang="ko-KR" altLang="en-US" sz="1300" dirty="0"/>
          </a:p>
          <a:p>
            <a:pPr indent="0" marL="0" eaLnBrk="0">
              <a:buNone/>
            </a:pPr>
            <a:r>
              <a:rPr lang="ko-KR" altLang="en-US" sz="1300" dirty="0">
                <a:solidFill>
                  <a:schemeClr val="accent5"/>
                </a:solidFill>
              </a:rPr>
              <a:t>상태는 어디서</a:t>
            </a:r>
            <a:endParaRPr lang="ko-KR" altLang="en-US" sz="1300" dirty="0"/>
          </a:p>
        </p:txBody>
      </p:sp>
      <p:sp>
        <p:nvSpPr>
          <p:cNvPr id="29" name="Shape 26"/>
          <p:cNvSpPr/>
          <p:nvPr/>
        </p:nvSpPr>
        <p:spPr>
          <a:xfrm>
            <a:off x="9429521" y="2880360"/>
            <a:ext cx="110414" cy="914"/>
          </a:xfrm>
          <a:prstGeom prst="line">
            <a:avLst/>
          </a:prstGeom>
          <a:noFill/>
          <a:ln w="22225">
            <a:solidFill>
              <a:schemeClr val="accent3"/>
            </a:solidFill>
            <a:prstDash val="solid"/>
            <a:tailEnd type="triangle"/>
          </a:ln>
        </p:spPr>
      </p:sp>
      <p:sp>
        <p:nvSpPr>
          <p:cNvPr id="30" name="card"/>
          <p:cNvSpPr/>
          <p:nvPr/>
        </p:nvSpPr>
        <p:spPr>
          <a:xfrm>
            <a:off x="9585655" y="1828800"/>
            <a:ext cx="2057400" cy="2103120"/>
          </a:xfrm>
          <a:prstGeom prst="roundRect">
            <a:avLst>
              <a:gd name="adj" fmla="val 4444"/>
            </a:avLst>
          </a:prstGeom>
          <a:solidFill>
            <a:schemeClr val="bg2"/>
          </a:solidFill>
          <a:ln w="12700">
            <a:solidFill>
              <a:schemeClr val="bg2"/>
            </a:solidFill>
            <a:prstDash val="solid"/>
          </a:ln>
        </p:spPr>
      </p:sp>
      <p:sp>
        <p:nvSpPr>
          <p:cNvPr id="31" name="Shape 28"/>
          <p:cNvSpPr/>
          <p:nvPr/>
        </p:nvSpPr>
        <p:spPr>
          <a:xfrm>
            <a:off x="9814255" y="2029968"/>
            <a:ext cx="420624" cy="420624"/>
          </a:xfrm>
          <a:prstGeom prst="ellipse">
            <a:avLst/>
          </a:prstGeom>
          <a:solidFill>
            <a:schemeClr val="accent1"/>
          </a:solidFill>
          <a:ln w="12700">
            <a:solidFill>
              <a:schemeClr val="accent1"/>
            </a:solidFill>
            <a:prstDash val="solid"/>
          </a:ln>
        </p:spPr>
      </p:sp>
      <p:sp>
        <p:nvSpPr>
          <p:cNvPr id="32" name="Text 29"/>
          <p:cNvSpPr txBox="1"/>
          <p:nvPr/>
        </p:nvSpPr>
        <p:spPr>
          <a:xfrm>
            <a:off x="9814255" y="202996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5</a:t>
            </a:r>
            <a:endParaRPr lang="ko-KR" altLang="en-US" sz="1500" dirty="0"/>
          </a:p>
        </p:txBody>
      </p:sp>
      <p:sp>
        <p:nvSpPr>
          <p:cNvPr id="33" name="Text 30"/>
          <p:cNvSpPr txBox="1"/>
          <p:nvPr/>
        </p:nvSpPr>
        <p:spPr>
          <a:xfrm>
            <a:off x="9814255" y="2606040"/>
            <a:ext cx="1691640" cy="640080"/>
          </a:xfrm>
          <a:prstGeom prst="rect">
            <a:avLst/>
          </a:prstGeom>
          <a:noFill/>
          <a:ln/>
        </p:spPr>
        <p:txBody>
          <a:bodyPr wrap="square" lIns="0" tIns="0" rIns="0" bIns="0" rtlCol="0" anchor="t"/>
          <a:lstStyle/>
          <a:p>
            <a:pPr indent="0" marL="0" eaLnBrk="0">
              <a:buNone/>
            </a:pPr>
            <a:r>
              <a:rPr lang="ko-KR" altLang="en-US" sz="1500" b="1" dirty="0">
                <a:solidFill>
                  <a:schemeClr val="tx1"/>
                </a:solidFill>
              </a:rPr>
              <a:t>쓸 때와 주의점</a:t>
            </a:r>
            <a:endParaRPr lang="ko-KR" altLang="en-US" sz="1500" dirty="0"/>
          </a:p>
        </p:txBody>
      </p:sp>
      <p:sp>
        <p:nvSpPr>
          <p:cNvPr id="34" name="Text 31"/>
          <p:cNvSpPr txBox="1"/>
          <p:nvPr/>
        </p:nvSpPr>
        <p:spPr>
          <a:xfrm>
            <a:off x="9814255" y="3291840"/>
            <a:ext cx="1691640" cy="548640"/>
          </a:xfrm>
          <a:prstGeom prst="rect">
            <a:avLst/>
          </a:prstGeom>
          <a:noFill/>
          <a:ln/>
        </p:spPr>
        <p:txBody>
          <a:bodyPr wrap="square" lIns="0" tIns="0" rIns="0" bIns="0" rtlCol="0" anchor="t"/>
          <a:lstStyle/>
          <a:p>
            <a:pPr indent="0" marL="0" eaLnBrk="0">
              <a:buNone/>
            </a:pPr>
            <a:r>
              <a:rPr lang="ko-KR" altLang="en-US" sz="1300" dirty="0">
                <a:solidFill>
                  <a:schemeClr val="accent5"/>
                </a:solidFill>
              </a:rPr>
              <a:t>관련 패턴,</a:t>
            </a:r>
            <a:endParaRPr lang="ko-KR" altLang="en-US" sz="1300" dirty="0"/>
          </a:p>
          <a:p>
            <a:pPr indent="0" marL="0" eaLnBrk="0">
              <a:buNone/>
            </a:pPr>
            <a:r>
              <a:rPr lang="ko-KR" altLang="en-US" sz="1300" dirty="0">
                <a:solidFill>
                  <a:schemeClr val="accent5"/>
                </a:solidFill>
              </a:rPr>
              <a:t>Unity 대응</a:t>
            </a:r>
            <a:endParaRPr lang="ko-KR" altLang="en-US" sz="1300" dirty="0"/>
          </a:p>
        </p:txBody>
      </p:sp>
      <p:sp>
        <p:nvSpPr>
          <p:cNvPr id="35" name="Text 32"/>
          <p:cNvSpPr txBox="1"/>
          <p:nvPr/>
        </p:nvSpPr>
        <p:spPr>
          <a:xfrm>
            <a:off x="548640" y="4434840"/>
            <a:ext cx="11094415" cy="548640"/>
          </a:xfrm>
          <a:prstGeom prst="rect">
            <a:avLst/>
          </a:prstGeom>
          <a:noFill/>
          <a:ln/>
        </p:spPr>
        <p:txBody>
          <a:bodyPr wrap="square" lIns="0" tIns="0" rIns="0" bIns="0" rtlCol="0" anchor="t"/>
          <a:lstStyle/>
          <a:p>
            <a:pPr indent="0" marL="0" eaLnBrk="0">
              <a:buNone/>
            </a:pPr>
            <a:r>
              <a:rPr lang="ko-KR" altLang="en-US" sz="1600" dirty="0">
                <a:solidFill>
                  <a:schemeClr val="tx2"/>
                </a:solidFill>
              </a:rPr>
              <a:t>오늘 예제는 원서와 같다: 슈퍼히어로 게임의 초능력 클래스들, 그리고 하늘로 뛰어오르는 초능력 SkyLaunch.</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정의</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기반 클래스가 준 기능으로 하위 클래스가 행동을 정의한다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왜 이런 구조가 필요할까? 초능력이 수백 가지인 게임부터 보자.</a:t>
            </a:r>
            <a:endParaRPr lang="ko-KR" altLang="en-US" sz="1500" dirty="0"/>
          </a:p>
        </p:txBody>
      </p:sp>
      <p:sp>
        <p:nvSpPr>
          <p:cNvPr id="6" name="Shape 3"/>
          <p:cNvSpPr/>
          <p:nvPr/>
        </p:nvSpPr>
        <p:spPr>
          <a:xfrm>
            <a:off x="548640" y="1691640"/>
            <a:ext cx="5120640" cy="2606040"/>
          </a:xfrm>
          <a:prstGeom prst="roundRect">
            <a:avLst>
              <a:gd name="adj" fmla="val 3509"/>
            </a:avLst>
          </a:prstGeom>
          <a:solidFill>
            <a:schemeClr val="bg2"/>
          </a:solidFill>
          <a:ln w="12700">
            <a:solidFill>
              <a:schemeClr val="bg2"/>
            </a:solidFill>
            <a:prstDash val="solid"/>
          </a:ln>
        </p:spPr>
      </p:sp>
      <p:sp>
        <p:nvSpPr>
          <p:cNvPr id="7" name="Text 4"/>
          <p:cNvSpPr txBox="1"/>
          <p:nvPr/>
        </p:nvSpPr>
        <p:spPr>
          <a:xfrm>
            <a:off x="822960" y="1828800"/>
            <a:ext cx="4572000" cy="411480"/>
          </a:xfrm>
          <a:prstGeom prst="rect">
            <a:avLst/>
          </a:prstGeom>
          <a:noFill/>
          <a:ln/>
        </p:spPr>
        <p:txBody>
          <a:bodyPr wrap="square" lIns="0" tIns="0" rIns="0" bIns="0" rtlCol="0" anchor="t"/>
          <a:lstStyle/>
          <a:p>
            <a:pPr indent="0" marL="0" eaLnBrk="0">
              <a:buNone/>
            </a:pPr>
            <a:r>
              <a:rPr lang="ko-KR" altLang="en-US" sz="1800" b="1" dirty="0">
                <a:solidFill>
                  <a:schemeClr val="accent2"/>
                </a:solidFill>
              </a:rPr>
              <a:t>기반 클래스: 도구를 준다</a:t>
            </a:r>
            <a:endParaRPr lang="ko-KR" altLang="en-US" sz="1800" dirty="0"/>
          </a:p>
        </p:txBody>
      </p:sp>
      <p:sp>
        <p:nvSpPr>
          <p:cNvPr id="8" name="box"/>
          <p:cNvSpPr/>
          <p:nvPr/>
        </p:nvSpPr>
        <p:spPr>
          <a:xfrm>
            <a:off x="822960" y="2377440"/>
            <a:ext cx="1463040" cy="594360"/>
          </a:xfrm>
          <a:prstGeom prst="roundRect">
            <a:avLst>
              <a:gd name="adj" fmla="val 12308"/>
            </a:avLst>
          </a:prstGeom>
          <a:solidFill>
            <a:schemeClr val="accent2"/>
          </a:solidFill>
          <a:ln w="12700">
            <a:solidFill>
              <a:schemeClr val="accent2"/>
            </a:solidFill>
            <a:prstDash val="solid"/>
          </a:ln>
        </p:spPr>
      </p:sp>
      <p:sp>
        <p:nvSpPr>
          <p:cNvPr id="9" name="Text 6"/>
          <p:cNvSpPr txBox="1"/>
          <p:nvPr/>
        </p:nvSpPr>
        <p:spPr>
          <a:xfrm>
            <a:off x="822960" y="2377440"/>
            <a:ext cx="1463040" cy="59436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Move()</a:t>
            </a:r>
            <a:endParaRPr lang="ko-KR" altLang="en-US" sz="1300" dirty="0"/>
          </a:p>
        </p:txBody>
      </p:sp>
      <p:sp>
        <p:nvSpPr>
          <p:cNvPr id="10" name="box"/>
          <p:cNvSpPr/>
          <p:nvPr/>
        </p:nvSpPr>
        <p:spPr>
          <a:xfrm>
            <a:off x="2377440" y="2377440"/>
            <a:ext cx="1463040" cy="594360"/>
          </a:xfrm>
          <a:prstGeom prst="roundRect">
            <a:avLst>
              <a:gd name="adj" fmla="val 12308"/>
            </a:avLst>
          </a:prstGeom>
          <a:solidFill>
            <a:schemeClr val="accent2"/>
          </a:solidFill>
          <a:ln w="12700">
            <a:solidFill>
              <a:schemeClr val="accent2"/>
            </a:solidFill>
            <a:prstDash val="solid"/>
          </a:ln>
        </p:spPr>
      </p:sp>
      <p:sp>
        <p:nvSpPr>
          <p:cNvPr id="11" name="Text 8"/>
          <p:cNvSpPr txBox="1"/>
          <p:nvPr/>
        </p:nvSpPr>
        <p:spPr>
          <a:xfrm>
            <a:off x="2377440" y="2377440"/>
            <a:ext cx="1463040" cy="59436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PlaySound()</a:t>
            </a:r>
            <a:endParaRPr lang="ko-KR" altLang="en-US" sz="1300" dirty="0"/>
          </a:p>
        </p:txBody>
      </p:sp>
      <p:sp>
        <p:nvSpPr>
          <p:cNvPr id="12" name="box"/>
          <p:cNvSpPr/>
          <p:nvPr/>
        </p:nvSpPr>
        <p:spPr>
          <a:xfrm>
            <a:off x="3931920" y="2377440"/>
            <a:ext cx="1463040" cy="594360"/>
          </a:xfrm>
          <a:prstGeom prst="roundRect">
            <a:avLst>
              <a:gd name="adj" fmla="val 12308"/>
            </a:avLst>
          </a:prstGeom>
          <a:solidFill>
            <a:schemeClr val="accent2"/>
          </a:solidFill>
          <a:ln w="12700">
            <a:solidFill>
              <a:schemeClr val="accent2"/>
            </a:solidFill>
            <a:prstDash val="solid"/>
          </a:ln>
        </p:spPr>
      </p:sp>
      <p:sp>
        <p:nvSpPr>
          <p:cNvPr id="13" name="Text 10"/>
          <p:cNvSpPr txBox="1"/>
          <p:nvPr/>
        </p:nvSpPr>
        <p:spPr>
          <a:xfrm>
            <a:off x="3931920" y="2377440"/>
            <a:ext cx="1463040" cy="59436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SpawnParticles()</a:t>
            </a:r>
            <a:endParaRPr lang="ko-KR" altLang="en-US" sz="1300" dirty="0"/>
          </a:p>
        </p:txBody>
      </p:sp>
      <p:sp>
        <p:nvSpPr>
          <p:cNvPr id="14" name="box"/>
          <p:cNvSpPr/>
          <p:nvPr/>
        </p:nvSpPr>
        <p:spPr>
          <a:xfrm>
            <a:off x="822960" y="3200400"/>
            <a:ext cx="4572000" cy="731520"/>
          </a:xfrm>
          <a:prstGeom prst="roundRect">
            <a:avLst>
              <a:gd name="adj" fmla="val 10000"/>
            </a:avLst>
          </a:prstGeom>
          <a:solidFill>
            <a:schemeClr val="bg1"/>
          </a:solidFill>
          <a:ln w="19050">
            <a:solidFill>
              <a:schemeClr val="accent6"/>
            </a:solidFill>
            <a:prstDash val="dash"/>
          </a:ln>
        </p:spPr>
      </p:sp>
      <p:sp>
        <p:nvSpPr>
          <p:cNvPr id="15" name="Text 12"/>
          <p:cNvSpPr txBox="1"/>
          <p:nvPr/>
        </p:nvSpPr>
        <p:spPr>
          <a:xfrm>
            <a:off x="822960" y="3200400"/>
            <a:ext cx="4572000" cy="731520"/>
          </a:xfrm>
          <a:prstGeom prst="rect">
            <a:avLst/>
          </a:prstGeom>
          <a:noFill/>
          <a:ln/>
        </p:spPr>
        <p:txBody>
          <a:bodyPr wrap="square" lIns="635" tIns="635" rIns="635" bIns="635" rtlCol="0" anchor="ctr"/>
          <a:lstStyle/>
          <a:p>
            <a:pPr algn="ctr" indent="0" marL="0" eaLnBrk="0">
              <a:buNone/>
            </a:pPr>
            <a:r>
              <a:rPr lang="ko-KR" altLang="en-US" sz="1500" b="1" dirty="0">
                <a:solidFill>
                  <a:schemeClr val="accent6"/>
                </a:solidFill>
              </a:rPr>
              <a:t>Activate()  비어 있는 샌드박스 메서드</a:t>
            </a:r>
            <a:endParaRPr lang="ko-KR" altLang="en-US" sz="1500" dirty="0"/>
          </a:p>
        </p:txBody>
      </p:sp>
      <p:sp>
        <p:nvSpPr>
          <p:cNvPr id="16" name="Shape 13"/>
          <p:cNvSpPr/>
          <p:nvPr/>
        </p:nvSpPr>
        <p:spPr>
          <a:xfrm>
            <a:off x="5806440" y="2971800"/>
            <a:ext cx="457200" cy="914"/>
          </a:xfrm>
          <a:prstGeom prst="line">
            <a:avLst/>
          </a:prstGeom>
          <a:noFill/>
          <a:ln w="31750">
            <a:solidFill>
              <a:schemeClr val="accent1"/>
            </a:solidFill>
            <a:prstDash val="solid"/>
            <a:tailEnd type="triangle"/>
          </a:ln>
        </p:spPr>
      </p:sp>
      <p:sp>
        <p:nvSpPr>
          <p:cNvPr id="17" name="Shape 14"/>
          <p:cNvSpPr/>
          <p:nvPr/>
        </p:nvSpPr>
        <p:spPr>
          <a:xfrm>
            <a:off x="6400800" y="1691640"/>
            <a:ext cx="5242255" cy="2606040"/>
          </a:xfrm>
          <a:prstGeom prst="roundRect">
            <a:avLst>
              <a:gd name="adj" fmla="val 3509"/>
            </a:avLst>
          </a:prstGeom>
          <a:solidFill>
            <a:schemeClr val="bg2"/>
          </a:solidFill>
          <a:ln w="12700">
            <a:solidFill>
              <a:schemeClr val="bg2"/>
            </a:solidFill>
            <a:prstDash val="solid"/>
          </a:ln>
        </p:spPr>
      </p:sp>
      <p:sp>
        <p:nvSpPr>
          <p:cNvPr id="18" name="Text 15"/>
          <p:cNvSpPr txBox="1"/>
          <p:nvPr/>
        </p:nvSpPr>
        <p:spPr>
          <a:xfrm>
            <a:off x="6675120" y="1828800"/>
            <a:ext cx="4693615" cy="411480"/>
          </a:xfrm>
          <a:prstGeom prst="rect">
            <a:avLst/>
          </a:prstGeom>
          <a:noFill/>
          <a:ln/>
        </p:spPr>
        <p:txBody>
          <a:bodyPr wrap="square" lIns="0" tIns="0" rIns="0" bIns="0" rtlCol="0" anchor="t"/>
          <a:lstStyle/>
          <a:p>
            <a:pPr indent="0" marL="0" eaLnBrk="0">
              <a:buNone/>
            </a:pPr>
            <a:r>
              <a:rPr lang="ko-KR" altLang="en-US" sz="1800" b="1" dirty="0">
                <a:solidFill>
                  <a:schemeClr val="accent1"/>
                </a:solidFill>
              </a:rPr>
              <a:t>하위 클래스: 도구로 행동을 만든다</a:t>
            </a:r>
            <a:endParaRPr lang="ko-KR" altLang="en-US" sz="1800" dirty="0"/>
          </a:p>
        </p:txBody>
      </p:sp>
      <p:sp>
        <p:nvSpPr>
          <p:cNvPr id="19" name="box"/>
          <p:cNvSpPr/>
          <p:nvPr/>
        </p:nvSpPr>
        <p:spPr>
          <a:xfrm>
            <a:off x="6675120" y="2377440"/>
            <a:ext cx="1737360" cy="502920"/>
          </a:xfrm>
          <a:prstGeom prst="roundRect">
            <a:avLst>
              <a:gd name="adj" fmla="val 14545"/>
            </a:avLst>
          </a:prstGeom>
          <a:solidFill>
            <a:schemeClr val="accent1"/>
          </a:solidFill>
          <a:ln w="12700">
            <a:solidFill>
              <a:schemeClr val="accent1"/>
            </a:solidFill>
            <a:prstDash val="solid"/>
          </a:ln>
        </p:spPr>
      </p:sp>
      <p:sp>
        <p:nvSpPr>
          <p:cNvPr id="20" name="Text 17"/>
          <p:cNvSpPr txBox="1"/>
          <p:nvPr/>
        </p:nvSpPr>
        <p:spPr>
          <a:xfrm>
            <a:off x="6675120" y="2377440"/>
            <a:ext cx="173736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SkyLaunch</a:t>
            </a:r>
            <a:endParaRPr lang="ko-KR" altLang="en-US" sz="1300" dirty="0"/>
          </a:p>
        </p:txBody>
      </p:sp>
      <p:sp>
        <p:nvSpPr>
          <p:cNvPr id="21" name="Text 18"/>
          <p:cNvSpPr txBox="1"/>
          <p:nvPr/>
        </p:nvSpPr>
        <p:spPr>
          <a:xfrm>
            <a:off x="8595360" y="2377440"/>
            <a:ext cx="2773375" cy="502920"/>
          </a:xfrm>
          <a:prstGeom prst="rect">
            <a:avLst/>
          </a:prstGeom>
          <a:noFill/>
          <a:ln/>
        </p:spPr>
        <p:txBody>
          <a:bodyPr wrap="square" lIns="0" tIns="0" rIns="0" bIns="0" rtlCol="0" anchor="ctr"/>
          <a:lstStyle/>
          <a:p>
            <a:pPr indent="0" marL="0" eaLnBrk="0">
              <a:buNone/>
            </a:pPr>
            <a:r>
              <a:rPr lang="ko-KR" altLang="en-US" sz="1400" dirty="0">
                <a:solidFill>
                  <a:schemeClr val="tx2"/>
                </a:solidFill>
              </a:rPr>
              <a:t>뛰어오르기를 만든다</a:t>
            </a:r>
            <a:endParaRPr lang="ko-KR" altLang="en-US" sz="1400" dirty="0"/>
          </a:p>
        </p:txBody>
      </p:sp>
      <p:sp>
        <p:nvSpPr>
          <p:cNvPr id="22" name="box"/>
          <p:cNvSpPr/>
          <p:nvPr/>
        </p:nvSpPr>
        <p:spPr>
          <a:xfrm>
            <a:off x="6675120" y="2971800"/>
            <a:ext cx="1737360" cy="502920"/>
          </a:xfrm>
          <a:prstGeom prst="roundRect">
            <a:avLst>
              <a:gd name="adj" fmla="val 14545"/>
            </a:avLst>
          </a:prstGeom>
          <a:solidFill>
            <a:schemeClr val="accent1"/>
          </a:solidFill>
          <a:ln w="12700">
            <a:solidFill>
              <a:schemeClr val="accent1"/>
            </a:solidFill>
            <a:prstDash val="solid"/>
          </a:ln>
        </p:spPr>
      </p:sp>
      <p:sp>
        <p:nvSpPr>
          <p:cNvPr id="23" name="Text 20"/>
          <p:cNvSpPr txBox="1"/>
          <p:nvPr/>
        </p:nvSpPr>
        <p:spPr>
          <a:xfrm>
            <a:off x="6675120" y="2971800"/>
            <a:ext cx="173736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FreezeRay</a:t>
            </a:r>
            <a:endParaRPr lang="ko-KR" altLang="en-US" sz="1300" dirty="0"/>
          </a:p>
        </p:txBody>
      </p:sp>
      <p:sp>
        <p:nvSpPr>
          <p:cNvPr id="24" name="Text 21"/>
          <p:cNvSpPr txBox="1"/>
          <p:nvPr/>
        </p:nvSpPr>
        <p:spPr>
          <a:xfrm>
            <a:off x="8595360" y="2971800"/>
            <a:ext cx="2773375" cy="502920"/>
          </a:xfrm>
          <a:prstGeom prst="rect">
            <a:avLst/>
          </a:prstGeom>
          <a:noFill/>
          <a:ln/>
        </p:spPr>
        <p:txBody>
          <a:bodyPr wrap="square" lIns="0" tIns="0" rIns="0" bIns="0" rtlCol="0" anchor="ctr"/>
          <a:lstStyle/>
          <a:p>
            <a:pPr indent="0" marL="0" eaLnBrk="0">
              <a:buNone/>
            </a:pPr>
            <a:r>
              <a:rPr lang="ko-KR" altLang="en-US" sz="1400" dirty="0">
                <a:solidFill>
                  <a:schemeClr val="tx2"/>
                </a:solidFill>
              </a:rPr>
              <a:t>냉동 광선을 만든다</a:t>
            </a:r>
            <a:endParaRPr lang="ko-KR" altLang="en-US" sz="1400" dirty="0"/>
          </a:p>
        </p:txBody>
      </p:sp>
      <p:sp>
        <p:nvSpPr>
          <p:cNvPr id="25" name="box"/>
          <p:cNvSpPr/>
          <p:nvPr/>
        </p:nvSpPr>
        <p:spPr>
          <a:xfrm>
            <a:off x="6675120" y="3566160"/>
            <a:ext cx="1737360" cy="502920"/>
          </a:xfrm>
          <a:prstGeom prst="roundRect">
            <a:avLst>
              <a:gd name="adj" fmla="val 14545"/>
            </a:avLst>
          </a:prstGeom>
          <a:solidFill>
            <a:schemeClr val="accent1"/>
          </a:solidFill>
          <a:ln w="12700">
            <a:solidFill>
              <a:schemeClr val="accent1"/>
            </a:solidFill>
            <a:prstDash val="solid"/>
          </a:ln>
        </p:spPr>
      </p:sp>
      <p:sp>
        <p:nvSpPr>
          <p:cNvPr id="26" name="Text 23"/>
          <p:cNvSpPr txBox="1"/>
          <p:nvPr/>
        </p:nvSpPr>
        <p:spPr>
          <a:xfrm>
            <a:off x="6675120" y="3566160"/>
            <a:ext cx="1737360" cy="50292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HeatRay</a:t>
            </a:r>
            <a:endParaRPr lang="ko-KR" altLang="en-US" sz="1300" dirty="0"/>
          </a:p>
        </p:txBody>
      </p:sp>
      <p:sp>
        <p:nvSpPr>
          <p:cNvPr id="27" name="Text 24"/>
          <p:cNvSpPr txBox="1"/>
          <p:nvPr/>
        </p:nvSpPr>
        <p:spPr>
          <a:xfrm>
            <a:off x="8595360" y="3566160"/>
            <a:ext cx="2773375" cy="502920"/>
          </a:xfrm>
          <a:prstGeom prst="rect">
            <a:avLst/>
          </a:prstGeom>
          <a:noFill/>
          <a:ln/>
        </p:spPr>
        <p:txBody>
          <a:bodyPr wrap="square" lIns="0" tIns="0" rIns="0" bIns="0" rtlCol="0" anchor="ctr"/>
          <a:lstStyle/>
          <a:p>
            <a:pPr indent="0" marL="0" eaLnBrk="0">
              <a:buNone/>
            </a:pPr>
            <a:r>
              <a:rPr lang="ko-KR" altLang="en-US" sz="1400" dirty="0">
                <a:solidFill>
                  <a:schemeClr val="tx2"/>
                </a:solidFill>
              </a:rPr>
              <a:t>열 광선을 만든다</a:t>
            </a:r>
            <a:endParaRPr lang="ko-KR" altLang="en-US" sz="1400" dirty="0"/>
          </a:p>
        </p:txBody>
      </p:sp>
      <p:sp>
        <p:nvSpPr>
          <p:cNvPr id="28" name="box"/>
          <p:cNvSpPr/>
          <p:nvPr/>
        </p:nvSpPr>
        <p:spPr>
          <a:xfrm>
            <a:off x="548640" y="4572000"/>
            <a:ext cx="11094415" cy="1005840"/>
          </a:xfrm>
          <a:prstGeom prst="roundRect">
            <a:avLst>
              <a:gd name="adj" fmla="val 7273"/>
            </a:avLst>
          </a:prstGeom>
          <a:solidFill>
            <a:schemeClr val="tx2"/>
          </a:solidFill>
          <a:ln w="12700">
            <a:solidFill>
              <a:schemeClr val="tx2"/>
            </a:solidFill>
            <a:prstDash val="solid"/>
          </a:ln>
        </p:spPr>
      </p:sp>
      <p:sp>
        <p:nvSpPr>
          <p:cNvPr id="29" name="Text 26"/>
          <p:cNvSpPr txBox="1"/>
          <p:nvPr/>
        </p:nvSpPr>
        <p:spPr>
          <a:xfrm>
            <a:off x="548640" y="4572000"/>
            <a:ext cx="11094415" cy="1005840"/>
          </a:xfrm>
          <a:prstGeom prst="rect">
            <a:avLst/>
          </a:prstGeom>
          <a:noFill/>
          <a:ln/>
        </p:spPr>
        <p:txBody>
          <a:bodyPr wrap="square" lIns="635" tIns="635" rIns="635" bIns="635" rtlCol="0" anchor="ctr"/>
          <a:lstStyle/>
          <a:p>
            <a:pPr algn="ctr" indent="0" marL="0" eaLnBrk="0">
              <a:buNone/>
            </a:pPr>
            <a:r>
              <a:rPr lang="ko-KR" altLang="en-US" sz="1700" dirty="0">
                <a:solidFill>
                  <a:schemeClr val="bg1"/>
                </a:solidFill>
              </a:rPr>
              <a:t>하위 클래스 샌드박스: 기반 클래스가 제공하는 기능들을 써서 하위 클래스에서 행동을 정의한다.</a:t>
            </a:r>
            <a:endParaRPr lang="ko-KR" altLang="en-US" sz="17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1부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초능력 백 가지</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동기</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문제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초능력마다 Superpower의 하위 클래스를 하나씩 만든다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팀원들이 각자 초능력 클래스를 만들면 어떤 코드가 나올까?</a:t>
            </a:r>
            <a:endParaRPr lang="ko-KR" altLang="en-US" sz="1500" dirty="0"/>
          </a:p>
        </p:txBody>
      </p:sp>
      <p:sp>
        <p:nvSpPr>
          <p:cNvPr id="6" name="box"/>
          <p:cNvSpPr/>
          <p:nvPr/>
        </p:nvSpPr>
        <p:spPr>
          <a:xfrm>
            <a:off x="4632808" y="1691640"/>
            <a:ext cx="2926080" cy="685800"/>
          </a:xfrm>
          <a:prstGeom prst="roundRect">
            <a:avLst>
              <a:gd name="adj" fmla="val 10667"/>
            </a:avLst>
          </a:prstGeom>
          <a:solidFill>
            <a:schemeClr val="tx2"/>
          </a:solidFill>
          <a:ln w="12700">
            <a:solidFill>
              <a:schemeClr val="tx2"/>
            </a:solidFill>
            <a:prstDash val="solid"/>
          </a:ln>
        </p:spPr>
      </p:sp>
      <p:sp>
        <p:nvSpPr>
          <p:cNvPr id="7" name="Text 4"/>
          <p:cNvSpPr txBox="1"/>
          <p:nvPr/>
        </p:nvSpPr>
        <p:spPr>
          <a:xfrm>
            <a:off x="4632808" y="1691640"/>
            <a:ext cx="2926080" cy="685800"/>
          </a:xfrm>
          <a:prstGeom prst="rect">
            <a:avLst/>
          </a:prstGeom>
          <a:noFill/>
          <a:ln/>
        </p:spPr>
        <p:txBody>
          <a:bodyPr wrap="square" lIns="635" tIns="635" rIns="635" bIns="635" rtlCol="0" anchor="ctr"/>
          <a:lstStyle/>
          <a:p>
            <a:pPr algn="ctr" indent="0" marL="0" eaLnBrk="0">
              <a:buNone/>
            </a:pPr>
            <a:r>
              <a:rPr lang="ko-KR" altLang="en-US" sz="1700" b="1" dirty="0">
                <a:solidFill>
                  <a:schemeClr val="bg1"/>
                </a:solidFill>
              </a:rPr>
              <a:t>Superpower</a:t>
            </a:r>
            <a:endParaRPr lang="ko-KR" altLang="en-US" sz="1700" dirty="0"/>
          </a:p>
        </p:txBody>
      </p:sp>
      <p:sp>
        <p:nvSpPr>
          <p:cNvPr id="8" name="box"/>
          <p:cNvSpPr/>
          <p:nvPr/>
        </p:nvSpPr>
        <p:spPr>
          <a:xfrm>
            <a:off x="548640" y="2926080"/>
            <a:ext cx="2377440" cy="868680"/>
          </a:xfrm>
          <a:prstGeom prst="roundRect">
            <a:avLst>
              <a:gd name="adj" fmla="val 8421"/>
            </a:avLst>
          </a:prstGeom>
          <a:solidFill>
            <a:schemeClr val="accent1"/>
          </a:solidFill>
          <a:ln w="12700">
            <a:solidFill>
              <a:schemeClr val="accent1"/>
            </a:solidFill>
            <a:prstDash val="solid"/>
          </a:ln>
        </p:spPr>
      </p:sp>
      <p:sp>
        <p:nvSpPr>
          <p:cNvPr id="9" name="Text 6"/>
          <p:cNvSpPr txBox="1"/>
          <p:nvPr/>
        </p:nvSpPr>
        <p:spPr>
          <a:xfrm>
            <a:off x="548640" y="2926080"/>
            <a:ext cx="2377440" cy="86868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FreezeRay</a:t>
            </a:r>
            <a:endParaRPr lang="ko-KR" altLang="en-US" sz="1500" dirty="0"/>
          </a:p>
          <a:p>
            <a:pPr algn="ctr" indent="0" marL="0" eaLnBrk="0">
              <a:buNone/>
            </a:pPr>
            <a:r>
              <a:rPr lang="ko-KR" altLang="en-US" sz="1500" b="1" dirty="0">
                <a:solidFill>
                  <a:schemeClr val="bg1"/>
                </a:solidFill>
              </a:rPr>
              <a:t>냉동 광선</a:t>
            </a:r>
            <a:endParaRPr lang="ko-KR" altLang="en-US" sz="1500" dirty="0"/>
          </a:p>
        </p:txBody>
      </p:sp>
      <p:sp>
        <p:nvSpPr>
          <p:cNvPr id="10" name="Shape 7"/>
          <p:cNvSpPr/>
          <p:nvPr/>
        </p:nvSpPr>
        <p:spPr>
          <a:xfrm flipV="1">
            <a:off x="1737360" y="2423160"/>
            <a:ext cx="4358488" cy="457200"/>
          </a:xfrm>
          <a:prstGeom prst="line">
            <a:avLst/>
          </a:prstGeom>
          <a:noFill/>
          <a:ln w="22225">
            <a:solidFill>
              <a:schemeClr val="accent3"/>
            </a:solidFill>
            <a:prstDash val="solid"/>
            <a:tailEnd type="triangle"/>
          </a:ln>
        </p:spPr>
      </p:sp>
      <p:sp>
        <p:nvSpPr>
          <p:cNvPr id="11" name="box"/>
          <p:cNvSpPr/>
          <p:nvPr/>
        </p:nvSpPr>
        <p:spPr>
          <a:xfrm>
            <a:off x="3454298" y="2926080"/>
            <a:ext cx="2377440" cy="868680"/>
          </a:xfrm>
          <a:prstGeom prst="roundRect">
            <a:avLst>
              <a:gd name="adj" fmla="val 8421"/>
            </a:avLst>
          </a:prstGeom>
          <a:solidFill>
            <a:schemeClr val="accent1"/>
          </a:solidFill>
          <a:ln w="12700">
            <a:solidFill>
              <a:schemeClr val="accent1"/>
            </a:solidFill>
            <a:prstDash val="solid"/>
          </a:ln>
        </p:spPr>
      </p:sp>
      <p:sp>
        <p:nvSpPr>
          <p:cNvPr id="12" name="Text 9"/>
          <p:cNvSpPr txBox="1"/>
          <p:nvPr/>
        </p:nvSpPr>
        <p:spPr>
          <a:xfrm>
            <a:off x="3454298" y="2926080"/>
            <a:ext cx="2377440" cy="86868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HeatRay</a:t>
            </a:r>
            <a:endParaRPr lang="ko-KR" altLang="en-US" sz="1500" dirty="0"/>
          </a:p>
          <a:p>
            <a:pPr algn="ctr" indent="0" marL="0" eaLnBrk="0">
              <a:buNone/>
            </a:pPr>
            <a:r>
              <a:rPr lang="ko-KR" altLang="en-US" sz="1500" b="1" dirty="0">
                <a:solidFill>
                  <a:schemeClr val="bg1"/>
                </a:solidFill>
              </a:rPr>
              <a:t>열 광선</a:t>
            </a:r>
            <a:endParaRPr lang="ko-KR" altLang="en-US" sz="1500" dirty="0"/>
          </a:p>
        </p:txBody>
      </p:sp>
      <p:sp>
        <p:nvSpPr>
          <p:cNvPr id="13" name="Shape 10"/>
          <p:cNvSpPr/>
          <p:nvPr/>
        </p:nvSpPr>
        <p:spPr>
          <a:xfrm flipV="1">
            <a:off x="4643018" y="2423160"/>
            <a:ext cx="1452829" cy="457200"/>
          </a:xfrm>
          <a:prstGeom prst="line">
            <a:avLst/>
          </a:prstGeom>
          <a:noFill/>
          <a:ln w="22225">
            <a:solidFill>
              <a:schemeClr val="accent3"/>
            </a:solidFill>
            <a:prstDash val="solid"/>
            <a:tailEnd type="triangle"/>
          </a:ln>
        </p:spPr>
      </p:sp>
      <p:sp>
        <p:nvSpPr>
          <p:cNvPr id="14" name="box"/>
          <p:cNvSpPr/>
          <p:nvPr/>
        </p:nvSpPr>
        <p:spPr>
          <a:xfrm>
            <a:off x="6359957" y="2926080"/>
            <a:ext cx="2377440" cy="868680"/>
          </a:xfrm>
          <a:prstGeom prst="roundRect">
            <a:avLst>
              <a:gd name="adj" fmla="val 8421"/>
            </a:avLst>
          </a:prstGeom>
          <a:solidFill>
            <a:schemeClr val="accent1"/>
          </a:solidFill>
          <a:ln w="12700">
            <a:solidFill>
              <a:schemeClr val="accent1"/>
            </a:solidFill>
            <a:prstDash val="solid"/>
          </a:ln>
        </p:spPr>
      </p:sp>
      <p:sp>
        <p:nvSpPr>
          <p:cNvPr id="15" name="Text 12"/>
          <p:cNvSpPr txBox="1"/>
          <p:nvPr/>
        </p:nvSpPr>
        <p:spPr>
          <a:xfrm>
            <a:off x="6359957" y="2926080"/>
            <a:ext cx="2377440" cy="86868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SkyLaunch</a:t>
            </a:r>
            <a:endParaRPr lang="ko-KR" altLang="en-US" sz="1500" dirty="0"/>
          </a:p>
          <a:p>
            <a:pPr algn="ctr" indent="0" marL="0" eaLnBrk="0">
              <a:buNone/>
            </a:pPr>
            <a:r>
              <a:rPr lang="ko-KR" altLang="en-US" sz="1500" b="1" dirty="0">
                <a:solidFill>
                  <a:schemeClr val="bg1"/>
                </a:solidFill>
              </a:rPr>
              <a:t>뛰어오르기</a:t>
            </a:r>
            <a:endParaRPr lang="ko-KR" altLang="en-US" sz="1500" dirty="0"/>
          </a:p>
        </p:txBody>
      </p:sp>
      <p:sp>
        <p:nvSpPr>
          <p:cNvPr id="16" name="Shape 13"/>
          <p:cNvSpPr/>
          <p:nvPr/>
        </p:nvSpPr>
        <p:spPr>
          <a:xfrm flipH="1" flipV="1">
            <a:off x="6095848" y="2423160"/>
            <a:ext cx="1452829" cy="457200"/>
          </a:xfrm>
          <a:prstGeom prst="line">
            <a:avLst/>
          </a:prstGeom>
          <a:noFill/>
          <a:ln w="22225">
            <a:solidFill>
              <a:schemeClr val="accent3"/>
            </a:solidFill>
            <a:prstDash val="solid"/>
            <a:tailEnd type="triangle"/>
          </a:ln>
        </p:spPr>
      </p:sp>
      <p:sp>
        <p:nvSpPr>
          <p:cNvPr id="17" name="box"/>
          <p:cNvSpPr/>
          <p:nvPr/>
        </p:nvSpPr>
        <p:spPr>
          <a:xfrm>
            <a:off x="9265615" y="2926080"/>
            <a:ext cx="2377440" cy="868680"/>
          </a:xfrm>
          <a:prstGeom prst="roundRect">
            <a:avLst>
              <a:gd name="adj" fmla="val 8421"/>
            </a:avLst>
          </a:prstGeom>
          <a:solidFill>
            <a:schemeClr val="bg1"/>
          </a:solidFill>
          <a:ln w="19050">
            <a:solidFill>
              <a:schemeClr val="accent6"/>
            </a:solidFill>
            <a:prstDash val="dash"/>
          </a:ln>
        </p:spPr>
      </p:sp>
      <p:sp>
        <p:nvSpPr>
          <p:cNvPr id="18" name="Text 15"/>
          <p:cNvSpPr txBox="1"/>
          <p:nvPr/>
        </p:nvSpPr>
        <p:spPr>
          <a:xfrm>
            <a:off x="9265615" y="2926080"/>
            <a:ext cx="2377440" cy="868680"/>
          </a:xfrm>
          <a:prstGeom prst="rect">
            <a:avLst/>
          </a:prstGeom>
          <a:noFill/>
          <a:ln/>
        </p:spPr>
        <p:txBody>
          <a:bodyPr wrap="square" lIns="635" tIns="635" rIns="635" bIns="635" rtlCol="0" anchor="ctr"/>
          <a:lstStyle/>
          <a:p>
            <a:pPr algn="ctr" indent="0" marL="0" eaLnBrk="0">
              <a:buNone/>
            </a:pPr>
            <a:r>
              <a:rPr lang="ko-KR" altLang="en-US" sz="1500" b="1" dirty="0">
                <a:solidFill>
                  <a:schemeClr val="accent5"/>
                </a:solidFill>
              </a:rPr>
              <a:t>…</a:t>
            </a:r>
            <a:endParaRPr lang="ko-KR" altLang="en-US" sz="1500" dirty="0"/>
          </a:p>
          <a:p>
            <a:pPr algn="ctr" indent="0" marL="0" eaLnBrk="0">
              <a:buNone/>
            </a:pPr>
            <a:r>
              <a:rPr lang="ko-KR" altLang="en-US" sz="1500" b="1" dirty="0">
                <a:solidFill>
                  <a:schemeClr val="accent5"/>
                </a:solidFill>
              </a:rPr>
              <a:t>수십~수백 개</a:t>
            </a:r>
            <a:endParaRPr lang="ko-KR" altLang="en-US" sz="1500" dirty="0"/>
          </a:p>
        </p:txBody>
      </p:sp>
      <p:sp>
        <p:nvSpPr>
          <p:cNvPr id="19" name="Shape 16"/>
          <p:cNvSpPr/>
          <p:nvPr/>
        </p:nvSpPr>
        <p:spPr>
          <a:xfrm flipH="1" flipV="1">
            <a:off x="6095848" y="2423160"/>
            <a:ext cx="4358488" cy="457200"/>
          </a:xfrm>
          <a:prstGeom prst="line">
            <a:avLst/>
          </a:prstGeom>
          <a:noFill/>
          <a:ln w="22225">
            <a:solidFill>
              <a:schemeClr val="accent3"/>
            </a:solidFill>
            <a:prstDash val="solid"/>
            <a:tailEnd type="triangle"/>
          </a:ln>
        </p:spPr>
      </p:sp>
      <p:sp>
        <p:nvSpPr>
          <p:cNvPr id="20" name="Text 17"/>
          <p:cNvSpPr txBox="1"/>
          <p:nvPr/>
        </p:nvSpPr>
        <p:spPr>
          <a:xfrm>
            <a:off x="548640" y="4069080"/>
            <a:ext cx="5486400"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초능력 하나가 하는 일</a:t>
            </a:r>
            <a:endParaRPr lang="ko-KR" altLang="en-US" sz="1600" dirty="0"/>
          </a:p>
        </p:txBody>
      </p:sp>
      <p:sp>
        <p:nvSpPr>
          <p:cNvPr id="21" name="box"/>
          <p:cNvSpPr/>
          <p:nvPr/>
        </p:nvSpPr>
        <p:spPr>
          <a:xfrm>
            <a:off x="548640" y="4526280"/>
            <a:ext cx="2011680" cy="548640"/>
          </a:xfrm>
          <a:prstGeom prst="roundRect">
            <a:avLst>
              <a:gd name="adj" fmla="val 13333"/>
            </a:avLst>
          </a:prstGeom>
          <a:solidFill>
            <a:schemeClr val="bg2"/>
          </a:solidFill>
          <a:ln w="12700">
            <a:solidFill>
              <a:schemeClr val="bg2"/>
            </a:solidFill>
            <a:prstDash val="solid"/>
          </a:ln>
        </p:spPr>
      </p:sp>
      <p:sp>
        <p:nvSpPr>
          <p:cNvPr id="22" name="Text 19"/>
          <p:cNvSpPr txBox="1"/>
          <p:nvPr/>
        </p:nvSpPr>
        <p:spPr>
          <a:xfrm>
            <a:off x="548640" y="4526280"/>
            <a:ext cx="2011680" cy="54864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소리 재생</a:t>
            </a:r>
            <a:endParaRPr lang="ko-KR" altLang="en-US" sz="1400" dirty="0"/>
          </a:p>
        </p:txBody>
      </p:sp>
      <p:sp>
        <p:nvSpPr>
          <p:cNvPr id="23" name="box"/>
          <p:cNvSpPr/>
          <p:nvPr/>
        </p:nvSpPr>
        <p:spPr>
          <a:xfrm>
            <a:off x="2819324" y="4526280"/>
            <a:ext cx="2011680" cy="548640"/>
          </a:xfrm>
          <a:prstGeom prst="roundRect">
            <a:avLst>
              <a:gd name="adj" fmla="val 13333"/>
            </a:avLst>
          </a:prstGeom>
          <a:solidFill>
            <a:schemeClr val="bg2"/>
          </a:solidFill>
          <a:ln w="12700">
            <a:solidFill>
              <a:schemeClr val="bg2"/>
            </a:solidFill>
            <a:prstDash val="solid"/>
          </a:ln>
        </p:spPr>
      </p:sp>
      <p:sp>
        <p:nvSpPr>
          <p:cNvPr id="24" name="Text 21"/>
          <p:cNvSpPr txBox="1"/>
          <p:nvPr/>
        </p:nvSpPr>
        <p:spPr>
          <a:xfrm>
            <a:off x="2819324" y="4526280"/>
            <a:ext cx="2011680" cy="54864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시각 효과</a:t>
            </a:r>
            <a:endParaRPr lang="ko-KR" altLang="en-US" sz="1400" dirty="0"/>
          </a:p>
        </p:txBody>
      </p:sp>
      <p:sp>
        <p:nvSpPr>
          <p:cNvPr id="25" name="box"/>
          <p:cNvSpPr/>
          <p:nvPr/>
        </p:nvSpPr>
        <p:spPr>
          <a:xfrm>
            <a:off x="5090008" y="4526280"/>
            <a:ext cx="2011680" cy="548640"/>
          </a:xfrm>
          <a:prstGeom prst="roundRect">
            <a:avLst>
              <a:gd name="adj" fmla="val 13333"/>
            </a:avLst>
          </a:prstGeom>
          <a:solidFill>
            <a:schemeClr val="bg2"/>
          </a:solidFill>
          <a:ln w="12700">
            <a:solidFill>
              <a:schemeClr val="bg2"/>
            </a:solidFill>
            <a:prstDash val="solid"/>
          </a:ln>
        </p:spPr>
      </p:sp>
      <p:sp>
        <p:nvSpPr>
          <p:cNvPr id="26" name="Text 23"/>
          <p:cNvSpPr txBox="1"/>
          <p:nvPr/>
        </p:nvSpPr>
        <p:spPr>
          <a:xfrm>
            <a:off x="5090008" y="4526280"/>
            <a:ext cx="2011680" cy="54864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AI와 상호작용</a:t>
            </a:r>
            <a:endParaRPr lang="ko-KR" altLang="en-US" sz="1400" dirty="0"/>
          </a:p>
        </p:txBody>
      </p:sp>
      <p:sp>
        <p:nvSpPr>
          <p:cNvPr id="27" name="box"/>
          <p:cNvSpPr/>
          <p:nvPr/>
        </p:nvSpPr>
        <p:spPr>
          <a:xfrm>
            <a:off x="7360691" y="4526280"/>
            <a:ext cx="2011680" cy="548640"/>
          </a:xfrm>
          <a:prstGeom prst="roundRect">
            <a:avLst>
              <a:gd name="adj" fmla="val 13333"/>
            </a:avLst>
          </a:prstGeom>
          <a:solidFill>
            <a:schemeClr val="bg2"/>
          </a:solidFill>
          <a:ln w="12700">
            <a:solidFill>
              <a:schemeClr val="bg2"/>
            </a:solidFill>
            <a:prstDash val="solid"/>
          </a:ln>
        </p:spPr>
      </p:sp>
      <p:sp>
        <p:nvSpPr>
          <p:cNvPr id="28" name="Text 25"/>
          <p:cNvSpPr txBox="1"/>
          <p:nvPr/>
        </p:nvSpPr>
        <p:spPr>
          <a:xfrm>
            <a:off x="7360691" y="4526280"/>
            <a:ext cx="2011680" cy="54864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개체 생성·삭제</a:t>
            </a:r>
            <a:endParaRPr lang="ko-KR" altLang="en-US" sz="1400" dirty="0"/>
          </a:p>
        </p:txBody>
      </p:sp>
      <p:sp>
        <p:nvSpPr>
          <p:cNvPr id="29" name="box"/>
          <p:cNvSpPr/>
          <p:nvPr/>
        </p:nvSpPr>
        <p:spPr>
          <a:xfrm>
            <a:off x="9631375" y="4526280"/>
            <a:ext cx="2011680" cy="548640"/>
          </a:xfrm>
          <a:prstGeom prst="roundRect">
            <a:avLst>
              <a:gd name="adj" fmla="val 13333"/>
            </a:avLst>
          </a:prstGeom>
          <a:solidFill>
            <a:schemeClr val="bg2"/>
          </a:solidFill>
          <a:ln w="12700">
            <a:solidFill>
              <a:schemeClr val="bg2"/>
            </a:solidFill>
            <a:prstDash val="solid"/>
          </a:ln>
        </p:spPr>
      </p:sp>
      <p:sp>
        <p:nvSpPr>
          <p:cNvPr id="30" name="Text 27"/>
          <p:cNvSpPr txBox="1"/>
          <p:nvPr/>
        </p:nvSpPr>
        <p:spPr>
          <a:xfrm>
            <a:off x="9631375" y="4526280"/>
            <a:ext cx="2011680" cy="54864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물리</a:t>
            </a:r>
            <a:endParaRPr lang="ko-KR" altLang="en-US" sz="1400" dirty="0"/>
          </a:p>
        </p:txBody>
      </p:sp>
      <p:sp>
        <p:nvSpPr>
          <p:cNvPr id="31" name="Text 28"/>
          <p:cNvSpPr txBox="1"/>
          <p:nvPr/>
        </p:nvSpPr>
        <p:spPr>
          <a:xfrm>
            <a:off x="548640" y="5257800"/>
            <a:ext cx="11094415" cy="411480"/>
          </a:xfrm>
          <a:prstGeom prst="rect">
            <a:avLst/>
          </a:prstGeom>
          <a:noFill/>
          <a:ln/>
        </p:spPr>
        <p:txBody>
          <a:bodyPr wrap="square" lIns="0" tIns="0" rIns="0" bIns="0" rtlCol="0" anchor="t"/>
          <a:lstStyle/>
          <a:p>
            <a:pPr indent="0" marL="0" eaLnBrk="0">
              <a:buNone/>
            </a:pPr>
            <a:r>
              <a:rPr lang="ko-KR" altLang="en-US" sz="1500" dirty="0">
                <a:solidFill>
                  <a:schemeClr val="tx2"/>
                </a:solidFill>
              </a:rPr>
              <a:t>초능력 클래스가 건드리지 않는 코드가 거의 없다.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첫 시도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초능력 클래스가 엔진의 시스템을 직접 부른다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이렇게 백 개를 만들면 무엇이 문제가 될까?</a:t>
            </a:r>
            <a:endParaRPr lang="ko-KR" altLang="en-US" sz="1500" dirty="0"/>
          </a:p>
        </p:txBody>
      </p:sp>
      <p:sp>
        <p:nvSpPr>
          <p:cNvPr id="6" name="codePanel"/>
          <p:cNvSpPr/>
          <p:nvPr/>
        </p:nvSpPr>
        <p:spPr>
          <a:xfrm>
            <a:off x="548640" y="1645920"/>
            <a:ext cx="6766560" cy="3977640"/>
          </a:xfrm>
          <a:prstGeom prst="roundRect">
            <a:avLst>
              <a:gd name="adj" fmla="val 1839"/>
            </a:avLst>
          </a:prstGeom>
          <a:solidFill>
            <a:schemeClr val="tx1"/>
          </a:solidFill>
          <a:ln w="12700">
            <a:solidFill>
              <a:schemeClr val="tx1"/>
            </a:solidFill>
            <a:prstDash val="solid"/>
          </a:ln>
        </p:spPr>
      </p:sp>
      <p:sp>
        <p:nvSpPr>
          <p:cNvPr id="7" name="code"/>
          <p:cNvSpPr txBox="1"/>
          <p:nvPr/>
        </p:nvSpPr>
        <p:spPr>
          <a:xfrm>
            <a:off x="658368" y="1737360"/>
            <a:ext cx="6547104" cy="3794760"/>
          </a:xfrm>
          <a:prstGeom prst="rect">
            <a:avLst/>
          </a:prstGeom>
          <a:noFill/>
          <a:ln/>
        </p:spPr>
        <p:txBody>
          <a:bodyPr wrap="square" lIns="635" tIns="635" rIns="635" bIns="635" rtlCol="0" anchor="t"/>
          <a:lstStyle/>
          <a:p>
            <a:pPr indent="0" marL="0" eaLnBrk="0">
              <a:buNone/>
            </a:pPr>
            <a:r>
              <a:rPr lang="ko-KR" altLang="en-US" sz="1200" dirty="0">
                <a:solidFill>
                  <a:schemeClr val="accent3"/>
                </a:solidFill>
                <a:latin typeface="Consolas" pitchFamily="34" charset="0"/>
                <a:ea typeface="Consolas" pitchFamily="34" charset="-122"/>
                <a:cs typeface="Consolas" pitchFamily="34" charset="-120"/>
              </a:rPr>
              <a:t>// 설계 비교용 가상 코드</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class FreezeRay : Superpower</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override void Activate()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AudioEngine.Play(SoundId.Zap, 1.0);</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RenderLayer3.Emit(ParticleType.Ice, 30);</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PhysicsWorld.Push(HeroBody, 0, 0, 5);</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class HeatRay : Superpower</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public override void Activate()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AudioEngine.Play(SoundId.Zap, 1.0);</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RenderLayer3.Emit(ParticleType.Fire, 30);</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PhysicsWorld.Push(HeroBody, 0, 0, 5);</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ard"/>
          <p:cNvSpPr/>
          <p:nvPr/>
        </p:nvSpPr>
        <p:spPr>
          <a:xfrm>
            <a:off x="7680960" y="1645920"/>
            <a:ext cx="3962095" cy="1828800"/>
          </a:xfrm>
          <a:prstGeom prst="roundRect">
            <a:avLst>
              <a:gd name="adj" fmla="val 5000"/>
            </a:avLst>
          </a:prstGeom>
          <a:solidFill>
            <a:schemeClr val="bg2"/>
          </a:solidFill>
          <a:ln w="12700">
            <a:solidFill>
              <a:schemeClr val="bg2"/>
            </a:solidFill>
            <a:prstDash val="solid"/>
          </a:ln>
        </p:spPr>
      </p:sp>
      <p:sp>
        <p:nvSpPr>
          <p:cNvPr id="9" name="Text 6"/>
          <p:cNvSpPr txBox="1"/>
          <p:nvPr/>
        </p:nvSpPr>
        <p:spPr>
          <a:xfrm>
            <a:off x="7909560" y="186537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같은 세 줄</a:t>
            </a:r>
            <a:endParaRPr lang="ko-KR" altLang="en-US" sz="1700" dirty="0"/>
          </a:p>
        </p:txBody>
      </p:sp>
      <p:sp>
        <p:nvSpPr>
          <p:cNvPr id="10" name="Text 7"/>
          <p:cNvSpPr txBox="1"/>
          <p:nvPr/>
        </p:nvSpPr>
        <p:spPr>
          <a:xfrm>
            <a:off x="7909560" y="2377440"/>
            <a:ext cx="3504895" cy="960120"/>
          </a:xfrm>
          <a:prstGeom prst="rect">
            <a:avLst/>
          </a:prstGeom>
          <a:noFill/>
          <a:ln/>
        </p:spPr>
        <p:txBody>
          <a:bodyPr wrap="square" lIns="0" tIns="0" rIns="0" bIns="0" rtlCol="0" anchor="t"/>
          <a:lstStyle/>
          <a:p>
            <a:pPr indent="0" marL="0" eaLnBrk="0">
              <a:buNone/>
            </a:pPr>
            <a:r>
              <a:rPr lang="ko-KR" altLang="en-US" sz="1400" dirty="0">
                <a:solidFill>
                  <a:schemeClr val="tx2"/>
                </a:solidFill>
              </a:rPr>
              <a:t>광선 초능력마다 거의 같은 코드가 복사된다.</a:t>
            </a:r>
            <a:endParaRPr lang="ko-KR" altLang="en-US" sz="1400" dirty="0"/>
          </a:p>
        </p:txBody>
      </p:sp>
      <p:sp>
        <p:nvSpPr>
          <p:cNvPr id="11" name="card"/>
          <p:cNvSpPr/>
          <p:nvPr/>
        </p:nvSpPr>
        <p:spPr>
          <a:xfrm>
            <a:off x="7680960" y="3657600"/>
            <a:ext cx="3962095" cy="1965960"/>
          </a:xfrm>
          <a:prstGeom prst="roundRect">
            <a:avLst>
              <a:gd name="adj" fmla="val 4651"/>
            </a:avLst>
          </a:prstGeom>
          <a:solidFill>
            <a:schemeClr val="bg2"/>
          </a:solidFill>
          <a:ln w="12700">
            <a:solidFill>
              <a:schemeClr val="bg2"/>
            </a:solidFill>
            <a:prstDash val="solid"/>
          </a:ln>
        </p:spPr>
      </p:sp>
      <p:sp>
        <p:nvSpPr>
          <p:cNvPr id="12" name="Text 9"/>
          <p:cNvSpPr txBox="1"/>
          <p:nvPr/>
        </p:nvSpPr>
        <p:spPr>
          <a:xfrm>
            <a:off x="7909560" y="387705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엔진의 안쪽까지</a:t>
            </a:r>
            <a:endParaRPr lang="ko-KR" altLang="en-US" sz="1700" dirty="0"/>
          </a:p>
        </p:txBody>
      </p:sp>
      <p:sp>
        <p:nvSpPr>
          <p:cNvPr id="13" name="Text 10"/>
          <p:cNvSpPr txBox="1"/>
          <p:nvPr/>
        </p:nvSpPr>
        <p:spPr>
          <a:xfrm>
            <a:off x="7909560" y="4389120"/>
            <a:ext cx="3504895"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RenderLayer3은 그래픽 엔진 바깥에서 쓰라고 연 층이 아니다. 그래도 초능력이 직접 부른다.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한계</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중복, 결합, 깨짐, 지킬 수 없는 규칙</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초능력 클래스가 엔진을 직접 만지지 않게 하려면 무엇을 줘야 할까?</a:t>
            </a:r>
            <a:endParaRPr lang="ko-KR" altLang="en-US" sz="1500" dirty="0"/>
          </a:p>
        </p:txBody>
      </p:sp>
      <p:sp>
        <p:nvSpPr>
          <p:cNvPr id="6" name="card"/>
          <p:cNvSpPr/>
          <p:nvPr/>
        </p:nvSpPr>
        <p:spPr>
          <a:xfrm>
            <a:off x="548640" y="1691640"/>
            <a:ext cx="5410048" cy="1874520"/>
          </a:xfrm>
          <a:prstGeom prst="roundRect">
            <a:avLst>
              <a:gd name="adj" fmla="val 4878"/>
            </a:avLst>
          </a:prstGeom>
          <a:solidFill>
            <a:schemeClr val="bg2"/>
          </a:solidFill>
          <a:ln w="12700">
            <a:solidFill>
              <a:schemeClr val="bg2"/>
            </a:solidFill>
            <a:prstDash val="solid"/>
          </a:ln>
        </p:spPr>
      </p:sp>
      <p:sp>
        <p:nvSpPr>
          <p:cNvPr id="7" name="Shape 4"/>
          <p:cNvSpPr/>
          <p:nvPr/>
        </p:nvSpPr>
        <p:spPr>
          <a:xfrm>
            <a:off x="777240" y="189280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911096"/>
            <a:ext cx="444992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중복 코드</a:t>
            </a:r>
            <a:endParaRPr lang="ko-KR" altLang="en-US" sz="1700" dirty="0"/>
          </a:p>
        </p:txBody>
      </p:sp>
      <p:sp>
        <p:nvSpPr>
          <p:cNvPr id="10" name="Text 7"/>
          <p:cNvSpPr txBox="1"/>
          <p:nvPr/>
        </p:nvSpPr>
        <p:spPr>
          <a:xfrm>
            <a:off x="1325880" y="2350008"/>
            <a:ext cx="4449928"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냉동 광선, 열 광선처럼 비슷한 초능력이 같은 방식으로 소리와 효과를 만든다. 서로 맞추지 않으면 같은 코드가 여러 벌 생긴다.</a:t>
            </a:r>
            <a:endParaRPr lang="ko-KR" altLang="en-US" sz="1400" dirty="0"/>
          </a:p>
        </p:txBody>
      </p:sp>
      <p:sp>
        <p:nvSpPr>
          <p:cNvPr id="11" name="card"/>
          <p:cNvSpPr/>
          <p:nvPr/>
        </p:nvSpPr>
        <p:spPr>
          <a:xfrm>
            <a:off x="6233008" y="1691640"/>
            <a:ext cx="5410048" cy="1874520"/>
          </a:xfrm>
          <a:prstGeom prst="roundRect">
            <a:avLst>
              <a:gd name="adj" fmla="val 4878"/>
            </a:avLst>
          </a:prstGeom>
          <a:solidFill>
            <a:schemeClr val="bg2"/>
          </a:solidFill>
          <a:ln w="12700">
            <a:solidFill>
              <a:schemeClr val="bg2"/>
            </a:solidFill>
            <a:prstDash val="solid"/>
          </a:ln>
        </p:spPr>
      </p:sp>
      <p:sp>
        <p:nvSpPr>
          <p:cNvPr id="12" name="Shape 9"/>
          <p:cNvSpPr/>
          <p:nvPr/>
        </p:nvSpPr>
        <p:spPr>
          <a:xfrm>
            <a:off x="6461608" y="189280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6461608" y="18928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7010248" y="1911096"/>
            <a:ext cx="444992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엔진 곳곳과 결합</a:t>
            </a:r>
            <a:endParaRPr lang="ko-KR" altLang="en-US" sz="1700" dirty="0"/>
          </a:p>
        </p:txBody>
      </p:sp>
      <p:sp>
        <p:nvSpPr>
          <p:cNvPr id="15" name="Text 12"/>
          <p:cNvSpPr txBox="1"/>
          <p:nvPr/>
        </p:nvSpPr>
        <p:spPr>
          <a:xfrm>
            <a:off x="7010248" y="2350008"/>
            <a:ext cx="4449928"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초능력 클래스가 묶일 생각이 없던 시스템, 그래픽 엔진의 안쪽 층까지 직접 부른다.</a:t>
            </a:r>
            <a:endParaRPr lang="ko-KR" altLang="en-US" sz="1400" dirty="0"/>
          </a:p>
        </p:txBody>
      </p:sp>
      <p:sp>
        <p:nvSpPr>
          <p:cNvPr id="16" name="card"/>
          <p:cNvSpPr/>
          <p:nvPr/>
        </p:nvSpPr>
        <p:spPr>
          <a:xfrm>
            <a:off x="548640" y="3749040"/>
            <a:ext cx="5410048" cy="1874520"/>
          </a:xfrm>
          <a:prstGeom prst="roundRect">
            <a:avLst>
              <a:gd name="adj" fmla="val 4878"/>
            </a:avLst>
          </a:prstGeom>
          <a:solidFill>
            <a:schemeClr val="bg2"/>
          </a:solidFill>
          <a:ln w="12700">
            <a:solidFill>
              <a:schemeClr val="bg2"/>
            </a:solidFill>
            <a:prstDash val="solid"/>
          </a:ln>
        </p:spPr>
      </p:sp>
      <p:sp>
        <p:nvSpPr>
          <p:cNvPr id="17" name="Shape 14"/>
          <p:cNvSpPr/>
          <p:nvPr/>
        </p:nvSpPr>
        <p:spPr>
          <a:xfrm>
            <a:off x="777240" y="3950208"/>
            <a:ext cx="420624" cy="420624"/>
          </a:xfrm>
          <a:prstGeom prst="ellipse">
            <a:avLst/>
          </a:prstGeom>
          <a:solidFill>
            <a:schemeClr val="accent1"/>
          </a:solidFill>
          <a:ln w="12700">
            <a:solidFill>
              <a:schemeClr val="accent1"/>
            </a:solidFill>
            <a:prstDash val="solid"/>
          </a:ln>
        </p:spPr>
      </p:sp>
      <p:sp>
        <p:nvSpPr>
          <p:cNvPr id="18" name="Text 15"/>
          <p:cNvSpPr txBox="1"/>
          <p:nvPr/>
        </p:nvSpPr>
        <p:spPr>
          <a:xfrm>
            <a:off x="777240" y="39502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9" name="Text 16"/>
          <p:cNvSpPr txBox="1"/>
          <p:nvPr/>
        </p:nvSpPr>
        <p:spPr>
          <a:xfrm>
            <a:off x="1325880" y="3968496"/>
            <a:ext cx="444992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바깥 시스템이 바뀌면 깨진다</a:t>
            </a:r>
            <a:endParaRPr lang="ko-KR" altLang="en-US" sz="1700" dirty="0"/>
          </a:p>
        </p:txBody>
      </p:sp>
      <p:sp>
        <p:nvSpPr>
          <p:cNvPr id="20" name="Text 17"/>
          <p:cNvSpPr txBox="1"/>
          <p:nvPr/>
        </p:nvSpPr>
        <p:spPr>
          <a:xfrm>
            <a:off x="1325880" y="4407408"/>
            <a:ext cx="4449928"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오디오나 그래픽 코드를 고칠 때마다 어딘가의 초능력이 깨진다. 엔진 담당자가 게임플레이 코드까지 떠안는다.</a:t>
            </a:r>
            <a:endParaRPr lang="ko-KR" altLang="en-US" sz="1400" dirty="0"/>
          </a:p>
        </p:txBody>
      </p:sp>
      <p:sp>
        <p:nvSpPr>
          <p:cNvPr id="21" name="card"/>
          <p:cNvSpPr/>
          <p:nvPr/>
        </p:nvSpPr>
        <p:spPr>
          <a:xfrm>
            <a:off x="6233008" y="3749040"/>
            <a:ext cx="5410048" cy="1874520"/>
          </a:xfrm>
          <a:prstGeom prst="roundRect">
            <a:avLst>
              <a:gd name="adj" fmla="val 4878"/>
            </a:avLst>
          </a:prstGeom>
          <a:solidFill>
            <a:schemeClr val="bg2"/>
          </a:solidFill>
          <a:ln w="12700">
            <a:solidFill>
              <a:schemeClr val="bg2"/>
            </a:solidFill>
            <a:prstDash val="solid"/>
          </a:ln>
        </p:spPr>
      </p:sp>
      <p:sp>
        <p:nvSpPr>
          <p:cNvPr id="22" name="Shape 19"/>
          <p:cNvSpPr/>
          <p:nvPr/>
        </p:nvSpPr>
        <p:spPr>
          <a:xfrm>
            <a:off x="6461608" y="3950208"/>
            <a:ext cx="420624" cy="420624"/>
          </a:xfrm>
          <a:prstGeom prst="ellipse">
            <a:avLst/>
          </a:prstGeom>
          <a:solidFill>
            <a:schemeClr val="accent1"/>
          </a:solidFill>
          <a:ln w="12700">
            <a:solidFill>
              <a:schemeClr val="accent1"/>
            </a:solidFill>
            <a:prstDash val="solid"/>
          </a:ln>
        </p:spPr>
      </p:sp>
      <p:sp>
        <p:nvSpPr>
          <p:cNvPr id="23" name="Text 20"/>
          <p:cNvSpPr txBox="1"/>
          <p:nvPr/>
        </p:nvSpPr>
        <p:spPr>
          <a:xfrm>
            <a:off x="6461608" y="395020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4" name="Text 21"/>
          <p:cNvSpPr txBox="1"/>
          <p:nvPr/>
        </p:nvSpPr>
        <p:spPr>
          <a:xfrm>
            <a:off x="7010248" y="3968496"/>
            <a:ext cx="444992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공통 규칙을 지키기 어렵다</a:t>
            </a:r>
            <a:endParaRPr lang="ko-KR" altLang="en-US" sz="1700" dirty="0"/>
          </a:p>
        </p:txBody>
      </p:sp>
      <p:sp>
        <p:nvSpPr>
          <p:cNvPr id="25" name="Text 22"/>
          <p:cNvSpPr txBox="1"/>
          <p:nvPr/>
        </p:nvSpPr>
        <p:spPr>
          <a:xfrm>
            <a:off x="7010248" y="4407408"/>
            <a:ext cx="4449928"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모든 소리를 줄 세우고 우선순위를 매기고 싶어도, 백 개의 클래스가 각자 사운드 엔진을 부르면 한 곳에서 정할 수 없다.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해법</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기반 클래스가 도구를 주고, 하위 클래스는 샌드박스 메서드를 채운다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구조를 코드로 쓰면 어떤 모습일까?</a:t>
            </a:r>
            <a:endParaRPr lang="ko-KR" altLang="en-US" sz="1500" dirty="0"/>
          </a:p>
        </p:txBody>
      </p:sp>
      <p:sp>
        <p:nvSpPr>
          <p:cNvPr id="6" name="Shape 3"/>
          <p:cNvSpPr/>
          <p:nvPr/>
        </p:nvSpPr>
        <p:spPr>
          <a:xfrm>
            <a:off x="548640" y="1691640"/>
            <a:ext cx="5120640" cy="3931920"/>
          </a:xfrm>
          <a:prstGeom prst="roundRect">
            <a:avLst>
              <a:gd name="adj" fmla="val 2326"/>
            </a:avLst>
          </a:prstGeom>
          <a:solidFill>
            <a:schemeClr val="tx1"/>
          </a:solidFill>
          <a:ln w="12700">
            <a:solidFill>
              <a:schemeClr val="tx1"/>
            </a:solidFill>
            <a:prstDash val="solid"/>
          </a:ln>
        </p:spPr>
      </p:sp>
      <p:sp>
        <p:nvSpPr>
          <p:cNvPr id="7" name="Text 4"/>
          <p:cNvSpPr txBox="1"/>
          <p:nvPr/>
        </p:nvSpPr>
        <p:spPr>
          <a:xfrm>
            <a:off x="822960" y="1828800"/>
            <a:ext cx="4572000" cy="411480"/>
          </a:xfrm>
          <a:prstGeom prst="rect">
            <a:avLst/>
          </a:prstGeom>
          <a:noFill/>
          <a:ln/>
        </p:spPr>
        <p:txBody>
          <a:bodyPr wrap="square" lIns="0" tIns="0" rIns="0" bIns="0" rtlCol="0" anchor="t"/>
          <a:lstStyle/>
          <a:p>
            <a:pPr indent="0" marL="0" eaLnBrk="0">
              <a:buNone/>
            </a:pPr>
            <a:r>
              <a:rPr lang="ko-KR" altLang="en-US" sz="1600" b="1" dirty="0">
                <a:solidFill>
                  <a:schemeClr val="bg1"/>
                </a:solidFill>
              </a:rPr>
              <a:t>도구 상자 · Superpower의 protected 메서드</a:t>
            </a:r>
            <a:endParaRPr lang="ko-KR" altLang="en-US" sz="1600" dirty="0"/>
          </a:p>
        </p:txBody>
      </p:sp>
      <p:sp>
        <p:nvSpPr>
          <p:cNvPr id="8" name="Text 5"/>
          <p:cNvSpPr txBox="1"/>
          <p:nvPr/>
        </p:nvSpPr>
        <p:spPr>
          <a:xfrm>
            <a:off x="822960" y="2514600"/>
            <a:ext cx="2377440" cy="548640"/>
          </a:xfrm>
          <a:prstGeom prst="rect">
            <a:avLst/>
          </a:prstGeom>
          <a:noFill/>
          <a:ln/>
        </p:spPr>
        <p:txBody>
          <a:bodyPr wrap="square" lIns="0" tIns="0" rIns="0" bIns="0" rtlCol="0" anchor="ctr"/>
          <a:lstStyle/>
          <a:p>
            <a:pPr indent="0" marL="0" eaLnBrk="0">
              <a:buNone/>
            </a:pPr>
            <a:r>
              <a:rPr lang="ko-KR" altLang="en-US" sz="1500" dirty="0">
                <a:solidFill>
                  <a:schemeClr val="accent3"/>
                </a:solidFill>
              </a:rPr>
              <a:t>소리를 내고 싶다</a:t>
            </a:r>
            <a:endParaRPr lang="ko-KR" altLang="en-US" sz="1500" dirty="0"/>
          </a:p>
        </p:txBody>
      </p:sp>
      <p:sp>
        <p:nvSpPr>
          <p:cNvPr id="9" name="Shape 6"/>
          <p:cNvSpPr/>
          <p:nvPr/>
        </p:nvSpPr>
        <p:spPr>
          <a:xfrm>
            <a:off x="3246120" y="2788920"/>
            <a:ext cx="365760" cy="914"/>
          </a:xfrm>
          <a:prstGeom prst="line">
            <a:avLst/>
          </a:prstGeom>
          <a:noFill/>
          <a:ln w="22225">
            <a:solidFill>
              <a:schemeClr val="accent4"/>
            </a:solidFill>
            <a:prstDash val="solid"/>
            <a:tailEnd type="triangle"/>
          </a:ln>
        </p:spPr>
      </p:sp>
      <p:sp>
        <p:nvSpPr>
          <p:cNvPr id="10" name="box"/>
          <p:cNvSpPr/>
          <p:nvPr/>
        </p:nvSpPr>
        <p:spPr>
          <a:xfrm>
            <a:off x="3703320" y="2514600"/>
            <a:ext cx="1737360" cy="548640"/>
          </a:xfrm>
          <a:prstGeom prst="roundRect">
            <a:avLst>
              <a:gd name="adj" fmla="val 13333"/>
            </a:avLst>
          </a:prstGeom>
          <a:solidFill>
            <a:schemeClr val="accent2"/>
          </a:solidFill>
          <a:ln w="12700">
            <a:solidFill>
              <a:schemeClr val="accent2"/>
            </a:solidFill>
            <a:prstDash val="solid"/>
          </a:ln>
        </p:spPr>
      </p:sp>
      <p:sp>
        <p:nvSpPr>
          <p:cNvPr id="11" name="Text 8"/>
          <p:cNvSpPr txBox="1"/>
          <p:nvPr/>
        </p:nvSpPr>
        <p:spPr>
          <a:xfrm>
            <a:off x="3703320" y="2514600"/>
            <a:ext cx="1737360"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PlaySound()</a:t>
            </a:r>
            <a:endParaRPr lang="ko-KR" altLang="en-US" sz="1300" dirty="0"/>
          </a:p>
        </p:txBody>
      </p:sp>
      <p:sp>
        <p:nvSpPr>
          <p:cNvPr id="12" name="Text 9"/>
          <p:cNvSpPr txBox="1"/>
          <p:nvPr/>
        </p:nvSpPr>
        <p:spPr>
          <a:xfrm>
            <a:off x="822960" y="3474720"/>
            <a:ext cx="2377440" cy="548640"/>
          </a:xfrm>
          <a:prstGeom prst="rect">
            <a:avLst/>
          </a:prstGeom>
          <a:noFill/>
          <a:ln/>
        </p:spPr>
        <p:txBody>
          <a:bodyPr wrap="square" lIns="0" tIns="0" rIns="0" bIns="0" rtlCol="0" anchor="ctr"/>
          <a:lstStyle/>
          <a:p>
            <a:pPr indent="0" marL="0" eaLnBrk="0">
              <a:buNone/>
            </a:pPr>
            <a:r>
              <a:rPr lang="ko-KR" altLang="en-US" sz="1500" dirty="0">
                <a:solidFill>
                  <a:schemeClr val="accent3"/>
                </a:solidFill>
              </a:rPr>
              <a:t>파티클을 뿌리고 싶다</a:t>
            </a:r>
            <a:endParaRPr lang="ko-KR" altLang="en-US" sz="1500" dirty="0"/>
          </a:p>
        </p:txBody>
      </p:sp>
      <p:sp>
        <p:nvSpPr>
          <p:cNvPr id="13" name="Shape 10"/>
          <p:cNvSpPr/>
          <p:nvPr/>
        </p:nvSpPr>
        <p:spPr>
          <a:xfrm>
            <a:off x="3246120" y="3749040"/>
            <a:ext cx="365760" cy="914"/>
          </a:xfrm>
          <a:prstGeom prst="line">
            <a:avLst/>
          </a:prstGeom>
          <a:noFill/>
          <a:ln w="22225">
            <a:solidFill>
              <a:schemeClr val="accent4"/>
            </a:solidFill>
            <a:prstDash val="solid"/>
            <a:tailEnd type="triangle"/>
          </a:ln>
        </p:spPr>
      </p:sp>
      <p:sp>
        <p:nvSpPr>
          <p:cNvPr id="14" name="box"/>
          <p:cNvSpPr/>
          <p:nvPr/>
        </p:nvSpPr>
        <p:spPr>
          <a:xfrm>
            <a:off x="3703320" y="3474720"/>
            <a:ext cx="1737360" cy="548640"/>
          </a:xfrm>
          <a:prstGeom prst="roundRect">
            <a:avLst>
              <a:gd name="adj" fmla="val 13333"/>
            </a:avLst>
          </a:prstGeom>
          <a:solidFill>
            <a:schemeClr val="accent2"/>
          </a:solidFill>
          <a:ln w="12700">
            <a:solidFill>
              <a:schemeClr val="accent2"/>
            </a:solidFill>
            <a:prstDash val="solid"/>
          </a:ln>
        </p:spPr>
      </p:sp>
      <p:sp>
        <p:nvSpPr>
          <p:cNvPr id="15" name="Text 12"/>
          <p:cNvSpPr txBox="1"/>
          <p:nvPr/>
        </p:nvSpPr>
        <p:spPr>
          <a:xfrm>
            <a:off x="3703320" y="3474720"/>
            <a:ext cx="1737360"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SpawnParticles()</a:t>
            </a:r>
            <a:endParaRPr lang="ko-KR" altLang="en-US" sz="1300" dirty="0"/>
          </a:p>
        </p:txBody>
      </p:sp>
      <p:sp>
        <p:nvSpPr>
          <p:cNvPr id="16" name="Text 13"/>
          <p:cNvSpPr txBox="1"/>
          <p:nvPr/>
        </p:nvSpPr>
        <p:spPr>
          <a:xfrm>
            <a:off x="822960" y="4434840"/>
            <a:ext cx="2377440" cy="548640"/>
          </a:xfrm>
          <a:prstGeom prst="rect">
            <a:avLst/>
          </a:prstGeom>
          <a:noFill/>
          <a:ln/>
        </p:spPr>
        <p:txBody>
          <a:bodyPr wrap="square" lIns="0" tIns="0" rIns="0" bIns="0" rtlCol="0" anchor="ctr"/>
          <a:lstStyle/>
          <a:p>
            <a:pPr indent="0" marL="0" eaLnBrk="0">
              <a:buNone/>
            </a:pPr>
            <a:r>
              <a:rPr lang="ko-KR" altLang="en-US" sz="1500" dirty="0">
                <a:solidFill>
                  <a:schemeClr val="accent3"/>
                </a:solidFill>
              </a:rPr>
              <a:t>주인공을 움직이고 싶다</a:t>
            </a:r>
            <a:endParaRPr lang="ko-KR" altLang="en-US" sz="1500" dirty="0"/>
          </a:p>
        </p:txBody>
      </p:sp>
      <p:sp>
        <p:nvSpPr>
          <p:cNvPr id="17" name="Shape 14"/>
          <p:cNvSpPr/>
          <p:nvPr/>
        </p:nvSpPr>
        <p:spPr>
          <a:xfrm>
            <a:off x="3246120" y="4709160"/>
            <a:ext cx="365760" cy="914"/>
          </a:xfrm>
          <a:prstGeom prst="line">
            <a:avLst/>
          </a:prstGeom>
          <a:noFill/>
          <a:ln w="22225">
            <a:solidFill>
              <a:schemeClr val="accent4"/>
            </a:solidFill>
            <a:prstDash val="solid"/>
            <a:tailEnd type="triangle"/>
          </a:ln>
        </p:spPr>
      </p:sp>
      <p:sp>
        <p:nvSpPr>
          <p:cNvPr id="18" name="box"/>
          <p:cNvSpPr/>
          <p:nvPr/>
        </p:nvSpPr>
        <p:spPr>
          <a:xfrm>
            <a:off x="3703320" y="4434840"/>
            <a:ext cx="1737360" cy="548640"/>
          </a:xfrm>
          <a:prstGeom prst="roundRect">
            <a:avLst>
              <a:gd name="adj" fmla="val 13333"/>
            </a:avLst>
          </a:prstGeom>
          <a:solidFill>
            <a:schemeClr val="accent2"/>
          </a:solidFill>
          <a:ln w="12700">
            <a:solidFill>
              <a:schemeClr val="accent2"/>
            </a:solidFill>
            <a:prstDash val="solid"/>
          </a:ln>
        </p:spPr>
      </p:sp>
      <p:sp>
        <p:nvSpPr>
          <p:cNvPr id="19" name="Text 16"/>
          <p:cNvSpPr txBox="1"/>
          <p:nvPr/>
        </p:nvSpPr>
        <p:spPr>
          <a:xfrm>
            <a:off x="3703320" y="4434840"/>
            <a:ext cx="1737360" cy="54864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Move()</a:t>
            </a:r>
            <a:endParaRPr lang="ko-KR" altLang="en-US" sz="1300" dirty="0"/>
          </a:p>
        </p:txBody>
      </p:sp>
      <p:sp>
        <p:nvSpPr>
          <p:cNvPr id="20" name="Text 17"/>
          <p:cNvSpPr txBox="1"/>
          <p:nvPr/>
        </p:nvSpPr>
        <p:spPr>
          <a:xfrm>
            <a:off x="822960" y="5074920"/>
            <a:ext cx="4572000" cy="411480"/>
          </a:xfrm>
          <a:prstGeom prst="rect">
            <a:avLst/>
          </a:prstGeom>
          <a:noFill/>
          <a:ln/>
        </p:spPr>
        <p:txBody>
          <a:bodyPr wrap="square" lIns="0" tIns="0" rIns="0" bIns="0" rtlCol="0" anchor="t"/>
          <a:lstStyle/>
          <a:p>
            <a:pPr indent="0" marL="0" eaLnBrk="0">
              <a:buNone/>
            </a:pPr>
            <a:r>
              <a:rPr lang="ko-KR" altLang="en-US" sz="1400" dirty="0">
                <a:solidFill>
                  <a:schemeClr val="accent4"/>
                </a:solidFill>
              </a:rPr>
              <a:t>엔진의 다른 곳을 뒤질 필요가 없다.</a:t>
            </a:r>
            <a:endParaRPr lang="ko-KR" altLang="en-US" sz="1400" dirty="0"/>
          </a:p>
        </p:txBody>
      </p:sp>
      <p:sp>
        <p:nvSpPr>
          <p:cNvPr id="21" name="Text 18"/>
          <p:cNvSpPr txBox="1"/>
          <p:nvPr/>
        </p:nvSpPr>
        <p:spPr>
          <a:xfrm>
            <a:off x="6035040" y="1691640"/>
            <a:ext cx="5608015" cy="411480"/>
          </a:xfrm>
          <a:prstGeom prst="rect">
            <a:avLst/>
          </a:prstGeom>
          <a:noFill/>
          <a:ln/>
        </p:spPr>
        <p:txBody>
          <a:bodyPr wrap="square" lIns="0" tIns="0" rIns="0" bIns="0" rtlCol="0" anchor="t"/>
          <a:lstStyle/>
          <a:p>
            <a:pPr indent="0" marL="0" eaLnBrk="0">
              <a:buNone/>
            </a:pPr>
            <a:r>
              <a:rPr lang="ko-KR" altLang="en-US" sz="1800" b="1" dirty="0">
                <a:solidFill>
                  <a:schemeClr val="tx1"/>
                </a:solidFill>
              </a:rPr>
              <a:t>새 초능력을 만드는 순서</a:t>
            </a:r>
            <a:endParaRPr lang="ko-KR" altLang="en-US" sz="1800" dirty="0"/>
          </a:p>
        </p:txBody>
      </p:sp>
      <p:sp>
        <p:nvSpPr>
          <p:cNvPr id="22" name="card"/>
          <p:cNvSpPr/>
          <p:nvPr/>
        </p:nvSpPr>
        <p:spPr>
          <a:xfrm>
            <a:off x="6035040" y="2240280"/>
            <a:ext cx="5608015" cy="1005840"/>
          </a:xfrm>
          <a:prstGeom prst="roundRect">
            <a:avLst>
              <a:gd name="adj" fmla="val 9091"/>
            </a:avLst>
          </a:prstGeom>
          <a:solidFill>
            <a:schemeClr val="bg2"/>
          </a:solidFill>
          <a:ln w="12700">
            <a:solidFill>
              <a:schemeClr val="bg2"/>
            </a:solidFill>
            <a:prstDash val="solid"/>
          </a:ln>
        </p:spPr>
      </p:sp>
      <p:sp>
        <p:nvSpPr>
          <p:cNvPr id="23" name="Shape 20"/>
          <p:cNvSpPr/>
          <p:nvPr/>
        </p:nvSpPr>
        <p:spPr>
          <a:xfrm>
            <a:off x="6263640" y="2441448"/>
            <a:ext cx="420624" cy="420624"/>
          </a:xfrm>
          <a:prstGeom prst="ellipse">
            <a:avLst/>
          </a:prstGeom>
          <a:solidFill>
            <a:schemeClr val="accent1"/>
          </a:solidFill>
          <a:ln w="12700">
            <a:solidFill>
              <a:schemeClr val="accent1"/>
            </a:solidFill>
            <a:prstDash val="solid"/>
          </a:ln>
        </p:spPr>
      </p:sp>
      <p:sp>
        <p:nvSpPr>
          <p:cNvPr id="24" name="Text 21"/>
          <p:cNvSpPr txBox="1"/>
          <p:nvPr/>
        </p:nvSpPr>
        <p:spPr>
          <a:xfrm>
            <a:off x="6263640" y="24414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5" name="Text 22"/>
          <p:cNvSpPr txBox="1"/>
          <p:nvPr/>
        </p:nvSpPr>
        <p:spPr>
          <a:xfrm>
            <a:off x="6858000" y="2350008"/>
            <a:ext cx="4602175" cy="786384"/>
          </a:xfrm>
          <a:prstGeom prst="rect">
            <a:avLst/>
          </a:prstGeom>
          <a:noFill/>
          <a:ln/>
        </p:spPr>
        <p:txBody>
          <a:bodyPr wrap="square" lIns="0" tIns="0" rIns="0" bIns="0" rtlCol="0" anchor="ctr"/>
          <a:lstStyle/>
          <a:p>
            <a:pPr indent="0" marL="0" eaLnBrk="0">
              <a:buNone/>
            </a:pPr>
            <a:r>
              <a:rPr lang="ko-KR" altLang="en-US" sz="1500" dirty="0">
                <a:solidFill>
                  <a:schemeClr val="tx2"/>
                </a:solidFill>
              </a:rPr>
              <a:t>Superpower를 상속한 새 클래스를 만든다.</a:t>
            </a:r>
            <a:endParaRPr lang="ko-KR" altLang="en-US" sz="1500" dirty="0"/>
          </a:p>
        </p:txBody>
      </p:sp>
      <p:sp>
        <p:nvSpPr>
          <p:cNvPr id="26" name="card"/>
          <p:cNvSpPr/>
          <p:nvPr/>
        </p:nvSpPr>
        <p:spPr>
          <a:xfrm>
            <a:off x="6035040" y="3383280"/>
            <a:ext cx="5608015" cy="1005840"/>
          </a:xfrm>
          <a:prstGeom prst="roundRect">
            <a:avLst>
              <a:gd name="adj" fmla="val 9091"/>
            </a:avLst>
          </a:prstGeom>
          <a:solidFill>
            <a:schemeClr val="bg2"/>
          </a:solidFill>
          <a:ln w="12700">
            <a:solidFill>
              <a:schemeClr val="bg2"/>
            </a:solidFill>
            <a:prstDash val="solid"/>
          </a:ln>
        </p:spPr>
      </p:sp>
      <p:sp>
        <p:nvSpPr>
          <p:cNvPr id="27" name="Shape 24"/>
          <p:cNvSpPr/>
          <p:nvPr/>
        </p:nvSpPr>
        <p:spPr>
          <a:xfrm>
            <a:off x="6263640" y="3584448"/>
            <a:ext cx="420624" cy="420624"/>
          </a:xfrm>
          <a:prstGeom prst="ellipse">
            <a:avLst/>
          </a:prstGeom>
          <a:solidFill>
            <a:schemeClr val="accent1"/>
          </a:solidFill>
          <a:ln w="12700">
            <a:solidFill>
              <a:schemeClr val="accent1"/>
            </a:solidFill>
            <a:prstDash val="solid"/>
          </a:ln>
        </p:spPr>
      </p:sp>
      <p:sp>
        <p:nvSpPr>
          <p:cNvPr id="28" name="Text 25"/>
          <p:cNvSpPr txBox="1"/>
          <p:nvPr/>
        </p:nvSpPr>
        <p:spPr>
          <a:xfrm>
            <a:off x="6263640" y="35844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29" name="Text 26"/>
          <p:cNvSpPr txBox="1"/>
          <p:nvPr/>
        </p:nvSpPr>
        <p:spPr>
          <a:xfrm>
            <a:off x="6858000" y="3493008"/>
            <a:ext cx="4602175" cy="786384"/>
          </a:xfrm>
          <a:prstGeom prst="rect">
            <a:avLst/>
          </a:prstGeom>
          <a:noFill/>
          <a:ln/>
        </p:spPr>
        <p:txBody>
          <a:bodyPr wrap="square" lIns="0" tIns="0" rIns="0" bIns="0" rtlCol="0" anchor="ctr"/>
          <a:lstStyle/>
          <a:p>
            <a:pPr indent="0" marL="0" eaLnBrk="0">
              <a:buNone/>
            </a:pPr>
            <a:r>
              <a:rPr lang="ko-KR" altLang="en-US" sz="1500" dirty="0">
                <a:solidFill>
                  <a:schemeClr val="tx2"/>
                </a:solidFill>
              </a:rPr>
              <a:t>샌드박스 메서드 Activate()를 재정의한다.</a:t>
            </a:r>
            <a:endParaRPr lang="ko-KR" altLang="en-US" sz="1500" dirty="0"/>
          </a:p>
        </p:txBody>
      </p:sp>
      <p:sp>
        <p:nvSpPr>
          <p:cNvPr id="30" name="card"/>
          <p:cNvSpPr/>
          <p:nvPr/>
        </p:nvSpPr>
        <p:spPr>
          <a:xfrm>
            <a:off x="6035040" y="4526280"/>
            <a:ext cx="5608015" cy="1005840"/>
          </a:xfrm>
          <a:prstGeom prst="roundRect">
            <a:avLst>
              <a:gd name="adj" fmla="val 9091"/>
            </a:avLst>
          </a:prstGeom>
          <a:solidFill>
            <a:schemeClr val="bg2"/>
          </a:solidFill>
          <a:ln w="12700">
            <a:solidFill>
              <a:schemeClr val="bg2"/>
            </a:solidFill>
            <a:prstDash val="solid"/>
          </a:ln>
        </p:spPr>
      </p:sp>
      <p:sp>
        <p:nvSpPr>
          <p:cNvPr id="31" name="Shape 28"/>
          <p:cNvSpPr/>
          <p:nvPr/>
        </p:nvSpPr>
        <p:spPr>
          <a:xfrm>
            <a:off x="6263640" y="4727448"/>
            <a:ext cx="420624" cy="420624"/>
          </a:xfrm>
          <a:prstGeom prst="ellipse">
            <a:avLst/>
          </a:prstGeom>
          <a:solidFill>
            <a:schemeClr val="accent1"/>
          </a:solidFill>
          <a:ln w="12700">
            <a:solidFill>
              <a:schemeClr val="accent1"/>
            </a:solidFill>
            <a:prstDash val="solid"/>
          </a:ln>
        </p:spPr>
      </p:sp>
      <p:sp>
        <p:nvSpPr>
          <p:cNvPr id="32" name="Text 29"/>
          <p:cNvSpPr txBox="1"/>
          <p:nvPr/>
        </p:nvSpPr>
        <p:spPr>
          <a:xfrm>
            <a:off x="6263640" y="472744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33" name="Text 30"/>
          <p:cNvSpPr txBox="1"/>
          <p:nvPr/>
        </p:nvSpPr>
        <p:spPr>
          <a:xfrm>
            <a:off x="6858000" y="4636008"/>
            <a:ext cx="4602175" cy="786384"/>
          </a:xfrm>
          <a:prstGeom prst="rect">
            <a:avLst/>
          </a:prstGeom>
          <a:noFill/>
          <a:ln/>
        </p:spPr>
        <p:txBody>
          <a:bodyPr wrap="square" lIns="0" tIns="0" rIns="0" bIns="0" rtlCol="0" anchor="ctr"/>
          <a:lstStyle/>
          <a:p>
            <a:pPr indent="0" marL="0" eaLnBrk="0">
              <a:buNone/>
            </a:pPr>
            <a:r>
              <a:rPr lang="ko-KR" altLang="en-US" sz="1500" dirty="0">
                <a:solidFill>
                  <a:schemeClr val="tx2"/>
                </a:solidFill>
              </a:rPr>
              <a:t>Superpower가 주는 protected 메서드를 불러 본문을 쓴다.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2부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기반 클래스가 주는 도구</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패턴, 예제 코드</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기반 클래스</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Superpower는 샌드박스 메서드 하나와 제공 기능들을 가진다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이 도구들로 실제 초능력 하나를 만들어 보자.</a:t>
            </a:r>
            <a:endParaRPr lang="ko-KR" altLang="en-US" sz="1500" dirty="0"/>
          </a:p>
        </p:txBody>
      </p:sp>
      <p:sp>
        <p:nvSpPr>
          <p:cNvPr id="6" name="codePanel"/>
          <p:cNvSpPr/>
          <p:nvPr/>
        </p:nvSpPr>
        <p:spPr>
          <a:xfrm>
            <a:off x="548640" y="1600200"/>
            <a:ext cx="694944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729984" cy="393192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abstract class Superpower</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샌드박스 메서드: 하위 클래스가 반드시 구현한다</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protected abstract void Activate();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제공 기능: 하위 클래스가 Activate 안에서 부른다</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protected void Move(double x, double y, double z)</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물리 코드를 부른다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protected void PlaySound(SoundId sound, double volume)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오디오 엔진을 부른다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b="1" dirty="0">
                <a:solidFill>
                  <a:schemeClr val="accent4"/>
                </a:solidFill>
                <a:latin typeface="Consolas" pitchFamily="34" charset="0"/>
                <a:ea typeface="Consolas" pitchFamily="34" charset="-122"/>
                <a:cs typeface="Consolas" pitchFamily="34" charset="-120"/>
              </a:rPr>
              <a:t>    protected void SpawnParticles(ParticleType type, int count)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파티클 시스템을 부른다</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8" name="codeCaption"/>
          <p:cNvSpPr txBox="1"/>
          <p:nvPr/>
        </p:nvSpPr>
        <p:spPr>
          <a:xfrm>
            <a:off x="438912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863840" y="1600200"/>
            <a:ext cx="3779215" cy="1920240"/>
          </a:xfrm>
          <a:prstGeom prst="roundRect">
            <a:avLst>
              <a:gd name="adj" fmla="val 4762"/>
            </a:avLst>
          </a:prstGeom>
          <a:solidFill>
            <a:schemeClr val="bg2"/>
          </a:solidFill>
          <a:ln w="12700">
            <a:solidFill>
              <a:schemeClr val="bg2"/>
            </a:solidFill>
            <a:prstDash val="solid"/>
          </a:ln>
        </p:spPr>
      </p:sp>
      <p:sp>
        <p:nvSpPr>
          <p:cNvPr id="10" name="Text 7"/>
          <p:cNvSpPr txBox="1"/>
          <p:nvPr/>
        </p:nvSpPr>
        <p:spPr>
          <a:xfrm>
            <a:off x="8092440" y="181965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accent1"/>
                </a:solidFill>
              </a:rPr>
              <a:t>샌드박스 메서드</a:t>
            </a:r>
            <a:endParaRPr lang="ko-KR" altLang="en-US" sz="1700" dirty="0"/>
          </a:p>
        </p:txBody>
      </p:sp>
      <p:sp>
        <p:nvSpPr>
          <p:cNvPr id="11" name="Text 8"/>
          <p:cNvSpPr txBox="1"/>
          <p:nvPr/>
        </p:nvSpPr>
        <p:spPr>
          <a:xfrm>
            <a:off x="8092440" y="2331720"/>
            <a:ext cx="3322015" cy="1051560"/>
          </a:xfrm>
          <a:prstGeom prst="rect">
            <a:avLst/>
          </a:prstGeom>
          <a:noFill/>
          <a:ln/>
        </p:spPr>
        <p:txBody>
          <a:bodyPr wrap="square" lIns="0" tIns="0" rIns="0" bIns="0" rtlCol="0" anchor="t"/>
          <a:lstStyle/>
          <a:p>
            <a:pPr indent="0" marL="0" eaLnBrk="0">
              <a:buNone/>
            </a:pPr>
            <a:r>
              <a:rPr lang="ko-KR" altLang="en-US" sz="1400" dirty="0">
                <a:solidFill>
                  <a:schemeClr val="tx2"/>
                </a:solidFill>
              </a:rPr>
              <a:t>protected abstract. 하위 클래스가 할 일을 넣을 자리가 분명하다.</a:t>
            </a:r>
            <a:endParaRPr lang="ko-KR" altLang="en-US" sz="1400" dirty="0"/>
          </a:p>
        </p:txBody>
      </p:sp>
      <p:sp>
        <p:nvSpPr>
          <p:cNvPr id="12" name="card"/>
          <p:cNvSpPr/>
          <p:nvPr/>
        </p:nvSpPr>
        <p:spPr>
          <a:xfrm>
            <a:off x="7863840" y="3703320"/>
            <a:ext cx="3779215" cy="2011680"/>
          </a:xfrm>
          <a:prstGeom prst="roundRect">
            <a:avLst>
              <a:gd name="adj" fmla="val 4545"/>
            </a:avLst>
          </a:prstGeom>
          <a:solidFill>
            <a:schemeClr val="bg2"/>
          </a:solidFill>
          <a:ln w="12700">
            <a:solidFill>
              <a:schemeClr val="bg2"/>
            </a:solidFill>
            <a:prstDash val="solid"/>
          </a:ln>
        </p:spPr>
      </p:sp>
      <p:sp>
        <p:nvSpPr>
          <p:cNvPr id="13" name="Text 10"/>
          <p:cNvSpPr txBox="1"/>
          <p:nvPr/>
        </p:nvSpPr>
        <p:spPr>
          <a:xfrm>
            <a:off x="8092440" y="3922776"/>
            <a:ext cx="336773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제공 기능</a:t>
            </a:r>
            <a:endParaRPr lang="ko-KR" altLang="en-US" sz="1700" dirty="0"/>
          </a:p>
        </p:txBody>
      </p:sp>
      <p:sp>
        <p:nvSpPr>
          <p:cNvPr id="14" name="Text 11"/>
          <p:cNvSpPr txBox="1"/>
          <p:nvPr/>
        </p:nvSpPr>
        <p:spPr>
          <a:xfrm>
            <a:off x="8092440" y="4434840"/>
            <a:ext cx="3322015" cy="1143000"/>
          </a:xfrm>
          <a:prstGeom prst="rect">
            <a:avLst/>
          </a:prstGeom>
          <a:noFill/>
          <a:ln/>
        </p:spPr>
        <p:txBody>
          <a:bodyPr wrap="square" lIns="0" tIns="0" rIns="0" bIns="0" rtlCol="0" anchor="t"/>
          <a:lstStyle/>
          <a:p>
            <a:pPr indent="0" marL="0" eaLnBrk="0">
              <a:buNone/>
            </a:pPr>
            <a:r>
              <a:rPr lang="ko-KR" altLang="en-US" sz="1400" dirty="0">
                <a:solidFill>
                  <a:schemeClr val="tx2"/>
                </a:solidFill>
              </a:rPr>
              <a:t>protected, 비가상. Superpower가 다른 시스템과 결합되는 곳은 여기뿐이다.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하위 클래스</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SkyLaunch는 기반 클래스의 도구만으로 뛰어오른다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엔진과의 결합은 이제 어디에 모였을까?</a:t>
            </a:r>
            <a:endParaRPr lang="ko-KR" altLang="en-US" sz="1500" dirty="0"/>
          </a:p>
        </p:txBody>
      </p:sp>
      <p:sp>
        <p:nvSpPr>
          <p:cNvPr id="6" name="codePanel"/>
          <p:cNvSpPr/>
          <p:nvPr/>
        </p:nvSpPr>
        <p:spPr>
          <a:xfrm>
            <a:off x="548640" y="1645920"/>
            <a:ext cx="6766560" cy="2514600"/>
          </a:xfrm>
          <a:prstGeom prst="roundRect">
            <a:avLst>
              <a:gd name="adj" fmla="val 2909"/>
            </a:avLst>
          </a:prstGeom>
          <a:solidFill>
            <a:schemeClr val="tx1"/>
          </a:solidFill>
          <a:ln w="12700">
            <a:solidFill>
              <a:schemeClr val="tx1"/>
            </a:solidFill>
            <a:prstDash val="solid"/>
          </a:ln>
        </p:spPr>
      </p:sp>
      <p:sp>
        <p:nvSpPr>
          <p:cNvPr id="7" name="code"/>
          <p:cNvSpPr txBox="1"/>
          <p:nvPr/>
        </p:nvSpPr>
        <p:spPr>
          <a:xfrm>
            <a:off x="658368" y="1737360"/>
            <a:ext cx="6547104" cy="233172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public class SkyLaunch : Superpower</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protected override void Activate()</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accent3"/>
                </a:solidFill>
                <a:latin typeface="Consolas" pitchFamily="34" charset="0"/>
                <a:ea typeface="Consolas" pitchFamily="34" charset="-122"/>
                <a:cs typeface="Consolas" pitchFamily="34" charset="-120"/>
              </a:rPr>
              <a:t>        // 공중으로 뛰어오른다</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PlaySound(SoundId.Sproing, 1.0);</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SpawnParticles(ParticleType.Dust, 10);</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Move(0, 0, 20);</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p:txBody>
      </p:sp>
      <p:sp>
        <p:nvSpPr>
          <p:cNvPr id="8" name="codeCaption"/>
          <p:cNvSpPr txBox="1"/>
          <p:nvPr/>
        </p:nvSpPr>
        <p:spPr>
          <a:xfrm>
            <a:off x="4206240" y="173736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Text 6"/>
          <p:cNvSpPr txBox="1"/>
          <p:nvPr/>
        </p:nvSpPr>
        <p:spPr>
          <a:xfrm>
            <a:off x="548640" y="4389120"/>
            <a:ext cx="6766560" cy="457200"/>
          </a:xfrm>
          <a:prstGeom prst="rect">
            <a:avLst/>
          </a:prstGeom>
          <a:noFill/>
          <a:ln/>
        </p:spPr>
        <p:txBody>
          <a:bodyPr wrap="square" lIns="0" tIns="0" rIns="0" bIns="0" rtlCol="0" anchor="t"/>
          <a:lstStyle/>
          <a:p>
            <a:pPr indent="0" marL="0" eaLnBrk="0">
              <a:buNone/>
            </a:pPr>
            <a:r>
              <a:rPr lang="ko-KR" altLang="en-US" sz="1500" dirty="0">
                <a:solidFill>
                  <a:schemeClr val="tx2"/>
                </a:solidFill>
              </a:rPr>
              <a:t>원서의 좌표에서 z는 높이다. Move(0, 0, 20)은 위로 움직인다.</a:t>
            </a:r>
            <a:endParaRPr lang="ko-KR" altLang="en-US" sz="1500" dirty="0"/>
          </a:p>
        </p:txBody>
      </p:sp>
      <p:sp>
        <p:nvSpPr>
          <p:cNvPr id="10" name="card"/>
          <p:cNvSpPr/>
          <p:nvPr/>
        </p:nvSpPr>
        <p:spPr>
          <a:xfrm>
            <a:off x="7680960" y="1645920"/>
            <a:ext cx="3962095" cy="1828800"/>
          </a:xfrm>
          <a:prstGeom prst="roundRect">
            <a:avLst>
              <a:gd name="adj" fmla="val 5000"/>
            </a:avLst>
          </a:prstGeom>
          <a:solidFill>
            <a:schemeClr val="bg2"/>
          </a:solidFill>
          <a:ln w="12700">
            <a:solidFill>
              <a:schemeClr val="bg2"/>
            </a:solidFill>
            <a:prstDash val="solid"/>
          </a:ln>
        </p:spPr>
      </p:sp>
      <p:sp>
        <p:nvSpPr>
          <p:cNvPr id="11" name="Text 8"/>
          <p:cNvSpPr txBox="1"/>
          <p:nvPr/>
        </p:nvSpPr>
        <p:spPr>
          <a:xfrm>
            <a:off x="7909560" y="186537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SkyLaunch가 아는 것</a:t>
            </a:r>
            <a:endParaRPr lang="ko-KR" altLang="en-US" sz="1700" dirty="0"/>
          </a:p>
        </p:txBody>
      </p:sp>
      <p:sp>
        <p:nvSpPr>
          <p:cNvPr id="12" name="Text 9"/>
          <p:cNvSpPr txBox="1"/>
          <p:nvPr/>
        </p:nvSpPr>
        <p:spPr>
          <a:xfrm>
            <a:off x="7909560" y="2377440"/>
            <a:ext cx="3504895" cy="960120"/>
          </a:xfrm>
          <a:prstGeom prst="rect">
            <a:avLst/>
          </a:prstGeom>
          <a:noFill/>
          <a:ln/>
        </p:spPr>
        <p:txBody>
          <a:bodyPr wrap="square" lIns="0" tIns="0" rIns="0" bIns="0" rtlCol="0" anchor="t"/>
          <a:lstStyle/>
          <a:p>
            <a:pPr indent="0" marL="0" eaLnBrk="0">
              <a:buNone/>
            </a:pPr>
            <a:r>
              <a:rPr lang="ko-KR" altLang="en-US" sz="1400" dirty="0">
                <a:solidFill>
                  <a:schemeClr val="tx2"/>
                </a:solidFill>
              </a:rPr>
              <a:t>기반 클래스 Superpower뿐이다.</a:t>
            </a:r>
            <a:endParaRPr lang="ko-KR" altLang="en-US" sz="1400" dirty="0"/>
          </a:p>
        </p:txBody>
      </p:sp>
      <p:sp>
        <p:nvSpPr>
          <p:cNvPr id="13" name="card"/>
          <p:cNvSpPr/>
          <p:nvPr/>
        </p:nvSpPr>
        <p:spPr>
          <a:xfrm>
            <a:off x="7680960" y="3657600"/>
            <a:ext cx="3962095" cy="1965960"/>
          </a:xfrm>
          <a:prstGeom prst="roundRect">
            <a:avLst>
              <a:gd name="adj" fmla="val 4651"/>
            </a:avLst>
          </a:prstGeom>
          <a:solidFill>
            <a:schemeClr val="bg2"/>
          </a:solidFill>
          <a:ln w="12700">
            <a:solidFill>
              <a:schemeClr val="bg2"/>
            </a:solidFill>
            <a:prstDash val="solid"/>
          </a:ln>
        </p:spPr>
      </p:sp>
      <p:sp>
        <p:nvSpPr>
          <p:cNvPr id="14" name="Text 11"/>
          <p:cNvSpPr txBox="1"/>
          <p:nvPr/>
        </p:nvSpPr>
        <p:spPr>
          <a:xfrm>
            <a:off x="7909560" y="387705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SkyLaunch가 모르는 것</a:t>
            </a:r>
            <a:endParaRPr lang="ko-KR" altLang="en-US" sz="1700" dirty="0"/>
          </a:p>
        </p:txBody>
      </p:sp>
      <p:sp>
        <p:nvSpPr>
          <p:cNvPr id="15" name="Text 12"/>
          <p:cNvSpPr txBox="1"/>
          <p:nvPr/>
        </p:nvSpPr>
        <p:spPr>
          <a:xfrm>
            <a:off x="7909560" y="4389120"/>
            <a:ext cx="3504895"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오디오 엔진, 파티클 시스템, 물리 코드. 모두 기반 클래스 뒤에 숨어 있다.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결합 구조</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결합이 기반 클래스 한 곳으로 모이고, 계층은 얕고 넓어진다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바깥 시스템이 바뀌면 실제로 어디를 고치게 될까?</a:t>
            </a:r>
            <a:endParaRPr lang="ko-KR" altLang="en-US" sz="1500" dirty="0"/>
          </a:p>
        </p:txBody>
      </p:sp>
      <p:sp>
        <p:nvSpPr>
          <p:cNvPr id="6" name="Text 3"/>
          <p:cNvSpPr txBox="1"/>
          <p:nvPr/>
        </p:nvSpPr>
        <p:spPr>
          <a:xfrm>
            <a:off x="548640" y="1600200"/>
            <a:ext cx="5212080" cy="365760"/>
          </a:xfrm>
          <a:prstGeom prst="rect">
            <a:avLst/>
          </a:prstGeom>
          <a:noFill/>
          <a:ln/>
        </p:spPr>
        <p:txBody>
          <a:bodyPr wrap="square" lIns="0" tIns="0" rIns="0" bIns="0" rtlCol="0" anchor="t"/>
          <a:lstStyle/>
          <a:p>
            <a:pPr indent="0" marL="0" eaLnBrk="0">
              <a:buNone/>
            </a:pPr>
            <a:r>
              <a:rPr lang="ko-KR" altLang="en-US" sz="1500" b="1" dirty="0">
                <a:solidFill>
                  <a:schemeClr val="accent6"/>
                </a:solidFill>
              </a:rPr>
              <a:t>첫 시도: 하위 클래스가 시스템을 직접 부른다</a:t>
            </a:r>
            <a:endParaRPr lang="ko-KR" altLang="en-US" sz="1500" dirty="0"/>
          </a:p>
        </p:txBody>
      </p:sp>
      <p:sp>
        <p:nvSpPr>
          <p:cNvPr id="7" name="box"/>
          <p:cNvSpPr/>
          <p:nvPr/>
        </p:nvSpPr>
        <p:spPr>
          <a:xfrm>
            <a:off x="640080" y="2148840"/>
            <a:ext cx="1645920" cy="640080"/>
          </a:xfrm>
          <a:prstGeom prst="roundRect">
            <a:avLst>
              <a:gd name="adj" fmla="val 11429"/>
            </a:avLst>
          </a:prstGeom>
          <a:solidFill>
            <a:schemeClr val="accent1"/>
          </a:solidFill>
          <a:ln w="12700">
            <a:solidFill>
              <a:schemeClr val="accent1"/>
            </a:solidFill>
            <a:prstDash val="solid"/>
          </a:ln>
        </p:spPr>
      </p:sp>
      <p:sp>
        <p:nvSpPr>
          <p:cNvPr id="8" name="Text 5"/>
          <p:cNvSpPr txBox="1"/>
          <p:nvPr/>
        </p:nvSpPr>
        <p:spPr>
          <a:xfrm>
            <a:off x="640080" y="2148840"/>
            <a:ext cx="1645920" cy="64008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FreezeRay</a:t>
            </a:r>
            <a:endParaRPr lang="ko-KR" altLang="en-US" sz="1300" dirty="0"/>
          </a:p>
        </p:txBody>
      </p:sp>
      <p:sp>
        <p:nvSpPr>
          <p:cNvPr id="9" name="box"/>
          <p:cNvSpPr/>
          <p:nvPr/>
        </p:nvSpPr>
        <p:spPr>
          <a:xfrm>
            <a:off x="640080" y="3063240"/>
            <a:ext cx="1645920" cy="640080"/>
          </a:xfrm>
          <a:prstGeom prst="roundRect">
            <a:avLst>
              <a:gd name="adj" fmla="val 11429"/>
            </a:avLst>
          </a:prstGeom>
          <a:solidFill>
            <a:schemeClr val="accent1"/>
          </a:solidFill>
          <a:ln w="12700">
            <a:solidFill>
              <a:schemeClr val="accent1"/>
            </a:solidFill>
            <a:prstDash val="solid"/>
          </a:ln>
        </p:spPr>
      </p:sp>
      <p:sp>
        <p:nvSpPr>
          <p:cNvPr id="10" name="Text 7"/>
          <p:cNvSpPr txBox="1"/>
          <p:nvPr/>
        </p:nvSpPr>
        <p:spPr>
          <a:xfrm>
            <a:off x="640080" y="3063240"/>
            <a:ext cx="1645920" cy="64008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HeatRay</a:t>
            </a:r>
            <a:endParaRPr lang="ko-KR" altLang="en-US" sz="1300" dirty="0"/>
          </a:p>
        </p:txBody>
      </p:sp>
      <p:sp>
        <p:nvSpPr>
          <p:cNvPr id="11" name="box"/>
          <p:cNvSpPr/>
          <p:nvPr/>
        </p:nvSpPr>
        <p:spPr>
          <a:xfrm>
            <a:off x="640080" y="3977640"/>
            <a:ext cx="1645920" cy="640080"/>
          </a:xfrm>
          <a:prstGeom prst="roundRect">
            <a:avLst>
              <a:gd name="adj" fmla="val 11429"/>
            </a:avLst>
          </a:prstGeom>
          <a:solidFill>
            <a:schemeClr val="accent1"/>
          </a:solidFill>
          <a:ln w="12700">
            <a:solidFill>
              <a:schemeClr val="accent1"/>
            </a:solidFill>
            <a:prstDash val="solid"/>
          </a:ln>
        </p:spPr>
      </p:sp>
      <p:sp>
        <p:nvSpPr>
          <p:cNvPr id="12" name="Text 9"/>
          <p:cNvSpPr txBox="1"/>
          <p:nvPr/>
        </p:nvSpPr>
        <p:spPr>
          <a:xfrm>
            <a:off x="640080" y="3977640"/>
            <a:ext cx="1645920" cy="64008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SkyLaunch</a:t>
            </a:r>
            <a:endParaRPr lang="ko-KR" altLang="en-US" sz="1300" dirty="0"/>
          </a:p>
        </p:txBody>
      </p:sp>
      <p:sp>
        <p:nvSpPr>
          <p:cNvPr id="13" name="box"/>
          <p:cNvSpPr/>
          <p:nvPr/>
        </p:nvSpPr>
        <p:spPr>
          <a:xfrm>
            <a:off x="4023360" y="2148840"/>
            <a:ext cx="1554480" cy="640080"/>
          </a:xfrm>
          <a:prstGeom prst="roundRect">
            <a:avLst>
              <a:gd name="adj" fmla="val 11429"/>
            </a:avLst>
          </a:prstGeom>
          <a:solidFill>
            <a:schemeClr val="bg2"/>
          </a:solidFill>
          <a:ln w="12700">
            <a:solidFill>
              <a:schemeClr val="bg2"/>
            </a:solidFill>
            <a:prstDash val="solid"/>
          </a:ln>
        </p:spPr>
      </p:sp>
      <p:sp>
        <p:nvSpPr>
          <p:cNvPr id="14" name="Text 11"/>
          <p:cNvSpPr txBox="1"/>
          <p:nvPr/>
        </p:nvSpPr>
        <p:spPr>
          <a:xfrm>
            <a:off x="4023360" y="2148840"/>
            <a:ext cx="1554480" cy="64008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오디오</a:t>
            </a:r>
            <a:endParaRPr lang="ko-KR" altLang="en-US" sz="1400" dirty="0"/>
          </a:p>
        </p:txBody>
      </p:sp>
      <p:sp>
        <p:nvSpPr>
          <p:cNvPr id="15" name="box"/>
          <p:cNvSpPr/>
          <p:nvPr/>
        </p:nvSpPr>
        <p:spPr>
          <a:xfrm>
            <a:off x="4023360" y="3063240"/>
            <a:ext cx="1554480" cy="640080"/>
          </a:xfrm>
          <a:prstGeom prst="roundRect">
            <a:avLst>
              <a:gd name="adj" fmla="val 11429"/>
            </a:avLst>
          </a:prstGeom>
          <a:solidFill>
            <a:schemeClr val="bg2"/>
          </a:solidFill>
          <a:ln w="12700">
            <a:solidFill>
              <a:schemeClr val="bg2"/>
            </a:solidFill>
            <a:prstDash val="solid"/>
          </a:ln>
        </p:spPr>
      </p:sp>
      <p:sp>
        <p:nvSpPr>
          <p:cNvPr id="16" name="Text 13"/>
          <p:cNvSpPr txBox="1"/>
          <p:nvPr/>
        </p:nvSpPr>
        <p:spPr>
          <a:xfrm>
            <a:off x="4023360" y="3063240"/>
            <a:ext cx="1554480" cy="64008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그래픽</a:t>
            </a:r>
            <a:endParaRPr lang="ko-KR" altLang="en-US" sz="1400" dirty="0"/>
          </a:p>
        </p:txBody>
      </p:sp>
      <p:sp>
        <p:nvSpPr>
          <p:cNvPr id="17" name="box"/>
          <p:cNvSpPr/>
          <p:nvPr/>
        </p:nvSpPr>
        <p:spPr>
          <a:xfrm>
            <a:off x="4023360" y="3977640"/>
            <a:ext cx="1554480" cy="640080"/>
          </a:xfrm>
          <a:prstGeom prst="roundRect">
            <a:avLst>
              <a:gd name="adj" fmla="val 11429"/>
            </a:avLst>
          </a:prstGeom>
          <a:solidFill>
            <a:schemeClr val="bg2"/>
          </a:solidFill>
          <a:ln w="12700">
            <a:solidFill>
              <a:schemeClr val="bg2"/>
            </a:solidFill>
            <a:prstDash val="solid"/>
          </a:ln>
        </p:spPr>
      </p:sp>
      <p:sp>
        <p:nvSpPr>
          <p:cNvPr id="18" name="Text 15"/>
          <p:cNvSpPr txBox="1"/>
          <p:nvPr/>
        </p:nvSpPr>
        <p:spPr>
          <a:xfrm>
            <a:off x="4023360" y="3977640"/>
            <a:ext cx="1554480" cy="64008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물리</a:t>
            </a:r>
            <a:endParaRPr lang="ko-KR" altLang="en-US" sz="1400" dirty="0"/>
          </a:p>
        </p:txBody>
      </p:sp>
      <p:sp>
        <p:nvSpPr>
          <p:cNvPr id="19" name="Shape 16"/>
          <p:cNvSpPr/>
          <p:nvPr/>
        </p:nvSpPr>
        <p:spPr>
          <a:xfrm>
            <a:off x="2331720" y="2468880"/>
            <a:ext cx="1645920" cy="914"/>
          </a:xfrm>
          <a:prstGeom prst="line">
            <a:avLst/>
          </a:prstGeom>
          <a:noFill/>
          <a:ln w="15875">
            <a:solidFill>
              <a:schemeClr val="accent6"/>
            </a:solidFill>
            <a:prstDash val="solid"/>
            <a:tailEnd type="triangle"/>
          </a:ln>
        </p:spPr>
      </p:sp>
      <p:sp>
        <p:nvSpPr>
          <p:cNvPr id="20" name="Shape 17"/>
          <p:cNvSpPr/>
          <p:nvPr/>
        </p:nvSpPr>
        <p:spPr>
          <a:xfrm>
            <a:off x="2331720" y="2468880"/>
            <a:ext cx="1645920" cy="914400"/>
          </a:xfrm>
          <a:prstGeom prst="line">
            <a:avLst/>
          </a:prstGeom>
          <a:noFill/>
          <a:ln w="15875">
            <a:solidFill>
              <a:schemeClr val="accent6"/>
            </a:solidFill>
            <a:prstDash val="solid"/>
            <a:tailEnd type="triangle"/>
          </a:ln>
        </p:spPr>
      </p:sp>
      <p:sp>
        <p:nvSpPr>
          <p:cNvPr id="21" name="Shape 18"/>
          <p:cNvSpPr/>
          <p:nvPr/>
        </p:nvSpPr>
        <p:spPr>
          <a:xfrm>
            <a:off x="2331720" y="2468880"/>
            <a:ext cx="1645920" cy="1828800"/>
          </a:xfrm>
          <a:prstGeom prst="line">
            <a:avLst/>
          </a:prstGeom>
          <a:noFill/>
          <a:ln w="15875">
            <a:solidFill>
              <a:schemeClr val="accent6"/>
            </a:solidFill>
            <a:prstDash val="solid"/>
            <a:tailEnd type="triangle"/>
          </a:ln>
        </p:spPr>
      </p:sp>
      <p:sp>
        <p:nvSpPr>
          <p:cNvPr id="22" name="Shape 19"/>
          <p:cNvSpPr/>
          <p:nvPr/>
        </p:nvSpPr>
        <p:spPr>
          <a:xfrm flipV="1">
            <a:off x="2331720" y="2468880"/>
            <a:ext cx="1645920" cy="914400"/>
          </a:xfrm>
          <a:prstGeom prst="line">
            <a:avLst/>
          </a:prstGeom>
          <a:noFill/>
          <a:ln w="15875">
            <a:solidFill>
              <a:schemeClr val="accent6"/>
            </a:solidFill>
            <a:prstDash val="solid"/>
            <a:tailEnd type="triangle"/>
          </a:ln>
        </p:spPr>
      </p:sp>
      <p:sp>
        <p:nvSpPr>
          <p:cNvPr id="23" name="Shape 20"/>
          <p:cNvSpPr/>
          <p:nvPr/>
        </p:nvSpPr>
        <p:spPr>
          <a:xfrm>
            <a:off x="2331720" y="3383280"/>
            <a:ext cx="1645920" cy="914"/>
          </a:xfrm>
          <a:prstGeom prst="line">
            <a:avLst/>
          </a:prstGeom>
          <a:noFill/>
          <a:ln w="15875">
            <a:solidFill>
              <a:schemeClr val="accent6"/>
            </a:solidFill>
            <a:prstDash val="solid"/>
            <a:tailEnd type="triangle"/>
          </a:ln>
        </p:spPr>
      </p:sp>
      <p:sp>
        <p:nvSpPr>
          <p:cNvPr id="24" name="Shape 21"/>
          <p:cNvSpPr/>
          <p:nvPr/>
        </p:nvSpPr>
        <p:spPr>
          <a:xfrm>
            <a:off x="2331720" y="3383280"/>
            <a:ext cx="1645920" cy="914400"/>
          </a:xfrm>
          <a:prstGeom prst="line">
            <a:avLst/>
          </a:prstGeom>
          <a:noFill/>
          <a:ln w="15875">
            <a:solidFill>
              <a:schemeClr val="accent6"/>
            </a:solidFill>
            <a:prstDash val="solid"/>
            <a:tailEnd type="triangle"/>
          </a:ln>
        </p:spPr>
      </p:sp>
      <p:sp>
        <p:nvSpPr>
          <p:cNvPr id="25" name="Shape 22"/>
          <p:cNvSpPr/>
          <p:nvPr/>
        </p:nvSpPr>
        <p:spPr>
          <a:xfrm flipV="1">
            <a:off x="2331720" y="2468880"/>
            <a:ext cx="1645920" cy="1828800"/>
          </a:xfrm>
          <a:prstGeom prst="line">
            <a:avLst/>
          </a:prstGeom>
          <a:noFill/>
          <a:ln w="15875">
            <a:solidFill>
              <a:schemeClr val="accent6"/>
            </a:solidFill>
            <a:prstDash val="solid"/>
            <a:tailEnd type="triangle"/>
          </a:ln>
        </p:spPr>
      </p:sp>
      <p:sp>
        <p:nvSpPr>
          <p:cNvPr id="26" name="Shape 23"/>
          <p:cNvSpPr/>
          <p:nvPr/>
        </p:nvSpPr>
        <p:spPr>
          <a:xfrm flipV="1">
            <a:off x="2331720" y="3383280"/>
            <a:ext cx="1645920" cy="914400"/>
          </a:xfrm>
          <a:prstGeom prst="line">
            <a:avLst/>
          </a:prstGeom>
          <a:noFill/>
          <a:ln w="15875">
            <a:solidFill>
              <a:schemeClr val="accent6"/>
            </a:solidFill>
            <a:prstDash val="solid"/>
            <a:tailEnd type="triangle"/>
          </a:ln>
        </p:spPr>
      </p:sp>
      <p:sp>
        <p:nvSpPr>
          <p:cNvPr id="27" name="Shape 24"/>
          <p:cNvSpPr/>
          <p:nvPr/>
        </p:nvSpPr>
        <p:spPr>
          <a:xfrm>
            <a:off x="2331720" y="4297680"/>
            <a:ext cx="1645920" cy="914"/>
          </a:xfrm>
          <a:prstGeom prst="line">
            <a:avLst/>
          </a:prstGeom>
          <a:noFill/>
          <a:ln w="15875">
            <a:solidFill>
              <a:schemeClr val="accent6"/>
            </a:solidFill>
            <a:prstDash val="solid"/>
            <a:tailEnd type="triangle"/>
          </a:ln>
        </p:spPr>
      </p:sp>
      <p:sp>
        <p:nvSpPr>
          <p:cNvPr id="28" name="Shape 25"/>
          <p:cNvSpPr/>
          <p:nvPr/>
        </p:nvSpPr>
        <p:spPr>
          <a:xfrm>
            <a:off x="6080760" y="1645920"/>
            <a:ext cx="914" cy="3108960"/>
          </a:xfrm>
          <a:prstGeom prst="line">
            <a:avLst/>
          </a:prstGeom>
          <a:noFill/>
          <a:ln w="12700">
            <a:solidFill>
              <a:srgbClr val="D5D9E0"/>
            </a:solidFill>
            <a:prstDash val="solid"/>
          </a:ln>
        </p:spPr>
      </p:sp>
      <p:sp>
        <p:nvSpPr>
          <p:cNvPr id="29" name="Text 26"/>
          <p:cNvSpPr txBox="1"/>
          <p:nvPr/>
        </p:nvSpPr>
        <p:spPr>
          <a:xfrm>
            <a:off x="6355080" y="1600200"/>
            <a:ext cx="5212080" cy="365760"/>
          </a:xfrm>
          <a:prstGeom prst="rect">
            <a:avLst/>
          </a:prstGeom>
          <a:noFill/>
          <a:ln/>
        </p:spPr>
        <p:txBody>
          <a:bodyPr wrap="square" lIns="0" tIns="0" rIns="0" bIns="0" rtlCol="0" anchor="t"/>
          <a:lstStyle/>
          <a:p>
            <a:pPr indent="0" marL="0" eaLnBrk="0">
              <a:buNone/>
            </a:pPr>
            <a:r>
              <a:rPr lang="ko-KR" altLang="en-US" sz="1500" b="1" dirty="0">
                <a:solidFill>
                  <a:schemeClr val="accent2"/>
                </a:solidFill>
              </a:rPr>
              <a:t>샌드박스: 기반 클래스만 시스템을 안다</a:t>
            </a:r>
            <a:endParaRPr lang="ko-KR" altLang="en-US" sz="1500" dirty="0"/>
          </a:p>
        </p:txBody>
      </p:sp>
      <p:sp>
        <p:nvSpPr>
          <p:cNvPr id="30" name="box"/>
          <p:cNvSpPr/>
          <p:nvPr/>
        </p:nvSpPr>
        <p:spPr>
          <a:xfrm>
            <a:off x="6355080" y="2148840"/>
            <a:ext cx="1554480" cy="640080"/>
          </a:xfrm>
          <a:prstGeom prst="roundRect">
            <a:avLst>
              <a:gd name="adj" fmla="val 11429"/>
            </a:avLst>
          </a:prstGeom>
          <a:solidFill>
            <a:schemeClr val="accent1"/>
          </a:solidFill>
          <a:ln w="12700">
            <a:solidFill>
              <a:schemeClr val="accent1"/>
            </a:solidFill>
            <a:prstDash val="solid"/>
          </a:ln>
        </p:spPr>
      </p:sp>
      <p:sp>
        <p:nvSpPr>
          <p:cNvPr id="31" name="Text 28"/>
          <p:cNvSpPr txBox="1"/>
          <p:nvPr/>
        </p:nvSpPr>
        <p:spPr>
          <a:xfrm>
            <a:off x="6355080" y="2148840"/>
            <a:ext cx="1554480" cy="64008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FreezeRay</a:t>
            </a:r>
            <a:endParaRPr lang="ko-KR" altLang="en-US" sz="1300" dirty="0"/>
          </a:p>
        </p:txBody>
      </p:sp>
      <p:sp>
        <p:nvSpPr>
          <p:cNvPr id="32" name="box"/>
          <p:cNvSpPr/>
          <p:nvPr/>
        </p:nvSpPr>
        <p:spPr>
          <a:xfrm>
            <a:off x="6355080" y="3063240"/>
            <a:ext cx="1554480" cy="640080"/>
          </a:xfrm>
          <a:prstGeom prst="roundRect">
            <a:avLst>
              <a:gd name="adj" fmla="val 11429"/>
            </a:avLst>
          </a:prstGeom>
          <a:solidFill>
            <a:schemeClr val="accent1"/>
          </a:solidFill>
          <a:ln w="12700">
            <a:solidFill>
              <a:schemeClr val="accent1"/>
            </a:solidFill>
            <a:prstDash val="solid"/>
          </a:ln>
        </p:spPr>
      </p:sp>
      <p:sp>
        <p:nvSpPr>
          <p:cNvPr id="33" name="Text 30"/>
          <p:cNvSpPr txBox="1"/>
          <p:nvPr/>
        </p:nvSpPr>
        <p:spPr>
          <a:xfrm>
            <a:off x="6355080" y="3063240"/>
            <a:ext cx="1554480" cy="64008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HeatRay</a:t>
            </a:r>
            <a:endParaRPr lang="ko-KR" altLang="en-US" sz="1300" dirty="0"/>
          </a:p>
        </p:txBody>
      </p:sp>
      <p:sp>
        <p:nvSpPr>
          <p:cNvPr id="34" name="box"/>
          <p:cNvSpPr/>
          <p:nvPr/>
        </p:nvSpPr>
        <p:spPr>
          <a:xfrm>
            <a:off x="6355080" y="3977640"/>
            <a:ext cx="1554480" cy="640080"/>
          </a:xfrm>
          <a:prstGeom prst="roundRect">
            <a:avLst>
              <a:gd name="adj" fmla="val 11429"/>
            </a:avLst>
          </a:prstGeom>
          <a:solidFill>
            <a:schemeClr val="accent1"/>
          </a:solidFill>
          <a:ln w="12700">
            <a:solidFill>
              <a:schemeClr val="accent1"/>
            </a:solidFill>
            <a:prstDash val="solid"/>
          </a:ln>
        </p:spPr>
      </p:sp>
      <p:sp>
        <p:nvSpPr>
          <p:cNvPr id="35" name="Text 32"/>
          <p:cNvSpPr txBox="1"/>
          <p:nvPr/>
        </p:nvSpPr>
        <p:spPr>
          <a:xfrm>
            <a:off x="6355080" y="3977640"/>
            <a:ext cx="1554480" cy="64008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SkyLaunch</a:t>
            </a:r>
            <a:endParaRPr lang="ko-KR" altLang="en-US" sz="1300" dirty="0"/>
          </a:p>
        </p:txBody>
      </p:sp>
      <p:sp>
        <p:nvSpPr>
          <p:cNvPr id="36" name="box"/>
          <p:cNvSpPr/>
          <p:nvPr/>
        </p:nvSpPr>
        <p:spPr>
          <a:xfrm>
            <a:off x="8366760" y="3063240"/>
            <a:ext cx="1463040" cy="640080"/>
          </a:xfrm>
          <a:prstGeom prst="roundRect">
            <a:avLst>
              <a:gd name="adj" fmla="val 11429"/>
            </a:avLst>
          </a:prstGeom>
          <a:solidFill>
            <a:schemeClr val="tx2"/>
          </a:solidFill>
          <a:ln w="12700">
            <a:solidFill>
              <a:schemeClr val="tx2"/>
            </a:solidFill>
            <a:prstDash val="solid"/>
          </a:ln>
        </p:spPr>
      </p:sp>
      <p:sp>
        <p:nvSpPr>
          <p:cNvPr id="37" name="Text 34"/>
          <p:cNvSpPr txBox="1"/>
          <p:nvPr/>
        </p:nvSpPr>
        <p:spPr>
          <a:xfrm>
            <a:off x="8366760" y="3063240"/>
            <a:ext cx="1463040" cy="640080"/>
          </a:xfrm>
          <a:prstGeom prst="rect">
            <a:avLst/>
          </a:prstGeom>
          <a:noFill/>
          <a:ln/>
        </p:spPr>
        <p:txBody>
          <a:bodyPr wrap="square" lIns="635" tIns="635" rIns="635" bIns="635" rtlCol="0" anchor="ctr"/>
          <a:lstStyle/>
          <a:p>
            <a:pPr algn="ctr" indent="0" marL="0" eaLnBrk="0">
              <a:buNone/>
            </a:pPr>
            <a:r>
              <a:rPr lang="ko-KR" altLang="en-US" sz="1300" b="1" dirty="0">
                <a:solidFill>
                  <a:schemeClr val="bg1"/>
                </a:solidFill>
              </a:rPr>
              <a:t>Superpower</a:t>
            </a:r>
            <a:endParaRPr lang="ko-KR" altLang="en-US" sz="1300" dirty="0"/>
          </a:p>
        </p:txBody>
      </p:sp>
      <p:sp>
        <p:nvSpPr>
          <p:cNvPr id="38" name="box"/>
          <p:cNvSpPr/>
          <p:nvPr/>
        </p:nvSpPr>
        <p:spPr>
          <a:xfrm>
            <a:off x="10287000" y="2148840"/>
            <a:ext cx="1325880" cy="640080"/>
          </a:xfrm>
          <a:prstGeom prst="roundRect">
            <a:avLst>
              <a:gd name="adj" fmla="val 11429"/>
            </a:avLst>
          </a:prstGeom>
          <a:solidFill>
            <a:schemeClr val="bg2"/>
          </a:solidFill>
          <a:ln w="12700">
            <a:solidFill>
              <a:schemeClr val="bg2"/>
            </a:solidFill>
            <a:prstDash val="solid"/>
          </a:ln>
        </p:spPr>
      </p:sp>
      <p:sp>
        <p:nvSpPr>
          <p:cNvPr id="39" name="Text 36"/>
          <p:cNvSpPr txBox="1"/>
          <p:nvPr/>
        </p:nvSpPr>
        <p:spPr>
          <a:xfrm>
            <a:off x="10287000" y="2148840"/>
            <a:ext cx="1325880" cy="64008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오디오</a:t>
            </a:r>
            <a:endParaRPr lang="ko-KR" altLang="en-US" sz="1400" dirty="0"/>
          </a:p>
        </p:txBody>
      </p:sp>
      <p:sp>
        <p:nvSpPr>
          <p:cNvPr id="40" name="box"/>
          <p:cNvSpPr/>
          <p:nvPr/>
        </p:nvSpPr>
        <p:spPr>
          <a:xfrm>
            <a:off x="10287000" y="3063240"/>
            <a:ext cx="1325880" cy="640080"/>
          </a:xfrm>
          <a:prstGeom prst="roundRect">
            <a:avLst>
              <a:gd name="adj" fmla="val 11429"/>
            </a:avLst>
          </a:prstGeom>
          <a:solidFill>
            <a:schemeClr val="bg2"/>
          </a:solidFill>
          <a:ln w="12700">
            <a:solidFill>
              <a:schemeClr val="bg2"/>
            </a:solidFill>
            <a:prstDash val="solid"/>
          </a:ln>
        </p:spPr>
      </p:sp>
      <p:sp>
        <p:nvSpPr>
          <p:cNvPr id="41" name="Text 38"/>
          <p:cNvSpPr txBox="1"/>
          <p:nvPr/>
        </p:nvSpPr>
        <p:spPr>
          <a:xfrm>
            <a:off x="10287000" y="3063240"/>
            <a:ext cx="1325880" cy="64008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그래픽</a:t>
            </a:r>
            <a:endParaRPr lang="ko-KR" altLang="en-US" sz="1400" dirty="0"/>
          </a:p>
        </p:txBody>
      </p:sp>
      <p:sp>
        <p:nvSpPr>
          <p:cNvPr id="42" name="box"/>
          <p:cNvSpPr/>
          <p:nvPr/>
        </p:nvSpPr>
        <p:spPr>
          <a:xfrm>
            <a:off x="10287000" y="3977640"/>
            <a:ext cx="1325880" cy="640080"/>
          </a:xfrm>
          <a:prstGeom prst="roundRect">
            <a:avLst>
              <a:gd name="adj" fmla="val 11429"/>
            </a:avLst>
          </a:prstGeom>
          <a:solidFill>
            <a:schemeClr val="bg2"/>
          </a:solidFill>
          <a:ln w="12700">
            <a:solidFill>
              <a:schemeClr val="bg2"/>
            </a:solidFill>
            <a:prstDash val="solid"/>
          </a:ln>
        </p:spPr>
      </p:sp>
      <p:sp>
        <p:nvSpPr>
          <p:cNvPr id="43" name="Text 40"/>
          <p:cNvSpPr txBox="1"/>
          <p:nvPr/>
        </p:nvSpPr>
        <p:spPr>
          <a:xfrm>
            <a:off x="10287000" y="3977640"/>
            <a:ext cx="1325880" cy="640080"/>
          </a:xfrm>
          <a:prstGeom prst="rect">
            <a:avLst/>
          </a:prstGeom>
          <a:noFill/>
          <a:ln/>
        </p:spPr>
        <p:txBody>
          <a:bodyPr wrap="square" lIns="635" tIns="635" rIns="635" bIns="635" rtlCol="0" anchor="ctr"/>
          <a:lstStyle/>
          <a:p>
            <a:pPr algn="ctr" indent="0" marL="0" eaLnBrk="0">
              <a:buNone/>
            </a:pPr>
            <a:r>
              <a:rPr lang="ko-KR" altLang="en-US" sz="1400" b="1" dirty="0">
                <a:solidFill>
                  <a:schemeClr val="tx1"/>
                </a:solidFill>
              </a:rPr>
              <a:t>물리</a:t>
            </a:r>
            <a:endParaRPr lang="ko-KR" altLang="en-US" sz="1400" dirty="0"/>
          </a:p>
        </p:txBody>
      </p:sp>
      <p:sp>
        <p:nvSpPr>
          <p:cNvPr id="44" name="Shape 41"/>
          <p:cNvSpPr/>
          <p:nvPr/>
        </p:nvSpPr>
        <p:spPr>
          <a:xfrm>
            <a:off x="7955280" y="2468880"/>
            <a:ext cx="365760" cy="914400"/>
          </a:xfrm>
          <a:prstGeom prst="line">
            <a:avLst/>
          </a:prstGeom>
          <a:noFill/>
          <a:ln w="22225">
            <a:solidFill>
              <a:schemeClr val="accent2"/>
            </a:solidFill>
            <a:prstDash val="solid"/>
            <a:tailEnd type="triangle"/>
          </a:ln>
        </p:spPr>
      </p:sp>
      <p:sp>
        <p:nvSpPr>
          <p:cNvPr id="45" name="Shape 42"/>
          <p:cNvSpPr/>
          <p:nvPr/>
        </p:nvSpPr>
        <p:spPr>
          <a:xfrm>
            <a:off x="7955280" y="3383280"/>
            <a:ext cx="365760" cy="914"/>
          </a:xfrm>
          <a:prstGeom prst="line">
            <a:avLst/>
          </a:prstGeom>
          <a:noFill/>
          <a:ln w="22225">
            <a:solidFill>
              <a:schemeClr val="accent2"/>
            </a:solidFill>
            <a:prstDash val="solid"/>
            <a:tailEnd type="triangle"/>
          </a:ln>
        </p:spPr>
      </p:sp>
      <p:sp>
        <p:nvSpPr>
          <p:cNvPr id="46" name="Shape 43"/>
          <p:cNvSpPr/>
          <p:nvPr/>
        </p:nvSpPr>
        <p:spPr>
          <a:xfrm flipV="1">
            <a:off x="7955280" y="3383280"/>
            <a:ext cx="365760" cy="914400"/>
          </a:xfrm>
          <a:prstGeom prst="line">
            <a:avLst/>
          </a:prstGeom>
          <a:noFill/>
          <a:ln w="22225">
            <a:solidFill>
              <a:schemeClr val="accent2"/>
            </a:solidFill>
            <a:prstDash val="solid"/>
            <a:tailEnd type="triangle"/>
          </a:ln>
        </p:spPr>
      </p:sp>
      <p:sp>
        <p:nvSpPr>
          <p:cNvPr id="47" name="Shape 44"/>
          <p:cNvSpPr/>
          <p:nvPr/>
        </p:nvSpPr>
        <p:spPr>
          <a:xfrm flipV="1">
            <a:off x="9875520" y="2468880"/>
            <a:ext cx="365760" cy="914400"/>
          </a:xfrm>
          <a:prstGeom prst="line">
            <a:avLst/>
          </a:prstGeom>
          <a:noFill/>
          <a:ln w="22225">
            <a:solidFill>
              <a:schemeClr val="accent2"/>
            </a:solidFill>
            <a:prstDash val="solid"/>
            <a:tailEnd type="triangle"/>
          </a:ln>
        </p:spPr>
      </p:sp>
      <p:sp>
        <p:nvSpPr>
          <p:cNvPr id="48" name="Shape 45"/>
          <p:cNvSpPr/>
          <p:nvPr/>
        </p:nvSpPr>
        <p:spPr>
          <a:xfrm>
            <a:off x="9875520" y="3383280"/>
            <a:ext cx="365760" cy="914"/>
          </a:xfrm>
          <a:prstGeom prst="line">
            <a:avLst/>
          </a:prstGeom>
          <a:noFill/>
          <a:ln w="22225">
            <a:solidFill>
              <a:schemeClr val="accent2"/>
            </a:solidFill>
            <a:prstDash val="solid"/>
            <a:tailEnd type="triangle"/>
          </a:ln>
        </p:spPr>
      </p:sp>
      <p:sp>
        <p:nvSpPr>
          <p:cNvPr id="49" name="Shape 46"/>
          <p:cNvSpPr/>
          <p:nvPr/>
        </p:nvSpPr>
        <p:spPr>
          <a:xfrm>
            <a:off x="9875520" y="3383280"/>
            <a:ext cx="365760" cy="914400"/>
          </a:xfrm>
          <a:prstGeom prst="line">
            <a:avLst/>
          </a:prstGeom>
          <a:noFill/>
          <a:ln w="22225">
            <a:solidFill>
              <a:schemeClr val="accent2"/>
            </a:solidFill>
            <a:prstDash val="solid"/>
            <a:tailEnd type="triangle"/>
          </a:ln>
        </p:spPr>
      </p:sp>
      <p:sp>
        <p:nvSpPr>
          <p:cNvPr id="50" name="card"/>
          <p:cNvSpPr/>
          <p:nvPr/>
        </p:nvSpPr>
        <p:spPr>
          <a:xfrm>
            <a:off x="548640" y="4892040"/>
            <a:ext cx="11094415" cy="822960"/>
          </a:xfrm>
          <a:prstGeom prst="roundRect">
            <a:avLst>
              <a:gd name="adj" fmla="val 11111"/>
            </a:avLst>
          </a:prstGeom>
          <a:solidFill>
            <a:schemeClr val="bg2"/>
          </a:solidFill>
          <a:ln w="12700">
            <a:solidFill>
              <a:schemeClr val="bg2"/>
            </a:solidFill>
            <a:prstDash val="solid"/>
          </a:ln>
        </p:spPr>
      </p:sp>
      <p:sp>
        <p:nvSpPr>
          <p:cNvPr id="51" name="Text 48"/>
          <p:cNvSpPr txBox="1"/>
          <p:nvPr/>
        </p:nvSpPr>
        <p:spPr>
          <a:xfrm>
            <a:off x="822960" y="4983480"/>
            <a:ext cx="10545775" cy="640080"/>
          </a:xfrm>
          <a:prstGeom prst="rect">
            <a:avLst/>
          </a:prstGeom>
          <a:noFill/>
          <a:ln/>
        </p:spPr>
        <p:txBody>
          <a:bodyPr wrap="square" lIns="0" tIns="0" rIns="0" bIns="0" rtlCol="0" anchor="ctr"/>
          <a:lstStyle/>
          <a:p>
            <a:pPr indent="0" marL="0" eaLnBrk="0">
              <a:buNone/>
            </a:pPr>
            <a:r>
              <a:rPr lang="ko-KR" altLang="en-US" sz="1500" b="1" dirty="0">
                <a:solidFill>
                  <a:schemeClr val="tx1"/>
                </a:solidFill>
              </a:rPr>
              <a:t>얕고 넓은 계층: </a:t>
            </a:r>
            <a:pPr indent="0" marL="0" eaLnBrk="0">
              <a:buNone/>
            </a:pPr>
            <a:r>
              <a:rPr lang="ko-KR" altLang="en-US" sz="1500" dirty="0">
                <a:solidFill>
                  <a:schemeClr val="tx2"/>
                </a:solidFill>
              </a:rPr>
              <a:t>상속은 한 단계뿐이고, 기반 클래스 하나 아래에 하위 클래스가 넓게 달린다. 기반 클래스에 들인 노력이 모두에게 돌아간다.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바깥 시스템이 바뀔 때 고칠 곳을 따라간다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모든 초능력이 소리, 파티클, 이동의 조합이라면 하위 클래스가 꼭 필요할까?</a:t>
            </a:r>
            <a:endParaRPr lang="ko-KR" altLang="en-US" sz="1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023360"/>
                <a:gridCol w="3383280"/>
                <a:gridCol w="3687775"/>
              </a:tblGrid>
              <a:tr h="457200">
                <a:tc>
                  <a:txBody>
                    <a:bodyPr/>
                    <a:lstStyle/>
                    <a:p>
                      <a:pPr indent="0" marL="0" eaLnBrk="0">
                        <a:buNone/>
                      </a:pPr>
                      <a:r>
                        <a:rPr lang="ko-KR" altLang="en-US" sz="1500" b="1" dirty="0">
                          <a:solidFill>
                            <a:schemeClr val="bg1"/>
                          </a:solidFill>
                        </a:rPr>
                        <a:t>바뀌는 일</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첫 시도에서 고칠 곳</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샌드박스에서 고칠 곳</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685800">
                <a:tc>
                  <a:txBody>
                    <a:bodyPr/>
                    <a:lstStyle/>
                    <a:p>
                      <a:pPr indent="0" marL="0" eaLnBrk="0">
                        <a:buNone/>
                      </a:pPr>
                      <a:r>
                        <a:rPr lang="ko-KR" altLang="en-US" sz="1500" b="1" dirty="0">
                          <a:solidFill>
                            <a:schemeClr val="tx1"/>
                          </a:solidFill>
                        </a:rPr>
                        <a:t>오디오 엔진의 재생 함수가 바뀐다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소리를 내는 모든 초능력 클래스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Superpower.PlaySound 하나</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85800">
                <a:tc>
                  <a:txBody>
                    <a:bodyPr/>
                    <a:lstStyle/>
                    <a:p>
                      <a:pPr indent="0" marL="0" eaLnBrk="0">
                        <a:buNone/>
                      </a:pPr>
                      <a:r>
                        <a:rPr lang="ko-KR" altLang="en-US" sz="1500" b="1" dirty="0">
                          <a:solidFill>
                            <a:schemeClr val="tx1"/>
                          </a:solidFill>
                        </a:rPr>
                        <a:t>모든 소리를 줄 세우고 우선순위를 매긴다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소리를 내는 모든 초능력 클래스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Superpower.PlaySound 하나</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85800">
                <a:tc>
                  <a:txBody>
                    <a:bodyPr/>
                    <a:lstStyle/>
                    <a:p>
                      <a:pPr indent="0" marL="0" eaLnBrk="0">
                        <a:buNone/>
                      </a:pPr>
                      <a:r>
                        <a:rPr lang="ko-KR" altLang="en-US" sz="1500" b="1" dirty="0">
                          <a:solidFill>
                            <a:schemeClr val="tx1"/>
                          </a:solidFill>
                        </a:rPr>
                        <a:t>그래픽 엔진의 안쪽 층 구조가 바뀐다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안쪽 층을 직접 부른 초능력들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Superpower.SpawnParticles 하나</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85800">
                <a:tc>
                  <a:txBody>
                    <a:bodyPr/>
                    <a:lstStyle/>
                    <a:p>
                      <a:pPr indent="0" marL="0" eaLnBrk="0">
                        <a:buNone/>
                      </a:pPr>
                      <a:r>
                        <a:rPr lang="ko-KR" altLang="en-US" sz="1500" b="1" dirty="0">
                          <a:solidFill>
                            <a:schemeClr val="tx1"/>
                          </a:solidFill>
                        </a:rPr>
                        <a:t>여러 초능력에 같은 코드가 반복된다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클래스마다 복사된 코드</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기반 클래스의 새 제공 기능으로 올린다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Text 3"/>
          <p:cNvSpPr txBox="1"/>
          <p:nvPr/>
        </p:nvSpPr>
        <p:spPr>
          <a:xfrm>
            <a:off x="548640" y="5166360"/>
            <a:ext cx="11094415" cy="457200"/>
          </a:xfrm>
          <a:prstGeom prst="rect">
            <a:avLst/>
          </a:prstGeom>
          <a:noFill/>
          <a:ln/>
        </p:spPr>
        <p:txBody>
          <a:bodyPr wrap="square" lIns="0" tIns="0" rIns="0" bIns="0" rtlCol="0" anchor="t"/>
          <a:lstStyle/>
          <a:p>
            <a:pPr indent="0" marL="0" eaLnBrk="0">
              <a:buNone/>
            </a:pPr>
            <a:r>
              <a:rPr lang="ko-KR" altLang="en-US" sz="1600" b="1" dirty="0">
                <a:solidFill>
                  <a:schemeClr val="accent1"/>
                </a:solidFill>
              </a:rPr>
              <a:t>하위 클래스 백 개는 그대로 두고, 기반 클래스만 고친다.</a:t>
            </a:r>
            <a:endParaRPr lang="ko-KR" alt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13</a:t>
            </a:fld>
            <a:endParaRPr lang="ko-KR"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3부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도구 늘리기</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예제 코드 (이어서)</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14</a:t>
            </a:fld>
            <a:endParaRPr lang="ko-KR"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값만 다를 때</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모든 초능력이 같은 순서로 움직이면 하위 클래스가 필요 없다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초능력마다 행동의 흐름이 달라지려면 기반 클래스가 무엇을 더 줘야 할까?</a:t>
            </a:r>
            <a:endParaRPr lang="ko-KR" altLang="en-US" sz="1500" dirty="0"/>
          </a:p>
        </p:txBody>
      </p:sp>
      <p:sp>
        <p:nvSpPr>
          <p:cNvPr id="6" name="codePanel"/>
          <p:cNvSpPr/>
          <p:nvPr/>
        </p:nvSpPr>
        <p:spPr>
          <a:xfrm>
            <a:off x="548640" y="1645920"/>
            <a:ext cx="6217920" cy="3291840"/>
          </a:xfrm>
          <a:prstGeom prst="roundRect">
            <a:avLst>
              <a:gd name="adj" fmla="val 2222"/>
            </a:avLst>
          </a:prstGeom>
          <a:solidFill>
            <a:schemeClr val="tx1"/>
          </a:solidFill>
          <a:ln w="12700">
            <a:solidFill>
              <a:schemeClr val="tx1"/>
            </a:solidFill>
            <a:prstDash val="solid"/>
          </a:ln>
        </p:spPr>
      </p:sp>
      <p:sp>
        <p:nvSpPr>
          <p:cNvPr id="7" name="code"/>
          <p:cNvSpPr txBox="1"/>
          <p:nvPr/>
        </p:nvSpPr>
        <p:spPr>
          <a:xfrm>
            <a:off x="658368" y="1737360"/>
            <a:ext cx="5998464" cy="3108960"/>
          </a:xfrm>
          <a:prstGeom prst="rect">
            <a:avLst/>
          </a:prstGeom>
          <a:noFill/>
          <a:ln/>
        </p:spPr>
        <p:txBody>
          <a:bodyPr wrap="square" lIns="635" tIns="635" rIns="635" bIns="635" rtlCol="0" anchor="t"/>
          <a:lstStyle/>
          <a:p>
            <a:pPr indent="0" marL="0" eaLnBrk="0">
              <a:buNone/>
            </a:pPr>
            <a:r>
              <a:rPr lang="ko-KR" altLang="en-US" sz="1400" dirty="0">
                <a:solidFill>
                  <a:schemeClr val="accent3"/>
                </a:solidFill>
                <a:latin typeface="Consolas" pitchFamily="34" charset="0"/>
                <a:ea typeface="Consolas" pitchFamily="34" charset="-122"/>
                <a:cs typeface="Consolas" pitchFamily="34" charset="-120"/>
              </a:rPr>
              <a:t>// 설계 비교용 가상 코드</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public class Superpower</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SoundId _sound;</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ParticleType _particles;</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double _moveZ;</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public void Activate()</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PlaySound(_sound, 1.0);</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SpawnParticles(_particles, 10);</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Move(0, 0, _moveZ);</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p:txBody>
      </p:sp>
      <p:sp>
        <p:nvSpPr>
          <p:cNvPr id="8" name="card"/>
          <p:cNvSpPr/>
          <p:nvPr/>
        </p:nvSpPr>
        <p:spPr>
          <a:xfrm>
            <a:off x="7132320" y="1645920"/>
            <a:ext cx="4510735" cy="1828800"/>
          </a:xfrm>
          <a:prstGeom prst="roundRect">
            <a:avLst>
              <a:gd name="adj" fmla="val 5000"/>
            </a:avLst>
          </a:prstGeom>
          <a:solidFill>
            <a:schemeClr val="bg2"/>
          </a:solidFill>
          <a:ln w="12700">
            <a:solidFill>
              <a:schemeClr val="bg2"/>
            </a:solidFill>
            <a:prstDash val="solid"/>
          </a:ln>
        </p:spPr>
      </p:sp>
      <p:sp>
        <p:nvSpPr>
          <p:cNvPr id="9" name="Text 6"/>
          <p:cNvSpPr txBox="1"/>
          <p:nvPr/>
        </p:nvSpPr>
        <p:spPr>
          <a:xfrm>
            <a:off x="7360920" y="1865376"/>
            <a:ext cx="409925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데이터만 다르면</a:t>
            </a:r>
            <a:endParaRPr lang="ko-KR" altLang="en-US" sz="1700" dirty="0"/>
          </a:p>
        </p:txBody>
      </p:sp>
      <p:sp>
        <p:nvSpPr>
          <p:cNvPr id="10" name="Text 7"/>
          <p:cNvSpPr txBox="1"/>
          <p:nvPr/>
        </p:nvSpPr>
        <p:spPr>
          <a:xfrm>
            <a:off x="7360920" y="2377440"/>
            <a:ext cx="4053535" cy="960120"/>
          </a:xfrm>
          <a:prstGeom prst="rect">
            <a:avLst/>
          </a:prstGeom>
          <a:noFill/>
          <a:ln/>
        </p:spPr>
        <p:txBody>
          <a:bodyPr wrap="square" lIns="0" tIns="0" rIns="0" bIns="0" rtlCol="0" anchor="t"/>
          <a:lstStyle/>
          <a:p>
            <a:pPr indent="0" marL="0" eaLnBrk="0">
              <a:buNone/>
            </a:pPr>
            <a:r>
              <a:rPr lang="ko-KR" altLang="en-US" sz="1400" dirty="0">
                <a:solidFill>
                  <a:schemeClr val="tx2"/>
                </a:solidFill>
              </a:rPr>
              <a:t>클래스 하나와 필드 몇 개로 충분하다. 7강 타입 객체처럼 데이터로 정의한다.</a:t>
            </a:r>
            <a:endParaRPr lang="ko-KR" altLang="en-US" sz="1400" dirty="0"/>
          </a:p>
        </p:txBody>
      </p:sp>
      <p:sp>
        <p:nvSpPr>
          <p:cNvPr id="11" name="card"/>
          <p:cNvSpPr/>
          <p:nvPr/>
        </p:nvSpPr>
        <p:spPr>
          <a:xfrm>
            <a:off x="7132320" y="3657600"/>
            <a:ext cx="4510735" cy="1965960"/>
          </a:xfrm>
          <a:prstGeom prst="roundRect">
            <a:avLst>
              <a:gd name="adj" fmla="val 4651"/>
            </a:avLst>
          </a:prstGeom>
          <a:solidFill>
            <a:schemeClr val="bg2"/>
          </a:solidFill>
          <a:ln w="12700">
            <a:solidFill>
              <a:schemeClr val="bg2"/>
            </a:solidFill>
            <a:prstDash val="solid"/>
          </a:ln>
        </p:spPr>
      </p:sp>
      <p:sp>
        <p:nvSpPr>
          <p:cNvPr id="12" name="Text 9"/>
          <p:cNvSpPr txBox="1"/>
          <p:nvPr/>
        </p:nvSpPr>
        <p:spPr>
          <a:xfrm>
            <a:off x="7360920" y="3877056"/>
            <a:ext cx="4099255" cy="411480"/>
          </a:xfrm>
          <a:prstGeom prst="rect">
            <a:avLst/>
          </a:prstGeom>
          <a:noFill/>
          <a:ln/>
        </p:spPr>
        <p:txBody>
          <a:bodyPr wrap="square" lIns="0" tIns="0" rIns="0" bIns="0" rtlCol="0" anchor="ctr"/>
          <a:lstStyle/>
          <a:p>
            <a:pPr indent="0" marL="0" eaLnBrk="0">
              <a:buNone/>
            </a:pPr>
            <a:r>
              <a:rPr lang="ko-KR" altLang="en-US" sz="1700" b="1" dirty="0">
                <a:solidFill>
                  <a:schemeClr val="accent1"/>
                </a:solidFill>
              </a:rPr>
              <a:t>패턴이 필요한 때</a:t>
            </a:r>
            <a:endParaRPr lang="ko-KR" altLang="en-US" sz="1700" dirty="0"/>
          </a:p>
        </p:txBody>
      </p:sp>
      <p:sp>
        <p:nvSpPr>
          <p:cNvPr id="13" name="Text 10"/>
          <p:cNvSpPr txBox="1"/>
          <p:nvPr/>
        </p:nvSpPr>
        <p:spPr>
          <a:xfrm>
            <a:off x="7360920" y="4389120"/>
            <a:ext cx="4053535" cy="1097280"/>
          </a:xfrm>
          <a:prstGeom prst="rect">
            <a:avLst/>
          </a:prstGeom>
          <a:noFill/>
          <a:ln/>
        </p:spPr>
        <p:txBody>
          <a:bodyPr wrap="square" lIns="0" tIns="0" rIns="0" bIns="0" rtlCol="0" anchor="t"/>
          <a:lstStyle/>
          <a:p>
            <a:pPr indent="0" marL="0" eaLnBrk="0">
              <a:buNone/>
            </a:pPr>
            <a:r>
              <a:rPr lang="ko-KR" altLang="en-US" sz="1400" dirty="0">
                <a:solidFill>
                  <a:schemeClr val="tx2"/>
                </a:solidFill>
              </a:rPr>
              <a:t>초능력마다 행동의 흐름 자체가 다를 때. 그 흐름을 하위 클래스의 코드로 쓴다.</a:t>
            </a:r>
            <a:endParaRPr lang="ko-KR" altLang="en-US" sz="1400" dirty="0"/>
          </a:p>
        </p:txBody>
      </p:sp>
      <p:sp>
        <p:nvSpPr>
          <p:cNvPr id="14" name="Text 11"/>
          <p:cNvSpPr txBox="1"/>
          <p:nvPr/>
        </p:nvSpPr>
        <p:spPr>
          <a:xfrm>
            <a:off x="548640" y="4983480"/>
            <a:ext cx="6217920" cy="274320"/>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원서가 말로 설명한 방법을 옮긴 코드</a:t>
            </a:r>
            <a:endParaRPr lang="ko-KR" alt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15</a:t>
            </a:fld>
            <a:endParaRPr lang="ko-KR"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상태 조회 도구</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주인공의 위치를 묻는 제공 기능을 더한다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위치를 알게 된 SkyLaunch는 무엇을 할 수 있을까?</a:t>
            </a:r>
            <a:endParaRPr lang="ko-KR" altLang="en-US" sz="1500" dirty="0"/>
          </a:p>
        </p:txBody>
      </p:sp>
      <p:sp>
        <p:nvSpPr>
          <p:cNvPr id="6" name="codePanel"/>
          <p:cNvSpPr/>
          <p:nvPr/>
        </p:nvSpPr>
        <p:spPr>
          <a:xfrm>
            <a:off x="548640" y="1600200"/>
            <a:ext cx="6766560" cy="4114800"/>
          </a:xfrm>
          <a:prstGeom prst="roundRect">
            <a:avLst>
              <a:gd name="adj" fmla="val 1778"/>
            </a:avLst>
          </a:prstGeom>
          <a:solidFill>
            <a:schemeClr val="tx1"/>
          </a:solidFill>
          <a:ln w="12700">
            <a:solidFill>
              <a:schemeClr val="tx1"/>
            </a:solidFill>
            <a:prstDash val="solid"/>
          </a:ln>
        </p:spPr>
      </p:sp>
      <p:sp>
        <p:nvSpPr>
          <p:cNvPr id="7" name="code"/>
          <p:cNvSpPr txBox="1"/>
          <p:nvPr/>
        </p:nvSpPr>
        <p:spPr>
          <a:xfrm>
            <a:off x="658368" y="1691640"/>
            <a:ext cx="6547104" cy="3931920"/>
          </a:xfrm>
          <a:prstGeom prst="rect">
            <a:avLst/>
          </a:prstGeom>
          <a:noFill/>
          <a:ln/>
        </p:spPr>
        <p:txBody>
          <a:bodyPr wrap="square" lIns="635" tIns="635" rIns="635" bIns="635" rtlCol="0" anchor="t"/>
          <a:lstStyle/>
          <a:p>
            <a:pPr indent="0" marL="0" eaLnBrk="0">
              <a:buNone/>
            </a:pPr>
            <a:r>
              <a:rPr lang="ko-KR" altLang="en-US" sz="1300" dirty="0">
                <a:solidFill>
                  <a:schemeClr val="bg1"/>
                </a:solidFill>
                <a:latin typeface="Consolas" pitchFamily="34" charset="0"/>
                <a:ea typeface="Consolas" pitchFamily="34" charset="-122"/>
                <a:cs typeface="Consolas" pitchFamily="34" charset="-120"/>
              </a:rPr>
              <a:t>public abstract class Superpower</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protected double GetHeroX()</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주인공의 x 위치를 돌려준다 (생략)</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protected double GetHeroY()</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주인공의 y 위치를 돌려준다 (생략)</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protected double GetHeroZ()</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주인공의 높이를 돌려준다 (생략)</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a:t>
            </a:r>
            <a:endParaRPr lang="ko-KR" altLang="en-US" sz="1300" dirty="0"/>
          </a:p>
          <a:p>
            <a:pPr indent="0" marL="0" eaLnBrk="0">
              <a:buNone/>
            </a:pPr>
            <a:r>
              <a:rPr lang="ko-KR" altLang="en-US" sz="1300" dirty="0">
                <a:solidFill>
                  <a:schemeClr val="accent3"/>
                </a:solidFill>
                <a:latin typeface="Consolas" pitchFamily="34" charset="0"/>
                <a:ea typeface="Consolas" pitchFamily="34" charset="-122"/>
                <a:cs typeface="Consolas" pitchFamily="34" charset="-120"/>
              </a:rPr>
              <a:t>    // 기존 샌드박스 메서드와 제공 기능...</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8" name="codeCaption"/>
          <p:cNvSpPr txBox="1"/>
          <p:nvPr/>
        </p:nvSpPr>
        <p:spPr>
          <a:xfrm>
            <a:off x="420624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ard"/>
          <p:cNvSpPr/>
          <p:nvPr/>
        </p:nvSpPr>
        <p:spPr>
          <a:xfrm>
            <a:off x="7680960" y="1600200"/>
            <a:ext cx="3962095" cy="1920240"/>
          </a:xfrm>
          <a:prstGeom prst="roundRect">
            <a:avLst>
              <a:gd name="adj" fmla="val 4762"/>
            </a:avLst>
          </a:prstGeom>
          <a:solidFill>
            <a:schemeClr val="bg2"/>
          </a:solidFill>
          <a:ln w="12700">
            <a:solidFill>
              <a:schemeClr val="bg2"/>
            </a:solidFill>
            <a:prstDash val="solid"/>
          </a:ln>
        </p:spPr>
      </p:sp>
      <p:sp>
        <p:nvSpPr>
          <p:cNvPr id="10" name="Text 7"/>
          <p:cNvSpPr txBox="1"/>
          <p:nvPr/>
        </p:nvSpPr>
        <p:spPr>
          <a:xfrm>
            <a:off x="7909560" y="181965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상태를 읽는 도구</a:t>
            </a:r>
            <a:endParaRPr lang="ko-KR" altLang="en-US" sz="1700" dirty="0"/>
          </a:p>
        </p:txBody>
      </p:sp>
      <p:sp>
        <p:nvSpPr>
          <p:cNvPr id="11" name="Text 8"/>
          <p:cNvSpPr txBox="1"/>
          <p:nvPr/>
        </p:nvSpPr>
        <p:spPr>
          <a:xfrm>
            <a:off x="7909560" y="2331720"/>
            <a:ext cx="3504895" cy="1051560"/>
          </a:xfrm>
          <a:prstGeom prst="rect">
            <a:avLst/>
          </a:prstGeom>
          <a:noFill/>
          <a:ln/>
        </p:spPr>
        <p:txBody>
          <a:bodyPr wrap="square" lIns="0" tIns="0" rIns="0" bIns="0" rtlCol="0" anchor="t"/>
          <a:lstStyle/>
          <a:p>
            <a:pPr indent="0" marL="0" eaLnBrk="0">
              <a:buNone/>
            </a:pPr>
            <a:r>
              <a:rPr lang="ko-KR" altLang="en-US" sz="1400" dirty="0">
                <a:solidFill>
                  <a:schemeClr val="tx2"/>
                </a:solidFill>
              </a:rPr>
              <a:t>지금까지의 도구는 무언가를 하는 메서드였다. 이번 도구는 게임의 상태를 묻는다.</a:t>
            </a:r>
            <a:endParaRPr lang="ko-KR" altLang="en-US" sz="1400" dirty="0"/>
          </a:p>
        </p:txBody>
      </p:sp>
      <p:sp>
        <p:nvSpPr>
          <p:cNvPr id="12" name="card"/>
          <p:cNvSpPr/>
          <p:nvPr/>
        </p:nvSpPr>
        <p:spPr>
          <a:xfrm>
            <a:off x="7680960" y="3703320"/>
            <a:ext cx="3962095" cy="2011680"/>
          </a:xfrm>
          <a:prstGeom prst="roundRect">
            <a:avLst>
              <a:gd name="adj" fmla="val 4545"/>
            </a:avLst>
          </a:prstGeom>
          <a:solidFill>
            <a:schemeClr val="bg2"/>
          </a:solidFill>
          <a:ln w="12700">
            <a:solidFill>
              <a:schemeClr val="bg2"/>
            </a:solidFill>
            <a:prstDash val="solid"/>
          </a:ln>
        </p:spPr>
      </p:sp>
      <p:sp>
        <p:nvSpPr>
          <p:cNvPr id="13" name="Text 10"/>
          <p:cNvSpPr txBox="1"/>
          <p:nvPr/>
        </p:nvSpPr>
        <p:spPr>
          <a:xfrm>
            <a:off x="7909560" y="3922776"/>
            <a:ext cx="3550615" cy="411480"/>
          </a:xfrm>
          <a:prstGeom prst="rect">
            <a:avLst/>
          </a:prstGeom>
          <a:noFill/>
          <a:ln/>
        </p:spPr>
        <p:txBody>
          <a:bodyPr wrap="square" lIns="0" tIns="0" rIns="0" bIns="0" rtlCol="0" anchor="ctr"/>
          <a:lstStyle/>
          <a:p>
            <a:pPr indent="0" marL="0" eaLnBrk="0">
              <a:buNone/>
            </a:pPr>
            <a:r>
              <a:rPr lang="ko-KR" altLang="en-US" sz="1700" b="1" dirty="0">
                <a:solidFill>
                  <a:schemeClr val="accent1"/>
                </a:solidFill>
              </a:rPr>
              <a:t>하위 클래스가 얻는 것</a:t>
            </a:r>
            <a:endParaRPr lang="ko-KR" altLang="en-US" sz="1700" dirty="0"/>
          </a:p>
        </p:txBody>
      </p:sp>
      <p:sp>
        <p:nvSpPr>
          <p:cNvPr id="14" name="Text 11"/>
          <p:cNvSpPr txBox="1"/>
          <p:nvPr/>
        </p:nvSpPr>
        <p:spPr>
          <a:xfrm>
            <a:off x="7909560" y="4434840"/>
            <a:ext cx="3504895" cy="1143000"/>
          </a:xfrm>
          <a:prstGeom prst="rect">
            <a:avLst/>
          </a:prstGeom>
          <a:noFill/>
          <a:ln/>
        </p:spPr>
        <p:txBody>
          <a:bodyPr wrap="square" lIns="0" tIns="0" rIns="0" bIns="0" rtlCol="0" anchor="t"/>
          <a:lstStyle/>
          <a:p>
            <a:pPr indent="0" marL="0" eaLnBrk="0">
              <a:buNone/>
            </a:pPr>
            <a:r>
              <a:rPr lang="ko-KR" altLang="en-US" sz="1400" dirty="0">
                <a:solidFill>
                  <a:schemeClr val="tx2"/>
                </a:solidFill>
              </a:rPr>
              <a:t>주인공이 땅에 있는지, 공중에 있는지에 따라 다르게 행동할 수 있다.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16</a:t>
            </a:fld>
            <a:endParaRPr lang="ko-KR"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분기하는 초능력</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SkyLaunch가 높이에 따라 세 가지로 갈라진다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높이가 0, 5, 10, 30일 때 각각 어느 분기로 갈까?</a:t>
            </a:r>
            <a:endParaRPr lang="ko-KR" altLang="en-US" sz="1500" dirty="0"/>
          </a:p>
        </p:txBody>
      </p:sp>
      <p:sp>
        <p:nvSpPr>
          <p:cNvPr id="6" name="codePanel"/>
          <p:cNvSpPr/>
          <p:nvPr/>
        </p:nvSpPr>
        <p:spPr>
          <a:xfrm>
            <a:off x="548640" y="1554480"/>
            <a:ext cx="6766560" cy="4206240"/>
          </a:xfrm>
          <a:prstGeom prst="roundRect">
            <a:avLst>
              <a:gd name="adj" fmla="val 1739"/>
            </a:avLst>
          </a:prstGeom>
          <a:solidFill>
            <a:schemeClr val="tx1"/>
          </a:solidFill>
          <a:ln w="12700">
            <a:solidFill>
              <a:schemeClr val="tx1"/>
            </a:solidFill>
            <a:prstDash val="solid"/>
          </a:ln>
        </p:spPr>
      </p:sp>
      <p:sp>
        <p:nvSpPr>
          <p:cNvPr id="7" name="code"/>
          <p:cNvSpPr txBox="1"/>
          <p:nvPr/>
        </p:nvSpPr>
        <p:spPr>
          <a:xfrm>
            <a:off x="658368" y="1645920"/>
            <a:ext cx="6547104" cy="4023360"/>
          </a:xfrm>
          <a:prstGeom prst="rect">
            <a:avLst/>
          </a:prstGeom>
          <a:noFill/>
          <a:ln/>
        </p:spPr>
        <p:txBody>
          <a:bodyPr wrap="square" lIns="635" tIns="635" rIns="635" bIns="635" rtlCol="0" anchor="t"/>
          <a:lstStyle/>
          <a:p>
            <a:pPr indent="0" marL="0" eaLnBrk="0">
              <a:buNone/>
            </a:pPr>
            <a:r>
              <a:rPr lang="ko-KR" altLang="en-US" sz="1150" dirty="0">
                <a:solidFill>
                  <a:schemeClr val="bg1"/>
                </a:solidFill>
                <a:latin typeface="Consolas" pitchFamily="34" charset="0"/>
                <a:ea typeface="Consolas" pitchFamily="34" charset="-122"/>
                <a:cs typeface="Consolas" pitchFamily="34" charset="-120"/>
              </a:rPr>
              <a:t>protected override void Activate()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if (GetHeroZ() == 0)</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accent3"/>
                </a:solidFill>
                <a:latin typeface="Consolas" pitchFamily="34" charset="0"/>
                <a:ea typeface="Consolas" pitchFamily="34" charset="-122"/>
                <a:cs typeface="Consolas" pitchFamily="34" charset="-120"/>
              </a:rPr>
              <a:t>        // 땅 위: 공중으로 뛰어오른다</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PlaySound(SoundId.Sproing, 1.0);</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SpawnParticles(ParticleType.Dust, 10);</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Move(0, 0, 20);</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else if (GetHeroZ() &lt; 10.0)</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accent3"/>
                </a:solidFill>
                <a:latin typeface="Consolas" pitchFamily="34" charset="0"/>
                <a:ea typeface="Consolas" pitchFamily="34" charset="-122"/>
                <a:cs typeface="Consolas" pitchFamily="34" charset="-120"/>
              </a:rPr>
              <a:t>        // 땅 가까이: 2단 점프를 한다</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PlaySound(SoundId.Swoop, 1.0);</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Move(0, 0, GetHeroZ() + 20);</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b="1" dirty="0">
                <a:solidFill>
                  <a:schemeClr val="accent4"/>
                </a:solidFill>
                <a:latin typeface="Consolas" pitchFamily="34" charset="0"/>
                <a:ea typeface="Consolas" pitchFamily="34" charset="-122"/>
                <a:cs typeface="Consolas" pitchFamily="34" charset="-120"/>
              </a:rPr>
              <a:t>    else</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accent3"/>
                </a:solidFill>
                <a:latin typeface="Consolas" pitchFamily="34" charset="0"/>
                <a:ea typeface="Consolas" pitchFamily="34" charset="-122"/>
                <a:cs typeface="Consolas" pitchFamily="34" charset="-120"/>
              </a:rPr>
              <a:t>        // 높은 공중: 급강하 공격을 한다</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PlaySound(SoundId.Dive, 0.7);</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SpawnParticles(ParticleType.Sparkles, 1);</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Move(0, 0, -GetHeroZ());</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    }</a:t>
            </a:r>
            <a:endParaRPr lang="ko-KR" altLang="en-US" sz="1150" dirty="0"/>
          </a:p>
          <a:p>
            <a:pPr indent="0" marL="0" eaLnBrk="0">
              <a:buNone/>
            </a:pPr>
            <a:r>
              <a:rPr lang="ko-KR" altLang="en-US" sz="1150" dirty="0">
                <a:solidFill>
                  <a:schemeClr val="bg1"/>
                </a:solidFill>
                <a:latin typeface="Consolas" pitchFamily="34" charset="0"/>
                <a:ea typeface="Consolas" pitchFamily="34" charset="-122"/>
                <a:cs typeface="Consolas" pitchFamily="34" charset="-120"/>
              </a:rPr>
              <a:t>}</a:t>
            </a:r>
            <a:endParaRPr lang="ko-KR" altLang="en-US" sz="1150" dirty="0"/>
          </a:p>
        </p:txBody>
      </p:sp>
      <p:sp>
        <p:nvSpPr>
          <p:cNvPr id="8" name="card"/>
          <p:cNvSpPr/>
          <p:nvPr/>
        </p:nvSpPr>
        <p:spPr>
          <a:xfrm>
            <a:off x="7680960" y="1600200"/>
            <a:ext cx="3962095" cy="960120"/>
          </a:xfrm>
          <a:prstGeom prst="roundRect">
            <a:avLst>
              <a:gd name="adj" fmla="val 9524"/>
            </a:avLst>
          </a:prstGeom>
          <a:solidFill>
            <a:schemeClr val="bg2"/>
          </a:solidFill>
          <a:ln w="12700">
            <a:solidFill>
              <a:schemeClr val="bg2"/>
            </a:solidFill>
            <a:prstDash val="solid"/>
          </a:ln>
        </p:spPr>
      </p:sp>
      <p:sp>
        <p:nvSpPr>
          <p:cNvPr id="9" name="Text 6"/>
          <p:cNvSpPr txBox="1"/>
          <p:nvPr/>
        </p:nvSpPr>
        <p:spPr>
          <a:xfrm>
            <a:off x="7909560" y="1709928"/>
            <a:ext cx="3504895" cy="347472"/>
          </a:xfrm>
          <a:prstGeom prst="rect">
            <a:avLst/>
          </a:prstGeom>
          <a:noFill/>
          <a:ln/>
        </p:spPr>
        <p:txBody>
          <a:bodyPr wrap="square" lIns="0" tIns="0" rIns="0" bIns="0" rtlCol="0" anchor="t"/>
          <a:lstStyle/>
          <a:p>
            <a:pPr indent="0" marL="0" eaLnBrk="0">
              <a:buNone/>
            </a:pPr>
            <a:r>
              <a:rPr lang="ko-KR" altLang="en-US" sz="1400" b="1" dirty="0">
                <a:solidFill>
                  <a:schemeClr val="accent1"/>
                </a:solidFill>
                <a:latin typeface="Consolas" pitchFamily="34" charset="0"/>
                <a:ea typeface="Consolas" pitchFamily="34" charset="-122"/>
                <a:cs typeface="Consolas" pitchFamily="34" charset="-120"/>
              </a:rPr>
              <a:t>GetHeroZ() == 0</a:t>
            </a:r>
            <a:endParaRPr lang="ko-KR" altLang="en-US" sz="1400" dirty="0"/>
          </a:p>
        </p:txBody>
      </p:sp>
      <p:sp>
        <p:nvSpPr>
          <p:cNvPr id="10" name="Text 7"/>
          <p:cNvSpPr txBox="1"/>
          <p:nvPr/>
        </p:nvSpPr>
        <p:spPr>
          <a:xfrm>
            <a:off x="7909560" y="2103120"/>
            <a:ext cx="3504895" cy="365760"/>
          </a:xfrm>
          <a:prstGeom prst="rect">
            <a:avLst/>
          </a:prstGeom>
          <a:noFill/>
          <a:ln/>
        </p:spPr>
        <p:txBody>
          <a:bodyPr wrap="square" lIns="0" tIns="0" rIns="0" bIns="0" rtlCol="0" anchor="t"/>
          <a:lstStyle/>
          <a:p>
            <a:pPr indent="0" marL="0" eaLnBrk="0">
              <a:buNone/>
            </a:pPr>
            <a:r>
              <a:rPr lang="ko-KR" altLang="en-US" sz="1500" dirty="0">
                <a:solidFill>
                  <a:schemeClr val="tx2"/>
                </a:solidFill>
              </a:rPr>
              <a:t>땅 위: 뛰어오른다</a:t>
            </a:r>
            <a:endParaRPr lang="ko-KR" altLang="en-US" sz="1500" dirty="0"/>
          </a:p>
        </p:txBody>
      </p:sp>
      <p:sp>
        <p:nvSpPr>
          <p:cNvPr id="11" name="card"/>
          <p:cNvSpPr/>
          <p:nvPr/>
        </p:nvSpPr>
        <p:spPr>
          <a:xfrm>
            <a:off x="7680960" y="2679192"/>
            <a:ext cx="3962095" cy="960120"/>
          </a:xfrm>
          <a:prstGeom prst="roundRect">
            <a:avLst>
              <a:gd name="adj" fmla="val 9524"/>
            </a:avLst>
          </a:prstGeom>
          <a:solidFill>
            <a:schemeClr val="bg2"/>
          </a:solidFill>
          <a:ln w="12700">
            <a:solidFill>
              <a:schemeClr val="bg2"/>
            </a:solidFill>
            <a:prstDash val="solid"/>
          </a:ln>
        </p:spPr>
      </p:sp>
      <p:sp>
        <p:nvSpPr>
          <p:cNvPr id="12" name="Text 9"/>
          <p:cNvSpPr txBox="1"/>
          <p:nvPr/>
        </p:nvSpPr>
        <p:spPr>
          <a:xfrm>
            <a:off x="7909560" y="2788920"/>
            <a:ext cx="3504895" cy="347472"/>
          </a:xfrm>
          <a:prstGeom prst="rect">
            <a:avLst/>
          </a:prstGeom>
          <a:noFill/>
          <a:ln/>
        </p:spPr>
        <p:txBody>
          <a:bodyPr wrap="square" lIns="0" tIns="0" rIns="0" bIns="0" rtlCol="0" anchor="t"/>
          <a:lstStyle/>
          <a:p>
            <a:pPr indent="0" marL="0" eaLnBrk="0">
              <a:buNone/>
            </a:pPr>
            <a:r>
              <a:rPr lang="ko-KR" altLang="en-US" sz="1400" b="1" dirty="0">
                <a:solidFill>
                  <a:schemeClr val="accent1"/>
                </a:solidFill>
                <a:latin typeface="Consolas" pitchFamily="34" charset="0"/>
                <a:ea typeface="Consolas" pitchFamily="34" charset="-122"/>
                <a:cs typeface="Consolas" pitchFamily="34" charset="-120"/>
              </a:rPr>
              <a:t>GetHeroZ() &lt; 10</a:t>
            </a:r>
            <a:endParaRPr lang="ko-KR" altLang="en-US" sz="1400" dirty="0"/>
          </a:p>
        </p:txBody>
      </p:sp>
      <p:sp>
        <p:nvSpPr>
          <p:cNvPr id="13" name="Text 10"/>
          <p:cNvSpPr txBox="1"/>
          <p:nvPr/>
        </p:nvSpPr>
        <p:spPr>
          <a:xfrm>
            <a:off x="7909560" y="3182112"/>
            <a:ext cx="3504895" cy="365760"/>
          </a:xfrm>
          <a:prstGeom prst="rect">
            <a:avLst/>
          </a:prstGeom>
          <a:noFill/>
          <a:ln/>
        </p:spPr>
        <p:txBody>
          <a:bodyPr wrap="square" lIns="0" tIns="0" rIns="0" bIns="0" rtlCol="0" anchor="t"/>
          <a:lstStyle/>
          <a:p>
            <a:pPr indent="0" marL="0" eaLnBrk="0">
              <a:buNone/>
            </a:pPr>
            <a:r>
              <a:rPr lang="ko-KR" altLang="en-US" sz="1500" dirty="0">
                <a:solidFill>
                  <a:schemeClr val="tx2"/>
                </a:solidFill>
              </a:rPr>
              <a:t>땅 가까이: 2단 점프</a:t>
            </a:r>
            <a:endParaRPr lang="ko-KR" altLang="en-US" sz="1500" dirty="0"/>
          </a:p>
        </p:txBody>
      </p:sp>
      <p:sp>
        <p:nvSpPr>
          <p:cNvPr id="14" name="card"/>
          <p:cNvSpPr/>
          <p:nvPr/>
        </p:nvSpPr>
        <p:spPr>
          <a:xfrm>
            <a:off x="7680960" y="3758184"/>
            <a:ext cx="3962095" cy="960120"/>
          </a:xfrm>
          <a:prstGeom prst="roundRect">
            <a:avLst>
              <a:gd name="adj" fmla="val 9524"/>
            </a:avLst>
          </a:prstGeom>
          <a:solidFill>
            <a:schemeClr val="bg2"/>
          </a:solidFill>
          <a:ln w="12700">
            <a:solidFill>
              <a:schemeClr val="bg2"/>
            </a:solidFill>
            <a:prstDash val="solid"/>
          </a:ln>
        </p:spPr>
      </p:sp>
      <p:sp>
        <p:nvSpPr>
          <p:cNvPr id="15" name="Text 12"/>
          <p:cNvSpPr txBox="1"/>
          <p:nvPr/>
        </p:nvSpPr>
        <p:spPr>
          <a:xfrm>
            <a:off x="7909560" y="3867912"/>
            <a:ext cx="3504895" cy="347472"/>
          </a:xfrm>
          <a:prstGeom prst="rect">
            <a:avLst/>
          </a:prstGeom>
          <a:noFill/>
          <a:ln/>
        </p:spPr>
        <p:txBody>
          <a:bodyPr wrap="square" lIns="0" tIns="0" rIns="0" bIns="0" rtlCol="0" anchor="t"/>
          <a:lstStyle/>
          <a:p>
            <a:pPr indent="0" marL="0" eaLnBrk="0">
              <a:buNone/>
            </a:pPr>
            <a:r>
              <a:rPr lang="ko-KR" altLang="en-US" sz="1400" b="1" dirty="0">
                <a:solidFill>
                  <a:schemeClr val="accent1"/>
                </a:solidFill>
                <a:latin typeface="Consolas" pitchFamily="34" charset="0"/>
                <a:ea typeface="Consolas" pitchFamily="34" charset="-122"/>
                <a:cs typeface="Consolas" pitchFamily="34" charset="-120"/>
              </a:rPr>
              <a:t>그 밖</a:t>
            </a:r>
            <a:endParaRPr lang="ko-KR" altLang="en-US" sz="1400" dirty="0"/>
          </a:p>
        </p:txBody>
      </p:sp>
      <p:sp>
        <p:nvSpPr>
          <p:cNvPr id="16" name="Text 13"/>
          <p:cNvSpPr txBox="1"/>
          <p:nvPr/>
        </p:nvSpPr>
        <p:spPr>
          <a:xfrm>
            <a:off x="7909560" y="4261104"/>
            <a:ext cx="3504895" cy="365760"/>
          </a:xfrm>
          <a:prstGeom prst="rect">
            <a:avLst/>
          </a:prstGeom>
          <a:noFill/>
          <a:ln/>
        </p:spPr>
        <p:txBody>
          <a:bodyPr wrap="square" lIns="0" tIns="0" rIns="0" bIns="0" rtlCol="0" anchor="t"/>
          <a:lstStyle/>
          <a:p>
            <a:pPr indent="0" marL="0" eaLnBrk="0">
              <a:buNone/>
            </a:pPr>
            <a:r>
              <a:rPr lang="ko-KR" altLang="en-US" sz="1500" dirty="0">
                <a:solidFill>
                  <a:schemeClr val="tx2"/>
                </a:solidFill>
              </a:rPr>
              <a:t>높은 공중: 급강하 공격</a:t>
            </a:r>
            <a:endParaRPr lang="ko-KR" altLang="en-US" sz="1500" dirty="0"/>
          </a:p>
        </p:txBody>
      </p:sp>
      <p:sp>
        <p:nvSpPr>
          <p:cNvPr id="17" name="Text 14"/>
          <p:cNvSpPr txBox="1"/>
          <p:nvPr/>
        </p:nvSpPr>
        <p:spPr>
          <a:xfrm>
            <a:off x="7680960" y="4937760"/>
            <a:ext cx="3962095" cy="548640"/>
          </a:xfrm>
          <a:prstGeom prst="rect">
            <a:avLst/>
          </a:prstGeom>
          <a:noFill/>
          <a:ln/>
        </p:spPr>
        <p:txBody>
          <a:bodyPr wrap="square" lIns="0" tIns="0" rIns="0" bIns="0" rtlCol="0" anchor="t"/>
          <a:lstStyle/>
          <a:p>
            <a:pPr indent="0" marL="0" eaLnBrk="0">
              <a:buNone/>
            </a:pPr>
            <a:r>
              <a:rPr lang="ko-KR" altLang="en-US" sz="1200" dirty="0">
                <a:solidFill>
                  <a:schemeClr val="accent5"/>
                </a:solidFill>
              </a:rPr>
              <a:t>SkyLaunch의 Activate. 원서 예제를 C#으로 옮긴 코드.</a:t>
            </a:r>
            <a:endParaRPr lang="ko-KR" altLang="en-US" sz="12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17</a:t>
            </a:fld>
            <a:endParaRPr lang="ko-KR"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추적</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높이에 따라 어떤 도구가 불리는지 따라간다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기반 클래스는 어떤 도구를 얼마나 줘야 할까?</a:t>
            </a:r>
            <a:endParaRPr lang="ko-KR" alt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554480"/>
                <a:gridCol w="3931920"/>
                <a:gridCol w="1828800"/>
                <a:gridCol w="2011680"/>
                <a:gridCol w="1767535"/>
              </a:tblGrid>
              <a:tr h="457200">
                <a:tc>
                  <a:txBody>
                    <a:bodyPr/>
                    <a:lstStyle/>
                    <a:p>
                      <a:pPr indent="0" marL="0" eaLnBrk="0">
                        <a:buNone/>
                      </a:pPr>
                      <a:r>
                        <a:rPr lang="ko-KR" altLang="en-US" sz="1500" b="1" dirty="0">
                          <a:solidFill>
                            <a:schemeClr val="bg1"/>
                          </a:solidFill>
                        </a:rPr>
                        <a:t>GetHeroZ()</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고른 분기</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PlaySound</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SpawnParticles</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Move</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548640">
                <a:tc>
                  <a:txBody>
                    <a:bodyPr/>
                    <a:lstStyle/>
                    <a:p>
                      <a:pPr indent="0" marL="0" eaLnBrk="0">
                        <a:buNone/>
                      </a:pPr>
                      <a:r>
                        <a:rPr lang="ko-KR" altLang="en-US" sz="1500" b="1" dirty="0">
                          <a:solidFill>
                            <a:schemeClr val="tx1"/>
                          </a:solidFill>
                        </a:rPr>
                        <a:t>0</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땅 위: 뛰어오르기</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Sproing, 1.0</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Dust, 10</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(0, 0, 20)</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48640">
                <a:tc>
                  <a:txBody>
                    <a:bodyPr/>
                    <a:lstStyle/>
                    <a:p>
                      <a:pPr indent="0" marL="0" eaLnBrk="0">
                        <a:buNone/>
                      </a:pPr>
                      <a:r>
                        <a:rPr lang="ko-KR" altLang="en-US" sz="1500" b="1" dirty="0">
                          <a:solidFill>
                            <a:schemeClr val="tx1"/>
                          </a:solidFill>
                        </a:rPr>
                        <a:t>5</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땅 가까이: 2단 점프</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Swoop, 1.0</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부르지 않는다</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(0, 0, 25)</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48640">
                <a:tc>
                  <a:txBody>
                    <a:bodyPr/>
                    <a:lstStyle/>
                    <a:p>
                      <a:pPr indent="0" marL="0" eaLnBrk="0">
                        <a:buNone/>
                      </a:pPr>
                      <a:r>
                        <a:rPr lang="ko-KR" altLang="en-US" sz="1500" b="1" dirty="0">
                          <a:solidFill>
                            <a:schemeClr val="tx1"/>
                          </a:solidFill>
                        </a:rPr>
                        <a:t>10</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높은 공중: 급강하 (10 &lt; 10은 거짓)</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Dive, 0.7</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Sparkles, 1</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(0, 0, -10)</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548640">
                <a:tc>
                  <a:txBody>
                    <a:bodyPr/>
                    <a:lstStyle/>
                    <a:p>
                      <a:pPr indent="0" marL="0" eaLnBrk="0">
                        <a:buNone/>
                      </a:pPr>
                      <a:r>
                        <a:rPr lang="ko-KR" altLang="en-US" sz="1500" b="1" dirty="0">
                          <a:solidFill>
                            <a:schemeClr val="tx1"/>
                          </a:solidFill>
                        </a:rPr>
                        <a:t>30</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높은 공중: 급강하</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Dive, 0.7</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Sparkles, 1</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(0, 0, -30)</a:t>
                      </a:r>
                      <a:endParaRPr lang="ko-KR" altLang="en-US" sz="15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7" name="card"/>
          <p:cNvSpPr/>
          <p:nvPr/>
        </p:nvSpPr>
        <p:spPr>
          <a:xfrm>
            <a:off x="548640" y="4526280"/>
            <a:ext cx="11094415" cy="1188720"/>
          </a:xfrm>
          <a:prstGeom prst="roundRect">
            <a:avLst>
              <a:gd name="adj" fmla="val 7692"/>
            </a:avLst>
          </a:prstGeom>
          <a:solidFill>
            <a:schemeClr val="tx2"/>
          </a:solidFill>
          <a:ln w="12700">
            <a:solidFill>
              <a:schemeClr val="tx2"/>
            </a:solidFill>
            <a:prstDash val="solid"/>
          </a:ln>
        </p:spPr>
      </p:sp>
      <p:sp>
        <p:nvSpPr>
          <p:cNvPr id="8" name="Text 4"/>
          <p:cNvSpPr txBox="1"/>
          <p:nvPr/>
        </p:nvSpPr>
        <p:spPr>
          <a:xfrm>
            <a:off x="777240" y="474573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데이터로 정할까, 코드로 쓸까</a:t>
            </a:r>
            <a:endParaRPr lang="ko-KR" altLang="en-US" sz="1700" dirty="0"/>
          </a:p>
        </p:txBody>
      </p:sp>
      <p:sp>
        <p:nvSpPr>
          <p:cNvPr id="9" name="Text 5"/>
          <p:cNvSpPr txBox="1"/>
          <p:nvPr/>
        </p:nvSpPr>
        <p:spPr>
          <a:xfrm>
            <a:off x="777240" y="5303520"/>
            <a:ext cx="10637215" cy="274320"/>
          </a:xfrm>
          <a:prstGeom prst="rect">
            <a:avLst/>
          </a:prstGeom>
          <a:noFill/>
          <a:ln/>
        </p:spPr>
        <p:txBody>
          <a:bodyPr wrap="square" lIns="0" tIns="0" rIns="0" bIns="0" rtlCol="0" anchor="t"/>
          <a:lstStyle/>
          <a:p>
            <a:pPr indent="0" marL="0" eaLnBrk="0">
              <a:buNone/>
            </a:pPr>
            <a:r>
              <a:rPr lang="ko-KR" altLang="en-US" sz="1400" dirty="0">
                <a:solidFill>
                  <a:schemeClr val="bg1"/>
                </a:solidFill>
              </a:rPr>
              <a:t>행동이 이렇게 갈라지는 명령형 흐름이면 데이터로 정의하기 어렵다. 그럴 때는 하위 클래스의 코드로 쓴다.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18</a:t>
            </a:fld>
            <a:endParaRPr lang="ko-KR"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4부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설계 결정</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디자인 결정</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19</a:t>
            </a:fld>
            <a:endParaRPr lang="ko-KR"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1</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기반 클래스는 어떤 기능을 제공할까</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 사이 어디에 선을 그을지 정하는 기준은 무엇일까?</a:t>
            </a:r>
            <a:endParaRPr lang="ko-KR" altLang="en-US" sz="1500" dirty="0"/>
          </a:p>
        </p:txBody>
      </p:sp>
      <p:sp>
        <p:nvSpPr>
          <p:cNvPr id="6" name="Shape 3"/>
          <p:cNvSpPr/>
          <p:nvPr/>
        </p:nvSpPr>
        <p:spPr>
          <a:xfrm>
            <a:off x="1280160" y="2423160"/>
            <a:ext cx="9631375" cy="914"/>
          </a:xfrm>
          <a:prstGeom prst="line">
            <a:avLst/>
          </a:prstGeom>
          <a:noFill/>
          <a:ln w="31750">
            <a:solidFill>
              <a:schemeClr val="accent5"/>
            </a:solidFill>
            <a:prstDash val="solid"/>
          </a:ln>
        </p:spPr>
      </p:sp>
      <p:sp>
        <p:nvSpPr>
          <p:cNvPr id="7" name="Shape 4"/>
          <p:cNvSpPr/>
          <p:nvPr/>
        </p:nvSpPr>
        <p:spPr>
          <a:xfrm>
            <a:off x="1097280" y="2240280"/>
            <a:ext cx="365760" cy="365760"/>
          </a:xfrm>
          <a:prstGeom prst="ellipse">
            <a:avLst/>
          </a:prstGeom>
          <a:solidFill>
            <a:schemeClr val="accent1"/>
          </a:solidFill>
          <a:ln w="12700">
            <a:solidFill>
              <a:schemeClr val="accent1"/>
            </a:solidFill>
            <a:prstDash val="solid"/>
          </a:ln>
        </p:spPr>
      </p:sp>
      <p:sp>
        <p:nvSpPr>
          <p:cNvPr id="8" name="Text 5"/>
          <p:cNvSpPr txBox="1"/>
          <p:nvPr/>
        </p:nvSpPr>
        <p:spPr>
          <a:xfrm>
            <a:off x="182880" y="1691640"/>
            <a:ext cx="2194560" cy="365760"/>
          </a:xfrm>
          <a:prstGeom prst="rect">
            <a:avLst/>
          </a:prstGeom>
          <a:noFill/>
          <a:ln/>
        </p:spPr>
        <p:txBody>
          <a:bodyPr wrap="square" lIns="0" tIns="0" rIns="0" bIns="0" rtlCol="0" anchor="t"/>
          <a:lstStyle/>
          <a:p>
            <a:pPr algn="ctr" indent="0" marL="0" eaLnBrk="0">
              <a:buNone/>
            </a:pPr>
            <a:r>
              <a:rPr lang="ko-KR" altLang="en-US" sz="1600" b="1" dirty="0">
                <a:solidFill>
                  <a:schemeClr val="tx1"/>
                </a:solidFill>
              </a:rPr>
              <a:t>제공 없음</a:t>
            </a:r>
            <a:endParaRPr lang="ko-KR" altLang="en-US" sz="1600" dirty="0"/>
          </a:p>
        </p:txBody>
      </p:sp>
      <p:sp>
        <p:nvSpPr>
          <p:cNvPr id="9" name="Shape 6"/>
          <p:cNvSpPr/>
          <p:nvPr/>
        </p:nvSpPr>
        <p:spPr>
          <a:xfrm>
            <a:off x="5912968" y="2240280"/>
            <a:ext cx="365760" cy="365760"/>
          </a:xfrm>
          <a:prstGeom prst="ellipse">
            <a:avLst/>
          </a:prstGeom>
          <a:solidFill>
            <a:schemeClr val="accent1"/>
          </a:solidFill>
          <a:ln w="12700">
            <a:solidFill>
              <a:schemeClr val="accent1"/>
            </a:solidFill>
            <a:prstDash val="solid"/>
          </a:ln>
        </p:spPr>
      </p:sp>
      <p:sp>
        <p:nvSpPr>
          <p:cNvPr id="10" name="Text 7"/>
          <p:cNvSpPr txBox="1"/>
          <p:nvPr/>
        </p:nvSpPr>
        <p:spPr>
          <a:xfrm>
            <a:off x="4998568" y="1691640"/>
            <a:ext cx="2194560" cy="365760"/>
          </a:xfrm>
          <a:prstGeom prst="rect">
            <a:avLst/>
          </a:prstGeom>
          <a:noFill/>
          <a:ln/>
        </p:spPr>
        <p:txBody>
          <a:bodyPr wrap="square" lIns="0" tIns="0" rIns="0" bIns="0" rtlCol="0" anchor="t"/>
          <a:lstStyle/>
          <a:p>
            <a:pPr algn="ctr" indent="0" marL="0" eaLnBrk="0">
              <a:buNone/>
            </a:pPr>
            <a:r>
              <a:rPr lang="ko-KR" altLang="en-US" sz="1600" b="1" dirty="0">
                <a:solidFill>
                  <a:schemeClr val="tx1"/>
                </a:solidFill>
              </a:rPr>
              <a:t>일부 제공</a:t>
            </a:r>
            <a:endParaRPr lang="ko-KR" altLang="en-US" sz="1600" dirty="0"/>
          </a:p>
        </p:txBody>
      </p:sp>
      <p:sp>
        <p:nvSpPr>
          <p:cNvPr id="11" name="Shape 8"/>
          <p:cNvSpPr/>
          <p:nvPr/>
        </p:nvSpPr>
        <p:spPr>
          <a:xfrm>
            <a:off x="10728655" y="2240280"/>
            <a:ext cx="365760" cy="365760"/>
          </a:xfrm>
          <a:prstGeom prst="ellipse">
            <a:avLst/>
          </a:prstGeom>
          <a:solidFill>
            <a:schemeClr val="accent1"/>
          </a:solidFill>
          <a:ln w="12700">
            <a:solidFill>
              <a:schemeClr val="accent1"/>
            </a:solidFill>
            <a:prstDash val="solid"/>
          </a:ln>
        </p:spPr>
      </p:sp>
      <p:sp>
        <p:nvSpPr>
          <p:cNvPr id="12" name="Text 9"/>
          <p:cNvSpPr txBox="1"/>
          <p:nvPr/>
        </p:nvSpPr>
        <p:spPr>
          <a:xfrm>
            <a:off x="9814255" y="1691640"/>
            <a:ext cx="2194560" cy="365760"/>
          </a:xfrm>
          <a:prstGeom prst="rect">
            <a:avLst/>
          </a:prstGeom>
          <a:noFill/>
          <a:ln/>
        </p:spPr>
        <p:txBody>
          <a:bodyPr wrap="square" lIns="0" tIns="0" rIns="0" bIns="0" rtlCol="0" anchor="t"/>
          <a:lstStyle/>
          <a:p>
            <a:pPr algn="ctr" indent="0" marL="0" eaLnBrk="0">
              <a:buNone/>
            </a:pPr>
            <a:r>
              <a:rPr lang="ko-KR" altLang="en-US" sz="1600" b="1" dirty="0">
                <a:solidFill>
                  <a:schemeClr val="tx1"/>
                </a:solidFill>
              </a:rPr>
              <a:t>모두 제공</a:t>
            </a:r>
            <a:endParaRPr lang="ko-KR" altLang="en-US" sz="1600" dirty="0"/>
          </a:p>
        </p:txBody>
      </p:sp>
      <p:sp>
        <p:nvSpPr>
          <p:cNvPr id="13" name="card"/>
          <p:cNvSpPr/>
          <p:nvPr/>
        </p:nvSpPr>
        <p:spPr>
          <a:xfrm>
            <a:off x="548640" y="2926080"/>
            <a:ext cx="3545738" cy="1600200"/>
          </a:xfrm>
          <a:prstGeom prst="roundRect">
            <a:avLst>
              <a:gd name="adj" fmla="val 5714"/>
            </a:avLst>
          </a:prstGeom>
          <a:solidFill>
            <a:schemeClr val="bg2"/>
          </a:solidFill>
          <a:ln w="12700">
            <a:solidFill>
              <a:schemeClr val="bg2"/>
            </a:solidFill>
            <a:prstDash val="solid"/>
          </a:ln>
        </p:spPr>
      </p:sp>
      <p:sp>
        <p:nvSpPr>
          <p:cNvPr id="14" name="Text 11"/>
          <p:cNvSpPr txBox="1"/>
          <p:nvPr/>
        </p:nvSpPr>
        <p:spPr>
          <a:xfrm>
            <a:off x="777240" y="3145536"/>
            <a:ext cx="313425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샌드박스 메서드만 있다</a:t>
            </a:r>
            <a:endParaRPr lang="ko-KR" altLang="en-US" sz="1700" dirty="0"/>
          </a:p>
        </p:txBody>
      </p:sp>
      <p:sp>
        <p:nvSpPr>
          <p:cNvPr id="15" name="Text 12"/>
          <p:cNvSpPr txBox="1"/>
          <p:nvPr/>
        </p:nvSpPr>
        <p:spPr>
          <a:xfrm>
            <a:off x="777240" y="3657600"/>
            <a:ext cx="3088538"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하위 클래스가 바깥 시스템을 직접 부른다. 이 패턴이라 부르기 어렵다.</a:t>
            </a:r>
            <a:endParaRPr lang="ko-KR" altLang="en-US" sz="1400" dirty="0"/>
          </a:p>
        </p:txBody>
      </p:sp>
      <p:sp>
        <p:nvSpPr>
          <p:cNvPr id="16" name="card"/>
          <p:cNvSpPr/>
          <p:nvPr/>
        </p:nvSpPr>
        <p:spPr>
          <a:xfrm>
            <a:off x="4322978" y="2926080"/>
            <a:ext cx="3545738" cy="1600200"/>
          </a:xfrm>
          <a:prstGeom prst="roundRect">
            <a:avLst>
              <a:gd name="adj" fmla="val 5714"/>
            </a:avLst>
          </a:prstGeom>
          <a:solidFill>
            <a:schemeClr val="bg2"/>
          </a:solidFill>
          <a:ln w="12700">
            <a:solidFill>
              <a:schemeClr val="bg2"/>
            </a:solidFill>
            <a:prstDash val="solid"/>
          </a:ln>
        </p:spPr>
      </p:sp>
      <p:sp>
        <p:nvSpPr>
          <p:cNvPr id="17" name="Text 14"/>
          <p:cNvSpPr txBox="1"/>
          <p:nvPr/>
        </p:nvSpPr>
        <p:spPr>
          <a:xfrm>
            <a:off x="4551578" y="3145536"/>
            <a:ext cx="313425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넓은 중간 지대</a:t>
            </a:r>
            <a:endParaRPr lang="ko-KR" altLang="en-US" sz="1700" dirty="0"/>
          </a:p>
        </p:txBody>
      </p:sp>
      <p:sp>
        <p:nvSpPr>
          <p:cNvPr id="18" name="Text 15"/>
          <p:cNvSpPr txBox="1"/>
          <p:nvPr/>
        </p:nvSpPr>
        <p:spPr>
          <a:xfrm>
            <a:off x="4551578" y="3657600"/>
            <a:ext cx="3088538"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일부는 기반 클래스가 주고, 나머지는 바깥 시스템을 직접 부른다.</a:t>
            </a:r>
            <a:endParaRPr lang="ko-KR" altLang="en-US" sz="1400" dirty="0"/>
          </a:p>
        </p:txBody>
      </p:sp>
      <p:sp>
        <p:nvSpPr>
          <p:cNvPr id="19" name="card"/>
          <p:cNvSpPr/>
          <p:nvPr/>
        </p:nvSpPr>
        <p:spPr>
          <a:xfrm>
            <a:off x="8097317" y="2926080"/>
            <a:ext cx="3545738" cy="1600200"/>
          </a:xfrm>
          <a:prstGeom prst="roundRect">
            <a:avLst>
              <a:gd name="adj" fmla="val 5714"/>
            </a:avLst>
          </a:prstGeom>
          <a:solidFill>
            <a:schemeClr val="bg2"/>
          </a:solidFill>
          <a:ln w="12700">
            <a:solidFill>
              <a:schemeClr val="bg2"/>
            </a:solidFill>
            <a:prstDash val="solid"/>
          </a:ln>
        </p:spPr>
      </p:sp>
      <p:sp>
        <p:nvSpPr>
          <p:cNvPr id="20" name="Text 17"/>
          <p:cNvSpPr txBox="1"/>
          <p:nvPr/>
        </p:nvSpPr>
        <p:spPr>
          <a:xfrm>
            <a:off x="8325917" y="3145536"/>
            <a:ext cx="3134258"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기반 클래스만 안다</a:t>
            </a:r>
            <a:endParaRPr lang="ko-KR" altLang="en-US" sz="1700" dirty="0"/>
          </a:p>
        </p:txBody>
      </p:sp>
      <p:sp>
        <p:nvSpPr>
          <p:cNvPr id="21" name="Text 18"/>
          <p:cNvSpPr txBox="1"/>
          <p:nvPr/>
        </p:nvSpPr>
        <p:spPr>
          <a:xfrm>
            <a:off x="8325917" y="3657600"/>
            <a:ext cx="3088538" cy="731520"/>
          </a:xfrm>
          <a:prstGeom prst="rect">
            <a:avLst/>
          </a:prstGeom>
          <a:noFill/>
          <a:ln/>
        </p:spPr>
        <p:txBody>
          <a:bodyPr wrap="square" lIns="0" tIns="0" rIns="0" bIns="0" rtlCol="0" anchor="t"/>
          <a:lstStyle/>
          <a:p>
            <a:pPr indent="0" marL="0" eaLnBrk="0">
              <a:buNone/>
            </a:pPr>
            <a:r>
              <a:rPr lang="ko-KR" altLang="en-US" sz="1400" dirty="0">
                <a:solidFill>
                  <a:schemeClr val="tx2"/>
                </a:solidFill>
              </a:rPr>
              <a:t>하위 클래스 파일이 참조하는 것은 기반 클래스 하나뿐이다.</a:t>
            </a:r>
            <a:endParaRPr lang="ko-KR" altLang="en-US" sz="1400" dirty="0"/>
          </a:p>
        </p:txBody>
      </p:sp>
      <p:sp>
        <p:nvSpPr>
          <p:cNvPr id="22" name="card"/>
          <p:cNvSpPr/>
          <p:nvPr/>
        </p:nvSpPr>
        <p:spPr>
          <a:xfrm>
            <a:off x="548640" y="4709160"/>
            <a:ext cx="11094415" cy="960120"/>
          </a:xfrm>
          <a:prstGeom prst="roundRect">
            <a:avLst>
              <a:gd name="adj" fmla="val 9524"/>
            </a:avLst>
          </a:prstGeom>
          <a:solidFill>
            <a:schemeClr val="bg2"/>
          </a:solidFill>
          <a:ln w="12700">
            <a:solidFill>
              <a:schemeClr val="bg2"/>
            </a:solidFill>
            <a:prstDash val="solid"/>
          </a:ln>
        </p:spPr>
      </p:sp>
      <p:sp>
        <p:nvSpPr>
          <p:cNvPr id="23" name="Text 20"/>
          <p:cNvSpPr txBox="1"/>
          <p:nvPr/>
        </p:nvSpPr>
        <p:spPr>
          <a:xfrm>
            <a:off x="822960" y="4800600"/>
            <a:ext cx="10545775" cy="777240"/>
          </a:xfrm>
          <a:prstGeom prst="rect">
            <a:avLst/>
          </a:prstGeom>
          <a:noFill/>
          <a:ln/>
        </p:spPr>
        <p:txBody>
          <a:bodyPr wrap="square" lIns="0" tIns="0" rIns="0" bIns="0" rtlCol="0" anchor="ctr"/>
          <a:lstStyle/>
          <a:p>
            <a:pPr indent="0" marL="0" eaLnBrk="0">
              <a:buNone/>
            </a:pPr>
            <a:r>
              <a:rPr lang="ko-KR" altLang="en-US" sz="1500" b="1" dirty="0">
                <a:solidFill>
                  <a:schemeClr val="tx1"/>
                </a:solidFill>
              </a:rPr>
              <a:t>주고받는 것: </a:t>
            </a:r>
            <a:pPr indent="0" marL="0" eaLnBrk="0">
              <a:buNone/>
            </a:pPr>
            <a:r>
              <a:rPr lang="ko-KR" altLang="en-US" sz="1500" dirty="0">
                <a:solidFill>
                  <a:schemeClr val="tx2"/>
                </a:solidFill>
              </a:rPr>
              <a:t>많이 줄수록 하위 클래스의 결합은 줄고 기반 클래스의 결합은 는다. 결합이 위로 올라갈 뿐이다.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20</a:t>
            </a:fld>
            <a:endParaRPr lang="ko-KR"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1의 기준</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많이 쓰이고, 상태를 바꾸고, 감출 것이 있으면 제공한다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제공 기능이 많아져 기반 클래스가 커지면 어떻게 할까?</a:t>
            </a:r>
            <a:endParaRPr lang="ko-KR" altLang="en-US" sz="1500" dirty="0"/>
          </a:p>
        </p:txBody>
      </p:sp>
      <p:sp>
        <p:nvSpPr>
          <p:cNvPr id="6" name="card"/>
          <p:cNvSpPr/>
          <p:nvPr/>
        </p:nvSpPr>
        <p:spPr>
          <a:xfrm>
            <a:off x="548640" y="1645920"/>
            <a:ext cx="6309360" cy="1261872"/>
          </a:xfrm>
          <a:prstGeom prst="roundRect">
            <a:avLst>
              <a:gd name="adj" fmla="val 7246"/>
            </a:avLst>
          </a:prstGeom>
          <a:solidFill>
            <a:schemeClr val="bg2"/>
          </a:solidFill>
          <a:ln w="12700">
            <a:solidFill>
              <a:schemeClr val="bg2"/>
            </a:solidFill>
            <a:prstDash val="solid"/>
          </a:ln>
        </p:spPr>
      </p:sp>
      <p:sp>
        <p:nvSpPr>
          <p:cNvPr id="7" name="Shape 4"/>
          <p:cNvSpPr/>
          <p:nvPr/>
        </p:nvSpPr>
        <p:spPr>
          <a:xfrm>
            <a:off x="777240" y="1847088"/>
            <a:ext cx="420624" cy="420624"/>
          </a:xfrm>
          <a:prstGeom prst="ellipse">
            <a:avLst/>
          </a:prstGeom>
          <a:solidFill>
            <a:schemeClr val="accent1"/>
          </a:solidFill>
          <a:ln w="12700">
            <a:solidFill>
              <a:schemeClr val="accent1"/>
            </a:solidFill>
            <a:prstDash val="solid"/>
          </a:ln>
        </p:spPr>
      </p:sp>
      <p:sp>
        <p:nvSpPr>
          <p:cNvPr id="8" name="Text 5"/>
          <p:cNvSpPr txBox="1"/>
          <p:nvPr/>
        </p:nvSpPr>
        <p:spPr>
          <a:xfrm>
            <a:off x="777240" y="1847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9" name="Text 6"/>
          <p:cNvSpPr txBox="1"/>
          <p:nvPr/>
        </p:nvSpPr>
        <p:spPr>
          <a:xfrm>
            <a:off x="1325880" y="1865376"/>
            <a:ext cx="534924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몇몇 하위 클래스만 쓰는가</a:t>
            </a:r>
            <a:endParaRPr lang="ko-KR" altLang="en-US" sz="1700" dirty="0"/>
          </a:p>
        </p:txBody>
      </p:sp>
      <p:sp>
        <p:nvSpPr>
          <p:cNvPr id="10" name="Text 7"/>
          <p:cNvSpPr txBox="1"/>
          <p:nvPr/>
        </p:nvSpPr>
        <p:spPr>
          <a:xfrm>
            <a:off x="1325880" y="2304288"/>
            <a:ext cx="5349240" cy="484632"/>
          </a:xfrm>
          <a:prstGeom prst="rect">
            <a:avLst/>
          </a:prstGeom>
          <a:noFill/>
          <a:ln/>
        </p:spPr>
        <p:txBody>
          <a:bodyPr wrap="square" lIns="0" tIns="0" rIns="0" bIns="0" rtlCol="0" anchor="t"/>
          <a:lstStyle/>
          <a:p>
            <a:pPr indent="0" marL="0" eaLnBrk="0">
              <a:buNone/>
            </a:pPr>
            <a:r>
              <a:rPr lang="ko-KR" altLang="en-US" sz="1400" dirty="0">
                <a:solidFill>
                  <a:schemeClr val="tx2"/>
                </a:solidFill>
              </a:rPr>
              <a:t>모두가 영향을 받는 기반 클래스를 키울 만큼의 이득이 없다. 직접 부르게 둘 수도 있다.</a:t>
            </a:r>
            <a:endParaRPr lang="ko-KR" altLang="en-US" sz="1400" dirty="0"/>
          </a:p>
        </p:txBody>
      </p:sp>
      <p:sp>
        <p:nvSpPr>
          <p:cNvPr id="11" name="card"/>
          <p:cNvSpPr/>
          <p:nvPr/>
        </p:nvSpPr>
        <p:spPr>
          <a:xfrm>
            <a:off x="548640" y="3017520"/>
            <a:ext cx="6309360" cy="1261872"/>
          </a:xfrm>
          <a:prstGeom prst="roundRect">
            <a:avLst>
              <a:gd name="adj" fmla="val 7246"/>
            </a:avLst>
          </a:prstGeom>
          <a:solidFill>
            <a:schemeClr val="bg2"/>
          </a:solidFill>
          <a:ln w="12700">
            <a:solidFill>
              <a:schemeClr val="bg2"/>
            </a:solidFill>
            <a:prstDash val="solid"/>
          </a:ln>
        </p:spPr>
      </p:sp>
      <p:sp>
        <p:nvSpPr>
          <p:cNvPr id="12" name="Shape 9"/>
          <p:cNvSpPr/>
          <p:nvPr/>
        </p:nvSpPr>
        <p:spPr>
          <a:xfrm>
            <a:off x="777240" y="321868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777240" y="32186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1325880" y="3236976"/>
            <a:ext cx="534924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상태를 바꾸는가</a:t>
            </a:r>
            <a:endParaRPr lang="ko-KR" altLang="en-US" sz="1700" dirty="0"/>
          </a:p>
        </p:txBody>
      </p:sp>
      <p:sp>
        <p:nvSpPr>
          <p:cNvPr id="15" name="Text 12"/>
          <p:cNvSpPr txBox="1"/>
          <p:nvPr/>
        </p:nvSpPr>
        <p:spPr>
          <a:xfrm>
            <a:off x="1325880" y="3675888"/>
            <a:ext cx="5349240" cy="484632"/>
          </a:xfrm>
          <a:prstGeom prst="rect">
            <a:avLst/>
          </a:prstGeom>
          <a:noFill/>
          <a:ln/>
        </p:spPr>
        <p:txBody>
          <a:bodyPr wrap="square" lIns="0" tIns="0" rIns="0" bIns="0" rtlCol="0" anchor="t"/>
          <a:lstStyle/>
          <a:p>
            <a:pPr indent="0" marL="0" eaLnBrk="0">
              <a:buNone/>
            </a:pPr>
            <a:r>
              <a:rPr lang="ko-KR" altLang="en-US" sz="1400" dirty="0">
                <a:solidFill>
                  <a:schemeClr val="tx2"/>
                </a:solidFill>
              </a:rPr>
              <a:t>읽기만 하는 호출은 비교적 안전하다. 상태를 바꾸는 호출이 제공 기능의 좋은 후보다.</a:t>
            </a:r>
            <a:endParaRPr lang="ko-KR" altLang="en-US" sz="1400" dirty="0"/>
          </a:p>
        </p:txBody>
      </p:sp>
      <p:sp>
        <p:nvSpPr>
          <p:cNvPr id="16" name="card"/>
          <p:cNvSpPr/>
          <p:nvPr/>
        </p:nvSpPr>
        <p:spPr>
          <a:xfrm>
            <a:off x="548640" y="4389120"/>
            <a:ext cx="6309360" cy="1261872"/>
          </a:xfrm>
          <a:prstGeom prst="roundRect">
            <a:avLst>
              <a:gd name="adj" fmla="val 7246"/>
            </a:avLst>
          </a:prstGeom>
          <a:solidFill>
            <a:schemeClr val="bg2"/>
          </a:solidFill>
          <a:ln w="12700">
            <a:solidFill>
              <a:schemeClr val="bg2"/>
            </a:solidFill>
            <a:prstDash val="solid"/>
          </a:ln>
        </p:spPr>
      </p:sp>
      <p:sp>
        <p:nvSpPr>
          <p:cNvPr id="17" name="Shape 14"/>
          <p:cNvSpPr/>
          <p:nvPr/>
        </p:nvSpPr>
        <p:spPr>
          <a:xfrm>
            <a:off x="777240" y="4590288"/>
            <a:ext cx="420624" cy="420624"/>
          </a:xfrm>
          <a:prstGeom prst="ellipse">
            <a:avLst/>
          </a:prstGeom>
          <a:solidFill>
            <a:schemeClr val="accent1"/>
          </a:solidFill>
          <a:ln w="12700">
            <a:solidFill>
              <a:schemeClr val="accent1"/>
            </a:solidFill>
            <a:prstDash val="solid"/>
          </a:ln>
        </p:spPr>
      </p:sp>
      <p:sp>
        <p:nvSpPr>
          <p:cNvPr id="18" name="Text 15"/>
          <p:cNvSpPr txBox="1"/>
          <p:nvPr/>
        </p:nvSpPr>
        <p:spPr>
          <a:xfrm>
            <a:off x="777240" y="45902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9" name="Text 16"/>
          <p:cNvSpPr txBox="1"/>
          <p:nvPr/>
        </p:nvSpPr>
        <p:spPr>
          <a:xfrm>
            <a:off x="1325880" y="4608576"/>
            <a:ext cx="5349240" cy="411480"/>
          </a:xfrm>
          <a:prstGeom prst="rect">
            <a:avLst/>
          </a:prstGeom>
          <a:noFill/>
          <a:ln/>
        </p:spPr>
        <p:txBody>
          <a:bodyPr wrap="square" lIns="0" tIns="0" rIns="0" bIns="0" rtlCol="0" anchor="ctr"/>
          <a:lstStyle/>
          <a:p>
            <a:pPr indent="0" marL="0" eaLnBrk="0">
              <a:buNone/>
            </a:pPr>
            <a:r>
              <a:rPr lang="ko-KR" altLang="en-US" sz="1700" b="1" dirty="0">
                <a:solidFill>
                  <a:schemeClr val="tx1"/>
                </a:solidFill>
              </a:rPr>
              <a:t>전달만 하는가</a:t>
            </a:r>
            <a:endParaRPr lang="ko-KR" altLang="en-US" sz="1700" dirty="0"/>
          </a:p>
        </p:txBody>
      </p:sp>
      <p:sp>
        <p:nvSpPr>
          <p:cNvPr id="20" name="Text 17"/>
          <p:cNvSpPr txBox="1"/>
          <p:nvPr/>
        </p:nvSpPr>
        <p:spPr>
          <a:xfrm>
            <a:off x="1325880" y="5047488"/>
            <a:ext cx="5349240" cy="484632"/>
          </a:xfrm>
          <a:prstGeom prst="rect">
            <a:avLst/>
          </a:prstGeom>
          <a:noFill/>
          <a:ln/>
        </p:spPr>
        <p:txBody>
          <a:bodyPr wrap="square" lIns="0" tIns="0" rIns="0" bIns="0" rtlCol="0" anchor="t"/>
          <a:lstStyle/>
          <a:p>
            <a:pPr indent="0" marL="0" eaLnBrk="0">
              <a:buNone/>
            </a:pPr>
            <a:r>
              <a:rPr lang="ko-KR" altLang="en-US" sz="1400" dirty="0">
                <a:solidFill>
                  <a:schemeClr val="tx2"/>
                </a:solidFill>
              </a:rPr>
              <a:t>가치가 적어 보여도, 기반 클래스의 필드를 하위 클래스에게서 감출 수 있다.</a:t>
            </a:r>
            <a:endParaRPr lang="ko-KR" altLang="en-US" sz="1400" dirty="0"/>
          </a:p>
        </p:txBody>
      </p:sp>
      <p:sp>
        <p:nvSpPr>
          <p:cNvPr id="21" name="codePanel"/>
          <p:cNvSpPr/>
          <p:nvPr/>
        </p:nvSpPr>
        <p:spPr>
          <a:xfrm>
            <a:off x="7178040" y="1645920"/>
            <a:ext cx="4465015" cy="1965960"/>
          </a:xfrm>
          <a:prstGeom prst="roundRect">
            <a:avLst>
              <a:gd name="adj" fmla="val 3721"/>
            </a:avLst>
          </a:prstGeom>
          <a:solidFill>
            <a:schemeClr val="tx1"/>
          </a:solidFill>
          <a:ln w="12700">
            <a:solidFill>
              <a:schemeClr val="tx1"/>
            </a:solidFill>
            <a:prstDash val="solid"/>
          </a:ln>
        </p:spPr>
      </p:sp>
      <p:sp>
        <p:nvSpPr>
          <p:cNvPr id="22" name="code"/>
          <p:cNvSpPr txBox="1"/>
          <p:nvPr/>
        </p:nvSpPr>
        <p:spPr>
          <a:xfrm>
            <a:off x="7287768" y="1737360"/>
            <a:ext cx="4245559" cy="1783080"/>
          </a:xfrm>
          <a:prstGeom prst="rect">
            <a:avLst/>
          </a:prstGeom>
          <a:noFill/>
          <a:ln/>
        </p:spPr>
        <p:txBody>
          <a:bodyPr wrap="square" lIns="635" tIns="635" rIns="635" bIns="635" rtlCol="0" anchor="t"/>
          <a:lstStyle/>
          <a:p>
            <a:pPr indent="0" marL="0" eaLnBrk="0">
              <a:buNone/>
            </a:pPr>
            <a:r>
              <a:rPr lang="ko-KR" altLang="en-US" sz="1300" dirty="0">
                <a:solidFill>
                  <a:schemeClr val="accent3"/>
                </a:solidFill>
                <a:latin typeface="Consolas" pitchFamily="34" charset="0"/>
                <a:ea typeface="Consolas" pitchFamily="34" charset="-122"/>
                <a:cs typeface="Consolas" pitchFamily="34" charset="-120"/>
              </a:rPr>
              <a:t>// 전달만 하는 제공 기능</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protected void PlaySound(</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    SoundId sound, double volume)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a:p>
            <a:pPr indent="0" marL="0" eaLnBrk="0">
              <a:buNone/>
            </a:pPr>
            <a:r>
              <a:rPr lang="ko-KR" altLang="en-US" sz="1300" b="1" dirty="0">
                <a:solidFill>
                  <a:schemeClr val="accent4"/>
                </a:solidFill>
                <a:latin typeface="Consolas" pitchFamily="34" charset="0"/>
                <a:ea typeface="Consolas" pitchFamily="34" charset="-122"/>
                <a:cs typeface="Consolas" pitchFamily="34" charset="-120"/>
              </a:rPr>
              <a:t>    _soundEngine.Play(sound, volume);</a:t>
            </a:r>
            <a:endParaRPr lang="ko-KR" altLang="en-US" sz="1300" dirty="0"/>
          </a:p>
          <a:p>
            <a:pPr indent="0" marL="0" eaLnBrk="0">
              <a:buNone/>
            </a:pPr>
            <a:r>
              <a:rPr lang="ko-KR" altLang="en-US" sz="1300" dirty="0">
                <a:solidFill>
                  <a:schemeClr val="bg1"/>
                </a:solidFill>
                <a:latin typeface="Consolas" pitchFamily="34" charset="0"/>
                <a:ea typeface="Consolas" pitchFamily="34" charset="-122"/>
                <a:cs typeface="Consolas" pitchFamily="34" charset="-120"/>
              </a:rPr>
              <a:t>}</a:t>
            </a:r>
            <a:endParaRPr lang="ko-KR" altLang="en-US" sz="1300" dirty="0"/>
          </a:p>
        </p:txBody>
      </p:sp>
      <p:sp>
        <p:nvSpPr>
          <p:cNvPr id="23" name="Text 20"/>
          <p:cNvSpPr txBox="1"/>
          <p:nvPr/>
        </p:nvSpPr>
        <p:spPr>
          <a:xfrm>
            <a:off x="7178040" y="3657600"/>
            <a:ext cx="4465015" cy="274320"/>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 예제를 C#으로 옮긴 코드</a:t>
            </a:r>
            <a:endParaRPr lang="ko-KR" altLang="en-US" sz="1100" dirty="0"/>
          </a:p>
        </p:txBody>
      </p:sp>
      <p:sp>
        <p:nvSpPr>
          <p:cNvPr id="24" name="card"/>
          <p:cNvSpPr/>
          <p:nvPr/>
        </p:nvSpPr>
        <p:spPr>
          <a:xfrm>
            <a:off x="7178040" y="4023360"/>
            <a:ext cx="4465015" cy="1627632"/>
          </a:xfrm>
          <a:prstGeom prst="roundRect">
            <a:avLst>
              <a:gd name="adj" fmla="val 5618"/>
            </a:avLst>
          </a:prstGeom>
          <a:solidFill>
            <a:schemeClr val="bg2"/>
          </a:solidFill>
          <a:ln w="12700">
            <a:solidFill>
              <a:schemeClr val="bg2"/>
            </a:solidFill>
            <a:prstDash val="solid"/>
          </a:ln>
        </p:spPr>
      </p:sp>
      <p:sp>
        <p:nvSpPr>
          <p:cNvPr id="25" name="Text 22"/>
          <p:cNvSpPr txBox="1"/>
          <p:nvPr/>
        </p:nvSpPr>
        <p:spPr>
          <a:xfrm>
            <a:off x="7406640" y="4242816"/>
            <a:ext cx="405353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감추는 효과</a:t>
            </a:r>
            <a:endParaRPr lang="ko-KR" altLang="en-US" sz="1700" dirty="0"/>
          </a:p>
        </p:txBody>
      </p:sp>
      <p:sp>
        <p:nvSpPr>
          <p:cNvPr id="26" name="Text 23"/>
          <p:cNvSpPr txBox="1"/>
          <p:nvPr/>
        </p:nvSpPr>
        <p:spPr>
          <a:xfrm>
            <a:off x="7406640" y="4754880"/>
            <a:ext cx="4007815" cy="758952"/>
          </a:xfrm>
          <a:prstGeom prst="rect">
            <a:avLst/>
          </a:prstGeom>
          <a:noFill/>
          <a:ln/>
        </p:spPr>
        <p:txBody>
          <a:bodyPr wrap="square" lIns="0" tIns="0" rIns="0" bIns="0" rtlCol="0" anchor="t"/>
          <a:lstStyle/>
          <a:p>
            <a:pPr indent="0" marL="0" eaLnBrk="0">
              <a:buNone/>
            </a:pPr>
            <a:r>
              <a:rPr lang="ko-KR" altLang="en-US" sz="1400" dirty="0">
                <a:solidFill>
                  <a:schemeClr val="tx2"/>
                </a:solidFill>
              </a:rPr>
              <a:t>_soundEngine은 Superpower 안에 숨는다. 하위 클래스는 손댈 수 없다.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21</a:t>
            </a:fld>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2</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메서드를 직접 줄까, 그 메서드를 가진 객체를 줄까</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기반 클래스가 숨겨 둔 상태는 어떻게 얻을까?</a:t>
            </a:r>
            <a:endParaRPr lang="ko-KR" altLang="en-US" sz="1500" dirty="0"/>
          </a:p>
        </p:txBody>
      </p:sp>
      <p:sp>
        <p:nvSpPr>
          <p:cNvPr id="6" name="Text 3"/>
          <p:cNvSpPr txBox="1"/>
          <p:nvPr/>
        </p:nvSpPr>
        <p:spPr>
          <a:xfrm>
            <a:off x="548640" y="1554480"/>
            <a:ext cx="5257800" cy="347472"/>
          </a:xfrm>
          <a:prstGeom prst="rect">
            <a:avLst/>
          </a:prstGeom>
          <a:noFill/>
          <a:ln/>
        </p:spPr>
        <p:txBody>
          <a:bodyPr wrap="square" lIns="0" tIns="0" rIns="0" bIns="0" rtlCol="0" anchor="t"/>
          <a:lstStyle/>
          <a:p>
            <a:pPr indent="0" marL="0" eaLnBrk="0">
              <a:buNone/>
            </a:pPr>
            <a:r>
              <a:rPr lang="ko-KR" altLang="en-US" sz="1500" b="1" dirty="0">
                <a:solidFill>
                  <a:schemeClr val="accent6"/>
                </a:solidFill>
              </a:rPr>
              <a:t>기반 클래스에 직접</a:t>
            </a:r>
            <a:endParaRPr lang="ko-KR" altLang="en-US" sz="1500" dirty="0"/>
          </a:p>
        </p:txBody>
      </p:sp>
      <p:sp>
        <p:nvSpPr>
          <p:cNvPr id="7" name="codePanel"/>
          <p:cNvSpPr/>
          <p:nvPr/>
        </p:nvSpPr>
        <p:spPr>
          <a:xfrm>
            <a:off x="548640" y="1920240"/>
            <a:ext cx="5257800" cy="2514600"/>
          </a:xfrm>
          <a:prstGeom prst="roundRect">
            <a:avLst>
              <a:gd name="adj" fmla="val 2909"/>
            </a:avLst>
          </a:prstGeom>
          <a:solidFill>
            <a:schemeClr val="tx1"/>
          </a:solidFill>
          <a:ln w="12700">
            <a:solidFill>
              <a:schemeClr val="tx1"/>
            </a:solidFill>
            <a:prstDash val="solid"/>
          </a:ln>
        </p:spPr>
      </p:sp>
      <p:sp>
        <p:nvSpPr>
          <p:cNvPr id="8" name="code"/>
          <p:cNvSpPr txBox="1"/>
          <p:nvPr/>
        </p:nvSpPr>
        <p:spPr>
          <a:xfrm>
            <a:off x="658368" y="2011680"/>
            <a:ext cx="5038344" cy="2331720"/>
          </a:xfrm>
          <a:prstGeom prst="rect">
            <a:avLst/>
          </a:prstGeom>
          <a:noFill/>
          <a:ln/>
        </p:spPr>
        <p:txBody>
          <a:bodyPr wrap="square" lIns="635" tIns="635" rIns="635" bIns="635" rtlCol="0" anchor="t"/>
          <a:lstStyle/>
          <a:p>
            <a:pPr indent="0" marL="0" eaLnBrk="0">
              <a:buNone/>
            </a:pPr>
            <a:r>
              <a:rPr lang="ko-KR" altLang="en-US" sz="1200" dirty="0">
                <a:solidFill>
                  <a:schemeClr val="bg1"/>
                </a:solidFill>
                <a:latin typeface="Consolas" pitchFamily="34" charset="0"/>
                <a:ea typeface="Consolas" pitchFamily="34" charset="-122"/>
                <a:cs typeface="Consolas" pitchFamily="34" charset="-120"/>
              </a:rPr>
              <a:t>public abstract class Superpower</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protected void PlaySound(</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SoundId sound, double volume) {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protected void StopSound(SoundId sound) {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protected void SetVolume(</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SoundId sound, double volume) { }</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 </a:t>
            </a:r>
            <a:endParaRPr lang="ko-KR" altLang="en-US" sz="1200" dirty="0"/>
          </a:p>
          <a:p>
            <a:pPr indent="0" marL="0" eaLnBrk="0">
              <a:buNone/>
            </a:pPr>
            <a:r>
              <a:rPr lang="ko-KR" altLang="en-US" sz="1200" dirty="0">
                <a:solidFill>
                  <a:schemeClr val="accent3"/>
                </a:solidFill>
                <a:latin typeface="Consolas" pitchFamily="34" charset="0"/>
                <a:ea typeface="Consolas" pitchFamily="34" charset="-122"/>
                <a:cs typeface="Consolas" pitchFamily="34" charset="-120"/>
              </a:rPr>
              <a:t>    // 샌드박스 메서드와 다른 제공 기능...</a:t>
            </a:r>
            <a:endParaRPr lang="ko-KR" altLang="en-US" sz="1200" dirty="0"/>
          </a:p>
          <a:p>
            <a:pPr indent="0" marL="0" eaLnBrk="0">
              <a:buNone/>
            </a:pPr>
            <a:r>
              <a:rPr lang="ko-KR" altLang="en-US" sz="1200" dirty="0">
                <a:solidFill>
                  <a:schemeClr val="bg1"/>
                </a:solidFill>
                <a:latin typeface="Consolas" pitchFamily="34" charset="0"/>
                <a:ea typeface="Consolas" pitchFamily="34" charset="-122"/>
                <a:cs typeface="Consolas" pitchFamily="34" charset="-120"/>
              </a:rPr>
              <a:t>}</a:t>
            </a:r>
            <a:endParaRPr lang="ko-KR" altLang="en-US" sz="1200" dirty="0"/>
          </a:p>
        </p:txBody>
      </p:sp>
      <p:sp>
        <p:nvSpPr>
          <p:cNvPr id="9" name="Text 6"/>
          <p:cNvSpPr txBox="1"/>
          <p:nvPr/>
        </p:nvSpPr>
        <p:spPr>
          <a:xfrm>
            <a:off x="6035040" y="1554480"/>
            <a:ext cx="5608015" cy="347472"/>
          </a:xfrm>
          <a:prstGeom prst="rect">
            <a:avLst/>
          </a:prstGeom>
          <a:noFill/>
          <a:ln/>
        </p:spPr>
        <p:txBody>
          <a:bodyPr wrap="square" lIns="0" tIns="0" rIns="0" bIns="0" rtlCol="0" anchor="t"/>
          <a:lstStyle/>
          <a:p>
            <a:pPr indent="0" marL="0" eaLnBrk="0">
              <a:buNone/>
            </a:pPr>
            <a:r>
              <a:rPr lang="ko-KR" altLang="en-US" sz="1500" b="1" dirty="0">
                <a:solidFill>
                  <a:schemeClr val="accent2"/>
                </a:solidFill>
              </a:rPr>
              <a:t>그 기능을 가진 객체를 통해</a:t>
            </a:r>
            <a:endParaRPr lang="ko-KR" altLang="en-US" sz="1500" dirty="0"/>
          </a:p>
        </p:txBody>
      </p:sp>
      <p:sp>
        <p:nvSpPr>
          <p:cNvPr id="10" name="codePanel"/>
          <p:cNvSpPr/>
          <p:nvPr/>
        </p:nvSpPr>
        <p:spPr>
          <a:xfrm>
            <a:off x="6035040" y="1920240"/>
            <a:ext cx="5608015" cy="3108960"/>
          </a:xfrm>
          <a:prstGeom prst="roundRect">
            <a:avLst>
              <a:gd name="adj" fmla="val 2353"/>
            </a:avLst>
          </a:prstGeom>
          <a:solidFill>
            <a:schemeClr val="tx1"/>
          </a:solidFill>
          <a:ln w="12700">
            <a:solidFill>
              <a:schemeClr val="tx1"/>
            </a:solidFill>
            <a:prstDash val="solid"/>
          </a:ln>
        </p:spPr>
      </p:sp>
      <p:sp>
        <p:nvSpPr>
          <p:cNvPr id="11" name="code"/>
          <p:cNvSpPr txBox="1"/>
          <p:nvPr/>
        </p:nvSpPr>
        <p:spPr>
          <a:xfrm>
            <a:off x="6144768" y="2011680"/>
            <a:ext cx="5388559" cy="2926080"/>
          </a:xfrm>
          <a:prstGeom prst="rect">
            <a:avLst/>
          </a:prstGeom>
          <a:noFill/>
          <a:ln/>
        </p:spPr>
        <p:txBody>
          <a:bodyPr wrap="square" lIns="635" tIns="635" rIns="635" bIns="635" rtlCol="0" anchor="t"/>
          <a:lstStyle/>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class SoundPlayer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void PlaySound(SoundId sound, double volume) {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void StopSound(SoundId sound) {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public void SetVolume(SoundId sound, double volume) {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abstract class Superpower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readonly SoundPlayer _soundPlayer = new SoundPlayer();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protected SoundPlayer GetSoundPlayer()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return _soundPlayer;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12" name="Text 9"/>
          <p:cNvSpPr txBox="1"/>
          <p:nvPr/>
        </p:nvSpPr>
        <p:spPr>
          <a:xfrm>
            <a:off x="548640" y="4480560"/>
            <a:ext cx="5257800" cy="274320"/>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 예제를 C#으로 옮긴 코드</a:t>
            </a:r>
            <a:endParaRPr lang="ko-KR" altLang="en-US" sz="1100" dirty="0"/>
          </a:p>
        </p:txBody>
      </p:sp>
      <p:sp>
        <p:nvSpPr>
          <p:cNvPr id="13" name="Shape 10"/>
          <p:cNvSpPr/>
          <p:nvPr/>
        </p:nvSpPr>
        <p:spPr>
          <a:xfrm>
            <a:off x="548640" y="4846320"/>
            <a:ext cx="1691640" cy="868680"/>
          </a:xfrm>
          <a:prstGeom prst="roundRect">
            <a:avLst>
              <a:gd name="adj" fmla="val 8421"/>
            </a:avLst>
          </a:prstGeom>
          <a:solidFill>
            <a:schemeClr val="bg2"/>
          </a:solidFill>
          <a:ln w="12700">
            <a:solidFill>
              <a:schemeClr val="bg2"/>
            </a:solidFill>
            <a:prstDash val="solid"/>
          </a:ln>
        </p:spPr>
      </p:sp>
      <p:sp>
        <p:nvSpPr>
          <p:cNvPr id="14" name="Text 11"/>
          <p:cNvSpPr txBox="1"/>
          <p:nvPr/>
        </p:nvSpPr>
        <p:spPr>
          <a:xfrm>
            <a:off x="658368" y="4901184"/>
            <a:ext cx="1472184" cy="347472"/>
          </a:xfrm>
          <a:prstGeom prst="rect">
            <a:avLst/>
          </a:prstGeom>
          <a:noFill/>
          <a:ln/>
        </p:spPr>
        <p:txBody>
          <a:bodyPr wrap="square" lIns="0" tIns="0" rIns="0" bIns="0" rtlCol="0" anchor="t"/>
          <a:lstStyle/>
          <a:p>
            <a:pPr indent="0" marL="0" eaLnBrk="0">
              <a:buNone/>
            </a:pPr>
            <a:r>
              <a:rPr lang="ko-KR" altLang="en-US" sz="1400" b="1" dirty="0">
                <a:solidFill>
                  <a:schemeClr val="accent2"/>
                </a:solidFill>
              </a:rPr>
              <a:t>메서드 수</a:t>
            </a:r>
            <a:endParaRPr lang="ko-KR" altLang="en-US" sz="1400" dirty="0"/>
          </a:p>
        </p:txBody>
      </p:sp>
      <p:sp>
        <p:nvSpPr>
          <p:cNvPr id="15" name="Text 12"/>
          <p:cNvSpPr txBox="1"/>
          <p:nvPr/>
        </p:nvSpPr>
        <p:spPr>
          <a:xfrm>
            <a:off x="658368" y="5248656"/>
            <a:ext cx="1472184" cy="411480"/>
          </a:xfrm>
          <a:prstGeom prst="rect">
            <a:avLst/>
          </a:prstGeom>
          <a:noFill/>
          <a:ln/>
        </p:spPr>
        <p:txBody>
          <a:bodyPr wrap="square" lIns="0" tIns="0" rIns="0" bIns="0" rtlCol="0" anchor="t"/>
          <a:lstStyle/>
          <a:p>
            <a:pPr indent="0" marL="0" eaLnBrk="0">
              <a:buNone/>
            </a:pPr>
            <a:r>
              <a:rPr lang="ko-KR" altLang="en-US" sz="1200" dirty="0">
                <a:solidFill>
                  <a:schemeClr val="tx2"/>
                </a:solidFill>
              </a:rPr>
              <a:t>셋에서 하나로</a:t>
            </a:r>
            <a:endParaRPr lang="ko-KR" altLang="en-US" sz="1200" dirty="0"/>
          </a:p>
        </p:txBody>
      </p:sp>
      <p:sp>
        <p:nvSpPr>
          <p:cNvPr id="16" name="Shape 13"/>
          <p:cNvSpPr/>
          <p:nvPr/>
        </p:nvSpPr>
        <p:spPr>
          <a:xfrm>
            <a:off x="2331720" y="4846320"/>
            <a:ext cx="1691640" cy="868680"/>
          </a:xfrm>
          <a:prstGeom prst="roundRect">
            <a:avLst>
              <a:gd name="adj" fmla="val 8421"/>
            </a:avLst>
          </a:prstGeom>
          <a:solidFill>
            <a:schemeClr val="bg2"/>
          </a:solidFill>
          <a:ln w="12700">
            <a:solidFill>
              <a:schemeClr val="bg2"/>
            </a:solidFill>
            <a:prstDash val="solid"/>
          </a:ln>
        </p:spPr>
      </p:sp>
      <p:sp>
        <p:nvSpPr>
          <p:cNvPr id="17" name="Text 14"/>
          <p:cNvSpPr txBox="1"/>
          <p:nvPr/>
        </p:nvSpPr>
        <p:spPr>
          <a:xfrm>
            <a:off x="2441448" y="4901184"/>
            <a:ext cx="1472184" cy="347472"/>
          </a:xfrm>
          <a:prstGeom prst="rect">
            <a:avLst/>
          </a:prstGeom>
          <a:noFill/>
          <a:ln/>
        </p:spPr>
        <p:txBody>
          <a:bodyPr wrap="square" lIns="0" tIns="0" rIns="0" bIns="0" rtlCol="0" anchor="t"/>
          <a:lstStyle/>
          <a:p>
            <a:pPr indent="0" marL="0" eaLnBrk="0">
              <a:buNone/>
            </a:pPr>
            <a:r>
              <a:rPr lang="ko-KR" altLang="en-US" sz="1400" b="1" dirty="0">
                <a:solidFill>
                  <a:schemeClr val="accent2"/>
                </a:solidFill>
              </a:rPr>
              <a:t>고치기</a:t>
            </a:r>
            <a:endParaRPr lang="ko-KR" altLang="en-US" sz="1400" dirty="0"/>
          </a:p>
        </p:txBody>
      </p:sp>
      <p:sp>
        <p:nvSpPr>
          <p:cNvPr id="18" name="Text 15"/>
          <p:cNvSpPr txBox="1"/>
          <p:nvPr/>
        </p:nvSpPr>
        <p:spPr>
          <a:xfrm>
            <a:off x="2441448" y="5248656"/>
            <a:ext cx="1472184" cy="411480"/>
          </a:xfrm>
          <a:prstGeom prst="rect">
            <a:avLst/>
          </a:prstGeom>
          <a:noFill/>
          <a:ln/>
        </p:spPr>
        <p:txBody>
          <a:bodyPr wrap="square" lIns="0" tIns="0" rIns="0" bIns="0" rtlCol="0" anchor="t"/>
          <a:lstStyle/>
          <a:p>
            <a:pPr indent="0" marL="0" eaLnBrk="0">
              <a:buNone/>
            </a:pPr>
            <a:r>
              <a:rPr lang="ko-KR" altLang="en-US" sz="1200" dirty="0">
                <a:solidFill>
                  <a:schemeClr val="tx2"/>
                </a:solidFill>
              </a:rPr>
              <a:t>도우미가 쉽다</a:t>
            </a:r>
            <a:endParaRPr lang="ko-KR" altLang="en-US" sz="1200" dirty="0"/>
          </a:p>
        </p:txBody>
      </p:sp>
      <p:sp>
        <p:nvSpPr>
          <p:cNvPr id="19" name="Shape 16"/>
          <p:cNvSpPr/>
          <p:nvPr/>
        </p:nvSpPr>
        <p:spPr>
          <a:xfrm>
            <a:off x="4114800" y="4846320"/>
            <a:ext cx="1691640" cy="868680"/>
          </a:xfrm>
          <a:prstGeom prst="roundRect">
            <a:avLst>
              <a:gd name="adj" fmla="val 8421"/>
            </a:avLst>
          </a:prstGeom>
          <a:solidFill>
            <a:schemeClr val="bg2"/>
          </a:solidFill>
          <a:ln w="12700">
            <a:solidFill>
              <a:schemeClr val="bg2"/>
            </a:solidFill>
            <a:prstDash val="solid"/>
          </a:ln>
        </p:spPr>
      </p:sp>
      <p:sp>
        <p:nvSpPr>
          <p:cNvPr id="20" name="Text 17"/>
          <p:cNvSpPr txBox="1"/>
          <p:nvPr/>
        </p:nvSpPr>
        <p:spPr>
          <a:xfrm>
            <a:off x="4224528" y="4901184"/>
            <a:ext cx="1472184" cy="347472"/>
          </a:xfrm>
          <a:prstGeom prst="rect">
            <a:avLst/>
          </a:prstGeom>
          <a:noFill/>
          <a:ln/>
        </p:spPr>
        <p:txBody>
          <a:bodyPr wrap="square" lIns="0" tIns="0" rIns="0" bIns="0" rtlCol="0" anchor="t"/>
          <a:lstStyle/>
          <a:p>
            <a:pPr indent="0" marL="0" eaLnBrk="0">
              <a:buNone/>
            </a:pPr>
            <a:r>
              <a:rPr lang="ko-KR" altLang="en-US" sz="1400" b="1" dirty="0">
                <a:solidFill>
                  <a:schemeClr val="accent2"/>
                </a:solidFill>
              </a:rPr>
              <a:t>결합</a:t>
            </a:r>
            <a:endParaRPr lang="ko-KR" altLang="en-US" sz="1400" dirty="0"/>
          </a:p>
        </p:txBody>
      </p:sp>
      <p:sp>
        <p:nvSpPr>
          <p:cNvPr id="21" name="Text 18"/>
          <p:cNvSpPr txBox="1"/>
          <p:nvPr/>
        </p:nvSpPr>
        <p:spPr>
          <a:xfrm>
            <a:off x="4224528" y="5248656"/>
            <a:ext cx="1472184" cy="411480"/>
          </a:xfrm>
          <a:prstGeom prst="rect">
            <a:avLst/>
          </a:prstGeom>
          <a:noFill/>
          <a:ln/>
        </p:spPr>
        <p:txBody>
          <a:bodyPr wrap="square" lIns="0" tIns="0" rIns="0" bIns="0" rtlCol="0" anchor="t"/>
          <a:lstStyle/>
          <a:p>
            <a:pPr indent="0" marL="0" eaLnBrk="0">
              <a:buNone/>
            </a:pPr>
            <a:r>
              <a:rPr lang="ko-KR" altLang="en-US" sz="1200" dirty="0">
                <a:solidFill>
                  <a:schemeClr val="tx2"/>
                </a:solidFill>
              </a:rPr>
              <a:t>SoundPlayer 하나로</a:t>
            </a:r>
            <a:endParaRPr lang="ko-KR" altLang="en-US" sz="1200" dirty="0"/>
          </a:p>
        </p:txBody>
      </p:sp>
      <p:sp>
        <p:nvSpPr>
          <p:cNvPr id="22" name="Text 19"/>
          <p:cNvSpPr txBox="1"/>
          <p:nvPr/>
        </p:nvSpPr>
        <p:spPr>
          <a:xfrm>
            <a:off x="6035040" y="5120640"/>
            <a:ext cx="5608015" cy="365760"/>
          </a:xfrm>
          <a:prstGeom prst="rect">
            <a:avLst/>
          </a:prstGeom>
          <a:noFill/>
          <a:ln/>
        </p:spPr>
        <p:txBody>
          <a:bodyPr wrap="square" lIns="0" tIns="0" rIns="0" bIns="0" rtlCol="0" anchor="t"/>
          <a:lstStyle/>
          <a:p>
            <a:pPr indent="0" marL="0" eaLnBrk="0">
              <a:buNone/>
            </a:pPr>
            <a:r>
              <a:rPr lang="ko-KR" altLang="en-US" sz="1300" dirty="0">
                <a:solidFill>
                  <a:schemeClr val="tx2"/>
                </a:solidFill>
                <a:latin typeface="Consolas" pitchFamily="34" charset="0"/>
                <a:ea typeface="Consolas" pitchFamily="34" charset="-122"/>
                <a:cs typeface="Consolas" pitchFamily="34" charset="-120"/>
              </a:rPr>
              <a:t>하위 클래스에서: GetSoundPlayer().PlaySound(...)</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22</a:t>
            </a:fld>
            <a:endParaRPr lang="ko-KR"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3 · 방법 1</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필요한 상태를 기반 클래스의 생성자로 넘긴다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하위 클래스가 이 상태를 모르게 하려면 생성자 말고 어디로 넘길까?</a:t>
            </a:r>
            <a:endParaRPr lang="ko-KR" altLang="en-US" sz="1500" dirty="0"/>
          </a:p>
        </p:txBody>
      </p:sp>
      <p:sp>
        <p:nvSpPr>
          <p:cNvPr id="6" name="codePanel"/>
          <p:cNvSpPr/>
          <p:nvPr/>
        </p:nvSpPr>
        <p:spPr>
          <a:xfrm>
            <a:off x="548640" y="1600200"/>
            <a:ext cx="6583680" cy="2514600"/>
          </a:xfrm>
          <a:prstGeom prst="roundRect">
            <a:avLst>
              <a:gd name="adj" fmla="val 2909"/>
            </a:avLst>
          </a:prstGeom>
          <a:solidFill>
            <a:schemeClr val="tx1"/>
          </a:solidFill>
          <a:ln w="12700">
            <a:solidFill>
              <a:schemeClr val="tx1"/>
            </a:solidFill>
            <a:prstDash val="solid"/>
          </a:ln>
        </p:spPr>
      </p:sp>
      <p:sp>
        <p:nvSpPr>
          <p:cNvPr id="7" name="code"/>
          <p:cNvSpPr txBox="1"/>
          <p:nvPr/>
        </p:nvSpPr>
        <p:spPr>
          <a:xfrm>
            <a:off x="658368" y="1691640"/>
            <a:ext cx="6364224" cy="2331720"/>
          </a:xfrm>
          <a:prstGeom prst="rect">
            <a:avLst/>
          </a:prstGeom>
          <a:noFill/>
          <a:ln/>
        </p:spPr>
        <p:txBody>
          <a:bodyPr wrap="square" lIns="635" tIns="635" rIns="635" bIns="635" rtlCol="0" anchor="t"/>
          <a:lstStyle/>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abstract class Superpower</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readonly ParticleSystem _particles;</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public Superpower(ParticleSystem particles)</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_particles = particles;</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 </a:t>
            </a:r>
            <a:endParaRPr lang="ko-KR" altLang="en-US" sz="1250" dirty="0"/>
          </a:p>
          <a:p>
            <a:pPr indent="0" marL="0" eaLnBrk="0">
              <a:buNone/>
            </a:pPr>
            <a:r>
              <a:rPr lang="ko-KR" altLang="en-US" sz="1250" dirty="0">
                <a:solidFill>
                  <a:schemeClr val="accent3"/>
                </a:solidFill>
                <a:latin typeface="Consolas" pitchFamily="34" charset="0"/>
                <a:ea typeface="Consolas" pitchFamily="34" charset="-122"/>
                <a:cs typeface="Consolas" pitchFamily="34" charset="-120"/>
              </a:rPr>
              <a:t>    // 샌드박스 메서드와 다른 제공 기능...</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p:txBody>
      </p:sp>
      <p:sp>
        <p:nvSpPr>
          <p:cNvPr id="8" name="codeCaption"/>
          <p:cNvSpPr txBox="1"/>
          <p:nvPr/>
        </p:nvSpPr>
        <p:spPr>
          <a:xfrm>
            <a:off x="4023360" y="169164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9" name="codePanel"/>
          <p:cNvSpPr/>
          <p:nvPr/>
        </p:nvSpPr>
        <p:spPr>
          <a:xfrm>
            <a:off x="548640" y="4297680"/>
            <a:ext cx="6583680" cy="1371600"/>
          </a:xfrm>
          <a:prstGeom prst="roundRect">
            <a:avLst>
              <a:gd name="adj" fmla="val 5333"/>
            </a:avLst>
          </a:prstGeom>
          <a:solidFill>
            <a:schemeClr val="tx1"/>
          </a:solidFill>
          <a:ln w="12700">
            <a:solidFill>
              <a:schemeClr val="tx1"/>
            </a:solidFill>
            <a:prstDash val="solid"/>
          </a:ln>
        </p:spPr>
      </p:sp>
      <p:sp>
        <p:nvSpPr>
          <p:cNvPr id="10" name="code"/>
          <p:cNvSpPr txBox="1"/>
          <p:nvPr/>
        </p:nvSpPr>
        <p:spPr>
          <a:xfrm>
            <a:off x="658368" y="4389120"/>
            <a:ext cx="6364224" cy="1188720"/>
          </a:xfrm>
          <a:prstGeom prst="rect">
            <a:avLst/>
          </a:prstGeom>
          <a:noFill/>
          <a:ln/>
        </p:spPr>
        <p:txBody>
          <a:bodyPr wrap="square" lIns="635" tIns="635" rIns="635" bIns="635" rtlCol="0" anchor="t"/>
          <a:lstStyle/>
          <a:p>
            <a:pPr indent="0" marL="0" eaLnBrk="0">
              <a:buNone/>
            </a:pPr>
            <a:r>
              <a:rPr lang="ko-KR" altLang="en-US" sz="1250" dirty="0">
                <a:solidFill>
                  <a:schemeClr val="bg1"/>
                </a:solidFill>
                <a:latin typeface="Consolas" pitchFamily="34" charset="0"/>
                <a:ea typeface="Consolas" pitchFamily="34" charset="-122"/>
                <a:cs typeface="Consolas" pitchFamily="34" charset="-120"/>
              </a:rPr>
              <a:t>public class SkyLaunch : Superpower</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public SkyLaunch(ParticleSystem particles)</a:t>
            </a:r>
            <a:endParaRPr lang="ko-KR" altLang="en-US" sz="1250" dirty="0"/>
          </a:p>
          <a:p>
            <a:pPr indent="0" marL="0" eaLnBrk="0">
              <a:buNone/>
            </a:pPr>
            <a:r>
              <a:rPr lang="ko-KR" altLang="en-US" sz="1250" b="1" dirty="0">
                <a:solidFill>
                  <a:schemeClr val="accent4"/>
                </a:solidFill>
                <a:latin typeface="Consolas" pitchFamily="34" charset="0"/>
                <a:ea typeface="Consolas" pitchFamily="34" charset="-122"/>
                <a:cs typeface="Consolas" pitchFamily="34" charset="-120"/>
              </a:rPr>
              <a:t>        : base(particles) { }</a:t>
            </a:r>
            <a:endParaRPr lang="ko-KR" altLang="en-US" sz="1250" dirty="0"/>
          </a:p>
          <a:p>
            <a:pPr indent="0" marL="0" eaLnBrk="0">
              <a:buNone/>
            </a:pPr>
            <a:r>
              <a:rPr lang="ko-KR" altLang="en-US" sz="1250" dirty="0">
                <a:solidFill>
                  <a:schemeClr val="bg1"/>
                </a:solidFill>
                <a:latin typeface="Consolas" pitchFamily="34" charset="0"/>
                <a:ea typeface="Consolas" pitchFamily="34" charset="-122"/>
                <a:cs typeface="Consolas" pitchFamily="34" charset="-120"/>
              </a:rPr>
              <a:t>}</a:t>
            </a:r>
            <a:endParaRPr lang="ko-KR" altLang="en-US" sz="1250" dirty="0"/>
          </a:p>
        </p:txBody>
      </p:sp>
      <p:sp>
        <p:nvSpPr>
          <p:cNvPr id="11" name="card"/>
          <p:cNvSpPr/>
          <p:nvPr/>
        </p:nvSpPr>
        <p:spPr>
          <a:xfrm>
            <a:off x="7498080" y="1600200"/>
            <a:ext cx="4144975" cy="1554480"/>
          </a:xfrm>
          <a:prstGeom prst="roundRect">
            <a:avLst>
              <a:gd name="adj" fmla="val 5882"/>
            </a:avLst>
          </a:prstGeom>
          <a:solidFill>
            <a:schemeClr val="bg2"/>
          </a:solidFill>
          <a:ln w="12700">
            <a:solidFill>
              <a:schemeClr val="bg2"/>
            </a:solidFill>
            <a:prstDash val="solid"/>
          </a:ln>
        </p:spPr>
      </p:sp>
      <p:sp>
        <p:nvSpPr>
          <p:cNvPr id="12" name="Text 9"/>
          <p:cNvSpPr txBox="1"/>
          <p:nvPr/>
        </p:nvSpPr>
        <p:spPr>
          <a:xfrm>
            <a:off x="7726680" y="181965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좋은 점</a:t>
            </a:r>
            <a:endParaRPr lang="ko-KR" altLang="en-US" sz="1700" dirty="0"/>
          </a:p>
        </p:txBody>
      </p:sp>
      <p:sp>
        <p:nvSpPr>
          <p:cNvPr id="13" name="Text 10"/>
          <p:cNvSpPr txBox="1"/>
          <p:nvPr/>
        </p:nvSpPr>
        <p:spPr>
          <a:xfrm>
            <a:off x="7726680" y="2331720"/>
            <a:ext cx="3687775" cy="685800"/>
          </a:xfrm>
          <a:prstGeom prst="rect">
            <a:avLst/>
          </a:prstGeom>
          <a:noFill/>
          <a:ln/>
        </p:spPr>
        <p:txBody>
          <a:bodyPr wrap="square" lIns="0" tIns="0" rIns="0" bIns="0" rtlCol="0" anchor="t"/>
          <a:lstStyle/>
          <a:p>
            <a:pPr indent="0" marL="0" eaLnBrk="0">
              <a:buNone/>
            </a:pPr>
            <a:r>
              <a:rPr lang="ko-KR" altLang="en-US" sz="1400" dirty="0">
                <a:solidFill>
                  <a:schemeClr val="tx2"/>
                </a:solidFill>
              </a:rPr>
              <a:t>만들어질 때 반드시 파티클 시스템을 갖는다.</a:t>
            </a:r>
            <a:endParaRPr lang="ko-KR" altLang="en-US" sz="1400" dirty="0"/>
          </a:p>
        </p:txBody>
      </p:sp>
      <p:sp>
        <p:nvSpPr>
          <p:cNvPr id="14" name="card"/>
          <p:cNvSpPr/>
          <p:nvPr/>
        </p:nvSpPr>
        <p:spPr>
          <a:xfrm>
            <a:off x="7498080" y="3291840"/>
            <a:ext cx="4144975" cy="2377440"/>
          </a:xfrm>
          <a:prstGeom prst="roundRect">
            <a:avLst>
              <a:gd name="adj" fmla="val 3846"/>
            </a:avLst>
          </a:prstGeom>
          <a:solidFill>
            <a:schemeClr val="bg2"/>
          </a:solidFill>
          <a:ln w="12700">
            <a:solidFill>
              <a:schemeClr val="bg2"/>
            </a:solidFill>
            <a:prstDash val="solid"/>
          </a:ln>
        </p:spPr>
      </p:sp>
      <p:sp>
        <p:nvSpPr>
          <p:cNvPr id="15" name="Text 12"/>
          <p:cNvSpPr txBox="1"/>
          <p:nvPr/>
        </p:nvSpPr>
        <p:spPr>
          <a:xfrm>
            <a:off x="7726680" y="351129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문제</a:t>
            </a:r>
            <a:endParaRPr lang="ko-KR" altLang="en-US" sz="1700" dirty="0"/>
          </a:p>
        </p:txBody>
      </p:sp>
      <p:sp>
        <p:nvSpPr>
          <p:cNvPr id="16" name="Text 13"/>
          <p:cNvSpPr txBox="1"/>
          <p:nvPr/>
        </p:nvSpPr>
        <p:spPr>
          <a:xfrm>
            <a:off x="7726680" y="4023360"/>
            <a:ext cx="3687775" cy="1508760"/>
          </a:xfrm>
          <a:prstGeom prst="rect">
            <a:avLst/>
          </a:prstGeom>
          <a:noFill/>
          <a:ln/>
        </p:spPr>
        <p:txBody>
          <a:bodyPr wrap="square" lIns="0" tIns="0" rIns="0" bIns="0" rtlCol="0" anchor="t"/>
          <a:lstStyle/>
          <a:p>
            <a:pPr indent="0" marL="0" eaLnBrk="0">
              <a:buNone/>
            </a:pPr>
            <a:r>
              <a:rPr lang="ko-KR" altLang="en-US" sz="1400" dirty="0">
                <a:solidFill>
                  <a:schemeClr val="tx2"/>
                </a:solidFill>
              </a:rPr>
              <a:t>모든 하위 클래스가 감추고 싶던 상태를 알게 된다. 기반 클래스에 상태가 늘면 모든 하위 클래스의 생성자를 고친다.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23</a:t>
            </a:fld>
            <a:endParaRPr lang="ko-KR"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3 · 방법 2</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만든 뒤에 Init()으로 넘기는 2단계 초기화</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모든 초능력이 같은 파티클 시스템을 쓴다면 더 간단한 방법은 없을까?</a:t>
            </a:r>
            <a:endParaRPr lang="ko-KR" altLang="en-US" sz="1500" dirty="0"/>
          </a:p>
        </p:txBody>
      </p:sp>
      <p:sp>
        <p:nvSpPr>
          <p:cNvPr id="6" name="Text 3"/>
          <p:cNvSpPr txBox="1"/>
          <p:nvPr/>
        </p:nvSpPr>
        <p:spPr>
          <a:xfrm>
            <a:off x="548640" y="1600200"/>
            <a:ext cx="6583680"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두 단계로 만든다</a:t>
            </a:r>
            <a:endParaRPr lang="ko-KR" altLang="en-US" sz="1600" dirty="0"/>
          </a:p>
        </p:txBody>
      </p:sp>
      <p:sp>
        <p:nvSpPr>
          <p:cNvPr id="7" name="codePanel"/>
          <p:cNvSpPr/>
          <p:nvPr/>
        </p:nvSpPr>
        <p:spPr>
          <a:xfrm>
            <a:off x="548640" y="2011680"/>
            <a:ext cx="6583680" cy="868680"/>
          </a:xfrm>
          <a:prstGeom prst="roundRect">
            <a:avLst>
              <a:gd name="adj" fmla="val 8421"/>
            </a:avLst>
          </a:prstGeom>
          <a:solidFill>
            <a:schemeClr val="tx1"/>
          </a:solidFill>
          <a:ln w="12700">
            <a:solidFill>
              <a:schemeClr val="tx1"/>
            </a:solidFill>
            <a:prstDash val="solid"/>
          </a:ln>
        </p:spPr>
      </p:sp>
      <p:sp>
        <p:nvSpPr>
          <p:cNvPr id="8" name="code"/>
          <p:cNvSpPr txBox="1"/>
          <p:nvPr/>
        </p:nvSpPr>
        <p:spPr>
          <a:xfrm>
            <a:off x="658368" y="2103120"/>
            <a:ext cx="6364224" cy="68580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Superpower power = new SkyLaunch();</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power.Init(particles);</a:t>
            </a:r>
            <a:endParaRPr lang="ko-KR" altLang="en-US" sz="1400" dirty="0"/>
          </a:p>
        </p:txBody>
      </p:sp>
      <p:sp>
        <p:nvSpPr>
          <p:cNvPr id="9" name="codeCaption"/>
          <p:cNvSpPr txBox="1"/>
          <p:nvPr/>
        </p:nvSpPr>
        <p:spPr>
          <a:xfrm>
            <a:off x="4023360" y="2103120"/>
            <a:ext cx="2971800" cy="237744"/>
          </a:xfrm>
          <a:prstGeom prst="rect">
            <a:avLst/>
          </a:prstGeom>
          <a:noFill/>
          <a:ln/>
        </p:spPr>
        <p:txBody>
          <a:bodyPr wrap="square" lIns="0" tIns="0" rIns="0" bIns="0" rtlCol="0" anchor="ctr"/>
          <a:lstStyle/>
          <a:p>
            <a:pPr algn="r" indent="0" marL="0" eaLnBrk="0">
              <a:buNone/>
            </a:pPr>
            <a:r>
              <a:rPr lang="ko-KR" altLang="en-US" sz="1000" dirty="0">
                <a:solidFill>
                  <a:schemeClr val="accent3"/>
                </a:solidFill>
              </a:rPr>
              <a:t>원서 예제를 C#으로 옮긴 코드</a:t>
            </a:r>
            <a:endParaRPr lang="ko-KR" altLang="en-US" sz="1000" dirty="0"/>
          </a:p>
        </p:txBody>
      </p:sp>
      <p:sp>
        <p:nvSpPr>
          <p:cNvPr id="10" name="Text 7"/>
          <p:cNvSpPr txBox="1"/>
          <p:nvPr/>
        </p:nvSpPr>
        <p:spPr>
          <a:xfrm>
            <a:off x="548640" y="3154680"/>
            <a:ext cx="6583680" cy="365760"/>
          </a:xfrm>
          <a:prstGeom prst="rect">
            <a:avLst/>
          </a:prstGeom>
          <a:noFill/>
          <a:ln/>
        </p:spPr>
        <p:txBody>
          <a:bodyPr wrap="square" lIns="0" tIns="0" rIns="0" bIns="0" rtlCol="0" anchor="t"/>
          <a:lstStyle/>
          <a:p>
            <a:pPr indent="0" marL="0" eaLnBrk="0">
              <a:buNone/>
            </a:pPr>
            <a:r>
              <a:rPr lang="ko-KR" altLang="en-US" sz="1600" b="1" dirty="0">
                <a:solidFill>
                  <a:schemeClr val="tx1"/>
                </a:solidFill>
              </a:rPr>
              <a:t>만드는 과정을 함수 하나로 묶는다</a:t>
            </a:r>
            <a:endParaRPr lang="ko-KR" altLang="en-US" sz="1600" dirty="0"/>
          </a:p>
        </p:txBody>
      </p:sp>
      <p:sp>
        <p:nvSpPr>
          <p:cNvPr id="11" name="codePanel"/>
          <p:cNvSpPr/>
          <p:nvPr/>
        </p:nvSpPr>
        <p:spPr>
          <a:xfrm>
            <a:off x="548640" y="3566160"/>
            <a:ext cx="6583680" cy="2103120"/>
          </a:xfrm>
          <a:prstGeom prst="roundRect">
            <a:avLst>
              <a:gd name="adj" fmla="val 3478"/>
            </a:avLst>
          </a:prstGeom>
          <a:solidFill>
            <a:schemeClr val="tx1"/>
          </a:solidFill>
          <a:ln w="12700">
            <a:solidFill>
              <a:schemeClr val="tx1"/>
            </a:solidFill>
            <a:prstDash val="solid"/>
          </a:ln>
        </p:spPr>
      </p:sp>
      <p:sp>
        <p:nvSpPr>
          <p:cNvPr id="12" name="code"/>
          <p:cNvSpPr txBox="1"/>
          <p:nvPr/>
        </p:nvSpPr>
        <p:spPr>
          <a:xfrm>
            <a:off x="658368" y="3657600"/>
            <a:ext cx="6364224" cy="1920240"/>
          </a:xfrm>
          <a:prstGeom prst="rect">
            <a:avLst/>
          </a:prstGeom>
          <a:noFill/>
          <a:ln/>
        </p:spPr>
        <p:txBody>
          <a:bodyPr wrap="square" lIns="635" tIns="635" rIns="635" bIns="635" rtlCol="0" anchor="t"/>
          <a:lstStyle/>
          <a:p>
            <a:pPr indent="0" marL="0" eaLnBrk="0">
              <a:buNone/>
            </a:pPr>
            <a:r>
              <a:rPr lang="ko-KR" altLang="en-US" sz="1400" dirty="0">
                <a:solidFill>
                  <a:schemeClr val="bg1"/>
                </a:solidFill>
                <a:latin typeface="Consolas" pitchFamily="34" charset="0"/>
                <a:ea typeface="Consolas" pitchFamily="34" charset="-122"/>
                <a:cs typeface="Consolas" pitchFamily="34" charset="-120"/>
              </a:rPr>
              <a:t>Superpower CreateSkyLaunch(ParticleSystem particles)</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Superpower power = new SkyLaunch();</a:t>
            </a:r>
            <a:endParaRPr lang="ko-KR" altLang="en-US" sz="1400" dirty="0"/>
          </a:p>
          <a:p>
            <a:pPr indent="0" marL="0" eaLnBrk="0">
              <a:buNone/>
            </a:pPr>
            <a:r>
              <a:rPr lang="ko-KR" altLang="en-US" sz="1400" b="1" dirty="0">
                <a:solidFill>
                  <a:schemeClr val="accent4"/>
                </a:solidFill>
                <a:latin typeface="Consolas" pitchFamily="34" charset="0"/>
                <a:ea typeface="Consolas" pitchFamily="34" charset="-122"/>
                <a:cs typeface="Consolas" pitchFamily="34" charset="-120"/>
              </a:rPr>
              <a:t>    power.Init(particles);</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    return power;</a:t>
            </a:r>
            <a:endParaRPr lang="ko-KR" altLang="en-US" sz="1400" dirty="0"/>
          </a:p>
          <a:p>
            <a:pPr indent="0" marL="0" eaLnBrk="0">
              <a:buNone/>
            </a:pPr>
            <a:r>
              <a:rPr lang="ko-KR" altLang="en-US" sz="1400" dirty="0">
                <a:solidFill>
                  <a:schemeClr val="bg1"/>
                </a:solidFill>
                <a:latin typeface="Consolas" pitchFamily="34" charset="0"/>
                <a:ea typeface="Consolas" pitchFamily="34" charset="-122"/>
                <a:cs typeface="Consolas" pitchFamily="34" charset="-120"/>
              </a:rPr>
              <a:t>}</a:t>
            </a:r>
            <a:endParaRPr lang="ko-KR" altLang="en-US" sz="1400" dirty="0"/>
          </a:p>
        </p:txBody>
      </p:sp>
      <p:sp>
        <p:nvSpPr>
          <p:cNvPr id="13" name="card"/>
          <p:cNvSpPr/>
          <p:nvPr/>
        </p:nvSpPr>
        <p:spPr>
          <a:xfrm>
            <a:off x="7498080" y="1600200"/>
            <a:ext cx="4144975" cy="1463040"/>
          </a:xfrm>
          <a:prstGeom prst="roundRect">
            <a:avLst>
              <a:gd name="adj" fmla="val 6250"/>
            </a:avLst>
          </a:prstGeom>
          <a:solidFill>
            <a:schemeClr val="bg2"/>
          </a:solidFill>
          <a:ln w="12700">
            <a:solidFill>
              <a:schemeClr val="bg2"/>
            </a:solidFill>
            <a:prstDash val="solid"/>
          </a:ln>
        </p:spPr>
      </p:sp>
      <p:sp>
        <p:nvSpPr>
          <p:cNvPr id="14" name="Text 11"/>
          <p:cNvSpPr txBox="1"/>
          <p:nvPr/>
        </p:nvSpPr>
        <p:spPr>
          <a:xfrm>
            <a:off x="7726680" y="181965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좋은 점</a:t>
            </a:r>
            <a:endParaRPr lang="ko-KR" altLang="en-US" sz="1700" dirty="0"/>
          </a:p>
        </p:txBody>
      </p:sp>
      <p:sp>
        <p:nvSpPr>
          <p:cNvPr id="15" name="Text 12"/>
          <p:cNvSpPr txBox="1"/>
          <p:nvPr/>
        </p:nvSpPr>
        <p:spPr>
          <a:xfrm>
            <a:off x="7726680" y="2331720"/>
            <a:ext cx="3687775" cy="594360"/>
          </a:xfrm>
          <a:prstGeom prst="rect">
            <a:avLst/>
          </a:prstGeom>
          <a:noFill/>
          <a:ln/>
        </p:spPr>
        <p:txBody>
          <a:bodyPr wrap="square" lIns="0" tIns="0" rIns="0" bIns="0" rtlCol="0" anchor="t"/>
          <a:lstStyle/>
          <a:p>
            <a:pPr indent="0" marL="0" eaLnBrk="0">
              <a:buNone/>
            </a:pPr>
            <a:r>
              <a:rPr lang="ko-KR" altLang="en-US" sz="1400" dirty="0">
                <a:solidFill>
                  <a:schemeClr val="tx2"/>
                </a:solidFill>
              </a:rPr>
              <a:t>SkyLaunch의 생성자는 감춘 상태를 모른다.</a:t>
            </a:r>
            <a:endParaRPr lang="ko-KR" altLang="en-US" sz="1400" dirty="0"/>
          </a:p>
        </p:txBody>
      </p:sp>
      <p:sp>
        <p:nvSpPr>
          <p:cNvPr id="16" name="card"/>
          <p:cNvSpPr/>
          <p:nvPr/>
        </p:nvSpPr>
        <p:spPr>
          <a:xfrm>
            <a:off x="7498080" y="3200400"/>
            <a:ext cx="4144975" cy="1234440"/>
          </a:xfrm>
          <a:prstGeom prst="roundRect">
            <a:avLst>
              <a:gd name="adj" fmla="val 7407"/>
            </a:avLst>
          </a:prstGeom>
          <a:solidFill>
            <a:schemeClr val="bg2"/>
          </a:solidFill>
          <a:ln w="12700">
            <a:solidFill>
              <a:schemeClr val="bg2"/>
            </a:solidFill>
            <a:prstDash val="solid"/>
          </a:ln>
        </p:spPr>
      </p:sp>
      <p:sp>
        <p:nvSpPr>
          <p:cNvPr id="17" name="Text 14"/>
          <p:cNvSpPr txBox="1"/>
          <p:nvPr/>
        </p:nvSpPr>
        <p:spPr>
          <a:xfrm>
            <a:off x="7726680" y="341985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accent6"/>
                </a:solidFill>
              </a:rPr>
              <a:t>문제</a:t>
            </a:r>
            <a:endParaRPr lang="ko-KR" altLang="en-US" sz="1700" dirty="0"/>
          </a:p>
        </p:txBody>
      </p:sp>
      <p:sp>
        <p:nvSpPr>
          <p:cNvPr id="18" name="Text 15"/>
          <p:cNvSpPr txBox="1"/>
          <p:nvPr/>
        </p:nvSpPr>
        <p:spPr>
          <a:xfrm>
            <a:off x="7726680" y="3931920"/>
            <a:ext cx="3687775" cy="365760"/>
          </a:xfrm>
          <a:prstGeom prst="rect">
            <a:avLst/>
          </a:prstGeom>
          <a:noFill/>
          <a:ln/>
        </p:spPr>
        <p:txBody>
          <a:bodyPr wrap="square" lIns="0" tIns="0" rIns="0" bIns="0" rtlCol="0" anchor="t"/>
          <a:lstStyle/>
          <a:p>
            <a:pPr indent="0" marL="0" eaLnBrk="0">
              <a:buNone/>
            </a:pPr>
            <a:r>
              <a:rPr lang="ko-KR" altLang="en-US" sz="1400" dirty="0">
                <a:solidFill>
                  <a:schemeClr val="tx2"/>
                </a:solidFill>
              </a:rPr>
              <a:t>Init을 잊으면 반쯤 만들어진 객체가 된다.</a:t>
            </a:r>
            <a:endParaRPr lang="ko-KR" altLang="en-US" sz="1400" dirty="0"/>
          </a:p>
        </p:txBody>
      </p:sp>
      <p:sp>
        <p:nvSpPr>
          <p:cNvPr id="19" name="card"/>
          <p:cNvSpPr/>
          <p:nvPr/>
        </p:nvSpPr>
        <p:spPr>
          <a:xfrm>
            <a:off x="7498080" y="4572000"/>
            <a:ext cx="4144975" cy="1097280"/>
          </a:xfrm>
          <a:prstGeom prst="roundRect">
            <a:avLst>
              <a:gd name="adj" fmla="val 8333"/>
            </a:avLst>
          </a:prstGeom>
          <a:solidFill>
            <a:schemeClr val="bg2"/>
          </a:solidFill>
          <a:ln w="12700">
            <a:solidFill>
              <a:schemeClr val="bg2"/>
            </a:solidFill>
            <a:prstDash val="solid"/>
          </a:ln>
        </p:spPr>
      </p:sp>
      <p:sp>
        <p:nvSpPr>
          <p:cNvPr id="20" name="Text 17"/>
          <p:cNvSpPr txBox="1"/>
          <p:nvPr/>
        </p:nvSpPr>
        <p:spPr>
          <a:xfrm>
            <a:off x="7726680" y="4791456"/>
            <a:ext cx="3733495" cy="411480"/>
          </a:xfrm>
          <a:prstGeom prst="rect">
            <a:avLst/>
          </a:prstGeom>
          <a:noFill/>
          <a:ln/>
        </p:spPr>
        <p:txBody>
          <a:bodyPr wrap="square" lIns="0" tIns="0" rIns="0" bIns="0" rtlCol="0" anchor="ctr"/>
          <a:lstStyle/>
          <a:p>
            <a:pPr indent="0" marL="0" eaLnBrk="0">
              <a:buNone/>
            </a:pPr>
            <a:r>
              <a:rPr lang="ko-KR" altLang="en-US" sz="1700" b="1" dirty="0">
                <a:solidFill>
                  <a:schemeClr val="accent1"/>
                </a:solidFill>
              </a:rPr>
              <a:t>해결</a:t>
            </a:r>
            <a:endParaRPr lang="ko-KR" altLang="en-US" sz="1700" dirty="0"/>
          </a:p>
        </p:txBody>
      </p:sp>
      <p:sp>
        <p:nvSpPr>
          <p:cNvPr id="21" name="Text 18"/>
          <p:cNvSpPr txBox="1"/>
          <p:nvPr/>
        </p:nvSpPr>
        <p:spPr>
          <a:xfrm>
            <a:off x="7726680" y="5303520"/>
            <a:ext cx="3687775" cy="228600"/>
          </a:xfrm>
          <a:prstGeom prst="rect">
            <a:avLst/>
          </a:prstGeom>
          <a:noFill/>
          <a:ln/>
        </p:spPr>
        <p:txBody>
          <a:bodyPr wrap="square" lIns="0" tIns="0" rIns="0" bIns="0" rtlCol="0" anchor="t"/>
          <a:lstStyle/>
          <a:p>
            <a:pPr indent="0" marL="0" eaLnBrk="0">
              <a:buNone/>
            </a:pPr>
            <a:r>
              <a:rPr lang="ko-KR" altLang="en-US" sz="1400" dirty="0">
                <a:solidFill>
                  <a:schemeClr val="tx2"/>
                </a:solidFill>
              </a:rPr>
              <a:t>생성 함수로 두 단계를 묶는다.</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24</a:t>
            </a:fld>
            <a:endParaRPr lang="ko-KR"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3 · 방법 3, 4</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정적 상태로 한 번만 넣거나, 서비스 중개자에서 스스로 가져온다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네 가지 방법을 한눈에 비교하면?</a:t>
            </a:r>
            <a:endParaRPr lang="ko-KR" altLang="en-US" sz="1500" dirty="0"/>
          </a:p>
        </p:txBody>
      </p:sp>
      <p:sp>
        <p:nvSpPr>
          <p:cNvPr id="6" name="Text 3"/>
          <p:cNvSpPr txBox="1"/>
          <p:nvPr/>
        </p:nvSpPr>
        <p:spPr>
          <a:xfrm>
            <a:off x="548640" y="1554480"/>
            <a:ext cx="5029200" cy="347472"/>
          </a:xfrm>
          <a:prstGeom prst="rect">
            <a:avLst/>
          </a:prstGeom>
          <a:noFill/>
          <a:ln/>
        </p:spPr>
        <p:txBody>
          <a:bodyPr wrap="square" lIns="0" tIns="0" rIns="0" bIns="0" rtlCol="0" anchor="t"/>
          <a:lstStyle/>
          <a:p>
            <a:pPr indent="0" marL="0" eaLnBrk="0">
              <a:buNone/>
            </a:pPr>
            <a:r>
              <a:rPr lang="ko-KR" altLang="en-US" sz="1600" b="1" dirty="0">
                <a:solidFill>
                  <a:schemeClr val="tx1"/>
                </a:solidFill>
              </a:rPr>
              <a:t>방법 3: 정적 상태</a:t>
            </a:r>
            <a:endParaRPr lang="ko-KR" altLang="en-US" sz="1600" dirty="0"/>
          </a:p>
        </p:txBody>
      </p:sp>
      <p:sp>
        <p:nvSpPr>
          <p:cNvPr id="7" name="codePanel"/>
          <p:cNvSpPr/>
          <p:nvPr/>
        </p:nvSpPr>
        <p:spPr>
          <a:xfrm>
            <a:off x="548640" y="1920240"/>
            <a:ext cx="5029200" cy="2377440"/>
          </a:xfrm>
          <a:prstGeom prst="roundRect">
            <a:avLst>
              <a:gd name="adj" fmla="val 3077"/>
            </a:avLst>
          </a:prstGeom>
          <a:solidFill>
            <a:schemeClr val="tx1"/>
          </a:solidFill>
          <a:ln w="12700">
            <a:solidFill>
              <a:schemeClr val="tx1"/>
            </a:solidFill>
            <a:prstDash val="solid"/>
          </a:ln>
        </p:spPr>
      </p:sp>
      <p:sp>
        <p:nvSpPr>
          <p:cNvPr id="8" name="code"/>
          <p:cNvSpPr txBox="1"/>
          <p:nvPr/>
        </p:nvSpPr>
        <p:spPr>
          <a:xfrm>
            <a:off x="658368" y="2011680"/>
            <a:ext cx="4809744" cy="2194560"/>
          </a:xfrm>
          <a:prstGeom prst="rect">
            <a:avLst/>
          </a:prstGeom>
          <a:noFill/>
          <a:ln/>
        </p:spPr>
        <p:txBody>
          <a:bodyPr wrap="square" lIns="635" tIns="635" rIns="635" bIns="635" rtlCol="0" anchor="t"/>
          <a:lstStyle/>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abstract class Superpower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static ParticleSystem _particles;</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public static void Init(ParticleSystem particles)</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_particles = particles;</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샌드박스 메서드와 다른 제공 기능...</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9" name="Text 6"/>
          <p:cNvSpPr txBox="1"/>
          <p:nvPr/>
        </p:nvSpPr>
        <p:spPr>
          <a:xfrm>
            <a:off x="5852160" y="1554480"/>
            <a:ext cx="5790895" cy="347472"/>
          </a:xfrm>
          <a:prstGeom prst="rect">
            <a:avLst/>
          </a:prstGeom>
          <a:noFill/>
          <a:ln/>
        </p:spPr>
        <p:txBody>
          <a:bodyPr wrap="square" lIns="0" tIns="0" rIns="0" bIns="0" rtlCol="0" anchor="t"/>
          <a:lstStyle/>
          <a:p>
            <a:pPr indent="0" marL="0" eaLnBrk="0">
              <a:buNone/>
            </a:pPr>
            <a:r>
              <a:rPr lang="ko-KR" altLang="en-US" sz="1600" b="1" dirty="0">
                <a:solidFill>
                  <a:schemeClr val="tx1"/>
                </a:solidFill>
              </a:rPr>
              <a:t>방법 4: 서비스 중개자</a:t>
            </a:r>
            <a:endParaRPr lang="ko-KR" altLang="en-US" sz="1600" dirty="0"/>
          </a:p>
        </p:txBody>
      </p:sp>
      <p:sp>
        <p:nvSpPr>
          <p:cNvPr id="10" name="codePanel"/>
          <p:cNvSpPr/>
          <p:nvPr/>
        </p:nvSpPr>
        <p:spPr>
          <a:xfrm>
            <a:off x="5852160" y="1920240"/>
            <a:ext cx="5790895" cy="2377440"/>
          </a:xfrm>
          <a:prstGeom prst="roundRect">
            <a:avLst>
              <a:gd name="adj" fmla="val 3077"/>
            </a:avLst>
          </a:prstGeom>
          <a:solidFill>
            <a:schemeClr val="tx1"/>
          </a:solidFill>
          <a:ln w="12700">
            <a:solidFill>
              <a:schemeClr val="tx1"/>
            </a:solidFill>
            <a:prstDash val="solid"/>
          </a:ln>
        </p:spPr>
      </p:sp>
      <p:sp>
        <p:nvSpPr>
          <p:cNvPr id="11" name="code"/>
          <p:cNvSpPr txBox="1"/>
          <p:nvPr/>
        </p:nvSpPr>
        <p:spPr>
          <a:xfrm>
            <a:off x="5961888" y="2011680"/>
            <a:ext cx="5571439" cy="2194560"/>
          </a:xfrm>
          <a:prstGeom prst="rect">
            <a:avLst/>
          </a:prstGeom>
          <a:noFill/>
          <a:ln/>
        </p:spPr>
        <p:txBody>
          <a:bodyPr wrap="square" lIns="635" tIns="635" rIns="635" bIns="635" rtlCol="0" anchor="t"/>
          <a:lstStyle/>
          <a:p>
            <a:pPr indent="0" marL="0" eaLnBrk="0">
              <a:buNone/>
            </a:pPr>
            <a:r>
              <a:rPr lang="ko-KR" altLang="en-US" sz="1100" dirty="0">
                <a:solidFill>
                  <a:schemeClr val="bg1"/>
                </a:solidFill>
                <a:latin typeface="Consolas" pitchFamily="34" charset="0"/>
                <a:ea typeface="Consolas" pitchFamily="34" charset="-122"/>
                <a:cs typeface="Consolas" pitchFamily="34" charset="-120"/>
              </a:rPr>
              <a:t>public abstract class Superpower</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protected void SpawnParticles(ParticleType type, int count)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b="1" dirty="0">
                <a:solidFill>
                  <a:schemeClr val="accent4"/>
                </a:solidFill>
                <a:latin typeface="Consolas" pitchFamily="34" charset="0"/>
                <a:ea typeface="Consolas" pitchFamily="34" charset="-122"/>
                <a:cs typeface="Consolas" pitchFamily="34" charset="-120"/>
              </a:rPr>
              <a:t>        ParticleSystem particles = Locator.GetParticles();</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particles.Spawn(type, count);</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 </a:t>
            </a:r>
            <a:endParaRPr lang="ko-KR" altLang="en-US" sz="1100" dirty="0"/>
          </a:p>
          <a:p>
            <a:pPr indent="0" marL="0" eaLnBrk="0">
              <a:buNone/>
            </a:pPr>
            <a:r>
              <a:rPr lang="ko-KR" altLang="en-US" sz="1100" dirty="0">
                <a:solidFill>
                  <a:schemeClr val="accent3"/>
                </a:solidFill>
                <a:latin typeface="Consolas" pitchFamily="34" charset="0"/>
                <a:ea typeface="Consolas" pitchFamily="34" charset="-122"/>
                <a:cs typeface="Consolas" pitchFamily="34" charset="-120"/>
              </a:rPr>
              <a:t>    // 샌드박스 메서드와 다른 제공 기능...</a:t>
            </a:r>
            <a:endParaRPr lang="ko-KR" altLang="en-US" sz="1100" dirty="0"/>
          </a:p>
          <a:p>
            <a:pPr indent="0" marL="0" eaLnBrk="0">
              <a:buNone/>
            </a:pPr>
            <a:r>
              <a:rPr lang="ko-KR" altLang="en-US" sz="1100" dirty="0">
                <a:solidFill>
                  <a:schemeClr val="bg1"/>
                </a:solidFill>
                <a:latin typeface="Consolas" pitchFamily="34" charset="0"/>
                <a:ea typeface="Consolas" pitchFamily="34" charset="-122"/>
                <a:cs typeface="Consolas" pitchFamily="34" charset="-120"/>
              </a:rPr>
              <a:t>}</a:t>
            </a:r>
            <a:endParaRPr lang="ko-KR" altLang="en-US" sz="1100" dirty="0"/>
          </a:p>
        </p:txBody>
      </p:sp>
      <p:sp>
        <p:nvSpPr>
          <p:cNvPr id="12" name="Text 9"/>
          <p:cNvSpPr txBox="1"/>
          <p:nvPr/>
        </p:nvSpPr>
        <p:spPr>
          <a:xfrm>
            <a:off x="548640" y="4343400"/>
            <a:ext cx="11094415" cy="274320"/>
          </a:xfrm>
          <a:prstGeom prst="rect">
            <a:avLst/>
          </a:prstGeom>
          <a:noFill/>
          <a:ln/>
        </p:spPr>
        <p:txBody>
          <a:bodyPr wrap="square" lIns="0" tIns="0" rIns="0" bIns="0" rtlCol="0" anchor="t"/>
          <a:lstStyle/>
          <a:p>
            <a:pPr indent="0" marL="0" eaLnBrk="0">
              <a:buNone/>
            </a:pPr>
            <a:r>
              <a:rPr lang="ko-KR" altLang="en-US" sz="1100" dirty="0">
                <a:solidFill>
                  <a:schemeClr val="accent5"/>
                </a:solidFill>
              </a:rPr>
              <a:t>원서 예제를 C#으로 옮긴 코드</a:t>
            </a:r>
            <a:endParaRPr lang="ko-KR" altLang="en-US" sz="1100" dirty="0"/>
          </a:p>
        </p:txBody>
      </p:sp>
      <p:sp>
        <p:nvSpPr>
          <p:cNvPr id="13" name="card"/>
          <p:cNvSpPr/>
          <p:nvPr/>
        </p:nvSpPr>
        <p:spPr>
          <a:xfrm>
            <a:off x="548640" y="4663440"/>
            <a:ext cx="5029200" cy="1051560"/>
          </a:xfrm>
          <a:prstGeom prst="roundRect">
            <a:avLst>
              <a:gd name="adj" fmla="val 8696"/>
            </a:avLst>
          </a:prstGeom>
          <a:solidFill>
            <a:schemeClr val="bg2"/>
          </a:solidFill>
          <a:ln w="12700">
            <a:solidFill>
              <a:schemeClr val="bg2"/>
            </a:solidFill>
            <a:prstDash val="solid"/>
          </a:ln>
        </p:spPr>
      </p:sp>
      <p:sp>
        <p:nvSpPr>
          <p:cNvPr id="14" name="Text 11"/>
          <p:cNvSpPr txBox="1"/>
          <p:nvPr/>
        </p:nvSpPr>
        <p:spPr>
          <a:xfrm>
            <a:off x="777240" y="4882896"/>
            <a:ext cx="4617720"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한 번만 넣는다</a:t>
            </a:r>
            <a:endParaRPr lang="ko-KR" altLang="en-US" sz="1700" dirty="0"/>
          </a:p>
        </p:txBody>
      </p:sp>
      <p:sp>
        <p:nvSpPr>
          <p:cNvPr id="15" name="Text 12"/>
          <p:cNvSpPr txBox="1"/>
          <p:nvPr/>
        </p:nvSpPr>
        <p:spPr>
          <a:xfrm>
            <a:off x="777240" y="5394960"/>
            <a:ext cx="4572000" cy="182880"/>
          </a:xfrm>
          <a:prstGeom prst="rect">
            <a:avLst/>
          </a:prstGeom>
          <a:noFill/>
          <a:ln/>
        </p:spPr>
        <p:txBody>
          <a:bodyPr wrap="square" lIns="0" tIns="0" rIns="0" bIns="0" rtlCol="0" anchor="t"/>
          <a:lstStyle/>
          <a:p>
            <a:pPr indent="0" marL="0" eaLnBrk="0">
              <a:buNone/>
            </a:pPr>
            <a:endParaRPr lang="ko-KR" altLang="en-US" sz="1400" dirty="0"/>
          </a:p>
        </p:txBody>
      </p:sp>
      <p:sp>
        <p:nvSpPr>
          <p:cNvPr id="16" name="Text 13"/>
          <p:cNvSpPr txBox="1"/>
          <p:nvPr/>
        </p:nvSpPr>
        <p:spPr>
          <a:xfrm>
            <a:off x="2743200" y="4754880"/>
            <a:ext cx="2651760" cy="868680"/>
          </a:xfrm>
          <a:prstGeom prst="rect">
            <a:avLst/>
          </a:prstGeom>
          <a:noFill/>
          <a:ln/>
        </p:spPr>
        <p:txBody>
          <a:bodyPr wrap="square" lIns="0" tIns="0" rIns="0" bIns="0" rtlCol="0" anchor="ctr"/>
          <a:lstStyle/>
          <a:p>
            <a:pPr indent="0" marL="0" eaLnBrk="0">
              <a:buNone/>
            </a:pPr>
            <a:r>
              <a:rPr lang="ko-KR" altLang="en-US" sz="1300" dirty="0">
                <a:solidFill>
                  <a:schemeClr val="tx2"/>
                </a:solidFill>
              </a:rPr>
              <a:t>모든 초능력이 공유한다. 싱글턴(5강)의 문제가 남는다.</a:t>
            </a:r>
            <a:endParaRPr lang="ko-KR" altLang="en-US" sz="1300" dirty="0"/>
          </a:p>
        </p:txBody>
      </p:sp>
      <p:sp>
        <p:nvSpPr>
          <p:cNvPr id="17" name="card"/>
          <p:cNvSpPr/>
          <p:nvPr/>
        </p:nvSpPr>
        <p:spPr>
          <a:xfrm>
            <a:off x="5852160" y="4663440"/>
            <a:ext cx="5790895" cy="1051560"/>
          </a:xfrm>
          <a:prstGeom prst="roundRect">
            <a:avLst>
              <a:gd name="adj" fmla="val 8696"/>
            </a:avLst>
          </a:prstGeom>
          <a:solidFill>
            <a:schemeClr val="bg2"/>
          </a:solidFill>
          <a:ln w="12700">
            <a:solidFill>
              <a:schemeClr val="bg2"/>
            </a:solidFill>
            <a:prstDash val="solid"/>
          </a:ln>
        </p:spPr>
      </p:sp>
      <p:sp>
        <p:nvSpPr>
          <p:cNvPr id="18" name="Text 15"/>
          <p:cNvSpPr txBox="1"/>
          <p:nvPr/>
        </p:nvSpPr>
        <p:spPr>
          <a:xfrm>
            <a:off x="6080760" y="4882896"/>
            <a:ext cx="5379415" cy="411480"/>
          </a:xfrm>
          <a:prstGeom prst="rect">
            <a:avLst/>
          </a:prstGeom>
          <a:noFill/>
          <a:ln/>
        </p:spPr>
        <p:txBody>
          <a:bodyPr wrap="square" lIns="0" tIns="0" rIns="0" bIns="0" rtlCol="0" anchor="ctr"/>
          <a:lstStyle/>
          <a:p>
            <a:pPr indent="0" marL="0" eaLnBrk="0">
              <a:buNone/>
            </a:pPr>
            <a:r>
              <a:rPr lang="ko-KR" altLang="en-US" sz="1700" b="1" dirty="0">
                <a:solidFill>
                  <a:schemeClr val="accent2"/>
                </a:solidFill>
              </a:rPr>
              <a:t>스스로 가져온다</a:t>
            </a:r>
            <a:endParaRPr lang="ko-KR" altLang="en-US" sz="1700" dirty="0"/>
          </a:p>
        </p:txBody>
      </p:sp>
      <p:sp>
        <p:nvSpPr>
          <p:cNvPr id="19" name="Text 16"/>
          <p:cNvSpPr txBox="1"/>
          <p:nvPr/>
        </p:nvSpPr>
        <p:spPr>
          <a:xfrm>
            <a:off x="6080760" y="5394960"/>
            <a:ext cx="5333695" cy="182880"/>
          </a:xfrm>
          <a:prstGeom prst="rect">
            <a:avLst/>
          </a:prstGeom>
          <a:noFill/>
          <a:ln/>
        </p:spPr>
        <p:txBody>
          <a:bodyPr wrap="square" lIns="0" tIns="0" rIns="0" bIns="0" rtlCol="0" anchor="t"/>
          <a:lstStyle/>
          <a:p>
            <a:pPr indent="0" marL="0" eaLnBrk="0">
              <a:buNone/>
            </a:pPr>
            <a:endParaRPr lang="ko-KR" altLang="en-US" sz="1400" dirty="0"/>
          </a:p>
        </p:txBody>
      </p:sp>
      <p:sp>
        <p:nvSpPr>
          <p:cNvPr id="20" name="Text 17"/>
          <p:cNvSpPr txBox="1"/>
          <p:nvPr/>
        </p:nvSpPr>
        <p:spPr>
          <a:xfrm>
            <a:off x="8138160" y="4754880"/>
            <a:ext cx="3322015" cy="868680"/>
          </a:xfrm>
          <a:prstGeom prst="rect">
            <a:avLst/>
          </a:prstGeom>
          <a:noFill/>
          <a:ln/>
        </p:spPr>
        <p:txBody>
          <a:bodyPr wrap="square" lIns="0" tIns="0" rIns="0" bIns="0" rtlCol="0" anchor="ctr"/>
          <a:lstStyle/>
          <a:p>
            <a:pPr indent="0" marL="0" eaLnBrk="0">
              <a:buNone/>
            </a:pPr>
            <a:r>
              <a:rPr lang="ko-KR" altLang="en-US" sz="1300" dirty="0">
                <a:solidFill>
                  <a:schemeClr val="tx2"/>
                </a:solidFill>
              </a:rPr>
              <a:t>바깥 코드가 미리 넣어 줄 책임이 사라진다. (11강)</a:t>
            </a:r>
            <a:endParaRPr lang="ko-KR" altLang="en-US" sz="13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25</a:t>
            </a:fld>
            <a:endParaRPr lang="ko-KR"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결정 3 · 비교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상태를 누가, 언제 넣는지가 다르다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그렇다면 이 패턴은 언제 쓰고, 무엇을 조심해야 할까?</a:t>
            </a:r>
            <a:endParaRPr lang="ko-KR" altLang="en-US" sz="15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2103120"/>
                <a:gridCol w="2926080"/>
                <a:gridCol w="2834640"/>
                <a:gridCol w="3230575"/>
              </a:tblGrid>
              <a:tr h="457200">
                <a:tc>
                  <a:txBody>
                    <a:bodyPr/>
                    <a:lstStyle/>
                    <a:p>
                      <a:pPr indent="0" marL="0" eaLnBrk="0">
                        <a:buNone/>
                      </a:pPr>
                      <a:r>
                        <a:rPr lang="ko-KR" altLang="en-US" sz="1400" b="1" dirty="0">
                          <a:solidFill>
                            <a:schemeClr val="bg1"/>
                          </a:solidFill>
                        </a:rPr>
                        <a:t>방법</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상태를 넣는 쪽</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좋은 점</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조심할 점</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868680">
                <a:tc>
                  <a:txBody>
                    <a:bodyPr/>
                    <a:lstStyle/>
                    <a:p>
                      <a:pPr indent="0" marL="0" eaLnBrk="0">
                        <a:buNone/>
                      </a:pPr>
                      <a:r>
                        <a:rPr lang="ko-KR" altLang="en-US" sz="1400" b="1" dirty="0">
                          <a:solidFill>
                            <a:schemeClr val="tx1"/>
                          </a:solidFill>
                        </a:rPr>
                        <a:t>생성자로 넘기기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만드는 쪽이 하위 클래스 생성자를 거쳐 넘긴다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만들어질 때 반드시 상태가 있다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하위 클래스가 감춘 상태를 알게 되고, 상태가 늘면 모든 생성자를 고친다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2단계 초기화</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만든 뒤 Init()을 부르는 쪽</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하위 클래스의 생성자가 상태를 모른다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Init()을 잊으면 반쯤 만들어진다. 생성 함수로 묶는다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정적 상태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게임 시작 때 Init()을 한 번 부른다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한 번만 넣고, 객체마다 저장하지 않는다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모든 초능력이 같은 객체를 공유한다 (싱글턴의 문제)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77240">
                <a:tc>
                  <a:txBody>
                    <a:bodyPr/>
                    <a:lstStyle/>
                    <a:p>
                      <a:pPr indent="0" marL="0" eaLnBrk="0">
                        <a:buNone/>
                      </a:pPr>
                      <a:r>
                        <a:rPr lang="ko-KR" altLang="en-US" sz="1400" b="1" dirty="0">
                          <a:solidFill>
                            <a:schemeClr val="tx1"/>
                          </a:solidFill>
                        </a:rPr>
                        <a:t>서비스 중개자</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기반 클래스가 필요할 때 가져온다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바깥 코드가 미리 넣지 않아도 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중개자 자체의 장단점은 11강에서 본다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26</a:t>
            </a:fld>
            <a:endParaRPr lang="ko-KR"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part"/>
          <p:cNvSpPr txBox="1"/>
          <p:nvPr/>
        </p:nvSpPr>
        <p:spPr>
          <a:xfrm>
            <a:off x="548640" y="2148840"/>
            <a:ext cx="5486400" cy="457200"/>
          </a:xfrm>
          <a:prstGeom prst="rect">
            <a:avLst/>
          </a:prstGeom>
          <a:noFill/>
          <a:ln/>
        </p:spPr>
        <p:txBody>
          <a:bodyPr wrap="square" lIns="0" tIns="0" rIns="0" bIns="0" rtlCol="0" anchor="ctr"/>
          <a:lstStyle/>
          <a:p>
            <a:pPr indent="0" marL="0" eaLnBrk="0">
              <a:buNone/>
            </a:pPr>
            <a:r>
              <a:rPr lang="ko-KR" altLang="en-US" sz="1600" b="1" dirty="0">
                <a:solidFill>
                  <a:schemeClr val="accent1"/>
                </a:solidFill>
              </a:rPr>
              <a:t>5부</a:t>
            </a:r>
            <a:endParaRPr lang="ko-KR" altLang="en-US" sz="1600" dirty="0"/>
          </a:p>
        </p:txBody>
      </p:sp>
      <p:sp>
        <p:nvSpPr>
          <p:cNvPr id="3" name="Text 0"/>
          <p:cNvSpPr/>
          <p:nvPr>
            <p:ph idx="100" type="title" hasCustomPrompt="1"/>
          </p:nvPr>
        </p:nvSpPr>
        <p:spPr>
          <a:xfrm>
            <a:off x="548640" y="2651760"/>
            <a:ext cx="11094415" cy="1097280"/>
          </a:xfrm>
          <a:prstGeom prst="rect">
            <a:avLst/>
          </a:prstGeom>
          <a:noFill/>
          <a:ln/>
        </p:spPr>
        <p:txBody>
          <a:bodyPr wrap="square" rtlCol="0" anchor="ctr"/>
          <a:lstStyle/>
          <a:p>
            <a:pPr algn="l" indent="0" marL="0" eaLnBrk="0">
              <a:buNone/>
            </a:pPr>
            <a:r>
              <a:rPr lang="ko-KR" altLang="en-US" sz="3600" b="1" dirty="0">
                <a:solidFill>
                  <a:schemeClr val="bg1"/>
                </a:solidFill>
              </a:rPr>
              <a:t>쓸 때와 주의점</a:t>
            </a:r>
            <a:endParaRPr lang="ko-KR" altLang="en-US" sz="3600" dirty="0"/>
          </a:p>
        </p:txBody>
      </p:sp>
      <p:sp>
        <p:nvSpPr>
          <p:cNvPr id="4" name="Text 0"/>
          <p:cNvSpPr/>
          <p:nvPr>
            <p:ph idx="101" type="body" hasCustomPrompt="1"/>
          </p:nvPr>
        </p:nvSpPr>
        <p:spPr>
          <a:xfrm>
            <a:off x="548640" y="3794760"/>
            <a:ext cx="11094415" cy="731520"/>
          </a:xfrm>
          <a:prstGeom prst="rect">
            <a:avLst/>
          </a:prstGeom>
          <a:noFill/>
          <a:ln/>
        </p:spPr>
        <p:txBody>
          <a:bodyPr wrap="square" rtlCol="0" anchor="t"/>
          <a:lstStyle/>
          <a:p>
            <a:pPr indent="0" marL="0" eaLnBrk="0">
              <a:buNone/>
            </a:pPr>
            <a:r>
              <a:rPr lang="ko-KR" altLang="en-US" sz="1800" dirty="0">
                <a:solidFill>
                  <a:schemeClr val="accent3"/>
                </a:solidFill>
              </a:rPr>
              <a:t>원서: 언제 쓸 것인가, 주의사항, 관련자료</a:t>
            </a:r>
            <a:endParaRPr lang="ko-KR" altLang="en-US" sz="18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27</a:t>
            </a:fld>
            <a:endParaRPr lang="ko-KR"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쓸 때와 주의점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하위 클래스가 많고 겹칠 때 쓰고, 기반 클래스가 커지는 것을 조심한다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원서가 이 패턴과 역할이 뒤바뀌었다고 말하는 패턴은 무엇일까?</a:t>
            </a:r>
            <a:endParaRPr lang="ko-KR" altLang="en-US" sz="1500" dirty="0"/>
          </a:p>
        </p:txBody>
      </p:sp>
      <p:sp>
        <p:nvSpPr>
          <p:cNvPr id="6" name="Text 3"/>
          <p:cNvSpPr txBox="1"/>
          <p:nvPr/>
        </p:nvSpPr>
        <p:spPr>
          <a:xfrm>
            <a:off x="548640" y="1600200"/>
            <a:ext cx="5440680" cy="411480"/>
          </a:xfrm>
          <a:prstGeom prst="rect">
            <a:avLst/>
          </a:prstGeom>
          <a:noFill/>
          <a:ln/>
        </p:spPr>
        <p:txBody>
          <a:bodyPr wrap="square" lIns="0" tIns="0" rIns="0" bIns="0" rtlCol="0" anchor="t"/>
          <a:lstStyle/>
          <a:p>
            <a:pPr indent="0" marL="0" eaLnBrk="0">
              <a:buNone/>
            </a:pPr>
            <a:r>
              <a:rPr lang="ko-KR" altLang="en-US" sz="2000" b="1" dirty="0">
                <a:solidFill>
                  <a:schemeClr val="accent2"/>
                </a:solidFill>
              </a:rPr>
              <a:t>이럴 때 쓴다</a:t>
            </a:r>
            <a:endParaRPr lang="ko-KR" altLang="en-US" sz="2000" dirty="0"/>
          </a:p>
        </p:txBody>
      </p:sp>
      <p:sp>
        <p:nvSpPr>
          <p:cNvPr id="7" name="card"/>
          <p:cNvSpPr/>
          <p:nvPr/>
        </p:nvSpPr>
        <p:spPr>
          <a:xfrm>
            <a:off x="548640" y="2103120"/>
            <a:ext cx="5440680" cy="804672"/>
          </a:xfrm>
          <a:prstGeom prst="roundRect">
            <a:avLst>
              <a:gd name="adj" fmla="val 11364"/>
            </a:avLst>
          </a:prstGeom>
          <a:solidFill>
            <a:schemeClr val="bg2"/>
          </a:solidFill>
          <a:ln w="12700">
            <a:solidFill>
              <a:schemeClr val="bg2"/>
            </a:solidFill>
            <a:prstDash val="solid"/>
          </a:ln>
        </p:spPr>
      </p:sp>
      <p:sp>
        <p:nvSpPr>
          <p:cNvPr id="8" name="Shape 5"/>
          <p:cNvSpPr/>
          <p:nvPr/>
        </p:nvSpPr>
        <p:spPr>
          <a:xfrm>
            <a:off x="777240" y="2304288"/>
            <a:ext cx="420624" cy="420624"/>
          </a:xfrm>
          <a:prstGeom prst="ellipse">
            <a:avLst/>
          </a:prstGeom>
          <a:solidFill>
            <a:schemeClr val="accent1"/>
          </a:solidFill>
          <a:ln w="12700">
            <a:solidFill>
              <a:schemeClr val="accent1"/>
            </a:solidFill>
            <a:prstDash val="solid"/>
          </a:ln>
        </p:spPr>
      </p:sp>
      <p:sp>
        <p:nvSpPr>
          <p:cNvPr id="9" name="Text 6"/>
          <p:cNvSpPr txBox="1"/>
          <p:nvPr/>
        </p:nvSpPr>
        <p:spPr>
          <a:xfrm>
            <a:off x="777240" y="23042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10" name="Text 7"/>
          <p:cNvSpPr txBox="1"/>
          <p:nvPr/>
        </p:nvSpPr>
        <p:spPr>
          <a:xfrm>
            <a:off x="1371600" y="2176272"/>
            <a:ext cx="4434840" cy="658368"/>
          </a:xfrm>
          <a:prstGeom prst="rect">
            <a:avLst/>
          </a:prstGeom>
          <a:noFill/>
          <a:ln/>
        </p:spPr>
        <p:txBody>
          <a:bodyPr wrap="square" lIns="0" tIns="0" rIns="0" bIns="0" rtlCol="0" anchor="ctr"/>
          <a:lstStyle/>
          <a:p>
            <a:pPr indent="0" marL="0" eaLnBrk="0">
              <a:buNone/>
            </a:pPr>
            <a:r>
              <a:rPr lang="ko-KR" altLang="en-US" sz="1400" dirty="0">
                <a:solidFill>
                  <a:schemeClr val="tx2"/>
                </a:solidFill>
              </a:rPr>
              <a:t>기반 클래스 하나에 하위 클래스가 많다.</a:t>
            </a:r>
            <a:endParaRPr lang="ko-KR" altLang="en-US" sz="1400" dirty="0"/>
          </a:p>
        </p:txBody>
      </p:sp>
      <p:sp>
        <p:nvSpPr>
          <p:cNvPr id="11" name="card"/>
          <p:cNvSpPr/>
          <p:nvPr/>
        </p:nvSpPr>
        <p:spPr>
          <a:xfrm>
            <a:off x="548640" y="3017520"/>
            <a:ext cx="5440680" cy="804672"/>
          </a:xfrm>
          <a:prstGeom prst="roundRect">
            <a:avLst>
              <a:gd name="adj" fmla="val 11364"/>
            </a:avLst>
          </a:prstGeom>
          <a:solidFill>
            <a:schemeClr val="bg2"/>
          </a:solidFill>
          <a:ln w="12700">
            <a:solidFill>
              <a:schemeClr val="bg2"/>
            </a:solidFill>
            <a:prstDash val="solid"/>
          </a:ln>
        </p:spPr>
      </p:sp>
      <p:sp>
        <p:nvSpPr>
          <p:cNvPr id="12" name="Shape 9"/>
          <p:cNvSpPr/>
          <p:nvPr/>
        </p:nvSpPr>
        <p:spPr>
          <a:xfrm>
            <a:off x="777240" y="3218688"/>
            <a:ext cx="420624" cy="420624"/>
          </a:xfrm>
          <a:prstGeom prst="ellipse">
            <a:avLst/>
          </a:prstGeom>
          <a:solidFill>
            <a:schemeClr val="accent1"/>
          </a:solidFill>
          <a:ln w="12700">
            <a:solidFill>
              <a:schemeClr val="accent1"/>
            </a:solidFill>
            <a:prstDash val="solid"/>
          </a:ln>
        </p:spPr>
      </p:sp>
      <p:sp>
        <p:nvSpPr>
          <p:cNvPr id="13" name="Text 10"/>
          <p:cNvSpPr txBox="1"/>
          <p:nvPr/>
        </p:nvSpPr>
        <p:spPr>
          <a:xfrm>
            <a:off x="777240" y="32186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14" name="Text 11"/>
          <p:cNvSpPr txBox="1"/>
          <p:nvPr/>
        </p:nvSpPr>
        <p:spPr>
          <a:xfrm>
            <a:off x="1371600" y="3090672"/>
            <a:ext cx="4434840" cy="658368"/>
          </a:xfrm>
          <a:prstGeom prst="rect">
            <a:avLst/>
          </a:prstGeom>
          <a:noFill/>
          <a:ln/>
        </p:spPr>
        <p:txBody>
          <a:bodyPr wrap="square" lIns="0" tIns="0" rIns="0" bIns="0" rtlCol="0" anchor="ctr"/>
          <a:lstStyle/>
          <a:p>
            <a:pPr indent="0" marL="0" eaLnBrk="0">
              <a:buNone/>
            </a:pPr>
            <a:r>
              <a:rPr lang="ko-KR" altLang="en-US" sz="1400" dirty="0">
                <a:solidFill>
                  <a:schemeClr val="tx2"/>
                </a:solidFill>
              </a:rPr>
              <a:t>하위 클래스에 필요한 기능을 기반 클래스가 모두 줄 수 있다.</a:t>
            </a:r>
            <a:endParaRPr lang="ko-KR" altLang="en-US" sz="1400" dirty="0"/>
          </a:p>
        </p:txBody>
      </p:sp>
      <p:sp>
        <p:nvSpPr>
          <p:cNvPr id="15" name="card"/>
          <p:cNvSpPr/>
          <p:nvPr/>
        </p:nvSpPr>
        <p:spPr>
          <a:xfrm>
            <a:off x="548640" y="3931920"/>
            <a:ext cx="5440680" cy="804672"/>
          </a:xfrm>
          <a:prstGeom prst="roundRect">
            <a:avLst>
              <a:gd name="adj" fmla="val 11364"/>
            </a:avLst>
          </a:prstGeom>
          <a:solidFill>
            <a:schemeClr val="bg2"/>
          </a:solidFill>
          <a:ln w="12700">
            <a:solidFill>
              <a:schemeClr val="bg2"/>
            </a:solidFill>
            <a:prstDash val="solid"/>
          </a:ln>
        </p:spPr>
      </p:sp>
      <p:sp>
        <p:nvSpPr>
          <p:cNvPr id="16" name="Shape 13"/>
          <p:cNvSpPr/>
          <p:nvPr/>
        </p:nvSpPr>
        <p:spPr>
          <a:xfrm>
            <a:off x="777240" y="4133088"/>
            <a:ext cx="420624" cy="420624"/>
          </a:xfrm>
          <a:prstGeom prst="ellipse">
            <a:avLst/>
          </a:prstGeom>
          <a:solidFill>
            <a:schemeClr val="accent1"/>
          </a:solidFill>
          <a:ln w="12700">
            <a:solidFill>
              <a:schemeClr val="accent1"/>
            </a:solidFill>
            <a:prstDash val="solid"/>
          </a:ln>
        </p:spPr>
      </p:sp>
      <p:sp>
        <p:nvSpPr>
          <p:cNvPr id="17" name="Text 14"/>
          <p:cNvSpPr txBox="1"/>
          <p:nvPr/>
        </p:nvSpPr>
        <p:spPr>
          <a:xfrm>
            <a:off x="777240" y="41330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18" name="Text 15"/>
          <p:cNvSpPr txBox="1"/>
          <p:nvPr/>
        </p:nvSpPr>
        <p:spPr>
          <a:xfrm>
            <a:off x="1371600" y="4005072"/>
            <a:ext cx="4434840" cy="658368"/>
          </a:xfrm>
          <a:prstGeom prst="rect">
            <a:avLst/>
          </a:prstGeom>
          <a:noFill/>
          <a:ln/>
        </p:spPr>
        <p:txBody>
          <a:bodyPr wrap="square" lIns="0" tIns="0" rIns="0" bIns="0" rtlCol="0" anchor="ctr"/>
          <a:lstStyle/>
          <a:p>
            <a:pPr indent="0" marL="0" eaLnBrk="0">
              <a:buNone/>
            </a:pPr>
            <a:r>
              <a:rPr lang="ko-KR" altLang="en-US" sz="1400" dirty="0">
                <a:solidFill>
                  <a:schemeClr val="tx2"/>
                </a:solidFill>
              </a:rPr>
              <a:t>하위 클래스들의 행동이 겹쳐 코드를 함께 쓰고 싶다.</a:t>
            </a:r>
            <a:endParaRPr lang="ko-KR" altLang="en-US" sz="1400" dirty="0"/>
          </a:p>
        </p:txBody>
      </p:sp>
      <p:sp>
        <p:nvSpPr>
          <p:cNvPr id="19" name="card"/>
          <p:cNvSpPr/>
          <p:nvPr/>
        </p:nvSpPr>
        <p:spPr>
          <a:xfrm>
            <a:off x="548640" y="4846320"/>
            <a:ext cx="5440680" cy="804672"/>
          </a:xfrm>
          <a:prstGeom prst="roundRect">
            <a:avLst>
              <a:gd name="adj" fmla="val 11364"/>
            </a:avLst>
          </a:prstGeom>
          <a:solidFill>
            <a:schemeClr val="bg2"/>
          </a:solidFill>
          <a:ln w="12700">
            <a:solidFill>
              <a:schemeClr val="bg2"/>
            </a:solidFill>
            <a:prstDash val="solid"/>
          </a:ln>
        </p:spPr>
      </p:sp>
      <p:sp>
        <p:nvSpPr>
          <p:cNvPr id="20" name="Shape 17"/>
          <p:cNvSpPr/>
          <p:nvPr/>
        </p:nvSpPr>
        <p:spPr>
          <a:xfrm>
            <a:off x="777240" y="5047488"/>
            <a:ext cx="420624" cy="420624"/>
          </a:xfrm>
          <a:prstGeom prst="ellipse">
            <a:avLst/>
          </a:prstGeom>
          <a:solidFill>
            <a:schemeClr val="accent1"/>
          </a:solidFill>
          <a:ln w="12700">
            <a:solidFill>
              <a:schemeClr val="accent1"/>
            </a:solidFill>
            <a:prstDash val="solid"/>
          </a:ln>
        </p:spPr>
      </p:sp>
      <p:sp>
        <p:nvSpPr>
          <p:cNvPr id="21" name="Text 18"/>
          <p:cNvSpPr txBox="1"/>
          <p:nvPr/>
        </p:nvSpPr>
        <p:spPr>
          <a:xfrm>
            <a:off x="777240" y="50474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4</a:t>
            </a:r>
            <a:endParaRPr lang="ko-KR" altLang="en-US" sz="1500" dirty="0"/>
          </a:p>
        </p:txBody>
      </p:sp>
      <p:sp>
        <p:nvSpPr>
          <p:cNvPr id="22" name="Text 19"/>
          <p:cNvSpPr txBox="1"/>
          <p:nvPr/>
        </p:nvSpPr>
        <p:spPr>
          <a:xfrm>
            <a:off x="1371600" y="4919472"/>
            <a:ext cx="4434840" cy="658368"/>
          </a:xfrm>
          <a:prstGeom prst="rect">
            <a:avLst/>
          </a:prstGeom>
          <a:noFill/>
          <a:ln/>
        </p:spPr>
        <p:txBody>
          <a:bodyPr wrap="square" lIns="0" tIns="0" rIns="0" bIns="0" rtlCol="0" anchor="ctr"/>
          <a:lstStyle/>
          <a:p>
            <a:pPr indent="0" marL="0" eaLnBrk="0">
              <a:buNone/>
            </a:pPr>
            <a:r>
              <a:rPr lang="ko-KR" altLang="en-US" sz="1400" dirty="0">
                <a:solidFill>
                  <a:schemeClr val="tx2"/>
                </a:solidFill>
              </a:rPr>
              <a:t>하위 클래스와 프로그램의 나머지 사이 결합을 줄이고 싶다.</a:t>
            </a:r>
            <a:endParaRPr lang="ko-KR" altLang="en-US" sz="1400" dirty="0"/>
          </a:p>
        </p:txBody>
      </p:sp>
      <p:sp>
        <p:nvSpPr>
          <p:cNvPr id="23" name="Text 20"/>
          <p:cNvSpPr txBox="1"/>
          <p:nvPr/>
        </p:nvSpPr>
        <p:spPr>
          <a:xfrm>
            <a:off x="6217920" y="1600200"/>
            <a:ext cx="5425135" cy="411480"/>
          </a:xfrm>
          <a:prstGeom prst="rect">
            <a:avLst/>
          </a:prstGeom>
          <a:noFill/>
          <a:ln/>
        </p:spPr>
        <p:txBody>
          <a:bodyPr wrap="square" lIns="0" tIns="0" rIns="0" bIns="0" rtlCol="0" anchor="t"/>
          <a:lstStyle/>
          <a:p>
            <a:pPr indent="0" marL="0" eaLnBrk="0">
              <a:buNone/>
            </a:pPr>
            <a:r>
              <a:rPr lang="ko-KR" altLang="en-US" sz="2000" b="1" dirty="0">
                <a:solidFill>
                  <a:schemeClr val="accent6"/>
                </a:solidFill>
              </a:rPr>
              <a:t>이것을 조심한다</a:t>
            </a:r>
            <a:endParaRPr lang="ko-KR" altLang="en-US" sz="2000" dirty="0"/>
          </a:p>
        </p:txBody>
      </p:sp>
      <p:sp>
        <p:nvSpPr>
          <p:cNvPr id="24" name="card"/>
          <p:cNvSpPr/>
          <p:nvPr/>
        </p:nvSpPr>
        <p:spPr>
          <a:xfrm>
            <a:off x="6217920" y="2103120"/>
            <a:ext cx="5425135" cy="1097280"/>
          </a:xfrm>
          <a:prstGeom prst="roundRect">
            <a:avLst>
              <a:gd name="adj" fmla="val 8333"/>
            </a:avLst>
          </a:prstGeom>
          <a:solidFill>
            <a:schemeClr val="bg2"/>
          </a:solidFill>
          <a:ln w="12700">
            <a:solidFill>
              <a:schemeClr val="bg2"/>
            </a:solidFill>
            <a:prstDash val="solid"/>
          </a:ln>
        </p:spPr>
      </p:sp>
      <p:sp>
        <p:nvSpPr>
          <p:cNvPr id="25" name="Shape 22"/>
          <p:cNvSpPr/>
          <p:nvPr/>
        </p:nvSpPr>
        <p:spPr>
          <a:xfrm>
            <a:off x="6446520" y="2304288"/>
            <a:ext cx="420624" cy="420624"/>
          </a:xfrm>
          <a:prstGeom prst="ellipse">
            <a:avLst/>
          </a:prstGeom>
          <a:solidFill>
            <a:schemeClr val="accent1"/>
          </a:solidFill>
          <a:ln w="12700">
            <a:solidFill>
              <a:schemeClr val="accent1"/>
            </a:solidFill>
            <a:prstDash val="solid"/>
          </a:ln>
        </p:spPr>
      </p:sp>
      <p:sp>
        <p:nvSpPr>
          <p:cNvPr id="26" name="Text 23"/>
          <p:cNvSpPr txBox="1"/>
          <p:nvPr/>
        </p:nvSpPr>
        <p:spPr>
          <a:xfrm>
            <a:off x="6446520" y="2304288"/>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1</a:t>
            </a:r>
            <a:endParaRPr lang="ko-KR" altLang="en-US" sz="1500" dirty="0"/>
          </a:p>
        </p:txBody>
      </p:sp>
      <p:sp>
        <p:nvSpPr>
          <p:cNvPr id="27" name="Text 24"/>
          <p:cNvSpPr txBox="1"/>
          <p:nvPr/>
        </p:nvSpPr>
        <p:spPr>
          <a:xfrm>
            <a:off x="7040880" y="2194560"/>
            <a:ext cx="4419295" cy="914400"/>
          </a:xfrm>
          <a:prstGeom prst="rect">
            <a:avLst/>
          </a:prstGeom>
          <a:noFill/>
          <a:ln/>
        </p:spPr>
        <p:txBody>
          <a:bodyPr wrap="square" lIns="0" tIns="0" rIns="0" bIns="0" rtlCol="0" anchor="ctr"/>
          <a:lstStyle/>
          <a:p>
            <a:pPr indent="0" marL="0" eaLnBrk="0">
              <a:buNone/>
            </a:pPr>
            <a:r>
              <a:rPr lang="ko-KR" altLang="en-US" sz="1400" dirty="0">
                <a:solidFill>
                  <a:schemeClr val="tx2"/>
                </a:solidFill>
              </a:rPr>
              <a:t>기반 클래스에 코드가 계속 쌓인다.</a:t>
            </a:r>
            <a:endParaRPr lang="ko-KR" altLang="en-US" sz="1400" dirty="0"/>
          </a:p>
        </p:txBody>
      </p:sp>
      <p:sp>
        <p:nvSpPr>
          <p:cNvPr id="28" name="card"/>
          <p:cNvSpPr/>
          <p:nvPr/>
        </p:nvSpPr>
        <p:spPr>
          <a:xfrm>
            <a:off x="6217920" y="3328416"/>
            <a:ext cx="5425135" cy="1097280"/>
          </a:xfrm>
          <a:prstGeom prst="roundRect">
            <a:avLst>
              <a:gd name="adj" fmla="val 8333"/>
            </a:avLst>
          </a:prstGeom>
          <a:solidFill>
            <a:schemeClr val="bg2"/>
          </a:solidFill>
          <a:ln w="12700">
            <a:solidFill>
              <a:schemeClr val="bg2"/>
            </a:solidFill>
            <a:prstDash val="solid"/>
          </a:ln>
        </p:spPr>
      </p:sp>
      <p:sp>
        <p:nvSpPr>
          <p:cNvPr id="29" name="Shape 26"/>
          <p:cNvSpPr/>
          <p:nvPr/>
        </p:nvSpPr>
        <p:spPr>
          <a:xfrm>
            <a:off x="6446520" y="3529584"/>
            <a:ext cx="420624" cy="420624"/>
          </a:xfrm>
          <a:prstGeom prst="ellipse">
            <a:avLst/>
          </a:prstGeom>
          <a:solidFill>
            <a:schemeClr val="accent1"/>
          </a:solidFill>
          <a:ln w="12700">
            <a:solidFill>
              <a:schemeClr val="accent1"/>
            </a:solidFill>
            <a:prstDash val="solid"/>
          </a:ln>
        </p:spPr>
      </p:sp>
      <p:sp>
        <p:nvSpPr>
          <p:cNvPr id="30" name="Text 27"/>
          <p:cNvSpPr txBox="1"/>
          <p:nvPr/>
        </p:nvSpPr>
        <p:spPr>
          <a:xfrm>
            <a:off x="6446520" y="3529584"/>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2</a:t>
            </a:r>
            <a:endParaRPr lang="ko-KR" altLang="en-US" sz="1500" dirty="0"/>
          </a:p>
        </p:txBody>
      </p:sp>
      <p:sp>
        <p:nvSpPr>
          <p:cNvPr id="31" name="Text 28"/>
          <p:cNvSpPr txBox="1"/>
          <p:nvPr/>
        </p:nvSpPr>
        <p:spPr>
          <a:xfrm>
            <a:off x="7040880" y="3419856"/>
            <a:ext cx="4419295" cy="914400"/>
          </a:xfrm>
          <a:prstGeom prst="rect">
            <a:avLst/>
          </a:prstGeom>
          <a:noFill/>
          <a:ln/>
        </p:spPr>
        <p:txBody>
          <a:bodyPr wrap="square" lIns="0" tIns="0" rIns="0" bIns="0" rtlCol="0" anchor="ctr"/>
          <a:lstStyle/>
          <a:p>
            <a:pPr indent="0" marL="0" eaLnBrk="0">
              <a:buNone/>
            </a:pPr>
            <a:r>
              <a:rPr lang="ko-KR" altLang="en-US" sz="1400" dirty="0">
                <a:solidFill>
                  <a:schemeClr val="tx2"/>
                </a:solidFill>
              </a:rPr>
              <a:t>기반 클래스가 모든 시스템과 결합되어 고치면 깨지기 쉽다. (취약한 기반 클래스 문제)</a:t>
            </a:r>
            <a:endParaRPr lang="ko-KR" altLang="en-US" sz="1400" dirty="0"/>
          </a:p>
        </p:txBody>
      </p:sp>
      <p:sp>
        <p:nvSpPr>
          <p:cNvPr id="32" name="card"/>
          <p:cNvSpPr/>
          <p:nvPr/>
        </p:nvSpPr>
        <p:spPr>
          <a:xfrm>
            <a:off x="6217920" y="4553712"/>
            <a:ext cx="5425135" cy="1097280"/>
          </a:xfrm>
          <a:prstGeom prst="roundRect">
            <a:avLst>
              <a:gd name="adj" fmla="val 8333"/>
            </a:avLst>
          </a:prstGeom>
          <a:solidFill>
            <a:schemeClr val="bg2"/>
          </a:solidFill>
          <a:ln w="12700">
            <a:solidFill>
              <a:schemeClr val="bg2"/>
            </a:solidFill>
            <a:prstDash val="solid"/>
          </a:ln>
        </p:spPr>
      </p:sp>
      <p:sp>
        <p:nvSpPr>
          <p:cNvPr id="33" name="Shape 30"/>
          <p:cNvSpPr/>
          <p:nvPr/>
        </p:nvSpPr>
        <p:spPr>
          <a:xfrm>
            <a:off x="6446520" y="4754880"/>
            <a:ext cx="420624" cy="420624"/>
          </a:xfrm>
          <a:prstGeom prst="ellipse">
            <a:avLst/>
          </a:prstGeom>
          <a:solidFill>
            <a:schemeClr val="accent1"/>
          </a:solidFill>
          <a:ln w="12700">
            <a:solidFill>
              <a:schemeClr val="accent1"/>
            </a:solidFill>
            <a:prstDash val="solid"/>
          </a:ln>
        </p:spPr>
      </p:sp>
      <p:sp>
        <p:nvSpPr>
          <p:cNvPr id="34" name="Text 31"/>
          <p:cNvSpPr txBox="1"/>
          <p:nvPr/>
        </p:nvSpPr>
        <p:spPr>
          <a:xfrm>
            <a:off x="6446520" y="4754880"/>
            <a:ext cx="420624" cy="420624"/>
          </a:xfrm>
          <a:prstGeom prst="rect">
            <a:avLst/>
          </a:prstGeom>
          <a:noFill/>
          <a:ln/>
        </p:spPr>
        <p:txBody>
          <a:bodyPr wrap="square" lIns="0" tIns="0" rIns="0" bIns="0" rtlCol="0" anchor="ctr"/>
          <a:lstStyle/>
          <a:p>
            <a:pPr algn="ctr" indent="0" marL="0" eaLnBrk="0">
              <a:buNone/>
            </a:pPr>
            <a:r>
              <a:rPr lang="ko-KR" altLang="en-US" sz="1500" b="1" dirty="0">
                <a:solidFill>
                  <a:schemeClr val="bg1"/>
                </a:solidFill>
              </a:rPr>
              <a:t>3</a:t>
            </a:r>
            <a:endParaRPr lang="ko-KR" altLang="en-US" sz="1500" dirty="0"/>
          </a:p>
        </p:txBody>
      </p:sp>
      <p:sp>
        <p:nvSpPr>
          <p:cNvPr id="35" name="Text 32"/>
          <p:cNvSpPr txBox="1"/>
          <p:nvPr/>
        </p:nvSpPr>
        <p:spPr>
          <a:xfrm>
            <a:off x="7040880" y="4645152"/>
            <a:ext cx="4419295" cy="914400"/>
          </a:xfrm>
          <a:prstGeom prst="rect">
            <a:avLst/>
          </a:prstGeom>
          <a:noFill/>
          <a:ln/>
        </p:spPr>
        <p:txBody>
          <a:bodyPr wrap="square" lIns="0" tIns="0" rIns="0" bIns="0" rtlCol="0" anchor="ctr"/>
          <a:lstStyle/>
          <a:p>
            <a:pPr indent="0" marL="0" eaLnBrk="0">
              <a:buNone/>
            </a:pPr>
            <a:r>
              <a:rPr lang="ko-KR" altLang="en-US" sz="1400" dirty="0">
                <a:solidFill>
                  <a:schemeClr val="tx2"/>
                </a:solidFill>
              </a:rPr>
              <a:t>커지면 제공 기능 일부를 별도 클래스로 나눈다. (컴포넌트, 1강)</a:t>
            </a:r>
            <a:endParaRPr lang="ko-KR" alt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28</a:t>
            </a:fld>
            <a:endParaRPr lang="ko-KR"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템플릿 메서드와 비교</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기본 동작과 그것을 조합하는 메서드가 놓인 곳이 반대다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원서가 함께 소개하는 다른 패턴은 무엇일까?</a:t>
            </a:r>
            <a:endParaRPr lang="ko-KR" altLang="en-US" sz="1500" dirty="0"/>
          </a:p>
        </p:txBody>
      </p:sp>
      <p:sp>
        <p:nvSpPr>
          <p:cNvPr id="6" name="Text 3"/>
          <p:cNvSpPr txBox="1"/>
          <p:nvPr/>
        </p:nvSpPr>
        <p:spPr>
          <a:xfrm>
            <a:off x="548640" y="1600200"/>
            <a:ext cx="5303520" cy="411480"/>
          </a:xfrm>
          <a:prstGeom prst="rect">
            <a:avLst/>
          </a:prstGeom>
          <a:noFill/>
          <a:ln/>
        </p:spPr>
        <p:txBody>
          <a:bodyPr wrap="square" lIns="0" tIns="0" rIns="0" bIns="0" rtlCol="0" anchor="t"/>
          <a:lstStyle/>
          <a:p>
            <a:pPr indent="0" marL="0" eaLnBrk="0">
              <a:buNone/>
            </a:pPr>
            <a:r>
              <a:rPr lang="ko-KR" altLang="en-US" sz="1900" b="1" dirty="0">
                <a:solidFill>
                  <a:schemeClr val="accent2"/>
                </a:solidFill>
              </a:rPr>
              <a:t>하위 클래스 샌드박스</a:t>
            </a:r>
            <a:endParaRPr lang="ko-KR" altLang="en-US" sz="1900" dirty="0"/>
          </a:p>
        </p:txBody>
      </p:sp>
      <p:sp>
        <p:nvSpPr>
          <p:cNvPr id="7" name="box"/>
          <p:cNvSpPr/>
          <p:nvPr/>
        </p:nvSpPr>
        <p:spPr>
          <a:xfrm>
            <a:off x="914400" y="2148840"/>
            <a:ext cx="4572000" cy="960120"/>
          </a:xfrm>
          <a:prstGeom prst="roundRect">
            <a:avLst>
              <a:gd name="adj" fmla="val 7619"/>
            </a:avLst>
          </a:prstGeom>
          <a:solidFill>
            <a:schemeClr val="accent2"/>
          </a:solidFill>
          <a:ln w="12700">
            <a:solidFill>
              <a:schemeClr val="accent2"/>
            </a:solidFill>
            <a:prstDash val="solid"/>
          </a:ln>
        </p:spPr>
      </p:sp>
      <p:sp>
        <p:nvSpPr>
          <p:cNvPr id="8" name="Text 5"/>
          <p:cNvSpPr txBox="1"/>
          <p:nvPr/>
        </p:nvSpPr>
        <p:spPr>
          <a:xfrm>
            <a:off x="914400" y="2148840"/>
            <a:ext cx="4572000" cy="96012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기반 클래스</a:t>
            </a:r>
            <a:endParaRPr lang="ko-KR" altLang="en-US" sz="1500" dirty="0"/>
          </a:p>
          <a:p>
            <a:pPr algn="ctr" indent="0" marL="0" eaLnBrk="0">
              <a:buNone/>
            </a:pPr>
            <a:r>
              <a:rPr lang="ko-KR" altLang="en-US" sz="1500" b="1" dirty="0">
                <a:solidFill>
                  <a:schemeClr val="bg1"/>
                </a:solidFill>
              </a:rPr>
              <a:t>기본 동작: Move · PlaySound · SpawnParticles</a:t>
            </a:r>
            <a:endParaRPr lang="ko-KR" altLang="en-US" sz="1500" dirty="0"/>
          </a:p>
        </p:txBody>
      </p:sp>
      <p:sp>
        <p:nvSpPr>
          <p:cNvPr id="9" name="box"/>
          <p:cNvSpPr/>
          <p:nvPr/>
        </p:nvSpPr>
        <p:spPr>
          <a:xfrm>
            <a:off x="914400" y="3657600"/>
            <a:ext cx="4572000" cy="960120"/>
          </a:xfrm>
          <a:prstGeom prst="roundRect">
            <a:avLst>
              <a:gd name="adj" fmla="val 7619"/>
            </a:avLst>
          </a:prstGeom>
          <a:solidFill>
            <a:schemeClr val="accent1"/>
          </a:solidFill>
          <a:ln w="12700">
            <a:solidFill>
              <a:schemeClr val="accent1"/>
            </a:solidFill>
            <a:prstDash val="solid"/>
          </a:ln>
        </p:spPr>
      </p:sp>
      <p:sp>
        <p:nvSpPr>
          <p:cNvPr id="10" name="Text 7"/>
          <p:cNvSpPr txBox="1"/>
          <p:nvPr/>
        </p:nvSpPr>
        <p:spPr>
          <a:xfrm>
            <a:off x="914400" y="3657600"/>
            <a:ext cx="4572000" cy="96012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하위 클래스</a:t>
            </a:r>
            <a:endParaRPr lang="ko-KR" altLang="en-US" sz="1500" dirty="0"/>
          </a:p>
          <a:p>
            <a:pPr algn="ctr" indent="0" marL="0" eaLnBrk="0">
              <a:buNone/>
            </a:pPr>
            <a:r>
              <a:rPr lang="ko-KR" altLang="en-US" sz="1500" b="1" dirty="0">
                <a:solidFill>
                  <a:schemeClr val="bg1"/>
                </a:solidFill>
              </a:rPr>
              <a:t>조합하는 메서드: Activate()</a:t>
            </a:r>
            <a:endParaRPr lang="ko-KR" altLang="en-US" sz="1500" dirty="0"/>
          </a:p>
        </p:txBody>
      </p:sp>
      <p:sp>
        <p:nvSpPr>
          <p:cNvPr id="11" name="Shape 8"/>
          <p:cNvSpPr/>
          <p:nvPr/>
        </p:nvSpPr>
        <p:spPr>
          <a:xfrm flipV="1">
            <a:off x="3200400" y="3154680"/>
            <a:ext cx="914" cy="457200"/>
          </a:xfrm>
          <a:prstGeom prst="line">
            <a:avLst/>
          </a:prstGeom>
          <a:noFill/>
          <a:ln w="25400">
            <a:solidFill>
              <a:schemeClr val="tx1"/>
            </a:solidFill>
            <a:prstDash val="solid"/>
            <a:tailEnd type="triangle"/>
          </a:ln>
        </p:spPr>
      </p:sp>
      <p:sp>
        <p:nvSpPr>
          <p:cNvPr id="12" name="Text 9"/>
          <p:cNvSpPr txBox="1"/>
          <p:nvPr/>
        </p:nvSpPr>
        <p:spPr>
          <a:xfrm>
            <a:off x="3337560" y="3200400"/>
            <a:ext cx="1097280" cy="365760"/>
          </a:xfrm>
          <a:prstGeom prst="rect">
            <a:avLst/>
          </a:prstGeom>
          <a:noFill/>
          <a:ln/>
        </p:spPr>
        <p:txBody>
          <a:bodyPr wrap="square" lIns="0" tIns="0" rIns="0" bIns="0" rtlCol="0" anchor="t"/>
          <a:lstStyle/>
          <a:p>
            <a:pPr indent="0" marL="0" eaLnBrk="0">
              <a:buNone/>
            </a:pPr>
            <a:r>
              <a:rPr lang="ko-KR" altLang="en-US" sz="1300" b="1" dirty="0">
                <a:solidFill>
                  <a:schemeClr val="accent5"/>
                </a:solidFill>
              </a:rPr>
              <a:t>부른다</a:t>
            </a:r>
            <a:endParaRPr lang="ko-KR" altLang="en-US" sz="1300" dirty="0"/>
          </a:p>
        </p:txBody>
      </p:sp>
      <p:sp>
        <p:nvSpPr>
          <p:cNvPr id="13" name="Text 10"/>
          <p:cNvSpPr txBox="1"/>
          <p:nvPr/>
        </p:nvSpPr>
        <p:spPr>
          <a:xfrm>
            <a:off x="6309360" y="1600200"/>
            <a:ext cx="5303520" cy="411480"/>
          </a:xfrm>
          <a:prstGeom prst="rect">
            <a:avLst/>
          </a:prstGeom>
          <a:noFill/>
          <a:ln/>
        </p:spPr>
        <p:txBody>
          <a:bodyPr wrap="square" lIns="0" tIns="0" rIns="0" bIns="0" rtlCol="0" anchor="t"/>
          <a:lstStyle/>
          <a:p>
            <a:pPr indent="0" marL="0" eaLnBrk="0">
              <a:buNone/>
            </a:pPr>
            <a:r>
              <a:rPr lang="ko-KR" altLang="en-US" sz="1900" b="1" dirty="0">
                <a:solidFill>
                  <a:schemeClr val="accent1"/>
                </a:solidFill>
              </a:rPr>
              <a:t>템플릿 메서드</a:t>
            </a:r>
            <a:endParaRPr lang="ko-KR" altLang="en-US" sz="1900" dirty="0"/>
          </a:p>
        </p:txBody>
      </p:sp>
      <p:sp>
        <p:nvSpPr>
          <p:cNvPr id="14" name="box"/>
          <p:cNvSpPr/>
          <p:nvPr/>
        </p:nvSpPr>
        <p:spPr>
          <a:xfrm>
            <a:off x="6675120" y="2148840"/>
            <a:ext cx="4572000" cy="960120"/>
          </a:xfrm>
          <a:prstGeom prst="roundRect">
            <a:avLst>
              <a:gd name="adj" fmla="val 7619"/>
            </a:avLst>
          </a:prstGeom>
          <a:solidFill>
            <a:schemeClr val="accent2"/>
          </a:solidFill>
          <a:ln w="12700">
            <a:solidFill>
              <a:schemeClr val="accent2"/>
            </a:solidFill>
            <a:prstDash val="solid"/>
          </a:ln>
        </p:spPr>
      </p:sp>
      <p:sp>
        <p:nvSpPr>
          <p:cNvPr id="15" name="Text 12"/>
          <p:cNvSpPr txBox="1"/>
          <p:nvPr/>
        </p:nvSpPr>
        <p:spPr>
          <a:xfrm>
            <a:off x="6675120" y="2148840"/>
            <a:ext cx="4572000" cy="96012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기반 클래스</a:t>
            </a:r>
            <a:endParaRPr lang="ko-KR" altLang="en-US" sz="1500" dirty="0"/>
          </a:p>
          <a:p>
            <a:pPr algn="ctr" indent="0" marL="0" eaLnBrk="0">
              <a:buNone/>
            </a:pPr>
            <a:r>
              <a:rPr lang="ko-KR" altLang="en-US" sz="1500" b="1" dirty="0">
                <a:solidFill>
                  <a:schemeClr val="bg1"/>
                </a:solidFill>
              </a:rPr>
              <a:t>기본 동작을 조합하는 메서드</a:t>
            </a:r>
            <a:endParaRPr lang="ko-KR" altLang="en-US" sz="1500" dirty="0"/>
          </a:p>
        </p:txBody>
      </p:sp>
      <p:sp>
        <p:nvSpPr>
          <p:cNvPr id="16" name="box"/>
          <p:cNvSpPr/>
          <p:nvPr/>
        </p:nvSpPr>
        <p:spPr>
          <a:xfrm>
            <a:off x="6675120" y="3657600"/>
            <a:ext cx="4572000" cy="960120"/>
          </a:xfrm>
          <a:prstGeom prst="roundRect">
            <a:avLst>
              <a:gd name="adj" fmla="val 7619"/>
            </a:avLst>
          </a:prstGeom>
          <a:solidFill>
            <a:schemeClr val="accent1"/>
          </a:solidFill>
          <a:ln w="12700">
            <a:solidFill>
              <a:schemeClr val="accent1"/>
            </a:solidFill>
            <a:prstDash val="solid"/>
          </a:ln>
        </p:spPr>
      </p:sp>
      <p:sp>
        <p:nvSpPr>
          <p:cNvPr id="17" name="Text 14"/>
          <p:cNvSpPr txBox="1"/>
          <p:nvPr/>
        </p:nvSpPr>
        <p:spPr>
          <a:xfrm>
            <a:off x="6675120" y="3657600"/>
            <a:ext cx="4572000" cy="960120"/>
          </a:xfrm>
          <a:prstGeom prst="rect">
            <a:avLst/>
          </a:prstGeom>
          <a:noFill/>
          <a:ln/>
        </p:spPr>
        <p:txBody>
          <a:bodyPr wrap="square" lIns="635" tIns="635" rIns="635" bIns="635" rtlCol="0" anchor="ctr"/>
          <a:lstStyle/>
          <a:p>
            <a:pPr algn="ctr" indent="0" marL="0" eaLnBrk="0">
              <a:buNone/>
            </a:pPr>
            <a:r>
              <a:rPr lang="ko-KR" altLang="en-US" sz="1500" b="1" dirty="0">
                <a:solidFill>
                  <a:schemeClr val="bg1"/>
                </a:solidFill>
              </a:rPr>
              <a:t>하위 클래스</a:t>
            </a:r>
            <a:endParaRPr lang="ko-KR" altLang="en-US" sz="1500" dirty="0"/>
          </a:p>
          <a:p>
            <a:pPr algn="ctr" indent="0" marL="0" eaLnBrk="0">
              <a:buNone/>
            </a:pPr>
            <a:r>
              <a:rPr lang="ko-KR" altLang="en-US" sz="1500" b="1" dirty="0">
                <a:solidFill>
                  <a:schemeClr val="bg1"/>
                </a:solidFill>
              </a:rPr>
              <a:t>기본 동작을 구현한다</a:t>
            </a:r>
            <a:endParaRPr lang="ko-KR" altLang="en-US" sz="1500" dirty="0"/>
          </a:p>
        </p:txBody>
      </p:sp>
      <p:sp>
        <p:nvSpPr>
          <p:cNvPr id="18" name="Shape 15"/>
          <p:cNvSpPr/>
          <p:nvPr/>
        </p:nvSpPr>
        <p:spPr>
          <a:xfrm>
            <a:off x="8961120" y="3154680"/>
            <a:ext cx="914" cy="457200"/>
          </a:xfrm>
          <a:prstGeom prst="line">
            <a:avLst/>
          </a:prstGeom>
          <a:noFill/>
          <a:ln w="25400">
            <a:solidFill>
              <a:schemeClr val="tx1"/>
            </a:solidFill>
            <a:prstDash val="solid"/>
            <a:tailEnd type="triangle"/>
          </a:ln>
        </p:spPr>
      </p:sp>
      <p:sp>
        <p:nvSpPr>
          <p:cNvPr id="19" name="Text 16"/>
          <p:cNvSpPr txBox="1"/>
          <p:nvPr/>
        </p:nvSpPr>
        <p:spPr>
          <a:xfrm>
            <a:off x="9098280" y="3200400"/>
            <a:ext cx="1097280" cy="365760"/>
          </a:xfrm>
          <a:prstGeom prst="rect">
            <a:avLst/>
          </a:prstGeom>
          <a:noFill/>
          <a:ln/>
        </p:spPr>
        <p:txBody>
          <a:bodyPr wrap="square" lIns="0" tIns="0" rIns="0" bIns="0" rtlCol="0" anchor="t"/>
          <a:lstStyle/>
          <a:p>
            <a:pPr indent="0" marL="0" eaLnBrk="0">
              <a:buNone/>
            </a:pPr>
            <a:r>
              <a:rPr lang="ko-KR" altLang="en-US" sz="1300" b="1" dirty="0">
                <a:solidFill>
                  <a:schemeClr val="accent5"/>
                </a:solidFill>
              </a:rPr>
              <a:t>부른다</a:t>
            </a:r>
            <a:endParaRPr lang="ko-KR" altLang="en-US" sz="1300" dirty="0"/>
          </a:p>
        </p:txBody>
      </p:sp>
      <p:sp>
        <p:nvSpPr>
          <p:cNvPr id="20" name="card"/>
          <p:cNvSpPr/>
          <p:nvPr/>
        </p:nvSpPr>
        <p:spPr>
          <a:xfrm>
            <a:off x="548640" y="4846320"/>
            <a:ext cx="11094415" cy="868680"/>
          </a:xfrm>
          <a:prstGeom prst="roundRect">
            <a:avLst>
              <a:gd name="adj" fmla="val 10526"/>
            </a:avLst>
          </a:prstGeom>
          <a:solidFill>
            <a:schemeClr val="tx2"/>
          </a:solidFill>
          <a:ln w="12700">
            <a:solidFill>
              <a:schemeClr val="tx2"/>
            </a:solidFill>
            <a:prstDash val="solid"/>
          </a:ln>
        </p:spPr>
      </p:sp>
      <p:sp>
        <p:nvSpPr>
          <p:cNvPr id="21" name="Text 18"/>
          <p:cNvSpPr txBox="1"/>
          <p:nvPr/>
        </p:nvSpPr>
        <p:spPr>
          <a:xfrm>
            <a:off x="777240" y="5065776"/>
            <a:ext cx="10682935" cy="411480"/>
          </a:xfrm>
          <a:prstGeom prst="rect">
            <a:avLst/>
          </a:prstGeom>
          <a:noFill/>
          <a:ln/>
        </p:spPr>
        <p:txBody>
          <a:bodyPr wrap="square" lIns="0" tIns="0" rIns="0" bIns="0" rtlCol="0" anchor="ctr"/>
          <a:lstStyle/>
          <a:p>
            <a:pPr indent="0" marL="0" eaLnBrk="0">
              <a:buNone/>
            </a:pPr>
            <a:r>
              <a:rPr lang="ko-KR" altLang="en-US" sz="1700" b="1" dirty="0">
                <a:solidFill>
                  <a:schemeClr val="accent4"/>
                </a:solidFill>
              </a:rPr>
              <a:t>공통점</a:t>
            </a:r>
            <a:endParaRPr lang="ko-KR" altLang="en-US" sz="1700" dirty="0"/>
          </a:p>
        </p:txBody>
      </p:sp>
      <p:sp>
        <p:nvSpPr>
          <p:cNvPr id="22" name="Text 19"/>
          <p:cNvSpPr txBox="1"/>
          <p:nvPr/>
        </p:nvSpPr>
        <p:spPr>
          <a:xfrm>
            <a:off x="2011680" y="4956048"/>
            <a:ext cx="9357055" cy="640080"/>
          </a:xfrm>
          <a:prstGeom prst="rect">
            <a:avLst/>
          </a:prstGeom>
          <a:noFill/>
          <a:ln/>
        </p:spPr>
        <p:txBody>
          <a:bodyPr wrap="square" lIns="0" tIns="0" rIns="0" bIns="0" rtlCol="0" anchor="ctr"/>
          <a:lstStyle/>
          <a:p>
            <a:pPr indent="0" marL="0" eaLnBrk="0">
              <a:buNone/>
            </a:pPr>
            <a:r>
              <a:rPr lang="ko-KR" altLang="en-US" sz="1500" dirty="0">
                <a:solidFill>
                  <a:schemeClr val="bg1"/>
                </a:solidFill>
              </a:rPr>
              <a:t>기본 동작 몇 개로 메서드 하나를 만든다. 무엇이 어디에 있는지만 다르다.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29</a:t>
            </a:fld>
            <a:endParaRPr lang="ko-KR"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관련 패턴</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원서가 함께 소개하는 패턴들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Unity에서는 이 생각이 어디에 쓰이고 있을까?</a:t>
            </a:r>
            <a:endParaRPr lang="ko-KR" altLang="en-US" sz="1500" dirty="0"/>
          </a:p>
        </p:txBody>
      </p:sp>
      <p:sp>
        <p:nvSpPr>
          <p:cNvPr id="6" name="Shape 3"/>
          <p:cNvSpPr/>
          <p:nvPr/>
        </p:nvSpPr>
        <p:spPr>
          <a:xfrm>
            <a:off x="548640" y="1645920"/>
            <a:ext cx="11094415" cy="731520"/>
          </a:xfrm>
          <a:prstGeom prst="roundRect">
            <a:avLst>
              <a:gd name="adj" fmla="val 10000"/>
            </a:avLst>
          </a:prstGeom>
          <a:solidFill>
            <a:schemeClr val="bg2"/>
          </a:solidFill>
          <a:ln w="12700">
            <a:solidFill>
              <a:schemeClr val="bg2"/>
            </a:solidFill>
            <a:prstDash val="solid"/>
          </a:ln>
        </p:spPr>
      </p:sp>
      <p:sp>
        <p:nvSpPr>
          <p:cNvPr id="7" name="Text 4"/>
          <p:cNvSpPr txBox="1"/>
          <p:nvPr/>
        </p:nvSpPr>
        <p:spPr>
          <a:xfrm>
            <a:off x="822960" y="1645920"/>
            <a:ext cx="2743200" cy="731520"/>
          </a:xfrm>
          <a:prstGeom prst="rect">
            <a:avLst/>
          </a:prstGeom>
          <a:noFill/>
          <a:ln/>
        </p:spPr>
        <p:txBody>
          <a:bodyPr wrap="square" lIns="0" tIns="0" rIns="0" bIns="0" rtlCol="0" anchor="ctr"/>
          <a:lstStyle/>
          <a:p>
            <a:pPr indent="0" marL="0" eaLnBrk="0">
              <a:buNone/>
            </a:pPr>
            <a:r>
              <a:rPr lang="ko-KR" altLang="en-US" sz="1600" b="1" dirty="0">
                <a:solidFill>
                  <a:schemeClr val="tx1"/>
                </a:solidFill>
              </a:rPr>
              <a:t>업데이트 메서드</a:t>
            </a:r>
            <a:endParaRPr lang="ko-KR" altLang="en-US" sz="1600" dirty="0"/>
          </a:p>
        </p:txBody>
      </p:sp>
      <p:sp>
        <p:nvSpPr>
          <p:cNvPr id="8" name="Text 5"/>
          <p:cNvSpPr txBox="1"/>
          <p:nvPr/>
        </p:nvSpPr>
        <p:spPr>
          <a:xfrm>
            <a:off x="4892040" y="1645920"/>
            <a:ext cx="6568135" cy="731520"/>
          </a:xfrm>
          <a:prstGeom prst="rect">
            <a:avLst/>
          </a:prstGeom>
          <a:noFill/>
          <a:ln/>
        </p:spPr>
        <p:txBody>
          <a:bodyPr wrap="square" lIns="0" tIns="0" rIns="0" bIns="0" rtlCol="0" anchor="ctr"/>
          <a:lstStyle/>
          <a:p>
            <a:pPr indent="0" marL="0" eaLnBrk="0">
              <a:buNone/>
            </a:pPr>
            <a:r>
              <a:rPr lang="ko-KR" altLang="en-US" sz="1500" dirty="0">
                <a:solidFill>
                  <a:schemeClr val="tx2"/>
                </a:solidFill>
              </a:rPr>
              <a:t>매 프레임 부르는 업데이트 메서드가 흔히 샌드박스 메서드이기도 하다.</a:t>
            </a:r>
            <a:endParaRPr lang="ko-KR" altLang="en-US" sz="1500" dirty="0"/>
          </a:p>
        </p:txBody>
      </p:sp>
      <p:sp>
        <p:nvSpPr>
          <p:cNvPr id="9" name="Shape 6"/>
          <p:cNvSpPr/>
          <p:nvPr/>
        </p:nvSpPr>
        <p:spPr>
          <a:xfrm>
            <a:off x="548640" y="2468880"/>
            <a:ext cx="11094415" cy="731520"/>
          </a:xfrm>
          <a:prstGeom prst="roundRect">
            <a:avLst>
              <a:gd name="adj" fmla="val 10000"/>
            </a:avLst>
          </a:prstGeom>
          <a:solidFill>
            <a:schemeClr val="bg2"/>
          </a:solidFill>
          <a:ln w="12700">
            <a:solidFill>
              <a:schemeClr val="bg2"/>
            </a:solidFill>
            <a:prstDash val="solid"/>
          </a:ln>
        </p:spPr>
      </p:sp>
      <p:sp>
        <p:nvSpPr>
          <p:cNvPr id="10" name="Text 7"/>
          <p:cNvSpPr txBox="1"/>
          <p:nvPr/>
        </p:nvSpPr>
        <p:spPr>
          <a:xfrm>
            <a:off x="822960" y="2468880"/>
            <a:ext cx="2743200" cy="731520"/>
          </a:xfrm>
          <a:prstGeom prst="rect">
            <a:avLst/>
          </a:prstGeom>
          <a:noFill/>
          <a:ln/>
        </p:spPr>
        <p:txBody>
          <a:bodyPr wrap="square" lIns="0" tIns="0" rIns="0" bIns="0" rtlCol="0" anchor="ctr"/>
          <a:lstStyle/>
          <a:p>
            <a:pPr indent="0" marL="0" eaLnBrk="0">
              <a:buNone/>
            </a:pPr>
            <a:r>
              <a:rPr lang="ko-KR" altLang="en-US" sz="1600" b="1" dirty="0">
                <a:solidFill>
                  <a:schemeClr val="tx1"/>
                </a:solidFill>
              </a:rPr>
              <a:t>템플릿 메서드</a:t>
            </a:r>
            <a:endParaRPr lang="ko-KR" altLang="en-US" sz="1600" dirty="0"/>
          </a:p>
        </p:txBody>
      </p:sp>
      <p:sp>
        <p:nvSpPr>
          <p:cNvPr id="11" name="Text 8"/>
          <p:cNvSpPr txBox="1"/>
          <p:nvPr/>
        </p:nvSpPr>
        <p:spPr>
          <a:xfrm>
            <a:off x="4892040" y="2468880"/>
            <a:ext cx="6568135" cy="731520"/>
          </a:xfrm>
          <a:prstGeom prst="rect">
            <a:avLst/>
          </a:prstGeom>
          <a:noFill/>
          <a:ln/>
        </p:spPr>
        <p:txBody>
          <a:bodyPr wrap="square" lIns="0" tIns="0" rIns="0" bIns="0" rtlCol="0" anchor="ctr"/>
          <a:lstStyle/>
          <a:p>
            <a:pPr indent="0" marL="0" eaLnBrk="0">
              <a:buNone/>
            </a:pPr>
            <a:r>
              <a:rPr lang="ko-KR" altLang="en-US" sz="1500" dirty="0">
                <a:solidFill>
                  <a:schemeClr val="tx2"/>
                </a:solidFill>
              </a:rPr>
              <a:t>역할을 뒤바꾼 패턴이다. 조합하는 메서드가 기반 클래스에 있다.</a:t>
            </a:r>
            <a:endParaRPr lang="ko-KR" altLang="en-US" sz="1500" dirty="0"/>
          </a:p>
        </p:txBody>
      </p:sp>
      <p:sp>
        <p:nvSpPr>
          <p:cNvPr id="12" name="Shape 9"/>
          <p:cNvSpPr/>
          <p:nvPr/>
        </p:nvSpPr>
        <p:spPr>
          <a:xfrm>
            <a:off x="548640" y="3291840"/>
            <a:ext cx="11094415" cy="731520"/>
          </a:xfrm>
          <a:prstGeom prst="roundRect">
            <a:avLst>
              <a:gd name="adj" fmla="val 10000"/>
            </a:avLst>
          </a:prstGeom>
          <a:solidFill>
            <a:schemeClr val="bg2"/>
          </a:solidFill>
          <a:ln w="12700">
            <a:solidFill>
              <a:schemeClr val="bg2"/>
            </a:solidFill>
            <a:prstDash val="solid"/>
          </a:ln>
        </p:spPr>
      </p:sp>
      <p:sp>
        <p:nvSpPr>
          <p:cNvPr id="13" name="Text 10"/>
          <p:cNvSpPr txBox="1"/>
          <p:nvPr/>
        </p:nvSpPr>
        <p:spPr>
          <a:xfrm>
            <a:off x="822960" y="3291840"/>
            <a:ext cx="2743200" cy="731520"/>
          </a:xfrm>
          <a:prstGeom prst="rect">
            <a:avLst/>
          </a:prstGeom>
          <a:noFill/>
          <a:ln/>
        </p:spPr>
        <p:txBody>
          <a:bodyPr wrap="square" lIns="0" tIns="0" rIns="0" bIns="0" rtlCol="0" anchor="ctr"/>
          <a:lstStyle/>
          <a:p>
            <a:pPr indent="0" marL="0" eaLnBrk="0">
              <a:buNone/>
            </a:pPr>
            <a:r>
              <a:rPr lang="ko-KR" altLang="en-US" sz="1600" b="1" dirty="0">
                <a:solidFill>
                  <a:schemeClr val="tx1"/>
                </a:solidFill>
              </a:rPr>
              <a:t>퍼사드</a:t>
            </a:r>
            <a:endParaRPr lang="ko-KR" altLang="en-US" sz="1600" dirty="0"/>
          </a:p>
        </p:txBody>
      </p:sp>
      <p:sp>
        <p:nvSpPr>
          <p:cNvPr id="14" name="Text 11"/>
          <p:cNvSpPr txBox="1"/>
          <p:nvPr/>
        </p:nvSpPr>
        <p:spPr>
          <a:xfrm>
            <a:off x="4892040" y="3291840"/>
            <a:ext cx="6568135" cy="731520"/>
          </a:xfrm>
          <a:prstGeom prst="rect">
            <a:avLst/>
          </a:prstGeom>
          <a:noFill/>
          <a:ln/>
        </p:spPr>
        <p:txBody>
          <a:bodyPr wrap="square" lIns="0" tIns="0" rIns="0" bIns="0" rtlCol="0" anchor="ctr"/>
          <a:lstStyle/>
          <a:p>
            <a:pPr indent="0" marL="0" eaLnBrk="0">
              <a:buNone/>
            </a:pPr>
            <a:r>
              <a:rPr lang="ko-KR" altLang="en-US" sz="1500" dirty="0">
                <a:solidFill>
                  <a:schemeClr val="tx2"/>
                </a:solidFill>
              </a:rPr>
              <a:t>기반 클래스가 엔진 전체를 감추는 퍼사드 역할을 한다.</a:t>
            </a:r>
            <a:endParaRPr lang="ko-KR" altLang="en-US" sz="1500" dirty="0"/>
          </a:p>
        </p:txBody>
      </p:sp>
      <p:sp>
        <p:nvSpPr>
          <p:cNvPr id="15" name="Shape 12"/>
          <p:cNvSpPr/>
          <p:nvPr/>
        </p:nvSpPr>
        <p:spPr>
          <a:xfrm>
            <a:off x="548640" y="4114800"/>
            <a:ext cx="11094415" cy="731520"/>
          </a:xfrm>
          <a:prstGeom prst="roundRect">
            <a:avLst>
              <a:gd name="adj" fmla="val 10000"/>
            </a:avLst>
          </a:prstGeom>
          <a:solidFill>
            <a:schemeClr val="bg2"/>
          </a:solidFill>
          <a:ln w="12700">
            <a:solidFill>
              <a:schemeClr val="bg2"/>
            </a:solidFill>
            <a:prstDash val="solid"/>
          </a:ln>
        </p:spPr>
      </p:sp>
      <p:sp>
        <p:nvSpPr>
          <p:cNvPr id="16" name="Text 13"/>
          <p:cNvSpPr txBox="1"/>
          <p:nvPr/>
        </p:nvSpPr>
        <p:spPr>
          <a:xfrm>
            <a:off x="822960" y="4114800"/>
            <a:ext cx="2743200" cy="731520"/>
          </a:xfrm>
          <a:prstGeom prst="rect">
            <a:avLst/>
          </a:prstGeom>
          <a:noFill/>
          <a:ln/>
        </p:spPr>
        <p:txBody>
          <a:bodyPr wrap="square" lIns="0" tIns="0" rIns="0" bIns="0" rtlCol="0" anchor="ctr"/>
          <a:lstStyle/>
          <a:p>
            <a:pPr indent="0" marL="0" eaLnBrk="0">
              <a:buNone/>
            </a:pPr>
            <a:r>
              <a:rPr lang="ko-KR" altLang="en-US" sz="1600" b="1" dirty="0">
                <a:solidFill>
                  <a:schemeClr val="tx1"/>
                </a:solidFill>
              </a:rPr>
              <a:t>컴포넌트</a:t>
            </a:r>
            <a:endParaRPr lang="ko-KR" altLang="en-US" sz="1600" dirty="0"/>
          </a:p>
        </p:txBody>
      </p:sp>
      <p:sp>
        <p:nvSpPr>
          <p:cNvPr id="17" name="Shape 14"/>
          <p:cNvSpPr/>
          <p:nvPr/>
        </p:nvSpPr>
        <p:spPr>
          <a:xfrm>
            <a:off x="3566160" y="4306824"/>
            <a:ext cx="685800" cy="347472"/>
          </a:xfrm>
          <a:prstGeom prst="roundRect">
            <a:avLst>
              <a:gd name="adj" fmla="val 21053"/>
            </a:avLst>
          </a:prstGeom>
          <a:solidFill>
            <a:schemeClr val="accent1"/>
          </a:solidFill>
          <a:ln w="12700">
            <a:solidFill>
              <a:schemeClr val="accent1"/>
            </a:solidFill>
            <a:prstDash val="solid"/>
          </a:ln>
        </p:spPr>
      </p:sp>
      <p:sp>
        <p:nvSpPr>
          <p:cNvPr id="18" name="Text 15"/>
          <p:cNvSpPr txBox="1"/>
          <p:nvPr/>
        </p:nvSpPr>
        <p:spPr>
          <a:xfrm>
            <a:off x="3566160" y="4306824"/>
            <a:ext cx="68580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1강</a:t>
            </a:r>
            <a:endParaRPr lang="ko-KR" altLang="en-US" sz="1200" dirty="0"/>
          </a:p>
        </p:txBody>
      </p:sp>
      <p:sp>
        <p:nvSpPr>
          <p:cNvPr id="19" name="Text 16"/>
          <p:cNvSpPr txBox="1"/>
          <p:nvPr/>
        </p:nvSpPr>
        <p:spPr>
          <a:xfrm>
            <a:off x="4892040" y="4114800"/>
            <a:ext cx="6568135" cy="731520"/>
          </a:xfrm>
          <a:prstGeom prst="rect">
            <a:avLst/>
          </a:prstGeom>
          <a:noFill/>
          <a:ln/>
        </p:spPr>
        <p:txBody>
          <a:bodyPr wrap="square" lIns="0" tIns="0" rIns="0" bIns="0" rtlCol="0" anchor="ctr"/>
          <a:lstStyle/>
          <a:p>
            <a:pPr indent="0" marL="0" eaLnBrk="0">
              <a:buNone/>
            </a:pPr>
            <a:r>
              <a:rPr lang="ko-KR" altLang="en-US" sz="1500" dirty="0">
                <a:solidFill>
                  <a:schemeClr val="tx2"/>
                </a:solidFill>
              </a:rPr>
              <a:t>기반 클래스가 너무 커지면 제공 기능 일부를 별도 클래스로 나눈다.</a:t>
            </a:r>
            <a:endParaRPr lang="ko-KR" altLang="en-US" sz="1500" dirty="0"/>
          </a:p>
        </p:txBody>
      </p:sp>
      <p:sp>
        <p:nvSpPr>
          <p:cNvPr id="20" name="Shape 17"/>
          <p:cNvSpPr/>
          <p:nvPr/>
        </p:nvSpPr>
        <p:spPr>
          <a:xfrm>
            <a:off x="548640" y="4937760"/>
            <a:ext cx="11094415" cy="731520"/>
          </a:xfrm>
          <a:prstGeom prst="roundRect">
            <a:avLst>
              <a:gd name="adj" fmla="val 10000"/>
            </a:avLst>
          </a:prstGeom>
          <a:solidFill>
            <a:schemeClr val="bg2"/>
          </a:solidFill>
          <a:ln w="12700">
            <a:solidFill>
              <a:schemeClr val="bg2"/>
            </a:solidFill>
            <a:prstDash val="solid"/>
          </a:ln>
        </p:spPr>
      </p:sp>
      <p:sp>
        <p:nvSpPr>
          <p:cNvPr id="21" name="Text 18"/>
          <p:cNvSpPr txBox="1"/>
          <p:nvPr/>
        </p:nvSpPr>
        <p:spPr>
          <a:xfrm>
            <a:off x="822960" y="4937760"/>
            <a:ext cx="2743200" cy="731520"/>
          </a:xfrm>
          <a:prstGeom prst="rect">
            <a:avLst/>
          </a:prstGeom>
          <a:noFill/>
          <a:ln/>
        </p:spPr>
        <p:txBody>
          <a:bodyPr wrap="square" lIns="0" tIns="0" rIns="0" bIns="0" rtlCol="0" anchor="ctr"/>
          <a:lstStyle/>
          <a:p>
            <a:pPr indent="0" marL="0" eaLnBrk="0">
              <a:buNone/>
            </a:pPr>
            <a:r>
              <a:rPr lang="ko-KR" altLang="en-US" sz="1600" b="1" dirty="0">
                <a:solidFill>
                  <a:schemeClr val="tx1"/>
                </a:solidFill>
              </a:rPr>
              <a:t>타입 객체 · 바이트코드</a:t>
            </a:r>
            <a:endParaRPr lang="ko-KR" altLang="en-US" sz="1600" dirty="0"/>
          </a:p>
        </p:txBody>
      </p:sp>
      <p:sp>
        <p:nvSpPr>
          <p:cNvPr id="22" name="Shape 19"/>
          <p:cNvSpPr/>
          <p:nvPr/>
        </p:nvSpPr>
        <p:spPr>
          <a:xfrm>
            <a:off x="3566160" y="5129784"/>
            <a:ext cx="1143000" cy="347472"/>
          </a:xfrm>
          <a:prstGeom prst="roundRect">
            <a:avLst>
              <a:gd name="adj" fmla="val 21053"/>
            </a:avLst>
          </a:prstGeom>
          <a:solidFill>
            <a:schemeClr val="accent1"/>
          </a:solidFill>
          <a:ln w="12700">
            <a:solidFill>
              <a:schemeClr val="accent1"/>
            </a:solidFill>
            <a:prstDash val="solid"/>
          </a:ln>
        </p:spPr>
      </p:sp>
      <p:sp>
        <p:nvSpPr>
          <p:cNvPr id="23" name="Text 20"/>
          <p:cNvSpPr txBox="1"/>
          <p:nvPr/>
        </p:nvSpPr>
        <p:spPr>
          <a:xfrm>
            <a:off x="3566160" y="5129784"/>
            <a:ext cx="1143000" cy="347472"/>
          </a:xfrm>
          <a:prstGeom prst="rect">
            <a:avLst/>
          </a:prstGeom>
          <a:noFill/>
          <a:ln/>
        </p:spPr>
        <p:txBody>
          <a:bodyPr wrap="square" lIns="0" tIns="0" rIns="0" bIns="0" rtlCol="0" anchor="ctr"/>
          <a:lstStyle/>
          <a:p>
            <a:pPr algn="ctr" indent="0" marL="0" eaLnBrk="0">
              <a:buNone/>
            </a:pPr>
            <a:r>
              <a:rPr lang="ko-KR" altLang="en-US" sz="1200" b="1" dirty="0">
                <a:solidFill>
                  <a:schemeClr val="bg1"/>
                </a:solidFill>
              </a:rPr>
              <a:t>7강 · 9강</a:t>
            </a:r>
            <a:endParaRPr lang="ko-KR" altLang="en-US" sz="1200" dirty="0"/>
          </a:p>
        </p:txBody>
      </p:sp>
      <p:sp>
        <p:nvSpPr>
          <p:cNvPr id="24" name="Text 21"/>
          <p:cNvSpPr txBox="1"/>
          <p:nvPr/>
        </p:nvSpPr>
        <p:spPr>
          <a:xfrm>
            <a:off x="4892040" y="4937760"/>
            <a:ext cx="6568135" cy="731520"/>
          </a:xfrm>
          <a:prstGeom prst="rect">
            <a:avLst/>
          </a:prstGeom>
          <a:noFill/>
          <a:ln/>
        </p:spPr>
        <p:txBody>
          <a:bodyPr wrap="square" lIns="0" tIns="0" rIns="0" bIns="0" rtlCol="0" anchor="ctr"/>
          <a:lstStyle/>
          <a:p>
            <a:pPr indent="0" marL="0" eaLnBrk="0">
              <a:buNone/>
            </a:pPr>
            <a:r>
              <a:rPr lang="ko-KR" altLang="en-US" sz="1500" dirty="0">
                <a:solidFill>
                  <a:schemeClr val="tx2"/>
                </a:solidFill>
              </a:rPr>
              <a:t>하위 클래스가 너무 많으면 행동을 코드 대신 데이터로 정의한다.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30</a:t>
            </a:fld>
            <a:endParaRPr lang="ko-KR"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Unity에서</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Unity의 기반 클래스들도 도구를 주고 메서드를 채우게 한다</a:t>
            </a:r>
            <a:endParaRPr lang="ko-KR" altLang="en-US" sz="2600" dirty="0"/>
          </a:p>
        </p:txBody>
      </p:sp>
      <p:sp>
        <p:nvSpPr>
          <p:cNvPr id="4" name="bridge"/>
          <p:cNvSpPr txBox="1"/>
          <p:nvPr/>
        </p:nvSpPr>
        <p:spPr>
          <a:xfrm>
            <a:off x="548640" y="5870448"/>
            <a:ext cx="11094415" cy="411480"/>
          </a:xfrm>
          <a:prstGeom prst="rect">
            <a:avLst/>
          </a:prstGeom>
          <a:noFill/>
          <a:ln/>
        </p:spPr>
        <p:txBody>
          <a:bodyPr wrap="square" lIns="0" tIns="0" rIns="0" bIns="0" rtlCol="0" anchor="ctr"/>
          <a:lstStyle/>
          <a:p>
            <a:pPr indent="0" marL="0" eaLnBrk="0">
              <a:buNone/>
            </a:pPr>
            <a:r>
              <a:rPr lang="ko-KR" altLang="en-US" sz="1500" b="1" dirty="0">
                <a:solidFill>
                  <a:schemeClr val="accent1"/>
                </a:solidFill>
              </a:rPr>
              <a:t>다음 질문  </a:t>
            </a:r>
            <a:pPr indent="0" marL="0" eaLnBrk="0">
              <a:buNone/>
            </a:pPr>
            <a:r>
              <a:rPr lang="ko-KR" altLang="en-US" sz="1500" dirty="0">
                <a:solidFill>
                  <a:schemeClr val="tx2"/>
                </a:solidFill>
              </a:rPr>
              <a:t>마지막으로 오늘 내용을 질문으로 확인해 보자.</a:t>
            </a:r>
            <a:endParaRPr lang="ko-KR" altLang="en-US" sz="15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108960"/>
                <a:gridCol w="7985455"/>
              </a:tblGrid>
              <a:tr h="384048">
                <a:tc>
                  <a:txBody>
                    <a:bodyPr/>
                    <a:lstStyle/>
                    <a:p>
                      <a:pPr indent="0" marL="0" eaLnBrk="0">
                        <a:buNone/>
                      </a:pPr>
                      <a:r>
                        <a:rPr lang="ko-KR" altLang="en-US" sz="1400" b="1" dirty="0">
                          <a:solidFill>
                            <a:schemeClr val="bg1"/>
                          </a:solidFill>
                        </a:rPr>
                        <a:t>Unity 기능</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400" b="1" dirty="0">
                          <a:solidFill>
                            <a:schemeClr val="bg1"/>
                          </a:solidFill>
                        </a:rPr>
                        <a:t>하위 클래스 샌드박스와의 관계</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868680">
                <a:tc>
                  <a:txBody>
                    <a:bodyPr/>
                    <a:lstStyle/>
                    <a:p>
                      <a:pPr indent="0" marL="0" eaLnBrk="0">
                        <a:buNone/>
                      </a:pPr>
                      <a:r>
                        <a:rPr lang="ko-KR" altLang="en-US" sz="1400" b="1" dirty="0">
                          <a:solidFill>
                            <a:schemeClr val="tx1"/>
                          </a:solidFill>
                        </a:rPr>
                        <a:t>MonoBehaviour 상속 스크립트</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transform, GetComponent, StartCoroutine 같은 기반 클래스 기능으로 Update를 채운다.</a:t>
                      </a:r>
                      <a:endParaRPr lang="ko-KR" altLang="en-US" sz="1400" dirty="0"/>
                    </a:p>
                    <a:p>
                      <a:pPr indent="0" marL="0" eaLnBrk="0">
                        <a:buNone/>
                      </a:pPr>
                      <a:r>
                        <a:rPr lang="ko-KR" altLang="en-US" sz="1400" dirty="0">
                          <a:solidFill>
                            <a:schemeClr val="tx2"/>
                          </a:solidFill>
                        </a:rPr>
                        <a:t>단 Update는 재정의가 아니라 Unity가 이름으로 찾아 부르는 메서드이고, 기능도 public이다.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85800">
                <a:tc>
                  <a:txBody>
                    <a:bodyPr/>
                    <a:lstStyle/>
                    <a:p>
                      <a:pPr indent="0" marL="0" eaLnBrk="0">
                        <a:buNone/>
                      </a:pPr>
                      <a:r>
                        <a:rPr lang="ko-KR" altLang="en-US" sz="1400" b="1" dirty="0">
                          <a:solidFill>
                            <a:schemeClr val="tx1"/>
                          </a:solidFill>
                        </a:rPr>
                        <a:t>StateMachineBehaviour</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OnStateEnter, OnStateUpdate 같은 virtual 메서드를 재정의해 Animator 상태의 행동을 만든다.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85800">
                <a:tc>
                  <a:txBody>
                    <a:bodyPr/>
                    <a:lstStyle/>
                    <a:p>
                      <a:pPr indent="0" marL="0" eaLnBrk="0">
                        <a:buNone/>
                      </a:pPr>
                      <a:r>
                        <a:rPr lang="ko-KR" altLang="en-US" sz="1400" b="1" dirty="0">
                          <a:solidFill>
                            <a:schemeClr val="tx1"/>
                          </a:solidFill>
                        </a:rPr>
                        <a:t>Editor (커스텀 인스펙터)</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OnInspectorGUI를 재정의하며 serializedObject, DrawDefaultInspector()를 쓴다.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31520">
                <a:tc>
                  <a:txBody>
                    <a:bodyPr/>
                    <a:lstStyle/>
                    <a:p>
                      <a:pPr indent="0" marL="0" eaLnBrk="0">
                        <a:buNone/>
                      </a:pPr>
                      <a:r>
                        <a:rPr lang="ko-KR" altLang="en-US" sz="1400" b="1" dirty="0">
                          <a:solidFill>
                            <a:schemeClr val="tx1"/>
                          </a:solidFill>
                        </a:rPr>
                        <a:t>C#의 protected, abstract</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protected abstract로 샌드박스 메서드를 만든다. C# 메서드는 기본이 비가상이므로 protected 메서드가 곧 제공 기능이 된다.</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85800">
                <a:tc>
                  <a:txBody>
                    <a:bodyPr/>
                    <a:lstStyle/>
                    <a:p>
                      <a:pPr indent="0" marL="0" eaLnBrk="0">
                        <a:buNone/>
                      </a:pPr>
                      <a:r>
                        <a:rPr lang="ko-KR" altLang="en-US" sz="1400" b="1" dirty="0">
                          <a:solidFill>
                            <a:schemeClr val="tx1"/>
                          </a:solidFill>
                        </a:rPr>
                        <a:t>AddComponent 뒤 초기화 호출</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400" dirty="0">
                          <a:solidFill>
                            <a:schemeClr val="tx2"/>
                          </a:solidFill>
                        </a:rPr>
                        <a:t>MonoBehaviour는 생성자로 인자를 넘길 수 없어 2단계 초기화를 흔히 쓴다. (설계 결정 3)</a:t>
                      </a:r>
                      <a:endParaRPr lang="ko-KR" altLang="en-US" sz="1400" dirty="0"/>
                    </a:p>
                  </a:txBody>
                  <a:tcPr marL="73152" marR="73152" marT="73152" marB="73152"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31</a:t>
            </a:fld>
            <a:endParaRPr lang="ko-KR"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kicker"/>
          <p:cNvSpPr txBox="1"/>
          <p:nvPr/>
        </p:nvSpPr>
        <p:spPr>
          <a:xfrm>
            <a:off x="548640" y="329184"/>
            <a:ext cx="7315200" cy="292608"/>
          </a:xfrm>
          <a:prstGeom prst="rect">
            <a:avLst/>
          </a:prstGeom>
          <a:noFill/>
          <a:ln/>
        </p:spPr>
        <p:txBody>
          <a:bodyPr wrap="square" lIns="0" tIns="0" rIns="0" bIns="0" rtlCol="0" anchor="ctr"/>
          <a:lstStyle/>
          <a:p>
            <a:pPr indent="0" marL="0" eaLnBrk="0">
              <a:buNone/>
            </a:pPr>
            <a:r>
              <a:rPr lang="ko-KR" altLang="en-US" sz="1300" b="1" dirty="0">
                <a:solidFill>
                  <a:schemeClr val="accent1"/>
                </a:solidFill>
              </a:rPr>
              <a:t>확인 질문</a:t>
            </a:r>
            <a:endParaRPr lang="ko-KR" altLang="en-US" sz="1300" dirty="0"/>
          </a:p>
        </p:txBody>
      </p:sp>
      <p:sp>
        <p:nvSpPr>
          <p:cNvPr id="3" name="Text 0"/>
          <p:cNvSpPr/>
          <p:nvPr>
            <p:ph idx="100" type="title" hasCustomPrompt="1"/>
          </p:nvPr>
        </p:nvSpPr>
        <p:spPr>
          <a:xfrm>
            <a:off x="548640" y="658368"/>
            <a:ext cx="11094415" cy="731520"/>
          </a:xfrm>
          <a:prstGeom prst="rect">
            <a:avLst/>
          </a:prstGeom>
          <a:noFill/>
          <a:ln/>
        </p:spPr>
        <p:txBody>
          <a:bodyPr wrap="square" lIns="0" tIns="0" rIns="0" bIns="0" rtlCol="0" anchor="t"/>
          <a:lstStyle/>
          <a:p>
            <a:pPr algn="l" indent="0" marL="0" eaLnBrk="0">
              <a:buNone/>
            </a:pPr>
            <a:r>
              <a:rPr lang="ko-KR" altLang="en-US" sz="2600" b="1" dirty="0">
                <a:solidFill>
                  <a:schemeClr val="tx1"/>
                </a:solidFill>
              </a:rPr>
              <a:t>질문으로 다시 정리한다</a:t>
            </a:r>
            <a:endParaRPr lang="ko-KR" alt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5120640"/>
                <a:gridCol w="5973775"/>
              </a:tblGrid>
              <a:tr h="457200">
                <a:tc>
                  <a:txBody>
                    <a:bodyPr/>
                    <a:lstStyle/>
                    <a:p>
                      <a:pPr indent="0" marL="0" eaLnBrk="0">
                        <a:buNone/>
                      </a:pPr>
                      <a:r>
                        <a:rPr lang="ko-KR" altLang="en-US" sz="1500" b="1" dirty="0">
                          <a:solidFill>
                            <a:schemeClr val="bg1"/>
                          </a:solidFill>
                        </a:rPr>
                        <a:t>질문</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c>
                  <a:txBody>
                    <a:bodyPr/>
                    <a:lstStyle/>
                    <a:p>
                      <a:pPr indent="0" marL="0" eaLnBrk="0">
                        <a:buNone/>
                      </a:pPr>
                      <a:r>
                        <a:rPr lang="ko-KR" altLang="en-US" sz="1500" b="1" dirty="0">
                          <a:solidFill>
                            <a:schemeClr val="bg1"/>
                          </a:solidFill>
                        </a:rPr>
                        <a:t>답</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tx2"/>
                    </a:solidFill>
                  </a:tcPr>
                </a:tc>
              </a:tr>
              <a:tr h="658368">
                <a:tc>
                  <a:txBody>
                    <a:bodyPr/>
                    <a:lstStyle/>
                    <a:p>
                      <a:pPr indent="0" marL="0" eaLnBrk="0">
                        <a:buNone/>
                      </a:pPr>
                      <a:r>
                        <a:rPr lang="ko-KR" altLang="en-US" sz="1500" b="1" dirty="0">
                          <a:solidFill>
                            <a:schemeClr val="tx1"/>
                          </a:solidFill>
                        </a:rPr>
                        <a:t>하위 클래스 샌드박스 패턴을 한 문장으로 말하면?</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기반 클래스가 제공하는 기능들을 써서 하위 클래스에서 행동을 정의한다.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31520">
                <a:tc>
                  <a:txBody>
                    <a:bodyPr/>
                    <a:lstStyle/>
                    <a:p>
                      <a:pPr indent="0" marL="0" eaLnBrk="0">
                        <a:buNone/>
                      </a:pPr>
                      <a:r>
                        <a:rPr lang="ko-KR" altLang="en-US" sz="1500" b="1" dirty="0">
                          <a:solidFill>
                            <a:schemeClr val="tx1"/>
                          </a:solidFill>
                        </a:rPr>
                        <a:t>샌드박스 메서드와 제공 기능은 각각 무엇인가?</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하위 클래스가 구현하는 protected 추상 메서드 Activate()와, 하위 클래스가 부르는 protected 메서드들이다.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오디오 엔진의 재생 함수가 바뀌면 어디를 고치나?</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Superpower의 PlaySound 하나. 하위 클래스들은 그대로 둔다.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658368">
                <a:tc>
                  <a:txBody>
                    <a:bodyPr/>
                    <a:lstStyle/>
                    <a:p>
                      <a:pPr indent="0" marL="0" eaLnBrk="0">
                        <a:buNone/>
                      </a:pPr>
                      <a:r>
                        <a:rPr lang="ko-KR" altLang="en-US" sz="1500" b="1" dirty="0">
                          <a:solidFill>
                            <a:schemeClr val="tx1"/>
                          </a:solidFill>
                        </a:rPr>
                        <a:t>GetHeroZ()가 5이면 SkyLaunch는 무엇을 하나?</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2단 점프: Swoop 소리를 내고 Move(0, 0, 25)를 부른다.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r h="731520">
                <a:tc>
                  <a:txBody>
                    <a:bodyPr/>
                    <a:lstStyle/>
                    <a:p>
                      <a:pPr indent="0" marL="0" eaLnBrk="0">
                        <a:buNone/>
                      </a:pPr>
                      <a:r>
                        <a:rPr lang="ko-KR" altLang="en-US" sz="1500" b="1" dirty="0">
                          <a:solidFill>
                            <a:schemeClr val="tx1"/>
                          </a:solidFill>
                        </a:rPr>
                        <a:t>기반 클래스의 생성자로 상태를 넘길 때의 문제는?</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c>
                  <a:txBody>
                    <a:bodyPr/>
                    <a:lstStyle/>
                    <a:p>
                      <a:pPr indent="0" marL="0" eaLnBrk="0">
                        <a:buNone/>
                      </a:pPr>
                      <a:r>
                        <a:rPr lang="ko-KR" altLang="en-US" sz="1500" dirty="0">
                          <a:solidFill>
                            <a:schemeClr val="tx2"/>
                          </a:solidFill>
                        </a:rPr>
                        <a:t>모든 하위 클래스가 감춘 상태를 알게 되고, 상태가 늘면 모든 생성자를 고쳐야 한다.</a:t>
                      </a:r>
                      <a:endParaRPr lang="ko-KR" altLang="en-US" sz="1500" dirty="0"/>
                    </a:p>
                  </a:txBody>
                  <a:tcPr marL="91440" marR="91440" marT="91440" marB="91440" anchor="ctr">
                    <a:lnL w="12700" cap="flat" cmpd="sng" algn="ctr">
                      <a:solidFill>
                        <a:srgbClr val="D5D9E0"/>
                      </a:solidFill>
                      <a:prstDash val="solid"/>
                      <a:round/>
                      <a:headEnd type="none" w="med" len="med"/>
                      <a:tailEnd type="none" w="med" len="med"/>
                    </a:lnL>
                    <a:lnR w="12700" cap="flat" cmpd="sng" algn="ctr">
                      <a:solidFill>
                        <a:srgbClr val="D5D9E0"/>
                      </a:solidFill>
                      <a:prstDash val="solid"/>
                      <a:round/>
                      <a:headEnd type="none" w="med" len="med"/>
                      <a:tailEnd type="none" w="med" len="med"/>
                    </a:lnR>
                    <a:lnT w="12700" cap="flat" cmpd="sng" algn="ctr">
                      <a:solidFill>
                        <a:srgbClr val="D5D9E0"/>
                      </a:solidFill>
                      <a:prstDash val="solid"/>
                      <a:round/>
                      <a:headEnd type="none" w="med" len="med"/>
                      <a:tailEnd type="none" w="med" len="med"/>
                    </a:lnT>
                    <a:lnB w="12700" cap="flat" cmpd="sng" algn="ctr">
                      <a:solidFill>
                        <a:srgbClr val="D5D9E0"/>
                      </a:solidFill>
                      <a:prstDash val="solid"/>
                      <a:round/>
                      <a:headEnd type="none" w="med" len="med"/>
                      <a:tailEnd type="none" w="med" len="med"/>
                    </a:lnB>
                    <a:solidFill>
                      <a:schemeClr val="bg1"/>
                    </a:solidFill>
                  </a:tcPr>
                </a:tc>
              </a:tr>
            </a:tbl>
          </a:graphicData>
        </a:graphic>
      </p:graphicFrame>
      <p:sp>
        <p:nvSpPr>
          <p:cNvPr id="6" name="Text 2"/>
          <p:cNvSpPr txBox="1"/>
          <p:nvPr/>
        </p:nvSpPr>
        <p:spPr>
          <a:xfrm>
            <a:off x="548640" y="5870448"/>
            <a:ext cx="11094415" cy="411480"/>
          </a:xfrm>
          <a:prstGeom prst="rect">
            <a:avLst/>
          </a:prstGeom>
          <a:noFill/>
          <a:ln/>
        </p:spPr>
        <p:txBody>
          <a:bodyPr wrap="square" lIns="0" tIns="0" rIns="0" bIns="0" rtlCol="0" anchor="t"/>
          <a:lstStyle/>
          <a:p>
            <a:pPr indent="0" marL="0" eaLnBrk="0">
              <a:buNone/>
            </a:pPr>
            <a:r>
              <a:rPr lang="ko-KR" altLang="en-US" sz="1500" b="1" dirty="0">
                <a:solidFill>
                  <a:schemeClr val="accent1"/>
                </a:solidFill>
              </a:rPr>
              <a:t>다음 강의  </a:t>
            </a:r>
            <a:pPr indent="0" marL="0" eaLnBrk="0">
              <a:buNone/>
            </a:pPr>
            <a:r>
              <a:rPr lang="ko-KR" altLang="en-US" sz="1500" dirty="0">
                <a:solidFill>
                  <a:schemeClr val="tx2"/>
                </a:solidFill>
              </a:rPr>
              <a:t>바이트코드(Bytecode) 패턴: 행동을 코드 대신 가상 머신이 실행하는 명령어 데이터로 정의한다.</a:t>
            </a:r>
            <a:endParaRPr lang="ko-KR" alt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eaLnBrk="0">
              <a:defRPr sz="1000">
                <a:solidFill>
                  <a:schemeClr val="accent3"/>
                </a:solidFill>
              </a:defRPr>
            </a:lvl1pPr>
          </a:lstStyle>
          <a:p>
            <a:pPr algn="r" eaLnBrk="0"/>
            <a:fld id="{F7021451-1387-4CA6-816F-3879F97B5CBC}" type="slidenum">
              <a:rPr b="0" lang="ko-KR" altLang="en-US"/>
              <a:t>32</a:t>
            </a:fld>
            <a:endParaRPr lang="ko-KR" altLang="en-US"/>
          </a:p>
        </p:txBody>
      </p:sp>
    </p:spTree>
  </p:cSld>
  <p:clrMapOvr>
    <a:masterClrMapping/>
  </p:clrMapOvr>
</p:sld>
</file>

<file path=ppt/theme/theme1.xml><?xml version="1.0" encoding="utf-8"?>
<a:theme xmlns:a="http://schemas.openxmlformats.org/drawingml/2006/main" name="Patterns Lecture">
  <a:themeElements>
    <a:clrScheme name="Patterns Lecture">
      <a:dk1>
        <a:srgbClr val="1F2430"/>
      </a:dk1>
      <a:lt1>
        <a:srgbClr val="FFFFFF"/>
      </a:lt1>
      <a:dk2>
        <a:srgbClr val="2B2D42"/>
      </a:dk2>
      <a:lt2>
        <a:srgbClr val="F1F3F6"/>
      </a:lt2>
      <a:accent1>
        <a:srgbClr val="E07A3F"/>
      </a:accent1>
      <a:accent2>
        <a:srgbClr val="2A9D8F"/>
      </a:accent2>
      <a:accent3>
        <a:srgbClr val="8D99AE"/>
      </a:accent3>
      <a:accent4>
        <a:srgbClr val="E9C46A"/>
      </a:accent4>
      <a:accent5>
        <a:srgbClr val="5C6577"/>
      </a:accent5>
      <a:accent6>
        <a:srgbClr val="C44536"/>
      </a:accent6>
      <a:hlink>
        <a:srgbClr val="2A9D8F"/>
      </a:hlink>
      <a:folHlink>
        <a:srgbClr val="5C6577"/>
      </a:folHlink>
    </a:clrScheme>
    <a:fontScheme name="Patterns Lectur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8강 하위 클래스 샌드박스(Subclass Sandbox) 패턴</dc:title>
  <dc:subject>PptxGenJS Presentation</dc:subject>
  <dc:creator>Mini Tactics 패턴 수업</dc:creator>
  <cp:lastModifiedBy>Mini Tactics 패턴 수업</cp:lastModifiedBy>
  <cp:revision>1</cp:revision>
  <dcterms:created xsi:type="dcterms:W3CDTF">2026-10-27T07:31:52Z</dcterms:created>
  <dcterms:modified xsi:type="dcterms:W3CDTF">2026-10-27T07:31:52Z</dcterms:modified>
</cp:coreProperties>
</file>