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fa3f65ad-2df2-adb2-dbdf-0953ebb7238c}">
          <p14:sldIdLst>
            <p14:sldId id="256"/>
            <p14:sldId id="257"/>
            <p14:sldId id="258"/>
          </p14:sldIdLst>
        </p14:section>
        <p14:section name="1 · 숲의 나무" id="{a2a8632f-ccdb-6fab-687d-76df72608e51}">
          <p14:sldIdLst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2 · 인스턴스 렌더링" id="{71b976da-c68a-f95a-148c-babf846cda75}">
          <p14:sldIdLst>
            <p14:sldId id="265"/>
            <p14:sldId id="266"/>
            <p14:sldId id="267"/>
          </p14:sldIdLst>
        </p14:section>
        <p14:section name="3 · 고유 상태와 외부 상태" id="{91f9756e-4903-0374-04c4-777406f4d06f}">
          <p14:sldIdLst>
            <p14:sldId id="268"/>
            <p14:sldId id="269"/>
            <p14:sldId id="270"/>
            <p14:sldId id="271"/>
          </p14:sldIdLst>
        </p14:section>
        <p14:section name="4 · 지형 타일" id="{39612d65-1ee6-555f-d69c-5b02e8edc09f}">
          <p14:sldIdLst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</p14:sldIdLst>
        </p14:section>
        <p14:section name="5 · 성능과 쓸 때" id="{536152cf-52e7-2739-d642-2aea5c6161a3}">
          <p14:sldIdLst>
            <p14:sldId id="282"/>
            <p14:sldId id="283"/>
            <p14:sldId id="284"/>
            <p14:sldId id="285"/>
            <p14:sldId id="286"/>
          </p14:sldIdLst>
        </p14:section>
        <p14:section name="정리" id="{16d72ee1-a96d-13ed-3708-c03a04b4a1d0}">
          <p14:sldIdLst>
            <p14:sldId id="28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0"/>
            <a:r>
              <a:rPr lang="ko-KR" altLang="en-US" dirty="0"/>
              <a:t>오늘은 원서 「경량」 장의 순서를 그대로 따라갑니다. 수천 그루의 나무가 있는 숲에서 출발해, 같은 데이터를 공유하는 방법과 그래픽 카드가 이를 지원하는 방식을 보고, 마지막으로 타일로 된 지형에 같은 생각을 적용합니다.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eaLnBrk="0"/>
            <a:fld id="{F7021451-1387-4CA6-816F-3879F97B5CBC}" type="slidenum">
              <a:rPr lang="ko-KR" altLang="en-US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0"/>
            <a:r>
              <a:rPr lang="ko-KR" altLang="en-US" dirty="0"/>
              <a:t>원서의 경량 장은 두 가지 예제를 다룹니다. 앞의 세 부분은 숲의 나무로 패턴의 구조를 설명하고, 네 번째 부분은 지형 타일로 같은 생각이 더 미묘하게 쓰이는 경우를 봅니다. 마지막에 성능 문제와 쓸 때의 판단 기준을 정리합니다.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eaLnBrk="0"/>
            <a:fld id="{F7021451-1387-4CA6-816F-3879F97B5CBC}" type="slidenum">
              <a:rPr lang="ko-KR" altLang="en-US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0"/>
            <a:r>
              <a:rPr lang="ko-KR" altLang="en-US" dirty="0"/>
              <a:t>GoF의 정의는 공유를 이용해 아주 많은 작은 객체를 효율적으로 지원한다는 것입니다. 객체마다 같은 데이터를 따로 가지면, 객체 수만큼 같은 데이터가 복사됩니다. 경량 패턴은 같은 부분을 한 벌만 두고 모든 객체가 그것을 가리키게 합니다. 객체가 너무 많아서 더 가벼워져야 할 때 쓰는 패턴입니다.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eaLnBrk="0"/>
            <a:fld id="{F7021451-1387-4CA6-816F-3879F97B5CBC}" type="slidenum">
              <a:rPr lang="ko-KR" altLang="en-US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0"/>
            <a:r>
              <a:rPr lang="ko-KR" altLang="en-US" dirty="0"/>
              <a:t>게임 화면에 울창한 숲을 그린다고 생각해 봅시다. 나무 한 그루 한 그루가 꽤 무거운 데이터입니다.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eaLnBrk="0"/>
            <a:fld id="{F7021451-1387-4CA6-816F-3879F97B5CBC}" type="slidenum">
              <a:rPr lang="ko-KR" altLang="en-US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0"/>
            <a:r>
              <a:rPr lang="ko-KR" altLang="en-US" dirty="0"/>
              <a:t>원서는 울창한 숲을 그리는 장면에서 시작합니다. 나무 한 그루는 다각형 수천 개로 된 메시와 나무껍질, 잎 텍스처를 가집니다. 이런 나무가 수천 그루 있고, 화면에 그리려면 이 데이터를 매 프레임 그래픽 카드, 즉 GPU로 보내야 합니다. 메모리도 많이 들고 보내는 데도 시간이 걸립니다.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eaLnBrk="0"/>
            <a:fld id="{F7021451-1387-4CA6-816F-3879F97B5CBC}" type="slidenum">
              <a:rPr lang="ko-KR" altLang="en-US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0"/>
            <a:r>
              <a:rPr lang="ko-KR" altLang="en-US" dirty="0"/>
              <a:t>가장 단순한 Tree 클래스입니다. 모양을 정하는 메시, 나무껍질과 잎의 텍스처, 그리고 숲 속 위치, 높이, 굵기, 나무껍질과 잎의 색조를 모두 한 객체에 담습니다. C#에서는 클래스 타입 필드가 참조라는 점에 주의합니다. 여기서는 원서처럼 나무마다 메시와 텍스처를 따로 불러와 자기 것으로 가진 상황으로 봅니다.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eaLnBrk="0"/>
            <a:fld id="{F7021451-1387-4CA6-816F-3879F97B5CBC}" type="slidenum">
              <a:rPr lang="ko-KR" altLang="en-US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0"/>
            <a:r>
              <a:rPr lang="ko-KR" altLang="en-US" dirty="0"/>
              <a:t>숲의 나무 세 그루를 골라 필드 값을 나란히 놓아 봅니다. 같은 종류의 나무라면 메시와 텍스처는 모두 같습니다. 나무마다 다른 것은 위치, 높이, 굵기, 색조뿐입니다. 그런데 가장 큰 데이터인 메시와 텍스처를 나무 수만큼 메모리에 두고, 매 프레임 그만큼 GPU로 보내고 있습니다.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eaLnBrk="0"/>
            <a:fld id="{F7021451-1387-4CA6-816F-3879F97B5CBC}" type="slidenum">
              <a:rPr lang="ko-KR" altLang="en-US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0"/>
            <a:r>
              <a:rPr lang="ko-KR" altLang="en-US" dirty="0"/>
              <a:t>같은 값을 가진 필드를 TreeModel 클래스로 옮깁니다. 이 객체는 게임 전체에 하나만 있습니다. Tree 인스턴스에는 TreeModel을 가리키는 참조 하나와 나무마다 다른 값만 남습니다. 수천 그루의 나무가 같은 TreeModel 하나를 함께 씁니다.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eaLnBrk="0"/>
            <a:fld id="{F7021451-1387-4CA6-816F-3879F97B5CBC}" type="slidenum">
              <a:rPr lang="ko-KR" altLang="en-US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0"/>
            <a:r>
              <a:rPr lang="ko-KR" altLang="en-US" dirty="0"/>
              <a:t>나무가 1000그루인 숲으로 개수를 세어 봅니다. 첫 시도에서는 메시와 텍스처가 1000벌씩 있었습니다. 경량 패턴을 쓰면 한 벌씩만 남습니다. 나무마다 다른 작은 값은 그대로 1000벌이고, 대신 모델을 가리키는 참조가 1000개 생깁니다. 가장 큰 데이터가 줄고 작은 데이터만 남는다는 것이 핵심입니다.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eaLnBrk="0"/>
            <a:fld id="{F7021451-1387-4CA6-816F-3879F97B5CBC}" type="slidenum">
              <a:rPr lang="ko-KR" altLang="en-US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0"/>
            <a:r>
              <a:rPr lang="ko-KR" altLang="en-US" dirty="0"/>
              <a:t>TreeModel을 떼어 내면 메모리만 줄어드는 것이 아닙니다. 그래픽 카드로 데이터를 보내는 방식도 달라집니다.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eaLnBrk="0"/>
            <a:fld id="{F7021451-1387-4CA6-816F-3879F97B5CBC}" type="slidenum">
              <a:rPr lang="ko-KR" altLang="en-US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0"/>
            <a:r>
              <a:rPr lang="ko-KR" altLang="en-US" dirty="0"/>
              <a:t>GPU로 보내야 할 데이터를 두 묶음으로 나눕니다. 메시와 텍스처 같은 공유 데이터는 한 번만 보냅니다. 그다음 나무마다 다른 위치, 크기, 색조를 목록으로 보냅니다. 마지막으로 이 모델 하나로 목록에 있는 나무를 모두 그리라고 한 번만 요청합니다. 이것을 인스턴스 렌더링이라고 합니다.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eaLnBrk="0"/>
            <a:fld id="{F7021451-1387-4CA6-816F-3879F97B5CBC}" type="slidenum">
              <a:rPr lang="ko-KR" altLang="en-US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0"/>
            <a:r>
              <a:rPr lang="ko-KR" altLang="en-US" dirty="0"/>
              <a:t>Direct3D와 OpenGL 같은 그래픽 API는 인스턴스 렌더링을 기능으로 제공합니다. 두 묶음의 데이터는 우리가 나눈 두 클래스와 정확히 맞아떨어집니다. 원서는 경량 패턴이 GoF 패턴 가운데 하드웨어가 직접 지원하는 거의 유일한 패턴일 것이라고 말합니다.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eaLnBrk="0"/>
            <a:fld id="{F7021451-1387-4CA6-816F-3879F97B5CBC}" type="slidenum">
              <a:rPr lang="ko-KR" altLang="en-US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0"/>
            <a:r>
              <a:rPr lang="ko-KR" altLang="en-US" dirty="0"/>
              <a:t>나무 예제에서 한 일을 일반적인 말로 정리합니다. 객체의 데이터를 두 종류로 나누는 것이 이 패턴의 전부입니다.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eaLnBrk="0"/>
            <a:fld id="{F7021451-1387-4CA6-816F-3879F97B5CBC}" type="slidenum">
              <a:rPr lang="ko-KR" altLang="en-US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0"/>
            <a:r>
              <a:rPr lang="ko-KR" altLang="en-US" dirty="0"/>
              <a:t>고유 상태는 어느 인스턴스에서 쓰든 똑같은 값입니다. 객체가 어디에 놓였는지, 즉 문맥과 상관이 없으므로 하나만 두고 공유할 수 있습니다. 외부 상태는 인스턴스마다 다른 값입니다. 경량 객체는 고유 상태만 가진 공유 객체이고, 외부 상태는 그 밖에 둡니다.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eaLnBrk="0"/>
            <a:fld id="{F7021451-1387-4CA6-816F-3879F97B5CBC}" type="slidenum">
              <a:rPr lang="ko-KR" altLang="en-US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0"/>
            <a:r>
              <a:rPr lang="ko-KR" altLang="en-US" dirty="0"/>
              <a:t>각 필드에 같은 질문을 던집니다. 이 값이 나무가 서 있는 자리나 그 나무 하나에 따라 달라지는가. 달라지지 않으면 고유 상태이고 TreeModel로 갑니다. 달라지면 외부 상태이고 Tree에 남습니다. 높이와 색조는 같은 모델을 쓰는 나무들이 서로 다르게 보이도록 넣은 값입니다.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eaLnBrk="0"/>
            <a:fld id="{F7021451-1387-4CA6-816F-3879F97B5CBC}" type="slidenum">
              <a:rPr lang="ko-KR" altLang="en-US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0"/>
            <a:r>
              <a:rPr lang="ko-KR" altLang="en-US" dirty="0"/>
              <a:t>나무 예제는 이해하기 쉽습니다. 공유하는 TreeModel이 눈에 보이는 물건이고, 그저 자원을 나눠 쓰는 것처럼 보입니다. 원서는 공유하는 객체에 뚜렷한 정체성이 없을 때 이 패턴이 더 미묘해진다고 말합니다. 그때는 객체 하나가 동시에 여러 곳에 있는 것처럼 느껴집니다. 다음 예제가 바로 그런 경우입니다.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eaLnBrk="0"/>
            <a:fld id="{F7021451-1387-4CA6-816F-3879F97B5CBC}" type="slidenum">
              <a:rPr lang="ko-KR" altLang="en-US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0"/>
            <a:r>
              <a:rPr lang="ko-KR" altLang="en-US" dirty="0"/>
              <a:t>나무가 뿌리내릴 땅으로 넘어갑니다. 타일로 이루어진 지형에서 경량 패턴이 어떻게 쓰이는지 봅니다.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eaLnBrk="0"/>
            <a:fld id="{F7021451-1387-4CA6-816F-3879F97B5CBC}" type="slidenum">
              <a:rPr lang="ko-KR" altLang="en-US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0"/>
            <a:r>
              <a:rPr lang="ko-KR" altLang="en-US" dirty="0"/>
              <a:t>세계를 작은 타일로 나눈 격자로 만듭니다. 각 칸은 풀밭, 언덕, 강 같은 지형 가운데 하나입니다. 지형마다 게임에 영향을 주는 성질이 있습니다. 유닛이 그 칸을 지나는 데 드는 이동 비용, 배가 다닐 수 있는 물인지 여부, 그리고 그릴 때 쓰는 텍스처입니다.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eaLnBrk="0"/>
            <a:fld id="{F7021451-1387-4CA6-816F-3879F97B5CBC}" type="slidenum">
              <a:rPr lang="ko-KR" altLang="en-US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0"/>
            <a:r>
              <a:rPr lang="ko-KR" altLang="en-US" dirty="0"/>
              <a:t>가장 흔한 방법입니다. 지형 종류를 열거형으로 정하고, 격자의 칸마다 열거형 값을 저장합니다. 이동 비용이나 물 여부가 필요하면 World의 메서드가 switch로 칸의 지형을 확인해 값을 돌려줍니다. C#은 모든 경로에서 값을 돌려줘야 하므로 default에서 예외를 던지게 했습니다.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eaLnBrk="0"/>
            <a:fld id="{F7021451-1387-4CA6-816F-3879F97B5CBC}" type="slidenum">
              <a:rPr lang="ko-KR" altLang="en-US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0"/>
            <a:r>
              <a:rPr lang="ko-KR" altLang="en-US" dirty="0"/>
              <a:t>이 코드는 잘 동작하지만 보기 좋지 않습니다. 이동 비용과 물 여부는 지형에 대한 데이터인데, 코드 속 switch에 박혀 있습니다. 더 나쁜 것은 한 지형의 데이터가 여러 메서드에 흩어져 있다는 점입니다. 데이터를 한곳에 묶는 것이 바로 객체가 하는 일입니다. 하지만 칸마다 지형 객체를 하나씩 만들면 같은 값이 칸 수만큼 생깁니다.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eaLnBrk="0"/>
            <a:fld id="{F7021451-1387-4CA6-816F-3879F97B5CBC}" type="slidenum">
              <a:rPr lang="ko-KR" altLang="en-US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0"/>
            <a:r>
              <a:rPr lang="ko-KR" altLang="en-US" dirty="0"/>
              <a:t>지형 하나의 데이터를 Terrain 클래스에 모읍니다. 이동 비용, 물 여부, 텍스처를 생성자에서 받고, 그 뒤로는 읽기만 할 수 있습니다. 원서는 const 메서드로 이를 보장했고, C#에서는 get만 있는 속성으로 옮겼습니다. 같은 객체를 여러 칸이 함께 쓰기 때문에, 하나를 고치면 그 지형의 모든 칸이 동시에 바뀝니다. 그래서 경량 객체는 거의 언제나 바뀌지 않는 객체로 만듭니다.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eaLnBrk="0"/>
            <a:fld id="{F7021451-1387-4CA6-816F-3879F97B5CBC}" type="slidenum">
              <a:rPr lang="ko-KR" altLang="en-US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0"/>
            <a:r>
              <a:rPr lang="ko-KR" altLang="en-US" dirty="0"/>
              <a:t>World는 풀밭, 언덕, 강의 Terrain 객체를 하나씩 필드로 가집니다. 지형 객체는 게임 내내 여러 곳에서 쓰이므로, 따로 만들고 지우는 대신 World가 직접 가져서 수명을 단순하게 합니다. 격자 _tiles의 칸에는 이제 열거형 값 대신 Terrain 객체를 가리키는 참조가 들어갑니다.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eaLnBrk="0"/>
            <a:fld id="{F7021451-1387-4CA6-816F-3879F97B5CBC}" type="slidenum">
              <a:rPr lang="ko-KR" altLang="en-US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0"/>
            <a:r>
              <a:rPr lang="ko-KR" altLang="en-US" dirty="0"/>
              <a:t>지형을 만드는 코드입니다. 먼저 모든 칸을 풀밭으로 채우되, 열에 한 번꼴로 언덕을 섞습니다. 그다음 무작위로 고른 한 열에 강을 놓습니다. 칸에 넣는 것은 새 객체가 아니라 World가 가진 세 객체 가운데 하나의 참조입니다. 오른쪽 지도는 칸 30개가 객체 세 개를 나눠 가리키는 모습입니다.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eaLnBrk="0"/>
            <a:fld id="{F7021451-1387-4CA6-816F-3879F97B5CBC}" type="slidenum">
              <a:rPr lang="ko-KR" altLang="en-US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0"/>
            <a:r>
              <a:rPr lang="ko-KR" altLang="en-US" dirty="0"/>
              <a:t>World는 이제 switch 대신 칸의 Terrain 객체를 그대로 돌려줍니다. 쓰는 쪽은 받은 객체에서 이동 비용이나 물 여부를 바로 읽습니다. World의 메서드가 지형마다 값을 알 필요가 없어졌습니다. 지형을 진짜 객체로 다루면서도, 객체는 지형 종류 수만큼만 있습니다.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eaLnBrk="0"/>
            <a:fld id="{F7021451-1387-4CA6-816F-3879F97B5CBC}" type="slidenum">
              <a:rPr lang="ko-KR" altLang="en-US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0"/>
            <a:r>
              <a:rPr lang="ko-KR" altLang="en-US" dirty="0"/>
              <a:t>앞에서 만든 지도로 호출 네 개를 따라갑니다. 칸 좌표로 배열에서 참조를 꺼내고, 그 참조가 가리키는 객체에서 값을 읽습니다. 마지막 두 줄을 보세요. 칸 (3, 0)과 (3, 4)는 서로 다른 칸이지만 같은 _riverTerrain 객체를 가리킵니다.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eaLnBrk="0"/>
            <a:fld id="{F7021451-1387-4CA6-816F-3879F97B5CBC}" type="slidenum">
              <a:rPr lang="ko-KR" altLang="en-US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0"/>
            <a:r>
              <a:rPr lang="ko-KR" altLang="en-US" dirty="0"/>
              <a:t>Terrain 객체에는 그 칸이 어디 있는지에 대한 정보가 하나도 없습니다. 원서의 표현으로는 지형의 상태가 모두 고유 상태, 즉 문맥과 상관없는 상태입니다. 외부 상태인 칸의 위치는 따로 저장하지 않습니다. _tiles 배열에서 몇 번째 칸인지, 그 인덱스가 곧 위치입니다.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eaLnBrk="0"/>
            <a:fld id="{F7021451-1387-4CA6-816F-3879F97B5CBC}" type="slidenum">
              <a:rPr lang="ko-KR" altLang="en-US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0"/>
            <a:r>
              <a:rPr lang="ko-KR" altLang="en-US" dirty="0"/>
              <a:t>열거형 대신 참조를 쓰면 느려지지 않을까 걱정하는 사람이 있습니다. 원서의 답과, 패턴을 고르는 기준을 정리합니다.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eaLnBrk="0"/>
            <a:fld id="{F7021451-1387-4CA6-816F-3879F97B5CBC}" type="slidenum">
              <a:rPr lang="ko-KR" altLang="en-US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0"/>
            <a:r>
              <a:rPr lang="ko-KR" altLang="en-US" dirty="0"/>
              <a:t>열거형은 칸에 값이 바로 들어 있습니다. 경량 객체는 칸에서 참조를 꺼내 객체를 한 번 더 찾아가야 합니다. 찾아간 곳이 CPU 캐시에 없으면 캐시 미스가 날 수 있습니다. 하지만 원서 저자가 측정해 보니 열거형보다 느리지 않았고, 오히려 눈에 띄게 빨랐습니다. 결과는 다른 데이터가 메모리에 어떻게 놓였는지에 따라 달라집니다. 그래서 원서의 결론은 바꾸기 전에 먼저 측정하라는 것입니다.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eaLnBrk="0"/>
            <a:fld id="{F7021451-1387-4CA6-816F-3879F97B5CBC}" type="slidenum">
              <a:rPr lang="ko-KR" altLang="en-US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0"/>
            <a:r>
              <a:rPr lang="ko-KR" altLang="en-US" dirty="0"/>
              <a:t>원서는 열거형을 만들고 그 값으로 switch를 여러 곳에 쓰고 있다면 이 패턴을 떠올려 보라고 권합니다. 객체지향의 장점을 얻으면서도 객체를 많이 만들지 않기 때문입니다. 반대로 공유 객체를 고칠 수 있게 두면, 그것을 쓰는 모든 곳이 한꺼번에 바뀌는 문제가 생깁니다.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eaLnBrk="0"/>
            <a:fld id="{F7021451-1387-4CA6-816F-3879F97B5CBC}" type="slidenum">
              <a:rPr lang="ko-KR" altLang="en-US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0"/>
            <a:r>
              <a:rPr lang="ko-KR" altLang="en-US" dirty="0"/>
              <a:t>원서의 관련 자료 절과 본문에서 언급한 패턴입니다. 경량 객체는 미리 모두 만들지 않고 필요할 때 만들 수도 있습니다. 이때 이미 만든 객체를 찾아 돌려주려면 보관할 곳이 필요하고, 객체 풀이 그 자리가 될 수 있습니다. 객체 풀은 12강, 상태 패턴은 바로 다음 4강, 타입 객체는 7강에서 배웁니다.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eaLnBrk="0"/>
            <a:fld id="{F7021451-1387-4CA6-816F-3879F97B5CBC}" type="slidenum">
              <a:rPr lang="ko-KR" altLang="en-US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0"/>
            <a:r>
              <a:rPr lang="ko-KR" altLang="en-US" dirty="0"/>
              <a:t>Unity의 기능을 경량 패턴의 관점에서 봅니다. 렌더러의 sharedMesh와 sharedMaterial은 여러 오브젝트가 같은 에셋을 함께 씁니다. 반대로 mesh나 material 속성에 접근하면 그 오브젝트만의 복사본이 만들어지므로 1부의 첫 시도와 같은 상황이 됩니다. GPU 인스턴싱은 2부의 인스턴스 렌더링이고, Tilemap은 4부의 지형 격자와 같은 구조입니다.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eaLnBrk="0"/>
            <a:fld id="{F7021451-1387-4CA6-816F-3879F97B5CBC}" type="slidenum">
              <a:rPr lang="ko-KR" altLang="en-US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0"/>
            <a:r>
              <a:rPr lang="ko-KR" altLang="en-US" dirty="0"/>
              <a:t>답을 가리고 먼저 학생에게 물어본 뒤 확인합니다. 다음 강의는 상태(State) 패턴입니다. 오늘 관련 패턴에서 본 것처럼, 상태 객체도 경량 패턴으로 공유할 수 있습니다.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eaLnBrk="0"/>
            <a:fld id="{F7021451-1387-4CA6-816F-3879F97B5CBC}" type="slidenum">
              <a:rPr lang="ko-KR" altLang="en-US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011680"/>
            <a:ext cx="11094415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 eaLnBrk="0">
              <a:buNone/>
              <a:defRPr lang="ko-KR" alt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 eaLnBrk="0">
              <a:buNone/>
            </a:pPr>
            <a:endParaRPr lang="ko-KR" alt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931920"/>
            <a:ext cx="11094415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 eaLnBrk="0">
              <a:buNone/>
              <a:defRPr lang="ko-KR" altLang="en-US" sz="1800" dirty="0">
                <a:solidFill>
                  <a:schemeClr val="accent3"/>
                </a:solidFill>
              </a:defRPr>
            </a:lvl1pPr>
          </a:lstStyle>
          <a:p>
            <a:pPr indent="0" marL="0" eaLnBrk="0">
              <a:buNone/>
            </a:pPr>
            <a:endParaRPr lang="ko-KR" alt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651760"/>
            <a:ext cx="11094415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 eaLnBrk="0">
              <a:buNone/>
              <a:defRPr lang="ko-KR" alt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 eaLnBrk="0">
              <a:buNone/>
            </a:pPr>
            <a:endParaRPr lang="ko-KR" alt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794760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 eaLnBrk="0">
              <a:buNone/>
              <a:defRPr lang="ko-KR" altLang="en-US" sz="1800" dirty="0">
                <a:solidFill>
                  <a:schemeClr val="accent3"/>
                </a:solidFill>
              </a:defRPr>
            </a:lvl1pPr>
          </a:lstStyle>
          <a:p>
            <a:pPr indent="0" marL="0" eaLnBrk="0">
              <a:buNone/>
            </a:pPr>
            <a:endParaRPr lang="ko-KR" alt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 eaLnBrk="0">
              <a:defRPr sz="1000">
                <a:solidFill>
                  <a:schemeClr val="accent3"/>
                </a:solidFill>
              </a:defRPr>
            </a:lvl1pPr>
          </a:lstStyle>
          <a:p>
            <a:pPr algn="r" eaLnBrk="0"/>
            <a:fld id="{F7021451-1387-4CA6-816F-3879F97B5CBC}" type="slidenum">
              <a:rPr b="0" lang="ko-KR" altLang="en-US"/>
              <a:t>1003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 eaLnBrk="0">
              <a:buNone/>
              <a:defRPr lang="ko-KR" altLang="en-US" sz="2600" b="1" dirty="0">
                <a:solidFill>
                  <a:schemeClr val="tx1"/>
                </a:solidFill>
              </a:defRPr>
            </a:lvl1pPr>
          </a:lstStyle>
          <a:p>
            <a:pPr algn="l" indent="0" marL="0" eaLnBrk="0">
              <a:buNone/>
            </a:pPr>
            <a:endParaRPr lang="ko-KR" altLang="en-US" sz="26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000" dirty="0">
                <a:solidFill>
                  <a:schemeClr val="accent3"/>
                </a:solidFill>
              </a:rPr>
              <a:t>3강 · 경량(Flyweight) 패턴</a:t>
            </a:r>
            <a:endParaRPr lang="ko-KR" alt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 eaLnBrk="0">
              <a:defRPr sz="1000">
                <a:solidFill>
                  <a:schemeClr val="accent3"/>
                </a:solidFill>
              </a:defRPr>
            </a:lvl1pPr>
          </a:lstStyle>
          <a:p>
            <a:pPr algn="r" eaLnBrk="0"/>
            <a:fld id="{F7021451-1387-4CA6-816F-3879F97B5CBC}" type="slidenum">
              <a:rPr b="0" lang="ko-KR" altLang="en-US"/>
              <a:t>1004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 eaLnBrk="0">
              <a:defRPr sz="1000">
                <a:solidFill>
                  <a:schemeClr val="accent3"/>
                </a:solidFill>
              </a:defRPr>
            </a:lvl1pPr>
          </a:lstStyle>
          <a:p>
            <a:pPr algn="r" eaLnBrk="0"/>
            <a:fld id="{F7021451-1387-4CA6-816F-3879F97B5CBC}" type="slidenum">
              <a:rPr b="0" lang="ko-KR" altLang="en-US"/>
              <a:t>null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 eaLnBrk="0">
        <a:defRPr lang="ko-KR" alt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011680"/>
            <a:ext cx="11094415" cy="1737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 eaLnBrk="0">
              <a:buNone/>
            </a:pPr>
            <a:r>
              <a:rPr lang="ko-KR" altLang="en-US" sz="4000" b="1" dirty="0">
                <a:solidFill>
                  <a:schemeClr val="bg1"/>
                </a:solidFill>
              </a:rPr>
              <a:t>3강 · 경량(Flyweight) 패턴</a:t>
            </a:r>
            <a:endParaRPr lang="ko-KR" alt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931920"/>
            <a:ext cx="1109441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>
              <a:buNone/>
            </a:pPr>
            <a:r>
              <a:rPr lang="ko-KR" altLang="en-US" sz="1800" dirty="0">
                <a:solidFill>
                  <a:schemeClr val="accent3"/>
                </a:solidFill>
              </a:rPr>
              <a:t>같은 데이터를 여러 객체가 함께 써서</a:t>
            </a:r>
            <a:endParaRPr lang="ko-KR" altLang="en-US" sz="1800" dirty="0"/>
          </a:p>
          <a:p>
            <a:pPr indent="0" marL="0" eaLnBrk="0">
              <a:buNone/>
            </a:pPr>
            <a:r>
              <a:rPr lang="ko-KR" altLang="en-US" sz="1800" dirty="0">
                <a:solidFill>
                  <a:schemeClr val="accent3"/>
                </a:solidFill>
              </a:rPr>
              <a:t>아주 많은 객체를 가볍게 만든다</a:t>
            </a:r>
            <a:endParaRPr lang="ko-KR" altLang="en-US" sz="1800" dirty="0"/>
          </a:p>
          <a:p>
            <a:pPr indent="0" marL="0" eaLnBrk="0">
              <a:buNone/>
            </a:pPr>
            <a:endParaRPr lang="ko-KR" altLang="en-US" sz="1800" dirty="0"/>
          </a:p>
          <a:p>
            <a:pPr indent="0" marL="0" eaLnBrk="0">
              <a:buNone/>
            </a:pPr>
            <a:r>
              <a:rPr lang="ko-KR" altLang="en-US" sz="1800" dirty="0">
                <a:solidFill>
                  <a:schemeClr val="accent3"/>
                </a:solidFill>
              </a:rPr>
              <a:t>교재: 로버트 나이스트롬, 『게임 프로그래밍 패턴』</a:t>
            </a:r>
            <a:endParaRPr lang="ko-KR" altLang="en-US" sz="1800" dirty="0"/>
          </a:p>
          <a:p>
            <a:pPr indent="0" marL="0" eaLnBrk="0">
              <a:buNone/>
            </a:pPr>
            <a:r>
              <a:rPr lang="ko-KR" altLang="en-US" sz="1800" dirty="0">
                <a:solidFill>
                  <a:schemeClr val="accent3"/>
                </a:solidFill>
              </a:rPr>
              <a:t>「경량」 장</a:t>
            </a:r>
            <a:endParaRPr lang="ko-KR" alt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2918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300" b="1" dirty="0">
                <a:solidFill>
                  <a:schemeClr val="accent1"/>
                </a:solidFill>
              </a:rPr>
              <a:t>오늘의 길</a:t>
            </a:r>
            <a:endParaRPr lang="ko-KR" alt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 eaLnBrk="0">
              <a:buNone/>
            </a:pPr>
            <a:r>
              <a:rPr lang="ko-KR" altLang="en-US" sz="2600" b="1" dirty="0">
                <a:solidFill>
                  <a:schemeClr val="tx1"/>
                </a:solidFill>
              </a:rPr>
              <a:t>수천 그루의 나무가 데이터 한 벌을 함께 쓰기까지</a:t>
            </a:r>
            <a:endParaRPr lang="ko-KR" altLang="en-US" sz="2600" dirty="0"/>
          </a:p>
        </p:txBody>
      </p:sp>
      <p:sp>
        <p:nvSpPr>
          <p:cNvPr id="4" name="bridge"/>
          <p:cNvSpPr txBox="1"/>
          <p:nvPr/>
        </p:nvSpPr>
        <p:spPr>
          <a:xfrm>
            <a:off x="548640" y="587044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500" b="1" dirty="0">
                <a:solidFill>
                  <a:schemeClr val="accent1"/>
                </a:solidFill>
              </a:rPr>
              <a:t>다음 질문  </a:t>
            </a:r>
            <a:pPr indent="0" marL="0" eaLnBrk="0">
              <a:buNone/>
            </a:pPr>
            <a:r>
              <a:rPr lang="ko-KR" altLang="en-US" sz="1500" dirty="0">
                <a:solidFill>
                  <a:schemeClr val="tx2"/>
                </a:solidFill>
              </a:rPr>
              <a:t>먼저, 경량 패턴은 한 문장으로 무엇일까?</a:t>
            </a:r>
            <a:endParaRPr lang="ko-KR" altLang="en-US" sz="1500" dirty="0"/>
          </a:p>
        </p:txBody>
      </p:sp>
      <p:sp>
        <p:nvSpPr>
          <p:cNvPr id="6" name="card"/>
          <p:cNvSpPr/>
          <p:nvPr/>
        </p:nvSpPr>
        <p:spPr>
          <a:xfrm>
            <a:off x="548640" y="1828800"/>
            <a:ext cx="2057400" cy="21031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77240" y="202996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20299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>
              <a:buNone/>
            </a:pPr>
            <a:r>
              <a:rPr lang="ko-KR" altLang="en-US" sz="1500" b="1" dirty="0">
                <a:solidFill>
                  <a:schemeClr val="bg1"/>
                </a:solidFill>
              </a:rPr>
              <a:t>1</a:t>
            </a:r>
            <a:endParaRPr lang="ko-KR" alt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60604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숲의 나무</a:t>
            </a:r>
            <a:endParaRPr lang="ko-KR" alt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32918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buNone/>
            </a:pPr>
            <a:r>
              <a:rPr lang="ko-KR" altLang="en-US" sz="1300" dirty="0">
                <a:solidFill>
                  <a:schemeClr val="accent5"/>
                </a:solidFill>
              </a:rPr>
              <a:t>같은 부분을</a:t>
            </a:r>
            <a:endParaRPr lang="ko-KR" altLang="en-US" sz="1300" dirty="0"/>
          </a:p>
          <a:p>
            <a:pPr indent="0" marL="0" eaLnBrk="0">
              <a:buNone/>
            </a:pPr>
            <a:r>
              <a:rPr lang="ko-KR" altLang="en-US" sz="1300" dirty="0">
                <a:solidFill>
                  <a:schemeClr val="accent5"/>
                </a:solidFill>
              </a:rPr>
              <a:t>떼어 낸다</a:t>
            </a:r>
            <a:endParaRPr lang="ko-KR" alt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2651760" y="2880360"/>
            <a:ext cx="110414" cy="914"/>
          </a:xfrm>
          <a:prstGeom prst="line">
            <a:avLst/>
          </a:prstGeom>
          <a:noFill/>
          <a:ln w="2222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2" name="card"/>
          <p:cNvSpPr/>
          <p:nvPr/>
        </p:nvSpPr>
        <p:spPr>
          <a:xfrm>
            <a:off x="2807894" y="1828800"/>
            <a:ext cx="2057400" cy="21031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036494" y="202996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036494" y="20299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>
              <a:buNone/>
            </a:pPr>
            <a:r>
              <a:rPr lang="ko-KR" altLang="en-US" sz="1500" b="1" dirty="0">
                <a:solidFill>
                  <a:schemeClr val="bg1"/>
                </a:solidFill>
              </a:rPr>
              <a:t>2</a:t>
            </a:r>
            <a:endParaRPr lang="ko-KR" alt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3036494" y="260604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인스턴스</a:t>
            </a:r>
            <a:endParaRPr lang="ko-KR" altLang="en-US" sz="1500" dirty="0"/>
          </a:p>
          <a:p>
            <a:pPr indent="0" marL="0" eaLnBrk="0"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렌더링</a:t>
            </a:r>
            <a:endParaRPr lang="ko-KR" alt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3036494" y="32918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buNone/>
            </a:pPr>
            <a:r>
              <a:rPr lang="ko-KR" altLang="en-US" sz="1300" dirty="0">
                <a:solidFill>
                  <a:schemeClr val="accent5"/>
                </a:solidFill>
              </a:rPr>
              <a:t>공유 데이터는</a:t>
            </a:r>
            <a:endParaRPr lang="ko-KR" altLang="en-US" sz="1300" dirty="0"/>
          </a:p>
          <a:p>
            <a:pPr indent="0" marL="0" eaLnBrk="0">
              <a:buNone/>
            </a:pPr>
            <a:r>
              <a:rPr lang="ko-KR" altLang="en-US" sz="1300" dirty="0">
                <a:solidFill>
                  <a:schemeClr val="accent5"/>
                </a:solidFill>
              </a:rPr>
              <a:t>한 번만 보낸다</a:t>
            </a:r>
            <a:endParaRPr lang="ko-KR" alt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911014" y="2880360"/>
            <a:ext cx="110414" cy="914"/>
          </a:xfrm>
          <a:prstGeom prst="line">
            <a:avLst/>
          </a:prstGeom>
          <a:noFill/>
          <a:ln w="2222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8" name="card"/>
          <p:cNvSpPr/>
          <p:nvPr/>
        </p:nvSpPr>
        <p:spPr>
          <a:xfrm>
            <a:off x="5067148" y="1828800"/>
            <a:ext cx="2057400" cy="21031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295748" y="202996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295748" y="20299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>
              <a:buNone/>
            </a:pPr>
            <a:r>
              <a:rPr lang="ko-KR" altLang="en-US" sz="1500" b="1" dirty="0">
                <a:solidFill>
                  <a:schemeClr val="bg1"/>
                </a:solidFill>
              </a:rPr>
              <a:t>3</a:t>
            </a:r>
            <a:endParaRPr lang="ko-KR" alt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5295748" y="260604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고유 상태와</a:t>
            </a:r>
            <a:endParaRPr lang="ko-KR" altLang="en-US" sz="1500" dirty="0"/>
          </a:p>
          <a:p>
            <a:pPr indent="0" marL="0" eaLnBrk="0"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외부 상태</a:t>
            </a:r>
            <a:endParaRPr lang="ko-KR" alt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295748" y="32918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buNone/>
            </a:pPr>
            <a:r>
              <a:rPr lang="ko-KR" altLang="en-US" sz="1300" dirty="0">
                <a:solidFill>
                  <a:schemeClr val="accent5"/>
                </a:solidFill>
              </a:rPr>
              <a:t>패턴의 구조</a:t>
            </a:r>
            <a:endParaRPr lang="ko-KR" alt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7170268" y="2880360"/>
            <a:ext cx="110414" cy="914"/>
          </a:xfrm>
          <a:prstGeom prst="line">
            <a:avLst/>
          </a:prstGeom>
          <a:noFill/>
          <a:ln w="2222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24" name="card"/>
          <p:cNvSpPr/>
          <p:nvPr/>
        </p:nvSpPr>
        <p:spPr>
          <a:xfrm>
            <a:off x="7326401" y="1828800"/>
            <a:ext cx="2057400" cy="21031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7555001" y="202996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555001" y="20299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>
              <a:buNone/>
            </a:pPr>
            <a:r>
              <a:rPr lang="ko-KR" altLang="en-US" sz="1500" b="1" dirty="0">
                <a:solidFill>
                  <a:schemeClr val="bg1"/>
                </a:solidFill>
              </a:rPr>
              <a:t>4</a:t>
            </a:r>
            <a:endParaRPr lang="ko-KR" alt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7555001" y="260604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지형 타일</a:t>
            </a:r>
            <a:endParaRPr lang="ko-KR" alt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7555001" y="32918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buNone/>
            </a:pPr>
            <a:r>
              <a:rPr lang="ko-KR" altLang="en-US" sz="1300" dirty="0">
                <a:solidFill>
                  <a:schemeClr val="accent5"/>
                </a:solidFill>
              </a:rPr>
              <a:t>열거형에서</a:t>
            </a:r>
            <a:endParaRPr lang="ko-KR" altLang="en-US" sz="1300" dirty="0"/>
          </a:p>
          <a:p>
            <a:pPr indent="0" marL="0" eaLnBrk="0">
              <a:buNone/>
            </a:pPr>
            <a:r>
              <a:rPr lang="ko-KR" altLang="en-US" sz="1300" dirty="0">
                <a:solidFill>
                  <a:schemeClr val="accent5"/>
                </a:solidFill>
              </a:rPr>
              <a:t>공유 객체로</a:t>
            </a:r>
            <a:endParaRPr lang="ko-KR" alt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9429521" y="2880360"/>
            <a:ext cx="110414" cy="914"/>
          </a:xfrm>
          <a:prstGeom prst="line">
            <a:avLst/>
          </a:prstGeom>
          <a:noFill/>
          <a:ln w="2222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30" name="card"/>
          <p:cNvSpPr/>
          <p:nvPr/>
        </p:nvSpPr>
        <p:spPr>
          <a:xfrm>
            <a:off x="9585655" y="1828800"/>
            <a:ext cx="2057400" cy="21031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9814255" y="202996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9814255" y="20299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>
              <a:buNone/>
            </a:pPr>
            <a:r>
              <a:rPr lang="ko-KR" altLang="en-US" sz="1500" b="1" dirty="0">
                <a:solidFill>
                  <a:schemeClr val="bg1"/>
                </a:solidFill>
              </a:rPr>
              <a:t>5</a:t>
            </a:r>
            <a:endParaRPr lang="ko-KR" altLang="en-US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9814255" y="260604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성능과 쓸 때</a:t>
            </a:r>
            <a:endParaRPr lang="ko-KR" altLang="en-US" sz="1500" dirty="0"/>
          </a:p>
        </p:txBody>
      </p:sp>
      <p:sp>
        <p:nvSpPr>
          <p:cNvPr id="34" name="Text 31"/>
          <p:cNvSpPr txBox="1"/>
          <p:nvPr/>
        </p:nvSpPr>
        <p:spPr>
          <a:xfrm>
            <a:off x="9814255" y="32918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buNone/>
            </a:pPr>
            <a:r>
              <a:rPr lang="ko-KR" altLang="en-US" sz="1300" dirty="0">
                <a:solidFill>
                  <a:schemeClr val="accent5"/>
                </a:solidFill>
              </a:rPr>
              <a:t>관련 패턴, Unity 대응</a:t>
            </a:r>
            <a:endParaRPr lang="ko-KR" altLang="en-US" sz="1300" dirty="0"/>
          </a:p>
        </p:txBody>
      </p:sp>
      <p:sp>
        <p:nvSpPr>
          <p:cNvPr id="35" name="Text 32"/>
          <p:cNvSpPr txBox="1"/>
          <p:nvPr/>
        </p:nvSpPr>
        <p:spPr>
          <a:xfrm>
            <a:off x="548640" y="44348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buNone/>
            </a:pPr>
            <a:r>
              <a:rPr lang="ko-KR" altLang="en-US" sz="1600" dirty="0">
                <a:solidFill>
                  <a:schemeClr val="tx2"/>
                </a:solidFill>
              </a:rPr>
              <a:t>오늘 예제는 원서와 같다: 수천 그루의 나무가 서 있는 숲, 그리고 풀밭·언덕·강 타일로 이루어진 지형.</a:t>
            </a:r>
            <a:endParaRPr lang="ko-KR" alt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 eaLnBrk="0">
              <a:defRPr sz="1000">
                <a:solidFill>
                  <a:schemeClr val="accent3"/>
                </a:solidFill>
              </a:defRPr>
            </a:lvl1pPr>
          </a:lstStyle>
          <a:p>
            <a:pPr algn="r" eaLnBrk="0"/>
            <a:fld id="{F7021451-1387-4CA6-816F-3879F97B5CBC}" type="slidenum">
              <a:rPr b="0" lang="ko-KR" altLang="en-US"/>
              <a:t>2</a:t>
            </a:fld>
            <a:endParaRPr lang="ko-KR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2918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300" b="1" dirty="0">
                <a:solidFill>
                  <a:schemeClr val="accent1"/>
                </a:solidFill>
              </a:rPr>
              <a:t>정의</a:t>
            </a:r>
            <a:endParaRPr lang="ko-KR" alt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 eaLnBrk="0">
              <a:buNone/>
            </a:pPr>
            <a:r>
              <a:rPr lang="ko-KR" altLang="en-US" sz="2600" b="1" dirty="0">
                <a:solidFill>
                  <a:schemeClr val="tx1"/>
                </a:solidFill>
              </a:rPr>
              <a:t>경량 패턴은 같은 데이터를 여러 객체가 함께 쓰게 한다</a:t>
            </a:r>
            <a:endParaRPr lang="ko-KR" altLang="en-US" sz="2600" dirty="0"/>
          </a:p>
        </p:txBody>
      </p:sp>
      <p:sp>
        <p:nvSpPr>
          <p:cNvPr id="4" name="bridge"/>
          <p:cNvSpPr txBox="1"/>
          <p:nvPr/>
        </p:nvSpPr>
        <p:spPr>
          <a:xfrm>
            <a:off x="548640" y="587044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500" b="1" dirty="0">
                <a:solidFill>
                  <a:schemeClr val="accent1"/>
                </a:solidFill>
              </a:rPr>
              <a:t>다음 질문  </a:t>
            </a:r>
            <a:pPr indent="0" marL="0" eaLnBrk="0">
              <a:buNone/>
            </a:pPr>
            <a:r>
              <a:rPr lang="ko-KR" altLang="en-US" sz="1500" dirty="0">
                <a:solidFill>
                  <a:schemeClr val="tx2"/>
                </a:solidFill>
              </a:rPr>
              <a:t>왜 데이터를 함께 써야 할까? 숲 하나부터 보자.</a:t>
            </a:r>
            <a:endParaRPr lang="ko-KR" alt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4572000" cy="2377440"/>
          </a:xfrm>
          <a:prstGeom prst="roundRect">
            <a:avLst>
              <a:gd name="adj" fmla="val 384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19202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buNone/>
            </a:pPr>
            <a:r>
              <a:rPr lang="ko-KR" altLang="en-US" sz="1800" b="1" dirty="0">
                <a:solidFill>
                  <a:schemeClr val="accent6"/>
                </a:solidFill>
              </a:rPr>
              <a:t>객체마다 모두 가진다</a:t>
            </a:r>
            <a:endParaRPr lang="ko-KR" altLang="en-US" sz="1800" dirty="0"/>
          </a:p>
        </p:txBody>
      </p:sp>
      <p:sp>
        <p:nvSpPr>
          <p:cNvPr id="8" name="box"/>
          <p:cNvSpPr/>
          <p:nvPr/>
        </p:nvSpPr>
        <p:spPr>
          <a:xfrm>
            <a:off x="822960" y="2468880"/>
            <a:ext cx="4023360" cy="438912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2468880"/>
            <a:ext cx="402336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 eaLnBrk="0">
              <a:buNone/>
            </a:pPr>
            <a:r>
              <a:rPr lang="ko-KR" altLang="en-US" sz="1300" dirty="0">
                <a:solidFill>
                  <a:schemeClr val="tx1"/>
                </a:solidFill>
              </a:rPr>
              <a:t>메시 · 텍스처  +  위치 · 크기 · 색조</a:t>
            </a:r>
            <a:endParaRPr lang="ko-KR" altLang="en-US" sz="1300" dirty="0"/>
          </a:p>
        </p:txBody>
      </p:sp>
      <p:sp>
        <p:nvSpPr>
          <p:cNvPr id="10" name="box"/>
          <p:cNvSpPr/>
          <p:nvPr/>
        </p:nvSpPr>
        <p:spPr>
          <a:xfrm>
            <a:off x="822960" y="3017520"/>
            <a:ext cx="4023360" cy="438912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22960" y="3017520"/>
            <a:ext cx="402336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 eaLnBrk="0">
              <a:buNone/>
            </a:pPr>
            <a:r>
              <a:rPr lang="ko-KR" altLang="en-US" sz="1300" dirty="0">
                <a:solidFill>
                  <a:schemeClr val="tx1"/>
                </a:solidFill>
              </a:rPr>
              <a:t>메시 · 텍스처  +  위치 · 크기 · 색조</a:t>
            </a:r>
            <a:endParaRPr lang="ko-KR" altLang="en-US" sz="1300" dirty="0"/>
          </a:p>
        </p:txBody>
      </p:sp>
      <p:sp>
        <p:nvSpPr>
          <p:cNvPr id="12" name="box"/>
          <p:cNvSpPr/>
          <p:nvPr/>
        </p:nvSpPr>
        <p:spPr>
          <a:xfrm>
            <a:off x="822960" y="3566160"/>
            <a:ext cx="4023360" cy="438912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22960" y="3566160"/>
            <a:ext cx="402336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 eaLnBrk="0">
              <a:buNone/>
            </a:pPr>
            <a:r>
              <a:rPr lang="ko-KR" altLang="en-US" sz="1300" dirty="0">
                <a:solidFill>
                  <a:schemeClr val="tx1"/>
                </a:solidFill>
              </a:rPr>
              <a:t>메시 · 텍스처  +  위치 · 크기 · 색조</a:t>
            </a:r>
            <a:endParaRPr lang="ko-KR" alt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257800" y="2971800"/>
            <a:ext cx="914400" cy="914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6309360" y="1783080"/>
            <a:ext cx="5333695" cy="2377440"/>
          </a:xfrm>
          <a:prstGeom prst="roundRect">
            <a:avLst>
              <a:gd name="adj" fmla="val 384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583680" y="1920240"/>
            <a:ext cx="47850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buNone/>
            </a:pPr>
            <a:r>
              <a:rPr lang="ko-KR" altLang="en-US" sz="1800" b="1" dirty="0">
                <a:solidFill>
                  <a:schemeClr val="accent2"/>
                </a:solidFill>
              </a:rPr>
              <a:t>같은 부분을 함께 쓴다</a:t>
            </a:r>
            <a:endParaRPr lang="ko-KR" altLang="en-US" sz="1800" dirty="0"/>
          </a:p>
        </p:txBody>
      </p:sp>
      <p:sp>
        <p:nvSpPr>
          <p:cNvPr id="17" name="box"/>
          <p:cNvSpPr/>
          <p:nvPr/>
        </p:nvSpPr>
        <p:spPr>
          <a:xfrm>
            <a:off x="6583680" y="2468880"/>
            <a:ext cx="2194560" cy="438912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83680" y="2468880"/>
            <a:ext cx="219456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 eaLnBrk="0">
              <a:buNone/>
            </a:pPr>
            <a:r>
              <a:rPr lang="ko-KR" altLang="en-US" sz="1300" dirty="0">
                <a:solidFill>
                  <a:schemeClr val="tx1"/>
                </a:solidFill>
              </a:rPr>
              <a:t>위치 · 크기 · 색조</a:t>
            </a:r>
            <a:endParaRPr lang="ko-KR" alt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8823960" y="2688336"/>
            <a:ext cx="548640" cy="283464"/>
          </a:xfrm>
          <a:prstGeom prst="line">
            <a:avLst/>
          </a:prstGeom>
          <a:noFill/>
          <a:ln w="2222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20" name="box"/>
          <p:cNvSpPr/>
          <p:nvPr/>
        </p:nvSpPr>
        <p:spPr>
          <a:xfrm>
            <a:off x="6583680" y="3017520"/>
            <a:ext cx="2194560" cy="438912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83680" y="3017520"/>
            <a:ext cx="219456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 eaLnBrk="0">
              <a:buNone/>
            </a:pPr>
            <a:r>
              <a:rPr lang="ko-KR" altLang="en-US" sz="1300" dirty="0">
                <a:solidFill>
                  <a:schemeClr val="tx1"/>
                </a:solidFill>
              </a:rPr>
              <a:t>위치 · 크기 · 색조</a:t>
            </a:r>
            <a:endParaRPr lang="ko-KR" altLang="en-US" sz="1300" dirty="0"/>
          </a:p>
        </p:txBody>
      </p:sp>
      <p:sp>
        <p:nvSpPr>
          <p:cNvPr id="22" name="Shape 19"/>
          <p:cNvSpPr/>
          <p:nvPr/>
        </p:nvSpPr>
        <p:spPr>
          <a:xfrm flipV="1">
            <a:off x="8823960" y="2971800"/>
            <a:ext cx="548640" cy="265176"/>
          </a:xfrm>
          <a:prstGeom prst="line">
            <a:avLst/>
          </a:prstGeom>
          <a:noFill/>
          <a:ln w="2222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23" name="box"/>
          <p:cNvSpPr/>
          <p:nvPr/>
        </p:nvSpPr>
        <p:spPr>
          <a:xfrm>
            <a:off x="6583680" y="3566160"/>
            <a:ext cx="2194560" cy="438912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0" y="3566160"/>
            <a:ext cx="219456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 eaLnBrk="0">
              <a:buNone/>
            </a:pPr>
            <a:r>
              <a:rPr lang="ko-KR" altLang="en-US" sz="1300" dirty="0">
                <a:solidFill>
                  <a:schemeClr val="tx1"/>
                </a:solidFill>
              </a:rPr>
              <a:t>위치 · 크기 · 색조</a:t>
            </a:r>
            <a:endParaRPr lang="ko-KR" altLang="en-US" sz="1300" dirty="0"/>
          </a:p>
        </p:txBody>
      </p:sp>
      <p:sp>
        <p:nvSpPr>
          <p:cNvPr id="25" name="Shape 22"/>
          <p:cNvSpPr/>
          <p:nvPr/>
        </p:nvSpPr>
        <p:spPr>
          <a:xfrm flipV="1">
            <a:off x="8823960" y="2971800"/>
            <a:ext cx="548640" cy="813816"/>
          </a:xfrm>
          <a:prstGeom prst="line">
            <a:avLst/>
          </a:prstGeom>
          <a:noFill/>
          <a:ln w="2222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26" name="box"/>
          <p:cNvSpPr/>
          <p:nvPr/>
        </p:nvSpPr>
        <p:spPr>
          <a:xfrm>
            <a:off x="9418320" y="2560320"/>
            <a:ext cx="1950415" cy="822960"/>
          </a:xfrm>
          <a:prstGeom prst="roundRect">
            <a:avLst>
              <a:gd name="adj" fmla="val 888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9418320" y="2560320"/>
            <a:ext cx="1950415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 eaLnBrk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메시 · 텍스처</a:t>
            </a:r>
            <a:endParaRPr lang="ko-KR" altLang="en-US" sz="1400" dirty="0"/>
          </a:p>
          <a:p>
            <a:pPr algn="ctr" indent="0" marL="0" eaLnBrk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(한 벌)</a:t>
            </a:r>
            <a:endParaRPr lang="ko-KR" altLang="en-US" sz="1400" dirty="0"/>
          </a:p>
        </p:txBody>
      </p:sp>
      <p:sp>
        <p:nvSpPr>
          <p:cNvPr id="28" name="box"/>
          <p:cNvSpPr/>
          <p:nvPr/>
        </p:nvSpPr>
        <p:spPr>
          <a:xfrm>
            <a:off x="548640" y="4480560"/>
            <a:ext cx="11094415" cy="1051560"/>
          </a:xfrm>
          <a:prstGeom prst="roundRect">
            <a:avLst>
              <a:gd name="adj" fmla="val 695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548640" y="4480560"/>
            <a:ext cx="11094415" cy="1051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 eaLnBrk="0">
              <a:buNone/>
            </a:pPr>
            <a:r>
              <a:rPr lang="ko-KR" altLang="en-US" sz="1700" dirty="0">
                <a:solidFill>
                  <a:schemeClr val="bg1"/>
                </a:solidFill>
              </a:rPr>
              <a:t>GoF의 정의: 공유를 이용해 아주 많은 작은 객체를 효율적으로 지원한다.</a:t>
            </a:r>
            <a:endParaRPr lang="ko-KR" alt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 eaLnBrk="0">
              <a:defRPr sz="1000">
                <a:solidFill>
                  <a:schemeClr val="accent3"/>
                </a:solidFill>
              </a:defRPr>
            </a:lvl1pPr>
          </a:lstStyle>
          <a:p>
            <a:pPr algn="r" eaLnBrk="0"/>
            <a:fld id="{F7021451-1387-4CA6-816F-3879F97B5CBC}" type="slidenum">
              <a:rPr b="0" lang="ko-KR" altLang="en-US"/>
              <a:t>3</a:t>
            </a:fld>
            <a:endParaRPr lang="ko-KR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t"/>
          <p:cNvSpPr txBox="1"/>
          <p:nvPr/>
        </p:nvSpPr>
        <p:spPr>
          <a:xfrm>
            <a:off x="548640" y="21488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600" b="1" dirty="0">
                <a:solidFill>
                  <a:schemeClr val="accent1"/>
                </a:solidFill>
              </a:rPr>
              <a:t>1부</a:t>
            </a:r>
            <a:endParaRPr lang="ko-KR" alt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651760"/>
            <a:ext cx="1109441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 eaLnBrk="0">
              <a:buNone/>
            </a:pPr>
            <a:r>
              <a:rPr lang="ko-KR" altLang="en-US" sz="3600" b="1" dirty="0">
                <a:solidFill>
                  <a:schemeClr val="bg1"/>
                </a:solidFill>
              </a:rPr>
              <a:t>숲의 나무</a:t>
            </a:r>
            <a:endParaRPr lang="ko-KR" altLang="en-US" sz="36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379476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>
              <a:buNone/>
            </a:pPr>
            <a:r>
              <a:rPr lang="ko-KR" altLang="en-US" sz="1800" dirty="0">
                <a:solidFill>
                  <a:schemeClr val="accent3"/>
                </a:solidFill>
              </a:rPr>
              <a:t>원서: 숲과 나무</a:t>
            </a:r>
            <a:endParaRPr lang="ko-KR" alt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 eaLnBrk="0">
              <a:defRPr sz="1000">
                <a:solidFill>
                  <a:schemeClr val="accent3"/>
                </a:solidFill>
              </a:defRPr>
            </a:lvl1pPr>
          </a:lstStyle>
          <a:p>
            <a:pPr algn="r" eaLnBrk="0"/>
            <a:fld id="{F7021451-1387-4CA6-816F-3879F97B5CBC}" type="slidenum">
              <a:rPr b="0" lang="ko-KR" altLang="en-US"/>
              <a:t>4</a:t>
            </a:fld>
            <a:endParaRPr lang="ko-KR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2918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300" b="1" dirty="0">
                <a:solidFill>
                  <a:schemeClr val="accent1"/>
                </a:solidFill>
              </a:rPr>
              <a:t>문제</a:t>
            </a:r>
            <a:endParaRPr lang="ko-KR" alt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 eaLnBrk="0">
              <a:buNone/>
            </a:pPr>
            <a:r>
              <a:rPr lang="ko-KR" altLang="en-US" sz="2600" b="1" dirty="0">
                <a:solidFill>
                  <a:schemeClr val="tx1"/>
                </a:solidFill>
              </a:rPr>
              <a:t>숲 하나에 나무가 수천 그루 서 있다</a:t>
            </a:r>
            <a:endParaRPr lang="ko-KR" altLang="en-US" sz="2600" dirty="0"/>
          </a:p>
        </p:txBody>
      </p:sp>
      <p:sp>
        <p:nvSpPr>
          <p:cNvPr id="4" name="bridge"/>
          <p:cNvSpPr txBox="1"/>
          <p:nvPr/>
        </p:nvSpPr>
        <p:spPr>
          <a:xfrm>
            <a:off x="548640" y="587044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500" b="1" dirty="0">
                <a:solidFill>
                  <a:schemeClr val="accent1"/>
                </a:solidFill>
              </a:rPr>
              <a:t>다음 질문  </a:t>
            </a:r>
            <a:pPr indent="0" marL="0" eaLnBrk="0">
              <a:buNone/>
            </a:pPr>
            <a:r>
              <a:rPr lang="ko-KR" altLang="en-US" sz="1500" dirty="0">
                <a:solidFill>
                  <a:schemeClr val="tx2"/>
                </a:solidFill>
              </a:rPr>
              <a:t>나무 한 그루를 코드로 쓰면 어떤 모양일까?</a:t>
            </a:r>
            <a:endParaRPr lang="ko-KR" alt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5852160" cy="3931920"/>
          </a:xfrm>
          <a:prstGeom prst="roundRect">
            <a:avLst>
              <a:gd name="adj" fmla="val 23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1883664"/>
            <a:ext cx="457200" cy="525780"/>
          </a:xfrm>
          <a:prstGeom prst="triangle">
            <a:avLst/>
          </a:prstGeom>
          <a:solidFill>
            <a:srgbClr val="3A7D44"/>
          </a:solidFill>
          <a:ln w="12700">
            <a:solidFill>
              <a:srgbClr val="3A7D44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60704" y="2409444"/>
            <a:ext cx="73152" cy="128016"/>
          </a:xfrm>
          <a:prstGeom prst="rect">
            <a:avLst/>
          </a:prstGeom>
          <a:solidFill>
            <a:srgbClr val="8A6A4F"/>
          </a:solidFill>
          <a:ln w="12700">
            <a:solidFill>
              <a:srgbClr val="8A6A4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645920" y="1856232"/>
            <a:ext cx="512064" cy="588874"/>
          </a:xfrm>
          <a:prstGeom prst="triangl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860987" y="2445106"/>
            <a:ext cx="81930" cy="143378"/>
          </a:xfrm>
          <a:prstGeom prst="rect">
            <a:avLst/>
          </a:prstGeom>
          <a:solidFill>
            <a:srgbClr val="8A6A4F"/>
          </a:solidFill>
          <a:ln w="12700">
            <a:solidFill>
              <a:srgbClr val="8A6A4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423160" y="1828800"/>
            <a:ext cx="566928" cy="651967"/>
          </a:xfrm>
          <a:prstGeom prst="triangle">
            <a:avLst/>
          </a:prstGeom>
          <a:solidFill>
            <a:srgbClr val="4F8A3C"/>
          </a:solidFill>
          <a:ln w="12700">
            <a:solidFill>
              <a:srgbClr val="4F8A3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661270" y="2480767"/>
            <a:ext cx="90708" cy="158740"/>
          </a:xfrm>
          <a:prstGeom prst="rect">
            <a:avLst/>
          </a:prstGeom>
          <a:solidFill>
            <a:srgbClr val="8A6A4F"/>
          </a:solidFill>
          <a:ln w="12700">
            <a:solidFill>
              <a:srgbClr val="8A6A4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200400" y="1801368"/>
            <a:ext cx="621792" cy="715061"/>
          </a:xfrm>
          <a:prstGeom prst="triangle">
            <a:avLst/>
          </a:prstGeom>
          <a:solidFill>
            <a:srgbClr val="5E9C52"/>
          </a:solidFill>
          <a:ln w="12700">
            <a:solidFill>
              <a:srgbClr val="5E9C52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461553" y="2516429"/>
            <a:ext cx="99487" cy="174102"/>
          </a:xfrm>
          <a:prstGeom prst="rect">
            <a:avLst/>
          </a:prstGeom>
          <a:solidFill>
            <a:srgbClr val="8A6A4F"/>
          </a:solidFill>
          <a:ln w="12700">
            <a:solidFill>
              <a:srgbClr val="8A6A4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977640" y="1883664"/>
            <a:ext cx="457200" cy="525780"/>
          </a:xfrm>
          <a:prstGeom prst="triangle">
            <a:avLst/>
          </a:prstGeom>
          <a:solidFill>
            <a:srgbClr val="35795E"/>
          </a:solidFill>
          <a:ln w="12700">
            <a:solidFill>
              <a:srgbClr val="35795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169664" y="2409444"/>
            <a:ext cx="73152" cy="128016"/>
          </a:xfrm>
          <a:prstGeom prst="rect">
            <a:avLst/>
          </a:prstGeom>
          <a:solidFill>
            <a:srgbClr val="8A6A4F"/>
          </a:solidFill>
          <a:ln w="12700">
            <a:solidFill>
              <a:srgbClr val="8A6A4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754880" y="1856232"/>
            <a:ext cx="512064" cy="588874"/>
          </a:xfrm>
          <a:prstGeom prst="triangle">
            <a:avLst/>
          </a:prstGeom>
          <a:solidFill>
            <a:srgbClr val="3A7D44"/>
          </a:solidFill>
          <a:ln w="12700">
            <a:solidFill>
              <a:srgbClr val="3A7D4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969947" y="2445106"/>
            <a:ext cx="81930" cy="143378"/>
          </a:xfrm>
          <a:prstGeom prst="rect">
            <a:avLst/>
          </a:prstGeom>
          <a:solidFill>
            <a:srgbClr val="8A6A4F"/>
          </a:solidFill>
          <a:ln w="12700">
            <a:solidFill>
              <a:srgbClr val="8A6A4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532120" y="1828800"/>
            <a:ext cx="566928" cy="651967"/>
          </a:xfrm>
          <a:prstGeom prst="triangl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770230" y="2480767"/>
            <a:ext cx="90708" cy="158740"/>
          </a:xfrm>
          <a:prstGeom prst="rect">
            <a:avLst/>
          </a:prstGeom>
          <a:solidFill>
            <a:srgbClr val="8A6A4F"/>
          </a:solidFill>
          <a:ln w="12700">
            <a:solidFill>
              <a:srgbClr val="8A6A4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051560" y="2715768"/>
            <a:ext cx="621792" cy="715061"/>
          </a:xfrm>
          <a:prstGeom prst="triangle">
            <a:avLst/>
          </a:prstGeom>
          <a:solidFill>
            <a:srgbClr val="4F8A3C"/>
          </a:solidFill>
          <a:ln w="12700">
            <a:solidFill>
              <a:srgbClr val="4F8A3C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312713" y="3430829"/>
            <a:ext cx="99487" cy="174102"/>
          </a:xfrm>
          <a:prstGeom prst="rect">
            <a:avLst/>
          </a:prstGeom>
          <a:solidFill>
            <a:srgbClr val="8A6A4F"/>
          </a:solidFill>
          <a:ln w="12700">
            <a:solidFill>
              <a:srgbClr val="8A6A4F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828800" y="2798064"/>
            <a:ext cx="457200" cy="525780"/>
          </a:xfrm>
          <a:prstGeom prst="triangle">
            <a:avLst/>
          </a:prstGeom>
          <a:solidFill>
            <a:srgbClr val="5E9C52"/>
          </a:solidFill>
          <a:ln w="12700">
            <a:solidFill>
              <a:srgbClr val="5E9C52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2020824" y="3323844"/>
            <a:ext cx="73152" cy="128016"/>
          </a:xfrm>
          <a:prstGeom prst="rect">
            <a:avLst/>
          </a:prstGeom>
          <a:solidFill>
            <a:srgbClr val="8A6A4F"/>
          </a:solidFill>
          <a:ln w="12700">
            <a:solidFill>
              <a:srgbClr val="8A6A4F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2606040" y="2770632"/>
            <a:ext cx="512064" cy="588874"/>
          </a:xfrm>
          <a:prstGeom prst="triangle">
            <a:avLst/>
          </a:prstGeom>
          <a:solidFill>
            <a:srgbClr val="35795E"/>
          </a:solidFill>
          <a:ln w="12700">
            <a:solidFill>
              <a:srgbClr val="35795E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2821107" y="3359506"/>
            <a:ext cx="81930" cy="143378"/>
          </a:xfrm>
          <a:prstGeom prst="rect">
            <a:avLst/>
          </a:prstGeom>
          <a:solidFill>
            <a:srgbClr val="8A6A4F"/>
          </a:solidFill>
          <a:ln w="12700">
            <a:solidFill>
              <a:srgbClr val="8A6A4F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383280" y="2743200"/>
            <a:ext cx="566928" cy="651967"/>
          </a:xfrm>
          <a:prstGeom prst="triangle">
            <a:avLst/>
          </a:prstGeom>
          <a:solidFill>
            <a:srgbClr val="3A7D44"/>
          </a:solidFill>
          <a:ln w="12700">
            <a:solidFill>
              <a:srgbClr val="3A7D44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3621390" y="3395167"/>
            <a:ext cx="90708" cy="158740"/>
          </a:xfrm>
          <a:prstGeom prst="rect">
            <a:avLst/>
          </a:prstGeom>
          <a:solidFill>
            <a:srgbClr val="8A6A4F"/>
          </a:solidFill>
          <a:ln w="12700">
            <a:solidFill>
              <a:srgbClr val="8A6A4F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160520" y="2715768"/>
            <a:ext cx="621792" cy="715061"/>
          </a:xfrm>
          <a:prstGeom prst="triangl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421673" y="3430829"/>
            <a:ext cx="99487" cy="174102"/>
          </a:xfrm>
          <a:prstGeom prst="rect">
            <a:avLst/>
          </a:prstGeom>
          <a:solidFill>
            <a:srgbClr val="8A6A4F"/>
          </a:solidFill>
          <a:ln w="12700">
            <a:solidFill>
              <a:srgbClr val="8A6A4F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937760" y="2798064"/>
            <a:ext cx="457200" cy="525780"/>
          </a:xfrm>
          <a:prstGeom prst="triangle">
            <a:avLst/>
          </a:prstGeom>
          <a:solidFill>
            <a:srgbClr val="4F8A3C"/>
          </a:solidFill>
          <a:ln w="12700">
            <a:solidFill>
              <a:srgbClr val="4F8A3C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5129784" y="3323844"/>
            <a:ext cx="73152" cy="128016"/>
          </a:xfrm>
          <a:prstGeom prst="rect">
            <a:avLst/>
          </a:prstGeom>
          <a:solidFill>
            <a:srgbClr val="8A6A4F"/>
          </a:solidFill>
          <a:ln w="12700">
            <a:solidFill>
              <a:srgbClr val="8A6A4F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5715000" y="2770632"/>
            <a:ext cx="512064" cy="588874"/>
          </a:xfrm>
          <a:prstGeom prst="triangle">
            <a:avLst/>
          </a:prstGeom>
          <a:solidFill>
            <a:srgbClr val="5E9C52"/>
          </a:solidFill>
          <a:ln w="12700">
            <a:solidFill>
              <a:srgbClr val="5E9C52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5930067" y="3359506"/>
            <a:ext cx="81930" cy="143378"/>
          </a:xfrm>
          <a:prstGeom prst="rect">
            <a:avLst/>
          </a:prstGeom>
          <a:solidFill>
            <a:srgbClr val="8A6A4F"/>
          </a:solidFill>
          <a:ln w="12700">
            <a:solidFill>
              <a:srgbClr val="8A6A4F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868680" y="3657600"/>
            <a:ext cx="566928" cy="651967"/>
          </a:xfrm>
          <a:prstGeom prst="triangle">
            <a:avLst/>
          </a:prstGeom>
          <a:solidFill>
            <a:srgbClr val="35795E"/>
          </a:solidFill>
          <a:ln w="12700">
            <a:solidFill>
              <a:srgbClr val="35795E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1106790" y="4309567"/>
            <a:ext cx="90708" cy="158740"/>
          </a:xfrm>
          <a:prstGeom prst="rect">
            <a:avLst/>
          </a:prstGeom>
          <a:solidFill>
            <a:srgbClr val="8A6A4F"/>
          </a:solidFill>
          <a:ln w="12700">
            <a:solidFill>
              <a:srgbClr val="8A6A4F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1645920" y="3630168"/>
            <a:ext cx="621792" cy="715061"/>
          </a:xfrm>
          <a:prstGeom prst="triangle">
            <a:avLst/>
          </a:prstGeom>
          <a:solidFill>
            <a:srgbClr val="3A7D44"/>
          </a:solidFill>
          <a:ln w="12700">
            <a:solidFill>
              <a:srgbClr val="3A7D44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1907073" y="4345229"/>
            <a:ext cx="99487" cy="174102"/>
          </a:xfrm>
          <a:prstGeom prst="rect">
            <a:avLst/>
          </a:prstGeom>
          <a:solidFill>
            <a:srgbClr val="8A6A4F"/>
          </a:solidFill>
          <a:ln w="12700">
            <a:solidFill>
              <a:srgbClr val="8A6A4F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2423160" y="3712464"/>
            <a:ext cx="457200" cy="525780"/>
          </a:xfrm>
          <a:prstGeom prst="triangl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2615184" y="4238244"/>
            <a:ext cx="73152" cy="128016"/>
          </a:xfrm>
          <a:prstGeom prst="rect">
            <a:avLst/>
          </a:prstGeom>
          <a:solidFill>
            <a:srgbClr val="8A6A4F"/>
          </a:solidFill>
          <a:ln w="12700">
            <a:solidFill>
              <a:srgbClr val="8A6A4F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3200400" y="3685032"/>
            <a:ext cx="512064" cy="588874"/>
          </a:xfrm>
          <a:prstGeom prst="triangle">
            <a:avLst/>
          </a:prstGeom>
          <a:solidFill>
            <a:srgbClr val="4F8A3C"/>
          </a:solidFill>
          <a:ln w="12700">
            <a:solidFill>
              <a:srgbClr val="4F8A3C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3415467" y="4273906"/>
            <a:ext cx="81930" cy="143378"/>
          </a:xfrm>
          <a:prstGeom prst="rect">
            <a:avLst/>
          </a:prstGeom>
          <a:solidFill>
            <a:srgbClr val="8A6A4F"/>
          </a:solidFill>
          <a:ln w="12700">
            <a:solidFill>
              <a:srgbClr val="8A6A4F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3977640" y="3657600"/>
            <a:ext cx="566928" cy="651967"/>
          </a:xfrm>
          <a:prstGeom prst="triangle">
            <a:avLst/>
          </a:prstGeom>
          <a:solidFill>
            <a:srgbClr val="5E9C52"/>
          </a:solidFill>
          <a:ln w="12700">
            <a:solidFill>
              <a:srgbClr val="5E9C52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4215750" y="4309567"/>
            <a:ext cx="90708" cy="158740"/>
          </a:xfrm>
          <a:prstGeom prst="rect">
            <a:avLst/>
          </a:prstGeom>
          <a:solidFill>
            <a:srgbClr val="8A6A4F"/>
          </a:solidFill>
          <a:ln w="12700">
            <a:solidFill>
              <a:srgbClr val="8A6A4F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4754880" y="3630168"/>
            <a:ext cx="621792" cy="715061"/>
          </a:xfrm>
          <a:prstGeom prst="triangle">
            <a:avLst/>
          </a:prstGeom>
          <a:solidFill>
            <a:srgbClr val="35795E"/>
          </a:solidFill>
          <a:ln w="12700">
            <a:solidFill>
              <a:srgbClr val="35795E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5016033" y="4345229"/>
            <a:ext cx="99487" cy="174102"/>
          </a:xfrm>
          <a:prstGeom prst="rect">
            <a:avLst/>
          </a:prstGeom>
          <a:solidFill>
            <a:srgbClr val="8A6A4F"/>
          </a:solidFill>
          <a:ln w="12700">
            <a:solidFill>
              <a:srgbClr val="8A6A4F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5532120" y="3712464"/>
            <a:ext cx="457200" cy="525780"/>
          </a:xfrm>
          <a:prstGeom prst="triangle">
            <a:avLst/>
          </a:prstGeom>
          <a:solidFill>
            <a:srgbClr val="3A7D44"/>
          </a:solidFill>
          <a:ln w="12700">
            <a:solidFill>
              <a:srgbClr val="3A7D44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5724144" y="4238244"/>
            <a:ext cx="73152" cy="128016"/>
          </a:xfrm>
          <a:prstGeom prst="rect">
            <a:avLst/>
          </a:prstGeom>
          <a:solidFill>
            <a:srgbClr val="8A6A4F"/>
          </a:solidFill>
          <a:ln w="12700">
            <a:solidFill>
              <a:srgbClr val="8A6A4F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1051560" y="4599432"/>
            <a:ext cx="512064" cy="588874"/>
          </a:xfrm>
          <a:prstGeom prst="triangl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1266627" y="5188306"/>
            <a:ext cx="81930" cy="143378"/>
          </a:xfrm>
          <a:prstGeom prst="rect">
            <a:avLst/>
          </a:prstGeom>
          <a:solidFill>
            <a:srgbClr val="8A6A4F"/>
          </a:solidFill>
          <a:ln w="12700">
            <a:solidFill>
              <a:srgbClr val="8A6A4F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1828800" y="4572000"/>
            <a:ext cx="566928" cy="651967"/>
          </a:xfrm>
          <a:prstGeom prst="triangle">
            <a:avLst/>
          </a:prstGeom>
          <a:solidFill>
            <a:srgbClr val="4F8A3C"/>
          </a:solidFill>
          <a:ln w="12700">
            <a:solidFill>
              <a:srgbClr val="4F8A3C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2066910" y="5223967"/>
            <a:ext cx="90708" cy="158740"/>
          </a:xfrm>
          <a:prstGeom prst="rect">
            <a:avLst/>
          </a:prstGeom>
          <a:solidFill>
            <a:srgbClr val="8A6A4F"/>
          </a:solidFill>
          <a:ln w="12700">
            <a:solidFill>
              <a:srgbClr val="8A6A4F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2606040" y="4544568"/>
            <a:ext cx="621792" cy="715061"/>
          </a:xfrm>
          <a:prstGeom prst="triangle">
            <a:avLst/>
          </a:prstGeom>
          <a:solidFill>
            <a:srgbClr val="5E9C52"/>
          </a:solidFill>
          <a:ln w="12700">
            <a:solidFill>
              <a:srgbClr val="5E9C52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2867193" y="5259629"/>
            <a:ext cx="99487" cy="174102"/>
          </a:xfrm>
          <a:prstGeom prst="rect">
            <a:avLst/>
          </a:prstGeom>
          <a:solidFill>
            <a:srgbClr val="8A6A4F"/>
          </a:solidFill>
          <a:ln w="12700">
            <a:solidFill>
              <a:srgbClr val="8A6A4F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3383280" y="4626864"/>
            <a:ext cx="457200" cy="525780"/>
          </a:xfrm>
          <a:prstGeom prst="triangle">
            <a:avLst/>
          </a:prstGeom>
          <a:solidFill>
            <a:srgbClr val="35795E"/>
          </a:solidFill>
          <a:ln w="12700">
            <a:solidFill>
              <a:srgbClr val="35795E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3575304" y="5152644"/>
            <a:ext cx="73152" cy="128016"/>
          </a:xfrm>
          <a:prstGeom prst="rect">
            <a:avLst/>
          </a:prstGeom>
          <a:solidFill>
            <a:srgbClr val="8A6A4F"/>
          </a:solidFill>
          <a:ln w="12700">
            <a:solidFill>
              <a:srgbClr val="8A6A4F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4160520" y="4599432"/>
            <a:ext cx="512064" cy="588874"/>
          </a:xfrm>
          <a:prstGeom prst="triangle">
            <a:avLst/>
          </a:prstGeom>
          <a:solidFill>
            <a:srgbClr val="3A7D44"/>
          </a:solidFill>
          <a:ln w="12700">
            <a:solidFill>
              <a:srgbClr val="3A7D44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4375587" y="5188306"/>
            <a:ext cx="81930" cy="143378"/>
          </a:xfrm>
          <a:prstGeom prst="rect">
            <a:avLst/>
          </a:prstGeom>
          <a:solidFill>
            <a:srgbClr val="8A6A4F"/>
          </a:solidFill>
          <a:ln w="12700">
            <a:solidFill>
              <a:srgbClr val="8A6A4F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4937760" y="4572000"/>
            <a:ext cx="566928" cy="651967"/>
          </a:xfrm>
          <a:prstGeom prst="triangl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5175870" y="5223967"/>
            <a:ext cx="90708" cy="158740"/>
          </a:xfrm>
          <a:prstGeom prst="rect">
            <a:avLst/>
          </a:prstGeom>
          <a:solidFill>
            <a:srgbClr val="8A6A4F"/>
          </a:solidFill>
          <a:ln w="12700">
            <a:solidFill>
              <a:srgbClr val="8A6A4F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5715000" y="4544568"/>
            <a:ext cx="621792" cy="715061"/>
          </a:xfrm>
          <a:prstGeom prst="triangle">
            <a:avLst/>
          </a:prstGeom>
          <a:solidFill>
            <a:srgbClr val="4F8A3C"/>
          </a:solidFill>
          <a:ln w="12700">
            <a:solidFill>
              <a:srgbClr val="4F8A3C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5976153" y="5259629"/>
            <a:ext cx="99487" cy="174102"/>
          </a:xfrm>
          <a:prstGeom prst="rect">
            <a:avLst/>
          </a:prstGeom>
          <a:solidFill>
            <a:srgbClr val="8A6A4F"/>
          </a:solidFill>
          <a:ln w="12700">
            <a:solidFill>
              <a:srgbClr val="8A6A4F"/>
            </a:solidFill>
            <a:prstDash val="solid"/>
          </a:ln>
        </p:spPr>
      </p:sp>
      <p:sp>
        <p:nvSpPr>
          <p:cNvPr id="63" name="card"/>
          <p:cNvSpPr/>
          <p:nvPr/>
        </p:nvSpPr>
        <p:spPr>
          <a:xfrm>
            <a:off x="6766560" y="1691640"/>
            <a:ext cx="4876495" cy="1874520"/>
          </a:xfrm>
          <a:prstGeom prst="roundRect">
            <a:avLst>
              <a:gd name="adj" fmla="val 48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6995160" y="189280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5" name="Text 62"/>
          <p:cNvSpPr txBox="1"/>
          <p:nvPr/>
        </p:nvSpPr>
        <p:spPr>
          <a:xfrm>
            <a:off x="6995160" y="18928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>
              <a:buNone/>
            </a:pPr>
            <a:r>
              <a:rPr lang="ko-KR" altLang="en-US" sz="1500" b="1" dirty="0">
                <a:solidFill>
                  <a:schemeClr val="bg1"/>
                </a:solidFill>
              </a:rPr>
              <a:t>1</a:t>
            </a:r>
            <a:endParaRPr lang="ko-KR" altLang="en-US" sz="1500" dirty="0"/>
          </a:p>
        </p:txBody>
      </p:sp>
      <p:sp>
        <p:nvSpPr>
          <p:cNvPr id="66" name="Text 63"/>
          <p:cNvSpPr txBox="1"/>
          <p:nvPr/>
        </p:nvSpPr>
        <p:spPr>
          <a:xfrm>
            <a:off x="7543800" y="1911096"/>
            <a:ext cx="39163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700" b="1" dirty="0">
                <a:solidFill>
                  <a:schemeClr val="tx1"/>
                </a:solidFill>
              </a:rPr>
              <a:t>나무 한 그루</a:t>
            </a:r>
            <a:endParaRPr lang="ko-KR" altLang="en-US" sz="1700" dirty="0"/>
          </a:p>
        </p:txBody>
      </p:sp>
      <p:sp>
        <p:nvSpPr>
          <p:cNvPr id="67" name="Text 64"/>
          <p:cNvSpPr txBox="1"/>
          <p:nvPr/>
        </p:nvSpPr>
        <p:spPr>
          <a:xfrm>
            <a:off x="7543800" y="2331720"/>
            <a:ext cx="39163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buNone/>
            </a:pPr>
            <a:r>
              <a:rPr lang="ko-KR" altLang="en-US" sz="1400" dirty="0">
                <a:solidFill>
                  <a:schemeClr val="tx2"/>
                </a:solidFill>
              </a:rPr>
              <a:t>다각형 수천 개로 된 메시, 그리고 나무껍질과 잎 텍스처를 가진다.</a:t>
            </a:r>
            <a:endParaRPr lang="ko-KR" altLang="en-US" sz="1400" dirty="0"/>
          </a:p>
        </p:txBody>
      </p:sp>
      <p:sp>
        <p:nvSpPr>
          <p:cNvPr id="68" name="card"/>
          <p:cNvSpPr/>
          <p:nvPr/>
        </p:nvSpPr>
        <p:spPr>
          <a:xfrm>
            <a:off x="6766560" y="3749040"/>
            <a:ext cx="4876495" cy="1874520"/>
          </a:xfrm>
          <a:prstGeom prst="roundRect">
            <a:avLst>
              <a:gd name="adj" fmla="val 48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6995160" y="395020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6995160" y="39502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>
              <a:buNone/>
            </a:pPr>
            <a:r>
              <a:rPr lang="ko-KR" altLang="en-US" sz="1500" b="1" dirty="0">
                <a:solidFill>
                  <a:schemeClr val="bg1"/>
                </a:solidFill>
              </a:rPr>
              <a:t>2</a:t>
            </a:r>
            <a:endParaRPr lang="ko-KR" altLang="en-US" sz="1500" dirty="0"/>
          </a:p>
        </p:txBody>
      </p:sp>
      <p:sp>
        <p:nvSpPr>
          <p:cNvPr id="71" name="Text 68"/>
          <p:cNvSpPr txBox="1"/>
          <p:nvPr/>
        </p:nvSpPr>
        <p:spPr>
          <a:xfrm>
            <a:off x="7543800" y="3968496"/>
            <a:ext cx="39163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700" b="1" dirty="0">
                <a:solidFill>
                  <a:schemeClr val="tx1"/>
                </a:solidFill>
              </a:rPr>
              <a:t>매 프레임</a:t>
            </a:r>
            <a:endParaRPr lang="ko-KR" altLang="en-US" sz="1700" dirty="0"/>
          </a:p>
        </p:txBody>
      </p:sp>
      <p:sp>
        <p:nvSpPr>
          <p:cNvPr id="72" name="Text 69"/>
          <p:cNvSpPr txBox="1"/>
          <p:nvPr/>
        </p:nvSpPr>
        <p:spPr>
          <a:xfrm>
            <a:off x="7543800" y="4389120"/>
            <a:ext cx="39163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buNone/>
            </a:pPr>
            <a:r>
              <a:rPr lang="ko-KR" altLang="en-US" sz="1400" dirty="0">
                <a:solidFill>
                  <a:schemeClr val="tx2"/>
                </a:solidFill>
              </a:rPr>
              <a:t>화면에 그리려면 수천 그루의 데이터를 GPU로 보내야 한다. 메모리와 전송 시간이 모두 든다.</a:t>
            </a:r>
            <a:endParaRPr lang="ko-KR" alt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 eaLnBrk="0">
              <a:defRPr sz="1000">
                <a:solidFill>
                  <a:schemeClr val="accent3"/>
                </a:solidFill>
              </a:defRPr>
            </a:lvl1pPr>
          </a:lstStyle>
          <a:p>
            <a:pPr algn="r" eaLnBrk="0"/>
            <a:fld id="{F7021451-1387-4CA6-816F-3879F97B5CBC}" type="slidenum">
              <a:rPr b="0" lang="ko-KR" altLang="en-US"/>
              <a:t>5</a:t>
            </a:fld>
            <a:endParaRPr lang="ko-KR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2918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300" b="1" dirty="0">
                <a:solidFill>
                  <a:schemeClr val="accent1"/>
                </a:solidFill>
              </a:rPr>
              <a:t>첫 시도</a:t>
            </a:r>
            <a:endParaRPr lang="ko-KR" alt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 eaLnBrk="0">
              <a:buNone/>
            </a:pPr>
            <a:r>
              <a:rPr lang="ko-KR" altLang="en-US" sz="2600" b="1" dirty="0">
                <a:solidFill>
                  <a:schemeClr val="tx1"/>
                </a:solidFill>
              </a:rPr>
              <a:t>나무 한 그루가 필요한 데이터를 모두 가진다</a:t>
            </a:r>
            <a:endParaRPr lang="ko-KR" altLang="en-US" sz="2600" dirty="0"/>
          </a:p>
        </p:txBody>
      </p:sp>
      <p:sp>
        <p:nvSpPr>
          <p:cNvPr id="4" name="bridge"/>
          <p:cNvSpPr txBox="1"/>
          <p:nvPr/>
        </p:nvSpPr>
        <p:spPr>
          <a:xfrm>
            <a:off x="548640" y="587044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500" b="1" dirty="0">
                <a:solidFill>
                  <a:schemeClr val="accent1"/>
                </a:solidFill>
              </a:rPr>
              <a:t>다음 질문  </a:t>
            </a:r>
            <a:pPr indent="0" marL="0" eaLnBrk="0">
              <a:buNone/>
            </a:pPr>
            <a:r>
              <a:rPr lang="ko-KR" altLang="en-US" sz="1500" dirty="0">
                <a:solidFill>
                  <a:schemeClr val="tx2"/>
                </a:solidFill>
              </a:rPr>
              <a:t>수천 그루가 이 필드를 모두 따로 가지면 무엇이 문제일까?</a:t>
            </a:r>
            <a:endParaRPr lang="ko-KR" altLang="en-US" sz="1500" dirty="0"/>
          </a:p>
        </p:txBody>
      </p:sp>
      <p:sp>
        <p:nvSpPr>
          <p:cNvPr id="6" name="codePanel"/>
          <p:cNvSpPr/>
          <p:nvPr/>
        </p:nvSpPr>
        <p:spPr>
          <a:xfrm>
            <a:off x="548640" y="1691640"/>
            <a:ext cx="6217920" cy="3931920"/>
          </a:xfrm>
          <a:prstGeom prst="roundRect">
            <a:avLst>
              <a:gd name="adj" fmla="val 186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7" name="code"/>
          <p:cNvSpPr txBox="1"/>
          <p:nvPr/>
        </p:nvSpPr>
        <p:spPr>
          <a:xfrm>
            <a:off x="658368" y="1783080"/>
            <a:ext cx="5998464" cy="3749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 eaLnBrk="0">
              <a:buNone/>
            </a:pPr>
            <a:r>
              <a:rPr lang="ko-KR" altLang="en-US" sz="16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Tree</a:t>
            </a:r>
            <a:endParaRPr lang="ko-KR" altLang="en-US" sz="1600" dirty="0"/>
          </a:p>
          <a:p>
            <a:pPr indent="0" marL="0" eaLnBrk="0">
              <a:buNone/>
            </a:pPr>
            <a:r>
              <a:rPr lang="ko-KR" altLang="en-US" sz="16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ko-KR" altLang="en-US" sz="1600" dirty="0"/>
          </a:p>
          <a:p>
            <a:pPr indent="0" marL="0" eaLnBrk="0">
              <a:buNone/>
            </a:pPr>
            <a:r>
              <a:rPr lang="ko-KR" altLang="en-US" sz="1600" b="1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Mesh _mesh;</a:t>
            </a:r>
            <a:endParaRPr lang="ko-KR" altLang="en-US" sz="1600" dirty="0"/>
          </a:p>
          <a:p>
            <a:pPr indent="0" marL="0" eaLnBrk="0">
              <a:buNone/>
            </a:pPr>
            <a:r>
              <a:rPr lang="ko-KR" altLang="en-US" sz="1600" b="1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Texture _bark;</a:t>
            </a:r>
            <a:endParaRPr lang="ko-KR" altLang="en-US" sz="1600" dirty="0"/>
          </a:p>
          <a:p>
            <a:pPr indent="0" marL="0" eaLnBrk="0">
              <a:buNone/>
            </a:pPr>
            <a:r>
              <a:rPr lang="ko-KR" altLang="en-US" sz="1600" b="1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Texture _leaves;</a:t>
            </a:r>
            <a:endParaRPr lang="ko-KR" altLang="en-US" sz="1600" dirty="0"/>
          </a:p>
          <a:p>
            <a:pPr indent="0" marL="0" eaLnBrk="0">
              <a:buNone/>
            </a:pPr>
            <a:r>
              <a:rPr lang="ko-KR" altLang="en-US" sz="16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Vector3 _position;</a:t>
            </a:r>
            <a:endParaRPr lang="ko-KR" altLang="en-US" sz="1600" dirty="0"/>
          </a:p>
          <a:p>
            <a:pPr indent="0" marL="0" eaLnBrk="0">
              <a:buNone/>
            </a:pPr>
            <a:r>
              <a:rPr lang="ko-KR" altLang="en-US" sz="16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double _height;</a:t>
            </a:r>
            <a:endParaRPr lang="ko-KR" altLang="en-US" sz="1600" dirty="0"/>
          </a:p>
          <a:p>
            <a:pPr indent="0" marL="0" eaLnBrk="0">
              <a:buNone/>
            </a:pPr>
            <a:r>
              <a:rPr lang="ko-KR" altLang="en-US" sz="16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double _thickness;</a:t>
            </a:r>
            <a:endParaRPr lang="ko-KR" altLang="en-US" sz="1600" dirty="0"/>
          </a:p>
          <a:p>
            <a:pPr indent="0" marL="0" eaLnBrk="0">
              <a:buNone/>
            </a:pPr>
            <a:r>
              <a:rPr lang="ko-KR" altLang="en-US" sz="16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Color _barkTint;</a:t>
            </a:r>
            <a:endParaRPr lang="ko-KR" altLang="en-US" sz="1600" dirty="0"/>
          </a:p>
          <a:p>
            <a:pPr indent="0" marL="0" eaLnBrk="0">
              <a:buNone/>
            </a:pPr>
            <a:r>
              <a:rPr lang="ko-KR" altLang="en-US" sz="16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Color _leafTint;</a:t>
            </a:r>
            <a:endParaRPr lang="ko-KR" altLang="en-US" sz="1600" dirty="0"/>
          </a:p>
          <a:p>
            <a:pPr indent="0" marL="0" eaLnBrk="0">
              <a:buNone/>
            </a:pPr>
            <a:r>
              <a:rPr lang="ko-KR" altLang="en-US" sz="16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ko-KR" altLang="en-US" sz="1600" dirty="0"/>
          </a:p>
        </p:txBody>
      </p:sp>
      <p:sp>
        <p:nvSpPr>
          <p:cNvPr id="8" name="codeCaption"/>
          <p:cNvSpPr txBox="1"/>
          <p:nvPr/>
        </p:nvSpPr>
        <p:spPr>
          <a:xfrm>
            <a:off x="3657600" y="1783080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 eaLnBrk="0">
              <a:buNone/>
            </a:pPr>
            <a:r>
              <a:rPr lang="ko-KR" altLang="en-US" sz="1000" dirty="0">
                <a:solidFill>
                  <a:schemeClr val="accent3"/>
                </a:solidFill>
              </a:rPr>
              <a:t>원서 예제를 C#으로 옮긴 코드</a:t>
            </a:r>
            <a:endParaRPr lang="ko-KR" altLang="en-US" sz="1000" dirty="0"/>
          </a:p>
        </p:txBody>
      </p:sp>
      <p:sp>
        <p:nvSpPr>
          <p:cNvPr id="9" name="card"/>
          <p:cNvSpPr/>
          <p:nvPr/>
        </p:nvSpPr>
        <p:spPr>
          <a:xfrm>
            <a:off x="7132320" y="1691640"/>
            <a:ext cx="4510735" cy="1874520"/>
          </a:xfrm>
          <a:prstGeom prst="roundRect">
            <a:avLst>
              <a:gd name="adj" fmla="val 48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60920" y="1911096"/>
            <a:ext cx="4099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700" b="1" dirty="0">
                <a:solidFill>
                  <a:schemeClr val="tx1"/>
                </a:solidFill>
              </a:rPr>
              <a:t>나무 한 그루가 가진 것</a:t>
            </a:r>
            <a:endParaRPr lang="ko-KR" alt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7360920" y="2468880"/>
            <a:ext cx="405353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spcAft>
                <a:spcPts val="400"/>
              </a:spcAft>
              <a:buNone/>
            </a:pPr>
            <a:r>
              <a:rPr lang="ko-KR" altLang="en-US" sz="1400" dirty="0">
                <a:solidFill>
                  <a:schemeClr val="tx2"/>
                </a:solidFill>
              </a:rPr>
              <a:t>모양(메시), 나무껍질과 잎의 텍스처, 그리고 위치, 높이, 굵기, 색조.</a:t>
            </a:r>
            <a:endParaRPr lang="ko-KR" altLang="en-US" sz="1400" dirty="0"/>
          </a:p>
        </p:txBody>
      </p:sp>
      <p:sp>
        <p:nvSpPr>
          <p:cNvPr id="12" name="card"/>
          <p:cNvSpPr/>
          <p:nvPr/>
        </p:nvSpPr>
        <p:spPr>
          <a:xfrm>
            <a:off x="7132320" y="3749040"/>
            <a:ext cx="4510735" cy="1874520"/>
          </a:xfrm>
          <a:prstGeom prst="roundRect">
            <a:avLst>
              <a:gd name="adj" fmla="val 48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360920" y="3968496"/>
            <a:ext cx="4099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700" b="1" dirty="0">
                <a:solidFill>
                  <a:schemeClr val="tx1"/>
                </a:solidFill>
              </a:rPr>
              <a:t>C#으로 옮길 때</a:t>
            </a:r>
            <a:endParaRPr lang="ko-KR" alt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7360920" y="4526280"/>
            <a:ext cx="405353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spcAft>
                <a:spcPts val="400"/>
              </a:spcAft>
              <a:buNone/>
            </a:pPr>
            <a:r>
              <a:rPr lang="ko-KR" altLang="en-US" sz="1400" dirty="0">
                <a:solidFill>
                  <a:schemeClr val="tx2"/>
                </a:solidFill>
              </a:rPr>
              <a:t>클래스 타입 필드는 참조이다. 여기서는 나무마다 메시와 텍스처를 따로 불러와 가진 상황으로 본다.</a:t>
            </a:r>
            <a:endParaRPr lang="ko-KR" alt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 eaLnBrk="0">
              <a:defRPr sz="1000">
                <a:solidFill>
                  <a:schemeClr val="accent3"/>
                </a:solidFill>
              </a:defRPr>
            </a:lvl1pPr>
          </a:lstStyle>
          <a:p>
            <a:pPr algn="r" eaLnBrk="0"/>
            <a:fld id="{F7021451-1387-4CA6-816F-3879F97B5CBC}" type="slidenum">
              <a:rPr b="0" lang="ko-KR" altLang="en-US"/>
              <a:t>6</a:t>
            </a:fld>
            <a:endParaRPr lang="ko-KR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2918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300" b="1" dirty="0">
                <a:solidFill>
                  <a:schemeClr val="accent1"/>
                </a:solidFill>
              </a:rPr>
              <a:t>한계</a:t>
            </a:r>
            <a:endParaRPr lang="ko-KR" alt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 eaLnBrk="0">
              <a:buNone/>
            </a:pPr>
            <a:r>
              <a:rPr lang="ko-KR" altLang="en-US" sz="2600" b="1" dirty="0">
                <a:solidFill>
                  <a:schemeClr val="tx1"/>
                </a:solidFill>
              </a:rPr>
              <a:t>필드 대부분은 모든 나무에서 같은 값이다</a:t>
            </a:r>
            <a:endParaRPr lang="ko-KR" altLang="en-US" sz="2600" dirty="0"/>
          </a:p>
        </p:txBody>
      </p:sp>
      <p:sp>
        <p:nvSpPr>
          <p:cNvPr id="4" name="bridge"/>
          <p:cNvSpPr txBox="1"/>
          <p:nvPr/>
        </p:nvSpPr>
        <p:spPr>
          <a:xfrm>
            <a:off x="548640" y="587044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500" b="1" dirty="0">
                <a:solidFill>
                  <a:schemeClr val="accent1"/>
                </a:solidFill>
              </a:rPr>
              <a:t>다음 질문  </a:t>
            </a:r>
            <a:pPr indent="0" marL="0" eaLnBrk="0">
              <a:buNone/>
            </a:pPr>
            <a:r>
              <a:rPr lang="ko-KR" altLang="en-US" sz="1500" dirty="0">
                <a:solidFill>
                  <a:schemeClr val="tx2"/>
                </a:solidFill>
              </a:rPr>
              <a:t>같은 부분을 한곳에 모으면 어떨까?</a:t>
            </a:r>
            <a:endParaRPr lang="ko-KR" alt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4415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2240280"/>
                <a:gridCol w="2240280"/>
                <a:gridCol w="2240280"/>
                <a:gridCol w="1721815"/>
              </a:tblGrid>
              <a:tr h="457200"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400" b="1" dirty="0">
                          <a:solidFill>
                            <a:schemeClr val="bg1"/>
                          </a:solidFill>
                        </a:rPr>
                        <a:t>필드</a:t>
                      </a:r>
                      <a:endParaRPr lang="ko-KR" alt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400" b="1" dirty="0">
                          <a:solidFill>
                            <a:schemeClr val="bg1"/>
                          </a:solidFill>
                        </a:rPr>
                        <a:t>나무 A</a:t>
                      </a:r>
                      <a:endParaRPr lang="ko-KR" alt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400" b="1" dirty="0">
                          <a:solidFill>
                            <a:schemeClr val="bg1"/>
                          </a:solidFill>
                        </a:rPr>
                        <a:t>나무 B</a:t>
                      </a:r>
                      <a:endParaRPr lang="ko-KR" alt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400" b="1" dirty="0">
                          <a:solidFill>
                            <a:schemeClr val="bg1"/>
                          </a:solidFill>
                        </a:rPr>
                        <a:t>나무 C</a:t>
                      </a:r>
                      <a:endParaRPr lang="ko-KR" alt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400" b="1" dirty="0">
                          <a:solidFill>
                            <a:schemeClr val="bg1"/>
                          </a:solidFill>
                        </a:rPr>
                        <a:t>나무끼리</a:t>
                      </a:r>
                      <a:endParaRPr lang="ko-KR" alt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메시</a:t>
                      </a:r>
                      <a:endParaRPr lang="ko-KR" alt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400" dirty="0">
                          <a:solidFill>
                            <a:schemeClr val="tx2"/>
                          </a:solidFill>
                        </a:rPr>
                        <a:t>참나무 메시</a:t>
                      </a:r>
                      <a:endParaRPr lang="ko-KR" alt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400" dirty="0">
                          <a:solidFill>
                            <a:schemeClr val="tx2"/>
                          </a:solidFill>
                        </a:rPr>
                        <a:t>참나무 메시</a:t>
                      </a:r>
                      <a:endParaRPr lang="ko-KR" alt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400" dirty="0">
                          <a:solidFill>
                            <a:schemeClr val="tx2"/>
                          </a:solidFill>
                        </a:rPr>
                        <a:t>참나무 메시</a:t>
                      </a:r>
                      <a:endParaRPr lang="ko-KR" alt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400" dirty="0">
                          <a:solidFill>
                            <a:schemeClr val="tx2"/>
                          </a:solidFill>
                        </a:rPr>
                        <a:t>같다</a:t>
                      </a:r>
                      <a:endParaRPr lang="ko-KR" alt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나무껍질 텍스처</a:t>
                      </a:r>
                      <a:endParaRPr lang="ko-KR" alt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400" dirty="0">
                          <a:solidFill>
                            <a:schemeClr val="tx2"/>
                          </a:solidFill>
                        </a:rPr>
                        <a:t>참나무 껍질</a:t>
                      </a:r>
                      <a:endParaRPr lang="ko-KR" alt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400" dirty="0">
                          <a:solidFill>
                            <a:schemeClr val="tx2"/>
                          </a:solidFill>
                        </a:rPr>
                        <a:t>참나무 껍질</a:t>
                      </a:r>
                      <a:endParaRPr lang="ko-KR" alt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400" dirty="0">
                          <a:solidFill>
                            <a:schemeClr val="tx2"/>
                          </a:solidFill>
                        </a:rPr>
                        <a:t>참나무 껍질</a:t>
                      </a:r>
                      <a:endParaRPr lang="ko-KR" alt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400" dirty="0">
                          <a:solidFill>
                            <a:schemeClr val="tx2"/>
                          </a:solidFill>
                        </a:rPr>
                        <a:t>같다</a:t>
                      </a:r>
                      <a:endParaRPr lang="ko-KR" alt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잎 텍스처</a:t>
                      </a:r>
                      <a:endParaRPr lang="ko-KR" alt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400" dirty="0">
                          <a:solidFill>
                            <a:schemeClr val="tx2"/>
                          </a:solidFill>
                        </a:rPr>
                        <a:t>참나무 잎</a:t>
                      </a:r>
                      <a:endParaRPr lang="ko-KR" alt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400" dirty="0">
                          <a:solidFill>
                            <a:schemeClr val="tx2"/>
                          </a:solidFill>
                        </a:rPr>
                        <a:t>참나무 잎</a:t>
                      </a:r>
                      <a:endParaRPr lang="ko-KR" alt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400" dirty="0">
                          <a:solidFill>
                            <a:schemeClr val="tx2"/>
                          </a:solidFill>
                        </a:rPr>
                        <a:t>참나무 잎</a:t>
                      </a:r>
                      <a:endParaRPr lang="ko-KR" alt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400" dirty="0">
                          <a:solidFill>
                            <a:schemeClr val="tx2"/>
                          </a:solidFill>
                        </a:rPr>
                        <a:t>같다</a:t>
                      </a:r>
                      <a:endParaRPr lang="ko-KR" alt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위치</a:t>
                      </a:r>
                      <a:endParaRPr lang="ko-KR" alt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400" dirty="0">
                          <a:solidFill>
                            <a:schemeClr val="tx2"/>
                          </a:solidFill>
                        </a:rPr>
                        <a:t>(3, 7)</a:t>
                      </a:r>
                      <a:endParaRPr lang="ko-KR" alt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400" dirty="0">
                          <a:solidFill>
                            <a:schemeClr val="tx2"/>
                          </a:solidFill>
                        </a:rPr>
                        <a:t>(12, 4)</a:t>
                      </a:r>
                      <a:endParaRPr lang="ko-KR" alt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400" dirty="0">
                          <a:solidFill>
                            <a:schemeClr val="tx2"/>
                          </a:solidFill>
                        </a:rPr>
                        <a:t>(20, 9)</a:t>
                      </a:r>
                      <a:endParaRPr lang="ko-KR" alt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400" dirty="0">
                          <a:solidFill>
                            <a:schemeClr val="tx2"/>
                          </a:solidFill>
                        </a:rPr>
                        <a:t>다르다</a:t>
                      </a:r>
                      <a:endParaRPr lang="ko-KR" alt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높이 · 굵기</a:t>
                      </a:r>
                      <a:endParaRPr lang="ko-KR" alt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400" dirty="0">
                          <a:solidFill>
                            <a:schemeClr val="tx2"/>
                          </a:solidFill>
                        </a:rPr>
                        <a:t>8.0 · 0.6</a:t>
                      </a:r>
                      <a:endParaRPr lang="ko-KR" alt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400" dirty="0">
                          <a:solidFill>
                            <a:schemeClr val="tx2"/>
                          </a:solidFill>
                        </a:rPr>
                        <a:t>6.5 · 0.5</a:t>
                      </a:r>
                      <a:endParaRPr lang="ko-KR" alt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400" dirty="0">
                          <a:solidFill>
                            <a:schemeClr val="tx2"/>
                          </a:solidFill>
                        </a:rPr>
                        <a:t>9.2 · 0.7</a:t>
                      </a:r>
                      <a:endParaRPr lang="ko-KR" alt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400" dirty="0">
                          <a:solidFill>
                            <a:schemeClr val="tx2"/>
                          </a:solidFill>
                        </a:rPr>
                        <a:t>다르다</a:t>
                      </a:r>
                      <a:endParaRPr lang="ko-KR" alt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나무껍질 · 잎 색조</a:t>
                      </a:r>
                      <a:endParaRPr lang="ko-KR" alt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400" dirty="0">
                          <a:solidFill>
                            <a:schemeClr val="tx2"/>
                          </a:solidFill>
                        </a:rPr>
                        <a:t>조금 어둡게</a:t>
                      </a:r>
                      <a:endParaRPr lang="ko-KR" alt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400" dirty="0">
                          <a:solidFill>
                            <a:schemeClr val="tx2"/>
                          </a:solidFill>
                        </a:rPr>
                        <a:t>그대로</a:t>
                      </a:r>
                      <a:endParaRPr lang="ko-KR" alt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400" dirty="0">
                          <a:solidFill>
                            <a:schemeClr val="tx2"/>
                          </a:solidFill>
                        </a:rPr>
                        <a:t>조금 붉게</a:t>
                      </a:r>
                      <a:endParaRPr lang="ko-KR" alt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400" dirty="0">
                          <a:solidFill>
                            <a:schemeClr val="tx2"/>
                          </a:solidFill>
                        </a:rPr>
                        <a:t>다르다</a:t>
                      </a:r>
                      <a:endParaRPr lang="ko-KR" alt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2103120"/>
            <a:ext cx="11094415" cy="1371600"/>
          </a:xfrm>
          <a:prstGeom prst="rect">
            <a:avLst/>
          </a:prstGeom>
          <a:solidFill>
            <a:schemeClr val="accent1">
              <a:alpha val="12000"/>
            </a:schemeClr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548640" y="50292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500" dirty="0">
                <a:solidFill>
                  <a:schemeClr val="tx2"/>
                </a:solidFill>
              </a:rPr>
              <a:t>가장 큰 데이터인 메시와 텍스처가 나무 수만큼 메모리에 있고, 매 프레임 나무 수만큼 GPU로 간다.</a:t>
            </a:r>
            <a:endParaRPr lang="ko-KR" alt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 eaLnBrk="0">
              <a:defRPr sz="1000">
                <a:solidFill>
                  <a:schemeClr val="accent3"/>
                </a:solidFill>
              </a:defRPr>
            </a:lvl1pPr>
          </a:lstStyle>
          <a:p>
            <a:pPr algn="r" eaLnBrk="0"/>
            <a:fld id="{F7021451-1387-4CA6-816F-3879F97B5CBC}" type="slidenum">
              <a:rPr b="0" lang="ko-KR" altLang="en-US"/>
              <a:t>7</a:t>
            </a:fld>
            <a:endParaRPr lang="ko-KR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2918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300" b="1" dirty="0">
                <a:solidFill>
                  <a:schemeClr val="accent1"/>
                </a:solidFill>
              </a:rPr>
              <a:t>패턴 구조</a:t>
            </a:r>
            <a:endParaRPr lang="ko-KR" alt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 eaLnBrk="0">
              <a:buNone/>
            </a:pPr>
            <a:r>
              <a:rPr lang="ko-KR" altLang="en-US" sz="2600" b="1" dirty="0">
                <a:solidFill>
                  <a:schemeClr val="tx1"/>
                </a:solidFill>
              </a:rPr>
              <a:t>모든 나무가 같은 부분을 TreeModel로 떼어 낸다</a:t>
            </a:r>
            <a:endParaRPr lang="ko-KR" altLang="en-US" sz="2600" dirty="0"/>
          </a:p>
        </p:txBody>
      </p:sp>
      <p:sp>
        <p:nvSpPr>
          <p:cNvPr id="4" name="bridge"/>
          <p:cNvSpPr txBox="1"/>
          <p:nvPr/>
        </p:nvSpPr>
        <p:spPr>
          <a:xfrm>
            <a:off x="548640" y="587044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500" b="1" dirty="0">
                <a:solidFill>
                  <a:schemeClr val="accent1"/>
                </a:solidFill>
              </a:rPr>
              <a:t>다음 질문  </a:t>
            </a:r>
            <a:pPr indent="0" marL="0" eaLnBrk="0">
              <a:buNone/>
            </a:pPr>
            <a:r>
              <a:rPr lang="ko-KR" altLang="en-US" sz="1500" dirty="0">
                <a:solidFill>
                  <a:schemeClr val="tx2"/>
                </a:solidFill>
              </a:rPr>
              <a:t>나무가 1000그루라면 무엇이 얼마나 줄어들까?</a:t>
            </a:r>
            <a:endParaRPr lang="ko-KR" altLang="en-US" sz="1500" dirty="0"/>
          </a:p>
        </p:txBody>
      </p:sp>
      <p:sp>
        <p:nvSpPr>
          <p:cNvPr id="6" name="codePanel"/>
          <p:cNvSpPr/>
          <p:nvPr/>
        </p:nvSpPr>
        <p:spPr>
          <a:xfrm>
            <a:off x="548640" y="1645920"/>
            <a:ext cx="6309360" cy="4069080"/>
          </a:xfrm>
          <a:prstGeom prst="roundRect">
            <a:avLst>
              <a:gd name="adj" fmla="val 1798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7" name="code"/>
          <p:cNvSpPr txBox="1"/>
          <p:nvPr/>
        </p:nvSpPr>
        <p:spPr>
          <a:xfrm>
            <a:off x="658368" y="1737360"/>
            <a:ext cx="6089904" cy="3886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 eaLnBrk="0">
              <a:buNone/>
            </a:pPr>
            <a:r>
              <a:rPr lang="ko-KR" altLang="en-US" sz="13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TreeModel</a:t>
            </a:r>
            <a:endParaRPr lang="ko-KR" altLang="en-US" sz="1350" dirty="0"/>
          </a:p>
          <a:p>
            <a:pPr indent="0" marL="0" eaLnBrk="0">
              <a:buNone/>
            </a:pPr>
            <a:r>
              <a:rPr lang="ko-KR" altLang="en-US" sz="13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ko-KR" altLang="en-US" sz="1350" dirty="0"/>
          </a:p>
          <a:p>
            <a:pPr indent="0" marL="0" eaLnBrk="0">
              <a:buNone/>
            </a:pPr>
            <a:r>
              <a:rPr lang="ko-KR" altLang="en-US" sz="1350" b="1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Mesh _mesh;</a:t>
            </a:r>
            <a:endParaRPr lang="ko-KR" altLang="en-US" sz="1350" dirty="0"/>
          </a:p>
          <a:p>
            <a:pPr indent="0" marL="0" eaLnBrk="0">
              <a:buNone/>
            </a:pPr>
            <a:r>
              <a:rPr lang="ko-KR" altLang="en-US" sz="1350" b="1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Texture _bark;</a:t>
            </a:r>
            <a:endParaRPr lang="ko-KR" altLang="en-US" sz="1350" dirty="0"/>
          </a:p>
          <a:p>
            <a:pPr indent="0" marL="0" eaLnBrk="0">
              <a:buNone/>
            </a:pPr>
            <a:r>
              <a:rPr lang="ko-KR" altLang="en-US" sz="1350" b="1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Texture _leaves;</a:t>
            </a:r>
            <a:endParaRPr lang="ko-KR" altLang="en-US" sz="1350" dirty="0"/>
          </a:p>
          <a:p>
            <a:pPr indent="0" marL="0" eaLnBrk="0">
              <a:buNone/>
            </a:pPr>
            <a:r>
              <a:rPr lang="ko-KR" altLang="en-US" sz="13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ko-KR" altLang="en-US" sz="1350" dirty="0"/>
          </a:p>
          <a:p>
            <a:pPr indent="0" marL="0" eaLnBrk="0">
              <a:buNone/>
            </a:pPr>
            <a:r>
              <a:rPr lang="ko-KR" altLang="en-US" sz="13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ko-KR" altLang="en-US" sz="1350" dirty="0"/>
          </a:p>
          <a:p>
            <a:pPr indent="0" marL="0" eaLnBrk="0">
              <a:buNone/>
            </a:pPr>
            <a:r>
              <a:rPr lang="ko-KR" altLang="en-US" sz="13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Tree</a:t>
            </a:r>
            <a:endParaRPr lang="ko-KR" altLang="en-US" sz="1350" dirty="0"/>
          </a:p>
          <a:p>
            <a:pPr indent="0" marL="0" eaLnBrk="0">
              <a:buNone/>
            </a:pPr>
            <a:r>
              <a:rPr lang="ko-KR" altLang="en-US" sz="13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ko-KR" altLang="en-US" sz="1350" dirty="0"/>
          </a:p>
          <a:p>
            <a:pPr indent="0" marL="0" eaLnBrk="0">
              <a:buNone/>
            </a:pPr>
            <a:r>
              <a:rPr lang="ko-KR" altLang="en-US" sz="1350" b="1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TreeModel _model;   // 공유하는 모델을 가리킨다</a:t>
            </a:r>
            <a:endParaRPr lang="ko-KR" altLang="en-US" sz="1350" dirty="0"/>
          </a:p>
          <a:p>
            <a:pPr indent="0" marL="0" eaLnBrk="0">
              <a:buNone/>
            </a:pPr>
            <a:r>
              <a:rPr lang="ko-KR" altLang="en-US" sz="13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ko-KR" altLang="en-US" sz="1350" dirty="0"/>
          </a:p>
          <a:p>
            <a:pPr indent="0" marL="0" eaLnBrk="0">
              <a:buNone/>
            </a:pPr>
            <a:r>
              <a:rPr lang="ko-KR" altLang="en-US" sz="13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Vector3 _position;</a:t>
            </a:r>
            <a:endParaRPr lang="ko-KR" altLang="en-US" sz="1350" dirty="0"/>
          </a:p>
          <a:p>
            <a:pPr indent="0" marL="0" eaLnBrk="0">
              <a:buNone/>
            </a:pPr>
            <a:r>
              <a:rPr lang="ko-KR" altLang="en-US" sz="13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double _height;</a:t>
            </a:r>
            <a:endParaRPr lang="ko-KR" altLang="en-US" sz="1350" dirty="0"/>
          </a:p>
          <a:p>
            <a:pPr indent="0" marL="0" eaLnBrk="0">
              <a:buNone/>
            </a:pPr>
            <a:r>
              <a:rPr lang="ko-KR" altLang="en-US" sz="13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double _thickness;</a:t>
            </a:r>
            <a:endParaRPr lang="ko-KR" altLang="en-US" sz="1350" dirty="0"/>
          </a:p>
          <a:p>
            <a:pPr indent="0" marL="0" eaLnBrk="0">
              <a:buNone/>
            </a:pPr>
            <a:r>
              <a:rPr lang="ko-KR" altLang="en-US" sz="13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Color _barkTint;</a:t>
            </a:r>
            <a:endParaRPr lang="ko-KR" altLang="en-US" sz="1350" dirty="0"/>
          </a:p>
          <a:p>
            <a:pPr indent="0" marL="0" eaLnBrk="0">
              <a:buNone/>
            </a:pPr>
            <a:r>
              <a:rPr lang="ko-KR" altLang="en-US" sz="13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Color _leafTint;</a:t>
            </a:r>
            <a:endParaRPr lang="ko-KR" altLang="en-US" sz="1350" dirty="0"/>
          </a:p>
          <a:p>
            <a:pPr indent="0" marL="0" eaLnBrk="0">
              <a:buNone/>
            </a:pPr>
            <a:r>
              <a:rPr lang="ko-KR" altLang="en-US" sz="13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ko-KR" altLang="en-US" sz="1350" dirty="0"/>
          </a:p>
        </p:txBody>
      </p:sp>
      <p:sp>
        <p:nvSpPr>
          <p:cNvPr id="8" name="codeCaption"/>
          <p:cNvSpPr txBox="1"/>
          <p:nvPr/>
        </p:nvSpPr>
        <p:spPr>
          <a:xfrm>
            <a:off x="3749040" y="1737360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 eaLnBrk="0">
              <a:buNone/>
            </a:pPr>
            <a:r>
              <a:rPr lang="ko-KR" altLang="en-US" sz="1000" dirty="0">
                <a:solidFill>
                  <a:schemeClr val="accent3"/>
                </a:solidFill>
              </a:rPr>
              <a:t>원서 예제를 C#으로 옮긴 코드</a:t>
            </a:r>
            <a:endParaRPr lang="ko-KR" altLang="en-US" sz="1000" dirty="0"/>
          </a:p>
        </p:txBody>
      </p:sp>
      <p:sp>
        <p:nvSpPr>
          <p:cNvPr id="9" name="box"/>
          <p:cNvSpPr/>
          <p:nvPr/>
        </p:nvSpPr>
        <p:spPr>
          <a:xfrm>
            <a:off x="7223760" y="1691640"/>
            <a:ext cx="1828800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223760" y="1691640"/>
            <a:ext cx="182880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 eaLnBrk="0">
              <a:buNone/>
            </a:pPr>
            <a:r>
              <a:rPr lang="ko-KR" altLang="en-US" sz="1200" b="1" dirty="0">
                <a:solidFill>
                  <a:schemeClr val="tx1"/>
                </a:solidFill>
              </a:rPr>
              <a:t>Tree A</a:t>
            </a:r>
            <a:endParaRPr lang="ko-KR" altLang="en-US" sz="1200" dirty="0"/>
          </a:p>
          <a:p>
            <a:pPr algn="ctr" indent="0" marL="0" eaLnBrk="0">
              <a:buNone/>
            </a:pPr>
            <a:r>
              <a:rPr lang="ko-KR" altLang="en-US" sz="1200" b="1" dirty="0">
                <a:solidFill>
                  <a:schemeClr val="tx1"/>
                </a:solidFill>
              </a:rPr>
              <a:t>위치·크기·색조</a:t>
            </a:r>
            <a:endParaRPr lang="ko-KR" alt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9098280" y="2029968"/>
            <a:ext cx="640080" cy="868680"/>
          </a:xfrm>
          <a:prstGeom prst="line">
            <a:avLst/>
          </a:prstGeom>
          <a:noFill/>
          <a:ln w="2222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2" name="box"/>
          <p:cNvSpPr/>
          <p:nvPr/>
        </p:nvSpPr>
        <p:spPr>
          <a:xfrm>
            <a:off x="7223760" y="2560320"/>
            <a:ext cx="1828800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223760" y="2560320"/>
            <a:ext cx="182880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 eaLnBrk="0">
              <a:buNone/>
            </a:pPr>
            <a:r>
              <a:rPr lang="ko-KR" altLang="en-US" sz="1200" b="1" dirty="0">
                <a:solidFill>
                  <a:schemeClr val="tx1"/>
                </a:solidFill>
              </a:rPr>
              <a:t>Tree B</a:t>
            </a:r>
            <a:endParaRPr lang="ko-KR" altLang="en-US" sz="1200" dirty="0"/>
          </a:p>
          <a:p>
            <a:pPr algn="ctr" indent="0" marL="0" eaLnBrk="0">
              <a:buNone/>
            </a:pPr>
            <a:r>
              <a:rPr lang="ko-KR" altLang="en-US" sz="1200" b="1" dirty="0">
                <a:solidFill>
                  <a:schemeClr val="tx1"/>
                </a:solidFill>
              </a:rPr>
              <a:t>위치·크기·색조</a:t>
            </a:r>
            <a:endParaRPr lang="ko-KR" alt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9098280" y="2898648"/>
            <a:ext cx="640080" cy="914"/>
          </a:xfrm>
          <a:prstGeom prst="line">
            <a:avLst/>
          </a:prstGeom>
          <a:noFill/>
          <a:ln w="2222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5" name="box"/>
          <p:cNvSpPr/>
          <p:nvPr/>
        </p:nvSpPr>
        <p:spPr>
          <a:xfrm>
            <a:off x="7223760" y="3429000"/>
            <a:ext cx="1828800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223760" y="3429000"/>
            <a:ext cx="182880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 eaLnBrk="0">
              <a:buNone/>
            </a:pPr>
            <a:r>
              <a:rPr lang="ko-KR" altLang="en-US" sz="1200" b="1" dirty="0">
                <a:solidFill>
                  <a:schemeClr val="tx1"/>
                </a:solidFill>
              </a:rPr>
              <a:t>Tree C</a:t>
            </a:r>
            <a:endParaRPr lang="ko-KR" altLang="en-US" sz="1200" dirty="0"/>
          </a:p>
          <a:p>
            <a:pPr algn="ctr" indent="0" marL="0" eaLnBrk="0">
              <a:buNone/>
            </a:pPr>
            <a:r>
              <a:rPr lang="ko-KR" altLang="en-US" sz="1200" b="1" dirty="0">
                <a:solidFill>
                  <a:schemeClr val="tx1"/>
                </a:solidFill>
              </a:rPr>
              <a:t>위치·크기·색조</a:t>
            </a:r>
            <a:endParaRPr lang="ko-KR" altLang="en-US" sz="1200" dirty="0"/>
          </a:p>
        </p:txBody>
      </p:sp>
      <p:sp>
        <p:nvSpPr>
          <p:cNvPr id="17" name="Shape 14"/>
          <p:cNvSpPr/>
          <p:nvPr/>
        </p:nvSpPr>
        <p:spPr>
          <a:xfrm flipV="1">
            <a:off x="9098280" y="2898648"/>
            <a:ext cx="640080" cy="868680"/>
          </a:xfrm>
          <a:prstGeom prst="line">
            <a:avLst/>
          </a:prstGeom>
          <a:noFill/>
          <a:ln w="2222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8" name="box"/>
          <p:cNvSpPr/>
          <p:nvPr/>
        </p:nvSpPr>
        <p:spPr>
          <a:xfrm>
            <a:off x="9784080" y="2377440"/>
            <a:ext cx="1858975" cy="1051560"/>
          </a:xfrm>
          <a:prstGeom prst="roundRect">
            <a:avLst>
              <a:gd name="adj" fmla="val 695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784080" y="2377440"/>
            <a:ext cx="1858975" cy="1051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 eaLnBrk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TreeModel</a:t>
            </a:r>
            <a:endParaRPr lang="ko-KR" altLang="en-US" sz="1400" dirty="0"/>
          </a:p>
          <a:p>
            <a:pPr algn="ctr" indent="0" marL="0" eaLnBrk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메시·텍스처</a:t>
            </a:r>
            <a:endParaRPr lang="ko-KR" altLang="en-US" sz="1400" dirty="0"/>
          </a:p>
        </p:txBody>
      </p:sp>
      <p:sp>
        <p:nvSpPr>
          <p:cNvPr id="20" name="card"/>
          <p:cNvSpPr/>
          <p:nvPr/>
        </p:nvSpPr>
        <p:spPr>
          <a:xfrm>
            <a:off x="7223760" y="4343400"/>
            <a:ext cx="4419295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452360" y="4562856"/>
            <a:ext cx="40078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700" b="1" dirty="0">
                <a:solidFill>
                  <a:schemeClr val="tx1"/>
                </a:solidFill>
              </a:rPr>
              <a:t>나무마다 남는 것</a:t>
            </a:r>
            <a:endParaRPr lang="ko-KR" altLang="en-US" sz="1700" dirty="0"/>
          </a:p>
        </p:txBody>
      </p:sp>
      <p:sp>
        <p:nvSpPr>
          <p:cNvPr id="22" name="Text 19"/>
          <p:cNvSpPr txBox="1"/>
          <p:nvPr/>
        </p:nvSpPr>
        <p:spPr>
          <a:xfrm>
            <a:off x="7452360" y="5120640"/>
            <a:ext cx="3962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spcAft>
                <a:spcPts val="400"/>
              </a:spcAft>
              <a:buNone/>
            </a:pPr>
            <a:r>
              <a:rPr lang="ko-KR" altLang="en-US" sz="1400" dirty="0">
                <a:solidFill>
                  <a:schemeClr val="tx2"/>
                </a:solidFill>
              </a:rPr>
              <a:t>모델 참조 하나와 위치, 높이, 굵기, 색조.</a:t>
            </a:r>
            <a:endParaRPr lang="ko-KR" alt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 eaLnBrk="0">
              <a:defRPr sz="1000">
                <a:solidFill>
                  <a:schemeClr val="accent3"/>
                </a:solidFill>
              </a:defRPr>
            </a:lvl1pPr>
          </a:lstStyle>
          <a:p>
            <a:pPr algn="r" eaLnBrk="0"/>
            <a:fld id="{F7021451-1387-4CA6-816F-3879F97B5CBC}" type="slidenum">
              <a:rPr b="0" lang="ko-KR" altLang="en-US"/>
              <a:t>8</a:t>
            </a:fld>
            <a:endParaRPr lang="ko-KR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2918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300" b="1" dirty="0">
                <a:solidFill>
                  <a:schemeClr val="accent1"/>
                </a:solidFill>
              </a:rPr>
              <a:t>추적</a:t>
            </a:r>
            <a:endParaRPr lang="ko-KR" alt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 eaLnBrk="0">
              <a:buNone/>
            </a:pPr>
            <a:r>
              <a:rPr lang="ko-KR" altLang="en-US" sz="2600" b="1" dirty="0">
                <a:solidFill>
                  <a:schemeClr val="tx1"/>
                </a:solidFill>
              </a:rPr>
              <a:t>나무 1000그루로 세어 본다</a:t>
            </a:r>
            <a:endParaRPr lang="ko-KR" altLang="en-US" sz="2600" dirty="0"/>
          </a:p>
        </p:txBody>
      </p:sp>
      <p:sp>
        <p:nvSpPr>
          <p:cNvPr id="4" name="bridge"/>
          <p:cNvSpPr txBox="1"/>
          <p:nvPr/>
        </p:nvSpPr>
        <p:spPr>
          <a:xfrm>
            <a:off x="548640" y="587044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500" b="1" dirty="0">
                <a:solidFill>
                  <a:schemeClr val="accent1"/>
                </a:solidFill>
              </a:rPr>
              <a:t>다음 질문  </a:t>
            </a:r>
            <a:pPr indent="0" marL="0" eaLnBrk="0">
              <a:buNone/>
            </a:pPr>
            <a:r>
              <a:rPr lang="ko-KR" altLang="en-US" sz="1500" dirty="0">
                <a:solidFill>
                  <a:schemeClr val="tx2"/>
                </a:solidFill>
              </a:rPr>
              <a:t>공유 모델을 한 번만 보낼 수 있다면, 그리는 쪽은 어떻게 될까?</a:t>
            </a:r>
            <a:endParaRPr lang="ko-KR" altLang="en-US" sz="15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4415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737360"/>
                <a:gridCol w="1737360"/>
                <a:gridCol w="4510735"/>
              </a:tblGrid>
              <a:tr h="502920"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500" b="1" dirty="0">
                          <a:solidFill>
                            <a:schemeClr val="bg1"/>
                          </a:solidFill>
                        </a:rPr>
                        <a:t>데이터</a:t>
                      </a:r>
                      <a:endParaRPr lang="ko-KR" altLang="en-US" sz="15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500" b="1" dirty="0">
                          <a:solidFill>
                            <a:schemeClr val="bg1"/>
                          </a:solidFill>
                        </a:rPr>
                        <a:t>첫 시도</a:t>
                      </a:r>
                      <a:endParaRPr lang="ko-KR" altLang="en-US" sz="15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500" b="1" dirty="0">
                          <a:solidFill>
                            <a:schemeClr val="bg1"/>
                          </a:solidFill>
                        </a:rPr>
                        <a:t>경량 패턴</a:t>
                      </a:r>
                      <a:endParaRPr lang="ko-KR" altLang="en-US" sz="15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500" b="1" dirty="0">
                          <a:solidFill>
                            <a:schemeClr val="bg1"/>
                          </a:solidFill>
                        </a:rPr>
                        <a:t>설명</a:t>
                      </a:r>
                      <a:endParaRPr lang="ko-KR" altLang="en-US" sz="15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500" b="1" dirty="0">
                          <a:solidFill>
                            <a:schemeClr val="tx1"/>
                          </a:solidFill>
                        </a:rPr>
                        <a:t>메시</a:t>
                      </a:r>
                      <a:endParaRPr lang="ko-KR" altLang="en-US" sz="15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500" dirty="0">
                          <a:solidFill>
                            <a:schemeClr val="tx2"/>
                          </a:solidFill>
                        </a:rPr>
                        <a:t>1000벌</a:t>
                      </a:r>
                      <a:endParaRPr lang="ko-KR" altLang="en-US" sz="15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500" dirty="0">
                          <a:solidFill>
                            <a:schemeClr val="tx2"/>
                          </a:solidFill>
                        </a:rPr>
                        <a:t>1벌</a:t>
                      </a:r>
                      <a:endParaRPr lang="ko-KR" altLang="en-US" sz="15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500" dirty="0">
                          <a:solidFill>
                            <a:schemeClr val="tx2"/>
                          </a:solidFill>
                        </a:rPr>
                        <a:t>TreeModel 하나에만 있다</a:t>
                      </a:r>
                      <a:endParaRPr lang="ko-KR" altLang="en-US" sz="15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500" b="1" dirty="0">
                          <a:solidFill>
                            <a:schemeClr val="tx1"/>
                          </a:solidFill>
                        </a:rPr>
                        <a:t>나무껍질 · 잎 텍스처</a:t>
                      </a:r>
                      <a:endParaRPr lang="ko-KR" altLang="en-US" sz="15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500" dirty="0">
                          <a:solidFill>
                            <a:schemeClr val="tx2"/>
                          </a:solidFill>
                        </a:rPr>
                        <a:t>각 1000벌</a:t>
                      </a:r>
                      <a:endParaRPr lang="ko-KR" altLang="en-US" sz="15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500" dirty="0">
                          <a:solidFill>
                            <a:schemeClr val="tx2"/>
                          </a:solidFill>
                        </a:rPr>
                        <a:t>각 1벌</a:t>
                      </a:r>
                      <a:endParaRPr lang="ko-KR" altLang="en-US" sz="15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500" dirty="0">
                          <a:solidFill>
                            <a:schemeClr val="tx2"/>
                          </a:solidFill>
                        </a:rPr>
                        <a:t>TreeModel 하나에만 있다</a:t>
                      </a:r>
                      <a:endParaRPr lang="ko-KR" altLang="en-US" sz="15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500" b="1" dirty="0">
                          <a:solidFill>
                            <a:schemeClr val="tx1"/>
                          </a:solidFill>
                        </a:rPr>
                        <a:t>위치 · 높이 · 굵기 · 색조</a:t>
                      </a:r>
                      <a:endParaRPr lang="ko-KR" altLang="en-US" sz="15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500" dirty="0">
                          <a:solidFill>
                            <a:schemeClr val="tx2"/>
                          </a:solidFill>
                        </a:rPr>
                        <a:t>1000벌</a:t>
                      </a:r>
                      <a:endParaRPr lang="ko-KR" altLang="en-US" sz="15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500" dirty="0">
                          <a:solidFill>
                            <a:schemeClr val="tx2"/>
                          </a:solidFill>
                        </a:rPr>
                        <a:t>1000벌</a:t>
                      </a:r>
                      <a:endParaRPr lang="ko-KR" altLang="en-US" sz="15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500" dirty="0">
                          <a:solidFill>
                            <a:schemeClr val="tx2"/>
                          </a:solidFill>
                        </a:rPr>
                        <a:t>나무마다 다르므로 그대로 남는다</a:t>
                      </a:r>
                      <a:endParaRPr lang="ko-KR" altLang="en-US" sz="15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500" b="1" dirty="0">
                          <a:solidFill>
                            <a:schemeClr val="tx1"/>
                          </a:solidFill>
                        </a:rPr>
                        <a:t>모델을 가리키는 참조</a:t>
                      </a:r>
                      <a:endParaRPr lang="ko-KR" altLang="en-US" sz="15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500" dirty="0">
                          <a:solidFill>
                            <a:schemeClr val="tx2"/>
                          </a:solidFill>
                        </a:rPr>
                        <a:t>없음</a:t>
                      </a:r>
                      <a:endParaRPr lang="ko-KR" altLang="en-US" sz="15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500" dirty="0">
                          <a:solidFill>
                            <a:schemeClr val="tx2"/>
                          </a:solidFill>
                        </a:rPr>
                        <a:t>1000개</a:t>
                      </a:r>
                      <a:endParaRPr lang="ko-KR" altLang="en-US" sz="15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500" dirty="0">
                          <a:solidFill>
                            <a:schemeClr val="tx2"/>
                          </a:solidFill>
                        </a:rPr>
                        <a:t>Tree마다 _model 하나</a:t>
                      </a:r>
                      <a:endParaRPr lang="ko-KR" altLang="en-US" sz="15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7" name="card"/>
          <p:cNvSpPr/>
          <p:nvPr/>
        </p:nvSpPr>
        <p:spPr>
          <a:xfrm>
            <a:off x="548640" y="4343400"/>
            <a:ext cx="11094415" cy="1325880"/>
          </a:xfrm>
          <a:prstGeom prst="roundRect">
            <a:avLst>
              <a:gd name="adj" fmla="val 689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77240" y="4562856"/>
            <a:ext cx="106829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700" b="1" dirty="0">
                <a:solidFill>
                  <a:schemeClr val="accent4"/>
                </a:solidFill>
              </a:rPr>
              <a:t>줄어드는 것은 가장 큰 데이터다</a:t>
            </a:r>
            <a:endParaRPr lang="ko-KR" altLang="en-US" sz="170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5120640"/>
            <a:ext cx="106372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buNone/>
            </a:pPr>
            <a:r>
              <a:rPr lang="ko-KR" altLang="en-US" sz="1400" dirty="0">
                <a:solidFill>
                  <a:schemeClr val="bg1"/>
                </a:solidFill>
              </a:rPr>
              <a:t>메시와 텍스처는 나무 한 그루의 데이터 가운데 가장 크다. 나무마다 다른 작은 값과 참조 하나만 나무 수만큼 남는다.</a:t>
            </a:r>
            <a:endParaRPr lang="ko-KR" alt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 eaLnBrk="0">
              <a:defRPr sz="1000">
                <a:solidFill>
                  <a:schemeClr val="accent3"/>
                </a:solidFill>
              </a:defRPr>
            </a:lvl1pPr>
          </a:lstStyle>
          <a:p>
            <a:pPr algn="r" eaLnBrk="0"/>
            <a:fld id="{F7021451-1387-4CA6-816F-3879F97B5CBC}" type="slidenum">
              <a:rPr b="0" lang="ko-KR" altLang="en-US"/>
              <a:t>9</a:t>
            </a:fld>
            <a:endParaRPr lang="ko-KR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t"/>
          <p:cNvSpPr txBox="1"/>
          <p:nvPr/>
        </p:nvSpPr>
        <p:spPr>
          <a:xfrm>
            <a:off x="548640" y="21488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600" b="1" dirty="0">
                <a:solidFill>
                  <a:schemeClr val="accent1"/>
                </a:solidFill>
              </a:rPr>
              <a:t>2부</a:t>
            </a:r>
            <a:endParaRPr lang="ko-KR" alt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651760"/>
            <a:ext cx="1109441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 eaLnBrk="0">
              <a:buNone/>
            </a:pPr>
            <a:r>
              <a:rPr lang="ko-KR" altLang="en-US" sz="3600" b="1" dirty="0">
                <a:solidFill>
                  <a:schemeClr val="bg1"/>
                </a:solidFill>
              </a:rPr>
              <a:t>수천 그루를 한 번에 그리기</a:t>
            </a:r>
            <a:endParaRPr lang="ko-KR" altLang="en-US" sz="36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379476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>
              <a:buNone/>
            </a:pPr>
            <a:r>
              <a:rPr lang="ko-KR" altLang="en-US" sz="1800" dirty="0">
                <a:solidFill>
                  <a:schemeClr val="accent3"/>
                </a:solidFill>
              </a:rPr>
              <a:t>원서: 인스턴스 천 개</a:t>
            </a:r>
            <a:endParaRPr lang="ko-KR" alt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 eaLnBrk="0">
              <a:defRPr sz="1000">
                <a:solidFill>
                  <a:schemeClr val="accent3"/>
                </a:solidFill>
              </a:defRPr>
            </a:lvl1pPr>
          </a:lstStyle>
          <a:p>
            <a:pPr algn="r" eaLnBrk="0"/>
            <a:fld id="{F7021451-1387-4CA6-816F-3879F97B5CBC}" type="slidenum">
              <a:rPr b="0" lang="ko-KR" altLang="en-US"/>
              <a:t>10</a:t>
            </a:fld>
            <a:endParaRPr lang="ko-KR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2918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300" b="1" dirty="0">
                <a:solidFill>
                  <a:schemeClr val="accent1"/>
                </a:solidFill>
              </a:rPr>
              <a:t>인스턴스 렌더링</a:t>
            </a:r>
            <a:endParaRPr lang="ko-KR" alt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 eaLnBrk="0">
              <a:buNone/>
            </a:pPr>
            <a:r>
              <a:rPr lang="ko-KR" altLang="en-US" sz="2600" b="1" dirty="0">
                <a:solidFill>
                  <a:schemeClr val="tx1"/>
                </a:solidFill>
              </a:rPr>
              <a:t>공유 데이터는 한 번, 나무마다 다른 값은 목록으로 보낸다</a:t>
            </a:r>
            <a:endParaRPr lang="ko-KR" altLang="en-US" sz="2600" dirty="0"/>
          </a:p>
        </p:txBody>
      </p:sp>
      <p:sp>
        <p:nvSpPr>
          <p:cNvPr id="4" name="bridge"/>
          <p:cNvSpPr txBox="1"/>
          <p:nvPr/>
        </p:nvSpPr>
        <p:spPr>
          <a:xfrm>
            <a:off x="548640" y="587044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500" b="1" dirty="0">
                <a:solidFill>
                  <a:schemeClr val="accent1"/>
                </a:solidFill>
              </a:rPr>
              <a:t>다음 질문  </a:t>
            </a:r>
            <a:pPr indent="0" marL="0" eaLnBrk="0">
              <a:buNone/>
            </a:pPr>
            <a:r>
              <a:rPr lang="ko-KR" altLang="en-US" sz="1500" dirty="0">
                <a:solidFill>
                  <a:schemeClr val="tx2"/>
                </a:solidFill>
              </a:rPr>
              <a:t>이 방식은 실제로 누가 지원할까?</a:t>
            </a:r>
            <a:endParaRPr lang="ko-KR" altLang="en-US" sz="1500" dirty="0"/>
          </a:p>
        </p:txBody>
      </p:sp>
      <p:sp>
        <p:nvSpPr>
          <p:cNvPr id="6" name="box"/>
          <p:cNvSpPr/>
          <p:nvPr/>
        </p:nvSpPr>
        <p:spPr>
          <a:xfrm>
            <a:off x="548640" y="1783080"/>
            <a:ext cx="3657600" cy="960120"/>
          </a:xfrm>
          <a:prstGeom prst="roundRect">
            <a:avLst>
              <a:gd name="adj" fmla="val 761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1783080"/>
            <a:ext cx="3657600" cy="960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 eaLnBrk="0">
              <a:buNone/>
            </a:pPr>
            <a:r>
              <a:rPr lang="ko-KR" altLang="en-US" sz="1500" b="1" dirty="0">
                <a:solidFill>
                  <a:schemeClr val="bg1"/>
                </a:solidFill>
              </a:rPr>
              <a:t>공유 데이터</a:t>
            </a:r>
            <a:endParaRPr lang="ko-KR" altLang="en-US" sz="1500" dirty="0"/>
          </a:p>
          <a:p>
            <a:pPr algn="ctr" indent="0" marL="0" eaLnBrk="0">
              <a:buNone/>
            </a:pPr>
            <a:r>
              <a:rPr lang="ko-KR" altLang="en-US" sz="1500" b="1" dirty="0">
                <a:solidFill>
                  <a:schemeClr val="bg1"/>
                </a:solidFill>
              </a:rPr>
              <a:t>메시 · 텍스처</a:t>
            </a:r>
            <a:endParaRPr lang="ko-KR" alt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3063240"/>
            <a:ext cx="365760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31546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인스턴스 데이터 목록</a:t>
            </a:r>
            <a:endParaRPr lang="ko-KR" alt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36118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300" dirty="0">
                <a:solidFill>
                  <a:schemeClr val="tx2"/>
                </a:solidFill>
              </a:rPr>
              <a:t>나무 1: 위치 · 크기 · 색조</a:t>
            </a:r>
            <a:endParaRPr lang="ko-KR" alt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404164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300" dirty="0">
                <a:solidFill>
                  <a:schemeClr val="tx2"/>
                </a:solidFill>
              </a:rPr>
              <a:t>나무 2: 위치 · 크기 · 색조</a:t>
            </a:r>
            <a:endParaRPr lang="ko-KR" alt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447141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300" dirty="0">
                <a:solidFill>
                  <a:schemeClr val="tx2"/>
                </a:solidFill>
              </a:rPr>
              <a:t>나무 3: 위치 · 크기 · 색조</a:t>
            </a:r>
            <a:endParaRPr lang="ko-KR" alt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777240" y="490118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300" dirty="0">
                <a:solidFill>
                  <a:schemeClr val="accent5"/>
                </a:solidFill>
              </a:rPr>
              <a:t>…  나무 수만큼</a:t>
            </a:r>
            <a:endParaRPr lang="ko-KR" altLang="en-US" sz="1300" dirty="0"/>
          </a:p>
        </p:txBody>
      </p:sp>
      <p:sp>
        <p:nvSpPr>
          <p:cNvPr id="14" name="box"/>
          <p:cNvSpPr/>
          <p:nvPr/>
        </p:nvSpPr>
        <p:spPr>
          <a:xfrm>
            <a:off x="7589520" y="2514600"/>
            <a:ext cx="4053535" cy="1737360"/>
          </a:xfrm>
          <a:prstGeom prst="roundRect">
            <a:avLst>
              <a:gd name="adj" fmla="val 4211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589520" y="2514600"/>
            <a:ext cx="4053535" cy="1737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 eaLnBrk="0">
              <a:buNone/>
            </a:pPr>
            <a:r>
              <a:rPr lang="ko-KR" altLang="en-US" sz="1600" b="1" dirty="0">
                <a:solidFill>
                  <a:schemeClr val="bg1"/>
                </a:solidFill>
              </a:rPr>
              <a:t>GPU</a:t>
            </a:r>
            <a:endParaRPr lang="ko-KR" altLang="en-US" sz="1600" dirty="0"/>
          </a:p>
          <a:p>
            <a:pPr algn="ctr" indent="0" marL="0" eaLnBrk="0">
              <a:buNone/>
            </a:pPr>
            <a:r>
              <a:rPr lang="ko-KR" altLang="en-US" sz="1600" b="1" dirty="0">
                <a:solidFill>
                  <a:schemeClr val="bg1"/>
                </a:solidFill>
              </a:rPr>
              <a:t>모델 하나로</a:t>
            </a:r>
            <a:endParaRPr lang="ko-KR" altLang="en-US" sz="1600" dirty="0"/>
          </a:p>
          <a:p>
            <a:pPr algn="ctr" indent="0" marL="0" eaLnBrk="0">
              <a:buNone/>
            </a:pPr>
            <a:r>
              <a:rPr lang="ko-KR" altLang="en-US" sz="1600" b="1" dirty="0">
                <a:solidFill>
                  <a:schemeClr val="bg1"/>
                </a:solidFill>
              </a:rPr>
              <a:t>목록의 나무를 모두 그린다</a:t>
            </a:r>
            <a:endParaRPr lang="ko-KR" alt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4297680" y="2267712"/>
            <a:ext cx="3200400" cy="749808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 flipV="1">
            <a:off x="4297680" y="3749040"/>
            <a:ext cx="3200400" cy="502920"/>
          </a:xfrm>
          <a:prstGeom prst="line">
            <a:avLst/>
          </a:prstGeom>
          <a:noFill/>
          <a:ln w="317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8" name="Text 15"/>
          <p:cNvSpPr txBox="1"/>
          <p:nvPr/>
        </p:nvSpPr>
        <p:spPr>
          <a:xfrm>
            <a:off x="4572000" y="2057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 eaLnBrk="0">
              <a:buNone/>
            </a:pPr>
            <a:r>
              <a:rPr lang="ko-KR" altLang="en-US" sz="1400" b="1" dirty="0">
                <a:solidFill>
                  <a:schemeClr val="accent1"/>
                </a:solidFill>
              </a:rPr>
              <a:t>한 번 보낸다</a:t>
            </a:r>
            <a:endParaRPr lang="ko-KR" alt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4572000" y="42062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 eaLnBrk="0">
              <a:buNone/>
            </a:pPr>
            <a:r>
              <a:rPr lang="ko-KR" altLang="en-US" sz="1400" b="1" dirty="0">
                <a:solidFill>
                  <a:schemeClr val="accent5"/>
                </a:solidFill>
              </a:rPr>
              <a:t>나무마다 작은 값</a:t>
            </a:r>
            <a:endParaRPr lang="ko-KR" alt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7589520" y="4434840"/>
            <a:ext cx="4053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buNone/>
            </a:pPr>
            <a:r>
              <a:rPr lang="ko-KR" altLang="en-US" sz="1400" dirty="0">
                <a:solidFill>
                  <a:schemeClr val="tx2"/>
                </a:solidFill>
              </a:rPr>
              <a:t>그리기 요청도 나무마다 하지 않고 한 번만 한다.</a:t>
            </a:r>
            <a:endParaRPr lang="ko-KR" alt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 eaLnBrk="0">
              <a:defRPr sz="1000">
                <a:solidFill>
                  <a:schemeClr val="accent3"/>
                </a:solidFill>
              </a:defRPr>
            </a:lvl1pPr>
          </a:lstStyle>
          <a:p>
            <a:pPr algn="r" eaLnBrk="0"/>
            <a:fld id="{F7021451-1387-4CA6-816F-3879F97B5CBC}" type="slidenum">
              <a:rPr b="0" lang="ko-KR" altLang="en-US"/>
              <a:t>11</a:t>
            </a:fld>
            <a:endParaRPr lang="ko-KR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2918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300" b="1" dirty="0">
                <a:solidFill>
                  <a:schemeClr val="accent1"/>
                </a:solidFill>
              </a:rPr>
              <a:t>하드웨어 지원</a:t>
            </a:r>
            <a:endParaRPr lang="ko-KR" alt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 eaLnBrk="0">
              <a:buNone/>
            </a:pPr>
            <a:r>
              <a:rPr lang="ko-KR" altLang="en-US" sz="2600" b="1" dirty="0">
                <a:solidFill>
                  <a:schemeClr val="tx1"/>
                </a:solidFill>
              </a:rPr>
              <a:t>그래픽 API가 이 나눔을 직접 지원한다</a:t>
            </a:r>
            <a:endParaRPr lang="ko-KR" altLang="en-US" sz="2600" dirty="0"/>
          </a:p>
        </p:txBody>
      </p:sp>
      <p:sp>
        <p:nvSpPr>
          <p:cNvPr id="4" name="bridge"/>
          <p:cNvSpPr txBox="1"/>
          <p:nvPr/>
        </p:nvSpPr>
        <p:spPr>
          <a:xfrm>
            <a:off x="548640" y="587044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500" b="1" dirty="0">
                <a:solidFill>
                  <a:schemeClr val="accent1"/>
                </a:solidFill>
              </a:rPr>
              <a:t>다음 질문  </a:t>
            </a:r>
            <a:pPr indent="0" marL="0" eaLnBrk="0">
              <a:buNone/>
            </a:pPr>
            <a:r>
              <a:rPr lang="ko-KR" altLang="en-US" sz="1500" dirty="0">
                <a:solidFill>
                  <a:schemeClr val="tx2"/>
                </a:solidFill>
              </a:rPr>
              <a:t>공유하는 데이터와 인스턴스마다 다른 데이터를 일반적으로 무엇이라 부를까?</a:t>
            </a:r>
            <a:endParaRPr lang="ko-KR" altLang="en-US" sz="15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4415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572000"/>
                <a:gridCol w="2194560"/>
                <a:gridCol w="2133295"/>
              </a:tblGrid>
              <a:tr h="457200"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500" b="1" dirty="0">
                          <a:solidFill>
                            <a:schemeClr val="bg1"/>
                          </a:solidFill>
                        </a:rPr>
                        <a:t>묶음</a:t>
                      </a:r>
                      <a:endParaRPr lang="ko-KR" altLang="en-US" sz="15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500" b="1" dirty="0">
                          <a:solidFill>
                            <a:schemeClr val="bg1"/>
                          </a:solidFill>
                        </a:rPr>
                        <a:t>내용</a:t>
                      </a:r>
                      <a:endParaRPr lang="ko-KR" altLang="en-US" sz="15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500" b="1" dirty="0">
                          <a:solidFill>
                            <a:schemeClr val="bg1"/>
                          </a:solidFill>
                        </a:rPr>
                        <a:t>1부의 클래스</a:t>
                      </a:r>
                      <a:endParaRPr lang="ko-KR" altLang="en-US" sz="15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500" b="1" dirty="0">
                          <a:solidFill>
                            <a:schemeClr val="bg1"/>
                          </a:solidFill>
                        </a:rPr>
                        <a:t>보내는 횟수</a:t>
                      </a:r>
                      <a:endParaRPr lang="ko-KR" altLang="en-US" sz="15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500" b="1" dirty="0">
                          <a:solidFill>
                            <a:schemeClr val="tx1"/>
                          </a:solidFill>
                        </a:rPr>
                        <a:t>공유 데이터</a:t>
                      </a:r>
                      <a:endParaRPr lang="ko-KR" altLang="en-US" sz="15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500" dirty="0">
                          <a:solidFill>
                            <a:schemeClr val="tx2"/>
                          </a:solidFill>
                        </a:rPr>
                        <a:t>메시, 나무껍질 텍스처, 잎 텍스처</a:t>
                      </a:r>
                      <a:endParaRPr lang="ko-KR" altLang="en-US" sz="15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500" dirty="0">
                          <a:solidFill>
                            <a:schemeClr val="tx2"/>
                          </a:solidFill>
                        </a:rPr>
                        <a:t>TreeModel</a:t>
                      </a:r>
                      <a:endParaRPr lang="ko-KR" altLang="en-US" sz="15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500" dirty="0">
                          <a:solidFill>
                            <a:schemeClr val="tx2"/>
                          </a:solidFill>
                        </a:rPr>
                        <a:t>한 번</a:t>
                      </a:r>
                      <a:endParaRPr lang="ko-KR" altLang="en-US" sz="15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500" b="1" dirty="0">
                          <a:solidFill>
                            <a:schemeClr val="tx1"/>
                          </a:solidFill>
                        </a:rPr>
                        <a:t>인스턴스 데이터</a:t>
                      </a:r>
                      <a:endParaRPr lang="ko-KR" altLang="en-US" sz="15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500" dirty="0">
                          <a:solidFill>
                            <a:schemeClr val="tx2"/>
                          </a:solidFill>
                        </a:rPr>
                        <a:t>위치, 높이, 굵기, 나무껍질 색조, 잎 색조</a:t>
                      </a:r>
                      <a:endParaRPr lang="ko-KR" altLang="en-US" sz="15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500" dirty="0">
                          <a:solidFill>
                            <a:schemeClr val="tx2"/>
                          </a:solidFill>
                        </a:rPr>
                        <a:t>Tree</a:t>
                      </a:r>
                      <a:endParaRPr lang="ko-KR" altLang="en-US" sz="15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500" dirty="0">
                          <a:solidFill>
                            <a:schemeClr val="tx2"/>
                          </a:solidFill>
                        </a:rPr>
                        <a:t>나무마다 한 벌</a:t>
                      </a:r>
                      <a:endParaRPr lang="ko-KR" altLang="en-US" sz="15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7" name="card"/>
          <p:cNvSpPr/>
          <p:nvPr/>
        </p:nvSpPr>
        <p:spPr>
          <a:xfrm>
            <a:off x="548640" y="3611880"/>
            <a:ext cx="5349240" cy="205740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77240" y="3831336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700" b="1" dirty="0">
                <a:solidFill>
                  <a:schemeClr val="tx1"/>
                </a:solidFill>
              </a:rPr>
              <a:t>그래픽 API의 기능</a:t>
            </a:r>
            <a:endParaRPr lang="ko-KR" altLang="en-US" sz="170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4389120"/>
            <a:ext cx="4892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spcAft>
                <a:spcPts val="400"/>
              </a:spcAft>
              <a:buNone/>
            </a:pPr>
            <a:r>
              <a:rPr lang="ko-KR" altLang="en-US" sz="1400" dirty="0">
                <a:solidFill>
                  <a:schemeClr val="tx2"/>
                </a:solidFill>
              </a:rPr>
              <a:t>Direct3D와 OpenGL은 인스턴스 렌더링을 제공한다. 공유 데이터와 인스턴스 목록을 받아 한 번에 그린다.</a:t>
            </a:r>
            <a:endParaRPr lang="ko-KR" altLang="en-US" sz="1400" dirty="0"/>
          </a:p>
        </p:txBody>
      </p:sp>
      <p:sp>
        <p:nvSpPr>
          <p:cNvPr id="10" name="card"/>
          <p:cNvSpPr/>
          <p:nvPr/>
        </p:nvSpPr>
        <p:spPr>
          <a:xfrm>
            <a:off x="6263640" y="3611880"/>
            <a:ext cx="5379415" cy="2057400"/>
          </a:xfrm>
          <a:prstGeom prst="roundRect">
            <a:avLst>
              <a:gd name="adj" fmla="val 444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492240" y="3831336"/>
            <a:ext cx="49679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700" b="1" dirty="0">
                <a:solidFill>
                  <a:schemeClr val="accent4"/>
                </a:solidFill>
              </a:rPr>
              <a:t>하드웨어가 지원하는 패턴</a:t>
            </a:r>
            <a:endParaRPr lang="ko-KR" alt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6492240" y="4389120"/>
            <a:ext cx="49222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buNone/>
            </a:pPr>
            <a:r>
              <a:rPr lang="ko-KR" altLang="en-US" sz="1400" dirty="0">
                <a:solidFill>
                  <a:schemeClr val="bg1"/>
                </a:solidFill>
              </a:rPr>
              <a:t>원서는 경량 패턴이 GoF 패턴 가운데 하드웨어가 직접 지원하는 거의 유일한 패턴일 것이라고 말한다.</a:t>
            </a:r>
            <a:endParaRPr lang="ko-KR" alt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 eaLnBrk="0">
              <a:defRPr sz="1000">
                <a:solidFill>
                  <a:schemeClr val="accent3"/>
                </a:solidFill>
              </a:defRPr>
            </a:lvl1pPr>
          </a:lstStyle>
          <a:p>
            <a:pPr algn="r" eaLnBrk="0"/>
            <a:fld id="{F7021451-1387-4CA6-816F-3879F97B5CBC}" type="slidenum">
              <a:rPr b="0" lang="ko-KR" altLang="en-US"/>
              <a:t>12</a:t>
            </a:fld>
            <a:endParaRPr lang="ko-KR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t"/>
          <p:cNvSpPr txBox="1"/>
          <p:nvPr/>
        </p:nvSpPr>
        <p:spPr>
          <a:xfrm>
            <a:off x="548640" y="21488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600" b="1" dirty="0">
                <a:solidFill>
                  <a:schemeClr val="accent1"/>
                </a:solidFill>
              </a:rPr>
              <a:t>3부</a:t>
            </a:r>
            <a:endParaRPr lang="ko-KR" alt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651760"/>
            <a:ext cx="1109441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 eaLnBrk="0">
              <a:buNone/>
            </a:pPr>
            <a:r>
              <a:rPr lang="ko-KR" altLang="en-US" sz="3600" b="1" dirty="0">
                <a:solidFill>
                  <a:schemeClr val="bg1"/>
                </a:solidFill>
              </a:rPr>
              <a:t>고유 상태와 외부 상태</a:t>
            </a:r>
            <a:endParaRPr lang="ko-KR" altLang="en-US" sz="36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379476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>
              <a:buNone/>
            </a:pPr>
            <a:r>
              <a:rPr lang="ko-KR" altLang="en-US" sz="1800" dirty="0">
                <a:solidFill>
                  <a:schemeClr val="accent3"/>
                </a:solidFill>
              </a:rPr>
              <a:t>원서: 경량 패턴</a:t>
            </a:r>
            <a:endParaRPr lang="ko-KR" alt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 eaLnBrk="0">
              <a:defRPr sz="1000">
                <a:solidFill>
                  <a:schemeClr val="accent3"/>
                </a:solidFill>
              </a:defRPr>
            </a:lvl1pPr>
          </a:lstStyle>
          <a:p>
            <a:pPr algn="r" eaLnBrk="0"/>
            <a:fld id="{F7021451-1387-4CA6-816F-3879F97B5CBC}" type="slidenum">
              <a:rPr b="0" lang="ko-KR" altLang="en-US"/>
              <a:t>13</a:t>
            </a:fld>
            <a:endParaRPr lang="ko-KR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2918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300" b="1" dirty="0">
                <a:solidFill>
                  <a:schemeClr val="accent1"/>
                </a:solidFill>
              </a:rPr>
              <a:t>두 종류의 상태</a:t>
            </a:r>
            <a:endParaRPr lang="ko-KR" alt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 eaLnBrk="0">
              <a:buNone/>
            </a:pPr>
            <a:r>
              <a:rPr lang="ko-KR" altLang="en-US" sz="2600" b="1" dirty="0">
                <a:solidFill>
                  <a:schemeClr val="tx1"/>
                </a:solidFill>
              </a:rPr>
              <a:t>객체의 데이터를 고유 상태와 외부 상태로 나눈다</a:t>
            </a:r>
            <a:endParaRPr lang="ko-KR" altLang="en-US" sz="2600" dirty="0"/>
          </a:p>
        </p:txBody>
      </p:sp>
      <p:sp>
        <p:nvSpPr>
          <p:cNvPr id="4" name="bridge"/>
          <p:cNvSpPr txBox="1"/>
          <p:nvPr/>
        </p:nvSpPr>
        <p:spPr>
          <a:xfrm>
            <a:off x="548640" y="587044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500" b="1" dirty="0">
                <a:solidFill>
                  <a:schemeClr val="accent1"/>
                </a:solidFill>
              </a:rPr>
              <a:t>다음 질문  </a:t>
            </a:r>
            <a:pPr indent="0" marL="0" eaLnBrk="0">
              <a:buNone/>
            </a:pPr>
            <a:r>
              <a:rPr lang="ko-KR" altLang="en-US" sz="1500" dirty="0">
                <a:solidFill>
                  <a:schemeClr val="tx2"/>
                </a:solidFill>
              </a:rPr>
              <a:t>나무의 필드를 이 기준으로 나눠 보자.</a:t>
            </a:r>
            <a:endParaRPr lang="ko-KR" alt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5349240" cy="274320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18288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buNone/>
            </a:pPr>
            <a:r>
              <a:rPr lang="ko-KR" altLang="en-US" sz="2100" b="1" dirty="0">
                <a:solidFill>
                  <a:schemeClr val="accent1"/>
                </a:solidFill>
              </a:rPr>
              <a:t>고유 상태</a:t>
            </a:r>
            <a:endParaRPr lang="ko-KR" altLang="en-US" sz="21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2860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buNone/>
            </a:pPr>
            <a:r>
              <a:rPr lang="ko-KR" altLang="en-US" sz="1300" dirty="0">
                <a:solidFill>
                  <a:schemeClr val="accent5"/>
                </a:solidFill>
              </a:rPr>
              <a:t>문맥과 상관없는 상태</a:t>
            </a:r>
            <a:endParaRPr lang="ko-KR" alt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74320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buNone/>
            </a:pPr>
            <a:r>
              <a:rPr lang="ko-KR" altLang="en-US" sz="1500" dirty="0">
                <a:solidFill>
                  <a:schemeClr val="tx2"/>
                </a:solidFill>
              </a:rPr>
              <a:t>어느 인스턴스에서 쓰든 같은 값이다. 하나만 두고 모두가 공유한다.</a:t>
            </a:r>
            <a:endParaRPr lang="ko-KR" alt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37947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예: 메시, 텍스처</a:t>
            </a:r>
            <a:endParaRPr lang="ko-KR" alt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263640" y="1691640"/>
            <a:ext cx="5349240" cy="274320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537960" y="18288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buNone/>
            </a:pPr>
            <a:r>
              <a:rPr lang="ko-KR" altLang="en-US" sz="2100" b="1" dirty="0">
                <a:solidFill>
                  <a:schemeClr val="accent2"/>
                </a:solidFill>
              </a:rPr>
              <a:t>외부 상태</a:t>
            </a:r>
            <a:endParaRPr lang="ko-KR" altLang="en-US" sz="2100" dirty="0"/>
          </a:p>
        </p:txBody>
      </p:sp>
      <p:sp>
        <p:nvSpPr>
          <p:cNvPr id="13" name="Text 10"/>
          <p:cNvSpPr txBox="1"/>
          <p:nvPr/>
        </p:nvSpPr>
        <p:spPr>
          <a:xfrm>
            <a:off x="6537960" y="22860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buNone/>
            </a:pPr>
            <a:r>
              <a:rPr lang="ko-KR" altLang="en-US" sz="1300" dirty="0">
                <a:solidFill>
                  <a:schemeClr val="accent5"/>
                </a:solidFill>
              </a:rPr>
              <a:t>인스턴스마다 다른 상태</a:t>
            </a:r>
            <a:endParaRPr lang="ko-KR" alt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6537960" y="274320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buNone/>
            </a:pPr>
            <a:r>
              <a:rPr lang="ko-KR" altLang="en-US" sz="1500" dirty="0">
                <a:solidFill>
                  <a:schemeClr val="tx2"/>
                </a:solidFill>
              </a:rPr>
              <a:t>인스턴스마다 다른 값이다. 공유하지 않고 인스턴스마다 따로 가진다.</a:t>
            </a:r>
            <a:endParaRPr lang="ko-KR" alt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6537960" y="37947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예: 위치, 높이, 굵기, 색조</a:t>
            </a:r>
            <a:endParaRPr lang="ko-KR" altLang="en-US" sz="1500" dirty="0"/>
          </a:p>
        </p:txBody>
      </p:sp>
      <p:sp>
        <p:nvSpPr>
          <p:cNvPr id="16" name="box"/>
          <p:cNvSpPr/>
          <p:nvPr/>
        </p:nvSpPr>
        <p:spPr>
          <a:xfrm>
            <a:off x="548640" y="4663440"/>
            <a:ext cx="11094415" cy="1005840"/>
          </a:xfrm>
          <a:prstGeom prst="roundRect">
            <a:avLst>
              <a:gd name="adj" fmla="val 727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48640" y="4663440"/>
            <a:ext cx="11094415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 eaLnBrk="0">
              <a:buNone/>
            </a:pPr>
            <a:r>
              <a:rPr lang="ko-KR" altLang="en-US" sz="1700" dirty="0">
                <a:solidFill>
                  <a:schemeClr val="bg1"/>
                </a:solidFill>
              </a:rPr>
              <a:t>경량 객체 = 고유 상태만 가진 공유 객체. 외부 상태는 경량 객체 밖에 둔다.</a:t>
            </a:r>
            <a:endParaRPr lang="ko-KR" alt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 eaLnBrk="0">
              <a:defRPr sz="1000">
                <a:solidFill>
                  <a:schemeClr val="accent3"/>
                </a:solidFill>
              </a:defRPr>
            </a:lvl1pPr>
          </a:lstStyle>
          <a:p>
            <a:pPr algn="r" eaLnBrk="0"/>
            <a:fld id="{F7021451-1387-4CA6-816F-3879F97B5CBC}" type="slidenum">
              <a:rPr b="0" lang="ko-KR" altLang="en-US"/>
              <a:t>14</a:t>
            </a:fld>
            <a:endParaRPr lang="ko-KR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2918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300" b="1" dirty="0">
                <a:solidFill>
                  <a:schemeClr val="accent1"/>
                </a:solidFill>
              </a:rPr>
              <a:t>분류</a:t>
            </a:r>
            <a:endParaRPr lang="ko-KR" alt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 eaLnBrk="0">
              <a:buNone/>
            </a:pPr>
            <a:r>
              <a:rPr lang="ko-KR" altLang="en-US" sz="2600" b="1" dirty="0">
                <a:solidFill>
                  <a:schemeClr val="tx1"/>
                </a:solidFill>
              </a:rPr>
              <a:t>나무의 필드를 고유 상태와 외부 상태로 나눈다</a:t>
            </a:r>
            <a:endParaRPr lang="ko-KR" altLang="en-US" sz="2600" dirty="0"/>
          </a:p>
        </p:txBody>
      </p:sp>
      <p:sp>
        <p:nvSpPr>
          <p:cNvPr id="4" name="bridge"/>
          <p:cNvSpPr txBox="1"/>
          <p:nvPr/>
        </p:nvSpPr>
        <p:spPr>
          <a:xfrm>
            <a:off x="548640" y="587044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500" b="1" dirty="0">
                <a:solidFill>
                  <a:schemeClr val="accent1"/>
                </a:solidFill>
              </a:rPr>
              <a:t>다음 질문  </a:t>
            </a:r>
            <a:pPr indent="0" marL="0" eaLnBrk="0">
              <a:buNone/>
            </a:pPr>
            <a:r>
              <a:rPr lang="ko-KR" altLang="en-US" sz="1500" dirty="0">
                <a:solidFill>
                  <a:schemeClr val="tx2"/>
                </a:solidFill>
              </a:rPr>
              <a:t>공유하는 객체가 눈에 보이는 ‘물건’이 아닐 때도 이렇게 나눌 수 있을까?</a:t>
            </a:r>
            <a:endParaRPr lang="ko-KR" altLang="en-US" sz="15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4415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645920"/>
                <a:gridCol w="6156655"/>
              </a:tblGrid>
              <a:tr h="438912"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400" b="1" dirty="0">
                          <a:solidFill>
                            <a:schemeClr val="bg1"/>
                          </a:solidFill>
                        </a:rPr>
                        <a:t>필드</a:t>
                      </a:r>
                      <a:endParaRPr lang="ko-KR" alt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400" b="1" dirty="0">
                          <a:solidFill>
                            <a:schemeClr val="bg1"/>
                          </a:solidFill>
                        </a:rPr>
                        <a:t>구분</a:t>
                      </a:r>
                      <a:endParaRPr lang="ko-KR" alt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400" b="1" dirty="0">
                          <a:solidFill>
                            <a:schemeClr val="bg1"/>
                          </a:solidFill>
                        </a:rPr>
                        <a:t>이유</a:t>
                      </a:r>
                      <a:endParaRPr lang="ko-KR" alt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메시</a:t>
                      </a:r>
                      <a:endParaRPr lang="ko-KR" alt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400" dirty="0">
                          <a:solidFill>
                            <a:schemeClr val="tx2"/>
                          </a:solidFill>
                        </a:rPr>
                        <a:t>고유 상태</a:t>
                      </a:r>
                      <a:endParaRPr lang="ko-KR" alt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400" dirty="0">
                          <a:solidFill>
                            <a:schemeClr val="tx2"/>
                          </a:solidFill>
                        </a:rPr>
                        <a:t>같은 종류의 나무는 모양이 같다.</a:t>
                      </a:r>
                      <a:endParaRPr lang="ko-KR" alt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나무껍질 텍스처, 잎 텍스처</a:t>
                      </a:r>
                      <a:endParaRPr lang="ko-KR" alt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400" dirty="0">
                          <a:solidFill>
                            <a:schemeClr val="tx2"/>
                          </a:solidFill>
                        </a:rPr>
                        <a:t>고유 상태</a:t>
                      </a:r>
                      <a:endParaRPr lang="ko-KR" alt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400" dirty="0">
                          <a:solidFill>
                            <a:schemeClr val="tx2"/>
                          </a:solidFill>
                        </a:rPr>
                        <a:t>같은 종류의 나무는 겉모습의 그림이 같다.</a:t>
                      </a:r>
                      <a:endParaRPr lang="ko-KR" alt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위치</a:t>
                      </a:r>
                      <a:endParaRPr lang="ko-KR" alt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400" dirty="0">
                          <a:solidFill>
                            <a:schemeClr val="tx2"/>
                          </a:solidFill>
                        </a:rPr>
                        <a:t>외부 상태</a:t>
                      </a:r>
                      <a:endParaRPr lang="ko-KR" alt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400" dirty="0">
                          <a:solidFill>
                            <a:schemeClr val="tx2"/>
                          </a:solidFill>
                        </a:rPr>
                        <a:t>나무마다 서 있는 곳이 다르다.</a:t>
                      </a:r>
                      <a:endParaRPr lang="ko-KR" alt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높이, 굵기</a:t>
                      </a:r>
                      <a:endParaRPr lang="ko-KR" alt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400" dirty="0">
                          <a:solidFill>
                            <a:schemeClr val="tx2"/>
                          </a:solidFill>
                        </a:rPr>
                        <a:t>외부 상태</a:t>
                      </a:r>
                      <a:endParaRPr lang="ko-KR" alt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400" dirty="0">
                          <a:solidFill>
                            <a:schemeClr val="tx2"/>
                          </a:solidFill>
                        </a:rPr>
                        <a:t>같은 모양을 다른 크기로 그려 나무마다 달라 보이게 한다.</a:t>
                      </a:r>
                      <a:endParaRPr lang="ko-KR" alt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나무껍질 색조, 잎 색조</a:t>
                      </a:r>
                      <a:endParaRPr lang="ko-KR" alt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400" dirty="0">
                          <a:solidFill>
                            <a:schemeClr val="tx2"/>
                          </a:solidFill>
                        </a:rPr>
                        <a:t>외부 상태</a:t>
                      </a:r>
                      <a:endParaRPr lang="ko-KR" alt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400" dirty="0">
                          <a:solidFill>
                            <a:schemeClr val="tx2"/>
                          </a:solidFill>
                        </a:rPr>
                        <a:t>색을 조금씩 바꿔 숲이 단조로워 보이지 않게 한다.</a:t>
                      </a:r>
                      <a:endParaRPr lang="ko-KR" alt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7" name="card"/>
          <p:cNvSpPr/>
          <p:nvPr/>
        </p:nvSpPr>
        <p:spPr>
          <a:xfrm>
            <a:off x="548640" y="4617720"/>
            <a:ext cx="11094415" cy="1097280"/>
          </a:xfrm>
          <a:prstGeom prst="roundRect">
            <a:avLst>
              <a:gd name="adj" fmla="val 833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77240" y="4837176"/>
            <a:ext cx="106829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700" b="1" dirty="0">
                <a:solidFill>
                  <a:schemeClr val="accent4"/>
                </a:solidFill>
              </a:rPr>
              <a:t>판단 질문</a:t>
            </a:r>
            <a:endParaRPr lang="ko-KR" altLang="en-US" sz="170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5394960"/>
            <a:ext cx="1063721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buNone/>
            </a:pPr>
            <a:r>
              <a:rPr lang="ko-KR" altLang="en-US" sz="1400" dirty="0">
                <a:solidFill>
                  <a:schemeClr val="bg1"/>
                </a:solidFill>
              </a:rPr>
              <a:t>이 값이 인스턴스가 놓인 자리나 그 인스턴스 하나에 따라 달라지는가? 달라지면 외부 상태, 아니면 고유 상태.</a:t>
            </a:r>
            <a:endParaRPr lang="ko-KR" alt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 eaLnBrk="0">
              <a:defRPr sz="1000">
                <a:solidFill>
                  <a:schemeClr val="accent3"/>
                </a:solidFill>
              </a:defRPr>
            </a:lvl1pPr>
          </a:lstStyle>
          <a:p>
            <a:pPr algn="r" eaLnBrk="0"/>
            <a:fld id="{F7021451-1387-4CA6-816F-3879F97B5CBC}" type="slidenum">
              <a:rPr b="0" lang="ko-KR" altLang="en-US"/>
              <a:t>15</a:t>
            </a:fld>
            <a:endParaRPr lang="ko-KR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2918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300" b="1" dirty="0">
                <a:solidFill>
                  <a:schemeClr val="accent1"/>
                </a:solidFill>
              </a:rPr>
              <a:t>미묘한 경우</a:t>
            </a:r>
            <a:endParaRPr lang="ko-KR" alt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 eaLnBrk="0">
              <a:buNone/>
            </a:pPr>
            <a:r>
              <a:rPr lang="ko-KR" altLang="en-US" sz="2600" b="1" dirty="0">
                <a:solidFill>
                  <a:schemeClr val="tx1"/>
                </a:solidFill>
              </a:rPr>
              <a:t>공유 객체가 뚜렷한 물건이 아니면 패턴이 덜 드러난다</a:t>
            </a:r>
            <a:endParaRPr lang="ko-KR" altLang="en-US" sz="2600" dirty="0"/>
          </a:p>
        </p:txBody>
      </p:sp>
      <p:sp>
        <p:nvSpPr>
          <p:cNvPr id="4" name="bridge"/>
          <p:cNvSpPr txBox="1"/>
          <p:nvPr/>
        </p:nvSpPr>
        <p:spPr>
          <a:xfrm>
            <a:off x="548640" y="587044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500" b="1" dirty="0">
                <a:solidFill>
                  <a:schemeClr val="accent1"/>
                </a:solidFill>
              </a:rPr>
              <a:t>다음 질문  </a:t>
            </a:r>
            <a:pPr indent="0" marL="0" eaLnBrk="0">
              <a:buNone/>
            </a:pPr>
            <a:r>
              <a:rPr lang="ko-KR" altLang="en-US" sz="1500" dirty="0">
                <a:solidFill>
                  <a:schemeClr val="tx2"/>
                </a:solidFill>
              </a:rPr>
              <a:t>타일로 된 지형에서는 이 생각이 어떻게 쓰일까?</a:t>
            </a:r>
            <a:endParaRPr lang="ko-KR" altLang="en-US" sz="1500" dirty="0"/>
          </a:p>
        </p:txBody>
      </p:sp>
      <p:sp>
        <p:nvSpPr>
          <p:cNvPr id="6" name="card"/>
          <p:cNvSpPr/>
          <p:nvPr/>
        </p:nvSpPr>
        <p:spPr>
          <a:xfrm>
            <a:off x="548640" y="1691640"/>
            <a:ext cx="5349240" cy="2194560"/>
          </a:xfrm>
          <a:prstGeom prst="roundRect">
            <a:avLst>
              <a:gd name="adj" fmla="val 41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77240" y="189280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18928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>
              <a:buNone/>
            </a:pPr>
            <a:r>
              <a:rPr lang="ko-KR" altLang="en-US" sz="1500" b="1" dirty="0">
                <a:solidFill>
                  <a:schemeClr val="bg1"/>
                </a:solidFill>
              </a:rPr>
              <a:t>1</a:t>
            </a:r>
            <a:endParaRPr lang="ko-KR" alt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325880" y="1911096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700" b="1" dirty="0">
                <a:solidFill>
                  <a:schemeClr val="tx1"/>
                </a:solidFill>
              </a:rPr>
              <a:t>나무: 쉬운 경우</a:t>
            </a:r>
            <a:endParaRPr lang="ko-KR" alt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1325880" y="2331720"/>
            <a:ext cx="4389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buNone/>
            </a:pPr>
            <a:r>
              <a:rPr lang="ko-KR" altLang="en-US" sz="1500" dirty="0">
                <a:solidFill>
                  <a:schemeClr val="tx2"/>
                </a:solidFill>
              </a:rPr>
              <a:t>TreeModel이라는 공유 대상이 눈에 보인다. 자원 하나를 여러 나무가 나눠 쓰는 것으로 이해된다.</a:t>
            </a:r>
            <a:endParaRPr lang="ko-KR" altLang="en-US" sz="1500" dirty="0"/>
          </a:p>
        </p:txBody>
      </p:sp>
      <p:sp>
        <p:nvSpPr>
          <p:cNvPr id="11" name="card"/>
          <p:cNvSpPr/>
          <p:nvPr/>
        </p:nvSpPr>
        <p:spPr>
          <a:xfrm>
            <a:off x="6263640" y="1691640"/>
            <a:ext cx="5379415" cy="2194560"/>
          </a:xfrm>
          <a:prstGeom prst="roundRect">
            <a:avLst>
              <a:gd name="adj" fmla="val 41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492240" y="189280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92240" y="18928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>
              <a:buNone/>
            </a:pPr>
            <a:r>
              <a:rPr lang="ko-KR" altLang="en-US" sz="1500" b="1" dirty="0">
                <a:solidFill>
                  <a:schemeClr val="bg1"/>
                </a:solidFill>
              </a:rPr>
              <a:t>2</a:t>
            </a:r>
            <a:endParaRPr lang="ko-KR" alt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7040880" y="1911096"/>
            <a:ext cx="4419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700" b="1" dirty="0">
                <a:solidFill>
                  <a:schemeClr val="tx1"/>
                </a:solidFill>
              </a:rPr>
              <a:t>지형: 미묘한 경우</a:t>
            </a:r>
            <a:endParaRPr lang="ko-KR" alt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7040880" y="2331720"/>
            <a:ext cx="44192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buNone/>
            </a:pPr>
            <a:r>
              <a:rPr lang="ko-KR" altLang="en-US" sz="1500" dirty="0">
                <a:solidFill>
                  <a:schemeClr val="tx2"/>
                </a:solidFill>
              </a:rPr>
              <a:t>‘풀밭’이라는 객체는 하나인데, 지도 위 수많은 칸에 동시에 있는 것처럼 쓰인다.</a:t>
            </a:r>
            <a:endParaRPr lang="ko-KR" altLang="en-US" sz="1500" dirty="0"/>
          </a:p>
        </p:txBody>
      </p:sp>
      <p:sp>
        <p:nvSpPr>
          <p:cNvPr id="16" name="card"/>
          <p:cNvSpPr/>
          <p:nvPr/>
        </p:nvSpPr>
        <p:spPr>
          <a:xfrm>
            <a:off x="548640" y="4114800"/>
            <a:ext cx="11094415" cy="1554480"/>
          </a:xfrm>
          <a:prstGeom prst="roundRect">
            <a:avLst>
              <a:gd name="adj" fmla="val 588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77240" y="4334256"/>
            <a:ext cx="106829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700" b="1" dirty="0">
                <a:solidFill>
                  <a:schemeClr val="accent4"/>
                </a:solidFill>
              </a:rPr>
              <a:t>다음 예제에서 볼 것</a:t>
            </a:r>
            <a:endParaRPr lang="ko-KR" alt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777240" y="4892040"/>
            <a:ext cx="106372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buNone/>
            </a:pPr>
            <a:r>
              <a:rPr lang="ko-KR" altLang="en-US" sz="1400" dirty="0">
                <a:solidFill>
                  <a:schemeClr val="bg1"/>
                </a:solidFill>
              </a:rPr>
              <a:t>공유 객체가 따로 떨어진 자원이 아니라 ‘종류’ 자체처럼 보이는 경우에도, 고유 상태와 외부 상태로 나누는 생각은 그대로 쓰인다.</a:t>
            </a:r>
            <a:endParaRPr lang="ko-KR" alt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 eaLnBrk="0">
              <a:defRPr sz="1000">
                <a:solidFill>
                  <a:schemeClr val="accent3"/>
                </a:solidFill>
              </a:defRPr>
            </a:lvl1pPr>
          </a:lstStyle>
          <a:p>
            <a:pPr algn="r" eaLnBrk="0"/>
            <a:fld id="{F7021451-1387-4CA6-816F-3879F97B5CBC}" type="slidenum">
              <a:rPr b="0" lang="ko-KR" altLang="en-US"/>
              <a:t>16</a:t>
            </a:fld>
            <a:endParaRPr lang="ko-KR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t"/>
          <p:cNvSpPr txBox="1"/>
          <p:nvPr/>
        </p:nvSpPr>
        <p:spPr>
          <a:xfrm>
            <a:off x="548640" y="21488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600" b="1" dirty="0">
                <a:solidFill>
                  <a:schemeClr val="accent1"/>
                </a:solidFill>
              </a:rPr>
              <a:t>4부</a:t>
            </a:r>
            <a:endParaRPr lang="ko-KR" alt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651760"/>
            <a:ext cx="1109441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 eaLnBrk="0">
              <a:buNone/>
            </a:pPr>
            <a:r>
              <a:rPr lang="ko-KR" altLang="en-US" sz="3600" b="1" dirty="0">
                <a:solidFill>
                  <a:schemeClr val="bg1"/>
                </a:solidFill>
              </a:rPr>
              <a:t>지형 타일</a:t>
            </a:r>
            <a:endParaRPr lang="ko-KR" altLang="en-US" sz="36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379476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>
              <a:buNone/>
            </a:pPr>
            <a:r>
              <a:rPr lang="ko-KR" altLang="en-US" sz="1800" dirty="0">
                <a:solidFill>
                  <a:schemeClr val="accent3"/>
                </a:solidFill>
              </a:rPr>
              <a:t>원서: 뿌리내릴 곳</a:t>
            </a:r>
            <a:endParaRPr lang="ko-KR" alt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 eaLnBrk="0">
              <a:defRPr sz="1000">
                <a:solidFill>
                  <a:schemeClr val="accent3"/>
                </a:solidFill>
              </a:defRPr>
            </a:lvl1pPr>
          </a:lstStyle>
          <a:p>
            <a:pPr algn="r" eaLnBrk="0"/>
            <a:fld id="{F7021451-1387-4CA6-816F-3879F97B5CBC}" type="slidenum">
              <a:rPr b="0" lang="ko-KR" altLang="en-US"/>
              <a:t>17</a:t>
            </a:fld>
            <a:endParaRPr lang="ko-KR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2918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300" b="1" dirty="0">
                <a:solidFill>
                  <a:schemeClr val="accent1"/>
                </a:solidFill>
              </a:rPr>
              <a:t>문제</a:t>
            </a:r>
            <a:endParaRPr lang="ko-KR" alt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 eaLnBrk="0">
              <a:buNone/>
            </a:pPr>
            <a:r>
              <a:rPr lang="ko-KR" altLang="en-US" sz="2600" b="1" dirty="0">
                <a:solidFill>
                  <a:schemeClr val="tx1"/>
                </a:solidFill>
              </a:rPr>
              <a:t>칸마다 지형 종류가 있고, 종류마다 성질이 있다</a:t>
            </a:r>
            <a:endParaRPr lang="ko-KR" altLang="en-US" sz="2600" dirty="0"/>
          </a:p>
        </p:txBody>
      </p:sp>
      <p:sp>
        <p:nvSpPr>
          <p:cNvPr id="4" name="bridge"/>
          <p:cNvSpPr txBox="1"/>
          <p:nvPr/>
        </p:nvSpPr>
        <p:spPr>
          <a:xfrm>
            <a:off x="548640" y="587044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500" b="1" dirty="0">
                <a:solidFill>
                  <a:schemeClr val="accent1"/>
                </a:solidFill>
              </a:rPr>
              <a:t>다음 질문  </a:t>
            </a:r>
            <a:pPr indent="0" marL="0" eaLnBrk="0">
              <a:buNone/>
            </a:pPr>
            <a:r>
              <a:rPr lang="ko-KR" altLang="en-US" sz="1500" dirty="0">
                <a:solidFill>
                  <a:schemeClr val="tx2"/>
                </a:solidFill>
              </a:rPr>
              <a:t>가장 단순하게는 이것을 어떻게 만들까?</a:t>
            </a:r>
            <a:endParaRPr lang="ko-KR" alt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621792" cy="621792"/>
          </a:xfrm>
          <a:prstGeom prst="rect">
            <a:avLst/>
          </a:prstGeom>
          <a:solidFill>
            <a:srgbClr val="8DBF6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170432" y="1691640"/>
            <a:ext cx="621792" cy="621792"/>
          </a:xfrm>
          <a:prstGeom prst="rect">
            <a:avLst/>
          </a:prstGeom>
          <a:solidFill>
            <a:srgbClr val="8DBF6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792224" y="1691640"/>
            <a:ext cx="621792" cy="621792"/>
          </a:xfrm>
          <a:prstGeom prst="rect">
            <a:avLst/>
          </a:prstGeom>
          <a:solidFill>
            <a:srgbClr val="8DBF6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414016" y="1691640"/>
            <a:ext cx="621792" cy="621792"/>
          </a:xfrm>
          <a:prstGeom prst="rect">
            <a:avLst/>
          </a:prstGeom>
          <a:solidFill>
            <a:srgbClr val="5DA9E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035808" y="1691640"/>
            <a:ext cx="621792" cy="621792"/>
          </a:xfrm>
          <a:prstGeom prst="rect">
            <a:avLst/>
          </a:prstGeom>
          <a:solidFill>
            <a:srgbClr val="8DBF6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657600" y="1691640"/>
            <a:ext cx="621792" cy="621792"/>
          </a:xfrm>
          <a:prstGeom prst="rect">
            <a:avLst/>
          </a:prstGeom>
          <a:solidFill>
            <a:srgbClr val="8DBF6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48640" y="2313432"/>
            <a:ext cx="621792" cy="621792"/>
          </a:xfrm>
          <a:prstGeom prst="rect">
            <a:avLst/>
          </a:prstGeom>
          <a:solidFill>
            <a:srgbClr val="8DBF6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170432" y="2313432"/>
            <a:ext cx="621792" cy="621792"/>
          </a:xfrm>
          <a:prstGeom prst="rect">
            <a:avLst/>
          </a:prstGeom>
          <a:solidFill>
            <a:srgbClr val="B0896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792224" y="2313432"/>
            <a:ext cx="621792" cy="621792"/>
          </a:xfrm>
          <a:prstGeom prst="rect">
            <a:avLst/>
          </a:prstGeom>
          <a:solidFill>
            <a:srgbClr val="8DBF6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414016" y="2313432"/>
            <a:ext cx="621792" cy="621792"/>
          </a:xfrm>
          <a:prstGeom prst="rect">
            <a:avLst/>
          </a:prstGeom>
          <a:solidFill>
            <a:srgbClr val="5DA9E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035808" y="2313432"/>
            <a:ext cx="621792" cy="621792"/>
          </a:xfrm>
          <a:prstGeom prst="rect">
            <a:avLst/>
          </a:prstGeom>
          <a:solidFill>
            <a:srgbClr val="8DBF6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657600" y="2313432"/>
            <a:ext cx="621792" cy="621792"/>
          </a:xfrm>
          <a:prstGeom prst="rect">
            <a:avLst/>
          </a:prstGeom>
          <a:solidFill>
            <a:srgbClr val="8DBF6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48640" y="2935224"/>
            <a:ext cx="621792" cy="621792"/>
          </a:xfrm>
          <a:prstGeom prst="rect">
            <a:avLst/>
          </a:prstGeom>
          <a:solidFill>
            <a:srgbClr val="8DBF6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170432" y="2935224"/>
            <a:ext cx="621792" cy="621792"/>
          </a:xfrm>
          <a:prstGeom prst="rect">
            <a:avLst/>
          </a:prstGeom>
          <a:solidFill>
            <a:srgbClr val="8DBF6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792224" y="2935224"/>
            <a:ext cx="621792" cy="621792"/>
          </a:xfrm>
          <a:prstGeom prst="rect">
            <a:avLst/>
          </a:prstGeom>
          <a:solidFill>
            <a:srgbClr val="8DBF6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2414016" y="2935224"/>
            <a:ext cx="621792" cy="621792"/>
          </a:xfrm>
          <a:prstGeom prst="rect">
            <a:avLst/>
          </a:prstGeom>
          <a:solidFill>
            <a:srgbClr val="5DA9E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035808" y="2935224"/>
            <a:ext cx="621792" cy="621792"/>
          </a:xfrm>
          <a:prstGeom prst="rect">
            <a:avLst/>
          </a:prstGeom>
          <a:solidFill>
            <a:srgbClr val="B0896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657600" y="2935224"/>
            <a:ext cx="621792" cy="621792"/>
          </a:xfrm>
          <a:prstGeom prst="rect">
            <a:avLst/>
          </a:prstGeom>
          <a:solidFill>
            <a:srgbClr val="8DBF6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48640" y="3557016"/>
            <a:ext cx="621792" cy="621792"/>
          </a:xfrm>
          <a:prstGeom prst="rect">
            <a:avLst/>
          </a:prstGeom>
          <a:solidFill>
            <a:srgbClr val="8DBF6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170432" y="3557016"/>
            <a:ext cx="621792" cy="621792"/>
          </a:xfrm>
          <a:prstGeom prst="rect">
            <a:avLst/>
          </a:prstGeom>
          <a:solidFill>
            <a:srgbClr val="B0896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792224" y="3557016"/>
            <a:ext cx="621792" cy="621792"/>
          </a:xfrm>
          <a:prstGeom prst="rect">
            <a:avLst/>
          </a:prstGeom>
          <a:solidFill>
            <a:srgbClr val="8DBF6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2414016" y="3557016"/>
            <a:ext cx="621792" cy="621792"/>
          </a:xfrm>
          <a:prstGeom prst="rect">
            <a:avLst/>
          </a:prstGeom>
          <a:solidFill>
            <a:srgbClr val="5DA9E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3035808" y="3557016"/>
            <a:ext cx="621792" cy="621792"/>
          </a:xfrm>
          <a:prstGeom prst="rect">
            <a:avLst/>
          </a:prstGeom>
          <a:solidFill>
            <a:srgbClr val="8DBF6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3657600" y="3557016"/>
            <a:ext cx="621792" cy="621792"/>
          </a:xfrm>
          <a:prstGeom prst="rect">
            <a:avLst/>
          </a:prstGeom>
          <a:solidFill>
            <a:srgbClr val="8DBF6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548640" y="4178808"/>
            <a:ext cx="621792" cy="621792"/>
          </a:xfrm>
          <a:prstGeom prst="rect">
            <a:avLst/>
          </a:prstGeom>
          <a:solidFill>
            <a:srgbClr val="8DBF6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1170432" y="4178808"/>
            <a:ext cx="621792" cy="621792"/>
          </a:xfrm>
          <a:prstGeom prst="rect">
            <a:avLst/>
          </a:prstGeom>
          <a:solidFill>
            <a:srgbClr val="8DBF6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1792224" y="4178808"/>
            <a:ext cx="621792" cy="621792"/>
          </a:xfrm>
          <a:prstGeom prst="rect">
            <a:avLst/>
          </a:prstGeom>
          <a:solidFill>
            <a:srgbClr val="8DBF6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2414016" y="4178808"/>
            <a:ext cx="621792" cy="621792"/>
          </a:xfrm>
          <a:prstGeom prst="rect">
            <a:avLst/>
          </a:prstGeom>
          <a:solidFill>
            <a:srgbClr val="5DA9E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3035808" y="4178808"/>
            <a:ext cx="621792" cy="621792"/>
          </a:xfrm>
          <a:prstGeom prst="rect">
            <a:avLst/>
          </a:prstGeom>
          <a:solidFill>
            <a:srgbClr val="8DBF6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3657600" y="4178808"/>
            <a:ext cx="621792" cy="621792"/>
          </a:xfrm>
          <a:prstGeom prst="rect">
            <a:avLst/>
          </a:prstGeom>
          <a:solidFill>
            <a:srgbClr val="8DBF6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548640" y="4992624"/>
            <a:ext cx="256032" cy="256032"/>
          </a:xfrm>
          <a:prstGeom prst="rect">
            <a:avLst/>
          </a:prstGeom>
          <a:solidFill>
            <a:srgbClr val="8DBF6A"/>
          </a:solidFill>
          <a:ln w="12700">
            <a:solidFill>
              <a:srgbClr val="8DBF6A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896112" y="49377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300" dirty="0">
                <a:solidFill>
                  <a:schemeClr val="tx2"/>
                </a:solidFill>
              </a:rPr>
              <a:t>풀밭</a:t>
            </a:r>
            <a:endParaRPr lang="ko-KR" alt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1783080" y="4992624"/>
            <a:ext cx="256032" cy="256032"/>
          </a:xfrm>
          <a:prstGeom prst="rect">
            <a:avLst/>
          </a:prstGeom>
          <a:solidFill>
            <a:srgbClr val="B08968"/>
          </a:solidFill>
          <a:ln w="12700">
            <a:solidFill>
              <a:srgbClr val="B08968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2130552" y="49377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300" dirty="0">
                <a:solidFill>
                  <a:schemeClr val="tx2"/>
                </a:solidFill>
              </a:rPr>
              <a:t>언덕</a:t>
            </a:r>
            <a:endParaRPr lang="ko-KR" altLang="en-US" sz="1300" dirty="0"/>
          </a:p>
        </p:txBody>
      </p:sp>
      <p:sp>
        <p:nvSpPr>
          <p:cNvPr id="40" name="Shape 37"/>
          <p:cNvSpPr/>
          <p:nvPr/>
        </p:nvSpPr>
        <p:spPr>
          <a:xfrm>
            <a:off x="3017520" y="4992624"/>
            <a:ext cx="256032" cy="256032"/>
          </a:xfrm>
          <a:prstGeom prst="rect">
            <a:avLst/>
          </a:prstGeom>
          <a:solidFill>
            <a:srgbClr val="5DA9E9"/>
          </a:solidFill>
          <a:ln w="12700">
            <a:solidFill>
              <a:srgbClr val="5DA9E9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3364992" y="49377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300" dirty="0">
                <a:solidFill>
                  <a:schemeClr val="tx2"/>
                </a:solidFill>
              </a:rPr>
              <a:t>강</a:t>
            </a:r>
            <a:endParaRPr lang="ko-KR" altLang="en-US" sz="13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691640"/>
          <a:ext cx="6796735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463040"/>
                <a:gridCol w="1371600"/>
                <a:gridCol w="2590495"/>
              </a:tblGrid>
              <a:tr h="502920"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500" b="1" dirty="0">
                          <a:solidFill>
                            <a:schemeClr val="bg1"/>
                          </a:solidFill>
                        </a:rPr>
                        <a:t>지형</a:t>
                      </a:r>
                      <a:endParaRPr lang="ko-KR" altLang="en-US" sz="15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500" b="1" dirty="0">
                          <a:solidFill>
                            <a:schemeClr val="bg1"/>
                          </a:solidFill>
                        </a:rPr>
                        <a:t>이동 비용</a:t>
                      </a:r>
                      <a:endParaRPr lang="ko-KR" altLang="en-US" sz="15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500" b="1" dirty="0">
                          <a:solidFill>
                            <a:schemeClr val="bg1"/>
                          </a:solidFill>
                        </a:rPr>
                        <a:t>물인가</a:t>
                      </a:r>
                      <a:endParaRPr lang="ko-KR" altLang="en-US" sz="15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500" b="1" dirty="0">
                          <a:solidFill>
                            <a:schemeClr val="bg1"/>
                          </a:solidFill>
                        </a:rPr>
                        <a:t>텍스처</a:t>
                      </a:r>
                      <a:endParaRPr lang="ko-KR" altLang="en-US" sz="15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500" b="1" dirty="0">
                          <a:solidFill>
                            <a:schemeClr val="tx1"/>
                          </a:solidFill>
                        </a:rPr>
                        <a:t>풀밭</a:t>
                      </a:r>
                      <a:endParaRPr lang="ko-KR" altLang="en-US" sz="15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500" dirty="0">
                          <a:solidFill>
                            <a:schemeClr val="tx2"/>
                          </a:solidFill>
                        </a:rPr>
                        <a:t>1</a:t>
                      </a:r>
                      <a:endParaRPr lang="ko-KR" altLang="en-US" sz="15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500" dirty="0">
                          <a:solidFill>
                            <a:schemeClr val="tx2"/>
                          </a:solidFill>
                        </a:rPr>
                        <a:t>아니다</a:t>
                      </a:r>
                      <a:endParaRPr lang="ko-KR" altLang="en-US" sz="15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500" dirty="0">
                          <a:solidFill>
                            <a:schemeClr val="tx2"/>
                          </a:solidFill>
                        </a:rPr>
                        <a:t>풀 텍스처</a:t>
                      </a:r>
                      <a:endParaRPr lang="ko-KR" altLang="en-US" sz="15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500" b="1" dirty="0">
                          <a:solidFill>
                            <a:schemeClr val="tx1"/>
                          </a:solidFill>
                        </a:rPr>
                        <a:t>언덕</a:t>
                      </a:r>
                      <a:endParaRPr lang="ko-KR" altLang="en-US" sz="15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500" dirty="0">
                          <a:solidFill>
                            <a:schemeClr val="tx2"/>
                          </a:solidFill>
                        </a:rPr>
                        <a:t>3</a:t>
                      </a:r>
                      <a:endParaRPr lang="ko-KR" altLang="en-US" sz="15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500" dirty="0">
                          <a:solidFill>
                            <a:schemeClr val="tx2"/>
                          </a:solidFill>
                        </a:rPr>
                        <a:t>아니다</a:t>
                      </a:r>
                      <a:endParaRPr lang="ko-KR" altLang="en-US" sz="15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500" dirty="0">
                          <a:solidFill>
                            <a:schemeClr val="tx2"/>
                          </a:solidFill>
                        </a:rPr>
                        <a:t>언덕 텍스처</a:t>
                      </a:r>
                      <a:endParaRPr lang="ko-KR" altLang="en-US" sz="15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500" b="1" dirty="0">
                          <a:solidFill>
                            <a:schemeClr val="tx1"/>
                          </a:solidFill>
                        </a:rPr>
                        <a:t>강</a:t>
                      </a:r>
                      <a:endParaRPr lang="ko-KR" altLang="en-US" sz="15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500" dirty="0">
                          <a:solidFill>
                            <a:schemeClr val="tx2"/>
                          </a:solidFill>
                        </a:rPr>
                        <a:t>2</a:t>
                      </a:r>
                      <a:endParaRPr lang="ko-KR" altLang="en-US" sz="15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500" dirty="0">
                          <a:solidFill>
                            <a:schemeClr val="tx2"/>
                          </a:solidFill>
                        </a:rPr>
                        <a:t>그렇다</a:t>
                      </a:r>
                      <a:endParaRPr lang="ko-KR" altLang="en-US" sz="15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500" dirty="0">
                          <a:solidFill>
                            <a:schemeClr val="tx2"/>
                          </a:solidFill>
                        </a:rPr>
                        <a:t>강 텍스처</a:t>
                      </a:r>
                      <a:endParaRPr lang="ko-KR" altLang="en-US" sz="15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3" name="card"/>
          <p:cNvSpPr/>
          <p:nvPr/>
        </p:nvSpPr>
        <p:spPr>
          <a:xfrm>
            <a:off x="4846320" y="3931920"/>
            <a:ext cx="6796735" cy="1691640"/>
          </a:xfrm>
          <a:prstGeom prst="roundRect">
            <a:avLst>
              <a:gd name="adj" fmla="val 540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4" name="Text 40"/>
          <p:cNvSpPr txBox="1"/>
          <p:nvPr/>
        </p:nvSpPr>
        <p:spPr>
          <a:xfrm>
            <a:off x="5074920" y="4151376"/>
            <a:ext cx="6385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700" b="1" dirty="0">
                <a:solidFill>
                  <a:schemeClr val="tx1"/>
                </a:solidFill>
              </a:rPr>
              <a:t>칸마다 필요한 것</a:t>
            </a:r>
            <a:endParaRPr lang="ko-KR" altLang="en-US" sz="1700" dirty="0"/>
          </a:p>
        </p:txBody>
      </p:sp>
      <p:sp>
        <p:nvSpPr>
          <p:cNvPr id="45" name="Text 41"/>
          <p:cNvSpPr txBox="1"/>
          <p:nvPr/>
        </p:nvSpPr>
        <p:spPr>
          <a:xfrm>
            <a:off x="5074920" y="4709160"/>
            <a:ext cx="6339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spcAft>
                <a:spcPts val="400"/>
              </a:spcAft>
              <a:buNone/>
            </a:pPr>
            <a:r>
              <a:rPr lang="ko-KR" altLang="en-US" sz="1400" dirty="0">
                <a:solidFill>
                  <a:schemeClr val="tx2"/>
                </a:solidFill>
              </a:rPr>
              <a:t>칸마다 지형의 이동 비용, 물 여부, 텍스처를 알아내야 한다.</a:t>
            </a:r>
            <a:endParaRPr lang="ko-KR" alt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 eaLnBrk="0">
              <a:defRPr sz="1000">
                <a:solidFill>
                  <a:schemeClr val="accent3"/>
                </a:solidFill>
              </a:defRPr>
            </a:lvl1pPr>
          </a:lstStyle>
          <a:p>
            <a:pPr algn="r" eaLnBrk="0"/>
            <a:fld id="{F7021451-1387-4CA6-816F-3879F97B5CBC}" type="slidenum">
              <a:rPr b="0" lang="ko-KR" altLang="en-US"/>
              <a:t>18</a:t>
            </a:fld>
            <a:endParaRPr lang="ko-KR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2918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300" b="1" dirty="0">
                <a:solidFill>
                  <a:schemeClr val="accent1"/>
                </a:solidFill>
              </a:rPr>
              <a:t>첫 시도</a:t>
            </a:r>
            <a:endParaRPr lang="ko-KR" alt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 eaLnBrk="0">
              <a:buNone/>
            </a:pPr>
            <a:r>
              <a:rPr lang="ko-KR" altLang="en-US" sz="2600" b="1" dirty="0">
                <a:solidFill>
                  <a:schemeClr val="tx1"/>
                </a:solidFill>
              </a:rPr>
              <a:t>열거형으로 지형 종류를 적고, 성질은 switch로 고른다</a:t>
            </a:r>
            <a:endParaRPr lang="ko-KR" altLang="en-US" sz="2600" dirty="0"/>
          </a:p>
        </p:txBody>
      </p:sp>
      <p:sp>
        <p:nvSpPr>
          <p:cNvPr id="4" name="bridge"/>
          <p:cNvSpPr txBox="1"/>
          <p:nvPr/>
        </p:nvSpPr>
        <p:spPr>
          <a:xfrm>
            <a:off x="548640" y="587044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500" b="1" dirty="0">
                <a:solidFill>
                  <a:schemeClr val="accent1"/>
                </a:solidFill>
              </a:rPr>
              <a:t>다음 질문  </a:t>
            </a:r>
            <a:pPr indent="0" marL="0" eaLnBrk="0">
              <a:buNone/>
            </a:pPr>
            <a:r>
              <a:rPr lang="ko-KR" altLang="en-US" sz="1500" dirty="0">
                <a:solidFill>
                  <a:schemeClr val="tx2"/>
                </a:solidFill>
              </a:rPr>
              <a:t>이 코드는 동작한다. 무엇이 불편할까?</a:t>
            </a:r>
            <a:endParaRPr lang="ko-KR" altLang="en-US" sz="1500" dirty="0"/>
          </a:p>
        </p:txBody>
      </p:sp>
      <p:sp>
        <p:nvSpPr>
          <p:cNvPr id="6" name="codePanel"/>
          <p:cNvSpPr/>
          <p:nvPr/>
        </p:nvSpPr>
        <p:spPr>
          <a:xfrm>
            <a:off x="548640" y="1645920"/>
            <a:ext cx="4754880" cy="2743200"/>
          </a:xfrm>
          <a:prstGeom prst="roundRect">
            <a:avLst>
              <a:gd name="adj" fmla="val 266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7" name="code"/>
          <p:cNvSpPr txBox="1"/>
          <p:nvPr/>
        </p:nvSpPr>
        <p:spPr>
          <a:xfrm>
            <a:off x="658368" y="1737360"/>
            <a:ext cx="4535424" cy="2560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 eaLnBrk="0">
              <a:buNone/>
            </a:pPr>
            <a:r>
              <a:rPr lang="ko-KR" alt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enum Terrain</a:t>
            </a:r>
            <a:endParaRPr lang="ko-KR" altLang="en-US" sz="1200" dirty="0"/>
          </a:p>
          <a:p>
            <a:pPr indent="0" marL="0" eaLnBrk="0">
              <a:buNone/>
            </a:pPr>
            <a:r>
              <a:rPr lang="ko-KR" alt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ko-KR" altLang="en-US" sz="1200" dirty="0"/>
          </a:p>
          <a:p>
            <a:pPr indent="0" marL="0" eaLnBrk="0">
              <a:buNone/>
            </a:pPr>
            <a:r>
              <a:rPr lang="ko-KR" alt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Grass,</a:t>
            </a:r>
            <a:endParaRPr lang="ko-KR" altLang="en-US" sz="1200" dirty="0"/>
          </a:p>
          <a:p>
            <a:pPr indent="0" marL="0" eaLnBrk="0">
              <a:buNone/>
            </a:pPr>
            <a:r>
              <a:rPr lang="ko-KR" alt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Hill,</a:t>
            </a:r>
            <a:endParaRPr lang="ko-KR" altLang="en-US" sz="1200" dirty="0"/>
          </a:p>
          <a:p>
            <a:pPr indent="0" marL="0" eaLnBrk="0">
              <a:buNone/>
            </a:pPr>
            <a:r>
              <a:rPr lang="ko-KR" alt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River</a:t>
            </a:r>
            <a:endParaRPr lang="ko-KR" altLang="en-US" sz="1200" dirty="0"/>
          </a:p>
          <a:p>
            <a:pPr indent="0" marL="0" eaLnBrk="0">
              <a:buNone/>
            </a:pPr>
            <a:r>
              <a:rPr lang="ko-KR" altLang="en-US" sz="12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다른 지형들...</a:t>
            </a:r>
            <a:endParaRPr lang="ko-KR" altLang="en-US" sz="1200" dirty="0"/>
          </a:p>
          <a:p>
            <a:pPr indent="0" marL="0" eaLnBrk="0">
              <a:buNone/>
            </a:pPr>
            <a:r>
              <a:rPr lang="ko-KR" alt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ko-KR" altLang="en-US" sz="1200" dirty="0"/>
          </a:p>
          <a:p>
            <a:pPr indent="0" marL="0" eaLnBrk="0">
              <a:buNone/>
            </a:pPr>
            <a:r>
              <a:rPr lang="ko-KR" alt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ko-KR" altLang="en-US" sz="1200" dirty="0"/>
          </a:p>
          <a:p>
            <a:pPr indent="0" marL="0" eaLnBrk="0">
              <a:buNone/>
            </a:pPr>
            <a:r>
              <a:rPr lang="ko-KR" alt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World</a:t>
            </a:r>
            <a:endParaRPr lang="ko-KR" altLang="en-US" sz="1200" dirty="0"/>
          </a:p>
          <a:p>
            <a:pPr indent="0" marL="0" eaLnBrk="0">
              <a:buNone/>
            </a:pPr>
            <a:r>
              <a:rPr lang="ko-KR" alt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ko-KR" altLang="en-US" sz="1200" dirty="0"/>
          </a:p>
          <a:p>
            <a:pPr indent="0" marL="0" eaLnBrk="0">
              <a:buNone/>
            </a:pPr>
            <a:r>
              <a:rPr lang="ko-KR" altLang="en-US" sz="1200" b="1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Terrain[,] _tiles = new Terrain[Width, Height];</a:t>
            </a:r>
            <a:endParaRPr lang="ko-KR" altLang="en-US" sz="1200" dirty="0"/>
          </a:p>
          <a:p>
            <a:pPr indent="0" marL="0" eaLnBrk="0">
              <a:buNone/>
            </a:pPr>
            <a:r>
              <a:rPr lang="ko-KR" alt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ko-KR" altLang="en-US" sz="1200" dirty="0"/>
          </a:p>
        </p:txBody>
      </p:sp>
      <p:sp>
        <p:nvSpPr>
          <p:cNvPr id="8" name="card"/>
          <p:cNvSpPr/>
          <p:nvPr/>
        </p:nvSpPr>
        <p:spPr>
          <a:xfrm>
            <a:off x="548640" y="4572000"/>
            <a:ext cx="4754880" cy="11430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4663440"/>
            <a:ext cx="4297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400" dirty="0">
                <a:solidFill>
                  <a:schemeClr val="tx2"/>
                </a:solidFill>
              </a:rPr>
              <a:t>C#은 모든 경로에서 값을 돌려줘야 하므로 default를 더했다.</a:t>
            </a:r>
            <a:endParaRPr lang="ko-KR" altLang="en-US" sz="1400" dirty="0"/>
          </a:p>
        </p:txBody>
      </p:sp>
      <p:sp>
        <p:nvSpPr>
          <p:cNvPr id="10" name="codePanel"/>
          <p:cNvSpPr/>
          <p:nvPr/>
        </p:nvSpPr>
        <p:spPr>
          <a:xfrm>
            <a:off x="5532120" y="1645920"/>
            <a:ext cx="6110935" cy="4069080"/>
          </a:xfrm>
          <a:prstGeom prst="roundRect">
            <a:avLst>
              <a:gd name="adj" fmla="val 1798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1" name="code"/>
          <p:cNvSpPr txBox="1"/>
          <p:nvPr/>
        </p:nvSpPr>
        <p:spPr>
          <a:xfrm>
            <a:off x="5641848" y="1737360"/>
            <a:ext cx="5891479" cy="3886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 eaLnBrk="0">
              <a:buNone/>
            </a:pPr>
            <a:r>
              <a:rPr lang="ko-KR" altLang="en-US" sz="11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int GetMovementCost(int x, int y)</a:t>
            </a:r>
            <a:endParaRPr lang="ko-KR" altLang="en-US" sz="1150" dirty="0"/>
          </a:p>
          <a:p>
            <a:pPr indent="0" marL="0" eaLnBrk="0">
              <a:buNone/>
            </a:pPr>
            <a:r>
              <a:rPr lang="ko-KR" altLang="en-US" sz="11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ko-KR" altLang="en-US" sz="1150" dirty="0"/>
          </a:p>
          <a:p>
            <a:pPr indent="0" marL="0" eaLnBrk="0">
              <a:buNone/>
            </a:pPr>
            <a:r>
              <a:rPr lang="ko-KR" altLang="en-US" sz="11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switch (_tiles[x, y])</a:t>
            </a:r>
            <a:endParaRPr lang="ko-KR" altLang="en-US" sz="1150" dirty="0"/>
          </a:p>
          <a:p>
            <a:pPr indent="0" marL="0" eaLnBrk="0">
              <a:buNone/>
            </a:pPr>
            <a:r>
              <a:rPr lang="ko-KR" altLang="en-US" sz="11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ko-KR" altLang="en-US" sz="1150" dirty="0"/>
          </a:p>
          <a:p>
            <a:pPr indent="0" marL="0" eaLnBrk="0">
              <a:buNone/>
            </a:pPr>
            <a:r>
              <a:rPr lang="ko-KR" altLang="en-US" sz="1150" b="1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case Terrain.Grass: return 1;</a:t>
            </a:r>
            <a:endParaRPr lang="ko-KR" altLang="en-US" sz="1150" dirty="0"/>
          </a:p>
          <a:p>
            <a:pPr indent="0" marL="0" eaLnBrk="0">
              <a:buNone/>
            </a:pPr>
            <a:r>
              <a:rPr lang="ko-KR" altLang="en-US" sz="1150" b="1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case Terrain.Hill:  return 3;</a:t>
            </a:r>
            <a:endParaRPr lang="ko-KR" altLang="en-US" sz="1150" dirty="0"/>
          </a:p>
          <a:p>
            <a:pPr indent="0" marL="0" eaLnBrk="0">
              <a:buNone/>
            </a:pPr>
            <a:r>
              <a:rPr lang="ko-KR" altLang="en-US" sz="1150" b="1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case Terrain.River: return 2;</a:t>
            </a:r>
            <a:endParaRPr lang="ko-KR" altLang="en-US" sz="1150" dirty="0"/>
          </a:p>
          <a:p>
            <a:pPr indent="0" marL="0" eaLnBrk="0">
              <a:buNone/>
            </a:pPr>
            <a:r>
              <a:rPr lang="ko-KR" altLang="en-US" sz="11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default: throw new ArgumentOutOfRangeException();</a:t>
            </a:r>
            <a:endParaRPr lang="ko-KR" altLang="en-US" sz="1150" dirty="0"/>
          </a:p>
          <a:p>
            <a:pPr indent="0" marL="0" eaLnBrk="0">
              <a:buNone/>
            </a:pPr>
            <a:r>
              <a:rPr lang="ko-KR" altLang="en-US" sz="11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ko-KR" altLang="en-US" sz="1150" dirty="0"/>
          </a:p>
          <a:p>
            <a:pPr indent="0" marL="0" eaLnBrk="0">
              <a:buNone/>
            </a:pPr>
            <a:r>
              <a:rPr lang="ko-KR" altLang="en-US" sz="11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ko-KR" altLang="en-US" sz="1150" dirty="0"/>
          </a:p>
          <a:p>
            <a:pPr indent="0" marL="0" eaLnBrk="0">
              <a:buNone/>
            </a:pPr>
            <a:r>
              <a:rPr lang="ko-KR" altLang="en-US" sz="11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ko-KR" altLang="en-US" sz="1150" dirty="0"/>
          </a:p>
          <a:p>
            <a:pPr indent="0" marL="0" eaLnBrk="0">
              <a:buNone/>
            </a:pPr>
            <a:r>
              <a:rPr lang="ko-KR" altLang="en-US" sz="11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bool IsWater(int x, int y)</a:t>
            </a:r>
            <a:endParaRPr lang="ko-KR" altLang="en-US" sz="1150" dirty="0"/>
          </a:p>
          <a:p>
            <a:pPr indent="0" marL="0" eaLnBrk="0">
              <a:buNone/>
            </a:pPr>
            <a:r>
              <a:rPr lang="ko-KR" altLang="en-US" sz="11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ko-KR" altLang="en-US" sz="1150" dirty="0"/>
          </a:p>
          <a:p>
            <a:pPr indent="0" marL="0" eaLnBrk="0">
              <a:buNone/>
            </a:pPr>
            <a:r>
              <a:rPr lang="ko-KR" altLang="en-US" sz="11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switch (_tiles[x, y])</a:t>
            </a:r>
            <a:endParaRPr lang="ko-KR" altLang="en-US" sz="1150" dirty="0"/>
          </a:p>
          <a:p>
            <a:pPr indent="0" marL="0" eaLnBrk="0">
              <a:buNone/>
            </a:pPr>
            <a:r>
              <a:rPr lang="ko-KR" altLang="en-US" sz="11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ko-KR" altLang="en-US" sz="1150" dirty="0"/>
          </a:p>
          <a:p>
            <a:pPr indent="0" marL="0" eaLnBrk="0">
              <a:buNone/>
            </a:pPr>
            <a:r>
              <a:rPr lang="ko-KR" altLang="en-US" sz="1150" b="1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case Terrain.Grass: return false;</a:t>
            </a:r>
            <a:endParaRPr lang="ko-KR" altLang="en-US" sz="1150" dirty="0"/>
          </a:p>
          <a:p>
            <a:pPr indent="0" marL="0" eaLnBrk="0">
              <a:buNone/>
            </a:pPr>
            <a:r>
              <a:rPr lang="ko-KR" altLang="en-US" sz="1150" b="1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case Terrain.Hill:  return false;</a:t>
            </a:r>
            <a:endParaRPr lang="ko-KR" altLang="en-US" sz="1150" dirty="0"/>
          </a:p>
          <a:p>
            <a:pPr indent="0" marL="0" eaLnBrk="0">
              <a:buNone/>
            </a:pPr>
            <a:r>
              <a:rPr lang="ko-KR" altLang="en-US" sz="1150" b="1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case Terrain.River: return true;</a:t>
            </a:r>
            <a:endParaRPr lang="ko-KR" altLang="en-US" sz="1150" dirty="0"/>
          </a:p>
          <a:p>
            <a:pPr indent="0" marL="0" eaLnBrk="0">
              <a:buNone/>
            </a:pPr>
            <a:r>
              <a:rPr lang="ko-KR" altLang="en-US" sz="11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default: throw new ArgumentOutOfRangeException();</a:t>
            </a:r>
            <a:endParaRPr lang="ko-KR" altLang="en-US" sz="1150" dirty="0"/>
          </a:p>
          <a:p>
            <a:pPr indent="0" marL="0" eaLnBrk="0">
              <a:buNone/>
            </a:pPr>
            <a:r>
              <a:rPr lang="ko-KR" altLang="en-US" sz="11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ko-KR" altLang="en-US" sz="1150" dirty="0"/>
          </a:p>
          <a:p>
            <a:pPr indent="0" marL="0" eaLnBrk="0">
              <a:buNone/>
            </a:pPr>
            <a:r>
              <a:rPr lang="ko-KR" altLang="en-US" sz="11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ko-KR" altLang="en-US" sz="1150" dirty="0"/>
          </a:p>
        </p:txBody>
      </p:sp>
      <p:sp>
        <p:nvSpPr>
          <p:cNvPr id="12" name="codeCaption"/>
          <p:cNvSpPr txBox="1"/>
          <p:nvPr/>
        </p:nvSpPr>
        <p:spPr>
          <a:xfrm>
            <a:off x="8534095" y="1737360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 eaLnBrk="0">
              <a:buNone/>
            </a:pPr>
            <a:r>
              <a:rPr lang="ko-KR" altLang="en-US" sz="1000" dirty="0">
                <a:solidFill>
                  <a:schemeClr val="accent3"/>
                </a:solidFill>
              </a:rPr>
              <a:t>원서 예제를 C#으로 옮긴 코드</a:t>
            </a:r>
            <a:endParaRPr lang="ko-KR" alt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 eaLnBrk="0">
              <a:defRPr sz="1000">
                <a:solidFill>
                  <a:schemeClr val="accent3"/>
                </a:solidFill>
              </a:defRPr>
            </a:lvl1pPr>
          </a:lstStyle>
          <a:p>
            <a:pPr algn="r" eaLnBrk="0"/>
            <a:fld id="{F7021451-1387-4CA6-816F-3879F97B5CBC}" type="slidenum">
              <a:rPr b="0" lang="ko-KR" altLang="en-US"/>
              <a:t>19</a:t>
            </a:fld>
            <a:endParaRPr lang="ko-KR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2918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300" b="1" dirty="0">
                <a:solidFill>
                  <a:schemeClr val="accent1"/>
                </a:solidFill>
              </a:rPr>
              <a:t>한계</a:t>
            </a:r>
            <a:endParaRPr lang="ko-KR" alt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 eaLnBrk="0">
              <a:buNone/>
            </a:pPr>
            <a:r>
              <a:rPr lang="ko-KR" altLang="en-US" sz="2600" b="1" dirty="0">
                <a:solidFill>
                  <a:schemeClr val="tx1"/>
                </a:solidFill>
              </a:rPr>
              <a:t>풀밭 하나에 대한 사실이 여러 메서드에 흩어져 있다</a:t>
            </a:r>
            <a:endParaRPr lang="ko-KR" altLang="en-US" sz="2600" dirty="0"/>
          </a:p>
        </p:txBody>
      </p:sp>
      <p:sp>
        <p:nvSpPr>
          <p:cNvPr id="4" name="bridge"/>
          <p:cNvSpPr txBox="1"/>
          <p:nvPr/>
        </p:nvSpPr>
        <p:spPr>
          <a:xfrm>
            <a:off x="548640" y="587044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500" b="1" dirty="0">
                <a:solidFill>
                  <a:schemeClr val="accent1"/>
                </a:solidFill>
              </a:rPr>
              <a:t>다음 질문  </a:t>
            </a:r>
            <a:pPr indent="0" marL="0" eaLnBrk="0">
              <a:buNone/>
            </a:pPr>
            <a:r>
              <a:rPr lang="ko-KR" altLang="en-US" sz="1500" dirty="0">
                <a:solidFill>
                  <a:schemeClr val="tx2"/>
                </a:solidFill>
              </a:rPr>
              <a:t>지형을 객체로 만들되, 칸마다 만들지 않으려면?</a:t>
            </a:r>
            <a:endParaRPr lang="ko-KR" altLang="en-US" sz="1500" dirty="0"/>
          </a:p>
        </p:txBody>
      </p:sp>
      <p:sp>
        <p:nvSpPr>
          <p:cNvPr id="6" name="box"/>
          <p:cNvSpPr/>
          <p:nvPr/>
        </p:nvSpPr>
        <p:spPr>
          <a:xfrm>
            <a:off x="548640" y="2880360"/>
            <a:ext cx="1280160" cy="822960"/>
          </a:xfrm>
          <a:prstGeom prst="roundRect">
            <a:avLst>
              <a:gd name="adj" fmla="val 8889"/>
            </a:avLst>
          </a:prstGeom>
          <a:solidFill>
            <a:srgbClr val="8DBF6A"/>
          </a:solidFill>
          <a:ln w="12700">
            <a:solidFill>
              <a:srgbClr val="8DBF6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2880360"/>
            <a:ext cx="128016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 eaLnBrk="0">
              <a:buNone/>
            </a:pPr>
            <a:r>
              <a:rPr lang="ko-KR" altLang="en-US" sz="1700" b="1" dirty="0">
                <a:solidFill>
                  <a:schemeClr val="tx1"/>
                </a:solidFill>
              </a:rPr>
              <a:t>풀밭</a:t>
            </a:r>
            <a:endParaRPr lang="ko-KR" altLang="en-US" sz="1700" dirty="0"/>
          </a:p>
        </p:txBody>
      </p:sp>
      <p:sp>
        <p:nvSpPr>
          <p:cNvPr id="8" name="box"/>
          <p:cNvSpPr/>
          <p:nvPr/>
        </p:nvSpPr>
        <p:spPr>
          <a:xfrm>
            <a:off x="2468880" y="1783080"/>
            <a:ext cx="2743200" cy="822960"/>
          </a:xfrm>
          <a:prstGeom prst="roundRect">
            <a:avLst>
              <a:gd name="adj" fmla="val 8889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468880" y="1783080"/>
            <a:ext cx="274320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 eaLnBrk="0">
              <a:buNone/>
            </a:pPr>
            <a:r>
              <a:rPr lang="ko-KR" altLang="en-US" sz="1300" dirty="0">
                <a:solidFill>
                  <a:schemeClr val="bg1"/>
                </a:solidFill>
              </a:rPr>
              <a:t>GetMovementCost</a:t>
            </a:r>
            <a:endParaRPr lang="ko-KR" altLang="en-US" sz="1300" dirty="0"/>
          </a:p>
          <a:p>
            <a:pPr algn="ctr" indent="0" marL="0" eaLnBrk="0">
              <a:buNone/>
            </a:pPr>
            <a:r>
              <a:rPr lang="ko-KR" altLang="en-US" sz="1300" dirty="0">
                <a:solidFill>
                  <a:schemeClr val="bg1"/>
                </a:solidFill>
              </a:rPr>
              <a:t>case Grass: 1</a:t>
            </a:r>
            <a:endParaRPr lang="ko-KR" altLang="en-US" sz="1300" dirty="0"/>
          </a:p>
        </p:txBody>
      </p:sp>
      <p:sp>
        <p:nvSpPr>
          <p:cNvPr id="10" name="Shape 7"/>
          <p:cNvSpPr/>
          <p:nvPr/>
        </p:nvSpPr>
        <p:spPr>
          <a:xfrm flipV="1">
            <a:off x="1874520" y="2194560"/>
            <a:ext cx="548640" cy="109728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1" name="box"/>
          <p:cNvSpPr/>
          <p:nvPr/>
        </p:nvSpPr>
        <p:spPr>
          <a:xfrm>
            <a:off x="2468880" y="2926080"/>
            <a:ext cx="2743200" cy="822960"/>
          </a:xfrm>
          <a:prstGeom prst="roundRect">
            <a:avLst>
              <a:gd name="adj" fmla="val 8889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468880" y="2926080"/>
            <a:ext cx="274320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 eaLnBrk="0">
              <a:buNone/>
            </a:pPr>
            <a:r>
              <a:rPr lang="ko-KR" altLang="en-US" sz="1300" dirty="0">
                <a:solidFill>
                  <a:schemeClr val="bg1"/>
                </a:solidFill>
              </a:rPr>
              <a:t>IsWater</a:t>
            </a:r>
            <a:endParaRPr lang="ko-KR" altLang="en-US" sz="1300" dirty="0"/>
          </a:p>
          <a:p>
            <a:pPr algn="ctr" indent="0" marL="0" eaLnBrk="0">
              <a:buNone/>
            </a:pPr>
            <a:r>
              <a:rPr lang="ko-KR" altLang="en-US" sz="1300" dirty="0">
                <a:solidFill>
                  <a:schemeClr val="bg1"/>
                </a:solidFill>
              </a:rPr>
              <a:t>case Grass: false</a:t>
            </a:r>
            <a:endParaRPr lang="ko-KR" alt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1874520" y="3291840"/>
            <a:ext cx="548640" cy="4572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4" name="box"/>
          <p:cNvSpPr/>
          <p:nvPr/>
        </p:nvSpPr>
        <p:spPr>
          <a:xfrm>
            <a:off x="2468880" y="4069080"/>
            <a:ext cx="2743200" cy="822960"/>
          </a:xfrm>
          <a:prstGeom prst="roundRect">
            <a:avLst>
              <a:gd name="adj" fmla="val 8889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2468880" y="4069080"/>
            <a:ext cx="274320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 eaLnBrk="0">
              <a:buNone/>
            </a:pPr>
            <a:r>
              <a:rPr lang="ko-KR" altLang="en-US" sz="1300" dirty="0">
                <a:solidFill>
                  <a:schemeClr val="bg1"/>
                </a:solidFill>
              </a:rPr>
              <a:t>다른 메서드들</a:t>
            </a:r>
            <a:endParaRPr lang="ko-KR" altLang="en-US" sz="1300" dirty="0"/>
          </a:p>
          <a:p>
            <a:pPr algn="ctr" indent="0" marL="0" eaLnBrk="0">
              <a:buNone/>
            </a:pPr>
            <a:r>
              <a:rPr lang="ko-KR" altLang="en-US" sz="1300" dirty="0">
                <a:solidFill>
                  <a:schemeClr val="bg1"/>
                </a:solidFill>
              </a:rPr>
              <a:t>case Grass: …</a:t>
            </a:r>
            <a:endParaRPr lang="ko-KR" alt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1874520" y="3291840"/>
            <a:ext cx="548640" cy="118872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7" name="Text 14"/>
          <p:cNvSpPr txBox="1"/>
          <p:nvPr/>
        </p:nvSpPr>
        <p:spPr>
          <a:xfrm>
            <a:off x="548640" y="512064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buNone/>
            </a:pPr>
            <a:r>
              <a:rPr lang="ko-KR" altLang="en-US" sz="1400" dirty="0">
                <a:solidFill>
                  <a:schemeClr val="tx2"/>
                </a:solidFill>
              </a:rPr>
              <a:t>풀밭을 알려면 모든 switch를 찾아 읽어야 한다.</a:t>
            </a:r>
            <a:endParaRPr lang="ko-KR" altLang="en-US" sz="1400" dirty="0"/>
          </a:p>
        </p:txBody>
      </p:sp>
      <p:sp>
        <p:nvSpPr>
          <p:cNvPr id="18" name="card"/>
          <p:cNvSpPr/>
          <p:nvPr/>
        </p:nvSpPr>
        <p:spPr>
          <a:xfrm>
            <a:off x="5577840" y="1691640"/>
            <a:ext cx="6065215" cy="1234440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806440" y="189280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806440" y="18928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>
              <a:buNone/>
            </a:pPr>
            <a:r>
              <a:rPr lang="ko-KR" altLang="en-US" sz="1500" b="1" dirty="0">
                <a:solidFill>
                  <a:schemeClr val="bg1"/>
                </a:solidFill>
              </a:rPr>
              <a:t>1</a:t>
            </a:r>
            <a:endParaRPr lang="ko-KR" alt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6355080" y="1911096"/>
            <a:ext cx="51050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700" b="1" dirty="0">
                <a:solidFill>
                  <a:schemeClr val="tx1"/>
                </a:solidFill>
              </a:rPr>
              <a:t>데이터가 코드 속에</a:t>
            </a:r>
            <a:endParaRPr lang="ko-KR" altLang="en-US" sz="1700" dirty="0"/>
          </a:p>
        </p:txBody>
      </p:sp>
      <p:sp>
        <p:nvSpPr>
          <p:cNvPr id="22" name="Text 19"/>
          <p:cNvSpPr txBox="1"/>
          <p:nvPr/>
        </p:nvSpPr>
        <p:spPr>
          <a:xfrm>
            <a:off x="6355080" y="2350008"/>
            <a:ext cx="5105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buNone/>
            </a:pPr>
            <a:r>
              <a:rPr lang="ko-KR" altLang="en-US" sz="1400" dirty="0">
                <a:solidFill>
                  <a:schemeClr val="tx2"/>
                </a:solidFill>
              </a:rPr>
              <a:t>이동 비용과 물 여부는 지형에 대한 데이터인데 switch 문 안에 박혀 있다.</a:t>
            </a:r>
            <a:endParaRPr lang="ko-KR" altLang="en-US" sz="1400" dirty="0"/>
          </a:p>
        </p:txBody>
      </p:sp>
      <p:sp>
        <p:nvSpPr>
          <p:cNvPr id="23" name="card"/>
          <p:cNvSpPr/>
          <p:nvPr/>
        </p:nvSpPr>
        <p:spPr>
          <a:xfrm>
            <a:off x="5577840" y="3035808"/>
            <a:ext cx="6065215" cy="1234440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806440" y="3236976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5806440" y="32369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>
              <a:buNone/>
            </a:pPr>
            <a:r>
              <a:rPr lang="ko-KR" altLang="en-US" sz="1500" b="1" dirty="0">
                <a:solidFill>
                  <a:schemeClr val="bg1"/>
                </a:solidFill>
              </a:rPr>
              <a:t>2</a:t>
            </a:r>
            <a:endParaRPr lang="ko-KR" alt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6355080" y="3255264"/>
            <a:ext cx="51050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700" b="1" dirty="0">
                <a:solidFill>
                  <a:schemeClr val="tx1"/>
                </a:solidFill>
              </a:rPr>
              <a:t>흩어진 데이터</a:t>
            </a:r>
            <a:endParaRPr lang="ko-KR" altLang="en-US" sz="1700" dirty="0"/>
          </a:p>
        </p:txBody>
      </p:sp>
      <p:sp>
        <p:nvSpPr>
          <p:cNvPr id="27" name="Text 24"/>
          <p:cNvSpPr txBox="1"/>
          <p:nvPr/>
        </p:nvSpPr>
        <p:spPr>
          <a:xfrm>
            <a:off x="6355080" y="3694176"/>
            <a:ext cx="5105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buNone/>
            </a:pPr>
            <a:r>
              <a:rPr lang="ko-KR" altLang="en-US" sz="1400" dirty="0">
                <a:solidFill>
                  <a:schemeClr val="tx2"/>
                </a:solidFill>
              </a:rPr>
              <a:t>한 지형의 데이터가 여러 메서드에 나뉘어 있다.</a:t>
            </a:r>
            <a:endParaRPr lang="ko-KR" altLang="en-US" sz="1400" dirty="0"/>
          </a:p>
        </p:txBody>
      </p:sp>
      <p:sp>
        <p:nvSpPr>
          <p:cNvPr id="28" name="card"/>
          <p:cNvSpPr/>
          <p:nvPr/>
        </p:nvSpPr>
        <p:spPr>
          <a:xfrm>
            <a:off x="5577840" y="4379976"/>
            <a:ext cx="6065215" cy="1234440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5806440" y="4581144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5806440" y="45811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>
              <a:buNone/>
            </a:pPr>
            <a:r>
              <a:rPr lang="ko-KR" altLang="en-US" sz="1500" b="1" dirty="0">
                <a:solidFill>
                  <a:schemeClr val="bg1"/>
                </a:solidFill>
              </a:rPr>
              <a:t>3</a:t>
            </a:r>
            <a:endParaRPr lang="ko-KR" altLang="en-US" sz="1500" dirty="0"/>
          </a:p>
        </p:txBody>
      </p:sp>
      <p:sp>
        <p:nvSpPr>
          <p:cNvPr id="31" name="Text 28"/>
          <p:cNvSpPr txBox="1"/>
          <p:nvPr/>
        </p:nvSpPr>
        <p:spPr>
          <a:xfrm>
            <a:off x="6355080" y="4599432"/>
            <a:ext cx="51050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700" b="1" dirty="0">
                <a:solidFill>
                  <a:schemeClr val="tx1"/>
                </a:solidFill>
              </a:rPr>
              <a:t>칸마다 객체를 만들면</a:t>
            </a:r>
            <a:endParaRPr lang="ko-KR" altLang="en-US" sz="1700" dirty="0"/>
          </a:p>
        </p:txBody>
      </p:sp>
      <p:sp>
        <p:nvSpPr>
          <p:cNvPr id="32" name="Text 29"/>
          <p:cNvSpPr txBox="1"/>
          <p:nvPr/>
        </p:nvSpPr>
        <p:spPr>
          <a:xfrm>
            <a:off x="6355080" y="5038344"/>
            <a:ext cx="5105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buNone/>
            </a:pPr>
            <a:r>
              <a:rPr lang="ko-KR" altLang="en-US" sz="1400" dirty="0">
                <a:solidFill>
                  <a:schemeClr val="tx2"/>
                </a:solidFill>
              </a:rPr>
              <a:t>칸마다 지형 객체를 만들면 같은 값이 칸 수만큼 생긴다.</a:t>
            </a:r>
            <a:endParaRPr lang="ko-KR" alt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 eaLnBrk="0">
              <a:defRPr sz="1000">
                <a:solidFill>
                  <a:schemeClr val="accent3"/>
                </a:solidFill>
              </a:defRPr>
            </a:lvl1pPr>
          </a:lstStyle>
          <a:p>
            <a:pPr algn="r" eaLnBrk="0"/>
            <a:fld id="{F7021451-1387-4CA6-816F-3879F97B5CBC}" type="slidenum">
              <a:rPr b="0" lang="ko-KR" altLang="en-US"/>
              <a:t>20</a:t>
            </a:fld>
            <a:endParaRPr lang="ko-KR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2918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300" b="1" dirty="0">
                <a:solidFill>
                  <a:schemeClr val="accent1"/>
                </a:solidFill>
              </a:rPr>
              <a:t>지형 객체</a:t>
            </a:r>
            <a:endParaRPr lang="ko-KR" alt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 eaLnBrk="0">
              <a:buNone/>
            </a:pPr>
            <a:r>
              <a:rPr lang="ko-KR" altLang="en-US" sz="2600" b="1" dirty="0">
                <a:solidFill>
                  <a:schemeClr val="tx1"/>
                </a:solidFill>
              </a:rPr>
              <a:t>지형 종류마다 Terrain 객체를 만들고, 값은 읽기만 한다</a:t>
            </a:r>
            <a:endParaRPr lang="ko-KR" altLang="en-US" sz="2600" dirty="0"/>
          </a:p>
        </p:txBody>
      </p:sp>
      <p:sp>
        <p:nvSpPr>
          <p:cNvPr id="4" name="bridge"/>
          <p:cNvSpPr txBox="1"/>
          <p:nvPr/>
        </p:nvSpPr>
        <p:spPr>
          <a:xfrm>
            <a:off x="548640" y="587044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500" b="1" dirty="0">
                <a:solidFill>
                  <a:schemeClr val="accent1"/>
                </a:solidFill>
              </a:rPr>
              <a:t>다음 질문  </a:t>
            </a:r>
            <a:pPr indent="0" marL="0" eaLnBrk="0">
              <a:buNone/>
            </a:pPr>
            <a:r>
              <a:rPr lang="ko-KR" altLang="en-US" sz="1500" dirty="0">
                <a:solidFill>
                  <a:schemeClr val="tx2"/>
                </a:solidFill>
              </a:rPr>
              <a:t>이 객체들은 누가 만들고 가지고 있을까?</a:t>
            </a:r>
            <a:endParaRPr lang="ko-KR" altLang="en-US" sz="1500" dirty="0"/>
          </a:p>
        </p:txBody>
      </p:sp>
      <p:sp>
        <p:nvSpPr>
          <p:cNvPr id="6" name="codePanel"/>
          <p:cNvSpPr/>
          <p:nvPr/>
        </p:nvSpPr>
        <p:spPr>
          <a:xfrm>
            <a:off x="548640" y="1645920"/>
            <a:ext cx="6949440" cy="4069080"/>
          </a:xfrm>
          <a:prstGeom prst="roundRect">
            <a:avLst>
              <a:gd name="adj" fmla="val 1798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7" name="code"/>
          <p:cNvSpPr txBox="1"/>
          <p:nvPr/>
        </p:nvSpPr>
        <p:spPr>
          <a:xfrm>
            <a:off x="658368" y="1737360"/>
            <a:ext cx="6729984" cy="3886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 eaLnBrk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Terrain</a:t>
            </a:r>
            <a:endParaRPr lang="ko-KR" altLang="en-US" sz="1300" dirty="0"/>
          </a:p>
          <a:p>
            <a:pPr indent="0" marL="0" eaLnBrk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ko-KR" altLang="en-US" sz="1300" dirty="0"/>
          </a:p>
          <a:p>
            <a:pPr indent="0" marL="0" eaLnBrk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Terrain(int movementCost, bool isWater, Texture texture)</a:t>
            </a:r>
            <a:endParaRPr lang="ko-KR" altLang="en-US" sz="1300" dirty="0"/>
          </a:p>
          <a:p>
            <a:pPr indent="0" marL="0" eaLnBrk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ko-KR" altLang="en-US" sz="1300" dirty="0"/>
          </a:p>
          <a:p>
            <a:pPr indent="0" marL="0" eaLnBrk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MovementCost = movementCost;</a:t>
            </a:r>
            <a:endParaRPr lang="ko-KR" altLang="en-US" sz="1300" dirty="0"/>
          </a:p>
          <a:p>
            <a:pPr indent="0" marL="0" eaLnBrk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IsWater = isWater;</a:t>
            </a:r>
            <a:endParaRPr lang="ko-KR" altLang="en-US" sz="1300" dirty="0"/>
          </a:p>
          <a:p>
            <a:pPr indent="0" marL="0" eaLnBrk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Texture = texture;</a:t>
            </a:r>
            <a:endParaRPr lang="ko-KR" altLang="en-US" sz="1300" dirty="0"/>
          </a:p>
          <a:p>
            <a:pPr indent="0" marL="0" eaLnBrk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ko-KR" altLang="en-US" sz="1300" dirty="0"/>
          </a:p>
          <a:p>
            <a:pPr indent="0" marL="0" eaLnBrk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ko-KR" altLang="en-US" sz="1300" dirty="0"/>
          </a:p>
          <a:p>
            <a:pPr indent="0" marL="0" eaLnBrk="0">
              <a:buNone/>
            </a:pPr>
            <a:r>
              <a:rPr lang="ko-KR" altLang="en-US" sz="1300" b="1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int MovementCost { get; }</a:t>
            </a:r>
            <a:endParaRPr lang="ko-KR" altLang="en-US" sz="1300" dirty="0"/>
          </a:p>
          <a:p>
            <a:pPr indent="0" marL="0" eaLnBrk="0">
              <a:buNone/>
            </a:pPr>
            <a:r>
              <a:rPr lang="ko-KR" altLang="en-US" sz="1300" b="1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bool IsWater { get; }</a:t>
            </a:r>
            <a:endParaRPr lang="ko-KR" altLang="en-US" sz="1300" dirty="0"/>
          </a:p>
          <a:p>
            <a:pPr indent="0" marL="0" eaLnBrk="0">
              <a:buNone/>
            </a:pPr>
            <a:r>
              <a:rPr lang="ko-KR" altLang="en-US" sz="1300" b="1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Texture Texture { get; }</a:t>
            </a:r>
            <a:endParaRPr lang="ko-KR" altLang="en-US" sz="1300" dirty="0"/>
          </a:p>
          <a:p>
            <a:pPr indent="0" marL="0" eaLnBrk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ko-KR" altLang="en-US" sz="1300" dirty="0"/>
          </a:p>
        </p:txBody>
      </p:sp>
      <p:sp>
        <p:nvSpPr>
          <p:cNvPr id="8" name="codeCaption"/>
          <p:cNvSpPr txBox="1"/>
          <p:nvPr/>
        </p:nvSpPr>
        <p:spPr>
          <a:xfrm>
            <a:off x="4389120" y="1737360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 eaLnBrk="0">
              <a:buNone/>
            </a:pPr>
            <a:r>
              <a:rPr lang="ko-KR" altLang="en-US" sz="1000" dirty="0">
                <a:solidFill>
                  <a:schemeClr val="accent3"/>
                </a:solidFill>
              </a:rPr>
              <a:t>원서 예제를 C#으로 옮긴 코드</a:t>
            </a:r>
            <a:endParaRPr lang="ko-KR" altLang="en-US" sz="1000" dirty="0"/>
          </a:p>
        </p:txBody>
      </p:sp>
      <p:sp>
        <p:nvSpPr>
          <p:cNvPr id="9" name="card"/>
          <p:cNvSpPr/>
          <p:nvPr/>
        </p:nvSpPr>
        <p:spPr>
          <a:xfrm>
            <a:off x="7818120" y="1645920"/>
            <a:ext cx="3824935" cy="192024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046720" y="1865376"/>
            <a:ext cx="34134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700" b="1" dirty="0">
                <a:solidFill>
                  <a:schemeClr val="tx1"/>
                </a:solidFill>
              </a:rPr>
              <a:t>한곳에 모인 데이터</a:t>
            </a:r>
            <a:endParaRPr lang="ko-KR" alt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046720" y="2423160"/>
            <a:ext cx="33677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spcAft>
                <a:spcPts val="400"/>
              </a:spcAft>
              <a:buNone/>
            </a:pPr>
            <a:r>
              <a:rPr lang="ko-KR" altLang="en-US" sz="1400" dirty="0">
                <a:solidFill>
                  <a:schemeClr val="tx2"/>
                </a:solidFill>
              </a:rPr>
              <a:t>풀밭의 이동 비용, 물 여부, 텍스처가 Terrain 객체 하나에 들어 있다.</a:t>
            </a:r>
            <a:endParaRPr lang="ko-KR" altLang="en-US" sz="1400" dirty="0"/>
          </a:p>
        </p:txBody>
      </p:sp>
      <p:sp>
        <p:nvSpPr>
          <p:cNvPr id="12" name="card"/>
          <p:cNvSpPr/>
          <p:nvPr/>
        </p:nvSpPr>
        <p:spPr>
          <a:xfrm>
            <a:off x="7818120" y="3749040"/>
            <a:ext cx="3824935" cy="1965960"/>
          </a:xfrm>
          <a:prstGeom prst="roundRect">
            <a:avLst>
              <a:gd name="adj" fmla="val 465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046720" y="3968496"/>
            <a:ext cx="34134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700" b="1" dirty="0">
                <a:solidFill>
                  <a:schemeClr val="tx1"/>
                </a:solidFill>
              </a:rPr>
              <a:t>읽기 전용인 이유</a:t>
            </a:r>
            <a:endParaRPr lang="ko-KR" alt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8046720" y="4526280"/>
            <a:ext cx="336773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spcAft>
                <a:spcPts val="400"/>
              </a:spcAft>
              <a:buNone/>
            </a:pPr>
            <a:r>
              <a:rPr lang="ko-KR" altLang="en-US" sz="1400" dirty="0">
                <a:solidFill>
                  <a:schemeClr val="tx2"/>
                </a:solidFill>
              </a:rPr>
              <a:t>여러 칸이 같은 객체를 쓰므로, 고치면 그 지형의 모든 칸이 함께 바뀐다.</a:t>
            </a:r>
            <a:endParaRPr lang="ko-KR" alt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 eaLnBrk="0">
              <a:defRPr sz="1000">
                <a:solidFill>
                  <a:schemeClr val="accent3"/>
                </a:solidFill>
              </a:defRPr>
            </a:lvl1pPr>
          </a:lstStyle>
          <a:p>
            <a:pPr algn="r" eaLnBrk="0"/>
            <a:fld id="{F7021451-1387-4CA6-816F-3879F97B5CBC}" type="slidenum">
              <a:rPr b="0" lang="ko-KR" altLang="en-US"/>
              <a:t>21</a:t>
            </a:fld>
            <a:endParaRPr lang="ko-KR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2918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300" b="1" dirty="0">
                <a:solidFill>
                  <a:schemeClr val="accent1"/>
                </a:solidFill>
              </a:rPr>
              <a:t>World</a:t>
            </a:r>
            <a:endParaRPr lang="ko-KR" alt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 eaLnBrk="0">
              <a:buNone/>
            </a:pPr>
            <a:r>
              <a:rPr lang="ko-KR" altLang="en-US" sz="2600" b="1" dirty="0">
                <a:solidFill>
                  <a:schemeClr val="tx1"/>
                </a:solidFill>
              </a:rPr>
              <a:t>World가 지형 객체 세 개를 가지고, 격자는 그 객체를 가리킨다</a:t>
            </a:r>
            <a:endParaRPr lang="ko-KR" altLang="en-US" sz="2600" dirty="0"/>
          </a:p>
        </p:txBody>
      </p:sp>
      <p:sp>
        <p:nvSpPr>
          <p:cNvPr id="4" name="bridge"/>
          <p:cNvSpPr txBox="1"/>
          <p:nvPr/>
        </p:nvSpPr>
        <p:spPr>
          <a:xfrm>
            <a:off x="548640" y="587044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500" b="1" dirty="0">
                <a:solidFill>
                  <a:schemeClr val="accent1"/>
                </a:solidFill>
              </a:rPr>
              <a:t>다음 질문  </a:t>
            </a:r>
            <a:pPr indent="0" marL="0" eaLnBrk="0">
              <a:buNone/>
            </a:pPr>
            <a:r>
              <a:rPr lang="ko-KR" altLang="en-US" sz="1500" dirty="0">
                <a:solidFill>
                  <a:schemeClr val="tx2"/>
                </a:solidFill>
              </a:rPr>
              <a:t>격자의 칸은 이 객체들을 어떻게 가리키게 될까?</a:t>
            </a:r>
            <a:endParaRPr lang="ko-KR" altLang="en-US" sz="1500" dirty="0"/>
          </a:p>
        </p:txBody>
      </p:sp>
      <p:sp>
        <p:nvSpPr>
          <p:cNvPr id="6" name="codePanel"/>
          <p:cNvSpPr/>
          <p:nvPr/>
        </p:nvSpPr>
        <p:spPr>
          <a:xfrm>
            <a:off x="548640" y="1645920"/>
            <a:ext cx="11094415" cy="2606040"/>
          </a:xfrm>
          <a:prstGeom prst="roundRect">
            <a:avLst>
              <a:gd name="adj" fmla="val 280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7" name="code"/>
          <p:cNvSpPr txBox="1"/>
          <p:nvPr/>
        </p:nvSpPr>
        <p:spPr>
          <a:xfrm>
            <a:off x="658368" y="1737360"/>
            <a:ext cx="10874959" cy="2423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 eaLnBrk="0">
              <a:buNone/>
            </a:pPr>
            <a:r>
              <a:rPr lang="ko-KR" altLang="en-US" sz="1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World</a:t>
            </a:r>
            <a:endParaRPr lang="ko-KR" altLang="en-US" sz="1400" dirty="0"/>
          </a:p>
          <a:p>
            <a:pPr indent="0" marL="0" eaLnBrk="0">
              <a:buNone/>
            </a:pPr>
            <a:r>
              <a:rPr lang="ko-KR" altLang="en-US" sz="1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ko-KR" altLang="en-US" sz="1400" dirty="0"/>
          </a:p>
          <a:p>
            <a:pPr indent="0" marL="0" eaLnBrk="0">
              <a:buNone/>
            </a:pPr>
            <a:r>
              <a:rPr lang="ko-KR" altLang="en-US" sz="1400" b="1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readonly Terrain _grassTerrain = new Terrain(1, false, GrassTexture);</a:t>
            </a:r>
            <a:endParaRPr lang="ko-KR" altLang="en-US" sz="1400" dirty="0"/>
          </a:p>
          <a:p>
            <a:pPr indent="0" marL="0" eaLnBrk="0">
              <a:buNone/>
            </a:pPr>
            <a:r>
              <a:rPr lang="ko-KR" altLang="en-US" sz="1400" b="1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readonly Terrain _hillTerrain  = new Terrain(3, false, HillTexture);</a:t>
            </a:r>
            <a:endParaRPr lang="ko-KR" altLang="en-US" sz="1400" dirty="0"/>
          </a:p>
          <a:p>
            <a:pPr indent="0" marL="0" eaLnBrk="0">
              <a:buNone/>
            </a:pPr>
            <a:r>
              <a:rPr lang="ko-KR" altLang="en-US" sz="1400" b="1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readonly Terrain _riverTerrain = new Terrain(2, true, RiverTexture);</a:t>
            </a:r>
            <a:endParaRPr lang="ko-KR" altLang="en-US" sz="1400" dirty="0"/>
          </a:p>
          <a:p>
            <a:pPr indent="0" marL="0" eaLnBrk="0">
              <a:buNone/>
            </a:pPr>
            <a:r>
              <a:rPr lang="ko-KR" altLang="en-US" sz="1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ko-KR" altLang="en-US" sz="1400" dirty="0"/>
          </a:p>
          <a:p>
            <a:pPr indent="0" marL="0" eaLnBrk="0">
              <a:buNone/>
            </a:pPr>
            <a:r>
              <a:rPr lang="ko-KR" altLang="en-US" sz="1400" b="1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readonly Terrain[,] _tiles = new Terrain[Width, Height];</a:t>
            </a:r>
            <a:endParaRPr lang="ko-KR" altLang="en-US" sz="1400" dirty="0"/>
          </a:p>
          <a:p>
            <a:pPr indent="0" marL="0" eaLnBrk="0">
              <a:buNone/>
            </a:pPr>
            <a:r>
              <a:rPr lang="ko-KR" altLang="en-US" sz="1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ko-KR" altLang="en-US" sz="1400" dirty="0"/>
          </a:p>
          <a:p>
            <a:pPr indent="0" marL="0" eaLnBrk="0">
              <a:buNone/>
            </a:pPr>
            <a:r>
              <a:rPr lang="ko-KR" altLang="en-US" sz="14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그 밖의 필드...</a:t>
            </a:r>
            <a:endParaRPr lang="ko-KR" altLang="en-US" sz="1400" dirty="0"/>
          </a:p>
          <a:p>
            <a:pPr indent="0" marL="0" eaLnBrk="0">
              <a:buNone/>
            </a:pPr>
            <a:r>
              <a:rPr lang="ko-KR" altLang="en-US" sz="1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ko-KR" altLang="en-US" sz="1400" dirty="0"/>
          </a:p>
        </p:txBody>
      </p:sp>
      <p:sp>
        <p:nvSpPr>
          <p:cNvPr id="8" name="codeCaption"/>
          <p:cNvSpPr txBox="1"/>
          <p:nvPr/>
        </p:nvSpPr>
        <p:spPr>
          <a:xfrm>
            <a:off x="8534095" y="1737360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 eaLnBrk="0">
              <a:buNone/>
            </a:pPr>
            <a:r>
              <a:rPr lang="ko-KR" altLang="en-US" sz="1000" dirty="0">
                <a:solidFill>
                  <a:schemeClr val="accent3"/>
                </a:solidFill>
              </a:rPr>
              <a:t>원서 예제를 C#으로 옮긴 코드</a:t>
            </a:r>
            <a:endParaRPr lang="ko-KR" altLang="en-US" sz="1000" dirty="0"/>
          </a:p>
        </p:txBody>
      </p:sp>
      <p:sp>
        <p:nvSpPr>
          <p:cNvPr id="9" name="card"/>
          <p:cNvSpPr/>
          <p:nvPr/>
        </p:nvSpPr>
        <p:spPr>
          <a:xfrm>
            <a:off x="548640" y="4434840"/>
            <a:ext cx="5349240" cy="128016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4654296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700" b="1" dirty="0">
                <a:solidFill>
                  <a:schemeClr val="tx1"/>
                </a:solidFill>
              </a:rPr>
              <a:t>World가 직접 가진다</a:t>
            </a:r>
            <a:endParaRPr lang="ko-KR" alt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521208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spcAft>
                <a:spcPts val="400"/>
              </a:spcAft>
              <a:buNone/>
            </a:pPr>
            <a:r>
              <a:rPr lang="ko-KR" altLang="en-US" sz="1400" dirty="0">
                <a:solidFill>
                  <a:schemeClr val="tx2"/>
                </a:solidFill>
              </a:rPr>
              <a:t>지형 객체는 게임 내내 쓰이므로 필드로 두어 수명을 단순하게 한다.</a:t>
            </a:r>
            <a:endParaRPr lang="ko-KR" altLang="en-US" sz="1400" dirty="0"/>
          </a:p>
        </p:txBody>
      </p:sp>
      <p:sp>
        <p:nvSpPr>
          <p:cNvPr id="12" name="card"/>
          <p:cNvSpPr/>
          <p:nvPr/>
        </p:nvSpPr>
        <p:spPr>
          <a:xfrm>
            <a:off x="6263640" y="4434840"/>
            <a:ext cx="5379415" cy="128016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92240" y="4654296"/>
            <a:ext cx="49679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700" b="1" dirty="0">
                <a:solidFill>
                  <a:schemeClr val="tx1"/>
                </a:solidFill>
              </a:rPr>
              <a:t>칸에는 참조만</a:t>
            </a:r>
            <a:endParaRPr lang="ko-KR" alt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6492240" y="5212080"/>
            <a:ext cx="4922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spcAft>
                <a:spcPts val="400"/>
              </a:spcAft>
              <a:buNone/>
            </a:pPr>
            <a:r>
              <a:rPr lang="ko-KR" altLang="en-US" sz="1400" dirty="0">
                <a:solidFill>
                  <a:schemeClr val="tx2"/>
                </a:solidFill>
              </a:rPr>
              <a:t>같은 지형의 칸은 모두 같은 Terrain 객체를 가리킨다.</a:t>
            </a:r>
            <a:endParaRPr lang="ko-KR" alt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 eaLnBrk="0">
              <a:defRPr sz="1000">
                <a:solidFill>
                  <a:schemeClr val="accent3"/>
                </a:solidFill>
              </a:defRPr>
            </a:lvl1pPr>
          </a:lstStyle>
          <a:p>
            <a:pPr algn="r" eaLnBrk="0"/>
            <a:fld id="{F7021451-1387-4CA6-816F-3879F97B5CBC}" type="slidenum">
              <a:rPr b="0" lang="ko-KR" altLang="en-US"/>
              <a:t>22</a:t>
            </a:fld>
            <a:endParaRPr lang="ko-KR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2918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300" b="1" dirty="0">
                <a:solidFill>
                  <a:schemeClr val="accent1"/>
                </a:solidFill>
              </a:rPr>
              <a:t>땅 만들기</a:t>
            </a:r>
            <a:endParaRPr lang="ko-KR" alt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 eaLnBrk="0">
              <a:buNone/>
            </a:pPr>
            <a:r>
              <a:rPr lang="ko-KR" altLang="en-US" sz="2600" b="1" dirty="0">
                <a:solidFill>
                  <a:schemeClr val="tx1"/>
                </a:solidFill>
              </a:rPr>
              <a:t>칸마다 알맞은 지형 객체를 가리키게 한다</a:t>
            </a:r>
            <a:endParaRPr lang="ko-KR" altLang="en-US" sz="2600" dirty="0"/>
          </a:p>
        </p:txBody>
      </p:sp>
      <p:sp>
        <p:nvSpPr>
          <p:cNvPr id="4" name="bridge"/>
          <p:cNvSpPr txBox="1"/>
          <p:nvPr/>
        </p:nvSpPr>
        <p:spPr>
          <a:xfrm>
            <a:off x="548640" y="587044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500" b="1" dirty="0">
                <a:solidFill>
                  <a:schemeClr val="accent1"/>
                </a:solidFill>
              </a:rPr>
              <a:t>다음 질문  </a:t>
            </a:r>
            <a:pPr indent="0" marL="0" eaLnBrk="0">
              <a:buNone/>
            </a:pPr>
            <a:r>
              <a:rPr lang="ko-KR" altLang="en-US" sz="1500" dirty="0">
                <a:solidFill>
                  <a:schemeClr val="tx2"/>
                </a:solidFill>
              </a:rPr>
              <a:t>칸의 성질은 이제 어떻게 읽을까?</a:t>
            </a:r>
            <a:endParaRPr lang="ko-KR" altLang="en-US" sz="1500" dirty="0"/>
          </a:p>
        </p:txBody>
      </p:sp>
      <p:sp>
        <p:nvSpPr>
          <p:cNvPr id="6" name="codePanel"/>
          <p:cNvSpPr/>
          <p:nvPr/>
        </p:nvSpPr>
        <p:spPr>
          <a:xfrm>
            <a:off x="548640" y="1645920"/>
            <a:ext cx="6309360" cy="4069080"/>
          </a:xfrm>
          <a:prstGeom prst="roundRect">
            <a:avLst>
              <a:gd name="adj" fmla="val 1798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7" name="code"/>
          <p:cNvSpPr txBox="1"/>
          <p:nvPr/>
        </p:nvSpPr>
        <p:spPr>
          <a:xfrm>
            <a:off x="658368" y="1737360"/>
            <a:ext cx="6089904" cy="3886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 eaLnBrk="0">
              <a:buNone/>
            </a:pPr>
            <a:r>
              <a:rPr lang="ko-KR" altLang="en-US" sz="12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void GenerateTerrain()</a:t>
            </a:r>
            <a:endParaRPr lang="ko-KR" altLang="en-US" sz="1250" dirty="0"/>
          </a:p>
          <a:p>
            <a:pPr indent="0" marL="0" eaLnBrk="0">
              <a:buNone/>
            </a:pPr>
            <a:r>
              <a:rPr lang="ko-KR" altLang="en-US" sz="12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ko-KR" altLang="en-US" sz="1250" dirty="0"/>
          </a:p>
          <a:p>
            <a:pPr indent="0" marL="0" eaLnBrk="0">
              <a:buNone/>
            </a:pPr>
            <a:r>
              <a:rPr lang="ko-KR" altLang="en-US" sz="125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땅을 풀밭으로 채우고, 언덕을 군데군데 둔다</a:t>
            </a:r>
            <a:endParaRPr lang="ko-KR" altLang="en-US" sz="1250" dirty="0"/>
          </a:p>
          <a:p>
            <a:pPr indent="0" marL="0" eaLnBrk="0">
              <a:buNone/>
            </a:pPr>
            <a:r>
              <a:rPr lang="ko-KR" altLang="en-US" sz="12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(int x = 0; x &lt; Width; x++)</a:t>
            </a:r>
            <a:endParaRPr lang="ko-KR" altLang="en-US" sz="1250" dirty="0"/>
          </a:p>
          <a:p>
            <a:pPr indent="0" marL="0" eaLnBrk="0">
              <a:buNone/>
            </a:pPr>
            <a:r>
              <a:rPr lang="ko-KR" altLang="en-US" sz="12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ko-KR" altLang="en-US" sz="1250" dirty="0"/>
          </a:p>
          <a:p>
            <a:pPr indent="0" marL="0" eaLnBrk="0">
              <a:buNone/>
            </a:pPr>
            <a:r>
              <a:rPr lang="ko-KR" altLang="en-US" sz="12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(int y = 0; y &lt; Height; y++)</a:t>
            </a:r>
            <a:endParaRPr lang="ko-KR" altLang="en-US" sz="1250" dirty="0"/>
          </a:p>
          <a:p>
            <a:pPr indent="0" marL="0" eaLnBrk="0">
              <a:buNone/>
            </a:pPr>
            <a:r>
              <a:rPr lang="ko-KR" altLang="en-US" sz="12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</a:t>
            </a:r>
            <a:endParaRPr lang="ko-KR" altLang="en-US" sz="1250" dirty="0"/>
          </a:p>
          <a:p>
            <a:pPr indent="0" marL="0" eaLnBrk="0">
              <a:buNone/>
            </a:pPr>
            <a:r>
              <a:rPr lang="ko-KR" altLang="en-US" sz="1250" b="1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(_random.Next(10) == 0)</a:t>
            </a:r>
            <a:endParaRPr lang="ko-KR" altLang="en-US" sz="1250" dirty="0"/>
          </a:p>
          <a:p>
            <a:pPr indent="0" marL="0" eaLnBrk="0">
              <a:buNone/>
            </a:pPr>
            <a:r>
              <a:rPr lang="ko-KR" altLang="en-US" sz="12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_tiles[x, y] = _hillTerrain;</a:t>
            </a:r>
            <a:endParaRPr lang="ko-KR" altLang="en-US" sz="1250" dirty="0"/>
          </a:p>
          <a:p>
            <a:pPr indent="0" marL="0" eaLnBrk="0">
              <a:buNone/>
            </a:pPr>
            <a:r>
              <a:rPr lang="ko-KR" altLang="en-US" sz="1250" b="1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else</a:t>
            </a:r>
            <a:endParaRPr lang="ko-KR" altLang="en-US" sz="1250" dirty="0"/>
          </a:p>
          <a:p>
            <a:pPr indent="0" marL="0" eaLnBrk="0">
              <a:buNone/>
            </a:pPr>
            <a:r>
              <a:rPr lang="ko-KR" altLang="en-US" sz="12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_tiles[x, y] = _grassTerrain;</a:t>
            </a:r>
            <a:endParaRPr lang="ko-KR" altLang="en-US" sz="1250" dirty="0"/>
          </a:p>
          <a:p>
            <a:pPr indent="0" marL="0" eaLnBrk="0">
              <a:buNone/>
            </a:pPr>
            <a:r>
              <a:rPr lang="ko-KR" altLang="en-US" sz="12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ko-KR" altLang="en-US" sz="1250" dirty="0"/>
          </a:p>
          <a:p>
            <a:pPr indent="0" marL="0" eaLnBrk="0">
              <a:buNone/>
            </a:pPr>
            <a:r>
              <a:rPr lang="ko-KR" altLang="en-US" sz="12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ko-KR" altLang="en-US" sz="1250" dirty="0"/>
          </a:p>
          <a:p>
            <a:pPr indent="0" marL="0" eaLnBrk="0">
              <a:buNone/>
            </a:pPr>
            <a:r>
              <a:rPr lang="ko-KR" altLang="en-US" sz="12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ko-KR" altLang="en-US" sz="1250" dirty="0"/>
          </a:p>
          <a:p>
            <a:pPr indent="0" marL="0" eaLnBrk="0">
              <a:buNone/>
            </a:pPr>
            <a:r>
              <a:rPr lang="ko-KR" altLang="en-US" sz="125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강을 하나 놓는다</a:t>
            </a:r>
            <a:endParaRPr lang="ko-KR" altLang="en-US" sz="1250" dirty="0"/>
          </a:p>
          <a:p>
            <a:pPr indent="0" marL="0" eaLnBrk="0">
              <a:buNone/>
            </a:pPr>
            <a:r>
              <a:rPr lang="ko-KR" altLang="en-US" sz="12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riverX = _random.Next(Width);</a:t>
            </a:r>
            <a:endParaRPr lang="ko-KR" altLang="en-US" sz="1250" dirty="0"/>
          </a:p>
          <a:p>
            <a:pPr indent="0" marL="0" eaLnBrk="0">
              <a:buNone/>
            </a:pPr>
            <a:r>
              <a:rPr lang="ko-KR" altLang="en-US" sz="1250" b="1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(int y = 0; y &lt; Height; y++)</a:t>
            </a:r>
            <a:endParaRPr lang="ko-KR" altLang="en-US" sz="1250" dirty="0"/>
          </a:p>
          <a:p>
            <a:pPr indent="0" marL="0" eaLnBrk="0">
              <a:buNone/>
            </a:pPr>
            <a:r>
              <a:rPr lang="ko-KR" altLang="en-US" sz="12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_tiles[riverX, y] = _riverTerrain;</a:t>
            </a:r>
            <a:endParaRPr lang="ko-KR" altLang="en-US" sz="1250" dirty="0"/>
          </a:p>
          <a:p>
            <a:pPr indent="0" marL="0" eaLnBrk="0">
              <a:buNone/>
            </a:pPr>
            <a:r>
              <a:rPr lang="ko-KR" altLang="en-US" sz="12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ko-KR" altLang="en-US" sz="1250" dirty="0"/>
          </a:p>
        </p:txBody>
      </p:sp>
      <p:sp>
        <p:nvSpPr>
          <p:cNvPr id="8" name="codeCaption"/>
          <p:cNvSpPr txBox="1"/>
          <p:nvPr/>
        </p:nvSpPr>
        <p:spPr>
          <a:xfrm>
            <a:off x="3749040" y="1737360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 eaLnBrk="0">
              <a:buNone/>
            </a:pPr>
            <a:r>
              <a:rPr lang="ko-KR" altLang="en-US" sz="1000" dirty="0">
                <a:solidFill>
                  <a:schemeClr val="accent3"/>
                </a:solidFill>
              </a:rPr>
              <a:t>원서 예제를 C#으로 옮긴 코드</a:t>
            </a:r>
            <a:endParaRPr lang="ko-KR" alt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7863840" y="1691640"/>
            <a:ext cx="457200" cy="457200"/>
          </a:xfrm>
          <a:prstGeom prst="rect">
            <a:avLst/>
          </a:prstGeom>
          <a:solidFill>
            <a:srgbClr val="8DBF6A"/>
          </a:solidFill>
          <a:ln w="38100">
            <a:solidFill>
              <a:schemeClr val="tx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321040" y="1691640"/>
            <a:ext cx="457200" cy="457200"/>
          </a:xfrm>
          <a:prstGeom prst="rect">
            <a:avLst/>
          </a:prstGeom>
          <a:solidFill>
            <a:srgbClr val="8DBF6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778240" y="1691640"/>
            <a:ext cx="457200" cy="457200"/>
          </a:xfrm>
          <a:prstGeom prst="rect">
            <a:avLst/>
          </a:prstGeom>
          <a:solidFill>
            <a:srgbClr val="8DBF6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235440" y="1691640"/>
            <a:ext cx="457200" cy="457200"/>
          </a:xfrm>
          <a:prstGeom prst="rect">
            <a:avLst/>
          </a:prstGeom>
          <a:solidFill>
            <a:srgbClr val="5DA9E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9692640" y="1691640"/>
            <a:ext cx="457200" cy="457200"/>
          </a:xfrm>
          <a:prstGeom prst="rect">
            <a:avLst/>
          </a:prstGeom>
          <a:solidFill>
            <a:srgbClr val="8DBF6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149840" y="1691640"/>
            <a:ext cx="457200" cy="457200"/>
          </a:xfrm>
          <a:prstGeom prst="rect">
            <a:avLst/>
          </a:prstGeom>
          <a:solidFill>
            <a:srgbClr val="8DBF6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863840" y="2148840"/>
            <a:ext cx="457200" cy="457200"/>
          </a:xfrm>
          <a:prstGeom prst="rect">
            <a:avLst/>
          </a:prstGeom>
          <a:solidFill>
            <a:srgbClr val="8DBF6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321040" y="2148840"/>
            <a:ext cx="457200" cy="457200"/>
          </a:xfrm>
          <a:prstGeom prst="rect">
            <a:avLst/>
          </a:prstGeom>
          <a:solidFill>
            <a:srgbClr val="B08968"/>
          </a:solidFill>
          <a:ln w="38100">
            <a:solidFill>
              <a:schemeClr val="tx1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778240" y="2148840"/>
            <a:ext cx="457200" cy="457200"/>
          </a:xfrm>
          <a:prstGeom prst="rect">
            <a:avLst/>
          </a:prstGeom>
          <a:solidFill>
            <a:srgbClr val="8DBF6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235440" y="2148840"/>
            <a:ext cx="457200" cy="457200"/>
          </a:xfrm>
          <a:prstGeom prst="rect">
            <a:avLst/>
          </a:prstGeom>
          <a:solidFill>
            <a:srgbClr val="5DA9E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692640" y="2148840"/>
            <a:ext cx="457200" cy="457200"/>
          </a:xfrm>
          <a:prstGeom prst="rect">
            <a:avLst/>
          </a:prstGeom>
          <a:solidFill>
            <a:srgbClr val="8DBF6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0149840" y="2148840"/>
            <a:ext cx="457200" cy="457200"/>
          </a:xfrm>
          <a:prstGeom prst="rect">
            <a:avLst/>
          </a:prstGeom>
          <a:solidFill>
            <a:srgbClr val="8DBF6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863840" y="2606040"/>
            <a:ext cx="457200" cy="457200"/>
          </a:xfrm>
          <a:prstGeom prst="rect">
            <a:avLst/>
          </a:prstGeom>
          <a:solidFill>
            <a:srgbClr val="8DBF6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321040" y="2606040"/>
            <a:ext cx="457200" cy="457200"/>
          </a:xfrm>
          <a:prstGeom prst="rect">
            <a:avLst/>
          </a:prstGeom>
          <a:solidFill>
            <a:srgbClr val="8DBF6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778240" y="2606040"/>
            <a:ext cx="457200" cy="457200"/>
          </a:xfrm>
          <a:prstGeom prst="rect">
            <a:avLst/>
          </a:prstGeom>
          <a:solidFill>
            <a:srgbClr val="8DBF6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9235440" y="2606040"/>
            <a:ext cx="457200" cy="457200"/>
          </a:xfrm>
          <a:prstGeom prst="rect">
            <a:avLst/>
          </a:prstGeom>
          <a:solidFill>
            <a:srgbClr val="5DA9E9"/>
          </a:solidFill>
          <a:ln w="38100">
            <a:solidFill>
              <a:schemeClr val="tx1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9692640" y="2606040"/>
            <a:ext cx="457200" cy="457200"/>
          </a:xfrm>
          <a:prstGeom prst="rect">
            <a:avLst/>
          </a:prstGeom>
          <a:solidFill>
            <a:srgbClr val="B0896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0149840" y="2606040"/>
            <a:ext cx="457200" cy="457200"/>
          </a:xfrm>
          <a:prstGeom prst="rect">
            <a:avLst/>
          </a:prstGeom>
          <a:solidFill>
            <a:srgbClr val="8DBF6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863840" y="3063240"/>
            <a:ext cx="457200" cy="457200"/>
          </a:xfrm>
          <a:prstGeom prst="rect">
            <a:avLst/>
          </a:prstGeom>
          <a:solidFill>
            <a:srgbClr val="8DBF6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8321040" y="3063240"/>
            <a:ext cx="457200" cy="457200"/>
          </a:xfrm>
          <a:prstGeom prst="rect">
            <a:avLst/>
          </a:prstGeom>
          <a:solidFill>
            <a:srgbClr val="B0896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8778240" y="3063240"/>
            <a:ext cx="457200" cy="457200"/>
          </a:xfrm>
          <a:prstGeom prst="rect">
            <a:avLst/>
          </a:prstGeom>
          <a:solidFill>
            <a:srgbClr val="8DBF6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9235440" y="3063240"/>
            <a:ext cx="457200" cy="457200"/>
          </a:xfrm>
          <a:prstGeom prst="rect">
            <a:avLst/>
          </a:prstGeom>
          <a:solidFill>
            <a:srgbClr val="5DA9E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9692640" y="3063240"/>
            <a:ext cx="457200" cy="457200"/>
          </a:xfrm>
          <a:prstGeom prst="rect">
            <a:avLst/>
          </a:prstGeom>
          <a:solidFill>
            <a:srgbClr val="8DBF6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10149840" y="3063240"/>
            <a:ext cx="457200" cy="457200"/>
          </a:xfrm>
          <a:prstGeom prst="rect">
            <a:avLst/>
          </a:prstGeom>
          <a:solidFill>
            <a:srgbClr val="8DBF6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7863840" y="3520440"/>
            <a:ext cx="457200" cy="457200"/>
          </a:xfrm>
          <a:prstGeom prst="rect">
            <a:avLst/>
          </a:prstGeom>
          <a:solidFill>
            <a:srgbClr val="8DBF6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8321040" y="3520440"/>
            <a:ext cx="457200" cy="457200"/>
          </a:xfrm>
          <a:prstGeom prst="rect">
            <a:avLst/>
          </a:prstGeom>
          <a:solidFill>
            <a:srgbClr val="8DBF6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8778240" y="3520440"/>
            <a:ext cx="457200" cy="457200"/>
          </a:xfrm>
          <a:prstGeom prst="rect">
            <a:avLst/>
          </a:prstGeom>
          <a:solidFill>
            <a:srgbClr val="8DBF6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9235440" y="3520440"/>
            <a:ext cx="457200" cy="457200"/>
          </a:xfrm>
          <a:prstGeom prst="rect">
            <a:avLst/>
          </a:prstGeom>
          <a:solidFill>
            <a:srgbClr val="5DA9E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9692640" y="3520440"/>
            <a:ext cx="457200" cy="457200"/>
          </a:xfrm>
          <a:prstGeom prst="rect">
            <a:avLst/>
          </a:prstGeom>
          <a:solidFill>
            <a:srgbClr val="8DBF6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10149840" y="3520440"/>
            <a:ext cx="457200" cy="457200"/>
          </a:xfrm>
          <a:prstGeom prst="rect">
            <a:avLst/>
          </a:prstGeom>
          <a:solidFill>
            <a:srgbClr val="8DBF6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box"/>
          <p:cNvSpPr/>
          <p:nvPr/>
        </p:nvSpPr>
        <p:spPr>
          <a:xfrm>
            <a:off x="7315200" y="4434840"/>
            <a:ext cx="1371600" cy="548640"/>
          </a:xfrm>
          <a:prstGeom prst="roundRect">
            <a:avLst>
              <a:gd name="adj" fmla="val 13333"/>
            </a:avLst>
          </a:prstGeom>
          <a:solidFill>
            <a:srgbClr val="8DBF6A"/>
          </a:solidFill>
          <a:ln w="12700">
            <a:solidFill>
              <a:srgbClr val="8DBF6A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7315200" y="4434840"/>
            <a:ext cx="137160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 eaLnBrk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_grassTerrain</a:t>
            </a:r>
            <a:endParaRPr lang="ko-KR" altLang="en-US" sz="1100" dirty="0"/>
          </a:p>
        </p:txBody>
      </p:sp>
      <p:sp>
        <p:nvSpPr>
          <p:cNvPr id="41" name="Shape 38"/>
          <p:cNvSpPr/>
          <p:nvPr/>
        </p:nvSpPr>
        <p:spPr>
          <a:xfrm flipH="1">
            <a:off x="8001000" y="1920240"/>
            <a:ext cx="91440" cy="2496312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42" name="box"/>
          <p:cNvSpPr/>
          <p:nvPr/>
        </p:nvSpPr>
        <p:spPr>
          <a:xfrm>
            <a:off x="8778240" y="4434840"/>
            <a:ext cx="1371600" cy="548640"/>
          </a:xfrm>
          <a:prstGeom prst="roundRect">
            <a:avLst>
              <a:gd name="adj" fmla="val 13333"/>
            </a:avLst>
          </a:prstGeom>
          <a:solidFill>
            <a:srgbClr val="B08968"/>
          </a:solidFill>
          <a:ln w="12700">
            <a:solidFill>
              <a:srgbClr val="B08968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8778240" y="4434840"/>
            <a:ext cx="137160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 eaLnBrk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_hillTerrain</a:t>
            </a:r>
            <a:endParaRPr lang="ko-KR" alt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8549640" y="2377440"/>
            <a:ext cx="914400" cy="2039112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45" name="box"/>
          <p:cNvSpPr/>
          <p:nvPr/>
        </p:nvSpPr>
        <p:spPr>
          <a:xfrm>
            <a:off x="10241280" y="4434840"/>
            <a:ext cx="1371600" cy="548640"/>
          </a:xfrm>
          <a:prstGeom prst="roundRect">
            <a:avLst>
              <a:gd name="adj" fmla="val 13333"/>
            </a:avLst>
          </a:prstGeom>
          <a:solidFill>
            <a:srgbClr val="5DA9E9"/>
          </a:solidFill>
          <a:ln w="12700">
            <a:solidFill>
              <a:srgbClr val="5DA9E9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10241280" y="4434840"/>
            <a:ext cx="137160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 eaLnBrk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_riverTerrain</a:t>
            </a:r>
            <a:endParaRPr lang="ko-KR" altLang="en-US" sz="1100" dirty="0"/>
          </a:p>
        </p:txBody>
      </p:sp>
      <p:sp>
        <p:nvSpPr>
          <p:cNvPr id="47" name="Shape 44"/>
          <p:cNvSpPr/>
          <p:nvPr/>
        </p:nvSpPr>
        <p:spPr>
          <a:xfrm>
            <a:off x="9464040" y="2834640"/>
            <a:ext cx="1463040" cy="1581912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48" name="Text 45"/>
          <p:cNvSpPr txBox="1"/>
          <p:nvPr/>
        </p:nvSpPr>
        <p:spPr>
          <a:xfrm>
            <a:off x="7315200" y="5120640"/>
            <a:ext cx="4327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buNone/>
            </a:pPr>
            <a:r>
              <a:rPr lang="ko-KR" altLang="en-US" sz="1400" b="1" dirty="0">
                <a:solidFill>
                  <a:schemeClr val="tx1"/>
                </a:solidFill>
              </a:rPr>
              <a:t>칸 30개가 객체 3개를 나눠 가리킨다.</a:t>
            </a:r>
            <a:endParaRPr lang="ko-KR" alt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 eaLnBrk="0">
              <a:defRPr sz="1000">
                <a:solidFill>
                  <a:schemeClr val="accent3"/>
                </a:solidFill>
              </a:defRPr>
            </a:lvl1pPr>
          </a:lstStyle>
          <a:p>
            <a:pPr algn="r" eaLnBrk="0"/>
            <a:fld id="{F7021451-1387-4CA6-816F-3879F97B5CBC}" type="slidenum">
              <a:rPr b="0" lang="ko-KR" altLang="en-US"/>
              <a:t>23</a:t>
            </a:fld>
            <a:endParaRPr lang="ko-KR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2918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300" b="1" dirty="0">
                <a:solidFill>
                  <a:schemeClr val="accent1"/>
                </a:solidFill>
              </a:rPr>
              <a:t>칸의 성질 읽기</a:t>
            </a:r>
            <a:endParaRPr lang="ko-KR" alt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 eaLnBrk="0">
              <a:buNone/>
            </a:pPr>
            <a:r>
              <a:rPr lang="ko-KR" altLang="en-US" sz="2600" b="1" dirty="0">
                <a:solidFill>
                  <a:schemeClr val="tx1"/>
                </a:solidFill>
              </a:rPr>
              <a:t>칸에게 지형 객체를 받고, 성질은 그 객체에서 읽는다</a:t>
            </a:r>
            <a:endParaRPr lang="ko-KR" altLang="en-US" sz="2600" dirty="0"/>
          </a:p>
        </p:txBody>
      </p:sp>
      <p:sp>
        <p:nvSpPr>
          <p:cNvPr id="4" name="bridge"/>
          <p:cNvSpPr txBox="1"/>
          <p:nvPr/>
        </p:nvSpPr>
        <p:spPr>
          <a:xfrm>
            <a:off x="548640" y="587044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500" b="1" dirty="0">
                <a:solidFill>
                  <a:schemeClr val="accent1"/>
                </a:solidFill>
              </a:rPr>
              <a:t>다음 질문  </a:t>
            </a:r>
            <a:pPr indent="0" marL="0" eaLnBrk="0">
              <a:buNone/>
            </a:pPr>
            <a:r>
              <a:rPr lang="ko-KR" altLang="en-US" sz="1500" dirty="0">
                <a:solidFill>
                  <a:schemeClr val="tx2"/>
                </a:solidFill>
              </a:rPr>
              <a:t>실제 칸 몇 개로 값을 따라가 보자.</a:t>
            </a:r>
            <a:endParaRPr lang="ko-KR" altLang="en-US" sz="1500" dirty="0"/>
          </a:p>
        </p:txBody>
      </p:sp>
      <p:sp>
        <p:nvSpPr>
          <p:cNvPr id="6" name="codePanel"/>
          <p:cNvSpPr/>
          <p:nvPr/>
        </p:nvSpPr>
        <p:spPr>
          <a:xfrm>
            <a:off x="548640" y="1645920"/>
            <a:ext cx="6309360" cy="1417320"/>
          </a:xfrm>
          <a:prstGeom prst="roundRect">
            <a:avLst>
              <a:gd name="adj" fmla="val 5161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7" name="code"/>
          <p:cNvSpPr txBox="1"/>
          <p:nvPr/>
        </p:nvSpPr>
        <p:spPr>
          <a:xfrm>
            <a:off x="658368" y="1737360"/>
            <a:ext cx="6089904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 eaLnBrk="0">
              <a:buNone/>
            </a:pPr>
            <a:r>
              <a:rPr lang="ko-KR" altLang="en-US" sz="15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Terrain GetTile(int x, int y)</a:t>
            </a:r>
            <a:endParaRPr lang="ko-KR" altLang="en-US" sz="1500" dirty="0"/>
          </a:p>
          <a:p>
            <a:pPr indent="0" marL="0" eaLnBrk="0">
              <a:buNone/>
            </a:pPr>
            <a:r>
              <a:rPr lang="ko-KR" altLang="en-US" sz="15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ko-KR" altLang="en-US" sz="1500" dirty="0"/>
          </a:p>
          <a:p>
            <a:pPr indent="0" marL="0" eaLnBrk="0">
              <a:buNone/>
            </a:pPr>
            <a:r>
              <a:rPr lang="ko-KR" altLang="en-US" sz="1500" b="1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_tiles[x, y];</a:t>
            </a:r>
            <a:endParaRPr lang="ko-KR" altLang="en-US" sz="1500" dirty="0"/>
          </a:p>
          <a:p>
            <a:pPr indent="0" marL="0" eaLnBrk="0">
              <a:buNone/>
            </a:pPr>
            <a:r>
              <a:rPr lang="ko-KR" altLang="en-US" sz="15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ko-KR" altLang="en-US" sz="1500" dirty="0"/>
          </a:p>
        </p:txBody>
      </p:sp>
      <p:sp>
        <p:nvSpPr>
          <p:cNvPr id="8" name="codeCaption"/>
          <p:cNvSpPr txBox="1"/>
          <p:nvPr/>
        </p:nvSpPr>
        <p:spPr>
          <a:xfrm>
            <a:off x="3749040" y="1737360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 eaLnBrk="0">
              <a:buNone/>
            </a:pPr>
            <a:r>
              <a:rPr lang="ko-KR" altLang="en-US" sz="1000" dirty="0">
                <a:solidFill>
                  <a:schemeClr val="accent3"/>
                </a:solidFill>
              </a:rPr>
              <a:t>원서 예제를 C#으로 옮긴 코드</a:t>
            </a:r>
            <a:endParaRPr lang="ko-KR" alt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3246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buNone/>
            </a:pPr>
            <a:r>
              <a:rPr lang="ko-KR" altLang="en-US" sz="1600" b="1" dirty="0">
                <a:solidFill>
                  <a:schemeClr val="tx1"/>
                </a:solidFill>
              </a:rPr>
              <a:t>쓰는 쪽</a:t>
            </a:r>
            <a:endParaRPr lang="ko-KR" altLang="en-US" sz="1600" dirty="0"/>
          </a:p>
        </p:txBody>
      </p:sp>
      <p:sp>
        <p:nvSpPr>
          <p:cNvPr id="10" name="codePanel"/>
          <p:cNvSpPr/>
          <p:nvPr/>
        </p:nvSpPr>
        <p:spPr>
          <a:xfrm>
            <a:off x="548640" y="3657600"/>
            <a:ext cx="6309360" cy="2011680"/>
          </a:xfrm>
          <a:prstGeom prst="roundRect">
            <a:avLst>
              <a:gd name="adj" fmla="val 3636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1" name="code"/>
          <p:cNvSpPr txBox="1"/>
          <p:nvPr/>
        </p:nvSpPr>
        <p:spPr>
          <a:xfrm>
            <a:off x="658368" y="3749040"/>
            <a:ext cx="6089904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 eaLnBrk="0">
              <a:buNone/>
            </a:pPr>
            <a:r>
              <a:rPr lang="ko-KR" altLang="en-US" sz="14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첫 시도: World에게 묻는다</a:t>
            </a:r>
            <a:endParaRPr lang="ko-KR" altLang="en-US" sz="1400" dirty="0"/>
          </a:p>
          <a:p>
            <a:pPr indent="0" marL="0" eaLnBrk="0">
              <a:buNone/>
            </a:pPr>
            <a:r>
              <a:rPr lang="ko-KR" altLang="en-US" sz="1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cost = world.GetMovementCost(2, 3);</a:t>
            </a:r>
            <a:endParaRPr lang="ko-KR" altLang="en-US" sz="1400" dirty="0"/>
          </a:p>
          <a:p>
            <a:pPr indent="0" marL="0" eaLnBrk="0">
              <a:buNone/>
            </a:pPr>
            <a:r>
              <a:rPr lang="ko-KR" altLang="en-US" sz="1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ko-KR" altLang="en-US" sz="1400" dirty="0"/>
          </a:p>
          <a:p>
            <a:pPr indent="0" marL="0" eaLnBrk="0">
              <a:buNone/>
            </a:pPr>
            <a:r>
              <a:rPr lang="ko-KR" altLang="en-US" sz="14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경량 패턴: 칸의 지형 객체에게 묻는다</a:t>
            </a:r>
            <a:endParaRPr lang="ko-KR" altLang="en-US" sz="1400" dirty="0"/>
          </a:p>
          <a:p>
            <a:pPr indent="0" marL="0" eaLnBrk="0">
              <a:buNone/>
            </a:pPr>
            <a:r>
              <a:rPr lang="ko-KR" altLang="en-US" sz="1400" b="1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cost = world.GetTile(2, 3).MovementCost;</a:t>
            </a:r>
            <a:endParaRPr lang="ko-KR" altLang="en-US" sz="1400" dirty="0"/>
          </a:p>
        </p:txBody>
      </p:sp>
      <p:sp>
        <p:nvSpPr>
          <p:cNvPr id="12" name="card"/>
          <p:cNvSpPr/>
          <p:nvPr/>
        </p:nvSpPr>
        <p:spPr>
          <a:xfrm>
            <a:off x="7223760" y="1645920"/>
            <a:ext cx="4419295" cy="192024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452360" y="1865376"/>
            <a:ext cx="40078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700" b="1" dirty="0">
                <a:solidFill>
                  <a:schemeClr val="tx1"/>
                </a:solidFill>
              </a:rPr>
              <a:t>World에 switch가 없다</a:t>
            </a:r>
            <a:endParaRPr lang="ko-KR" alt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7452360" y="2423160"/>
            <a:ext cx="39620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spcAft>
                <a:spcPts val="400"/>
              </a:spcAft>
              <a:buNone/>
            </a:pPr>
            <a:r>
              <a:rPr lang="ko-KR" altLang="en-US" sz="1400" dirty="0">
                <a:solidFill>
                  <a:schemeClr val="tx2"/>
                </a:solidFill>
              </a:rPr>
              <a:t>지형마다 다른 값은 Terrain 객체가 알고 있다. World는 칸의 객체를 돌려줄 뿐이다.</a:t>
            </a:r>
            <a:endParaRPr lang="ko-KR" altLang="en-US" sz="1400" dirty="0"/>
          </a:p>
        </p:txBody>
      </p:sp>
      <p:sp>
        <p:nvSpPr>
          <p:cNvPr id="15" name="card"/>
          <p:cNvSpPr/>
          <p:nvPr/>
        </p:nvSpPr>
        <p:spPr>
          <a:xfrm>
            <a:off x="7223760" y="3749040"/>
            <a:ext cx="4419295" cy="192024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452360" y="3968496"/>
            <a:ext cx="40078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700" b="1" dirty="0">
                <a:solidFill>
                  <a:schemeClr val="tx1"/>
                </a:solidFill>
              </a:rPr>
              <a:t>객체는 종류 수만큼</a:t>
            </a:r>
            <a:endParaRPr lang="ko-KR" altLang="en-US" sz="1700" dirty="0"/>
          </a:p>
        </p:txBody>
      </p:sp>
      <p:sp>
        <p:nvSpPr>
          <p:cNvPr id="17" name="Text 14"/>
          <p:cNvSpPr txBox="1"/>
          <p:nvPr/>
        </p:nvSpPr>
        <p:spPr>
          <a:xfrm>
            <a:off x="7452360" y="4526280"/>
            <a:ext cx="39620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spcAft>
                <a:spcPts val="400"/>
              </a:spcAft>
              <a:buNone/>
            </a:pPr>
            <a:r>
              <a:rPr lang="ko-KR" altLang="en-US" sz="1400" dirty="0">
                <a:solidFill>
                  <a:schemeClr val="tx2"/>
                </a:solidFill>
              </a:rPr>
              <a:t>지형을 객체로 다루는 장점을 얻으면서, 객체는 풀밭·언덕·강 세 개뿐이다.</a:t>
            </a:r>
            <a:endParaRPr lang="ko-KR" alt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 eaLnBrk="0">
              <a:defRPr sz="1000">
                <a:solidFill>
                  <a:schemeClr val="accent3"/>
                </a:solidFill>
              </a:defRPr>
            </a:lvl1pPr>
          </a:lstStyle>
          <a:p>
            <a:pPr algn="r" eaLnBrk="0"/>
            <a:fld id="{F7021451-1387-4CA6-816F-3879F97B5CBC}" type="slidenum">
              <a:rPr b="0" lang="ko-KR" altLang="en-US"/>
              <a:t>24</a:t>
            </a:fld>
            <a:endParaRPr lang="ko-KR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2918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300" b="1" dirty="0">
                <a:solidFill>
                  <a:schemeClr val="accent1"/>
                </a:solidFill>
              </a:rPr>
              <a:t>추적</a:t>
            </a:r>
            <a:endParaRPr lang="ko-KR" alt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 eaLnBrk="0">
              <a:buNone/>
            </a:pPr>
            <a:r>
              <a:rPr lang="ko-KR" altLang="en-US" sz="2600" b="1" dirty="0">
                <a:solidFill>
                  <a:schemeClr val="tx1"/>
                </a:solidFill>
              </a:rPr>
              <a:t>칸 좌표에서 지형 객체를 거쳐 값을 읽는다</a:t>
            </a:r>
            <a:endParaRPr lang="ko-KR" altLang="en-US" sz="2600" dirty="0"/>
          </a:p>
        </p:txBody>
      </p:sp>
      <p:sp>
        <p:nvSpPr>
          <p:cNvPr id="4" name="bridge"/>
          <p:cNvSpPr txBox="1"/>
          <p:nvPr/>
        </p:nvSpPr>
        <p:spPr>
          <a:xfrm>
            <a:off x="548640" y="587044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500" b="1" dirty="0">
                <a:solidFill>
                  <a:schemeClr val="accent1"/>
                </a:solidFill>
              </a:rPr>
              <a:t>다음 질문  </a:t>
            </a:r>
            <a:pPr indent="0" marL="0" eaLnBrk="0">
              <a:buNone/>
            </a:pPr>
            <a:r>
              <a:rPr lang="ko-KR" altLang="en-US" sz="1500" dirty="0">
                <a:solidFill>
                  <a:schemeClr val="tx2"/>
                </a:solidFill>
              </a:rPr>
              <a:t>그러면 지형의 고유 상태와 외부 상태는 무엇일까?</a:t>
            </a:r>
            <a:endParaRPr lang="ko-KR" alt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566928" cy="566928"/>
          </a:xfrm>
          <a:prstGeom prst="rect">
            <a:avLst/>
          </a:prstGeom>
          <a:solidFill>
            <a:srgbClr val="8DBF6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1691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>
              <a:buNone/>
            </a:pPr>
            <a:r>
              <a:rPr lang="ko-KR" altLang="en-US" sz="1000" dirty="0">
                <a:solidFill>
                  <a:schemeClr val="tx1"/>
                </a:solidFill>
              </a:rPr>
              <a:t>0,0</a:t>
            </a:r>
            <a:endParaRPr lang="ko-KR" alt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1115568" y="1691640"/>
            <a:ext cx="566928" cy="566928"/>
          </a:xfrm>
          <a:prstGeom prst="rect">
            <a:avLst/>
          </a:prstGeom>
          <a:solidFill>
            <a:srgbClr val="8DBF6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115568" y="1691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>
              <a:buNone/>
            </a:pPr>
            <a:r>
              <a:rPr lang="ko-KR" altLang="en-US" sz="1000" dirty="0">
                <a:solidFill>
                  <a:schemeClr val="tx1"/>
                </a:solidFill>
              </a:rPr>
              <a:t>1,0</a:t>
            </a:r>
            <a:endParaRPr lang="ko-KR" alt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1682496" y="1691640"/>
            <a:ext cx="566928" cy="566928"/>
          </a:xfrm>
          <a:prstGeom prst="rect">
            <a:avLst/>
          </a:prstGeom>
          <a:solidFill>
            <a:srgbClr val="8DBF6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682496" y="1691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>
              <a:buNone/>
            </a:pPr>
            <a:r>
              <a:rPr lang="ko-KR" altLang="en-US" sz="1000" dirty="0">
                <a:solidFill>
                  <a:schemeClr val="tx1"/>
                </a:solidFill>
              </a:rPr>
              <a:t>2,0</a:t>
            </a:r>
            <a:endParaRPr lang="ko-KR" alt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249424" y="1691640"/>
            <a:ext cx="566928" cy="566928"/>
          </a:xfrm>
          <a:prstGeom prst="rect">
            <a:avLst/>
          </a:prstGeom>
          <a:solidFill>
            <a:srgbClr val="5DA9E9"/>
          </a:solidFill>
          <a:ln w="38100">
            <a:solidFill>
              <a:schemeClr val="tx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249424" y="1691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>
              <a:buNone/>
            </a:pPr>
            <a:r>
              <a:rPr lang="ko-KR" altLang="en-US" sz="1000" dirty="0">
                <a:solidFill>
                  <a:schemeClr val="tx1"/>
                </a:solidFill>
              </a:rPr>
              <a:t>3,0</a:t>
            </a:r>
            <a:endParaRPr lang="ko-KR" alt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2816352" y="1691640"/>
            <a:ext cx="566928" cy="566928"/>
          </a:xfrm>
          <a:prstGeom prst="rect">
            <a:avLst/>
          </a:prstGeom>
          <a:solidFill>
            <a:srgbClr val="8DBF6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2816352" y="1691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>
              <a:buNone/>
            </a:pPr>
            <a:r>
              <a:rPr lang="ko-KR" altLang="en-US" sz="1000" dirty="0">
                <a:solidFill>
                  <a:schemeClr val="tx1"/>
                </a:solidFill>
              </a:rPr>
              <a:t>4,0</a:t>
            </a:r>
            <a:endParaRPr lang="ko-KR" alt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383280" y="1691640"/>
            <a:ext cx="566928" cy="566928"/>
          </a:xfrm>
          <a:prstGeom prst="rect">
            <a:avLst/>
          </a:prstGeom>
          <a:solidFill>
            <a:srgbClr val="8DBF6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383280" y="1691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>
              <a:buNone/>
            </a:pPr>
            <a:r>
              <a:rPr lang="ko-KR" altLang="en-US" sz="1000" dirty="0">
                <a:solidFill>
                  <a:schemeClr val="tx1"/>
                </a:solidFill>
              </a:rPr>
              <a:t>5,0</a:t>
            </a:r>
            <a:endParaRPr lang="ko-KR" alt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48640" y="2258568"/>
            <a:ext cx="566928" cy="566928"/>
          </a:xfrm>
          <a:prstGeom prst="rect">
            <a:avLst/>
          </a:prstGeom>
          <a:solidFill>
            <a:srgbClr val="8DBF6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48640" y="22585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>
              <a:buNone/>
            </a:pPr>
            <a:r>
              <a:rPr lang="ko-KR" altLang="en-US" sz="1000" dirty="0">
                <a:solidFill>
                  <a:schemeClr val="tx1"/>
                </a:solidFill>
              </a:rPr>
              <a:t>0,1</a:t>
            </a:r>
            <a:endParaRPr lang="ko-KR" alt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1115568" y="2258568"/>
            <a:ext cx="566928" cy="566928"/>
          </a:xfrm>
          <a:prstGeom prst="rect">
            <a:avLst/>
          </a:prstGeom>
          <a:solidFill>
            <a:srgbClr val="B0896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115568" y="22585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>
              <a:buNone/>
            </a:pPr>
            <a:r>
              <a:rPr lang="ko-KR" altLang="en-US" sz="1000" dirty="0">
                <a:solidFill>
                  <a:schemeClr val="tx1"/>
                </a:solidFill>
              </a:rPr>
              <a:t>1,1</a:t>
            </a:r>
            <a:endParaRPr lang="ko-KR" alt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1682496" y="2258568"/>
            <a:ext cx="566928" cy="566928"/>
          </a:xfrm>
          <a:prstGeom prst="rect">
            <a:avLst/>
          </a:prstGeom>
          <a:solidFill>
            <a:srgbClr val="8DBF6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1682496" y="22585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>
              <a:buNone/>
            </a:pPr>
            <a:r>
              <a:rPr lang="ko-KR" altLang="en-US" sz="1000" dirty="0">
                <a:solidFill>
                  <a:schemeClr val="tx1"/>
                </a:solidFill>
              </a:rPr>
              <a:t>2,1</a:t>
            </a:r>
            <a:endParaRPr lang="ko-KR" alt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2249424" y="2258568"/>
            <a:ext cx="566928" cy="566928"/>
          </a:xfrm>
          <a:prstGeom prst="rect">
            <a:avLst/>
          </a:prstGeom>
          <a:solidFill>
            <a:srgbClr val="5DA9E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249424" y="22585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>
              <a:buNone/>
            </a:pPr>
            <a:r>
              <a:rPr lang="ko-KR" altLang="en-US" sz="1000" dirty="0">
                <a:solidFill>
                  <a:schemeClr val="tx1"/>
                </a:solidFill>
              </a:rPr>
              <a:t>3,1</a:t>
            </a:r>
            <a:endParaRPr lang="ko-KR" alt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2816352" y="2258568"/>
            <a:ext cx="566928" cy="566928"/>
          </a:xfrm>
          <a:prstGeom prst="rect">
            <a:avLst/>
          </a:prstGeom>
          <a:solidFill>
            <a:srgbClr val="8DBF6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2816352" y="22585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>
              <a:buNone/>
            </a:pPr>
            <a:r>
              <a:rPr lang="ko-KR" altLang="en-US" sz="1000" dirty="0">
                <a:solidFill>
                  <a:schemeClr val="tx1"/>
                </a:solidFill>
              </a:rPr>
              <a:t>4,1</a:t>
            </a:r>
            <a:endParaRPr lang="ko-KR" alt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3383280" y="2258568"/>
            <a:ext cx="566928" cy="566928"/>
          </a:xfrm>
          <a:prstGeom prst="rect">
            <a:avLst/>
          </a:prstGeom>
          <a:solidFill>
            <a:srgbClr val="8DBF6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3383280" y="22585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>
              <a:buNone/>
            </a:pPr>
            <a:r>
              <a:rPr lang="ko-KR" altLang="en-US" sz="1000" dirty="0">
                <a:solidFill>
                  <a:schemeClr val="tx1"/>
                </a:solidFill>
              </a:rPr>
              <a:t>5,1</a:t>
            </a:r>
            <a:endParaRPr lang="ko-KR" alt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548640" y="2825496"/>
            <a:ext cx="566928" cy="566928"/>
          </a:xfrm>
          <a:prstGeom prst="rect">
            <a:avLst/>
          </a:prstGeom>
          <a:solidFill>
            <a:srgbClr val="8DBF6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548640" y="28254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>
              <a:buNone/>
            </a:pPr>
            <a:r>
              <a:rPr lang="ko-KR" altLang="en-US" sz="1000" dirty="0">
                <a:solidFill>
                  <a:schemeClr val="tx1"/>
                </a:solidFill>
              </a:rPr>
              <a:t>0,2</a:t>
            </a:r>
            <a:endParaRPr lang="ko-KR" alt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1115568" y="2825496"/>
            <a:ext cx="566928" cy="566928"/>
          </a:xfrm>
          <a:prstGeom prst="rect">
            <a:avLst/>
          </a:prstGeom>
          <a:solidFill>
            <a:srgbClr val="8DBF6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15568" y="28254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>
              <a:buNone/>
            </a:pPr>
            <a:r>
              <a:rPr lang="ko-KR" altLang="en-US" sz="1000" dirty="0">
                <a:solidFill>
                  <a:schemeClr val="tx1"/>
                </a:solidFill>
              </a:rPr>
              <a:t>1,2</a:t>
            </a:r>
            <a:endParaRPr lang="ko-KR" alt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1682496" y="2825496"/>
            <a:ext cx="566928" cy="566928"/>
          </a:xfrm>
          <a:prstGeom prst="rect">
            <a:avLst/>
          </a:prstGeom>
          <a:solidFill>
            <a:srgbClr val="8DBF6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1682496" y="28254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>
              <a:buNone/>
            </a:pPr>
            <a:r>
              <a:rPr lang="ko-KR" altLang="en-US" sz="1000" dirty="0">
                <a:solidFill>
                  <a:schemeClr val="tx1"/>
                </a:solidFill>
              </a:rPr>
              <a:t>2,2</a:t>
            </a:r>
            <a:endParaRPr lang="ko-KR" alt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2249424" y="2825496"/>
            <a:ext cx="566928" cy="566928"/>
          </a:xfrm>
          <a:prstGeom prst="rect">
            <a:avLst/>
          </a:prstGeom>
          <a:solidFill>
            <a:srgbClr val="5DA9E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2249424" y="28254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>
              <a:buNone/>
            </a:pPr>
            <a:r>
              <a:rPr lang="ko-KR" altLang="en-US" sz="1000" dirty="0">
                <a:solidFill>
                  <a:schemeClr val="tx1"/>
                </a:solidFill>
              </a:rPr>
              <a:t>3,2</a:t>
            </a:r>
            <a:endParaRPr lang="ko-KR" alt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2816352" y="2825496"/>
            <a:ext cx="566928" cy="566928"/>
          </a:xfrm>
          <a:prstGeom prst="rect">
            <a:avLst/>
          </a:prstGeom>
          <a:solidFill>
            <a:srgbClr val="B0896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2816352" y="28254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>
              <a:buNone/>
            </a:pPr>
            <a:r>
              <a:rPr lang="ko-KR" altLang="en-US" sz="1000" dirty="0">
                <a:solidFill>
                  <a:schemeClr val="tx1"/>
                </a:solidFill>
              </a:rPr>
              <a:t>4,2</a:t>
            </a:r>
            <a:endParaRPr lang="ko-KR" alt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3383280" y="2825496"/>
            <a:ext cx="566928" cy="566928"/>
          </a:xfrm>
          <a:prstGeom prst="rect">
            <a:avLst/>
          </a:prstGeom>
          <a:solidFill>
            <a:srgbClr val="8DBF6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3383280" y="28254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>
              <a:buNone/>
            </a:pPr>
            <a:r>
              <a:rPr lang="ko-KR" altLang="en-US" sz="1000" dirty="0">
                <a:solidFill>
                  <a:schemeClr val="tx1"/>
                </a:solidFill>
              </a:rPr>
              <a:t>5,2</a:t>
            </a:r>
            <a:endParaRPr lang="ko-KR" alt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548640" y="3392424"/>
            <a:ext cx="566928" cy="566928"/>
          </a:xfrm>
          <a:prstGeom prst="rect">
            <a:avLst/>
          </a:prstGeom>
          <a:solidFill>
            <a:srgbClr val="8DBF6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548640" y="339242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>
              <a:buNone/>
            </a:pPr>
            <a:r>
              <a:rPr lang="ko-KR" altLang="en-US" sz="1000" dirty="0">
                <a:solidFill>
                  <a:schemeClr val="tx1"/>
                </a:solidFill>
              </a:rPr>
              <a:t>0,3</a:t>
            </a:r>
            <a:endParaRPr lang="ko-KR" altLang="en-US" sz="1000" dirty="0"/>
          </a:p>
        </p:txBody>
      </p:sp>
      <p:sp>
        <p:nvSpPr>
          <p:cNvPr id="44" name="Shape 41"/>
          <p:cNvSpPr/>
          <p:nvPr/>
        </p:nvSpPr>
        <p:spPr>
          <a:xfrm>
            <a:off x="1115568" y="3392424"/>
            <a:ext cx="566928" cy="566928"/>
          </a:xfrm>
          <a:prstGeom prst="rect">
            <a:avLst/>
          </a:prstGeom>
          <a:solidFill>
            <a:srgbClr val="B08968"/>
          </a:solidFill>
          <a:ln w="38100">
            <a:solidFill>
              <a:schemeClr val="tx1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1115568" y="339242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>
              <a:buNone/>
            </a:pPr>
            <a:r>
              <a:rPr lang="ko-KR" altLang="en-US" sz="1000" dirty="0">
                <a:solidFill>
                  <a:schemeClr val="tx1"/>
                </a:solidFill>
              </a:rPr>
              <a:t>1,3</a:t>
            </a:r>
            <a:endParaRPr lang="ko-KR" alt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1682496" y="3392424"/>
            <a:ext cx="566928" cy="566928"/>
          </a:xfrm>
          <a:prstGeom prst="rect">
            <a:avLst/>
          </a:prstGeom>
          <a:solidFill>
            <a:srgbClr val="8DBF6A"/>
          </a:solidFill>
          <a:ln w="38100">
            <a:solidFill>
              <a:schemeClr val="tx1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682496" y="339242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>
              <a:buNone/>
            </a:pPr>
            <a:r>
              <a:rPr lang="ko-KR" altLang="en-US" sz="1000" dirty="0">
                <a:solidFill>
                  <a:schemeClr val="tx1"/>
                </a:solidFill>
              </a:rPr>
              <a:t>2,3</a:t>
            </a:r>
            <a:endParaRPr lang="ko-KR" alt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2249424" y="3392424"/>
            <a:ext cx="566928" cy="566928"/>
          </a:xfrm>
          <a:prstGeom prst="rect">
            <a:avLst/>
          </a:prstGeom>
          <a:solidFill>
            <a:srgbClr val="5DA9E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2249424" y="339242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>
              <a:buNone/>
            </a:pPr>
            <a:r>
              <a:rPr lang="ko-KR" altLang="en-US" sz="1000" dirty="0">
                <a:solidFill>
                  <a:schemeClr val="tx1"/>
                </a:solidFill>
              </a:rPr>
              <a:t>3,3</a:t>
            </a:r>
            <a:endParaRPr lang="ko-KR" altLang="en-US" sz="1000" dirty="0"/>
          </a:p>
        </p:txBody>
      </p:sp>
      <p:sp>
        <p:nvSpPr>
          <p:cNvPr id="50" name="Shape 47"/>
          <p:cNvSpPr/>
          <p:nvPr/>
        </p:nvSpPr>
        <p:spPr>
          <a:xfrm>
            <a:off x="2816352" y="3392424"/>
            <a:ext cx="566928" cy="566928"/>
          </a:xfrm>
          <a:prstGeom prst="rect">
            <a:avLst/>
          </a:prstGeom>
          <a:solidFill>
            <a:srgbClr val="8DBF6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2816352" y="339242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>
              <a:buNone/>
            </a:pPr>
            <a:r>
              <a:rPr lang="ko-KR" altLang="en-US" sz="1000" dirty="0">
                <a:solidFill>
                  <a:schemeClr val="tx1"/>
                </a:solidFill>
              </a:rPr>
              <a:t>4,3</a:t>
            </a:r>
            <a:endParaRPr lang="ko-KR" altLang="en-US" sz="1000" dirty="0"/>
          </a:p>
        </p:txBody>
      </p:sp>
      <p:sp>
        <p:nvSpPr>
          <p:cNvPr id="52" name="Shape 49"/>
          <p:cNvSpPr/>
          <p:nvPr/>
        </p:nvSpPr>
        <p:spPr>
          <a:xfrm>
            <a:off x="3383280" y="3392424"/>
            <a:ext cx="566928" cy="566928"/>
          </a:xfrm>
          <a:prstGeom prst="rect">
            <a:avLst/>
          </a:prstGeom>
          <a:solidFill>
            <a:srgbClr val="8DBF6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3383280" y="339242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>
              <a:buNone/>
            </a:pPr>
            <a:r>
              <a:rPr lang="ko-KR" altLang="en-US" sz="1000" dirty="0">
                <a:solidFill>
                  <a:schemeClr val="tx1"/>
                </a:solidFill>
              </a:rPr>
              <a:t>5,3</a:t>
            </a:r>
            <a:endParaRPr lang="ko-KR" altLang="en-US" sz="1000" dirty="0"/>
          </a:p>
        </p:txBody>
      </p:sp>
      <p:sp>
        <p:nvSpPr>
          <p:cNvPr id="54" name="Shape 51"/>
          <p:cNvSpPr/>
          <p:nvPr/>
        </p:nvSpPr>
        <p:spPr>
          <a:xfrm>
            <a:off x="548640" y="3959352"/>
            <a:ext cx="566928" cy="566928"/>
          </a:xfrm>
          <a:prstGeom prst="rect">
            <a:avLst/>
          </a:prstGeom>
          <a:solidFill>
            <a:srgbClr val="8DBF6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548640" y="39593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>
              <a:buNone/>
            </a:pPr>
            <a:r>
              <a:rPr lang="ko-KR" altLang="en-US" sz="1000" dirty="0">
                <a:solidFill>
                  <a:schemeClr val="tx1"/>
                </a:solidFill>
              </a:rPr>
              <a:t>0,4</a:t>
            </a:r>
            <a:endParaRPr lang="ko-KR" altLang="en-US" sz="1000" dirty="0"/>
          </a:p>
        </p:txBody>
      </p:sp>
      <p:sp>
        <p:nvSpPr>
          <p:cNvPr id="56" name="Shape 53"/>
          <p:cNvSpPr/>
          <p:nvPr/>
        </p:nvSpPr>
        <p:spPr>
          <a:xfrm>
            <a:off x="1115568" y="3959352"/>
            <a:ext cx="566928" cy="566928"/>
          </a:xfrm>
          <a:prstGeom prst="rect">
            <a:avLst/>
          </a:prstGeom>
          <a:solidFill>
            <a:srgbClr val="8DBF6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1115568" y="39593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>
              <a:buNone/>
            </a:pPr>
            <a:r>
              <a:rPr lang="ko-KR" altLang="en-US" sz="1000" dirty="0">
                <a:solidFill>
                  <a:schemeClr val="tx1"/>
                </a:solidFill>
              </a:rPr>
              <a:t>1,4</a:t>
            </a:r>
            <a:endParaRPr lang="ko-KR" altLang="en-US" sz="1000" dirty="0"/>
          </a:p>
        </p:txBody>
      </p:sp>
      <p:sp>
        <p:nvSpPr>
          <p:cNvPr id="58" name="Shape 55"/>
          <p:cNvSpPr/>
          <p:nvPr/>
        </p:nvSpPr>
        <p:spPr>
          <a:xfrm>
            <a:off x="1682496" y="3959352"/>
            <a:ext cx="566928" cy="566928"/>
          </a:xfrm>
          <a:prstGeom prst="rect">
            <a:avLst/>
          </a:prstGeom>
          <a:solidFill>
            <a:srgbClr val="8DBF6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9" name="Text 56"/>
          <p:cNvSpPr txBox="1"/>
          <p:nvPr/>
        </p:nvSpPr>
        <p:spPr>
          <a:xfrm>
            <a:off x="1682496" y="39593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>
              <a:buNone/>
            </a:pPr>
            <a:r>
              <a:rPr lang="ko-KR" altLang="en-US" sz="1000" dirty="0">
                <a:solidFill>
                  <a:schemeClr val="tx1"/>
                </a:solidFill>
              </a:rPr>
              <a:t>2,4</a:t>
            </a:r>
            <a:endParaRPr lang="ko-KR" altLang="en-US" sz="1000" dirty="0"/>
          </a:p>
        </p:txBody>
      </p:sp>
      <p:sp>
        <p:nvSpPr>
          <p:cNvPr id="60" name="Shape 57"/>
          <p:cNvSpPr/>
          <p:nvPr/>
        </p:nvSpPr>
        <p:spPr>
          <a:xfrm>
            <a:off x="2249424" y="3959352"/>
            <a:ext cx="566928" cy="566928"/>
          </a:xfrm>
          <a:prstGeom prst="rect">
            <a:avLst/>
          </a:prstGeom>
          <a:solidFill>
            <a:srgbClr val="5DA9E9"/>
          </a:solidFill>
          <a:ln w="38100">
            <a:solidFill>
              <a:schemeClr val="tx1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2249424" y="39593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>
              <a:buNone/>
            </a:pPr>
            <a:r>
              <a:rPr lang="ko-KR" altLang="en-US" sz="1000" dirty="0">
                <a:solidFill>
                  <a:schemeClr val="tx1"/>
                </a:solidFill>
              </a:rPr>
              <a:t>3,4</a:t>
            </a:r>
            <a:endParaRPr lang="ko-KR" altLang="en-US" sz="1000" dirty="0"/>
          </a:p>
        </p:txBody>
      </p:sp>
      <p:sp>
        <p:nvSpPr>
          <p:cNvPr id="62" name="Shape 59"/>
          <p:cNvSpPr/>
          <p:nvPr/>
        </p:nvSpPr>
        <p:spPr>
          <a:xfrm>
            <a:off x="2816352" y="3959352"/>
            <a:ext cx="566928" cy="566928"/>
          </a:xfrm>
          <a:prstGeom prst="rect">
            <a:avLst/>
          </a:prstGeom>
          <a:solidFill>
            <a:srgbClr val="8DBF6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3" name="Text 60"/>
          <p:cNvSpPr txBox="1"/>
          <p:nvPr/>
        </p:nvSpPr>
        <p:spPr>
          <a:xfrm>
            <a:off x="2816352" y="39593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>
              <a:buNone/>
            </a:pPr>
            <a:r>
              <a:rPr lang="ko-KR" altLang="en-US" sz="1000" dirty="0">
                <a:solidFill>
                  <a:schemeClr val="tx1"/>
                </a:solidFill>
              </a:rPr>
              <a:t>4,4</a:t>
            </a:r>
            <a:endParaRPr lang="ko-KR" altLang="en-US" sz="1000" dirty="0"/>
          </a:p>
        </p:txBody>
      </p:sp>
      <p:sp>
        <p:nvSpPr>
          <p:cNvPr id="64" name="Shape 61"/>
          <p:cNvSpPr/>
          <p:nvPr/>
        </p:nvSpPr>
        <p:spPr>
          <a:xfrm>
            <a:off x="3383280" y="3959352"/>
            <a:ext cx="566928" cy="566928"/>
          </a:xfrm>
          <a:prstGeom prst="rect">
            <a:avLst/>
          </a:prstGeom>
          <a:solidFill>
            <a:srgbClr val="8DBF6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5" name="Text 62"/>
          <p:cNvSpPr txBox="1"/>
          <p:nvPr/>
        </p:nvSpPr>
        <p:spPr>
          <a:xfrm>
            <a:off x="3383280" y="39593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>
              <a:buNone/>
            </a:pPr>
            <a:r>
              <a:rPr lang="ko-KR" altLang="en-US" sz="1000" dirty="0">
                <a:solidFill>
                  <a:schemeClr val="tx1"/>
                </a:solidFill>
              </a:rPr>
              <a:t>5,4</a:t>
            </a:r>
            <a:endParaRPr lang="ko-KR" altLang="en-US" sz="1000" dirty="0"/>
          </a:p>
        </p:txBody>
      </p:sp>
      <p:sp>
        <p:nvSpPr>
          <p:cNvPr id="66" name="Shape 63"/>
          <p:cNvSpPr/>
          <p:nvPr/>
        </p:nvSpPr>
        <p:spPr>
          <a:xfrm>
            <a:off x="548640" y="4718304"/>
            <a:ext cx="256032" cy="256032"/>
          </a:xfrm>
          <a:prstGeom prst="rect">
            <a:avLst/>
          </a:prstGeom>
          <a:solidFill>
            <a:srgbClr val="8DBF6A"/>
          </a:solidFill>
          <a:ln w="12700">
            <a:solidFill>
              <a:srgbClr val="8DBF6A"/>
            </a:solidFill>
            <a:prstDash val="solid"/>
          </a:ln>
        </p:spPr>
      </p:sp>
      <p:sp>
        <p:nvSpPr>
          <p:cNvPr id="67" name="Text 64"/>
          <p:cNvSpPr txBox="1"/>
          <p:nvPr/>
        </p:nvSpPr>
        <p:spPr>
          <a:xfrm>
            <a:off x="896112" y="466344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300" dirty="0">
                <a:solidFill>
                  <a:schemeClr val="tx2"/>
                </a:solidFill>
              </a:rPr>
              <a:t>풀밭</a:t>
            </a:r>
            <a:endParaRPr lang="ko-KR" altLang="en-US" sz="1300" dirty="0"/>
          </a:p>
        </p:txBody>
      </p:sp>
      <p:sp>
        <p:nvSpPr>
          <p:cNvPr id="68" name="Shape 65"/>
          <p:cNvSpPr/>
          <p:nvPr/>
        </p:nvSpPr>
        <p:spPr>
          <a:xfrm>
            <a:off x="1783080" y="4718304"/>
            <a:ext cx="256032" cy="256032"/>
          </a:xfrm>
          <a:prstGeom prst="rect">
            <a:avLst/>
          </a:prstGeom>
          <a:solidFill>
            <a:srgbClr val="B08968"/>
          </a:solidFill>
          <a:ln w="12700">
            <a:solidFill>
              <a:srgbClr val="B08968"/>
            </a:solidFill>
            <a:prstDash val="solid"/>
          </a:ln>
        </p:spPr>
      </p:sp>
      <p:sp>
        <p:nvSpPr>
          <p:cNvPr id="69" name="Text 66"/>
          <p:cNvSpPr txBox="1"/>
          <p:nvPr/>
        </p:nvSpPr>
        <p:spPr>
          <a:xfrm>
            <a:off x="2130552" y="466344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300" dirty="0">
                <a:solidFill>
                  <a:schemeClr val="tx2"/>
                </a:solidFill>
              </a:rPr>
              <a:t>언덕</a:t>
            </a:r>
            <a:endParaRPr lang="ko-KR" altLang="en-US" sz="1300" dirty="0"/>
          </a:p>
        </p:txBody>
      </p:sp>
      <p:sp>
        <p:nvSpPr>
          <p:cNvPr id="70" name="Shape 67"/>
          <p:cNvSpPr/>
          <p:nvPr/>
        </p:nvSpPr>
        <p:spPr>
          <a:xfrm>
            <a:off x="3017520" y="4718304"/>
            <a:ext cx="256032" cy="256032"/>
          </a:xfrm>
          <a:prstGeom prst="rect">
            <a:avLst/>
          </a:prstGeom>
          <a:solidFill>
            <a:srgbClr val="5DA9E9"/>
          </a:solidFill>
          <a:ln w="12700">
            <a:solidFill>
              <a:srgbClr val="5DA9E9"/>
            </a:solidFill>
            <a:prstDash val="solid"/>
          </a:ln>
        </p:spPr>
      </p:sp>
      <p:sp>
        <p:nvSpPr>
          <p:cNvPr id="71" name="Text 68"/>
          <p:cNvSpPr txBox="1"/>
          <p:nvPr/>
        </p:nvSpPr>
        <p:spPr>
          <a:xfrm>
            <a:off x="3364992" y="466344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300" dirty="0">
                <a:solidFill>
                  <a:schemeClr val="tx2"/>
                </a:solidFill>
              </a:rPr>
              <a:t>강</a:t>
            </a:r>
            <a:endParaRPr lang="ko-KR" altLang="en-US" sz="13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43400" y="1691640"/>
          <a:ext cx="7299655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2834640"/>
                <a:gridCol w="1264615"/>
              </a:tblGrid>
              <a:tr h="502920"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400" b="1" dirty="0">
                          <a:solidFill>
                            <a:schemeClr val="bg1"/>
                          </a:solidFill>
                        </a:rPr>
                        <a:t>호출</a:t>
                      </a:r>
                      <a:endParaRPr lang="ko-KR" alt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400" b="1" dirty="0">
                          <a:solidFill>
                            <a:schemeClr val="bg1"/>
                          </a:solidFill>
                        </a:rPr>
                        <a:t>칸이 가리키는 객체</a:t>
                      </a:r>
                      <a:endParaRPr lang="ko-KR" alt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400" b="1" dirty="0">
                          <a:solidFill>
                            <a:schemeClr val="bg1"/>
                          </a:solidFill>
                        </a:rPr>
                        <a:t>결과</a:t>
                      </a:r>
                      <a:endParaRPr lang="ko-KR" alt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GetTile(2, 3).MovementCost</a:t>
                      </a:r>
                      <a:endParaRPr lang="ko-KR" alt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400" dirty="0">
                          <a:solidFill>
                            <a:schemeClr val="tx2"/>
                          </a:solidFill>
                        </a:rPr>
                        <a:t>_grassTerrain</a:t>
                      </a:r>
                      <a:endParaRPr lang="ko-KR" alt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400" dirty="0">
                          <a:solidFill>
                            <a:schemeClr val="tx2"/>
                          </a:solidFill>
                        </a:rPr>
                        <a:t>1</a:t>
                      </a:r>
                      <a:endParaRPr lang="ko-KR" alt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GetTile(1, 3).MovementCost</a:t>
                      </a:r>
                      <a:endParaRPr lang="ko-KR" alt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400" dirty="0">
                          <a:solidFill>
                            <a:schemeClr val="tx2"/>
                          </a:solidFill>
                        </a:rPr>
                        <a:t>_hillTerrain</a:t>
                      </a:r>
                      <a:endParaRPr lang="ko-KR" alt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400" dirty="0">
                          <a:solidFill>
                            <a:schemeClr val="tx2"/>
                          </a:solidFill>
                        </a:rPr>
                        <a:t>3</a:t>
                      </a:r>
                      <a:endParaRPr lang="ko-KR" alt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GetTile(3, 0).IsWater</a:t>
                      </a:r>
                      <a:endParaRPr lang="ko-KR" alt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400" dirty="0">
                          <a:solidFill>
                            <a:schemeClr val="tx2"/>
                          </a:solidFill>
                        </a:rPr>
                        <a:t>_riverTerrain</a:t>
                      </a:r>
                      <a:endParaRPr lang="ko-KR" alt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400" dirty="0">
                          <a:solidFill>
                            <a:schemeClr val="tx2"/>
                          </a:solidFill>
                        </a:rPr>
                        <a:t>true</a:t>
                      </a:r>
                      <a:endParaRPr lang="ko-KR" alt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GetTile(3, 4).IsWater</a:t>
                      </a:r>
                      <a:endParaRPr lang="ko-KR" alt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400" dirty="0">
                          <a:solidFill>
                            <a:schemeClr val="tx2"/>
                          </a:solidFill>
                        </a:rPr>
                        <a:t>_riverTerrain (같은 객체)</a:t>
                      </a:r>
                      <a:endParaRPr lang="ko-KR" alt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400" dirty="0">
                          <a:solidFill>
                            <a:schemeClr val="tx2"/>
                          </a:solidFill>
                        </a:rPr>
                        <a:t>true</a:t>
                      </a:r>
                      <a:endParaRPr lang="ko-KR" alt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73" name="Text 69"/>
          <p:cNvSpPr txBox="1"/>
          <p:nvPr/>
        </p:nvSpPr>
        <p:spPr>
          <a:xfrm>
            <a:off x="4343400" y="4434840"/>
            <a:ext cx="7299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칸 30개, 지형 객체 3개. 서로 다른 칸이 같은 객체를 함께 쓴다.</a:t>
            </a:r>
            <a:endParaRPr lang="ko-KR" alt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 eaLnBrk="0">
              <a:defRPr sz="1000">
                <a:solidFill>
                  <a:schemeClr val="accent3"/>
                </a:solidFill>
              </a:defRPr>
            </a:lvl1pPr>
          </a:lstStyle>
          <a:p>
            <a:pPr algn="r" eaLnBrk="0"/>
            <a:fld id="{F7021451-1387-4CA6-816F-3879F97B5CBC}" type="slidenum">
              <a:rPr b="0" lang="ko-KR" altLang="en-US"/>
              <a:t>25</a:t>
            </a:fld>
            <a:endParaRPr lang="ko-KR" alt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2918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300" b="1" dirty="0">
                <a:solidFill>
                  <a:schemeClr val="accent1"/>
                </a:solidFill>
              </a:rPr>
              <a:t>지형의 두 상태</a:t>
            </a:r>
            <a:endParaRPr lang="ko-KR" alt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 eaLnBrk="0">
              <a:buNone/>
            </a:pPr>
            <a:r>
              <a:rPr lang="ko-KR" altLang="en-US" sz="2600" b="1" dirty="0">
                <a:solidFill>
                  <a:schemeClr val="tx1"/>
                </a:solidFill>
              </a:rPr>
              <a:t>Terrain 객체의 상태는 모두 고유 상태다</a:t>
            </a:r>
            <a:endParaRPr lang="ko-KR" altLang="en-US" sz="2600" dirty="0"/>
          </a:p>
        </p:txBody>
      </p:sp>
      <p:sp>
        <p:nvSpPr>
          <p:cNvPr id="4" name="bridge"/>
          <p:cNvSpPr txBox="1"/>
          <p:nvPr/>
        </p:nvSpPr>
        <p:spPr>
          <a:xfrm>
            <a:off x="548640" y="587044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500" b="1" dirty="0">
                <a:solidFill>
                  <a:schemeClr val="accent1"/>
                </a:solidFill>
              </a:rPr>
              <a:t>다음 질문  </a:t>
            </a:r>
            <a:pPr indent="0" marL="0" eaLnBrk="0">
              <a:buNone/>
            </a:pPr>
            <a:r>
              <a:rPr lang="ko-KR" altLang="en-US" sz="1500" dirty="0">
                <a:solidFill>
                  <a:schemeClr val="tx2"/>
                </a:solidFill>
              </a:rPr>
              <a:t>참조를 한 번 더 따라가는 것은 느리지 않을까?</a:t>
            </a:r>
            <a:endParaRPr lang="ko-KR" alt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5349240" cy="2194560"/>
          </a:xfrm>
          <a:prstGeom prst="roundRect">
            <a:avLst>
              <a:gd name="adj" fmla="val 41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18288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buNone/>
            </a:pPr>
            <a:r>
              <a:rPr lang="ko-KR" altLang="en-US" sz="1900" b="1" dirty="0">
                <a:solidFill>
                  <a:schemeClr val="accent1"/>
                </a:solidFill>
              </a:rPr>
              <a:t>고유 상태: Terrain 안</a:t>
            </a:r>
            <a:endParaRPr lang="ko-KR" alt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423160"/>
            <a:ext cx="4846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buNone/>
            </a:pPr>
            <a:r>
              <a:rPr lang="ko-KR" altLang="en-US" sz="1500" dirty="0">
                <a:solidFill>
                  <a:schemeClr val="tx2"/>
                </a:solidFill>
              </a:rPr>
              <a:t>이동 비용, 물 여부, 텍스처.</a:t>
            </a:r>
            <a:endParaRPr lang="ko-KR" altLang="en-US" sz="1500" dirty="0"/>
          </a:p>
          <a:p>
            <a:pPr indent="0" marL="0" eaLnBrk="0">
              <a:buNone/>
            </a:pPr>
            <a:r>
              <a:rPr lang="ko-KR" altLang="en-US" sz="1500" dirty="0">
                <a:solidFill>
                  <a:schemeClr val="tx2"/>
                </a:solidFill>
              </a:rPr>
              <a:t>풀밭이라면 어느 칸에 있든 같다.</a:t>
            </a:r>
            <a:endParaRPr lang="ko-KR" alt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263640" y="1691640"/>
            <a:ext cx="5349240" cy="2194560"/>
          </a:xfrm>
          <a:prstGeom prst="roundRect">
            <a:avLst>
              <a:gd name="adj" fmla="val 41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537960" y="18288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buNone/>
            </a:pPr>
            <a:r>
              <a:rPr lang="ko-KR" altLang="en-US" sz="1900" b="1" dirty="0">
                <a:solidFill>
                  <a:schemeClr val="accent2"/>
                </a:solidFill>
              </a:rPr>
              <a:t>외부 상태: Terrain 밖</a:t>
            </a:r>
            <a:endParaRPr lang="ko-KR" altLang="en-US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6537960" y="2423160"/>
            <a:ext cx="4846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buNone/>
            </a:pPr>
            <a:r>
              <a:rPr lang="ko-KR" altLang="en-US" sz="1500" dirty="0">
                <a:solidFill>
                  <a:schemeClr val="tx2"/>
                </a:solidFill>
              </a:rPr>
              <a:t>칸의 위치. 따로 저장하지 않는다.</a:t>
            </a:r>
            <a:endParaRPr lang="ko-KR" altLang="en-US" sz="1500" dirty="0"/>
          </a:p>
          <a:p>
            <a:pPr indent="0" marL="0" eaLnBrk="0">
              <a:buNone/>
            </a:pPr>
            <a:r>
              <a:rPr lang="ko-KR" altLang="en-US" sz="1500" dirty="0">
                <a:solidFill>
                  <a:schemeClr val="tx2"/>
                </a:solidFill>
              </a:rPr>
              <a:t>_tiles[x, y]의 인덱스가 곧 위치이다.</a:t>
            </a:r>
            <a:endParaRPr lang="ko-KR" altLang="en-US" sz="1500" dirty="0"/>
          </a:p>
        </p:txBody>
      </p:sp>
      <p:sp>
        <p:nvSpPr>
          <p:cNvPr id="12" name="card"/>
          <p:cNvSpPr/>
          <p:nvPr/>
        </p:nvSpPr>
        <p:spPr>
          <a:xfrm>
            <a:off x="548640" y="4114800"/>
            <a:ext cx="11094415" cy="1554480"/>
          </a:xfrm>
          <a:prstGeom prst="roundRect">
            <a:avLst>
              <a:gd name="adj" fmla="val 588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77240" y="4334256"/>
            <a:ext cx="106829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700" b="1" dirty="0">
                <a:solidFill>
                  <a:schemeClr val="accent4"/>
                </a:solidFill>
              </a:rPr>
              <a:t>나무와 다른 점</a:t>
            </a:r>
            <a:endParaRPr lang="ko-KR" alt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777240" y="4892040"/>
            <a:ext cx="106372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buNone/>
            </a:pPr>
            <a:r>
              <a:rPr lang="ko-KR" altLang="en-US" sz="1400" dirty="0">
                <a:solidFill>
                  <a:schemeClr val="bg1"/>
                </a:solidFill>
              </a:rPr>
              <a:t>나무는 외부 상태를 Tree 인스턴스에 저장했다. 지형은 칸마다 객체를 두지 않고, 배열 칸 하나에 참조 하나만 둔다.</a:t>
            </a:r>
            <a:endParaRPr lang="ko-KR" alt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 eaLnBrk="0">
              <a:defRPr sz="1000">
                <a:solidFill>
                  <a:schemeClr val="accent3"/>
                </a:solidFill>
              </a:defRPr>
            </a:lvl1pPr>
          </a:lstStyle>
          <a:p>
            <a:pPr algn="r" eaLnBrk="0"/>
            <a:fld id="{F7021451-1387-4CA6-816F-3879F97B5CBC}" type="slidenum">
              <a:rPr b="0" lang="ko-KR" altLang="en-US"/>
              <a:t>26</a:t>
            </a:fld>
            <a:endParaRPr lang="ko-KR" alt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t"/>
          <p:cNvSpPr txBox="1"/>
          <p:nvPr/>
        </p:nvSpPr>
        <p:spPr>
          <a:xfrm>
            <a:off x="548640" y="21488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600" b="1" dirty="0">
                <a:solidFill>
                  <a:schemeClr val="accent1"/>
                </a:solidFill>
              </a:rPr>
              <a:t>5부</a:t>
            </a:r>
            <a:endParaRPr lang="ko-KR" alt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651760"/>
            <a:ext cx="1109441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 eaLnBrk="0">
              <a:buNone/>
            </a:pPr>
            <a:r>
              <a:rPr lang="ko-KR" altLang="en-US" sz="3600" b="1" dirty="0">
                <a:solidFill>
                  <a:schemeClr val="bg1"/>
                </a:solidFill>
              </a:rPr>
              <a:t>성능과 쓸 때</a:t>
            </a:r>
            <a:endParaRPr lang="ko-KR" altLang="en-US" sz="36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379476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>
              <a:buNone/>
            </a:pPr>
            <a:r>
              <a:rPr lang="ko-KR" altLang="en-US" sz="1800" dirty="0">
                <a:solidFill>
                  <a:schemeClr val="accent3"/>
                </a:solidFill>
              </a:rPr>
              <a:t>원서: 성능은 어떨까? · 관련 자료</a:t>
            </a:r>
            <a:endParaRPr lang="ko-KR" alt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 eaLnBrk="0">
              <a:defRPr sz="1000">
                <a:solidFill>
                  <a:schemeClr val="accent3"/>
                </a:solidFill>
              </a:defRPr>
            </a:lvl1pPr>
          </a:lstStyle>
          <a:p>
            <a:pPr algn="r" eaLnBrk="0"/>
            <a:fld id="{F7021451-1387-4CA6-816F-3879F97B5CBC}" type="slidenum">
              <a:rPr b="0" lang="ko-KR" altLang="en-US"/>
              <a:t>27</a:t>
            </a:fld>
            <a:endParaRPr lang="ko-KR" alt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2918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300" b="1" dirty="0">
                <a:solidFill>
                  <a:schemeClr val="accent1"/>
                </a:solidFill>
              </a:rPr>
              <a:t>성능</a:t>
            </a:r>
            <a:endParaRPr lang="ko-KR" alt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 eaLnBrk="0">
              <a:buNone/>
            </a:pPr>
            <a:r>
              <a:rPr lang="ko-KR" altLang="en-US" sz="2600" b="1" dirty="0">
                <a:solidFill>
                  <a:schemeClr val="tx1"/>
                </a:solidFill>
              </a:rPr>
              <a:t>참조를 따라가는 비용은 직접 측정해서 판단한다</a:t>
            </a:r>
            <a:endParaRPr lang="ko-KR" altLang="en-US" sz="2600" dirty="0"/>
          </a:p>
        </p:txBody>
      </p:sp>
      <p:sp>
        <p:nvSpPr>
          <p:cNvPr id="4" name="bridge"/>
          <p:cNvSpPr txBox="1"/>
          <p:nvPr/>
        </p:nvSpPr>
        <p:spPr>
          <a:xfrm>
            <a:off x="548640" y="587044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500" b="1" dirty="0">
                <a:solidFill>
                  <a:schemeClr val="accent1"/>
                </a:solidFill>
              </a:rPr>
              <a:t>다음 질문  </a:t>
            </a:r>
            <a:pPr indent="0" marL="0" eaLnBrk="0">
              <a:buNone/>
            </a:pPr>
            <a:r>
              <a:rPr lang="ko-KR" altLang="en-US" sz="1500" dirty="0">
                <a:solidFill>
                  <a:schemeClr val="tx2"/>
                </a:solidFill>
              </a:rPr>
              <a:t>그러면 이 패턴은 언제 쓰고 무엇을 조심할까?</a:t>
            </a:r>
            <a:endParaRPr lang="ko-KR" alt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5349240" cy="2423160"/>
          </a:xfrm>
          <a:prstGeom prst="roundRect">
            <a:avLst>
              <a:gd name="adj" fmla="val 377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181051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buNone/>
            </a:pPr>
            <a:r>
              <a:rPr lang="ko-KR" altLang="en-US" sz="1800" b="1" dirty="0">
                <a:solidFill>
                  <a:schemeClr val="accent5"/>
                </a:solidFill>
              </a:rPr>
              <a:t>열거형</a:t>
            </a:r>
            <a:endParaRPr lang="ko-KR" altLang="en-US" sz="1800" dirty="0"/>
          </a:p>
        </p:txBody>
      </p:sp>
      <p:sp>
        <p:nvSpPr>
          <p:cNvPr id="8" name="codePanel"/>
          <p:cNvSpPr/>
          <p:nvPr/>
        </p:nvSpPr>
        <p:spPr>
          <a:xfrm>
            <a:off x="822960" y="2286000"/>
            <a:ext cx="4800600" cy="548640"/>
          </a:xfrm>
          <a:prstGeom prst="roundRect">
            <a:avLst>
              <a:gd name="adj" fmla="val 13333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9" name="code"/>
          <p:cNvSpPr txBox="1"/>
          <p:nvPr/>
        </p:nvSpPr>
        <p:spPr>
          <a:xfrm>
            <a:off x="932688" y="2377440"/>
            <a:ext cx="4581144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 eaLnBrk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cost = world.GetMovementCost(2, 3);</a:t>
            </a:r>
            <a:endParaRPr lang="ko-KR" alt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2971800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buNone/>
            </a:pPr>
            <a:r>
              <a:rPr lang="ko-KR" altLang="en-US" sz="1400" dirty="0">
                <a:solidFill>
                  <a:schemeClr val="tx2"/>
                </a:solidFill>
              </a:rPr>
              <a:t>칸에 열거형 값이 바로 있다. switch로 값을 고른다.</a:t>
            </a:r>
            <a:endParaRPr lang="ko-KR" alt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263640" y="1691640"/>
            <a:ext cx="5349240" cy="2423160"/>
          </a:xfrm>
          <a:prstGeom prst="roundRect">
            <a:avLst>
              <a:gd name="adj" fmla="val 377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537960" y="181051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buNone/>
            </a:pPr>
            <a:r>
              <a:rPr lang="ko-KR" altLang="en-US" sz="1800" b="1" dirty="0">
                <a:solidFill>
                  <a:schemeClr val="accent1"/>
                </a:solidFill>
              </a:rPr>
              <a:t>경량 객체</a:t>
            </a:r>
            <a:endParaRPr lang="ko-KR" altLang="en-US" sz="1800" dirty="0"/>
          </a:p>
        </p:txBody>
      </p:sp>
      <p:sp>
        <p:nvSpPr>
          <p:cNvPr id="13" name="codePanel"/>
          <p:cNvSpPr/>
          <p:nvPr/>
        </p:nvSpPr>
        <p:spPr>
          <a:xfrm>
            <a:off x="6537960" y="2286000"/>
            <a:ext cx="4800600" cy="548640"/>
          </a:xfrm>
          <a:prstGeom prst="roundRect">
            <a:avLst>
              <a:gd name="adj" fmla="val 13333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4" name="code"/>
          <p:cNvSpPr txBox="1"/>
          <p:nvPr/>
        </p:nvSpPr>
        <p:spPr>
          <a:xfrm>
            <a:off x="6647688" y="2377440"/>
            <a:ext cx="4581144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 eaLnBrk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cost = world.GetTile(2, 3).MovementCost;</a:t>
            </a:r>
            <a:endParaRPr lang="ko-KR" alt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6537960" y="2971800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buNone/>
            </a:pPr>
            <a:r>
              <a:rPr lang="ko-KR" altLang="en-US" sz="1400" dirty="0">
                <a:solidFill>
                  <a:schemeClr val="tx2"/>
                </a:solidFill>
              </a:rPr>
              <a:t>칸의 참조를 따라 객체를 한 번 더 찾아간다. 그곳이 캐시에 없으면 캐시 미스가 날 수 있다.</a:t>
            </a:r>
            <a:endParaRPr lang="ko-KR" altLang="en-US" sz="1400" dirty="0"/>
          </a:p>
        </p:txBody>
      </p:sp>
      <p:sp>
        <p:nvSpPr>
          <p:cNvPr id="16" name="card"/>
          <p:cNvSpPr/>
          <p:nvPr/>
        </p:nvSpPr>
        <p:spPr>
          <a:xfrm>
            <a:off x="548640" y="4343400"/>
            <a:ext cx="11094415" cy="137160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77240" y="4562856"/>
            <a:ext cx="106829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700" b="1" dirty="0">
                <a:solidFill>
                  <a:schemeClr val="accent4"/>
                </a:solidFill>
              </a:rPr>
              <a:t>원서 저자의 측정과 결론</a:t>
            </a:r>
            <a:endParaRPr lang="ko-KR" alt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777240" y="5120640"/>
            <a:ext cx="10637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buNone/>
            </a:pPr>
            <a:r>
              <a:rPr lang="ko-KR" altLang="en-US" sz="1400" dirty="0">
                <a:solidFill>
                  <a:schemeClr val="bg1"/>
                </a:solidFill>
              </a:rPr>
              <a:t>열거형보다 느리지 않았고 오히려 빨랐다. 다만 메모리 배치에 따라 다르다. 성능이 걱정되면 코드를 바꾸기 전에 먼저 측정한다.</a:t>
            </a:r>
            <a:endParaRPr lang="ko-KR" alt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 eaLnBrk="0">
              <a:defRPr sz="1000">
                <a:solidFill>
                  <a:schemeClr val="accent3"/>
                </a:solidFill>
              </a:defRPr>
            </a:lvl1pPr>
          </a:lstStyle>
          <a:p>
            <a:pPr algn="r" eaLnBrk="0"/>
            <a:fld id="{F7021451-1387-4CA6-816F-3879F97B5CBC}" type="slidenum">
              <a:rPr b="0" lang="ko-KR" altLang="en-US"/>
              <a:t>28</a:t>
            </a:fld>
            <a:endParaRPr lang="ko-KR" alt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2918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300" b="1" dirty="0">
                <a:solidFill>
                  <a:schemeClr val="accent1"/>
                </a:solidFill>
              </a:rPr>
              <a:t>쓸 때와 주의점</a:t>
            </a:r>
            <a:endParaRPr lang="ko-KR" alt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 eaLnBrk="0">
              <a:buNone/>
            </a:pPr>
            <a:r>
              <a:rPr lang="ko-KR" altLang="en-US" sz="2600" b="1" dirty="0">
                <a:solidFill>
                  <a:schemeClr val="tx1"/>
                </a:solidFill>
              </a:rPr>
              <a:t>같은 데이터를 가진 객체가 아주 많을 때 쓴다</a:t>
            </a:r>
            <a:endParaRPr lang="ko-KR" altLang="en-US" sz="2600" dirty="0"/>
          </a:p>
        </p:txBody>
      </p:sp>
      <p:sp>
        <p:nvSpPr>
          <p:cNvPr id="4" name="bridge"/>
          <p:cNvSpPr txBox="1"/>
          <p:nvPr/>
        </p:nvSpPr>
        <p:spPr>
          <a:xfrm>
            <a:off x="548640" y="587044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500" b="1" dirty="0">
                <a:solidFill>
                  <a:schemeClr val="accent1"/>
                </a:solidFill>
              </a:rPr>
              <a:t>다음 질문  </a:t>
            </a:r>
            <a:pPr indent="0" marL="0" eaLnBrk="0">
              <a:buNone/>
            </a:pPr>
            <a:r>
              <a:rPr lang="ko-KR" altLang="en-US" sz="1500" dirty="0">
                <a:solidFill>
                  <a:schemeClr val="tx2"/>
                </a:solidFill>
              </a:rPr>
              <a:t>원서는 경량 패턴과 함께 볼 패턴으로 무엇을 소개할까?</a:t>
            </a:r>
            <a:endParaRPr lang="ko-KR" alt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9164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buNone/>
            </a:pPr>
            <a:r>
              <a:rPr lang="ko-KR" altLang="en-US" sz="2000" b="1" dirty="0">
                <a:solidFill>
                  <a:schemeClr val="accent2"/>
                </a:solidFill>
              </a:rPr>
              <a:t>이럴 때 쓴다</a:t>
            </a:r>
            <a:endParaRPr lang="ko-KR" altLang="en-US" sz="2000" dirty="0"/>
          </a:p>
        </p:txBody>
      </p:sp>
      <p:sp>
        <p:nvSpPr>
          <p:cNvPr id="7" name="card"/>
          <p:cNvSpPr/>
          <p:nvPr/>
        </p:nvSpPr>
        <p:spPr>
          <a:xfrm>
            <a:off x="548640" y="2240280"/>
            <a:ext cx="534924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77240" y="244144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24414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>
              <a:buNone/>
            </a:pPr>
            <a:r>
              <a:rPr lang="ko-KR" altLang="en-US" sz="1500" b="1" dirty="0">
                <a:solidFill>
                  <a:schemeClr val="bg1"/>
                </a:solidFill>
              </a:rPr>
              <a:t>1</a:t>
            </a:r>
            <a:endParaRPr lang="ko-KR" altLang="en-US" sz="1500" dirty="0"/>
          </a:p>
        </p:txBody>
      </p:sp>
      <p:sp>
        <p:nvSpPr>
          <p:cNvPr id="10" name="card"/>
          <p:cNvSpPr/>
          <p:nvPr/>
        </p:nvSpPr>
        <p:spPr>
          <a:xfrm>
            <a:off x="548640" y="3429000"/>
            <a:ext cx="534924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77240" y="363016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36301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>
              <a:buNone/>
            </a:pPr>
            <a:r>
              <a:rPr lang="ko-KR" altLang="en-US" sz="1500" b="1" dirty="0">
                <a:solidFill>
                  <a:schemeClr val="bg1"/>
                </a:solidFill>
              </a:rPr>
              <a:t>2</a:t>
            </a:r>
            <a:endParaRPr lang="ko-KR" altLang="en-US" sz="1500" dirty="0"/>
          </a:p>
        </p:txBody>
      </p:sp>
      <p:sp>
        <p:nvSpPr>
          <p:cNvPr id="13" name="card"/>
          <p:cNvSpPr/>
          <p:nvPr/>
        </p:nvSpPr>
        <p:spPr>
          <a:xfrm>
            <a:off x="548640" y="4617720"/>
            <a:ext cx="534924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77240" y="481888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77240" y="48188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>
              <a:buNone/>
            </a:pPr>
            <a:r>
              <a:rPr lang="ko-KR" altLang="en-US" sz="1500" b="1" dirty="0">
                <a:solidFill>
                  <a:schemeClr val="bg1"/>
                </a:solidFill>
              </a:rPr>
              <a:t>3</a:t>
            </a:r>
            <a:endParaRPr lang="ko-KR" alt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1371600" y="2377440"/>
            <a:ext cx="4343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400" dirty="0">
                <a:solidFill>
                  <a:schemeClr val="tx2"/>
                </a:solidFill>
              </a:rPr>
              <a:t>같은 데이터를 가진 객체가 아주 많아 메모리나 GPU 전송량이 문제다.</a:t>
            </a:r>
            <a:endParaRPr lang="ko-KR" alt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1371600" y="3566160"/>
            <a:ext cx="4343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400" dirty="0">
                <a:solidFill>
                  <a:schemeClr val="tx2"/>
                </a:solidFill>
              </a:rPr>
              <a:t>열거형 값으로 switch를 여러 곳에 쓰고 있다.</a:t>
            </a:r>
            <a:endParaRPr lang="ko-KR" alt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1371600" y="4754880"/>
            <a:ext cx="4343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400" dirty="0">
                <a:solidFill>
                  <a:schemeClr val="tx2"/>
                </a:solidFill>
              </a:rPr>
              <a:t>데이터를 고유 상태와 외부 상태로 나눌 수 있다.</a:t>
            </a:r>
            <a:endParaRPr lang="ko-KR" alt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6263640" y="169164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buNone/>
            </a:pPr>
            <a:r>
              <a:rPr lang="ko-KR" altLang="en-US" sz="2000" b="1" dirty="0">
                <a:solidFill>
                  <a:schemeClr val="accent6"/>
                </a:solidFill>
              </a:rPr>
              <a:t>이것을 조심한다</a:t>
            </a:r>
            <a:endParaRPr lang="ko-KR" altLang="en-US" sz="2000" dirty="0"/>
          </a:p>
        </p:txBody>
      </p:sp>
      <p:sp>
        <p:nvSpPr>
          <p:cNvPr id="20" name="card"/>
          <p:cNvSpPr/>
          <p:nvPr/>
        </p:nvSpPr>
        <p:spPr>
          <a:xfrm>
            <a:off x="6263640" y="2240280"/>
            <a:ext cx="534924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492240" y="244144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492240" y="24414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>
              <a:buNone/>
            </a:pPr>
            <a:r>
              <a:rPr lang="ko-KR" altLang="en-US" sz="1500" b="1" dirty="0">
                <a:solidFill>
                  <a:schemeClr val="bg1"/>
                </a:solidFill>
              </a:rPr>
              <a:t>1</a:t>
            </a:r>
            <a:endParaRPr lang="ko-KR" altLang="en-US" sz="1500" dirty="0"/>
          </a:p>
        </p:txBody>
      </p:sp>
      <p:sp>
        <p:nvSpPr>
          <p:cNvPr id="23" name="card"/>
          <p:cNvSpPr/>
          <p:nvPr/>
        </p:nvSpPr>
        <p:spPr>
          <a:xfrm>
            <a:off x="6263640" y="3429000"/>
            <a:ext cx="534924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492240" y="363016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492240" y="36301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>
              <a:buNone/>
            </a:pPr>
            <a:r>
              <a:rPr lang="ko-KR" altLang="en-US" sz="1500" b="1" dirty="0">
                <a:solidFill>
                  <a:schemeClr val="bg1"/>
                </a:solidFill>
              </a:rPr>
              <a:t>2</a:t>
            </a:r>
            <a:endParaRPr lang="ko-KR" altLang="en-US" sz="1500" dirty="0"/>
          </a:p>
        </p:txBody>
      </p:sp>
      <p:sp>
        <p:nvSpPr>
          <p:cNvPr id="26" name="card"/>
          <p:cNvSpPr/>
          <p:nvPr/>
        </p:nvSpPr>
        <p:spPr>
          <a:xfrm>
            <a:off x="6263640" y="4617720"/>
            <a:ext cx="534924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492240" y="481888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492240" y="48188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>
              <a:buNone/>
            </a:pPr>
            <a:r>
              <a:rPr lang="ko-KR" altLang="en-US" sz="1500" b="1" dirty="0">
                <a:solidFill>
                  <a:schemeClr val="bg1"/>
                </a:solidFill>
              </a:rPr>
              <a:t>3</a:t>
            </a:r>
            <a:endParaRPr lang="ko-KR" alt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7086600" y="2377440"/>
            <a:ext cx="4343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400" dirty="0">
                <a:solidFill>
                  <a:schemeClr val="tx2"/>
                </a:solidFill>
              </a:rPr>
              <a:t>공유 객체를 고치면 쓰는 모든 곳이 바뀐다. 읽기 전용으로 만든다.</a:t>
            </a:r>
            <a:endParaRPr lang="ko-KR" alt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7086600" y="3566160"/>
            <a:ext cx="4343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400" dirty="0">
                <a:solidFill>
                  <a:schemeClr val="tx2"/>
                </a:solidFill>
              </a:rPr>
              <a:t>인스턴스마다 다른 값을 공유 객체에 넣지 않는다.</a:t>
            </a:r>
            <a:endParaRPr lang="ko-KR" alt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7086600" y="4754880"/>
            <a:ext cx="4343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400" dirty="0">
                <a:solidFill>
                  <a:schemeClr val="tx2"/>
                </a:solidFill>
              </a:rPr>
              <a:t>성능이 걱정되면 바꾸기 전에 먼저 측정한다.</a:t>
            </a:r>
            <a:endParaRPr lang="ko-KR" alt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 eaLnBrk="0">
              <a:defRPr sz="1000">
                <a:solidFill>
                  <a:schemeClr val="accent3"/>
                </a:solidFill>
              </a:defRPr>
            </a:lvl1pPr>
          </a:lstStyle>
          <a:p>
            <a:pPr algn="r" eaLnBrk="0"/>
            <a:fld id="{F7021451-1387-4CA6-816F-3879F97B5CBC}" type="slidenum">
              <a:rPr b="0" lang="ko-KR" altLang="en-US"/>
              <a:t>29</a:t>
            </a:fld>
            <a:endParaRPr lang="ko-KR" alt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2918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300" b="1" dirty="0">
                <a:solidFill>
                  <a:schemeClr val="accent1"/>
                </a:solidFill>
              </a:rPr>
              <a:t>관련 패턴</a:t>
            </a:r>
            <a:endParaRPr lang="ko-KR" alt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 eaLnBrk="0">
              <a:buNone/>
            </a:pPr>
            <a:r>
              <a:rPr lang="ko-KR" altLang="en-US" sz="2600" b="1" dirty="0">
                <a:solidFill>
                  <a:schemeClr val="tx1"/>
                </a:solidFill>
              </a:rPr>
              <a:t>원서가 함께 소개하는 패턴들</a:t>
            </a:r>
            <a:endParaRPr lang="ko-KR" altLang="en-US" sz="2600" dirty="0"/>
          </a:p>
        </p:txBody>
      </p:sp>
      <p:sp>
        <p:nvSpPr>
          <p:cNvPr id="4" name="bridge"/>
          <p:cNvSpPr txBox="1"/>
          <p:nvPr/>
        </p:nvSpPr>
        <p:spPr>
          <a:xfrm>
            <a:off x="548640" y="587044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500" b="1" dirty="0">
                <a:solidFill>
                  <a:schemeClr val="accent1"/>
                </a:solidFill>
              </a:rPr>
              <a:t>다음 질문  </a:t>
            </a:r>
            <a:pPr indent="0" marL="0" eaLnBrk="0">
              <a:buNone/>
            </a:pPr>
            <a:r>
              <a:rPr lang="ko-KR" altLang="en-US" sz="1500" dirty="0">
                <a:solidFill>
                  <a:schemeClr val="tx2"/>
                </a:solidFill>
              </a:rPr>
              <a:t>Unity에서는 이 생각이 어디에 쓰이고 있을까?</a:t>
            </a:r>
            <a:endParaRPr lang="ko-KR" alt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11094415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180136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buNone/>
            </a:pPr>
            <a:r>
              <a:rPr lang="ko-KR" altLang="en-US" sz="1700" b="1" dirty="0">
                <a:solidFill>
                  <a:schemeClr val="tx1"/>
                </a:solidFill>
              </a:rPr>
              <a:t>팩토리 메서드(Factory Method)</a:t>
            </a:r>
            <a:endParaRPr lang="ko-KR" alt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4572000" y="1783080"/>
            <a:ext cx="6796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500" dirty="0">
                <a:solidFill>
                  <a:schemeClr val="tx2"/>
                </a:solidFill>
              </a:rPr>
              <a:t>경량 객체를 미리 모두 만들지 않고 필요할 때 만든다. 같은 객체가 이미 있으면 새로 만들지 않고 그것을 돌려준다.</a:t>
            </a:r>
            <a:endParaRPr lang="ko-KR" alt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48640" y="2697480"/>
            <a:ext cx="11094415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22960" y="280720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buNone/>
            </a:pPr>
            <a:r>
              <a:rPr lang="ko-KR" altLang="en-US" sz="1700" b="1" dirty="0">
                <a:solidFill>
                  <a:schemeClr val="tx1"/>
                </a:solidFill>
              </a:rPr>
              <a:t>객체 풀(Object Pool)</a:t>
            </a:r>
            <a:endParaRPr lang="ko-KR" alt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822960" y="3209544"/>
            <a:ext cx="822960" cy="310896"/>
          </a:xfrm>
          <a:prstGeom prst="roundRect">
            <a:avLst>
              <a:gd name="adj" fmla="val 2352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22960" y="3209544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>
              <a:buNone/>
            </a:pPr>
            <a:r>
              <a:rPr lang="ko-KR" altLang="en-US" sz="1200" b="1" dirty="0">
                <a:solidFill>
                  <a:schemeClr val="bg1"/>
                </a:solidFill>
              </a:rPr>
              <a:t>12강</a:t>
            </a:r>
            <a:endParaRPr lang="ko-KR" alt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0" y="2788920"/>
            <a:ext cx="6796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500" dirty="0">
                <a:solidFill>
                  <a:schemeClr val="tx2"/>
                </a:solidFill>
              </a:rPr>
              <a:t>이미 만든 경량 객체를 찾아 다시 돌려주려면 보관할 곳이 필요하다. 객체 풀이 그 자리가 될 수 있다.</a:t>
            </a:r>
            <a:endParaRPr lang="ko-KR" alt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548640" y="3703320"/>
            <a:ext cx="11094415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22960" y="381304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buNone/>
            </a:pPr>
            <a:r>
              <a:rPr lang="ko-KR" altLang="en-US" sz="1700" b="1" dirty="0">
                <a:solidFill>
                  <a:schemeClr val="tx1"/>
                </a:solidFill>
              </a:rPr>
              <a:t>상태(State)</a:t>
            </a:r>
            <a:endParaRPr lang="ko-KR" alt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822960" y="4215384"/>
            <a:ext cx="822960" cy="310896"/>
          </a:xfrm>
          <a:prstGeom prst="roundRect">
            <a:avLst>
              <a:gd name="adj" fmla="val 2352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2960" y="4215384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>
              <a:buNone/>
            </a:pPr>
            <a:r>
              <a:rPr lang="ko-KR" altLang="en-US" sz="1200" b="1" dirty="0">
                <a:solidFill>
                  <a:schemeClr val="bg1"/>
                </a:solidFill>
              </a:rPr>
              <a:t>4강</a:t>
            </a:r>
            <a:endParaRPr lang="ko-KR" alt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0" y="3794760"/>
            <a:ext cx="6796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500" dirty="0">
                <a:solidFill>
                  <a:schemeClr val="tx2"/>
                </a:solidFill>
              </a:rPr>
              <a:t>상태 객체에 그 상태 기계만의 필드가 없으면, 여러 상태 기계가 같은 상태 객체를 함께 쓸 수 있다.</a:t>
            </a:r>
            <a:endParaRPr lang="ko-KR" alt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548640" y="4709160"/>
            <a:ext cx="11094415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22960" y="481888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buNone/>
            </a:pPr>
            <a:r>
              <a:rPr lang="ko-KR" altLang="en-US" sz="1700" b="1" dirty="0">
                <a:solidFill>
                  <a:schemeClr val="tx1"/>
                </a:solidFill>
              </a:rPr>
              <a:t>타입 객체(Type Object)</a:t>
            </a:r>
            <a:endParaRPr lang="ko-KR" altLang="en-US" sz="1700" dirty="0"/>
          </a:p>
        </p:txBody>
      </p:sp>
      <p:sp>
        <p:nvSpPr>
          <p:cNvPr id="21" name="Shape 18"/>
          <p:cNvSpPr/>
          <p:nvPr/>
        </p:nvSpPr>
        <p:spPr>
          <a:xfrm>
            <a:off x="822960" y="5221224"/>
            <a:ext cx="822960" cy="310896"/>
          </a:xfrm>
          <a:prstGeom prst="roundRect">
            <a:avLst>
              <a:gd name="adj" fmla="val 2352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22960" y="5221224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>
              <a:buNone/>
            </a:pPr>
            <a:r>
              <a:rPr lang="ko-KR" altLang="en-US" sz="1200" b="1" dirty="0">
                <a:solidFill>
                  <a:schemeClr val="bg1"/>
                </a:solidFill>
              </a:rPr>
              <a:t>7강</a:t>
            </a:r>
            <a:endParaRPr lang="ko-KR" alt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4572000" y="4800600"/>
            <a:ext cx="6796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500" dirty="0">
                <a:solidFill>
                  <a:schemeClr val="tx2"/>
                </a:solidFill>
              </a:rPr>
              <a:t>상태의 일부를 공유 객체에 맡기는 점은 같다. 목적은 효율이 아니라 종류를 데이터로 정의하는 것이다.</a:t>
            </a:r>
            <a:endParaRPr lang="ko-KR" alt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 eaLnBrk="0">
              <a:defRPr sz="1000">
                <a:solidFill>
                  <a:schemeClr val="accent3"/>
                </a:solidFill>
              </a:defRPr>
            </a:lvl1pPr>
          </a:lstStyle>
          <a:p>
            <a:pPr algn="r" eaLnBrk="0"/>
            <a:fld id="{F7021451-1387-4CA6-816F-3879F97B5CBC}" type="slidenum">
              <a:rPr b="0" lang="ko-KR" altLang="en-US"/>
              <a:t>30</a:t>
            </a:fld>
            <a:endParaRPr lang="ko-KR" alt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2918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300" b="1" dirty="0">
                <a:solidFill>
                  <a:schemeClr val="accent1"/>
                </a:solidFill>
              </a:rPr>
              <a:t>Unity에서</a:t>
            </a:r>
            <a:endParaRPr lang="ko-KR" alt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 eaLnBrk="0">
              <a:buNone/>
            </a:pPr>
            <a:r>
              <a:rPr lang="ko-KR" altLang="en-US" sz="2600" b="1" dirty="0">
                <a:solidFill>
                  <a:schemeClr val="tx1"/>
                </a:solidFill>
              </a:rPr>
              <a:t>Unity에도 데이터를 공유하는 장치가 여럿 있다</a:t>
            </a:r>
            <a:endParaRPr lang="ko-KR" altLang="en-US" sz="2600" dirty="0"/>
          </a:p>
        </p:txBody>
      </p:sp>
      <p:sp>
        <p:nvSpPr>
          <p:cNvPr id="4" name="bridge"/>
          <p:cNvSpPr txBox="1"/>
          <p:nvPr/>
        </p:nvSpPr>
        <p:spPr>
          <a:xfrm>
            <a:off x="548640" y="587044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500" b="1" dirty="0">
                <a:solidFill>
                  <a:schemeClr val="accent1"/>
                </a:solidFill>
              </a:rPr>
              <a:t>다음 질문  </a:t>
            </a:r>
            <a:pPr indent="0" marL="0" eaLnBrk="0">
              <a:buNone/>
            </a:pPr>
            <a:r>
              <a:rPr lang="ko-KR" altLang="en-US" sz="1500" dirty="0">
                <a:solidFill>
                  <a:schemeClr val="tx2"/>
                </a:solidFill>
              </a:rPr>
              <a:t>마지막으로 오늘 내용을 질문으로 확인해 보자.</a:t>
            </a:r>
            <a:endParaRPr lang="ko-KR" altLang="en-US" sz="15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7711135"/>
              </a:tblGrid>
              <a:tr h="411480"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350" b="1" dirty="0">
                          <a:solidFill>
                            <a:schemeClr val="bg1"/>
                          </a:solidFill>
                        </a:rPr>
                        <a:t>Unity 기능</a:t>
                      </a:r>
                      <a:endParaRPr lang="ko-KR" altLang="en-US" sz="135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350" b="1" dirty="0">
                          <a:solidFill>
                            <a:schemeClr val="bg1"/>
                          </a:solidFill>
                        </a:rPr>
                        <a:t>경량 패턴과의 관계</a:t>
                      </a:r>
                      <a:endParaRPr lang="ko-KR" altLang="en-US" sz="135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350" b="1" dirty="0">
                          <a:solidFill>
                            <a:schemeClr val="tx1"/>
                          </a:solidFill>
                        </a:rPr>
                        <a:t>MeshFilter.sharedMesh,</a:t>
                      </a:r>
                      <a:endParaRPr lang="ko-KR" altLang="en-US" sz="1350" dirty="0"/>
                    </a:p>
                    <a:p>
                      <a:pPr indent="0" marL="0" eaLnBrk="0">
                        <a:buNone/>
                      </a:pPr>
                      <a:r>
                        <a:rPr lang="ko-KR" altLang="en-US" sz="1350" b="1" dirty="0">
                          <a:solidFill>
                            <a:schemeClr val="tx1"/>
                          </a:solidFill>
                        </a:rPr>
                        <a:t>Renderer.sharedMaterial</a:t>
                      </a:r>
                      <a:endParaRPr lang="ko-KR" altLang="en-US" sz="135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350" dirty="0">
                          <a:solidFill>
                            <a:schemeClr val="tx2"/>
                          </a:solidFill>
                        </a:rPr>
                        <a:t>여러 오브젝트가 같은 메시와 머티리얼을 함께 쓴다. mesh, material에 접근하면 그 오브젝트만의 복사본이 생긴다. (1부의 첫 시도)</a:t>
                      </a:r>
                      <a:endParaRPr lang="ko-KR" altLang="en-US" sz="135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350" b="1" dirty="0">
                          <a:solidFill>
                            <a:schemeClr val="tx1"/>
                          </a:solidFill>
                        </a:rPr>
                        <a:t>GPU 인스턴싱</a:t>
                      </a:r>
                      <a:endParaRPr lang="ko-KR" altLang="en-US" sz="1350" dirty="0"/>
                    </a:p>
                    <a:p>
                      <a:pPr indent="0" marL="0" eaLnBrk="0">
                        <a:buNone/>
                      </a:pPr>
                      <a:r>
                        <a:rPr lang="ko-KR" altLang="en-US" sz="1350" b="1" dirty="0">
                          <a:solidFill>
                            <a:schemeClr val="tx1"/>
                          </a:solidFill>
                        </a:rPr>
                        <a:t>Graphics.RenderMeshInstanced</a:t>
                      </a:r>
                      <a:endParaRPr lang="ko-KR" altLang="en-US" sz="135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350" dirty="0">
                          <a:solidFill>
                            <a:schemeClr val="tx2"/>
                          </a:solidFill>
                        </a:rPr>
                        <a:t>같은 메시를 여러 위치에 한 번의 그리기 요청으로 그린다. 머티리얼의 Enable GPU Instancing을 켠다. (2부)</a:t>
                      </a:r>
                      <a:endParaRPr lang="ko-KR" altLang="en-US" sz="135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350" b="1" dirty="0">
                          <a:solidFill>
                            <a:schemeClr val="tx1"/>
                          </a:solidFill>
                        </a:rPr>
                        <a:t>MaterialPropertyBlock</a:t>
                      </a:r>
                      <a:endParaRPr lang="ko-KR" altLang="en-US" sz="135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350" dirty="0">
                          <a:solidFill>
                            <a:schemeClr val="tx2"/>
                          </a:solidFill>
                        </a:rPr>
                        <a:t>머티리얼을 복사하지 않고 오브젝트마다 다른 색 같은 값을 넘긴다. (외부 상태)</a:t>
                      </a:r>
                      <a:endParaRPr lang="ko-KR" altLang="en-US" sz="135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350" b="1" dirty="0">
                          <a:solidFill>
                            <a:schemeClr val="tx1"/>
                          </a:solidFill>
                        </a:rPr>
                        <a:t>ScriptableObject 에셋</a:t>
                      </a:r>
                      <a:endParaRPr lang="ko-KR" altLang="en-US" sz="135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350" dirty="0">
                          <a:solidFill>
                            <a:schemeClr val="tx2"/>
                          </a:solidFill>
                        </a:rPr>
                        <a:t>여러 오브젝트가 같은 데이터 에셋을 참조한다. 값을 오브젝트마다 복사하지 않는다. (고유 상태)</a:t>
                      </a:r>
                      <a:endParaRPr lang="ko-KR" altLang="en-US" sz="135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350" b="1" dirty="0">
                          <a:solidFill>
                            <a:schemeClr val="tx1"/>
                          </a:solidFill>
                        </a:rPr>
                        <a:t>Tilemap과 Tile 에셋</a:t>
                      </a:r>
                      <a:endParaRPr lang="ko-KR" altLang="en-US" sz="135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350" dirty="0">
                          <a:solidFill>
                            <a:schemeClr val="tx2"/>
                          </a:solidFill>
                        </a:rPr>
                        <a:t>칸마다 TileBase 에셋을 참조한다. 같은 타일의 칸은 같은 에셋을 가리킨다. (4부의 지형 격자)</a:t>
                      </a:r>
                      <a:endParaRPr lang="ko-KR" altLang="en-US" sz="135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 eaLnBrk="0">
              <a:defRPr sz="1000">
                <a:solidFill>
                  <a:schemeClr val="accent3"/>
                </a:solidFill>
              </a:defRPr>
            </a:lvl1pPr>
          </a:lstStyle>
          <a:p>
            <a:pPr algn="r" eaLnBrk="0"/>
            <a:fld id="{F7021451-1387-4CA6-816F-3879F97B5CBC}" type="slidenum">
              <a:rPr b="0" lang="ko-KR" altLang="en-US"/>
              <a:t>31</a:t>
            </a:fld>
            <a:endParaRPr lang="ko-KR" alt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2918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300" b="1" dirty="0">
                <a:solidFill>
                  <a:schemeClr val="accent1"/>
                </a:solidFill>
              </a:rPr>
              <a:t>확인 질문</a:t>
            </a:r>
            <a:endParaRPr lang="ko-KR" alt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 eaLnBrk="0">
              <a:buNone/>
            </a:pPr>
            <a:r>
              <a:rPr lang="ko-KR" altLang="en-US" sz="2600" b="1" dirty="0">
                <a:solidFill>
                  <a:schemeClr val="tx1"/>
                </a:solidFill>
              </a:rPr>
              <a:t>질문으로 다시 정리한다</a:t>
            </a:r>
            <a:endParaRPr lang="ko-KR" altLang="en-US" sz="26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4415" cy="914400"/>
        </p:xfrm>
        <a:graphic>
          <a:graphicData uri="http://schemas.openxmlformats.org/drawingml/2006/table">
            <a:tbl>
              <a:tblPr/>
              <a:tblGrid>
                <a:gridCol w="4754880"/>
                <a:gridCol w="6339535"/>
              </a:tblGrid>
              <a:tr h="457200"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500" b="1" dirty="0">
                          <a:solidFill>
                            <a:schemeClr val="bg1"/>
                          </a:solidFill>
                        </a:rPr>
                        <a:t>질문</a:t>
                      </a:r>
                      <a:endParaRPr lang="ko-KR" altLang="en-US" sz="15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500" b="1" dirty="0">
                          <a:solidFill>
                            <a:schemeClr val="bg1"/>
                          </a:solidFill>
                        </a:rPr>
                        <a:t>답</a:t>
                      </a:r>
                      <a:endParaRPr lang="ko-KR" altLang="en-US" sz="15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500" b="1" dirty="0">
                          <a:solidFill>
                            <a:schemeClr val="tx1"/>
                          </a:solidFill>
                        </a:rPr>
                        <a:t>경량 패턴을 한 문장으로 말하면?</a:t>
                      </a:r>
                      <a:endParaRPr lang="ko-KR" altLang="en-US" sz="15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500" dirty="0">
                          <a:solidFill>
                            <a:schemeClr val="tx2"/>
                          </a:solidFill>
                        </a:rPr>
                        <a:t>여러 객체가 같은 데이터를 공유해 객체를 가볍게 만든다.</a:t>
                      </a:r>
                      <a:endParaRPr lang="ko-KR" altLang="en-US" sz="15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500" b="1" dirty="0">
                          <a:solidFill>
                            <a:schemeClr val="tx1"/>
                          </a:solidFill>
                        </a:rPr>
                        <a:t>고유 상태와 외부 상태의 차이는?</a:t>
                      </a:r>
                      <a:endParaRPr lang="ko-KR" altLang="en-US" sz="15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500" dirty="0">
                          <a:solidFill>
                            <a:schemeClr val="tx2"/>
                          </a:solidFill>
                        </a:rPr>
                        <a:t>고유 상태는 어디서 쓰든 같아서 공유하는 값이고, 외부 상태는 인스턴스마다 다른 값이다.</a:t>
                      </a:r>
                      <a:endParaRPr lang="ko-KR" altLang="en-US" sz="15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500" b="1" dirty="0">
                          <a:solidFill>
                            <a:schemeClr val="tx1"/>
                          </a:solidFill>
                        </a:rPr>
                        <a:t>나무의 메시, 위치, 잎 색조는 각각 어느 쪽인가?</a:t>
                      </a:r>
                      <a:endParaRPr lang="ko-KR" altLang="en-US" sz="15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500" dirty="0">
                          <a:solidFill>
                            <a:schemeClr val="tx2"/>
                          </a:solidFill>
                        </a:rPr>
                        <a:t>메시는 고유 상태, 위치와 잎 색조는 외부 상태이다.</a:t>
                      </a:r>
                      <a:endParaRPr lang="ko-KR" altLang="en-US" sz="15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500" b="1" dirty="0">
                          <a:solidFill>
                            <a:schemeClr val="tx1"/>
                          </a:solidFill>
                        </a:rPr>
                        <a:t>Terrain 객체를 읽기 전용으로 만드는 이유는?</a:t>
                      </a:r>
                      <a:endParaRPr lang="ko-KR" altLang="en-US" sz="15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500" dirty="0">
                          <a:solidFill>
                            <a:schemeClr val="tx2"/>
                          </a:solidFill>
                        </a:rPr>
                        <a:t>하나를 고치면 그 지형의 모든 칸이 함께 바뀌기 때문이다.</a:t>
                      </a:r>
                      <a:endParaRPr lang="ko-KR" altLang="en-US" sz="15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500" b="1" dirty="0">
                          <a:solidFill>
                            <a:schemeClr val="tx1"/>
                          </a:solidFill>
                        </a:rPr>
                        <a:t>경량 객체가 느릴까 걱정되면 무엇을 하나?</a:t>
                      </a:r>
                      <a:endParaRPr lang="ko-KR" altLang="en-US" sz="15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500" dirty="0">
                          <a:solidFill>
                            <a:schemeClr val="tx2"/>
                          </a:solidFill>
                        </a:rPr>
                        <a:t>코드를 바꾸기 전에 먼저 측정한다.</a:t>
                      </a:r>
                      <a:endParaRPr lang="ko-KR" altLang="en-US" sz="15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587044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buNone/>
            </a:pPr>
            <a:r>
              <a:rPr lang="ko-KR" altLang="en-US" sz="1500" b="1" dirty="0">
                <a:solidFill>
                  <a:schemeClr val="accent1"/>
                </a:solidFill>
              </a:rPr>
              <a:t>다음 강의  </a:t>
            </a:r>
            <a:pPr indent="0" marL="0" eaLnBrk="0">
              <a:buNone/>
            </a:pPr>
            <a:r>
              <a:rPr lang="ko-KR" altLang="en-US" sz="1500" dirty="0">
                <a:solidFill>
                  <a:schemeClr val="tx2"/>
                </a:solidFill>
              </a:rPr>
              <a:t>상태(State) 패턴: 상태에 따라 달라지는 행동을 상태 객체로 나눈다.</a:t>
            </a:r>
            <a:endParaRPr lang="ko-KR" alt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 eaLnBrk="0">
              <a:defRPr sz="1000">
                <a:solidFill>
                  <a:schemeClr val="accent3"/>
                </a:solidFill>
              </a:defRPr>
            </a:lvl1pPr>
          </a:lstStyle>
          <a:p>
            <a:pPr algn="r" eaLnBrk="0"/>
            <a:fld id="{F7021451-1387-4CA6-816F-3879F97B5CBC}" type="slidenum">
              <a:rPr b="0" lang="ko-KR" altLang="en-US"/>
              <a:t>32</a:t>
            </a:fld>
            <a:endParaRPr lang="ko-KR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tterns Lecture">
  <a:themeElements>
    <a:clrScheme name="Patterns Lecture">
      <a:dk1>
        <a:srgbClr val="1F2430"/>
      </a:dk1>
      <a:lt1>
        <a:srgbClr val="FFFFFF"/>
      </a:lt1>
      <a:dk2>
        <a:srgbClr val="2B2D42"/>
      </a:dk2>
      <a:lt2>
        <a:srgbClr val="F1F3F6"/>
      </a:lt2>
      <a:accent1>
        <a:srgbClr val="E07A3F"/>
      </a:accent1>
      <a:accent2>
        <a:srgbClr val="2A9D8F"/>
      </a:accent2>
      <a:accent3>
        <a:srgbClr val="8D99AE"/>
      </a:accent3>
      <a:accent4>
        <a:srgbClr val="E9C46A"/>
      </a:accent4>
      <a:accent5>
        <a:srgbClr val="5C6577"/>
      </a:accent5>
      <a:accent6>
        <a:srgbClr val="C44536"/>
      </a:accent6>
      <a:hlink>
        <a:srgbClr val="2A9D8F"/>
      </a:hlink>
      <a:folHlink>
        <a:srgbClr val="5C6577"/>
      </a:folHlink>
    </a:clrScheme>
    <a:fontScheme name="Patterns Lectur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3강 경량(Flyweight) 패턴</dc:title>
  <dc:subject>PptxGenJS Presentation</dc:subject>
  <dc:creator>Mini Tactics 패턴 수업</dc:creator>
  <cp:lastModifiedBy>Mini Tactics 패턴 수업</cp:lastModifiedBy>
  <cp:revision>1</cp:revision>
  <dcterms:created xsi:type="dcterms:W3CDTF">2026-10-27T07:27:28Z</dcterms:created>
  <dcterms:modified xsi:type="dcterms:W3CDTF">2026-10-27T07:27:28Z</dcterms:modified>
</cp:coreProperties>
</file>