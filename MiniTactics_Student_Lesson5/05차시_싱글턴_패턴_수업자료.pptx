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469d911d-51c3-5e83-0d6a-0339d6ddb78c}">
          <p14:sldIdLst>
            <p14:sldId id="256"/>
            <p14:sldId id="257"/>
            <p14:sldId id="258"/>
          </p14:sldIdLst>
        </p14:section>
        <p14:section name="1 · 싱글턴 패턴" id="{8d41aa5e-180c-7fd5-e983-bfdc44c5b46c}">
          <p14:sldIdLst>
            <p14:sldId id="259"/>
            <p14:sldId id="260"/>
            <p14:sldId id="261"/>
            <p14:sldId id="262"/>
            <p14:sldId id="263"/>
          </p14:sldIdLst>
        </p14:section>
        <p14:section name="2 · 왜 쓰는가" id="{260fb0b3-70a0-539f-9a10-5fbc8225e00b}">
          <p14:sldIdLst>
            <p14:sldId id="264"/>
            <p14:sldId id="265"/>
            <p14:sldId id="266"/>
            <p14:sldId id="267"/>
          </p14:sldIdLst>
        </p14:section>
        <p14:section name="3 · 왜 후회하는가" id="{3d1a3527-07f8-af88-9787-2eb9f2f2a09e}">
          <p14:sldIdLst>
            <p14:sldId id="268"/>
            <p14:sldId id="269"/>
            <p14:sldId id="270"/>
            <p14:sldId id="271"/>
            <p14:sldId id="272"/>
            <p14:sldId id="273"/>
            <p14:sldId id="274"/>
          </p14:sldIdLst>
        </p14:section>
        <p14:section name="4 · 대신 할 수 있는 것" id="{60ef23e8-8c7e-90c8-ff15-309c55a5bbcb}">
          <p14:sldIdLst>
            <p14:sldId id="275"/>
            <p14:sldId id="276"/>
            <p14:sldId id="277"/>
            <p14:sldId id="278"/>
            <p14:sldId id="279"/>
            <p14:sldId id="280"/>
            <p14:sldId id="281"/>
            <p14:sldId id="282"/>
          </p14:sldIdLst>
        </p14:section>
        <p14:section name="5 · 쓸 때와 주의점" id="{77605ea2-ae97-46c4-ce8e-04442567f67a}">
          <p14:sldIdLst>
            <p14:sldId id="283"/>
            <p14:sldId id="284"/>
            <p14:sldId id="285"/>
            <p14:sldId id="286"/>
            <p14:sldId id="287"/>
          </p14:sldIdLst>
        </p14:section>
        <p14:section name="정리" id="{86c69f2f-bd33-49b7-cdaa-ad880a79d807}">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원서 「싱글턴」 장을 따라갑니다. 이 장은 다른 장과 다릅니다. 다른 장은 패턴을 쓰는 법을 보여 주지만, 이 장은 대부분 싱글턴을 쓰지 않는 법을 다룹니다. 먼저 패턴을 정확히 이해하고, 그 다음에 왜 조심해야 하는지와 무엇으로 대신할지를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다섯 단계로 진행합니다. 싱글턴의 구조를 만들어 보고, 사람들이 이 패턴을 좋아하는 이유를 봅니다. 그 다음 같은 패턴을 쓰고 나서 후회하게 되는 이유를 보고, 원서가 제안하는 대안을 하나씩 살펴봅니다. 이 장은 원서에서 패턴을 권하지 않는 유일한 장이라는 점을 기억해 두세요.</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GoF의 정의는 클래스의 인스턴스가 하나뿐임을 보장하고, 그 인스턴스에 전역 접근점을 제공한다는 것입니다. 원서는 이 문장을 ‘그리고’에서 둘로 나누어 따로 살펴봅니다. 하나는 인스턴스를 하나로 제한하는 일이고, 다른 하나는 어디서든 그 인스턴스를 꺼내 쓰게 하는 일입니다. 오늘 내내 이 두 가지가 서로 다른 문제라는 점이 중요해집니다.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정의의 두 절반, 인스턴스를 하나로 제한하기와 전역 접근점 제공하기를 파일 시스템 예제로 차례로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운영체제의 파일 시스템 API를 감싸는 클래스를 예로 듭니다. 파일 작업은 오래 걸리므로 이 클래스는 작업을 비동기로 처리합니다. 그러면 여러 작업이 동시에 진행되므로 서로 조율해야 합니다. 같은 파일을 만드는 작업과 지우는 작업이 동시에 들어오면 둘 다 알고 있어야 순서를 맞출 수 있습니다. 인스턴스가 둘이면 한쪽은 다른 쪽이 시작한 작업을 알 방법이 없습니다.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로그, 콘텐츠 로딩, 게임 저장처럼 여러 시스템이 파일 시스템을 씁니다. 그런데 이 시스템들이 직접 인스턴스를 만들 수 없다면 어떻게 얻을까요? 싱글턴은 이 문제도 풉니다. private 생성자가 밖에서 new 하는 것을 막고, 정적 필드가 하나뿐인 인스턴스를 담고, public 정적 접근자가 어디서든 그 인스턴스를 돌려줍니다. 원서의 instance() 메서드는 C#의 관례에 맞추어 Instance 속성으로 옮겼습니다.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호출 순서를 따라가 봅니다. 게임이 시작될 때 _instance는 null입니다. 저장 시스템이 처음 Instance를 부르는 순간 객체가 만들어집니다. 그 뒤 로그 시스템과 로딩 시스템이 부르면 이미 만든 같은 객체를 받습니다. 다른 코드에서 new FileSystem()을 쓰면 생성자가 private이므로 컴파일 오류가 납니다. 원서가 컴파일 시점에 하나를 보장한다고 말하는 것이 이 부분입니다.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앞의 구현은 스레드 하나에서는 문제가 없습니다. 하지만 두 스레드가 동시에 처음 Instance를 부르면 둘 다 null을 보고 둘 다 객체를 만들 수 있습니다. 원서는 C++11의 지역 정적 변수가 한 번만 초기화된다는 규칙을 써서 이 문제를 피하는 현대적 버전을 보여 줍니다. C#에서는 Lazy&lt;T&gt;가 같은 일을 합니다. 기본 설정에서 Lazy&lt;T&gt;는 여러 스레드가 동시에 Value를 읽어도 객체를 한 번만 만듭니다. 단, 이것은 생성이 안전하다는 뜻일 뿐 클래스의 메서드가 스레드에 안전하다는 뜻은 아닙니다.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파일 시스템을 어디서든 쓸 수 있고, 실수로 둘을 만들 걱정도 없습니다. 원서는 그 밖에도 좋은 점이 있다고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원서가 꼽는 싱글턴의 좋은 점은 세 가지입니다. 첫째, 처음 요청될 때 만들기 때문에 아무도 쓰지 않으면 만들지 않습니다. 둘째, 실행 중에 초기화되므로 파일에서 읽은 설정처럼 실행한 뒤에야 알 수 있는 정보를 쓸 수 있습니다. 순환만 없다면 다른 싱글턴에 기대어 초기화할 수도 있습니다. 셋째, 상속할 수 있습니다. 아래 상자는 원서가 비교하는 정적 멤버 이야기입니다. C++에서는 정적 멤버가 main 전에 정해지지 않은 순서로 초기화되지만, C#은 그 클래스를 처음 쓰기 전에 초기화하므로 차이가 작다는 점도 함께 짚어 주세요.</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파일 시스템 래퍼가 여러 플랫폼에서 돌아가야 한다고 합시다. 파일 시스템을 추상 클래스로 만들고, 플랫폼마다 하위 클래스를 둡니다. 원서는 특정 게임기 두 종류를 예로 들지만, 여기서는 PC와 콘솔이라는 일반 이름으로 바꾸었습니다. 각 하위 클래스는 그 플랫폼의 파일 입출력 API로 읽기와 쓰기를 구현합니다.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이제 FileSystem 자체를 싱글턴으로 만듭니다. 생성자는 하위 클래스가 부를 수 있도록 protected로 둡니다. 핵심은 인스턴스를 만드는 부분입니다. 컴파일 기호 하나로 어느 하위 클래스를 만들지 정합니다. 나머지 코드는 FileSystem.Instance만 부르므로 플랫폼별 코드와 결합되지 않습니다. 원서는 대부분의 사람이 여기서 만족하고 코드를 올린다고 말합니다. 그리고 바로 다음 절에서 그 선택을 후회하게 되는 이유를 이야기합니다.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짧게 보면 싱글턴은 별로 해롭지 않습니다. 원서는 그 비용을 오래 지나서 치르게 된다고 말합니다. 세 가지 이유를 차례로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게임이 커지면서 하드웨어보다 생산성이 병목이 되었고, 업계는 전역 변수가 나쁘다는 교훈을 받아들였습니다. 원서는 세 가지 이유를 듭니다. 전역 상태를 건드리는 함수는 함수 본문과 매개변수만 보고 이해할 수 없습니다. 전역으로 보이는 객체는 상관없는 모듈까지 끌어들입니다. 여러 스레드가 같은 메모리를 건드리면 경쟁 상태와 교착 상태가 생깁니다. 싱글턴은 이 셋 중 어느 것도 풀지 않습니다. 전역 상태를 클래스 안에 감쌌을 뿐이기 때문입니다.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예입니다. 팀에 새로 온 프로그래머가 바위가 땅에 떨어질 때 소리가 나게 하라는 첫 과제를 받았습니다. 물리 코드와 오디오 코드를 떼어 두는 설계를 잘 모르지만, 과제는 끝내야 합니다. 오디오 플레이어가 전역으로 보이면 물리 코드에서 바로 불러 버립니다. 전역 인스턴스가 없다면 헤더를 포함해도 할 수 있는 일이 없고, 그 어려움이 두 모듈은 서로 몰라야 한다는 신호가 됩니다. 인스턴스에 닿는 길을 통제하면 결합을 통제할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GoF 정의의 ‘그리고’를 다시 봅니다. 인스턴스를 하나로 제한하는 것은 유용하지만, 그렇다고 모두가 그 인스턴스를 만질 수 있어야 하는 것은 아닙니다. 전역 접근은 편하지만, 인스턴스가 여러 개인 클래스에도 똑같이 편합니다. 실제로 싱글턴을 고르는 이유는 대부분 편한 접근입니다. 로그가 대표적입니다. 모든 함수에 Log를 매개변수로 넘기면 시그니처가 지저분해지고 코드의 의도가 흐려지므로 Log를 싱글턴으로 만듭니다. 그 순간 원하지 않던 제한, 즉 로그 객체를 하나만 만들 수 있다는 제한이 함께 딸려 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처음에는 로그 파일 하나만 쓰므로 문제가 없습니다. 그런데 개발 후반이 되면 팀 전체가 같은 로그에 진단 정보를 쏟아 내어, 필요한 한 줄을 찾으려고 몇 쪽을 넘겨야 합니다. 그래서 온라인, UI, 오디오, 게임플레이처럼 분야별로 로그 파일을 나누고 싶어집니다. 하지만 Log 클래스는 인스턴스를 하나만 허용하고, 그 제한이 Log.Instance를 부르는 모든 줄에 박혀 있습니다. 고치려면 클래스와 그 줄들을 모두 고쳐야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가상 메모리와 느슨한 성능 기준을 가진 데스크톱 프로그램에서는 게으른 초기화가 좋은 요령입니다. 게임은 다릅니다. 오디오 시스템 초기화에 수백 밀리초가 걸린다면, 그 시점을 우리가 정해야 합니다. 처음 소리가 날 때 초기화되게 두면 그 순간이 한창 전투 중일 수 있고, 프레임이 눈에 띄게 끊깁니다. 또 게임은 힙 단편화를 막으려고 메모리 배치를 세밀하게 관리하는데, 초기화가 언제 일어날지 모르면 할당 위치도 통제할 수 없습니다.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자신이 본 대부분의 게임이 게으른 초기화를 쓰지 않고 이렇게 구현한다고 말합니다. 인스턴스를 정적 필드에서 바로 만듭니다. 게으른 초기화 문제는 사라지지만, 싱글턴이 전역 변수보다 나았던 점도 함께 버립니다. 하위 클래스로 바꿀 수 없고, 정적 초기화 시점에 만들 수 있어야 하며, 쓰지 않을 때 메모리를 풀 수도 없습니다. 이것은 결국 정적 클래스입니다. 그렇다면 Instance를 없애고 정적 메서드를 쓰는 편이 더 짧고, 정적 메모리를 다루고 있다는 사실도 분명히 보여 줍니다.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싱글턴을 꺼내기 전에 한 번 더 생각하게 되었다면, 이제 그 문제를 풀 다른 도구를 고를 차례입니다. 원서는 먼저 그 클래스가 정말 필요한지부터 묻습니다.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게임에서 보는 싱글턴의 상당수는 관리자 클래스입니다. Monster와 MonsterManager, Particle과 ParticleManager, Sound와 SoundManager처럼 클래스마다 관리자가 붙고, 이름만 System이나 Engine으로 바뀌기도 합니다. 원서는 일부러 단순하게 만든 총알 예제를 보여 줍니다. Bullet은 좌표만 가지고, 만들기, 화면 안에 있는지 확인하기, 움직이기는 모두 BulletManager가 합니다. 이 코드를 보면 BulletManager를 싱글턴으로 만들고 싶어집니다. 총알이 있는 곳마다 관리자도 필요하고, 관리자는 하나면 될 것 같기 때문입니다.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답은 관리자가 0개 필요하다는 것입니다. 관리자가 하던 일을 Bullet 안으로 옮깁니다. 만들기는 생성자가 되고, 화면 확인과 이동은 Bullet의 메서드가 됩니다. 관리자도 없고 싱글턴 문제도 없습니다. 잘못 설계된 싱글턴은 다른 클래스에 기능을 덧붙이는 도우미인 경우가 많습니다. 그 기능을 도움을 받는 클래스로 옮길 수 있다면 옮기세요. 객체지향은 객체가 자기 일을 스스로 하게 하는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파일 시스템처럼 인스턴스가 정말 하나여야 할 때도, 그 인스턴스를 모두에게 열어 줄 필요는 없습니다. 특정 코드에서만 쓰거나 한 클래스 안에 숨기고 싶을 수 있습니다. 원서의 방법은 정적 표시를 두고 생성자에서 확인하는 것입니다. 누구나 만들 수 있지만 두 번째로 만들면 단언이 실패합니다. 원서의 C++ 소멸자는 C#에서 Dispose로 옮겼습니다. C#의 종료자는 언제 실행될지 정해져 있지 않기 때문입니다. 단점은 이 검사가 실행 중에 일어난다는 것입니다. 싱글턴은 private 생성자로 컴파일 시점에 보장했습니다.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싱글턴을 고르는 주된 이유는 편한 접근입니다. 하지만 쉽게 얻을 수 있는 객체는 쓰지 말아야 할 곳에서도 쉽게 얻을 수 있습니다. 일반 원칙은 변수의 범위를 일이 되는 한 가장 좁게 하는 것입니다. 범위가 좁을수록 그 객체를 다룰 때 머릿속에 담아야 할 곳이 줄어듭니다. 원서는 전역 싱글턴을 꺼내기 전에 따져 볼 네 가지 방법을 소개합니다. 왼쪽일수록 범위가 좁습니다. 마지막 서비스 중개자는 11강에서 따로 배웁니다.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가장 단순하고, 많은 경우 가장 좋은 방법은 필요한 객체를 그것이 필요한 함수에 인자로 넘기는 것입니다. 번거롭다고 버리기 전에 먼저 검토할 만합니다. 렌더링 함수는 그래픽 장치와 렌더 상태를 나타내는 객체가 필요하므로, 보통 context라는 이름의 매개변수로 넘깁니다. 반대로 어떤 객체는 메서드 시그니처에 어울리지 않습니다. AI 함수가 로그를 남겨야 할 수 있지만, 로그는 AI의 핵심 관심사가 아니므로 매개변수 목록에 Log가 있으면 어색합니다. 이런 경우 다른 방법을 찾습니다.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많은 게임은 상속 구조가 얕고 넓습니다. 보통 GameObject 하나 아래에 적과 물체 클래스가 한 단계로 붙어 있고, 게임 코드의 대부분이 이 하위 클래스들에 있습니다. 이 클래스들은 모두 같은 상위 클래스에 접근할 수 있으므로, 상위 클래스가 protected 메서드로 Log를 건네주게 합니다. GameObject 밖에서는 Log에 닿을 수 없고, 하위 클래스는 모두 GetLog()로 쓸 수 있습니다. 하위 클래스가 상위 클래스가 준 protected 메서드로 자신을 구현하게 하는 방식은 8강의 하위 클래스 샌드박스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전역 상태를 모두 없애는 것은 훌륭한 목표지만 현실적이지는 않습니다. 대부분의 코드에는 게임 전체 상태를 나타내는 Game이나 World 같은 전역 객체가 한두 개 남습니다. Log, FileSystem, AudioPlayer를 각각 싱글턴으로 만드는 대신 이 Game 객체에 매달면 전역 클래스는 Game 하나로 줄어듭니다. 나중에 스트리밍이나 테스트 때문에 Game을 여러 개 두게 되어도 Log, FileSystem, AudioPlayer는 차이를 모릅니다. 단점은 더 많은 코드가 Game에 결합된다는 것입니다. 원서는 Game을 이미 아는 코드는 Game에서 꺼내고, 모르는 코드는 다른 방법으로 얻는 혼합 방식을 권합니다.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마지막으로, 그렇다면 진짜 싱글턴 패턴은 어디에 써야 하는지 묻습니다. 그 답과 함께 판단 기준, 관련 패턴, Unity에서의 모습을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저자는 게임에서 GoF의 완전한 싱글턴 구현을 써 본 적이 없다고 말합니다. 인스턴스를 하나로 보장해야 할 때는 대개 정적 클래스를 쓰고, 그것으로 안 되면 정적 표시로 실행 중에 생성 횟수를 검사합니다. 다른 패턴도 도움이 됩니다. 하위 클래스 샌드박스는 전역으로 열지 않고 상태를 공유하게 하고, 서비스 중개자는 전역으로 열되 그 객체를 어떻게 설정할지 더 유연하게 해 줍니다.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 내용을 판단 기준으로 정리합니다. 인스턴스가 둘이면 실제로 오작동하는 경우가 있고, 하위 클래스를 고르거나 생성 시점을 늦출 이유가 있을 수 있습니다. 그래도 넘겨주기, 상위 클래스, 이미 전역인 객체 같은 대안을 먼저 따져 봐야 합니다. 편한 접근만 원해서 싱글턴을 쓰면 하나만 만들 수 있다는 제한까지 떠안고, 전역 상태의 문제와 게으른 초기화의 문제도 그대로 남습니다.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관련 자료입니다. 하위 클래스 샌드박스는 8강에서, 서비스 중개자는 11강에서 배웁니다. 2강 명령 패턴에서도 상태가 없는 명령을 하나만 만들어 쓰려고 싱글턴을 쓸 수 있지만 권하지 않는다고 했던 것을 떠올려 보세요.</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Unity의 몇 가지 기능을 싱글턴의 관점에서 봅니다. MonoBehaviour는 new로 만들지 않으므로 private 생성자로 하나를 보장할 수 없습니다. 그래서 흔히 Awake에서 정적 필드에 자신을 넣고, 이미 있으면 Destroy로 지우는 방식으로 실행 중에 검사합니다. DontDestroyOnLoad는 객체를 씬 전환에도 살려 두어 사실상 전역 객체로 만듭니다. RuntimeInitializeOnLoadMethod 속성은 게으른 초기화 대신 정해진 시점에 초기화할 수 있게 합니다. Inspector의 SerializeField 연결은 넘겨주기에 해당합니다. 마지막으로, 도메인 리로드를 끈 Play Mode에서는 정적 필드가 다음 실행까지 남으므로 전역 상태의 비용을 직접 겪게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답을 가리고 먼저 학생에게 물어본 뒤 확인합니다. 다음 강의는 관찰자(Observer)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eaLnBrk="0">
              <a:buNone/>
              <a:defRPr lang="ko-KR" altLang="en-US" sz="4000" b="1" dirty="0">
                <a:solidFill>
                  <a:schemeClr val="bg1"/>
                </a:solidFill>
              </a:defRPr>
            </a:lvl1pPr>
          </a:lstStyle>
          <a:p>
            <a:pPr algn="l" indent="0" marL="0" eaLnBrk="0">
              <a:buNone/>
            </a:pP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97280"/>
          </a:xfrm>
          <a:prstGeom prst="rect">
            <a:avLst/>
          </a:prstGeom>
          <a:noFill/>
          <a:ln/>
        </p:spPr>
        <p:txBody>
          <a:bodyPr wrap="square" rtlCol="0"/>
          <a:lstStyle>
            <a:lvl1pPr algn="l" indent="0" marL="0" eaLnBrk="0">
              <a:buNone/>
              <a:defRPr lang="ko-KR" altLang="en-US" sz="3600" b="1" dirty="0">
                <a:solidFill>
                  <a:schemeClr val="bg1"/>
                </a:solidFill>
              </a:defRPr>
            </a:lvl1pPr>
          </a:lstStyle>
          <a:p>
            <a:pPr algn="l" indent="0" marL="0" eaLnBrk="0">
              <a:buNone/>
            </a:pPr>
            <a:endParaRPr lang="ko-KR" altLang="en-US" sz="3600" dirty="0"/>
          </a:p>
        </p:txBody>
      </p:sp>
      <p:sp>
        <p:nvSpPr>
          <p:cNvPr id="3" name="Text 0"/>
          <p:cNvSpPr/>
          <p:nvPr>
            <p:ph idx="101" type="body" hasCustomPrompt="1"/>
          </p:nvPr>
        </p:nvSpPr>
        <p:spPr>
          <a:xfrm>
            <a:off x="548640" y="3794760"/>
            <a:ext cx="11094415" cy="73152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eaLnBrk="0">
              <a:buNone/>
              <a:defRPr lang="ko-KR" altLang="en-US" sz="2600" b="1" dirty="0">
                <a:solidFill>
                  <a:schemeClr val="tx1"/>
                </a:solidFill>
              </a:defRPr>
            </a:lvl1pPr>
          </a:lstStyle>
          <a:p>
            <a:pPr algn="l" indent="0" marL="0" eaLnBrk="0">
              <a:buNone/>
            </a:pPr>
            <a:endParaRPr lang="ko-KR" alt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eaLnBrk="0">
              <a:buNone/>
            </a:pPr>
            <a:r>
              <a:rPr lang="ko-KR" altLang="en-US" sz="1000" dirty="0">
                <a:solidFill>
                  <a:schemeClr val="accent3"/>
                </a:solidFill>
              </a:rPr>
              <a:t>5강 · 싱글턴(Singleton) 패턴</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eaLnBrk="0">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nchor="b"/>
          <a:lstStyle/>
          <a:p>
            <a:pPr algn="l" indent="0" marL="0" eaLnBrk="0">
              <a:buNone/>
            </a:pPr>
            <a:r>
              <a:rPr lang="ko-KR" altLang="en-US" sz="4000" b="1" dirty="0">
                <a:solidFill>
                  <a:schemeClr val="bg1"/>
                </a:solidFill>
              </a:rPr>
              <a:t>5강 · 싱글턴(Singleton) 패턴</a:t>
            </a: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nchor="t"/>
          <a:lstStyle/>
          <a:p>
            <a:pPr indent="0" marL="0" eaLnBrk="0">
              <a:buNone/>
            </a:pPr>
            <a:r>
              <a:rPr lang="ko-KR" altLang="en-US" sz="1800" dirty="0">
                <a:solidFill>
                  <a:schemeClr val="accent3"/>
                </a:solidFill>
              </a:rPr>
              <a:t>인스턴스를 하나로 제한하고 어디서든 꺼내 쓰게 한다</a:t>
            </a:r>
            <a:endParaRPr lang="ko-KR" altLang="en-US" sz="1800" dirty="0"/>
          </a:p>
          <a:p>
            <a:pPr indent="0" marL="0" eaLnBrk="0">
              <a:buNone/>
            </a:pPr>
            <a:r>
              <a:rPr lang="ko-KR" altLang="en-US" sz="1800" dirty="0">
                <a:solidFill>
                  <a:schemeClr val="accent3"/>
                </a:solidFill>
              </a:rPr>
              <a:t>그 편리함의 비용과, 대신 쓸 수 있는 방법</a:t>
            </a:r>
            <a:endParaRPr lang="ko-KR" altLang="en-US" sz="1800" dirty="0"/>
          </a:p>
          <a:p>
            <a:pPr indent="0" marL="0" eaLnBrk="0">
              <a:buNone/>
            </a:pPr>
            <a:endParaRPr lang="ko-KR" altLang="en-US" sz="1800" dirty="0"/>
          </a:p>
          <a:p>
            <a:pPr indent="0" marL="0" eaLnBrk="0">
              <a:buNone/>
            </a:pPr>
            <a:r>
              <a:rPr lang="ko-KR" altLang="en-US" sz="1800" dirty="0">
                <a:solidFill>
                  <a:schemeClr val="accent3"/>
                </a:solidFill>
              </a:rPr>
              <a:t>교재: 로버트 나이스트롬, 『게임 프로그래밍 패턴』</a:t>
            </a:r>
            <a:endParaRPr lang="ko-KR" altLang="en-US" sz="1800" dirty="0"/>
          </a:p>
          <a:p>
            <a:pPr indent="0" marL="0" eaLnBrk="0">
              <a:buNone/>
            </a:pPr>
            <a:r>
              <a:rPr lang="ko-KR" altLang="en-US" sz="1800" dirty="0">
                <a:solidFill>
                  <a:schemeClr val="accent3"/>
                </a:solidFill>
              </a:rPr>
              <a:t>「싱글턴」 장</a:t>
            </a:r>
            <a:endParaRPr lang="ko-KR"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오늘의 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싱글턴을 만들어 보고, 왜 후회하는지 보고, 대안을 고른다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싱글턴 패턴은 한 문장으로 무엇일까?</a:t>
            </a:r>
            <a:endParaRPr lang="ko-KR" altLang="en-US" sz="1500" dirty="0"/>
          </a:p>
        </p:txBody>
      </p:sp>
      <p:sp>
        <p:nvSpPr>
          <p:cNvPr id="6" name="card"/>
          <p:cNvSpPr/>
          <p:nvPr/>
        </p:nvSpPr>
        <p:spPr>
          <a:xfrm>
            <a:off x="548640" y="1828800"/>
            <a:ext cx="2057400" cy="2103120"/>
          </a:xfrm>
          <a:prstGeom prst="roundRect">
            <a:avLst>
              <a:gd name="adj" fmla="val 4444"/>
            </a:avLst>
          </a:prstGeom>
          <a:solidFill>
            <a:schemeClr val="bg2"/>
          </a:solidFill>
          <a:ln w="12700">
            <a:solidFill>
              <a:schemeClr val="bg2"/>
            </a:solidFill>
            <a:prstDash val="solid"/>
          </a:ln>
        </p:spPr>
      </p:sp>
      <p:sp>
        <p:nvSpPr>
          <p:cNvPr id="7" name="Shape 4"/>
          <p:cNvSpPr/>
          <p:nvPr/>
        </p:nvSpPr>
        <p:spPr>
          <a:xfrm>
            <a:off x="777240" y="20299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777240"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싱글턴 패턴</a:t>
            </a:r>
            <a:endParaRPr lang="ko-KR" altLang="en-US" sz="1500" dirty="0"/>
          </a:p>
        </p:txBody>
      </p:sp>
      <p:sp>
        <p:nvSpPr>
          <p:cNvPr id="10" name="Text 7"/>
          <p:cNvSpPr txBox="1"/>
          <p:nvPr/>
        </p:nvSpPr>
        <p:spPr>
          <a:xfrm>
            <a:off x="777240"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하나만 만들고</a:t>
            </a:r>
            <a:endParaRPr lang="ko-KR" altLang="en-US" sz="1300" dirty="0"/>
          </a:p>
          <a:p>
            <a:pPr indent="0" marL="0" eaLnBrk="0">
              <a:buNone/>
            </a:pPr>
            <a:r>
              <a:rPr lang="ko-KR" altLang="en-US" sz="1300" dirty="0">
                <a:solidFill>
                  <a:schemeClr val="accent5"/>
                </a:solidFill>
              </a:rPr>
              <a:t>어디서든 꺼낸다</a:t>
            </a:r>
            <a:endParaRPr lang="ko-KR" altLang="en-US" sz="1300" dirty="0"/>
          </a:p>
        </p:txBody>
      </p:sp>
      <p:sp>
        <p:nvSpPr>
          <p:cNvPr id="11" name="Shape 8"/>
          <p:cNvSpPr/>
          <p:nvPr/>
        </p:nvSpPr>
        <p:spPr>
          <a:xfrm>
            <a:off x="2651760" y="2880360"/>
            <a:ext cx="110414" cy="914"/>
          </a:xfrm>
          <a:prstGeom prst="line">
            <a:avLst/>
          </a:prstGeom>
          <a:noFill/>
          <a:ln w="22225">
            <a:solidFill>
              <a:schemeClr val="accent3"/>
            </a:solidFill>
            <a:prstDash val="solid"/>
            <a:tailEnd type="triangle"/>
          </a:ln>
        </p:spPr>
      </p:sp>
      <p:sp>
        <p:nvSpPr>
          <p:cNvPr id="12" name="card"/>
          <p:cNvSpPr/>
          <p:nvPr/>
        </p:nvSpPr>
        <p:spPr>
          <a:xfrm>
            <a:off x="2807894" y="1828800"/>
            <a:ext cx="2057400" cy="2103120"/>
          </a:xfrm>
          <a:prstGeom prst="roundRect">
            <a:avLst>
              <a:gd name="adj" fmla="val 4444"/>
            </a:avLst>
          </a:prstGeom>
          <a:solidFill>
            <a:schemeClr val="bg2"/>
          </a:solidFill>
          <a:ln w="12700">
            <a:solidFill>
              <a:schemeClr val="bg2"/>
            </a:solidFill>
            <a:prstDash val="solid"/>
          </a:ln>
        </p:spPr>
      </p:sp>
      <p:sp>
        <p:nvSpPr>
          <p:cNvPr id="13" name="Shape 10"/>
          <p:cNvSpPr/>
          <p:nvPr/>
        </p:nvSpPr>
        <p:spPr>
          <a:xfrm>
            <a:off x="3036494" y="202996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3036494"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3036494"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왜 쓰는가</a:t>
            </a:r>
            <a:endParaRPr lang="ko-KR" altLang="en-US" sz="1500" dirty="0"/>
          </a:p>
        </p:txBody>
      </p:sp>
      <p:sp>
        <p:nvSpPr>
          <p:cNvPr id="16" name="Text 13"/>
          <p:cNvSpPr txBox="1"/>
          <p:nvPr/>
        </p:nvSpPr>
        <p:spPr>
          <a:xfrm>
            <a:off x="3036494"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게으른 생성,</a:t>
            </a:r>
            <a:endParaRPr lang="ko-KR" altLang="en-US" sz="1300" dirty="0"/>
          </a:p>
          <a:p>
            <a:pPr indent="0" marL="0" eaLnBrk="0">
              <a:buNone/>
            </a:pPr>
            <a:r>
              <a:rPr lang="ko-KR" altLang="en-US" sz="1300" dirty="0">
                <a:solidFill>
                  <a:schemeClr val="accent5"/>
                </a:solidFill>
              </a:rPr>
              <a:t>실행 중 초기화, 상속</a:t>
            </a:r>
            <a:endParaRPr lang="ko-KR" altLang="en-US" sz="1300" dirty="0"/>
          </a:p>
        </p:txBody>
      </p:sp>
      <p:sp>
        <p:nvSpPr>
          <p:cNvPr id="17" name="Shape 14"/>
          <p:cNvSpPr/>
          <p:nvPr/>
        </p:nvSpPr>
        <p:spPr>
          <a:xfrm>
            <a:off x="4911014" y="2880360"/>
            <a:ext cx="110414" cy="914"/>
          </a:xfrm>
          <a:prstGeom prst="line">
            <a:avLst/>
          </a:prstGeom>
          <a:noFill/>
          <a:ln w="22225">
            <a:solidFill>
              <a:schemeClr val="accent3"/>
            </a:solidFill>
            <a:prstDash val="solid"/>
            <a:tailEnd type="triangle"/>
          </a:ln>
        </p:spPr>
      </p:sp>
      <p:sp>
        <p:nvSpPr>
          <p:cNvPr id="18" name="card"/>
          <p:cNvSpPr/>
          <p:nvPr/>
        </p:nvSpPr>
        <p:spPr>
          <a:xfrm>
            <a:off x="5067148" y="1828800"/>
            <a:ext cx="2057400" cy="210312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5295748" y="20299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5295748"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5295748"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왜 후회하는가</a:t>
            </a:r>
            <a:endParaRPr lang="ko-KR" altLang="en-US" sz="1500" dirty="0"/>
          </a:p>
        </p:txBody>
      </p:sp>
      <p:sp>
        <p:nvSpPr>
          <p:cNvPr id="22" name="Text 19"/>
          <p:cNvSpPr txBox="1"/>
          <p:nvPr/>
        </p:nvSpPr>
        <p:spPr>
          <a:xfrm>
            <a:off x="5295748"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전역 상태의 비용</a:t>
            </a:r>
            <a:endParaRPr lang="ko-KR" altLang="en-US" sz="1300" dirty="0"/>
          </a:p>
        </p:txBody>
      </p:sp>
      <p:sp>
        <p:nvSpPr>
          <p:cNvPr id="23" name="Shape 20"/>
          <p:cNvSpPr/>
          <p:nvPr/>
        </p:nvSpPr>
        <p:spPr>
          <a:xfrm>
            <a:off x="7170268" y="2880360"/>
            <a:ext cx="110414" cy="914"/>
          </a:xfrm>
          <a:prstGeom prst="line">
            <a:avLst/>
          </a:prstGeom>
          <a:noFill/>
          <a:ln w="22225">
            <a:solidFill>
              <a:schemeClr val="accent3"/>
            </a:solidFill>
            <a:prstDash val="solid"/>
            <a:tailEnd type="triangle"/>
          </a:ln>
        </p:spPr>
      </p:sp>
      <p:sp>
        <p:nvSpPr>
          <p:cNvPr id="24" name="card"/>
          <p:cNvSpPr/>
          <p:nvPr/>
        </p:nvSpPr>
        <p:spPr>
          <a:xfrm>
            <a:off x="7326401" y="1828800"/>
            <a:ext cx="2057400" cy="2103120"/>
          </a:xfrm>
          <a:prstGeom prst="roundRect">
            <a:avLst>
              <a:gd name="adj" fmla="val 4444"/>
            </a:avLst>
          </a:prstGeom>
          <a:solidFill>
            <a:schemeClr val="bg2"/>
          </a:solidFill>
          <a:ln w="12700">
            <a:solidFill>
              <a:schemeClr val="bg2"/>
            </a:solidFill>
            <a:prstDash val="solid"/>
          </a:ln>
        </p:spPr>
      </p:sp>
      <p:sp>
        <p:nvSpPr>
          <p:cNvPr id="25" name="Shape 22"/>
          <p:cNvSpPr/>
          <p:nvPr/>
        </p:nvSpPr>
        <p:spPr>
          <a:xfrm>
            <a:off x="7555001" y="20299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7555001"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555001"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대신 할 수 있는 것</a:t>
            </a:r>
            <a:endParaRPr lang="ko-KR" altLang="en-US" sz="1500" dirty="0"/>
          </a:p>
        </p:txBody>
      </p:sp>
      <p:sp>
        <p:nvSpPr>
          <p:cNvPr id="28" name="Text 25"/>
          <p:cNvSpPr txBox="1"/>
          <p:nvPr/>
        </p:nvSpPr>
        <p:spPr>
          <a:xfrm>
            <a:off x="7555001"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필요한 만큼만</a:t>
            </a:r>
            <a:endParaRPr lang="ko-KR" altLang="en-US" sz="1300" dirty="0"/>
          </a:p>
          <a:p>
            <a:pPr indent="0" marL="0" eaLnBrk="0">
              <a:buNone/>
            </a:pPr>
            <a:r>
              <a:rPr lang="ko-KR" altLang="en-US" sz="1300" dirty="0">
                <a:solidFill>
                  <a:schemeClr val="accent5"/>
                </a:solidFill>
              </a:rPr>
              <a:t>접근을 연다</a:t>
            </a:r>
            <a:endParaRPr lang="ko-KR" altLang="en-US" sz="1300" dirty="0"/>
          </a:p>
        </p:txBody>
      </p:sp>
      <p:sp>
        <p:nvSpPr>
          <p:cNvPr id="29" name="Shape 26"/>
          <p:cNvSpPr/>
          <p:nvPr/>
        </p:nvSpPr>
        <p:spPr>
          <a:xfrm>
            <a:off x="9429521" y="2880360"/>
            <a:ext cx="110414" cy="914"/>
          </a:xfrm>
          <a:prstGeom prst="line">
            <a:avLst/>
          </a:prstGeom>
          <a:noFill/>
          <a:ln w="22225">
            <a:solidFill>
              <a:schemeClr val="accent3"/>
            </a:solidFill>
            <a:prstDash val="solid"/>
            <a:tailEnd type="triangle"/>
          </a:ln>
        </p:spPr>
      </p:sp>
      <p:sp>
        <p:nvSpPr>
          <p:cNvPr id="30" name="card"/>
          <p:cNvSpPr/>
          <p:nvPr/>
        </p:nvSpPr>
        <p:spPr>
          <a:xfrm>
            <a:off x="9585655" y="1828800"/>
            <a:ext cx="2057400" cy="2103120"/>
          </a:xfrm>
          <a:prstGeom prst="roundRect">
            <a:avLst>
              <a:gd name="adj" fmla="val 4444"/>
            </a:avLst>
          </a:prstGeom>
          <a:solidFill>
            <a:schemeClr val="bg2"/>
          </a:solidFill>
          <a:ln w="12700">
            <a:solidFill>
              <a:schemeClr val="bg2"/>
            </a:solidFill>
            <a:prstDash val="solid"/>
          </a:ln>
        </p:spPr>
      </p:sp>
      <p:sp>
        <p:nvSpPr>
          <p:cNvPr id="31" name="Shape 28"/>
          <p:cNvSpPr/>
          <p:nvPr/>
        </p:nvSpPr>
        <p:spPr>
          <a:xfrm>
            <a:off x="9814255" y="202996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9814255"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5</a:t>
            </a:r>
            <a:endParaRPr lang="ko-KR" altLang="en-US" sz="1500" dirty="0"/>
          </a:p>
        </p:txBody>
      </p:sp>
      <p:sp>
        <p:nvSpPr>
          <p:cNvPr id="33" name="Text 30"/>
          <p:cNvSpPr txBox="1"/>
          <p:nvPr/>
        </p:nvSpPr>
        <p:spPr>
          <a:xfrm>
            <a:off x="9814255"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쓸 때와 주의점</a:t>
            </a:r>
            <a:endParaRPr lang="ko-KR" altLang="en-US" sz="1500" dirty="0"/>
          </a:p>
        </p:txBody>
      </p:sp>
      <p:sp>
        <p:nvSpPr>
          <p:cNvPr id="34" name="Text 31"/>
          <p:cNvSpPr txBox="1"/>
          <p:nvPr/>
        </p:nvSpPr>
        <p:spPr>
          <a:xfrm>
            <a:off x="9814255" y="3154680"/>
            <a:ext cx="1691640" cy="685800"/>
          </a:xfrm>
          <a:prstGeom prst="rect">
            <a:avLst/>
          </a:prstGeom>
          <a:noFill/>
          <a:ln/>
        </p:spPr>
        <p:txBody>
          <a:bodyPr wrap="square" lIns="0" tIns="0" rIns="0" bIns="0" rtlCol="0" anchor="t"/>
          <a:lstStyle/>
          <a:p>
            <a:pPr indent="0" marL="0" eaLnBrk="0">
              <a:buNone/>
            </a:pPr>
            <a:r>
              <a:rPr lang="ko-KR" altLang="en-US" sz="1300" dirty="0">
                <a:solidFill>
                  <a:schemeClr val="accent5"/>
                </a:solidFill>
              </a:rPr>
              <a:t>관련 패턴, Unity 대응</a:t>
            </a:r>
            <a:endParaRPr lang="ko-KR" altLang="en-US" sz="1300" dirty="0"/>
          </a:p>
        </p:txBody>
      </p:sp>
      <p:sp>
        <p:nvSpPr>
          <p:cNvPr id="35" name="Text 32"/>
          <p:cNvSpPr txBox="1"/>
          <p:nvPr/>
        </p:nvSpPr>
        <p:spPr>
          <a:xfrm>
            <a:off x="548640" y="4343400"/>
            <a:ext cx="11094415" cy="411480"/>
          </a:xfrm>
          <a:prstGeom prst="rect">
            <a:avLst/>
          </a:prstGeom>
          <a:noFill/>
          <a:ln/>
        </p:spPr>
        <p:txBody>
          <a:bodyPr wrap="square" lIns="0" tIns="0" rIns="0" bIns="0" rtlCol="0" anchor="t"/>
          <a:lstStyle/>
          <a:p>
            <a:pPr indent="0" marL="0" eaLnBrk="0">
              <a:buNone/>
            </a:pPr>
            <a:r>
              <a:rPr lang="ko-KR" altLang="en-US" sz="1600" b="1" dirty="0">
                <a:solidFill>
                  <a:schemeClr val="accent6"/>
                </a:solidFill>
              </a:rPr>
              <a:t>이 장은 원서에서 예외다. 다른 장은 패턴을 쓰는 법을 보여 주지만, 이 장은 대부분 싱글턴을 쓰지 않는 법을 다룬다.</a:t>
            </a:r>
            <a:endParaRPr lang="ko-KR" altLang="en-US" sz="1600" dirty="0"/>
          </a:p>
        </p:txBody>
      </p:sp>
      <p:sp>
        <p:nvSpPr>
          <p:cNvPr id="36" name="Text 33"/>
          <p:cNvSpPr txBox="1"/>
          <p:nvPr/>
        </p:nvSpPr>
        <p:spPr>
          <a:xfrm>
            <a:off x="548640" y="4846320"/>
            <a:ext cx="11094415" cy="411480"/>
          </a:xfrm>
          <a:prstGeom prst="rect">
            <a:avLst/>
          </a:prstGeom>
          <a:noFill/>
          <a:ln/>
        </p:spPr>
        <p:txBody>
          <a:bodyPr wrap="square" lIns="0" tIns="0" rIns="0" bIns="0" rtlCol="0" anchor="t"/>
          <a:lstStyle/>
          <a:p>
            <a:pPr indent="0" marL="0" eaLnBrk="0">
              <a:buNone/>
            </a:pPr>
            <a:r>
              <a:rPr lang="ko-KR" altLang="en-US" sz="1600" dirty="0">
                <a:solidFill>
                  <a:schemeClr val="tx2"/>
                </a:solidFill>
              </a:rPr>
              <a:t>오늘 예제는 원서와 같다: 파일 시스템 래퍼, 로그 클래스, 총알 관리자, 게임 객체의 상위 클래스.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싱글턴은 인스턴스를 하나로 제한하고, 그 인스턴스에 전역 접근점을 준다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인스턴스가 하나뿐이어야 하는 클래스는 어떤 것일까?</a:t>
            </a:r>
            <a:endParaRPr lang="ko-KR" altLang="en-US" sz="1500" dirty="0"/>
          </a:p>
        </p:txBody>
      </p:sp>
      <p:sp>
        <p:nvSpPr>
          <p:cNvPr id="6" name="box"/>
          <p:cNvSpPr/>
          <p:nvPr/>
        </p:nvSpPr>
        <p:spPr>
          <a:xfrm>
            <a:off x="548640" y="1691640"/>
            <a:ext cx="11094415" cy="914400"/>
          </a:xfrm>
          <a:prstGeom prst="roundRect">
            <a:avLst>
              <a:gd name="adj" fmla="val 8000"/>
            </a:avLst>
          </a:prstGeom>
          <a:solidFill>
            <a:schemeClr val="tx2"/>
          </a:solidFill>
          <a:ln w="12700">
            <a:solidFill>
              <a:schemeClr val="tx2"/>
            </a:solidFill>
            <a:prstDash val="solid"/>
          </a:ln>
        </p:spPr>
      </p:sp>
      <p:sp>
        <p:nvSpPr>
          <p:cNvPr id="7" name="Text 4"/>
          <p:cNvSpPr txBox="1"/>
          <p:nvPr/>
        </p:nvSpPr>
        <p:spPr>
          <a:xfrm>
            <a:off x="548640" y="1691640"/>
            <a:ext cx="11094415" cy="914400"/>
          </a:xfrm>
          <a:prstGeom prst="rect">
            <a:avLst/>
          </a:prstGeom>
          <a:noFill/>
          <a:ln/>
        </p:spPr>
        <p:txBody>
          <a:bodyPr wrap="square" lIns="635" tIns="635" rIns="635" bIns="635" rtlCol="0" anchor="ctr"/>
          <a:lstStyle/>
          <a:p>
            <a:pPr algn="ctr" indent="0" marL="0" eaLnBrk="0">
              <a:buNone/>
            </a:pPr>
            <a:r>
              <a:rPr lang="ko-KR" altLang="en-US" sz="1800" dirty="0">
                <a:solidFill>
                  <a:schemeClr val="bg1"/>
                </a:solidFill>
              </a:rPr>
              <a:t>GoF의 정의: 클래스의 인스턴스가 하나뿐임을 보장하고, 그 인스턴스에 전역 접근점을 제공한다.</a:t>
            </a:r>
            <a:endParaRPr lang="ko-KR" altLang="en-US" sz="1800" dirty="0"/>
          </a:p>
        </p:txBody>
      </p:sp>
      <p:sp>
        <p:nvSpPr>
          <p:cNvPr id="8" name="card"/>
          <p:cNvSpPr/>
          <p:nvPr/>
        </p:nvSpPr>
        <p:spPr>
          <a:xfrm>
            <a:off x="548640" y="2834640"/>
            <a:ext cx="5364328" cy="1737360"/>
          </a:xfrm>
          <a:prstGeom prst="roundRect">
            <a:avLst>
              <a:gd name="adj" fmla="val 5263"/>
            </a:avLst>
          </a:prstGeom>
          <a:solidFill>
            <a:schemeClr val="bg2"/>
          </a:solidFill>
          <a:ln w="12700">
            <a:solidFill>
              <a:schemeClr val="bg2"/>
            </a:solidFill>
            <a:prstDash val="solid"/>
          </a:ln>
        </p:spPr>
      </p:sp>
      <p:sp>
        <p:nvSpPr>
          <p:cNvPr id="9" name="Shape 6"/>
          <p:cNvSpPr/>
          <p:nvPr/>
        </p:nvSpPr>
        <p:spPr>
          <a:xfrm>
            <a:off x="777240" y="3035808"/>
            <a:ext cx="420624" cy="420624"/>
          </a:xfrm>
          <a:prstGeom prst="ellipse">
            <a:avLst/>
          </a:prstGeom>
          <a:solidFill>
            <a:schemeClr val="accent1"/>
          </a:solidFill>
          <a:ln w="12700">
            <a:solidFill>
              <a:schemeClr val="accent1"/>
            </a:solidFill>
            <a:prstDash val="solid"/>
          </a:ln>
        </p:spPr>
      </p:sp>
      <p:sp>
        <p:nvSpPr>
          <p:cNvPr id="10" name="Text 7"/>
          <p:cNvSpPr txBox="1"/>
          <p:nvPr/>
        </p:nvSpPr>
        <p:spPr>
          <a:xfrm>
            <a:off x="777240" y="3035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1" name="Text 8"/>
          <p:cNvSpPr txBox="1"/>
          <p:nvPr/>
        </p:nvSpPr>
        <p:spPr>
          <a:xfrm>
            <a:off x="1325880" y="3054096"/>
            <a:ext cx="440420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인스턴스를 하나로 제한한다</a:t>
            </a:r>
            <a:endParaRPr lang="ko-KR" altLang="en-US" sz="1700" dirty="0"/>
          </a:p>
        </p:txBody>
      </p:sp>
      <p:sp>
        <p:nvSpPr>
          <p:cNvPr id="12" name="Text 9"/>
          <p:cNvSpPr txBox="1"/>
          <p:nvPr/>
        </p:nvSpPr>
        <p:spPr>
          <a:xfrm>
            <a:off x="1325880" y="3474720"/>
            <a:ext cx="4404208" cy="822960"/>
          </a:xfrm>
          <a:prstGeom prst="rect">
            <a:avLst/>
          </a:prstGeom>
          <a:noFill/>
          <a:ln/>
        </p:spPr>
        <p:txBody>
          <a:bodyPr wrap="square" lIns="0" tIns="0" rIns="0" bIns="0" rtlCol="0" anchor="t"/>
          <a:lstStyle/>
          <a:p>
            <a:pPr indent="0" marL="0" eaLnBrk="0">
              <a:buNone/>
            </a:pPr>
            <a:r>
              <a:rPr lang="ko-KR" altLang="en-US" sz="1500" dirty="0">
                <a:solidFill>
                  <a:schemeClr val="tx2"/>
                </a:solidFill>
              </a:rPr>
              <a:t>누구도 두 번째 인스턴스를 만들 수 없게 한다.</a:t>
            </a:r>
            <a:endParaRPr lang="ko-KR" altLang="en-US" sz="1500" dirty="0"/>
          </a:p>
        </p:txBody>
      </p:sp>
      <p:sp>
        <p:nvSpPr>
          <p:cNvPr id="13" name="card"/>
          <p:cNvSpPr/>
          <p:nvPr/>
        </p:nvSpPr>
        <p:spPr>
          <a:xfrm>
            <a:off x="6278728" y="2834640"/>
            <a:ext cx="5364328" cy="1737360"/>
          </a:xfrm>
          <a:prstGeom prst="roundRect">
            <a:avLst>
              <a:gd name="adj" fmla="val 5263"/>
            </a:avLst>
          </a:prstGeom>
          <a:solidFill>
            <a:schemeClr val="bg2"/>
          </a:solidFill>
          <a:ln w="12700">
            <a:solidFill>
              <a:schemeClr val="bg2"/>
            </a:solidFill>
            <a:prstDash val="solid"/>
          </a:ln>
        </p:spPr>
      </p:sp>
      <p:sp>
        <p:nvSpPr>
          <p:cNvPr id="14" name="Shape 11"/>
          <p:cNvSpPr/>
          <p:nvPr/>
        </p:nvSpPr>
        <p:spPr>
          <a:xfrm>
            <a:off x="6507328" y="3035808"/>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6507328" y="3035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6" name="Text 13"/>
          <p:cNvSpPr txBox="1"/>
          <p:nvPr/>
        </p:nvSpPr>
        <p:spPr>
          <a:xfrm>
            <a:off x="7055968" y="3054096"/>
            <a:ext cx="440420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어디서든 꺼내 쓰게 한다</a:t>
            </a:r>
            <a:endParaRPr lang="ko-KR" altLang="en-US" sz="1700" dirty="0"/>
          </a:p>
        </p:txBody>
      </p:sp>
      <p:sp>
        <p:nvSpPr>
          <p:cNvPr id="17" name="Text 14"/>
          <p:cNvSpPr txBox="1"/>
          <p:nvPr/>
        </p:nvSpPr>
        <p:spPr>
          <a:xfrm>
            <a:off x="7055968" y="3474720"/>
            <a:ext cx="4404208" cy="822960"/>
          </a:xfrm>
          <a:prstGeom prst="rect">
            <a:avLst/>
          </a:prstGeom>
          <a:noFill/>
          <a:ln/>
        </p:spPr>
        <p:txBody>
          <a:bodyPr wrap="square" lIns="0" tIns="0" rIns="0" bIns="0" rtlCol="0" anchor="t"/>
          <a:lstStyle/>
          <a:p>
            <a:pPr indent="0" marL="0" eaLnBrk="0">
              <a:buNone/>
            </a:pPr>
            <a:r>
              <a:rPr lang="ko-KR" altLang="en-US" sz="1500" dirty="0">
                <a:solidFill>
                  <a:schemeClr val="tx2"/>
                </a:solidFill>
              </a:rPr>
              <a:t>코드 어느 곳에서나 그 하나뿐인 인스턴스를 얻을 수 있게 한다.</a:t>
            </a:r>
            <a:endParaRPr lang="ko-KR" altLang="en-US" sz="1500" dirty="0"/>
          </a:p>
        </p:txBody>
      </p:sp>
      <p:sp>
        <p:nvSpPr>
          <p:cNvPr id="18" name="Text 15"/>
          <p:cNvSpPr txBox="1"/>
          <p:nvPr/>
        </p:nvSpPr>
        <p:spPr>
          <a:xfrm>
            <a:off x="548640" y="4846320"/>
            <a:ext cx="11094415" cy="731520"/>
          </a:xfrm>
          <a:prstGeom prst="rect">
            <a:avLst/>
          </a:prstGeom>
          <a:noFill/>
          <a:ln/>
        </p:spPr>
        <p:txBody>
          <a:bodyPr wrap="square" lIns="0" tIns="0" rIns="0" bIns="0" rtlCol="0" anchor="t"/>
          <a:lstStyle/>
          <a:p>
            <a:pPr indent="0" marL="0" eaLnBrk="0">
              <a:buNone/>
            </a:pPr>
            <a:r>
              <a:rPr lang="ko-KR" altLang="en-US" sz="1500" b="1" dirty="0">
                <a:solidFill>
                  <a:schemeClr val="accent6"/>
                </a:solidFill>
              </a:rPr>
              <a:t>원서의 입장: </a:t>
            </a:r>
            <a:pPr indent="0" marL="0" eaLnBrk="0">
              <a:buNone/>
            </a:pPr>
            <a:r>
              <a:rPr lang="ko-KR" altLang="en-US" sz="1500" dirty="0">
                <a:solidFill>
                  <a:schemeClr val="tx2"/>
                </a:solidFill>
              </a:rPr>
              <a:t>GoF도 아껴 쓰라고 했지만, 게임 업계에서는 그 경고가 잊힌 채 지나치게 쓰였다. 그래서 이 장의 대부분은 싱글턴을 피하는 방법이다.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1부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싱글턴 패턴</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싱글턴 패턴</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하나만 있어야 할 때</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작업을 조율하는 파일 시스템 래퍼는 인스턴스가 하나여야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로그, 로딩, 저장 시스템은 이 하나뿐인 인스턴스를 어떻게 얻을까?</a:t>
            </a:r>
            <a:endParaRPr lang="ko-KR" altLang="en-US" sz="1500" dirty="0"/>
          </a:p>
        </p:txBody>
      </p:sp>
      <p:sp>
        <p:nvSpPr>
          <p:cNvPr id="6" name="Shape 3"/>
          <p:cNvSpPr/>
          <p:nvPr/>
        </p:nvSpPr>
        <p:spPr>
          <a:xfrm>
            <a:off x="548640" y="1691640"/>
            <a:ext cx="5394960" cy="3931920"/>
          </a:xfrm>
          <a:prstGeom prst="roundRect">
            <a:avLst>
              <a:gd name="adj" fmla="val 2326"/>
            </a:avLst>
          </a:prstGeom>
          <a:solidFill>
            <a:schemeClr val="bg2"/>
          </a:solidFill>
          <a:ln w="12700">
            <a:solidFill>
              <a:schemeClr val="bg2"/>
            </a:solidFill>
            <a:prstDash val="solid"/>
          </a:ln>
        </p:spPr>
      </p:sp>
      <p:sp>
        <p:nvSpPr>
          <p:cNvPr id="7" name="Text 4"/>
          <p:cNvSpPr txBox="1"/>
          <p:nvPr/>
        </p:nvSpPr>
        <p:spPr>
          <a:xfrm>
            <a:off x="822960" y="1828800"/>
            <a:ext cx="4572000" cy="411480"/>
          </a:xfrm>
          <a:prstGeom prst="rect">
            <a:avLst/>
          </a:prstGeom>
          <a:noFill/>
          <a:ln/>
        </p:spPr>
        <p:txBody>
          <a:bodyPr wrap="square" lIns="0" tIns="0" rIns="0" bIns="0" rtlCol="0" anchor="t"/>
          <a:lstStyle/>
          <a:p>
            <a:pPr indent="0" marL="0" eaLnBrk="0">
              <a:buNone/>
            </a:pPr>
            <a:r>
              <a:rPr lang="ko-KR" altLang="en-US" sz="1700" b="1" dirty="0">
                <a:solidFill>
                  <a:schemeClr val="accent6"/>
                </a:solidFill>
              </a:rPr>
              <a:t>인스턴스가 둘이면</a:t>
            </a:r>
            <a:endParaRPr lang="ko-KR" altLang="en-US" sz="1700" dirty="0"/>
          </a:p>
        </p:txBody>
      </p:sp>
      <p:sp>
        <p:nvSpPr>
          <p:cNvPr id="8" name="box"/>
          <p:cNvSpPr/>
          <p:nvPr/>
        </p:nvSpPr>
        <p:spPr>
          <a:xfrm>
            <a:off x="822960" y="2377440"/>
            <a:ext cx="2286000" cy="914400"/>
          </a:xfrm>
          <a:prstGeom prst="roundRect">
            <a:avLst>
              <a:gd name="adj" fmla="val 8000"/>
            </a:avLst>
          </a:prstGeom>
          <a:solidFill>
            <a:schemeClr val="bg1"/>
          </a:solidFill>
          <a:ln w="12700">
            <a:solidFill>
              <a:schemeClr val="bg1"/>
            </a:solidFill>
            <a:prstDash val="solid"/>
          </a:ln>
        </p:spPr>
      </p:sp>
      <p:sp>
        <p:nvSpPr>
          <p:cNvPr id="9" name="Text 6"/>
          <p:cNvSpPr txBox="1"/>
          <p:nvPr/>
        </p:nvSpPr>
        <p:spPr>
          <a:xfrm>
            <a:off x="822960" y="2377440"/>
            <a:ext cx="2286000" cy="9144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파일 시스템 a</a:t>
            </a:r>
            <a:endParaRPr lang="ko-KR" altLang="en-US" sz="1400" dirty="0"/>
          </a:p>
          <a:p>
            <a:pPr algn="ctr" indent="0" marL="0" eaLnBrk="0">
              <a:buNone/>
            </a:pPr>
            <a:r>
              <a:rPr lang="ko-KR" altLang="en-US" sz="1400" b="1" dirty="0">
                <a:solidFill>
                  <a:schemeClr val="tx1"/>
                </a:solidFill>
              </a:rPr>
              <a:t>save.dat 만들기</a:t>
            </a:r>
            <a:endParaRPr lang="ko-KR" altLang="en-US" sz="1400" dirty="0"/>
          </a:p>
        </p:txBody>
      </p:sp>
      <p:sp>
        <p:nvSpPr>
          <p:cNvPr id="10" name="box"/>
          <p:cNvSpPr/>
          <p:nvPr/>
        </p:nvSpPr>
        <p:spPr>
          <a:xfrm>
            <a:off x="3383280" y="2377440"/>
            <a:ext cx="2286000" cy="914400"/>
          </a:xfrm>
          <a:prstGeom prst="roundRect">
            <a:avLst>
              <a:gd name="adj" fmla="val 8000"/>
            </a:avLst>
          </a:prstGeom>
          <a:solidFill>
            <a:schemeClr val="bg1"/>
          </a:solidFill>
          <a:ln w="12700">
            <a:solidFill>
              <a:schemeClr val="bg1"/>
            </a:solidFill>
            <a:prstDash val="solid"/>
          </a:ln>
        </p:spPr>
      </p:sp>
      <p:sp>
        <p:nvSpPr>
          <p:cNvPr id="11" name="Text 8"/>
          <p:cNvSpPr txBox="1"/>
          <p:nvPr/>
        </p:nvSpPr>
        <p:spPr>
          <a:xfrm>
            <a:off x="3383280" y="2377440"/>
            <a:ext cx="2286000" cy="9144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파일 시스템 b</a:t>
            </a:r>
            <a:endParaRPr lang="ko-KR" altLang="en-US" sz="1400" dirty="0"/>
          </a:p>
          <a:p>
            <a:pPr algn="ctr" indent="0" marL="0" eaLnBrk="0">
              <a:buNone/>
            </a:pPr>
            <a:r>
              <a:rPr lang="ko-KR" altLang="en-US" sz="1400" b="1" dirty="0">
                <a:solidFill>
                  <a:schemeClr val="tx1"/>
                </a:solidFill>
              </a:rPr>
              <a:t>save.dat 지우기</a:t>
            </a:r>
            <a:endParaRPr lang="ko-KR" altLang="en-US" sz="1400" dirty="0"/>
          </a:p>
        </p:txBody>
      </p:sp>
      <p:sp>
        <p:nvSpPr>
          <p:cNvPr id="12" name="box"/>
          <p:cNvSpPr/>
          <p:nvPr/>
        </p:nvSpPr>
        <p:spPr>
          <a:xfrm>
            <a:off x="1874520" y="3977640"/>
            <a:ext cx="2743200" cy="685800"/>
          </a:xfrm>
          <a:prstGeom prst="roundRect">
            <a:avLst>
              <a:gd name="adj" fmla="val 10667"/>
            </a:avLst>
          </a:prstGeom>
          <a:solidFill>
            <a:schemeClr val="accent3"/>
          </a:solidFill>
          <a:ln w="12700">
            <a:solidFill>
              <a:schemeClr val="accent3"/>
            </a:solidFill>
            <a:prstDash val="solid"/>
          </a:ln>
        </p:spPr>
      </p:sp>
      <p:sp>
        <p:nvSpPr>
          <p:cNvPr id="13" name="Text 10"/>
          <p:cNvSpPr txBox="1"/>
          <p:nvPr/>
        </p:nvSpPr>
        <p:spPr>
          <a:xfrm>
            <a:off x="1874520" y="3977640"/>
            <a:ext cx="2743200"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디스크의 save.dat</a:t>
            </a:r>
            <a:endParaRPr lang="ko-KR" altLang="en-US" sz="1400" dirty="0"/>
          </a:p>
        </p:txBody>
      </p:sp>
      <p:sp>
        <p:nvSpPr>
          <p:cNvPr id="14" name="Shape 11"/>
          <p:cNvSpPr/>
          <p:nvPr/>
        </p:nvSpPr>
        <p:spPr>
          <a:xfrm>
            <a:off x="1965960" y="3291840"/>
            <a:ext cx="685800" cy="685800"/>
          </a:xfrm>
          <a:prstGeom prst="line">
            <a:avLst/>
          </a:prstGeom>
          <a:noFill/>
          <a:ln w="22225">
            <a:solidFill>
              <a:schemeClr val="accent6"/>
            </a:solidFill>
            <a:prstDash val="solid"/>
            <a:tailEnd type="triangle"/>
          </a:ln>
        </p:spPr>
      </p:sp>
      <p:sp>
        <p:nvSpPr>
          <p:cNvPr id="15" name="Shape 12"/>
          <p:cNvSpPr/>
          <p:nvPr/>
        </p:nvSpPr>
        <p:spPr>
          <a:xfrm flipH="1">
            <a:off x="3840480" y="3291840"/>
            <a:ext cx="685800" cy="685800"/>
          </a:xfrm>
          <a:prstGeom prst="line">
            <a:avLst/>
          </a:prstGeom>
          <a:noFill/>
          <a:ln w="22225">
            <a:solidFill>
              <a:schemeClr val="accent6"/>
            </a:solidFill>
            <a:prstDash val="solid"/>
            <a:tailEnd type="triangle"/>
          </a:ln>
        </p:spPr>
      </p:sp>
      <p:sp>
        <p:nvSpPr>
          <p:cNvPr id="16" name="Text 13"/>
          <p:cNvSpPr txBox="1"/>
          <p:nvPr/>
        </p:nvSpPr>
        <p:spPr>
          <a:xfrm>
            <a:off x="822960" y="4892040"/>
            <a:ext cx="4846320"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서로의 작업을 모르므로 순서를 맞출 수 없다.</a:t>
            </a:r>
            <a:endParaRPr lang="ko-KR" altLang="en-US" sz="1400" dirty="0"/>
          </a:p>
        </p:txBody>
      </p:sp>
      <p:sp>
        <p:nvSpPr>
          <p:cNvPr id="17" name="Shape 14"/>
          <p:cNvSpPr/>
          <p:nvPr/>
        </p:nvSpPr>
        <p:spPr>
          <a:xfrm>
            <a:off x="6263640" y="1691640"/>
            <a:ext cx="5379415" cy="3931920"/>
          </a:xfrm>
          <a:prstGeom prst="roundRect">
            <a:avLst>
              <a:gd name="adj" fmla="val 2326"/>
            </a:avLst>
          </a:prstGeom>
          <a:solidFill>
            <a:schemeClr val="bg2"/>
          </a:solidFill>
          <a:ln w="12700">
            <a:solidFill>
              <a:schemeClr val="bg2"/>
            </a:solidFill>
            <a:prstDash val="solid"/>
          </a:ln>
        </p:spPr>
      </p:sp>
      <p:sp>
        <p:nvSpPr>
          <p:cNvPr id="18" name="Text 15"/>
          <p:cNvSpPr txBox="1"/>
          <p:nvPr/>
        </p:nvSpPr>
        <p:spPr>
          <a:xfrm>
            <a:off x="6537960" y="1828800"/>
            <a:ext cx="4572000" cy="411480"/>
          </a:xfrm>
          <a:prstGeom prst="rect">
            <a:avLst/>
          </a:prstGeom>
          <a:noFill/>
          <a:ln/>
        </p:spPr>
        <p:txBody>
          <a:bodyPr wrap="square" lIns="0" tIns="0" rIns="0" bIns="0" rtlCol="0" anchor="t"/>
          <a:lstStyle/>
          <a:p>
            <a:pPr indent="0" marL="0" eaLnBrk="0">
              <a:buNone/>
            </a:pPr>
            <a:r>
              <a:rPr lang="ko-KR" altLang="en-US" sz="1700" b="1" dirty="0">
                <a:solidFill>
                  <a:schemeClr val="accent2"/>
                </a:solidFill>
              </a:rPr>
              <a:t>인스턴스가 하나면</a:t>
            </a:r>
            <a:endParaRPr lang="ko-KR" altLang="en-US" sz="1700" dirty="0"/>
          </a:p>
        </p:txBody>
      </p:sp>
      <p:sp>
        <p:nvSpPr>
          <p:cNvPr id="19" name="Shape 16"/>
          <p:cNvSpPr/>
          <p:nvPr/>
        </p:nvSpPr>
        <p:spPr>
          <a:xfrm>
            <a:off x="6537960" y="2377440"/>
            <a:ext cx="4830775" cy="1143000"/>
          </a:xfrm>
          <a:prstGeom prst="roundRect">
            <a:avLst>
              <a:gd name="adj" fmla="val 6400"/>
            </a:avLst>
          </a:prstGeom>
          <a:solidFill>
            <a:schemeClr val="bg1"/>
          </a:solidFill>
          <a:ln w="12700">
            <a:solidFill>
              <a:schemeClr val="accent2"/>
            </a:solidFill>
            <a:prstDash val="solid"/>
          </a:ln>
        </p:spPr>
      </p:sp>
      <p:sp>
        <p:nvSpPr>
          <p:cNvPr id="20" name="Text 17"/>
          <p:cNvSpPr txBox="1"/>
          <p:nvPr/>
        </p:nvSpPr>
        <p:spPr>
          <a:xfrm>
            <a:off x="6720840" y="2450592"/>
            <a:ext cx="2743200" cy="320040"/>
          </a:xfrm>
          <a:prstGeom prst="rect">
            <a:avLst/>
          </a:prstGeom>
          <a:noFill/>
          <a:ln/>
        </p:spPr>
        <p:txBody>
          <a:bodyPr wrap="square" lIns="0" tIns="0" rIns="0" bIns="0" rtlCol="0" anchor="t"/>
          <a:lstStyle/>
          <a:p>
            <a:pPr indent="0" marL="0" eaLnBrk="0">
              <a:buNone/>
            </a:pPr>
            <a:r>
              <a:rPr lang="ko-KR" altLang="en-US" sz="1400" b="1" dirty="0">
                <a:solidFill>
                  <a:schemeClr val="tx1"/>
                </a:solidFill>
              </a:rPr>
              <a:t>파일 시스템 (하나)</a:t>
            </a:r>
            <a:endParaRPr lang="ko-KR" altLang="en-US" sz="1400" dirty="0"/>
          </a:p>
        </p:txBody>
      </p:sp>
      <p:sp>
        <p:nvSpPr>
          <p:cNvPr id="21" name="box"/>
          <p:cNvSpPr/>
          <p:nvPr/>
        </p:nvSpPr>
        <p:spPr>
          <a:xfrm>
            <a:off x="6720840" y="2852928"/>
            <a:ext cx="2148840" cy="502920"/>
          </a:xfrm>
          <a:prstGeom prst="roundRect">
            <a:avLst>
              <a:gd name="adj" fmla="val 14545"/>
            </a:avLst>
          </a:prstGeom>
          <a:solidFill>
            <a:schemeClr val="accent2"/>
          </a:solidFill>
          <a:ln w="12700">
            <a:solidFill>
              <a:schemeClr val="accent2"/>
            </a:solidFill>
            <a:prstDash val="solid"/>
          </a:ln>
        </p:spPr>
      </p:sp>
      <p:sp>
        <p:nvSpPr>
          <p:cNvPr id="22" name="Text 19"/>
          <p:cNvSpPr txBox="1"/>
          <p:nvPr/>
        </p:nvSpPr>
        <p:spPr>
          <a:xfrm>
            <a:off x="6720840" y="2852928"/>
            <a:ext cx="214884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① save.dat 만들기</a:t>
            </a:r>
            <a:endParaRPr lang="ko-KR" altLang="en-US" sz="1300" dirty="0"/>
          </a:p>
        </p:txBody>
      </p:sp>
      <p:sp>
        <p:nvSpPr>
          <p:cNvPr id="23" name="Shape 20"/>
          <p:cNvSpPr/>
          <p:nvPr/>
        </p:nvSpPr>
        <p:spPr>
          <a:xfrm>
            <a:off x="8915400" y="3108960"/>
            <a:ext cx="228600" cy="914"/>
          </a:xfrm>
          <a:prstGeom prst="line">
            <a:avLst/>
          </a:prstGeom>
          <a:noFill/>
          <a:ln w="22225">
            <a:solidFill>
              <a:schemeClr val="accent5"/>
            </a:solidFill>
            <a:prstDash val="solid"/>
            <a:tailEnd type="triangle"/>
          </a:ln>
        </p:spPr>
      </p:sp>
      <p:sp>
        <p:nvSpPr>
          <p:cNvPr id="24" name="box"/>
          <p:cNvSpPr/>
          <p:nvPr/>
        </p:nvSpPr>
        <p:spPr>
          <a:xfrm>
            <a:off x="9189720" y="2852928"/>
            <a:ext cx="2148840" cy="502920"/>
          </a:xfrm>
          <a:prstGeom prst="roundRect">
            <a:avLst>
              <a:gd name="adj" fmla="val 14545"/>
            </a:avLst>
          </a:prstGeom>
          <a:solidFill>
            <a:schemeClr val="accent2"/>
          </a:solidFill>
          <a:ln w="12700">
            <a:solidFill>
              <a:schemeClr val="accent2"/>
            </a:solidFill>
            <a:prstDash val="solid"/>
          </a:ln>
        </p:spPr>
      </p:sp>
      <p:sp>
        <p:nvSpPr>
          <p:cNvPr id="25" name="Text 22"/>
          <p:cNvSpPr txBox="1"/>
          <p:nvPr/>
        </p:nvSpPr>
        <p:spPr>
          <a:xfrm>
            <a:off x="9189720" y="2852928"/>
            <a:ext cx="214884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② save.dat 지우기</a:t>
            </a:r>
            <a:endParaRPr lang="ko-KR" altLang="en-US" sz="1300" dirty="0"/>
          </a:p>
        </p:txBody>
      </p:sp>
      <p:sp>
        <p:nvSpPr>
          <p:cNvPr id="26" name="box"/>
          <p:cNvSpPr/>
          <p:nvPr/>
        </p:nvSpPr>
        <p:spPr>
          <a:xfrm>
            <a:off x="7581748" y="3977640"/>
            <a:ext cx="2743200" cy="685800"/>
          </a:xfrm>
          <a:prstGeom prst="roundRect">
            <a:avLst>
              <a:gd name="adj" fmla="val 10667"/>
            </a:avLst>
          </a:prstGeom>
          <a:solidFill>
            <a:schemeClr val="accent3"/>
          </a:solidFill>
          <a:ln w="12700">
            <a:solidFill>
              <a:schemeClr val="accent3"/>
            </a:solidFill>
            <a:prstDash val="solid"/>
          </a:ln>
        </p:spPr>
      </p:sp>
      <p:sp>
        <p:nvSpPr>
          <p:cNvPr id="27" name="Text 24"/>
          <p:cNvSpPr txBox="1"/>
          <p:nvPr/>
        </p:nvSpPr>
        <p:spPr>
          <a:xfrm>
            <a:off x="7581748" y="3977640"/>
            <a:ext cx="2743200"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디스크의 save.dat</a:t>
            </a:r>
            <a:endParaRPr lang="ko-KR" altLang="en-US" sz="1400" dirty="0"/>
          </a:p>
        </p:txBody>
      </p:sp>
      <p:sp>
        <p:nvSpPr>
          <p:cNvPr id="28" name="Shape 25"/>
          <p:cNvSpPr/>
          <p:nvPr/>
        </p:nvSpPr>
        <p:spPr>
          <a:xfrm>
            <a:off x="8953348" y="3520440"/>
            <a:ext cx="914" cy="457200"/>
          </a:xfrm>
          <a:prstGeom prst="line">
            <a:avLst/>
          </a:prstGeom>
          <a:noFill/>
          <a:ln w="22225">
            <a:solidFill>
              <a:schemeClr val="accent2"/>
            </a:solidFill>
            <a:prstDash val="solid"/>
            <a:tailEnd type="triangle"/>
          </a:ln>
        </p:spPr>
      </p:sp>
      <p:sp>
        <p:nvSpPr>
          <p:cNvPr id="29" name="Text 26"/>
          <p:cNvSpPr txBox="1"/>
          <p:nvPr/>
        </p:nvSpPr>
        <p:spPr>
          <a:xfrm>
            <a:off x="6537960" y="4892040"/>
            <a:ext cx="4830775"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진행 중인 작업을 모두 알고 있으므로, 서로 방해하지 않게 순서를 맞춘다.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고전적인 구현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정적 접근자가 처음 요청될 때 인스턴스를 만들어 돌려준다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Instance를 여러 번 부르면 실제로 몇 개가 만들어질까?</a:t>
            </a:r>
            <a:endParaRPr lang="ko-KR" altLang="en-US" sz="1500" dirty="0"/>
          </a:p>
        </p:txBody>
      </p:sp>
      <p:sp>
        <p:nvSpPr>
          <p:cNvPr id="6" name="codePanel"/>
          <p:cNvSpPr/>
          <p:nvPr/>
        </p:nvSpPr>
        <p:spPr>
          <a:xfrm>
            <a:off x="548640" y="1645920"/>
            <a:ext cx="6949440" cy="3291840"/>
          </a:xfrm>
          <a:prstGeom prst="roundRect">
            <a:avLst>
              <a:gd name="adj" fmla="val 2222"/>
            </a:avLst>
          </a:prstGeom>
          <a:solidFill>
            <a:schemeClr val="tx1"/>
          </a:solidFill>
          <a:ln w="12700">
            <a:solidFill>
              <a:schemeClr val="tx1"/>
            </a:solidFill>
            <a:prstDash val="solid"/>
          </a:ln>
        </p:spPr>
      </p:sp>
      <p:sp>
        <p:nvSpPr>
          <p:cNvPr id="7" name="code"/>
          <p:cNvSpPr txBox="1"/>
          <p:nvPr/>
        </p:nvSpPr>
        <p:spPr>
          <a:xfrm>
            <a:off x="658368" y="1737360"/>
            <a:ext cx="6729984" cy="310896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FileSystem</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static FileSystem _instance;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public static FileSystem Instance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get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게으른 초기화: 처음 요청될 때 만든다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if (_instance == null) _instance = new FileSystem();</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return _instance;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FileSystem() { }   // 밖에서는 new 할 수 없다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5029200"/>
            <a:ext cx="6949440" cy="685800"/>
          </a:xfrm>
          <a:prstGeom prst="roundRect">
            <a:avLst>
              <a:gd name="adj" fmla="val 10667"/>
            </a:avLst>
          </a:prstGeom>
          <a:solidFill>
            <a:schemeClr val="tx1"/>
          </a:solidFill>
          <a:ln w="12700">
            <a:solidFill>
              <a:schemeClr val="tx1"/>
            </a:solidFill>
            <a:prstDash val="solid"/>
          </a:ln>
        </p:spPr>
      </p:sp>
      <p:sp>
        <p:nvSpPr>
          <p:cNvPr id="10" name="code"/>
          <p:cNvSpPr txBox="1"/>
          <p:nvPr/>
        </p:nvSpPr>
        <p:spPr>
          <a:xfrm>
            <a:off x="658368" y="5120640"/>
            <a:ext cx="6729984" cy="502920"/>
          </a:xfrm>
          <a:prstGeom prst="rect">
            <a:avLst/>
          </a:prstGeom>
          <a:noFill/>
          <a:ln/>
        </p:spPr>
        <p:txBody>
          <a:bodyPr wrap="square" lIns="635" tIns="635" rIns="635" bIns="635" rtlCol="0" anchor="t"/>
          <a:lstStyle/>
          <a:p>
            <a:pPr indent="0" marL="0" eaLnBrk="0">
              <a:buNone/>
            </a:pPr>
            <a:r>
              <a:rPr lang="ko-KR" altLang="en-US" sz="1300" dirty="0">
                <a:solidFill>
                  <a:schemeClr val="accent3"/>
                </a:solidFill>
                <a:latin typeface="Consolas" pitchFamily="34" charset="0"/>
                <a:ea typeface="Consolas" pitchFamily="34" charset="-122"/>
                <a:cs typeface="Consolas" pitchFamily="34" charset="-120"/>
              </a:rPr>
              <a:t>// 로그, 로딩, 저장 시스템 어디서든</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FileSystem.Instance.WriteFile(path, contents);</a:t>
            </a:r>
            <a:endParaRPr lang="ko-KR" altLang="en-US" sz="1300" dirty="0"/>
          </a:p>
        </p:txBody>
      </p:sp>
      <p:sp>
        <p:nvSpPr>
          <p:cNvPr id="11" name="card"/>
          <p:cNvSpPr/>
          <p:nvPr/>
        </p:nvSpPr>
        <p:spPr>
          <a:xfrm>
            <a:off x="7863840" y="1645920"/>
            <a:ext cx="3779215" cy="1234440"/>
          </a:xfrm>
          <a:prstGeom prst="roundRect">
            <a:avLst>
              <a:gd name="adj" fmla="val 7407"/>
            </a:avLst>
          </a:prstGeom>
          <a:solidFill>
            <a:schemeClr val="bg2"/>
          </a:solidFill>
          <a:ln w="12700">
            <a:solidFill>
              <a:schemeClr val="bg2"/>
            </a:solidFill>
            <a:prstDash val="solid"/>
          </a:ln>
        </p:spPr>
      </p:sp>
      <p:sp>
        <p:nvSpPr>
          <p:cNvPr id="12" name="Text 9"/>
          <p:cNvSpPr txBox="1"/>
          <p:nvPr/>
        </p:nvSpPr>
        <p:spPr>
          <a:xfrm>
            <a:off x="8092440" y="18653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private 생성자</a:t>
            </a:r>
            <a:endParaRPr lang="ko-KR" altLang="en-US" sz="1700" dirty="0"/>
          </a:p>
        </p:txBody>
      </p:sp>
      <p:sp>
        <p:nvSpPr>
          <p:cNvPr id="13" name="Text 10"/>
          <p:cNvSpPr txBox="1"/>
          <p:nvPr/>
        </p:nvSpPr>
        <p:spPr>
          <a:xfrm>
            <a:off x="8092440" y="2331720"/>
            <a:ext cx="33220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밖에서 new FileSystem()을 할 수 없다.</a:t>
            </a:r>
            <a:endParaRPr lang="ko-KR" altLang="en-US" sz="1400" dirty="0"/>
          </a:p>
        </p:txBody>
      </p:sp>
      <p:sp>
        <p:nvSpPr>
          <p:cNvPr id="14" name="card"/>
          <p:cNvSpPr/>
          <p:nvPr/>
        </p:nvSpPr>
        <p:spPr>
          <a:xfrm>
            <a:off x="7863840" y="3017520"/>
            <a:ext cx="3779215" cy="1234440"/>
          </a:xfrm>
          <a:prstGeom prst="roundRect">
            <a:avLst>
              <a:gd name="adj" fmla="val 7407"/>
            </a:avLst>
          </a:prstGeom>
          <a:solidFill>
            <a:schemeClr val="bg2"/>
          </a:solidFill>
          <a:ln w="12700">
            <a:solidFill>
              <a:schemeClr val="bg2"/>
            </a:solidFill>
            <a:prstDash val="solid"/>
          </a:ln>
        </p:spPr>
      </p:sp>
      <p:sp>
        <p:nvSpPr>
          <p:cNvPr id="15" name="Text 12"/>
          <p:cNvSpPr txBox="1"/>
          <p:nvPr/>
        </p:nvSpPr>
        <p:spPr>
          <a:xfrm>
            <a:off x="8092440" y="32369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정적 필드 _instance</a:t>
            </a:r>
            <a:endParaRPr lang="ko-KR" altLang="en-US" sz="1700" dirty="0"/>
          </a:p>
        </p:txBody>
      </p:sp>
      <p:sp>
        <p:nvSpPr>
          <p:cNvPr id="16" name="Text 13"/>
          <p:cNvSpPr txBox="1"/>
          <p:nvPr/>
        </p:nvSpPr>
        <p:spPr>
          <a:xfrm>
            <a:off x="8092440" y="3703320"/>
            <a:ext cx="33220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하나뿐인 인스턴스를 담는다.</a:t>
            </a:r>
            <a:endParaRPr lang="ko-KR" altLang="en-US" sz="1400" dirty="0"/>
          </a:p>
        </p:txBody>
      </p:sp>
      <p:sp>
        <p:nvSpPr>
          <p:cNvPr id="17" name="card"/>
          <p:cNvSpPr/>
          <p:nvPr/>
        </p:nvSpPr>
        <p:spPr>
          <a:xfrm>
            <a:off x="7863840" y="4389120"/>
            <a:ext cx="3779215" cy="1280160"/>
          </a:xfrm>
          <a:prstGeom prst="roundRect">
            <a:avLst>
              <a:gd name="adj" fmla="val 7143"/>
            </a:avLst>
          </a:prstGeom>
          <a:solidFill>
            <a:schemeClr val="bg2"/>
          </a:solidFill>
          <a:ln w="12700">
            <a:solidFill>
              <a:schemeClr val="bg2"/>
            </a:solidFill>
            <a:prstDash val="solid"/>
          </a:ln>
        </p:spPr>
      </p:sp>
      <p:sp>
        <p:nvSpPr>
          <p:cNvPr id="18" name="Text 15"/>
          <p:cNvSpPr txBox="1"/>
          <p:nvPr/>
        </p:nvSpPr>
        <p:spPr>
          <a:xfrm>
            <a:off x="8092440" y="46085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public 정적 접근자</a:t>
            </a:r>
            <a:endParaRPr lang="ko-KR" altLang="en-US" sz="1700" dirty="0"/>
          </a:p>
        </p:txBody>
      </p:sp>
      <p:sp>
        <p:nvSpPr>
          <p:cNvPr id="19" name="Text 16"/>
          <p:cNvSpPr txBox="1"/>
          <p:nvPr/>
        </p:nvSpPr>
        <p:spPr>
          <a:xfrm>
            <a:off x="8092440" y="5074920"/>
            <a:ext cx="3322015" cy="502920"/>
          </a:xfrm>
          <a:prstGeom prst="rect">
            <a:avLst/>
          </a:prstGeom>
          <a:noFill/>
          <a:ln/>
        </p:spPr>
        <p:txBody>
          <a:bodyPr wrap="square" lIns="0" tIns="0" rIns="0" bIns="0" rtlCol="0" anchor="t"/>
          <a:lstStyle/>
          <a:p>
            <a:pPr indent="0" marL="0" eaLnBrk="0">
              <a:buNone/>
            </a:pPr>
            <a:r>
              <a:rPr lang="ko-KR" altLang="en-US" sz="1400" dirty="0">
                <a:solidFill>
                  <a:schemeClr val="tx2"/>
                </a:solidFill>
              </a:rPr>
              <a:t>처음 요청되면 만들고, 늘 같은 객체를 꺼내 준다.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처음 한 번만 만들고, 그 뒤로는 같은 객체를 돌려준다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두 스레드가 동시에 처음 Instance를 부르면 어떻게 될까?</a:t>
            </a:r>
            <a:endParaRPr lang="ko-KR" alt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822960"/>
                <a:gridCol w="3017520"/>
                <a:gridCol w="2103120"/>
                <a:gridCol w="3291840"/>
                <a:gridCol w="1858975"/>
              </a:tblGrid>
              <a:tr h="502920">
                <a:tc>
                  <a:txBody>
                    <a:bodyPr/>
                    <a:lstStyle/>
                    <a:p>
                      <a:pPr indent="0" marL="0" eaLnBrk="0">
                        <a:buNone/>
                      </a:pPr>
                      <a:r>
                        <a:rPr lang="ko-KR" altLang="en-US" sz="1400" b="1" dirty="0">
                          <a:solidFill>
                            <a:schemeClr val="bg1"/>
                          </a:solidFill>
                        </a:rPr>
                        <a:t>순서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부르는 쪽</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부르기 전 _instance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Instance가 하는 일</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결과</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400" b="1" dirty="0">
                          <a:solidFill>
                            <a:schemeClr val="tx1"/>
                          </a:solidFill>
                        </a:rPr>
                        <a:t>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게임 시작</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null</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아무도 부르지 않았다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저장 시스템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null</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new FileSystem()을 실행한다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객체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로그 시스템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객체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있는 객체를 그대로 돌려준다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객체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4</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로딩 시스템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객체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있는 객체를 그대로 돌려준다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객체 #1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400" b="1" dirty="0">
                          <a:solidFill>
                            <a:schemeClr val="tx1"/>
                          </a:solidFill>
                        </a:rPr>
                        <a:t>5</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다른 코드의 new FileSystem()</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생성자가 private이다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컴파일 오류</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4983480"/>
            <a:ext cx="11094415" cy="457200"/>
          </a:xfrm>
          <a:prstGeom prst="rect">
            <a:avLst/>
          </a:prstGeom>
          <a:noFill/>
          <a:ln/>
        </p:spPr>
        <p:txBody>
          <a:bodyPr wrap="square" lIns="0" tIns="0" rIns="0" bIns="0" rtlCol="0" anchor="t"/>
          <a:lstStyle/>
          <a:p>
            <a:pPr indent="0" marL="0" eaLnBrk="0">
              <a:buNone/>
            </a:pPr>
            <a:r>
              <a:rPr lang="ko-KR" altLang="en-US" sz="1600" b="1" dirty="0">
                <a:solidFill>
                  <a:schemeClr val="accent1"/>
                </a:solidFill>
              </a:rPr>
              <a:t>아무도 Instance를 부르지 않으면 FileSystem은 끝까지 만들어지지 않는다.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스레드 안전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Lazy&lt;T&gt;를 쓰면 여러 스레드에서도 한 번만 만든다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이렇게 만든 싱글턴은 왜 그렇게 인기가 있을까?</a:t>
            </a:r>
            <a:endParaRPr lang="ko-KR" altLang="en-US" sz="1500" dirty="0"/>
          </a:p>
        </p:txBody>
      </p:sp>
      <p:sp>
        <p:nvSpPr>
          <p:cNvPr id="6" name="Text 3"/>
          <p:cNvSpPr txBox="1"/>
          <p:nvPr/>
        </p:nvSpPr>
        <p:spPr>
          <a:xfrm>
            <a:off x="548640" y="1645920"/>
            <a:ext cx="5120640" cy="365760"/>
          </a:xfrm>
          <a:prstGeom prst="rect">
            <a:avLst/>
          </a:prstGeom>
          <a:noFill/>
          <a:ln/>
        </p:spPr>
        <p:txBody>
          <a:bodyPr wrap="square" lIns="0" tIns="0" rIns="0" bIns="0" rtlCol="0" anchor="t"/>
          <a:lstStyle/>
          <a:p>
            <a:pPr indent="0" marL="0" eaLnBrk="0">
              <a:buNone/>
            </a:pPr>
            <a:r>
              <a:rPr lang="ko-KR" altLang="en-US" sz="1700" b="1" dirty="0">
                <a:solidFill>
                  <a:schemeClr val="accent6"/>
                </a:solidFill>
              </a:rPr>
              <a:t>첫 구현의 문제</a:t>
            </a:r>
            <a:endParaRPr lang="ko-KR" altLang="en-US" sz="1700" dirty="0"/>
          </a:p>
        </p:txBody>
      </p:sp>
      <p:sp>
        <p:nvSpPr>
          <p:cNvPr id="7" name="codePanel"/>
          <p:cNvSpPr/>
          <p:nvPr/>
        </p:nvSpPr>
        <p:spPr>
          <a:xfrm>
            <a:off x="548640" y="2057400"/>
            <a:ext cx="5120640" cy="1325880"/>
          </a:xfrm>
          <a:prstGeom prst="roundRect">
            <a:avLst>
              <a:gd name="adj" fmla="val 5517"/>
            </a:avLst>
          </a:prstGeom>
          <a:solidFill>
            <a:schemeClr val="tx1"/>
          </a:solidFill>
          <a:ln w="12700">
            <a:solidFill>
              <a:schemeClr val="tx1"/>
            </a:solidFill>
            <a:prstDash val="solid"/>
          </a:ln>
        </p:spPr>
      </p:sp>
      <p:sp>
        <p:nvSpPr>
          <p:cNvPr id="8" name="code"/>
          <p:cNvSpPr txBox="1"/>
          <p:nvPr/>
        </p:nvSpPr>
        <p:spPr>
          <a:xfrm>
            <a:off x="658368" y="2148840"/>
            <a:ext cx="4901184" cy="1143000"/>
          </a:xfrm>
          <a:prstGeom prst="rect">
            <a:avLst/>
          </a:prstGeom>
          <a:noFill/>
          <a:ln/>
        </p:spPr>
        <p:txBody>
          <a:bodyPr wrap="square" lIns="635" tIns="635" rIns="635" bIns="635" rtlCol="0" anchor="t"/>
          <a:lstStyle/>
          <a:p>
            <a:pPr indent="0" marL="0" eaLnBrk="0">
              <a:buNone/>
            </a:pPr>
            <a:r>
              <a:rPr lang="ko-KR" altLang="en-US" sz="1200" dirty="0">
                <a:solidFill>
                  <a:schemeClr val="accent3"/>
                </a:solidFill>
                <a:latin typeface="Consolas" pitchFamily="34" charset="0"/>
                <a:ea typeface="Consolas" pitchFamily="34" charset="-122"/>
                <a:cs typeface="Consolas" pitchFamily="34" charset="-120"/>
              </a:rPr>
              <a:t>// 스레드 1과 2가 동시에 처음 도착하면</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if (_instance == null)</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_instance = new FileSystem();</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둘 다 null을 보고, 둘 다 new를 실행할 수 있다</a:t>
            </a:r>
            <a:endParaRPr lang="ko-KR" altLang="en-US" sz="1200" dirty="0"/>
          </a:p>
        </p:txBody>
      </p:sp>
      <p:sp>
        <p:nvSpPr>
          <p:cNvPr id="9" name="card"/>
          <p:cNvSpPr/>
          <p:nvPr/>
        </p:nvSpPr>
        <p:spPr>
          <a:xfrm>
            <a:off x="548640" y="3611880"/>
            <a:ext cx="5120640" cy="2057400"/>
          </a:xfrm>
          <a:prstGeom prst="roundRect">
            <a:avLst>
              <a:gd name="adj" fmla="val 4444"/>
            </a:avLst>
          </a:prstGeom>
          <a:solidFill>
            <a:schemeClr val="bg2"/>
          </a:solidFill>
          <a:ln w="12700">
            <a:solidFill>
              <a:schemeClr val="bg2"/>
            </a:solidFill>
            <a:prstDash val="solid"/>
          </a:ln>
        </p:spPr>
      </p:sp>
      <p:sp>
        <p:nvSpPr>
          <p:cNvPr id="10" name="Text 7"/>
          <p:cNvSpPr txBox="1"/>
          <p:nvPr/>
        </p:nvSpPr>
        <p:spPr>
          <a:xfrm>
            <a:off x="777240" y="3831336"/>
            <a:ext cx="470916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원서의 현대적 버전</a:t>
            </a:r>
            <a:endParaRPr lang="ko-KR" altLang="en-US" sz="1700" dirty="0"/>
          </a:p>
        </p:txBody>
      </p:sp>
      <p:sp>
        <p:nvSpPr>
          <p:cNvPr id="11" name="Text 8"/>
          <p:cNvSpPr txBox="1"/>
          <p:nvPr/>
        </p:nvSpPr>
        <p:spPr>
          <a:xfrm>
            <a:off x="777240" y="4297680"/>
            <a:ext cx="4663440" cy="1280160"/>
          </a:xfrm>
          <a:prstGeom prst="rect">
            <a:avLst/>
          </a:prstGeom>
          <a:noFill/>
          <a:ln/>
        </p:spPr>
        <p:txBody>
          <a:bodyPr wrap="square" lIns="0" tIns="0" rIns="0" bIns="0" rtlCol="0" anchor="t"/>
          <a:lstStyle/>
          <a:p>
            <a:pPr indent="0" marL="0" eaLnBrk="0">
              <a:buNone/>
            </a:pPr>
            <a:r>
              <a:rPr lang="ko-KR" altLang="en-US" sz="1400" dirty="0">
                <a:solidFill>
                  <a:schemeClr val="tx2"/>
                </a:solidFill>
              </a:rPr>
              <a:t>C++11은 지역 정적 변수의 초기화를 한 번만 실행한다고 보장한다. C#에서는 Lazy&lt;T&gt;가 같은 역할을 한다.</a:t>
            </a:r>
            <a:endParaRPr lang="ko-KR" altLang="en-US" sz="1400" dirty="0"/>
          </a:p>
        </p:txBody>
      </p:sp>
      <p:sp>
        <p:nvSpPr>
          <p:cNvPr id="12" name="Text 9"/>
          <p:cNvSpPr txBox="1"/>
          <p:nvPr/>
        </p:nvSpPr>
        <p:spPr>
          <a:xfrm>
            <a:off x="6035040" y="1645920"/>
            <a:ext cx="5608015" cy="365760"/>
          </a:xfrm>
          <a:prstGeom prst="rect">
            <a:avLst/>
          </a:prstGeom>
          <a:noFill/>
          <a:ln/>
        </p:spPr>
        <p:txBody>
          <a:bodyPr wrap="square" lIns="0" tIns="0" rIns="0" bIns="0" rtlCol="0" anchor="t"/>
          <a:lstStyle/>
          <a:p>
            <a:pPr indent="0" marL="0" eaLnBrk="0">
              <a:buNone/>
            </a:pPr>
            <a:r>
              <a:rPr lang="ko-KR" altLang="en-US" sz="1700" b="1" dirty="0">
                <a:solidFill>
                  <a:schemeClr val="accent2"/>
                </a:solidFill>
              </a:rPr>
              <a:t>Lazy&lt;T&gt;로 고친 구현</a:t>
            </a:r>
            <a:endParaRPr lang="ko-KR" altLang="en-US" sz="1700" dirty="0"/>
          </a:p>
        </p:txBody>
      </p:sp>
      <p:sp>
        <p:nvSpPr>
          <p:cNvPr id="13" name="codePanel"/>
          <p:cNvSpPr/>
          <p:nvPr/>
        </p:nvSpPr>
        <p:spPr>
          <a:xfrm>
            <a:off x="6035040" y="2057400"/>
            <a:ext cx="5608015" cy="2286000"/>
          </a:xfrm>
          <a:prstGeom prst="roundRect">
            <a:avLst>
              <a:gd name="adj" fmla="val 3200"/>
            </a:avLst>
          </a:prstGeom>
          <a:solidFill>
            <a:schemeClr val="tx1"/>
          </a:solidFill>
          <a:ln w="12700">
            <a:solidFill>
              <a:schemeClr val="tx1"/>
            </a:solidFill>
            <a:prstDash val="solid"/>
          </a:ln>
        </p:spPr>
      </p:sp>
      <p:sp>
        <p:nvSpPr>
          <p:cNvPr id="14" name="code"/>
          <p:cNvSpPr txBox="1"/>
          <p:nvPr/>
        </p:nvSpPr>
        <p:spPr>
          <a:xfrm>
            <a:off x="6144768" y="2148840"/>
            <a:ext cx="5388559" cy="210312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FileSystem</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static readonly Lazy&lt;FileSystem&gt; _instance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new Lazy&lt;FileSystem&gt;(() =&gt; new FileSystem());</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public static FileSystem Instance =&gt; _instance.Value;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FileSystem() {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15" name="codeCaption"/>
          <p:cNvSpPr txBox="1"/>
          <p:nvPr/>
        </p:nvSpPr>
        <p:spPr>
          <a:xfrm>
            <a:off x="8534095" y="21488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16" name="box"/>
          <p:cNvSpPr/>
          <p:nvPr/>
        </p:nvSpPr>
        <p:spPr>
          <a:xfrm>
            <a:off x="6035040" y="4526280"/>
            <a:ext cx="5608015" cy="1143000"/>
          </a:xfrm>
          <a:prstGeom prst="roundRect">
            <a:avLst>
              <a:gd name="adj" fmla="val 6400"/>
            </a:avLst>
          </a:prstGeom>
          <a:solidFill>
            <a:schemeClr val="tx2"/>
          </a:solidFill>
          <a:ln w="12700">
            <a:solidFill>
              <a:schemeClr val="tx2"/>
            </a:solidFill>
            <a:prstDash val="solid"/>
          </a:ln>
        </p:spPr>
      </p:sp>
      <p:sp>
        <p:nvSpPr>
          <p:cNvPr id="17" name="Text 14"/>
          <p:cNvSpPr txBox="1"/>
          <p:nvPr/>
        </p:nvSpPr>
        <p:spPr>
          <a:xfrm>
            <a:off x="6035040" y="4526280"/>
            <a:ext cx="5608015" cy="1143000"/>
          </a:xfrm>
          <a:prstGeom prst="rect">
            <a:avLst/>
          </a:prstGeom>
          <a:noFill/>
          <a:ln/>
        </p:spPr>
        <p:txBody>
          <a:bodyPr wrap="square" lIns="635" tIns="635" rIns="635" bIns="635" rtlCol="0" anchor="ctr"/>
          <a:lstStyle/>
          <a:p>
            <a:pPr algn="ctr" indent="0" marL="0" eaLnBrk="0">
              <a:buNone/>
            </a:pPr>
            <a:r>
              <a:rPr lang="ko-KR" altLang="en-US" sz="1400" dirty="0">
                <a:solidFill>
                  <a:schemeClr val="bg1"/>
                </a:solidFill>
              </a:rPr>
              <a:t>보장하는 것은 생성뿐이다. ReadFile, WriteFile 같은 메서드가 스레드에 안전한지는 따로 따져야 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2부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왜 쓰는가</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싱글턴을 왜 사용하는가</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좋은 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쓰지 않으면 만들지 않고, 실행 중에 만들고, 상속할 수 있다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인스턴스를 하위 클래스로 바꾸면 무엇을 할 수 있을까?</a:t>
            </a:r>
            <a:endParaRPr lang="ko-KR" altLang="en-US" sz="1500" dirty="0"/>
          </a:p>
        </p:txBody>
      </p:sp>
      <p:sp>
        <p:nvSpPr>
          <p:cNvPr id="6" name="card"/>
          <p:cNvSpPr/>
          <p:nvPr/>
        </p:nvSpPr>
        <p:spPr>
          <a:xfrm>
            <a:off x="548640" y="1691640"/>
            <a:ext cx="3545738" cy="2377440"/>
          </a:xfrm>
          <a:prstGeom prst="roundRect">
            <a:avLst>
              <a:gd name="adj" fmla="val 3846"/>
            </a:avLst>
          </a:prstGeom>
          <a:solidFill>
            <a:schemeClr val="bg2"/>
          </a:solidFill>
          <a:ln w="12700">
            <a:solidFill>
              <a:schemeClr val="bg2"/>
            </a:solidFill>
            <a:prstDash val="solid"/>
          </a:ln>
        </p:spPr>
      </p:sp>
      <p:sp>
        <p:nvSpPr>
          <p:cNvPr id="7" name="Shape 4"/>
          <p:cNvSpPr/>
          <p:nvPr/>
        </p:nvSpPr>
        <p:spPr>
          <a:xfrm>
            <a:off x="777240" y="189280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828800"/>
            <a:ext cx="2585618" cy="731520"/>
          </a:xfrm>
          <a:prstGeom prst="rect">
            <a:avLst/>
          </a:prstGeom>
          <a:noFill/>
          <a:ln/>
        </p:spPr>
        <p:txBody>
          <a:bodyPr wrap="square" lIns="0" tIns="0" rIns="0" bIns="0" rtlCol="0" anchor="ctr"/>
          <a:lstStyle/>
          <a:p>
            <a:pPr indent="0" marL="0" eaLnBrk="0">
              <a:buNone/>
            </a:pPr>
            <a:r>
              <a:rPr lang="ko-KR" altLang="en-US" sz="1600" b="1" dirty="0">
                <a:solidFill>
                  <a:schemeClr val="tx1"/>
                </a:solidFill>
              </a:rPr>
              <a:t>쓰지 않으면</a:t>
            </a:r>
            <a:endParaRPr lang="ko-KR" altLang="en-US" sz="1600" dirty="0"/>
          </a:p>
          <a:p>
            <a:pPr indent="0" marL="0" eaLnBrk="0">
              <a:buNone/>
            </a:pPr>
            <a:r>
              <a:rPr lang="ko-KR" altLang="en-US" sz="1600" b="1" dirty="0">
                <a:solidFill>
                  <a:schemeClr val="tx1"/>
                </a:solidFill>
              </a:rPr>
              <a:t>만들지 않는다</a:t>
            </a:r>
            <a:endParaRPr lang="ko-KR" altLang="en-US" sz="1600" dirty="0"/>
          </a:p>
        </p:txBody>
      </p:sp>
      <p:sp>
        <p:nvSpPr>
          <p:cNvPr id="10" name="Text 7"/>
          <p:cNvSpPr txBox="1"/>
          <p:nvPr/>
        </p:nvSpPr>
        <p:spPr>
          <a:xfrm>
            <a:off x="777240" y="2697480"/>
            <a:ext cx="3088538" cy="1280160"/>
          </a:xfrm>
          <a:prstGeom prst="rect">
            <a:avLst/>
          </a:prstGeom>
          <a:noFill/>
          <a:ln/>
        </p:spPr>
        <p:txBody>
          <a:bodyPr wrap="square" lIns="0" tIns="0" rIns="0" bIns="0" rtlCol="0" anchor="t"/>
          <a:lstStyle/>
          <a:p>
            <a:pPr indent="0" marL="0" eaLnBrk="0">
              <a:buNone/>
            </a:pPr>
            <a:r>
              <a:rPr lang="ko-KR" altLang="en-US" sz="1400" dirty="0">
                <a:solidFill>
                  <a:schemeClr val="tx2"/>
                </a:solidFill>
              </a:rPr>
              <a:t>처음 요청할 때 만든다. 끝까지 부르지 않으면 메모리와 CPU를 쓰지 않는다.</a:t>
            </a:r>
            <a:endParaRPr lang="ko-KR" altLang="en-US" sz="1400" dirty="0"/>
          </a:p>
        </p:txBody>
      </p:sp>
      <p:sp>
        <p:nvSpPr>
          <p:cNvPr id="11" name="card"/>
          <p:cNvSpPr/>
          <p:nvPr/>
        </p:nvSpPr>
        <p:spPr>
          <a:xfrm>
            <a:off x="4322978" y="1691640"/>
            <a:ext cx="3545738" cy="2377440"/>
          </a:xfrm>
          <a:prstGeom prst="roundRect">
            <a:avLst>
              <a:gd name="adj" fmla="val 3846"/>
            </a:avLst>
          </a:prstGeom>
          <a:solidFill>
            <a:schemeClr val="bg2"/>
          </a:solidFill>
          <a:ln w="12700">
            <a:solidFill>
              <a:schemeClr val="bg2"/>
            </a:solidFill>
            <a:prstDash val="solid"/>
          </a:ln>
        </p:spPr>
      </p:sp>
      <p:sp>
        <p:nvSpPr>
          <p:cNvPr id="12" name="Shape 9"/>
          <p:cNvSpPr/>
          <p:nvPr/>
        </p:nvSpPr>
        <p:spPr>
          <a:xfrm>
            <a:off x="4551578" y="189280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4551578"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5100218" y="1828800"/>
            <a:ext cx="2585618" cy="731520"/>
          </a:xfrm>
          <a:prstGeom prst="rect">
            <a:avLst/>
          </a:prstGeom>
          <a:noFill/>
          <a:ln/>
        </p:spPr>
        <p:txBody>
          <a:bodyPr wrap="square" lIns="0" tIns="0" rIns="0" bIns="0" rtlCol="0" anchor="ctr"/>
          <a:lstStyle/>
          <a:p>
            <a:pPr indent="0" marL="0" eaLnBrk="0">
              <a:buNone/>
            </a:pPr>
            <a:r>
              <a:rPr lang="ko-KR" altLang="en-US" sz="1600" b="1" dirty="0">
                <a:solidFill>
                  <a:schemeClr val="tx1"/>
                </a:solidFill>
              </a:rPr>
              <a:t>실행 중에</a:t>
            </a:r>
            <a:endParaRPr lang="ko-KR" altLang="en-US" sz="1600" dirty="0"/>
          </a:p>
          <a:p>
            <a:pPr indent="0" marL="0" eaLnBrk="0">
              <a:buNone/>
            </a:pPr>
            <a:r>
              <a:rPr lang="ko-KR" altLang="en-US" sz="1600" b="1" dirty="0">
                <a:solidFill>
                  <a:schemeClr val="tx1"/>
                </a:solidFill>
              </a:rPr>
              <a:t>초기화된다</a:t>
            </a:r>
            <a:endParaRPr lang="ko-KR" altLang="en-US" sz="1600" dirty="0"/>
          </a:p>
        </p:txBody>
      </p:sp>
      <p:sp>
        <p:nvSpPr>
          <p:cNvPr id="15" name="Text 12"/>
          <p:cNvSpPr txBox="1"/>
          <p:nvPr/>
        </p:nvSpPr>
        <p:spPr>
          <a:xfrm>
            <a:off x="4551578" y="2697480"/>
            <a:ext cx="3088538" cy="1280160"/>
          </a:xfrm>
          <a:prstGeom prst="rect">
            <a:avLst/>
          </a:prstGeom>
          <a:noFill/>
          <a:ln/>
        </p:spPr>
        <p:txBody>
          <a:bodyPr wrap="square" lIns="0" tIns="0" rIns="0" bIns="0" rtlCol="0" anchor="t"/>
          <a:lstStyle/>
          <a:p>
            <a:pPr indent="0" marL="0" eaLnBrk="0">
              <a:buNone/>
            </a:pPr>
            <a:r>
              <a:rPr lang="ko-KR" altLang="en-US" sz="1400" dirty="0">
                <a:solidFill>
                  <a:schemeClr val="tx2"/>
                </a:solidFill>
              </a:rPr>
              <a:t>파일에서 읽은 설정처럼 실행한 뒤에야 아는 값을 쓸 수 있다. 다른 싱글턴에 기대어 초기화할 수도 있다.</a:t>
            </a:r>
            <a:endParaRPr lang="ko-KR" altLang="en-US" sz="1400" dirty="0"/>
          </a:p>
        </p:txBody>
      </p:sp>
      <p:sp>
        <p:nvSpPr>
          <p:cNvPr id="16" name="card"/>
          <p:cNvSpPr/>
          <p:nvPr/>
        </p:nvSpPr>
        <p:spPr>
          <a:xfrm>
            <a:off x="8097317" y="1691640"/>
            <a:ext cx="3545738" cy="2377440"/>
          </a:xfrm>
          <a:prstGeom prst="roundRect">
            <a:avLst>
              <a:gd name="adj" fmla="val 3846"/>
            </a:avLst>
          </a:prstGeom>
          <a:solidFill>
            <a:schemeClr val="bg2"/>
          </a:solidFill>
          <a:ln w="12700">
            <a:solidFill>
              <a:schemeClr val="bg2"/>
            </a:solidFill>
            <a:prstDash val="solid"/>
          </a:ln>
        </p:spPr>
      </p:sp>
      <p:sp>
        <p:nvSpPr>
          <p:cNvPr id="17" name="Shape 14"/>
          <p:cNvSpPr/>
          <p:nvPr/>
        </p:nvSpPr>
        <p:spPr>
          <a:xfrm>
            <a:off x="8325917" y="189280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8325917"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8874557" y="1828800"/>
            <a:ext cx="2585618" cy="731520"/>
          </a:xfrm>
          <a:prstGeom prst="rect">
            <a:avLst/>
          </a:prstGeom>
          <a:noFill/>
          <a:ln/>
        </p:spPr>
        <p:txBody>
          <a:bodyPr wrap="square" lIns="0" tIns="0" rIns="0" bIns="0" rtlCol="0" anchor="ctr"/>
          <a:lstStyle/>
          <a:p>
            <a:pPr indent="0" marL="0" eaLnBrk="0">
              <a:buNone/>
            </a:pPr>
            <a:r>
              <a:rPr lang="ko-KR" altLang="en-US" sz="1600" b="1" dirty="0">
                <a:solidFill>
                  <a:schemeClr val="tx1"/>
                </a:solidFill>
              </a:rPr>
              <a:t>상속할 수 있다</a:t>
            </a:r>
            <a:endParaRPr lang="ko-KR" altLang="en-US" sz="1600" dirty="0"/>
          </a:p>
        </p:txBody>
      </p:sp>
      <p:sp>
        <p:nvSpPr>
          <p:cNvPr id="20" name="Text 17"/>
          <p:cNvSpPr txBox="1"/>
          <p:nvPr/>
        </p:nvSpPr>
        <p:spPr>
          <a:xfrm>
            <a:off x="8325917" y="2697480"/>
            <a:ext cx="3088538" cy="1280160"/>
          </a:xfrm>
          <a:prstGeom prst="rect">
            <a:avLst/>
          </a:prstGeom>
          <a:noFill/>
          <a:ln/>
        </p:spPr>
        <p:txBody>
          <a:bodyPr wrap="square" lIns="0" tIns="0" rIns="0" bIns="0" rtlCol="0" anchor="t"/>
          <a:lstStyle/>
          <a:p>
            <a:pPr indent="0" marL="0" eaLnBrk="0">
              <a:buNone/>
            </a:pPr>
            <a:r>
              <a:rPr lang="ko-KR" altLang="en-US" sz="1400" dirty="0">
                <a:solidFill>
                  <a:schemeClr val="tx2"/>
                </a:solidFill>
              </a:rPr>
              <a:t>Instance가 돌려줄 객체를 하위 클래스로 바꿀 수 있다. 그 방법을 이어서 살펴본다.</a:t>
            </a:r>
            <a:endParaRPr lang="ko-KR" altLang="en-US" sz="1400" dirty="0"/>
          </a:p>
        </p:txBody>
      </p:sp>
      <p:sp>
        <p:nvSpPr>
          <p:cNvPr id="21" name="card"/>
          <p:cNvSpPr/>
          <p:nvPr/>
        </p:nvSpPr>
        <p:spPr>
          <a:xfrm>
            <a:off x="548640" y="4251960"/>
            <a:ext cx="11094415" cy="1463040"/>
          </a:xfrm>
          <a:prstGeom prst="roundRect">
            <a:avLst>
              <a:gd name="adj" fmla="val 6250"/>
            </a:avLst>
          </a:prstGeom>
          <a:solidFill>
            <a:schemeClr val="tx2"/>
          </a:solidFill>
          <a:ln w="12700">
            <a:solidFill>
              <a:schemeClr val="tx2"/>
            </a:solidFill>
            <a:prstDash val="solid"/>
          </a:ln>
        </p:spPr>
      </p:sp>
      <p:sp>
        <p:nvSpPr>
          <p:cNvPr id="22" name="Text 19"/>
          <p:cNvSpPr txBox="1"/>
          <p:nvPr/>
        </p:nvSpPr>
        <p:spPr>
          <a:xfrm>
            <a:off x="777240" y="447141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원서의 비교: 정적 멤버</a:t>
            </a:r>
            <a:endParaRPr lang="ko-KR" altLang="en-US" sz="1700" dirty="0"/>
          </a:p>
        </p:txBody>
      </p:sp>
      <p:sp>
        <p:nvSpPr>
          <p:cNvPr id="23" name="Text 20"/>
          <p:cNvSpPr txBox="1"/>
          <p:nvPr/>
        </p:nvSpPr>
        <p:spPr>
          <a:xfrm>
            <a:off x="777240" y="5029200"/>
            <a:ext cx="10637215" cy="548640"/>
          </a:xfrm>
          <a:prstGeom prst="rect">
            <a:avLst/>
          </a:prstGeom>
          <a:noFill/>
          <a:ln/>
        </p:spPr>
        <p:txBody>
          <a:bodyPr wrap="square" lIns="0" tIns="0" rIns="0" bIns="0" rtlCol="0" anchor="t"/>
          <a:lstStyle/>
          <a:p>
            <a:pPr indent="0" marL="0" eaLnBrk="0">
              <a:buNone/>
            </a:pPr>
            <a:r>
              <a:rPr lang="ko-KR" altLang="en-US" sz="1400" dirty="0">
                <a:solidFill>
                  <a:schemeClr val="bg1"/>
                </a:solidFill>
              </a:rPr>
              <a:t>C++의 정적 멤버는 main()보다 먼저, 순서를 보장받지 못한 채 초기화된다. 그래서 실행 중 정보를 쓸 수 없다. C#은 정적 필드를 늦어도 그 클래스를 처음 쓰기 전에 초기화하므로 이 차이가 C++보다 작다.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상속</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파일 시스템을 추상 클래스로 두고 플랫폼마다 구현한다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Instance는 어느 하위 클래스를 만들어야 할까?</a:t>
            </a:r>
            <a:endParaRPr lang="ko-KR" altLang="en-US" sz="1500" dirty="0"/>
          </a:p>
        </p:txBody>
      </p:sp>
      <p:sp>
        <p:nvSpPr>
          <p:cNvPr id="6" name="codePanel"/>
          <p:cNvSpPr/>
          <p:nvPr/>
        </p:nvSpPr>
        <p:spPr>
          <a:xfrm>
            <a:off x="548640" y="1600200"/>
            <a:ext cx="731520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7095744" cy="39319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abstract class FileSystem</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abstract string ReadFile(string path);</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public abstract void WriteFile(string path, string contents);</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PcFileSystem : FileSystem</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override string ReadFile(string path)</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PC의 파일 입출력 API를 쓴다...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override void WriteFile(string path, string contents)</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PC의 파일 입출력 API를 쓴다...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ConsoleFileSystem도 같은 모양으로, 콘솔의 API를 쓴다</a:t>
            </a:r>
            <a:endParaRPr lang="ko-KR" altLang="en-US" sz="1200" dirty="0"/>
          </a:p>
        </p:txBody>
      </p:sp>
      <p:sp>
        <p:nvSpPr>
          <p:cNvPr id="8" name="codeCaption"/>
          <p:cNvSpPr txBox="1"/>
          <p:nvPr/>
        </p:nvSpPr>
        <p:spPr>
          <a:xfrm>
            <a:off x="475488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box"/>
          <p:cNvSpPr/>
          <p:nvPr/>
        </p:nvSpPr>
        <p:spPr>
          <a:xfrm>
            <a:off x="8229600" y="1783080"/>
            <a:ext cx="3413455" cy="777240"/>
          </a:xfrm>
          <a:prstGeom prst="roundRect">
            <a:avLst>
              <a:gd name="adj" fmla="val 9412"/>
            </a:avLst>
          </a:prstGeom>
          <a:solidFill>
            <a:schemeClr val="accent1"/>
          </a:solidFill>
          <a:ln w="12700">
            <a:solidFill>
              <a:schemeClr val="accent1"/>
            </a:solidFill>
            <a:prstDash val="solid"/>
          </a:ln>
        </p:spPr>
      </p:sp>
      <p:sp>
        <p:nvSpPr>
          <p:cNvPr id="10" name="Text 7"/>
          <p:cNvSpPr txBox="1"/>
          <p:nvPr/>
        </p:nvSpPr>
        <p:spPr>
          <a:xfrm>
            <a:off x="8229600" y="1783080"/>
            <a:ext cx="3413455" cy="77724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FileSystem (추상)</a:t>
            </a:r>
            <a:endParaRPr lang="ko-KR" altLang="en-US" sz="1600" dirty="0"/>
          </a:p>
        </p:txBody>
      </p:sp>
      <p:sp>
        <p:nvSpPr>
          <p:cNvPr id="11" name="box"/>
          <p:cNvSpPr/>
          <p:nvPr/>
        </p:nvSpPr>
        <p:spPr>
          <a:xfrm>
            <a:off x="8229600" y="3246120"/>
            <a:ext cx="1569568" cy="777240"/>
          </a:xfrm>
          <a:prstGeom prst="roundRect">
            <a:avLst>
              <a:gd name="adj" fmla="val 9412"/>
            </a:avLst>
          </a:prstGeom>
          <a:solidFill>
            <a:schemeClr val="bg2"/>
          </a:solidFill>
          <a:ln w="12700">
            <a:solidFill>
              <a:schemeClr val="bg2"/>
            </a:solidFill>
            <a:prstDash val="solid"/>
          </a:ln>
        </p:spPr>
      </p:sp>
      <p:sp>
        <p:nvSpPr>
          <p:cNvPr id="12" name="Text 9"/>
          <p:cNvSpPr txBox="1"/>
          <p:nvPr/>
        </p:nvSpPr>
        <p:spPr>
          <a:xfrm>
            <a:off x="8229600" y="3246120"/>
            <a:ext cx="1569568" cy="77724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PcFileSystem</a:t>
            </a:r>
            <a:endParaRPr lang="ko-KR" altLang="en-US" sz="1300" dirty="0"/>
          </a:p>
        </p:txBody>
      </p:sp>
      <p:sp>
        <p:nvSpPr>
          <p:cNvPr id="13" name="box"/>
          <p:cNvSpPr/>
          <p:nvPr/>
        </p:nvSpPr>
        <p:spPr>
          <a:xfrm>
            <a:off x="10073488" y="3246120"/>
            <a:ext cx="1569568" cy="777240"/>
          </a:xfrm>
          <a:prstGeom prst="roundRect">
            <a:avLst>
              <a:gd name="adj" fmla="val 9412"/>
            </a:avLst>
          </a:prstGeom>
          <a:solidFill>
            <a:schemeClr val="bg2"/>
          </a:solidFill>
          <a:ln w="12700">
            <a:solidFill>
              <a:schemeClr val="bg2"/>
            </a:solidFill>
            <a:prstDash val="solid"/>
          </a:ln>
        </p:spPr>
      </p:sp>
      <p:sp>
        <p:nvSpPr>
          <p:cNvPr id="14" name="Text 11"/>
          <p:cNvSpPr txBox="1"/>
          <p:nvPr/>
        </p:nvSpPr>
        <p:spPr>
          <a:xfrm>
            <a:off x="10073488" y="3246120"/>
            <a:ext cx="1569568" cy="77724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ConsoleFileSystem</a:t>
            </a:r>
            <a:endParaRPr lang="ko-KR" altLang="en-US" sz="1300" dirty="0"/>
          </a:p>
        </p:txBody>
      </p:sp>
      <p:sp>
        <p:nvSpPr>
          <p:cNvPr id="15" name="Shape 12"/>
          <p:cNvSpPr/>
          <p:nvPr/>
        </p:nvSpPr>
        <p:spPr>
          <a:xfrm flipV="1">
            <a:off x="9014384" y="2560320"/>
            <a:ext cx="647624" cy="685800"/>
          </a:xfrm>
          <a:prstGeom prst="line">
            <a:avLst/>
          </a:prstGeom>
          <a:noFill/>
          <a:ln w="22225">
            <a:solidFill>
              <a:schemeClr val="accent3"/>
            </a:solidFill>
            <a:prstDash val="solid"/>
            <a:tailEnd type="triangle"/>
          </a:ln>
        </p:spPr>
      </p:sp>
      <p:sp>
        <p:nvSpPr>
          <p:cNvPr id="16" name="Shape 13"/>
          <p:cNvSpPr/>
          <p:nvPr/>
        </p:nvSpPr>
        <p:spPr>
          <a:xfrm flipH="1" flipV="1">
            <a:off x="10210648" y="2560320"/>
            <a:ext cx="647624" cy="685800"/>
          </a:xfrm>
          <a:prstGeom prst="line">
            <a:avLst/>
          </a:prstGeom>
          <a:noFill/>
          <a:ln w="22225">
            <a:solidFill>
              <a:schemeClr val="accent3"/>
            </a:solidFill>
            <a:prstDash val="solid"/>
            <a:tailEnd type="triangle"/>
          </a:ln>
        </p:spPr>
      </p:sp>
      <p:sp>
        <p:nvSpPr>
          <p:cNvPr id="17" name="Text 14"/>
          <p:cNvSpPr txBox="1"/>
          <p:nvPr/>
        </p:nvSpPr>
        <p:spPr>
          <a:xfrm>
            <a:off x="8229600" y="4343400"/>
            <a:ext cx="3413455" cy="914400"/>
          </a:xfrm>
          <a:prstGeom prst="rect">
            <a:avLst/>
          </a:prstGeom>
          <a:noFill/>
          <a:ln/>
        </p:spPr>
        <p:txBody>
          <a:bodyPr wrap="square" lIns="0" tIns="0" rIns="0" bIns="0" rtlCol="0" anchor="t"/>
          <a:lstStyle/>
          <a:p>
            <a:pPr indent="0" marL="0" eaLnBrk="0">
              <a:buNone/>
            </a:pPr>
            <a:r>
              <a:rPr lang="ko-KR" altLang="en-US" sz="1500" dirty="0">
                <a:solidFill>
                  <a:schemeClr val="tx2"/>
                </a:solidFill>
              </a:rPr>
              <a:t>읽기와 쓰기라는 약속은 같다.</a:t>
            </a:r>
            <a:endParaRPr lang="ko-KR" altLang="en-US" sz="1500" dirty="0"/>
          </a:p>
          <a:p>
            <a:pPr indent="0" marL="0" eaLnBrk="0">
              <a:buNone/>
            </a:pPr>
            <a:r>
              <a:rPr lang="ko-KR" altLang="en-US" sz="1500" dirty="0">
                <a:solidFill>
                  <a:schemeClr val="tx2"/>
                </a:solidFill>
              </a:rPr>
              <a:t>구현만 플랫폼마다 다르다.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하위 클래스 고르기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Instance가 플랫폼에 맞는 하위 클래스를 만든다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여기까지면 완벽해 보인다. 그런데 무엇을 후회하게 될까?</a:t>
            </a:r>
            <a:endParaRPr lang="ko-KR" altLang="en-US" sz="1500" dirty="0"/>
          </a:p>
        </p:txBody>
      </p:sp>
      <p:sp>
        <p:nvSpPr>
          <p:cNvPr id="6" name="codePanel"/>
          <p:cNvSpPr/>
          <p:nvPr/>
        </p:nvSpPr>
        <p:spPr>
          <a:xfrm>
            <a:off x="548640" y="1600200"/>
            <a:ext cx="694944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729984" cy="393192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abstract class FileSystem</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static FileSystem _instance;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static FileSystem Instance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get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if (_instance == null)</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#if PLATFORM_CONSOLE</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_instance = new ConsoleFileSystem();</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#else</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_instance = new PcFileSystem();</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#endif</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return _instance;</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protected FileSystem() {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abstract string ReadFile(string path);</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abstract void WriteFile(string path, string contents);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8" name="codeCaption"/>
          <p:cNvSpPr txBox="1"/>
          <p:nvPr/>
        </p:nvSpPr>
        <p:spPr>
          <a:xfrm>
            <a:off x="438912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863840" y="1600200"/>
            <a:ext cx="3779215" cy="1325880"/>
          </a:xfrm>
          <a:prstGeom prst="roundRect">
            <a:avLst>
              <a:gd name="adj" fmla="val 6897"/>
            </a:avLst>
          </a:prstGeom>
          <a:solidFill>
            <a:schemeClr val="bg2"/>
          </a:solidFill>
          <a:ln w="12700">
            <a:solidFill>
              <a:schemeClr val="bg2"/>
            </a:solidFill>
            <a:prstDash val="solid"/>
          </a:ln>
        </p:spPr>
      </p:sp>
      <p:sp>
        <p:nvSpPr>
          <p:cNvPr id="10" name="Text 7"/>
          <p:cNvSpPr txBox="1"/>
          <p:nvPr/>
        </p:nvSpPr>
        <p:spPr>
          <a:xfrm>
            <a:off x="8092440" y="18196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컴파일 기호 하나로</a:t>
            </a:r>
            <a:endParaRPr lang="ko-KR" altLang="en-US" sz="1700" dirty="0"/>
          </a:p>
        </p:txBody>
      </p:sp>
      <p:sp>
        <p:nvSpPr>
          <p:cNvPr id="11" name="Text 8"/>
          <p:cNvSpPr txBox="1"/>
          <p:nvPr/>
        </p:nvSpPr>
        <p:spPr>
          <a:xfrm>
            <a:off x="8092440" y="2286000"/>
            <a:ext cx="3322015"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PLATFORM_CONSOLE에 따라 만들 하위 클래스가 정해진다.</a:t>
            </a:r>
            <a:endParaRPr lang="ko-KR" altLang="en-US" sz="1400" dirty="0"/>
          </a:p>
        </p:txBody>
      </p:sp>
      <p:sp>
        <p:nvSpPr>
          <p:cNvPr id="12" name="card"/>
          <p:cNvSpPr/>
          <p:nvPr/>
        </p:nvSpPr>
        <p:spPr>
          <a:xfrm>
            <a:off x="7863840" y="3063240"/>
            <a:ext cx="3779215" cy="1325880"/>
          </a:xfrm>
          <a:prstGeom prst="roundRect">
            <a:avLst>
              <a:gd name="adj" fmla="val 6897"/>
            </a:avLst>
          </a:prstGeom>
          <a:solidFill>
            <a:schemeClr val="bg2"/>
          </a:solidFill>
          <a:ln w="12700">
            <a:solidFill>
              <a:schemeClr val="bg2"/>
            </a:solidFill>
            <a:prstDash val="solid"/>
          </a:ln>
        </p:spPr>
      </p:sp>
      <p:sp>
        <p:nvSpPr>
          <p:cNvPr id="13" name="Text 10"/>
          <p:cNvSpPr txBox="1"/>
          <p:nvPr/>
        </p:nvSpPr>
        <p:spPr>
          <a:xfrm>
            <a:off x="8092440" y="32826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나머지 코드</a:t>
            </a:r>
            <a:endParaRPr lang="ko-KR" altLang="en-US" sz="1700" dirty="0"/>
          </a:p>
        </p:txBody>
      </p:sp>
      <p:sp>
        <p:nvSpPr>
          <p:cNvPr id="14" name="Text 11"/>
          <p:cNvSpPr txBox="1"/>
          <p:nvPr/>
        </p:nvSpPr>
        <p:spPr>
          <a:xfrm>
            <a:off x="8092440" y="3749040"/>
            <a:ext cx="3322015"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FileSystem.Instance만 부른다. 플랫폼별 코드를 모른다.</a:t>
            </a:r>
            <a:endParaRPr lang="ko-KR" altLang="en-US" sz="1400" dirty="0"/>
          </a:p>
        </p:txBody>
      </p:sp>
      <p:sp>
        <p:nvSpPr>
          <p:cNvPr id="15" name="card"/>
          <p:cNvSpPr/>
          <p:nvPr/>
        </p:nvSpPr>
        <p:spPr>
          <a:xfrm>
            <a:off x="7863840" y="4526280"/>
            <a:ext cx="3779215" cy="1188720"/>
          </a:xfrm>
          <a:prstGeom prst="roundRect">
            <a:avLst>
              <a:gd name="adj" fmla="val 7692"/>
            </a:avLst>
          </a:prstGeom>
          <a:solidFill>
            <a:schemeClr val="bg2"/>
          </a:solidFill>
          <a:ln w="12700">
            <a:solidFill>
              <a:schemeClr val="bg2"/>
            </a:solidFill>
            <a:prstDash val="solid"/>
          </a:ln>
        </p:spPr>
      </p:sp>
      <p:sp>
        <p:nvSpPr>
          <p:cNvPr id="16" name="Text 13"/>
          <p:cNvSpPr txBox="1"/>
          <p:nvPr/>
        </p:nvSpPr>
        <p:spPr>
          <a:xfrm>
            <a:off x="8092440" y="474573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protected 생성자</a:t>
            </a:r>
            <a:endParaRPr lang="ko-KR" altLang="en-US" sz="1700" dirty="0"/>
          </a:p>
        </p:txBody>
      </p:sp>
      <p:sp>
        <p:nvSpPr>
          <p:cNvPr id="17" name="Text 14"/>
          <p:cNvSpPr txBox="1"/>
          <p:nvPr/>
        </p:nvSpPr>
        <p:spPr>
          <a:xfrm>
            <a:off x="8092440" y="5212080"/>
            <a:ext cx="3322015" cy="411480"/>
          </a:xfrm>
          <a:prstGeom prst="rect">
            <a:avLst/>
          </a:prstGeom>
          <a:noFill/>
          <a:ln/>
        </p:spPr>
        <p:txBody>
          <a:bodyPr wrap="square" lIns="0" tIns="0" rIns="0" bIns="0" rtlCol="0" anchor="t"/>
          <a:lstStyle/>
          <a:p>
            <a:pPr indent="0" marL="0" eaLnBrk="0">
              <a:buNone/>
            </a:pPr>
            <a:r>
              <a:rPr lang="ko-KR" altLang="en-US" sz="1400" dirty="0">
                <a:solidFill>
                  <a:schemeClr val="tx2"/>
                </a:solidFill>
              </a:rPr>
              <a:t>하위 클래스만 부를 수 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3부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왜 후회하는가</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싱글턴을 왜 후회하는가</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전역 변수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싱글턴은 전역 변수이고, 전역 변수의 문제를 그대로 가진다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결합을 부추긴다는 것은 실제로 어떤 모습일까?</a:t>
            </a:r>
            <a:endParaRPr lang="ko-KR" alt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743200"/>
                <a:gridCol w="6339535"/>
                <a:gridCol w="2011680"/>
              </a:tblGrid>
              <a:tr h="457200">
                <a:tc>
                  <a:txBody>
                    <a:bodyPr/>
                    <a:lstStyle/>
                    <a:p>
                      <a:pPr indent="0" marL="0" eaLnBrk="0">
                        <a:buNone/>
                      </a:pPr>
                      <a:r>
                        <a:rPr lang="ko-KR" altLang="en-US" sz="1400" b="1" dirty="0">
                          <a:solidFill>
                            <a:schemeClr val="bg1"/>
                          </a:solidFill>
                        </a:rPr>
                        <a:t>전역 변수의 문제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무슨 일이 생기나</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싱글턴이 풀어 주나</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777240">
                <a:tc>
                  <a:txBody>
                    <a:bodyPr/>
                    <a:lstStyle/>
                    <a:p>
                      <a:pPr indent="0" marL="0" eaLnBrk="0">
                        <a:buNone/>
                      </a:pPr>
                      <a:r>
                        <a:rPr lang="ko-KR" altLang="en-US" sz="1400" b="1" dirty="0">
                          <a:solidFill>
                            <a:schemeClr val="tx1"/>
                          </a:solidFill>
                        </a:rPr>
                        <a:t>코드를 이해하기 어렵다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함수 중간의 SomeClass.GetSomeGlobalData() 한 줄 때문에, 그 값을 바꾸는 곳을 코드 전체에서 찾아야 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아니다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40080">
                <a:tc>
                  <a:txBody>
                    <a:bodyPr/>
                    <a:lstStyle/>
                    <a:p>
                      <a:pPr indent="0" marL="0" eaLnBrk="0">
                        <a:buNone/>
                      </a:pPr>
                      <a:r>
                        <a:rPr lang="ko-KR" altLang="en-US" sz="1400" b="1" dirty="0">
                          <a:solidFill>
                            <a:schemeClr val="tx1"/>
                          </a:solidFill>
                        </a:rPr>
                        <a:t>결합을 부추긴다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전역으로 보이는 객체는 상관없는 모듈에서도 바로 꺼내 쓸 수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아니다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40080">
                <a:tc>
                  <a:txBody>
                    <a:bodyPr/>
                    <a:lstStyle/>
                    <a:p>
                      <a:pPr indent="0" marL="0" eaLnBrk="0">
                        <a:buNone/>
                      </a:pPr>
                      <a:r>
                        <a:rPr lang="ko-KR" altLang="en-US" sz="1400" b="1" dirty="0">
                          <a:solidFill>
                            <a:schemeClr val="tx1"/>
                          </a:solidFill>
                        </a:rPr>
                        <a:t>동시성에 약하다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모든 스레드가 같은 메모리를 보고 고친다. 경쟁 상태와 교착 상태가 생긴다.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아니다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box"/>
          <p:cNvSpPr/>
          <p:nvPr/>
        </p:nvSpPr>
        <p:spPr>
          <a:xfrm>
            <a:off x="548640" y="4572000"/>
            <a:ext cx="11094415" cy="1005840"/>
          </a:xfrm>
          <a:prstGeom prst="roundRect">
            <a:avLst>
              <a:gd name="adj" fmla="val 7273"/>
            </a:avLst>
          </a:prstGeom>
          <a:solidFill>
            <a:schemeClr val="tx2"/>
          </a:solidFill>
          <a:ln w="12700">
            <a:solidFill>
              <a:schemeClr val="tx2"/>
            </a:solidFill>
            <a:prstDash val="solid"/>
          </a:ln>
        </p:spPr>
      </p:sp>
      <p:sp>
        <p:nvSpPr>
          <p:cNvPr id="8" name="Text 4"/>
          <p:cNvSpPr txBox="1"/>
          <p:nvPr/>
        </p:nvSpPr>
        <p:spPr>
          <a:xfrm>
            <a:off x="548640" y="4572000"/>
            <a:ext cx="11094415" cy="100584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싱글턴은 전역 상태를 클래스 안에 감싼 것일 뿐이다. 패턴 책에 실려 있다고 해서 구조가 건전해지지는 않는다.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결합</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전역으로 보이는 오디오 플레이어는 물리 코드까지 끌어들인다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그런데 우리가 싱글턴을 고르는 진짜 이유는 무엇일까?</a:t>
            </a:r>
            <a:endParaRPr lang="ko-KR" altLang="en-US" sz="1500" dirty="0"/>
          </a:p>
        </p:txBody>
      </p:sp>
      <p:sp>
        <p:nvSpPr>
          <p:cNvPr id="6" name="Text 3"/>
          <p:cNvSpPr txBox="1"/>
          <p:nvPr/>
        </p:nvSpPr>
        <p:spPr>
          <a:xfrm>
            <a:off x="548640" y="1645920"/>
            <a:ext cx="6400800" cy="365760"/>
          </a:xfrm>
          <a:prstGeom prst="rect">
            <a:avLst/>
          </a:prstGeom>
          <a:noFill/>
          <a:ln/>
        </p:spPr>
        <p:txBody>
          <a:bodyPr wrap="square" lIns="0" tIns="0" rIns="0" bIns="0" rtlCol="0" anchor="t"/>
          <a:lstStyle/>
          <a:p>
            <a:pPr indent="0" marL="0" eaLnBrk="0">
              <a:buNone/>
            </a:pPr>
            <a:r>
              <a:rPr lang="ko-KR" altLang="en-US" sz="1600" b="1" dirty="0">
                <a:solidFill>
                  <a:schemeClr val="accent6"/>
                </a:solidFill>
              </a:rPr>
              <a:t>전역 인스턴스가 있으면</a:t>
            </a:r>
            <a:endParaRPr lang="ko-KR" altLang="en-US" sz="1600" dirty="0"/>
          </a:p>
        </p:txBody>
      </p:sp>
      <p:sp>
        <p:nvSpPr>
          <p:cNvPr id="7" name="box"/>
          <p:cNvSpPr/>
          <p:nvPr/>
        </p:nvSpPr>
        <p:spPr>
          <a:xfrm>
            <a:off x="548640" y="2103120"/>
            <a:ext cx="2468880" cy="914400"/>
          </a:xfrm>
          <a:prstGeom prst="roundRect">
            <a:avLst>
              <a:gd name="adj" fmla="val 8000"/>
            </a:avLst>
          </a:prstGeom>
          <a:solidFill>
            <a:schemeClr val="bg2"/>
          </a:solidFill>
          <a:ln w="12700">
            <a:solidFill>
              <a:schemeClr val="bg2"/>
            </a:solidFill>
            <a:prstDash val="solid"/>
          </a:ln>
        </p:spPr>
      </p:sp>
      <p:sp>
        <p:nvSpPr>
          <p:cNvPr id="8" name="Text 5"/>
          <p:cNvSpPr txBox="1"/>
          <p:nvPr/>
        </p:nvSpPr>
        <p:spPr>
          <a:xfrm>
            <a:off x="548640" y="2103120"/>
            <a:ext cx="2468880" cy="9144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물리 모듈</a:t>
            </a:r>
            <a:endParaRPr lang="ko-KR" altLang="en-US" sz="1400" dirty="0"/>
          </a:p>
          <a:p>
            <a:pPr algn="ctr" indent="0" marL="0" eaLnBrk="0">
              <a:buNone/>
            </a:pPr>
            <a:r>
              <a:rPr lang="ko-KR" altLang="en-US" sz="1400" b="1" dirty="0">
                <a:solidFill>
                  <a:schemeClr val="tx1"/>
                </a:solidFill>
              </a:rPr>
              <a:t>바위가 땅에 부딪힘</a:t>
            </a:r>
            <a:endParaRPr lang="ko-KR" altLang="en-US" sz="1400" dirty="0"/>
          </a:p>
        </p:txBody>
      </p:sp>
      <p:sp>
        <p:nvSpPr>
          <p:cNvPr id="9" name="box"/>
          <p:cNvSpPr/>
          <p:nvPr/>
        </p:nvSpPr>
        <p:spPr>
          <a:xfrm>
            <a:off x="4754880" y="2103120"/>
            <a:ext cx="2468880" cy="914400"/>
          </a:xfrm>
          <a:prstGeom prst="roundRect">
            <a:avLst>
              <a:gd name="adj" fmla="val 8000"/>
            </a:avLst>
          </a:prstGeom>
          <a:solidFill>
            <a:schemeClr val="bg2"/>
          </a:solidFill>
          <a:ln w="12700">
            <a:solidFill>
              <a:schemeClr val="bg2"/>
            </a:solidFill>
            <a:prstDash val="solid"/>
          </a:ln>
        </p:spPr>
      </p:sp>
      <p:sp>
        <p:nvSpPr>
          <p:cNvPr id="10" name="Text 7"/>
          <p:cNvSpPr txBox="1"/>
          <p:nvPr/>
        </p:nvSpPr>
        <p:spPr>
          <a:xfrm>
            <a:off x="4754880" y="2103120"/>
            <a:ext cx="2468880" cy="9144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오디오 모듈</a:t>
            </a:r>
            <a:endParaRPr lang="ko-KR" altLang="en-US" sz="1400" dirty="0"/>
          </a:p>
          <a:p>
            <a:pPr algn="ctr" indent="0" marL="0" eaLnBrk="0">
              <a:buNone/>
            </a:pPr>
            <a:r>
              <a:rPr lang="ko-KR" altLang="en-US" sz="1400" b="1" dirty="0">
                <a:solidFill>
                  <a:schemeClr val="tx1"/>
                </a:solidFill>
              </a:rPr>
              <a:t>AudioPlayer</a:t>
            </a:r>
            <a:endParaRPr lang="ko-KR" altLang="en-US" sz="1400" dirty="0"/>
          </a:p>
        </p:txBody>
      </p:sp>
      <p:sp>
        <p:nvSpPr>
          <p:cNvPr id="11" name="Shape 8"/>
          <p:cNvSpPr/>
          <p:nvPr/>
        </p:nvSpPr>
        <p:spPr>
          <a:xfrm>
            <a:off x="3063240" y="2560320"/>
            <a:ext cx="1645920" cy="914"/>
          </a:xfrm>
          <a:prstGeom prst="line">
            <a:avLst/>
          </a:prstGeom>
          <a:noFill/>
          <a:ln w="28575">
            <a:solidFill>
              <a:schemeClr val="accent6"/>
            </a:solidFill>
            <a:prstDash val="solid"/>
            <a:tailEnd type="triangle"/>
          </a:ln>
        </p:spPr>
      </p:sp>
      <p:sp>
        <p:nvSpPr>
          <p:cNvPr id="12" name="Text 9"/>
          <p:cNvSpPr txBox="1"/>
          <p:nvPr/>
        </p:nvSpPr>
        <p:spPr>
          <a:xfrm>
            <a:off x="3017520" y="2651760"/>
            <a:ext cx="1737360" cy="320040"/>
          </a:xfrm>
          <a:prstGeom prst="rect">
            <a:avLst/>
          </a:prstGeom>
          <a:noFill/>
          <a:ln/>
        </p:spPr>
        <p:txBody>
          <a:bodyPr wrap="square" lIns="0" tIns="0" rIns="0" bIns="0" rtlCol="0" anchor="t"/>
          <a:lstStyle/>
          <a:p>
            <a:pPr algn="ctr" indent="0" marL="0" eaLnBrk="0">
              <a:buNone/>
            </a:pPr>
            <a:r>
              <a:rPr lang="ko-KR" altLang="en-US" sz="1100" dirty="0">
                <a:solidFill>
                  <a:schemeClr val="accent6"/>
                </a:solidFill>
              </a:rPr>
              <a:t>Instance로 바로 닿는다</a:t>
            </a:r>
            <a:endParaRPr lang="ko-KR" altLang="en-US" sz="1100" dirty="0"/>
          </a:p>
        </p:txBody>
      </p:sp>
      <p:sp>
        <p:nvSpPr>
          <p:cNvPr id="13" name="Text 10"/>
          <p:cNvSpPr txBox="1"/>
          <p:nvPr/>
        </p:nvSpPr>
        <p:spPr>
          <a:xfrm>
            <a:off x="548640" y="3337560"/>
            <a:ext cx="6400800" cy="365760"/>
          </a:xfrm>
          <a:prstGeom prst="rect">
            <a:avLst/>
          </a:prstGeom>
          <a:noFill/>
          <a:ln/>
        </p:spPr>
        <p:txBody>
          <a:bodyPr wrap="square" lIns="0" tIns="0" rIns="0" bIns="0" rtlCol="0" anchor="t"/>
          <a:lstStyle/>
          <a:p>
            <a:pPr indent="0" marL="0" eaLnBrk="0">
              <a:buNone/>
            </a:pPr>
            <a:r>
              <a:rPr lang="ko-KR" altLang="en-US" sz="1600" b="1" dirty="0">
                <a:solidFill>
                  <a:schemeClr val="accent2"/>
                </a:solidFill>
              </a:rPr>
              <a:t>전역 인스턴스가 없으면</a:t>
            </a:r>
            <a:endParaRPr lang="ko-KR" altLang="en-US" sz="1600" dirty="0"/>
          </a:p>
        </p:txBody>
      </p:sp>
      <p:sp>
        <p:nvSpPr>
          <p:cNvPr id="14" name="box"/>
          <p:cNvSpPr/>
          <p:nvPr/>
        </p:nvSpPr>
        <p:spPr>
          <a:xfrm>
            <a:off x="548640" y="3794760"/>
            <a:ext cx="2468880" cy="914400"/>
          </a:xfrm>
          <a:prstGeom prst="roundRect">
            <a:avLst>
              <a:gd name="adj" fmla="val 8000"/>
            </a:avLst>
          </a:prstGeom>
          <a:solidFill>
            <a:schemeClr val="bg2"/>
          </a:solidFill>
          <a:ln w="12700">
            <a:solidFill>
              <a:schemeClr val="bg2"/>
            </a:solidFill>
            <a:prstDash val="solid"/>
          </a:ln>
        </p:spPr>
      </p:sp>
      <p:sp>
        <p:nvSpPr>
          <p:cNvPr id="15" name="Text 12"/>
          <p:cNvSpPr txBox="1"/>
          <p:nvPr/>
        </p:nvSpPr>
        <p:spPr>
          <a:xfrm>
            <a:off x="548640" y="3794760"/>
            <a:ext cx="2468880" cy="9144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물리 모듈</a:t>
            </a:r>
            <a:endParaRPr lang="ko-KR" altLang="en-US" sz="1400" dirty="0"/>
          </a:p>
          <a:p>
            <a:pPr algn="ctr" indent="0" marL="0" eaLnBrk="0">
              <a:buNone/>
            </a:pPr>
            <a:r>
              <a:rPr lang="ko-KR" altLang="en-US" sz="1400" b="1" dirty="0">
                <a:solidFill>
                  <a:schemeClr val="tx1"/>
                </a:solidFill>
              </a:rPr>
              <a:t>바위가 땅에 부딪힘</a:t>
            </a:r>
            <a:endParaRPr lang="ko-KR" altLang="en-US" sz="1400" dirty="0"/>
          </a:p>
        </p:txBody>
      </p:sp>
      <p:sp>
        <p:nvSpPr>
          <p:cNvPr id="16" name="box"/>
          <p:cNvSpPr/>
          <p:nvPr/>
        </p:nvSpPr>
        <p:spPr>
          <a:xfrm>
            <a:off x="4754880" y="3794760"/>
            <a:ext cx="2468880" cy="914400"/>
          </a:xfrm>
          <a:prstGeom prst="roundRect">
            <a:avLst>
              <a:gd name="adj" fmla="val 8000"/>
            </a:avLst>
          </a:prstGeom>
          <a:solidFill>
            <a:schemeClr val="bg2"/>
          </a:solidFill>
          <a:ln w="12700">
            <a:solidFill>
              <a:schemeClr val="bg2"/>
            </a:solidFill>
            <a:prstDash val="solid"/>
          </a:ln>
        </p:spPr>
      </p:sp>
      <p:sp>
        <p:nvSpPr>
          <p:cNvPr id="17" name="Text 14"/>
          <p:cNvSpPr txBox="1"/>
          <p:nvPr/>
        </p:nvSpPr>
        <p:spPr>
          <a:xfrm>
            <a:off x="4754880" y="3794760"/>
            <a:ext cx="2468880" cy="9144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오디오 모듈</a:t>
            </a:r>
            <a:endParaRPr lang="ko-KR" altLang="en-US" sz="1400" dirty="0"/>
          </a:p>
          <a:p>
            <a:pPr algn="ctr" indent="0" marL="0" eaLnBrk="0">
              <a:buNone/>
            </a:pPr>
            <a:r>
              <a:rPr lang="ko-KR" altLang="en-US" sz="1400" b="1" dirty="0">
                <a:solidFill>
                  <a:schemeClr val="tx1"/>
                </a:solidFill>
              </a:rPr>
              <a:t>AudioPlayer</a:t>
            </a:r>
            <a:endParaRPr lang="ko-KR" altLang="en-US" sz="1400" dirty="0"/>
          </a:p>
        </p:txBody>
      </p:sp>
      <p:sp>
        <p:nvSpPr>
          <p:cNvPr id="18" name="Shape 15"/>
          <p:cNvSpPr/>
          <p:nvPr/>
        </p:nvSpPr>
        <p:spPr>
          <a:xfrm>
            <a:off x="3063240" y="4251960"/>
            <a:ext cx="1645920" cy="914"/>
          </a:xfrm>
          <a:prstGeom prst="line">
            <a:avLst/>
          </a:prstGeom>
          <a:noFill/>
          <a:ln w="22225">
            <a:solidFill>
              <a:schemeClr val="accent3"/>
            </a:solidFill>
            <a:prstDash val="dash"/>
          </a:ln>
        </p:spPr>
      </p:sp>
      <p:sp>
        <p:nvSpPr>
          <p:cNvPr id="19" name="Text 16"/>
          <p:cNvSpPr txBox="1"/>
          <p:nvPr/>
        </p:nvSpPr>
        <p:spPr>
          <a:xfrm>
            <a:off x="3017520" y="4343400"/>
            <a:ext cx="1737360" cy="320040"/>
          </a:xfrm>
          <a:prstGeom prst="rect">
            <a:avLst/>
          </a:prstGeom>
          <a:noFill/>
          <a:ln/>
        </p:spPr>
        <p:txBody>
          <a:bodyPr wrap="square" lIns="0" tIns="0" rIns="0" bIns="0" rtlCol="0" anchor="t"/>
          <a:lstStyle/>
          <a:p>
            <a:pPr algn="ctr" indent="0" marL="0" eaLnBrk="0">
              <a:buNone/>
            </a:pPr>
            <a:r>
              <a:rPr lang="ko-KR" altLang="en-US" sz="1100" dirty="0">
                <a:solidFill>
                  <a:schemeClr val="accent5"/>
                </a:solidFill>
              </a:rPr>
              <a:t>얻을 길이 없다</a:t>
            </a:r>
            <a:endParaRPr lang="ko-KR" altLang="en-US" sz="1100" dirty="0"/>
          </a:p>
        </p:txBody>
      </p:sp>
      <p:sp>
        <p:nvSpPr>
          <p:cNvPr id="20" name="Text 17"/>
          <p:cNvSpPr txBox="1"/>
          <p:nvPr/>
        </p:nvSpPr>
        <p:spPr>
          <a:xfrm>
            <a:off x="548640" y="5074920"/>
            <a:ext cx="6766560" cy="457200"/>
          </a:xfrm>
          <a:prstGeom prst="rect">
            <a:avLst/>
          </a:prstGeom>
          <a:noFill/>
          <a:ln/>
        </p:spPr>
        <p:txBody>
          <a:bodyPr wrap="square" lIns="0" tIns="0" rIns="0" bIns="0" rtlCol="0" anchor="t"/>
          <a:lstStyle/>
          <a:p>
            <a:pPr indent="0" marL="0" eaLnBrk="0">
              <a:buNone/>
            </a:pPr>
            <a:r>
              <a:rPr lang="ko-KR" altLang="en-US" sz="1600" b="1" dirty="0">
                <a:solidFill>
                  <a:schemeClr val="accent1"/>
                </a:solidFill>
              </a:rPr>
              <a:t>인스턴스에 닿는 길을 통제하면 결합을 통제할 수 있다.</a:t>
            </a:r>
            <a:endParaRPr lang="ko-KR" altLang="en-US" sz="1600" dirty="0"/>
          </a:p>
        </p:txBody>
      </p:sp>
      <p:sp>
        <p:nvSpPr>
          <p:cNvPr id="21" name="card"/>
          <p:cNvSpPr/>
          <p:nvPr/>
        </p:nvSpPr>
        <p:spPr>
          <a:xfrm>
            <a:off x="7680960" y="1645920"/>
            <a:ext cx="3962095" cy="1874520"/>
          </a:xfrm>
          <a:prstGeom prst="roundRect">
            <a:avLst>
              <a:gd name="adj" fmla="val 4878"/>
            </a:avLst>
          </a:prstGeom>
          <a:solidFill>
            <a:schemeClr val="bg2"/>
          </a:solidFill>
          <a:ln w="12700">
            <a:solidFill>
              <a:schemeClr val="bg2"/>
            </a:solidFill>
            <a:prstDash val="solid"/>
          </a:ln>
        </p:spPr>
      </p:sp>
      <p:sp>
        <p:nvSpPr>
          <p:cNvPr id="22" name="Text 19"/>
          <p:cNvSpPr txBox="1"/>
          <p:nvPr/>
        </p:nvSpPr>
        <p:spPr>
          <a:xfrm>
            <a:off x="7909560" y="186537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새 동료의 첫 과제</a:t>
            </a:r>
            <a:endParaRPr lang="ko-KR" altLang="en-US" sz="1700" dirty="0"/>
          </a:p>
        </p:txBody>
      </p:sp>
      <p:sp>
        <p:nvSpPr>
          <p:cNvPr id="23" name="Text 20"/>
          <p:cNvSpPr txBox="1"/>
          <p:nvPr/>
        </p:nvSpPr>
        <p:spPr>
          <a:xfrm>
            <a:off x="7909560" y="2331720"/>
            <a:ext cx="350489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바위가 땅에 떨어질 때 소리가 나게 한다. 설계를 잘 모르는 채로 과제를 끝내려 한다.</a:t>
            </a:r>
            <a:endParaRPr lang="ko-KR" altLang="en-US" sz="1400" dirty="0"/>
          </a:p>
        </p:txBody>
      </p:sp>
      <p:sp>
        <p:nvSpPr>
          <p:cNvPr id="24" name="card"/>
          <p:cNvSpPr/>
          <p:nvPr/>
        </p:nvSpPr>
        <p:spPr>
          <a:xfrm>
            <a:off x="7680960" y="3657600"/>
            <a:ext cx="3962095" cy="1920240"/>
          </a:xfrm>
          <a:prstGeom prst="roundRect">
            <a:avLst>
              <a:gd name="adj" fmla="val 4762"/>
            </a:avLst>
          </a:prstGeom>
          <a:solidFill>
            <a:schemeClr val="bg2"/>
          </a:solidFill>
          <a:ln w="12700">
            <a:solidFill>
              <a:schemeClr val="bg2"/>
            </a:solidFill>
            <a:prstDash val="solid"/>
          </a:ln>
        </p:spPr>
      </p:sp>
      <p:sp>
        <p:nvSpPr>
          <p:cNvPr id="25" name="Text 22"/>
          <p:cNvSpPr txBox="1"/>
          <p:nvPr/>
        </p:nvSpPr>
        <p:spPr>
          <a:xfrm>
            <a:off x="7909560" y="387705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전역이 없을 때의 신호</a:t>
            </a:r>
            <a:endParaRPr lang="ko-KR" altLang="en-US" sz="1700" dirty="0"/>
          </a:p>
        </p:txBody>
      </p:sp>
      <p:sp>
        <p:nvSpPr>
          <p:cNvPr id="26" name="Text 23"/>
          <p:cNvSpPr txBox="1"/>
          <p:nvPr/>
        </p:nvSpPr>
        <p:spPr>
          <a:xfrm>
            <a:off x="7909560" y="4343400"/>
            <a:ext cx="3504895"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인스턴스를 얻기 어렵다는 것 자체가 두 모듈은 서로 몰라야 한다는 메시지가 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두 문제를 한 번에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‘하나만’과 ‘전역 접근’은 서로 다른 문제다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로그가 하나뿐이어서 문제가 되는 때는 언제일까?</a:t>
            </a:r>
            <a:endParaRPr lang="ko-KR" altLang="en-US" sz="1500" dirty="0"/>
          </a:p>
        </p:txBody>
      </p:sp>
      <p:sp>
        <p:nvSpPr>
          <p:cNvPr id="6" name="card"/>
          <p:cNvSpPr/>
          <p:nvPr/>
        </p:nvSpPr>
        <p:spPr>
          <a:xfrm>
            <a:off x="548640" y="1691640"/>
            <a:ext cx="5364328" cy="1600200"/>
          </a:xfrm>
          <a:prstGeom prst="roundRect">
            <a:avLst>
              <a:gd name="adj" fmla="val 5714"/>
            </a:avLst>
          </a:prstGeom>
          <a:solidFill>
            <a:schemeClr val="bg2"/>
          </a:solidFill>
          <a:ln w="12700">
            <a:solidFill>
              <a:schemeClr val="bg2"/>
            </a:solidFill>
            <a:prstDash val="solid"/>
          </a:ln>
        </p:spPr>
      </p:sp>
      <p:sp>
        <p:nvSpPr>
          <p:cNvPr id="7" name="Text 4"/>
          <p:cNvSpPr txBox="1"/>
          <p:nvPr/>
        </p:nvSpPr>
        <p:spPr>
          <a:xfrm>
            <a:off x="777240" y="1911096"/>
            <a:ext cx="495284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인스턴스 하나만 보장</a:t>
            </a:r>
            <a:endParaRPr lang="ko-KR" altLang="en-US" sz="1700" dirty="0"/>
          </a:p>
        </p:txBody>
      </p:sp>
      <p:sp>
        <p:nvSpPr>
          <p:cNvPr id="8" name="Text 5"/>
          <p:cNvSpPr txBox="1"/>
          <p:nvPr/>
        </p:nvSpPr>
        <p:spPr>
          <a:xfrm>
            <a:off x="777240" y="2377440"/>
            <a:ext cx="4907128" cy="822960"/>
          </a:xfrm>
          <a:prstGeom prst="rect">
            <a:avLst/>
          </a:prstGeom>
          <a:noFill/>
          <a:ln/>
        </p:spPr>
        <p:txBody>
          <a:bodyPr wrap="square" lIns="0" tIns="0" rIns="0" bIns="0" rtlCol="0" anchor="t"/>
          <a:lstStyle/>
          <a:p>
            <a:pPr indent="0" marL="0" eaLnBrk="0">
              <a:buNone/>
            </a:pPr>
            <a:r>
              <a:rPr lang="ko-KR" altLang="en-US" sz="1400" dirty="0">
                <a:solidFill>
                  <a:schemeClr val="tx2"/>
                </a:solidFill>
              </a:rPr>
              <a:t>유용하다. 그러나 모두가 그 인스턴스를 만질 수 있어야 한다는 뜻은 아니다.</a:t>
            </a:r>
            <a:endParaRPr lang="ko-KR" altLang="en-US" sz="1400" dirty="0"/>
          </a:p>
        </p:txBody>
      </p:sp>
      <p:sp>
        <p:nvSpPr>
          <p:cNvPr id="9" name="card"/>
          <p:cNvSpPr/>
          <p:nvPr/>
        </p:nvSpPr>
        <p:spPr>
          <a:xfrm>
            <a:off x="6278728" y="1691640"/>
            <a:ext cx="5364328" cy="1600200"/>
          </a:xfrm>
          <a:prstGeom prst="roundRect">
            <a:avLst>
              <a:gd name="adj" fmla="val 5714"/>
            </a:avLst>
          </a:prstGeom>
          <a:solidFill>
            <a:schemeClr val="bg2"/>
          </a:solidFill>
          <a:ln w="12700">
            <a:solidFill>
              <a:schemeClr val="bg2"/>
            </a:solidFill>
            <a:prstDash val="solid"/>
          </a:ln>
        </p:spPr>
      </p:sp>
      <p:sp>
        <p:nvSpPr>
          <p:cNvPr id="10" name="Text 7"/>
          <p:cNvSpPr txBox="1"/>
          <p:nvPr/>
        </p:nvSpPr>
        <p:spPr>
          <a:xfrm>
            <a:off x="6507328" y="1911096"/>
            <a:ext cx="495284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전역 접근</a:t>
            </a:r>
            <a:endParaRPr lang="ko-KR" altLang="en-US" sz="1700" dirty="0"/>
          </a:p>
        </p:txBody>
      </p:sp>
      <p:sp>
        <p:nvSpPr>
          <p:cNvPr id="11" name="Text 8"/>
          <p:cNvSpPr txBox="1"/>
          <p:nvPr/>
        </p:nvSpPr>
        <p:spPr>
          <a:xfrm>
            <a:off x="6507328" y="2377440"/>
            <a:ext cx="4907128" cy="822960"/>
          </a:xfrm>
          <a:prstGeom prst="rect">
            <a:avLst/>
          </a:prstGeom>
          <a:noFill/>
          <a:ln/>
        </p:spPr>
        <p:txBody>
          <a:bodyPr wrap="square" lIns="0" tIns="0" rIns="0" bIns="0" rtlCol="0" anchor="t"/>
          <a:lstStyle/>
          <a:p>
            <a:pPr indent="0" marL="0" eaLnBrk="0">
              <a:buNone/>
            </a:pPr>
            <a:r>
              <a:rPr lang="ko-KR" altLang="en-US" sz="1400" dirty="0">
                <a:solidFill>
                  <a:schemeClr val="tx2"/>
                </a:solidFill>
              </a:rPr>
              <a:t>편하다. 그러나 그 편리함은 인스턴스가 여러 개인 클래스에도 똑같이 쓸모 있다.</a:t>
            </a:r>
            <a:endParaRPr lang="ko-KR" altLang="en-US" sz="1400" dirty="0"/>
          </a:p>
        </p:txBody>
      </p:sp>
      <p:sp>
        <p:nvSpPr>
          <p:cNvPr id="12" name="Text 9"/>
          <p:cNvSpPr txBox="1"/>
          <p:nvPr/>
        </p:nvSpPr>
        <p:spPr>
          <a:xfrm>
            <a:off x="548640" y="3520440"/>
            <a:ext cx="11094415" cy="411480"/>
          </a:xfrm>
          <a:prstGeom prst="rect">
            <a:avLst/>
          </a:prstGeom>
          <a:noFill/>
          <a:ln/>
        </p:spPr>
        <p:txBody>
          <a:bodyPr wrap="square" lIns="0" tIns="0" rIns="0" bIns="0" rtlCol="0" anchor="t"/>
          <a:lstStyle/>
          <a:p>
            <a:pPr indent="0" marL="0" eaLnBrk="0">
              <a:buNone/>
            </a:pPr>
            <a:r>
              <a:rPr lang="ko-KR" altLang="en-US" sz="1700" b="1" dirty="0">
                <a:solidFill>
                  <a:schemeClr val="tx1"/>
                </a:solidFill>
              </a:rPr>
              <a:t>싱글턴을 고르는 이유는 대부분 편한 접근이다. 예: 로그</a:t>
            </a:r>
            <a:endParaRPr lang="ko-KR" altLang="en-US" sz="1700" dirty="0"/>
          </a:p>
        </p:txBody>
      </p:sp>
      <p:sp>
        <p:nvSpPr>
          <p:cNvPr id="13" name="codePanel"/>
          <p:cNvSpPr/>
          <p:nvPr/>
        </p:nvSpPr>
        <p:spPr>
          <a:xfrm>
            <a:off x="548640" y="4023360"/>
            <a:ext cx="6400800" cy="868680"/>
          </a:xfrm>
          <a:prstGeom prst="roundRect">
            <a:avLst>
              <a:gd name="adj" fmla="val 8421"/>
            </a:avLst>
          </a:prstGeom>
          <a:solidFill>
            <a:schemeClr val="tx1"/>
          </a:solidFill>
          <a:ln w="12700">
            <a:solidFill>
              <a:schemeClr val="tx1"/>
            </a:solidFill>
            <a:prstDash val="solid"/>
          </a:ln>
        </p:spPr>
      </p:sp>
      <p:sp>
        <p:nvSpPr>
          <p:cNvPr id="14" name="code"/>
          <p:cNvSpPr txBox="1"/>
          <p:nvPr/>
        </p:nvSpPr>
        <p:spPr>
          <a:xfrm>
            <a:off x="658368" y="4114800"/>
            <a:ext cx="6181344" cy="685800"/>
          </a:xfrm>
          <a:prstGeom prst="rect">
            <a:avLst/>
          </a:prstGeom>
          <a:noFill/>
          <a:ln/>
        </p:spPr>
        <p:txBody>
          <a:bodyPr wrap="square" lIns="635" tIns="635" rIns="635" bIns="635" rtlCol="0" anchor="t"/>
          <a:lstStyle/>
          <a:p>
            <a:pPr indent="0" marL="0" eaLnBrk="0">
              <a:buNone/>
            </a:pPr>
            <a:r>
              <a:rPr lang="ko-KR" altLang="en-US" sz="1400" dirty="0">
                <a:solidFill>
                  <a:schemeClr val="accent3"/>
                </a:solidFill>
                <a:latin typeface="Consolas" pitchFamily="34" charset="0"/>
                <a:ea typeface="Consolas" pitchFamily="34" charset="-122"/>
                <a:cs typeface="Consolas" pitchFamily="34" charset="-120"/>
              </a:rPr>
              <a:t>// 어느 함수에서든</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Log.Instance.Write("어떤 일이 일어났다.");</a:t>
            </a:r>
            <a:endParaRPr lang="ko-KR" altLang="en-US" sz="1400" dirty="0"/>
          </a:p>
        </p:txBody>
      </p:sp>
      <p:sp>
        <p:nvSpPr>
          <p:cNvPr id="15" name="codeCaption"/>
          <p:cNvSpPr txBox="1"/>
          <p:nvPr/>
        </p:nvSpPr>
        <p:spPr>
          <a:xfrm>
            <a:off x="3840480" y="411480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16" name="Text 13"/>
          <p:cNvSpPr txBox="1"/>
          <p:nvPr/>
        </p:nvSpPr>
        <p:spPr>
          <a:xfrm>
            <a:off x="548640" y="5029200"/>
            <a:ext cx="6400800" cy="640080"/>
          </a:xfrm>
          <a:prstGeom prst="rect">
            <a:avLst/>
          </a:prstGeom>
          <a:noFill/>
          <a:ln/>
        </p:spPr>
        <p:txBody>
          <a:bodyPr wrap="square" lIns="0" tIns="0" rIns="0" bIns="0" rtlCol="0" anchor="t"/>
          <a:lstStyle/>
          <a:p>
            <a:pPr indent="0" marL="0" eaLnBrk="0">
              <a:buNone/>
            </a:pPr>
            <a:r>
              <a:rPr lang="ko-KR" altLang="en-US" sz="1400" dirty="0">
                <a:solidFill>
                  <a:schemeClr val="tx2"/>
                </a:solidFill>
              </a:rPr>
              <a:t>Log를 매개변수로 모든 함수에 넘기면 시그니처가 지저분해진다. 그래서 싱글턴으로 만든다.</a:t>
            </a:r>
            <a:endParaRPr lang="ko-KR" altLang="en-US" sz="1400" dirty="0"/>
          </a:p>
        </p:txBody>
      </p:sp>
      <p:sp>
        <p:nvSpPr>
          <p:cNvPr id="17" name="card"/>
          <p:cNvSpPr/>
          <p:nvPr/>
        </p:nvSpPr>
        <p:spPr>
          <a:xfrm>
            <a:off x="7315200" y="4023360"/>
            <a:ext cx="4327855" cy="1645920"/>
          </a:xfrm>
          <a:prstGeom prst="roundRect">
            <a:avLst>
              <a:gd name="adj" fmla="val 5556"/>
            </a:avLst>
          </a:prstGeom>
          <a:solidFill>
            <a:schemeClr val="tx2"/>
          </a:solidFill>
          <a:ln w="12700">
            <a:solidFill>
              <a:schemeClr val="tx2"/>
            </a:solidFill>
            <a:prstDash val="solid"/>
          </a:ln>
        </p:spPr>
      </p:sp>
      <p:sp>
        <p:nvSpPr>
          <p:cNvPr id="18" name="Text 15"/>
          <p:cNvSpPr txBox="1"/>
          <p:nvPr/>
        </p:nvSpPr>
        <p:spPr>
          <a:xfrm>
            <a:off x="7543800" y="424281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함께 딸려 온 제한</a:t>
            </a:r>
            <a:endParaRPr lang="ko-KR" altLang="en-US" sz="1700" dirty="0"/>
          </a:p>
        </p:txBody>
      </p:sp>
      <p:sp>
        <p:nvSpPr>
          <p:cNvPr id="19" name="Text 16"/>
          <p:cNvSpPr txBox="1"/>
          <p:nvPr/>
        </p:nvSpPr>
        <p:spPr>
          <a:xfrm>
            <a:off x="7543800" y="4800600"/>
            <a:ext cx="3870655" cy="731520"/>
          </a:xfrm>
          <a:prstGeom prst="rect">
            <a:avLst/>
          </a:prstGeom>
          <a:noFill/>
          <a:ln/>
        </p:spPr>
        <p:txBody>
          <a:bodyPr wrap="square" lIns="0" tIns="0" rIns="0" bIns="0" rtlCol="0" anchor="t"/>
          <a:lstStyle/>
          <a:p>
            <a:pPr indent="0" marL="0" eaLnBrk="0">
              <a:buNone/>
            </a:pPr>
            <a:r>
              <a:rPr lang="ko-KR" altLang="en-US" sz="1400" dirty="0">
                <a:solidFill>
                  <a:schemeClr val="bg1"/>
                </a:solidFill>
              </a:rPr>
              <a:t>이제 로그 객체를 둘 이상 만들 수 없다.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로그 나누기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로그를 나누려 하자, 모든 호출 지점이 발목을 잡는다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싱글턴의 장점이던 게으른 초기화에는 문제가 없을까?</a:t>
            </a:r>
            <a:endParaRPr lang="ko-KR" altLang="en-US" sz="1500" dirty="0"/>
          </a:p>
        </p:txBody>
      </p:sp>
      <p:sp>
        <p:nvSpPr>
          <p:cNvPr id="6" name="Text 3"/>
          <p:cNvSpPr txBox="1"/>
          <p:nvPr/>
        </p:nvSpPr>
        <p:spPr>
          <a:xfrm>
            <a:off x="548640" y="1645920"/>
            <a:ext cx="274320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지금</a:t>
            </a:r>
            <a:endParaRPr lang="ko-KR" altLang="en-US" sz="1600" dirty="0"/>
          </a:p>
        </p:txBody>
      </p:sp>
      <p:sp>
        <p:nvSpPr>
          <p:cNvPr id="7" name="box"/>
          <p:cNvSpPr/>
          <p:nvPr/>
        </p:nvSpPr>
        <p:spPr>
          <a:xfrm>
            <a:off x="548640" y="2103120"/>
            <a:ext cx="2194560" cy="502920"/>
          </a:xfrm>
          <a:prstGeom prst="roundRect">
            <a:avLst>
              <a:gd name="adj" fmla="val 14545"/>
            </a:avLst>
          </a:prstGeom>
          <a:solidFill>
            <a:schemeClr val="bg2"/>
          </a:solidFill>
          <a:ln w="12700">
            <a:solidFill>
              <a:schemeClr val="bg2"/>
            </a:solidFill>
            <a:prstDash val="solid"/>
          </a:ln>
        </p:spPr>
      </p:sp>
      <p:sp>
        <p:nvSpPr>
          <p:cNvPr id="8" name="Text 5"/>
          <p:cNvSpPr txBox="1"/>
          <p:nvPr/>
        </p:nvSpPr>
        <p:spPr>
          <a:xfrm>
            <a:off x="548640" y="2103120"/>
            <a:ext cx="219456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온라인 코드</a:t>
            </a:r>
            <a:endParaRPr lang="ko-KR" altLang="en-US" sz="1300" dirty="0"/>
          </a:p>
        </p:txBody>
      </p:sp>
      <p:sp>
        <p:nvSpPr>
          <p:cNvPr id="9" name="Shape 6"/>
          <p:cNvSpPr/>
          <p:nvPr/>
        </p:nvSpPr>
        <p:spPr>
          <a:xfrm>
            <a:off x="2788920" y="2359152"/>
            <a:ext cx="731520" cy="822960"/>
          </a:xfrm>
          <a:prstGeom prst="line">
            <a:avLst/>
          </a:prstGeom>
          <a:noFill/>
          <a:ln w="22225">
            <a:solidFill>
              <a:schemeClr val="accent3"/>
            </a:solidFill>
            <a:prstDash val="solid"/>
            <a:tailEnd type="triangle"/>
          </a:ln>
        </p:spPr>
      </p:sp>
      <p:sp>
        <p:nvSpPr>
          <p:cNvPr id="10" name="box"/>
          <p:cNvSpPr/>
          <p:nvPr/>
        </p:nvSpPr>
        <p:spPr>
          <a:xfrm>
            <a:off x="548640" y="2724912"/>
            <a:ext cx="2194560" cy="502920"/>
          </a:xfrm>
          <a:prstGeom prst="roundRect">
            <a:avLst>
              <a:gd name="adj" fmla="val 14545"/>
            </a:avLst>
          </a:prstGeom>
          <a:solidFill>
            <a:schemeClr val="bg2"/>
          </a:solidFill>
          <a:ln w="12700">
            <a:solidFill>
              <a:schemeClr val="bg2"/>
            </a:solidFill>
            <a:prstDash val="solid"/>
          </a:ln>
        </p:spPr>
      </p:sp>
      <p:sp>
        <p:nvSpPr>
          <p:cNvPr id="11" name="Text 8"/>
          <p:cNvSpPr txBox="1"/>
          <p:nvPr/>
        </p:nvSpPr>
        <p:spPr>
          <a:xfrm>
            <a:off x="548640" y="2724912"/>
            <a:ext cx="219456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UI 코드</a:t>
            </a:r>
            <a:endParaRPr lang="ko-KR" altLang="en-US" sz="1300" dirty="0"/>
          </a:p>
        </p:txBody>
      </p:sp>
      <p:sp>
        <p:nvSpPr>
          <p:cNvPr id="12" name="Shape 9"/>
          <p:cNvSpPr/>
          <p:nvPr/>
        </p:nvSpPr>
        <p:spPr>
          <a:xfrm>
            <a:off x="2788920" y="2980944"/>
            <a:ext cx="731520" cy="201168"/>
          </a:xfrm>
          <a:prstGeom prst="line">
            <a:avLst/>
          </a:prstGeom>
          <a:noFill/>
          <a:ln w="22225">
            <a:solidFill>
              <a:schemeClr val="accent3"/>
            </a:solidFill>
            <a:prstDash val="solid"/>
            <a:tailEnd type="triangle"/>
          </a:ln>
        </p:spPr>
      </p:sp>
      <p:sp>
        <p:nvSpPr>
          <p:cNvPr id="13" name="box"/>
          <p:cNvSpPr/>
          <p:nvPr/>
        </p:nvSpPr>
        <p:spPr>
          <a:xfrm>
            <a:off x="548640" y="3346704"/>
            <a:ext cx="2194560" cy="502920"/>
          </a:xfrm>
          <a:prstGeom prst="roundRect">
            <a:avLst>
              <a:gd name="adj" fmla="val 14545"/>
            </a:avLst>
          </a:prstGeom>
          <a:solidFill>
            <a:schemeClr val="bg2"/>
          </a:solidFill>
          <a:ln w="12700">
            <a:solidFill>
              <a:schemeClr val="bg2"/>
            </a:solidFill>
            <a:prstDash val="solid"/>
          </a:ln>
        </p:spPr>
      </p:sp>
      <p:sp>
        <p:nvSpPr>
          <p:cNvPr id="14" name="Text 11"/>
          <p:cNvSpPr txBox="1"/>
          <p:nvPr/>
        </p:nvSpPr>
        <p:spPr>
          <a:xfrm>
            <a:off x="548640" y="3346704"/>
            <a:ext cx="219456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오디오 코드</a:t>
            </a:r>
            <a:endParaRPr lang="ko-KR" altLang="en-US" sz="1300" dirty="0"/>
          </a:p>
        </p:txBody>
      </p:sp>
      <p:sp>
        <p:nvSpPr>
          <p:cNvPr id="15" name="Shape 12"/>
          <p:cNvSpPr/>
          <p:nvPr/>
        </p:nvSpPr>
        <p:spPr>
          <a:xfrm flipV="1">
            <a:off x="2788920" y="3182112"/>
            <a:ext cx="731520" cy="420624"/>
          </a:xfrm>
          <a:prstGeom prst="line">
            <a:avLst/>
          </a:prstGeom>
          <a:noFill/>
          <a:ln w="22225">
            <a:solidFill>
              <a:schemeClr val="accent3"/>
            </a:solidFill>
            <a:prstDash val="solid"/>
            <a:tailEnd type="triangle"/>
          </a:ln>
        </p:spPr>
      </p:sp>
      <p:sp>
        <p:nvSpPr>
          <p:cNvPr id="16" name="box"/>
          <p:cNvSpPr/>
          <p:nvPr/>
        </p:nvSpPr>
        <p:spPr>
          <a:xfrm>
            <a:off x="548640" y="3968496"/>
            <a:ext cx="2194560" cy="502920"/>
          </a:xfrm>
          <a:prstGeom prst="roundRect">
            <a:avLst>
              <a:gd name="adj" fmla="val 14545"/>
            </a:avLst>
          </a:prstGeom>
          <a:solidFill>
            <a:schemeClr val="bg2"/>
          </a:solidFill>
          <a:ln w="12700">
            <a:solidFill>
              <a:schemeClr val="bg2"/>
            </a:solidFill>
            <a:prstDash val="solid"/>
          </a:ln>
        </p:spPr>
      </p:sp>
      <p:sp>
        <p:nvSpPr>
          <p:cNvPr id="17" name="Text 14"/>
          <p:cNvSpPr txBox="1"/>
          <p:nvPr/>
        </p:nvSpPr>
        <p:spPr>
          <a:xfrm>
            <a:off x="548640" y="3968496"/>
            <a:ext cx="219456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tx1"/>
                </a:solidFill>
              </a:rPr>
              <a:t>게임플레이 코드</a:t>
            </a:r>
            <a:endParaRPr lang="ko-KR" altLang="en-US" sz="1300" dirty="0"/>
          </a:p>
        </p:txBody>
      </p:sp>
      <p:sp>
        <p:nvSpPr>
          <p:cNvPr id="18" name="Shape 15"/>
          <p:cNvSpPr/>
          <p:nvPr/>
        </p:nvSpPr>
        <p:spPr>
          <a:xfrm flipV="1">
            <a:off x="2788920" y="3182112"/>
            <a:ext cx="731520" cy="1042416"/>
          </a:xfrm>
          <a:prstGeom prst="line">
            <a:avLst/>
          </a:prstGeom>
          <a:noFill/>
          <a:ln w="22225">
            <a:solidFill>
              <a:schemeClr val="accent3"/>
            </a:solidFill>
            <a:prstDash val="solid"/>
            <a:tailEnd type="triangle"/>
          </a:ln>
        </p:spPr>
      </p:sp>
      <p:sp>
        <p:nvSpPr>
          <p:cNvPr id="19" name="box"/>
          <p:cNvSpPr/>
          <p:nvPr/>
        </p:nvSpPr>
        <p:spPr>
          <a:xfrm>
            <a:off x="3566160" y="2743200"/>
            <a:ext cx="2103120" cy="868680"/>
          </a:xfrm>
          <a:prstGeom prst="roundRect">
            <a:avLst>
              <a:gd name="adj" fmla="val 8421"/>
            </a:avLst>
          </a:prstGeom>
          <a:solidFill>
            <a:schemeClr val="accent1"/>
          </a:solidFill>
          <a:ln w="12700">
            <a:solidFill>
              <a:schemeClr val="accent1"/>
            </a:solidFill>
            <a:prstDash val="solid"/>
          </a:ln>
        </p:spPr>
      </p:sp>
      <p:sp>
        <p:nvSpPr>
          <p:cNvPr id="20" name="Text 17"/>
          <p:cNvSpPr txBox="1"/>
          <p:nvPr/>
        </p:nvSpPr>
        <p:spPr>
          <a:xfrm>
            <a:off x="3566160" y="2743200"/>
            <a:ext cx="2103120" cy="86868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Log 하나</a:t>
            </a:r>
            <a:endParaRPr lang="ko-KR" altLang="en-US" sz="1400" dirty="0"/>
          </a:p>
          <a:p>
            <a:pPr algn="ctr" indent="0" marL="0" eaLnBrk="0">
              <a:buNone/>
            </a:pPr>
            <a:r>
              <a:rPr lang="ko-KR" altLang="en-US" sz="1400" b="1" dirty="0">
                <a:solidFill>
                  <a:schemeClr val="bg1"/>
                </a:solidFill>
              </a:rPr>
              <a:t>파일 하나</a:t>
            </a:r>
            <a:endParaRPr lang="ko-KR" altLang="en-US" sz="1400" dirty="0"/>
          </a:p>
        </p:txBody>
      </p:sp>
      <p:sp>
        <p:nvSpPr>
          <p:cNvPr id="21" name="Text 18"/>
          <p:cNvSpPr txBox="1"/>
          <p:nvPr/>
        </p:nvSpPr>
        <p:spPr>
          <a:xfrm>
            <a:off x="3566160" y="3657600"/>
            <a:ext cx="2377440" cy="320040"/>
          </a:xfrm>
          <a:prstGeom prst="rect">
            <a:avLst/>
          </a:prstGeom>
          <a:noFill/>
          <a:ln/>
        </p:spPr>
        <p:txBody>
          <a:bodyPr wrap="square" lIns="0" tIns="0" rIns="0" bIns="0" rtlCol="0" anchor="t"/>
          <a:lstStyle/>
          <a:p>
            <a:pPr indent="0" marL="0" eaLnBrk="0">
              <a:buNone/>
            </a:pPr>
            <a:r>
              <a:rPr lang="ko-KR" altLang="en-US" sz="1200" dirty="0">
                <a:solidFill>
                  <a:schemeClr val="accent5"/>
                </a:solidFill>
              </a:rPr>
              <a:t>모두가 쏟아 낸 거대한 파일</a:t>
            </a:r>
            <a:endParaRPr lang="ko-KR" altLang="en-US" sz="1200" dirty="0"/>
          </a:p>
        </p:txBody>
      </p:sp>
      <p:sp>
        <p:nvSpPr>
          <p:cNvPr id="22" name="Text 19"/>
          <p:cNvSpPr txBox="1"/>
          <p:nvPr/>
        </p:nvSpPr>
        <p:spPr>
          <a:xfrm>
            <a:off x="6583680" y="1645920"/>
            <a:ext cx="274320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원하는 것</a:t>
            </a:r>
            <a:endParaRPr lang="ko-KR" altLang="en-US" sz="1600" dirty="0"/>
          </a:p>
        </p:txBody>
      </p:sp>
      <p:sp>
        <p:nvSpPr>
          <p:cNvPr id="23" name="box"/>
          <p:cNvSpPr/>
          <p:nvPr/>
        </p:nvSpPr>
        <p:spPr>
          <a:xfrm>
            <a:off x="6583680" y="2103120"/>
            <a:ext cx="2377440" cy="502920"/>
          </a:xfrm>
          <a:prstGeom prst="roundRect">
            <a:avLst>
              <a:gd name="adj" fmla="val 14545"/>
            </a:avLst>
          </a:prstGeom>
          <a:solidFill>
            <a:schemeClr val="bg1"/>
          </a:solidFill>
          <a:ln w="19050">
            <a:solidFill>
              <a:schemeClr val="accent6"/>
            </a:solidFill>
            <a:prstDash val="dash"/>
          </a:ln>
        </p:spPr>
      </p:sp>
      <p:sp>
        <p:nvSpPr>
          <p:cNvPr id="24" name="Text 21"/>
          <p:cNvSpPr txBox="1"/>
          <p:nvPr/>
        </p:nvSpPr>
        <p:spPr>
          <a:xfrm>
            <a:off x="6583680" y="2103120"/>
            <a:ext cx="237744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accent3"/>
                </a:solidFill>
              </a:rPr>
              <a:t>온라인 로그</a:t>
            </a:r>
            <a:endParaRPr lang="ko-KR" altLang="en-US" sz="1300" dirty="0"/>
          </a:p>
        </p:txBody>
      </p:sp>
      <p:sp>
        <p:nvSpPr>
          <p:cNvPr id="25" name="box"/>
          <p:cNvSpPr/>
          <p:nvPr/>
        </p:nvSpPr>
        <p:spPr>
          <a:xfrm>
            <a:off x="6583680" y="2724912"/>
            <a:ext cx="2377440" cy="502920"/>
          </a:xfrm>
          <a:prstGeom prst="roundRect">
            <a:avLst>
              <a:gd name="adj" fmla="val 14545"/>
            </a:avLst>
          </a:prstGeom>
          <a:solidFill>
            <a:schemeClr val="bg1"/>
          </a:solidFill>
          <a:ln w="19050">
            <a:solidFill>
              <a:schemeClr val="accent6"/>
            </a:solidFill>
            <a:prstDash val="dash"/>
          </a:ln>
        </p:spPr>
      </p:sp>
      <p:sp>
        <p:nvSpPr>
          <p:cNvPr id="26" name="Text 23"/>
          <p:cNvSpPr txBox="1"/>
          <p:nvPr/>
        </p:nvSpPr>
        <p:spPr>
          <a:xfrm>
            <a:off x="6583680" y="2724912"/>
            <a:ext cx="237744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accent3"/>
                </a:solidFill>
              </a:rPr>
              <a:t>UI 로그</a:t>
            </a:r>
            <a:endParaRPr lang="ko-KR" altLang="en-US" sz="1300" dirty="0"/>
          </a:p>
        </p:txBody>
      </p:sp>
      <p:sp>
        <p:nvSpPr>
          <p:cNvPr id="27" name="box"/>
          <p:cNvSpPr/>
          <p:nvPr/>
        </p:nvSpPr>
        <p:spPr>
          <a:xfrm>
            <a:off x="6583680" y="3346704"/>
            <a:ext cx="2377440" cy="502920"/>
          </a:xfrm>
          <a:prstGeom prst="roundRect">
            <a:avLst>
              <a:gd name="adj" fmla="val 14545"/>
            </a:avLst>
          </a:prstGeom>
          <a:solidFill>
            <a:schemeClr val="bg1"/>
          </a:solidFill>
          <a:ln w="19050">
            <a:solidFill>
              <a:schemeClr val="accent6"/>
            </a:solidFill>
            <a:prstDash val="dash"/>
          </a:ln>
        </p:spPr>
      </p:sp>
      <p:sp>
        <p:nvSpPr>
          <p:cNvPr id="28" name="Text 25"/>
          <p:cNvSpPr txBox="1"/>
          <p:nvPr/>
        </p:nvSpPr>
        <p:spPr>
          <a:xfrm>
            <a:off x="6583680" y="3346704"/>
            <a:ext cx="237744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accent3"/>
                </a:solidFill>
              </a:rPr>
              <a:t>오디오 로그</a:t>
            </a:r>
            <a:endParaRPr lang="ko-KR" altLang="en-US" sz="1300" dirty="0"/>
          </a:p>
        </p:txBody>
      </p:sp>
      <p:sp>
        <p:nvSpPr>
          <p:cNvPr id="29" name="box"/>
          <p:cNvSpPr/>
          <p:nvPr/>
        </p:nvSpPr>
        <p:spPr>
          <a:xfrm>
            <a:off x="6583680" y="3968496"/>
            <a:ext cx="2377440" cy="502920"/>
          </a:xfrm>
          <a:prstGeom prst="roundRect">
            <a:avLst>
              <a:gd name="adj" fmla="val 14545"/>
            </a:avLst>
          </a:prstGeom>
          <a:solidFill>
            <a:schemeClr val="bg1"/>
          </a:solidFill>
          <a:ln w="19050">
            <a:solidFill>
              <a:schemeClr val="accent6"/>
            </a:solidFill>
            <a:prstDash val="dash"/>
          </a:ln>
        </p:spPr>
      </p:sp>
      <p:sp>
        <p:nvSpPr>
          <p:cNvPr id="30" name="Text 27"/>
          <p:cNvSpPr txBox="1"/>
          <p:nvPr/>
        </p:nvSpPr>
        <p:spPr>
          <a:xfrm>
            <a:off x="6583680" y="3968496"/>
            <a:ext cx="237744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accent3"/>
                </a:solidFill>
              </a:rPr>
              <a:t>게임플레이 로그</a:t>
            </a:r>
            <a:endParaRPr lang="ko-KR" altLang="en-US" sz="1300" dirty="0"/>
          </a:p>
        </p:txBody>
      </p:sp>
      <p:sp>
        <p:nvSpPr>
          <p:cNvPr id="31" name="Text 28"/>
          <p:cNvSpPr txBox="1"/>
          <p:nvPr/>
        </p:nvSpPr>
        <p:spPr>
          <a:xfrm>
            <a:off x="9235440" y="2651760"/>
            <a:ext cx="2407615" cy="1097280"/>
          </a:xfrm>
          <a:prstGeom prst="rect">
            <a:avLst/>
          </a:prstGeom>
          <a:noFill/>
          <a:ln/>
        </p:spPr>
        <p:txBody>
          <a:bodyPr wrap="square" lIns="0" tIns="0" rIns="0" bIns="0" rtlCol="0" anchor="ctr"/>
          <a:lstStyle/>
          <a:p>
            <a:pPr indent="0" marL="0" eaLnBrk="0">
              <a:buNone/>
            </a:pPr>
            <a:r>
              <a:rPr lang="ko-KR" altLang="en-US" sz="1500" b="1" dirty="0">
                <a:solidFill>
                  <a:schemeClr val="accent6"/>
                </a:solidFill>
              </a:rPr>
              <a:t>Log가 인스턴스를 하나만 허용하므로 만들 수 없다.</a:t>
            </a:r>
            <a:endParaRPr lang="ko-KR" altLang="en-US" sz="1500" dirty="0"/>
          </a:p>
        </p:txBody>
      </p:sp>
      <p:sp>
        <p:nvSpPr>
          <p:cNvPr id="32" name="box"/>
          <p:cNvSpPr/>
          <p:nvPr/>
        </p:nvSpPr>
        <p:spPr>
          <a:xfrm>
            <a:off x="548640" y="4709160"/>
            <a:ext cx="11094415" cy="914400"/>
          </a:xfrm>
          <a:prstGeom prst="roundRect">
            <a:avLst>
              <a:gd name="adj" fmla="val 8000"/>
            </a:avLst>
          </a:prstGeom>
          <a:solidFill>
            <a:schemeClr val="tx2"/>
          </a:solidFill>
          <a:ln w="12700">
            <a:solidFill>
              <a:schemeClr val="tx2"/>
            </a:solidFill>
            <a:prstDash val="solid"/>
          </a:ln>
        </p:spPr>
      </p:sp>
      <p:sp>
        <p:nvSpPr>
          <p:cNvPr id="33" name="Text 30"/>
          <p:cNvSpPr txBox="1"/>
          <p:nvPr/>
        </p:nvSpPr>
        <p:spPr>
          <a:xfrm>
            <a:off x="548640" y="4709160"/>
            <a:ext cx="11094415" cy="91440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고치려면 Log 클래스와, Log.Instance를 부르는 모든 줄을 함께 고쳐야 한다. 편했던 접근이 더는 편하지 않다.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게으른 초기화</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초기화 시점을 정할 수 없으면 게임이 끊긴다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그래서 많은 게임은 싱글턴을 어떻게 고쳐 쓸까?</a:t>
            </a:r>
            <a:endParaRPr lang="ko-KR" altLang="en-US" sz="1500" dirty="0"/>
          </a:p>
        </p:txBody>
      </p:sp>
      <p:sp>
        <p:nvSpPr>
          <p:cNvPr id="6" name="Text 3"/>
          <p:cNvSpPr txBox="1"/>
          <p:nvPr/>
        </p:nvSpPr>
        <p:spPr>
          <a:xfrm>
            <a:off x="4343400" y="1645920"/>
            <a:ext cx="4572000" cy="320040"/>
          </a:xfrm>
          <a:prstGeom prst="rect">
            <a:avLst/>
          </a:prstGeom>
          <a:noFill/>
          <a:ln/>
        </p:spPr>
        <p:txBody>
          <a:bodyPr wrap="square" lIns="0" tIns="0" rIns="0" bIns="0" rtlCol="0" anchor="t"/>
          <a:lstStyle/>
          <a:p>
            <a:pPr indent="0" marL="0" eaLnBrk="0">
              <a:buNone/>
            </a:pPr>
            <a:r>
              <a:rPr lang="ko-KR" altLang="en-US" sz="1300" b="1" dirty="0">
                <a:solidFill>
                  <a:schemeClr val="accent6"/>
                </a:solidFill>
              </a:rPr>
              <a:t>전투 중 처음 소리가 나는 순간</a:t>
            </a:r>
            <a:endParaRPr lang="ko-KR" altLang="en-US" sz="1300" dirty="0"/>
          </a:p>
        </p:txBody>
      </p:sp>
      <p:sp>
        <p:nvSpPr>
          <p:cNvPr id="7" name="box"/>
          <p:cNvSpPr/>
          <p:nvPr/>
        </p:nvSpPr>
        <p:spPr>
          <a:xfrm>
            <a:off x="548640" y="2103120"/>
            <a:ext cx="731520" cy="685800"/>
          </a:xfrm>
          <a:prstGeom prst="roundRect">
            <a:avLst>
              <a:gd name="adj" fmla="val 10667"/>
            </a:avLst>
          </a:prstGeom>
          <a:solidFill>
            <a:schemeClr val="bg2"/>
          </a:solidFill>
          <a:ln w="12700">
            <a:solidFill>
              <a:schemeClr val="bg2"/>
            </a:solidFill>
            <a:prstDash val="solid"/>
          </a:ln>
        </p:spPr>
      </p:sp>
      <p:sp>
        <p:nvSpPr>
          <p:cNvPr id="8" name="Text 5"/>
          <p:cNvSpPr txBox="1"/>
          <p:nvPr/>
        </p:nvSpPr>
        <p:spPr>
          <a:xfrm>
            <a:off x="548640" y="2103120"/>
            <a:ext cx="731520" cy="685800"/>
          </a:xfrm>
          <a:prstGeom prst="rect">
            <a:avLst/>
          </a:prstGeom>
          <a:noFill/>
          <a:ln/>
        </p:spPr>
        <p:txBody>
          <a:bodyPr wrap="square" lIns="635" tIns="635" rIns="635" bIns="635" rtlCol="0" anchor="ctr"/>
          <a:lstStyle/>
          <a:p>
            <a:pPr algn="ctr" indent="0" marL="0" eaLnBrk="0">
              <a:buNone/>
            </a:pPr>
            <a:r>
              <a:rPr lang="ko-KR" altLang="en-US" sz="1100" dirty="0">
                <a:solidFill>
                  <a:schemeClr val="accent5"/>
                </a:solidFill>
              </a:rPr>
              <a:t>프레임</a:t>
            </a:r>
            <a:endParaRPr lang="ko-KR" altLang="en-US" sz="1100" dirty="0"/>
          </a:p>
        </p:txBody>
      </p:sp>
      <p:sp>
        <p:nvSpPr>
          <p:cNvPr id="9" name="box"/>
          <p:cNvSpPr/>
          <p:nvPr/>
        </p:nvSpPr>
        <p:spPr>
          <a:xfrm>
            <a:off x="1325880" y="2103120"/>
            <a:ext cx="731520" cy="685800"/>
          </a:xfrm>
          <a:prstGeom prst="roundRect">
            <a:avLst>
              <a:gd name="adj" fmla="val 10667"/>
            </a:avLst>
          </a:prstGeom>
          <a:solidFill>
            <a:schemeClr val="bg2"/>
          </a:solidFill>
          <a:ln w="12700">
            <a:solidFill>
              <a:schemeClr val="bg2"/>
            </a:solidFill>
            <a:prstDash val="solid"/>
          </a:ln>
        </p:spPr>
      </p:sp>
      <p:sp>
        <p:nvSpPr>
          <p:cNvPr id="10" name="Text 7"/>
          <p:cNvSpPr txBox="1"/>
          <p:nvPr/>
        </p:nvSpPr>
        <p:spPr>
          <a:xfrm>
            <a:off x="1325880" y="2103120"/>
            <a:ext cx="731520" cy="685800"/>
          </a:xfrm>
          <a:prstGeom prst="rect">
            <a:avLst/>
          </a:prstGeom>
          <a:noFill/>
          <a:ln/>
        </p:spPr>
        <p:txBody>
          <a:bodyPr wrap="square" lIns="635" tIns="635" rIns="635" bIns="635" rtlCol="0" anchor="ctr"/>
          <a:lstStyle/>
          <a:p>
            <a:pPr algn="ctr" indent="0" marL="0" eaLnBrk="0">
              <a:buNone/>
            </a:pPr>
            <a:r>
              <a:rPr lang="ko-KR" altLang="en-US" sz="1100" dirty="0">
                <a:solidFill>
                  <a:schemeClr val="accent5"/>
                </a:solidFill>
              </a:rPr>
              <a:t>프레임</a:t>
            </a:r>
            <a:endParaRPr lang="ko-KR" altLang="en-US" sz="1100" dirty="0"/>
          </a:p>
        </p:txBody>
      </p:sp>
      <p:sp>
        <p:nvSpPr>
          <p:cNvPr id="11" name="box"/>
          <p:cNvSpPr/>
          <p:nvPr/>
        </p:nvSpPr>
        <p:spPr>
          <a:xfrm>
            <a:off x="2103120" y="2103120"/>
            <a:ext cx="731520" cy="685800"/>
          </a:xfrm>
          <a:prstGeom prst="roundRect">
            <a:avLst>
              <a:gd name="adj" fmla="val 10667"/>
            </a:avLst>
          </a:prstGeom>
          <a:solidFill>
            <a:schemeClr val="bg2"/>
          </a:solidFill>
          <a:ln w="12700">
            <a:solidFill>
              <a:schemeClr val="bg2"/>
            </a:solidFill>
            <a:prstDash val="solid"/>
          </a:ln>
        </p:spPr>
      </p:sp>
      <p:sp>
        <p:nvSpPr>
          <p:cNvPr id="12" name="Text 9"/>
          <p:cNvSpPr txBox="1"/>
          <p:nvPr/>
        </p:nvSpPr>
        <p:spPr>
          <a:xfrm>
            <a:off x="2103120" y="2103120"/>
            <a:ext cx="731520" cy="685800"/>
          </a:xfrm>
          <a:prstGeom prst="rect">
            <a:avLst/>
          </a:prstGeom>
          <a:noFill/>
          <a:ln/>
        </p:spPr>
        <p:txBody>
          <a:bodyPr wrap="square" lIns="635" tIns="635" rIns="635" bIns="635" rtlCol="0" anchor="ctr"/>
          <a:lstStyle/>
          <a:p>
            <a:pPr algn="ctr" indent="0" marL="0" eaLnBrk="0">
              <a:buNone/>
            </a:pPr>
            <a:r>
              <a:rPr lang="ko-KR" altLang="en-US" sz="1100" dirty="0">
                <a:solidFill>
                  <a:schemeClr val="accent5"/>
                </a:solidFill>
              </a:rPr>
              <a:t>프레임</a:t>
            </a:r>
            <a:endParaRPr lang="ko-KR" altLang="en-US" sz="1100" dirty="0"/>
          </a:p>
        </p:txBody>
      </p:sp>
      <p:sp>
        <p:nvSpPr>
          <p:cNvPr id="13" name="box"/>
          <p:cNvSpPr/>
          <p:nvPr/>
        </p:nvSpPr>
        <p:spPr>
          <a:xfrm>
            <a:off x="2880360" y="2103120"/>
            <a:ext cx="731520" cy="685800"/>
          </a:xfrm>
          <a:prstGeom prst="roundRect">
            <a:avLst>
              <a:gd name="adj" fmla="val 10667"/>
            </a:avLst>
          </a:prstGeom>
          <a:solidFill>
            <a:schemeClr val="bg2"/>
          </a:solidFill>
          <a:ln w="12700">
            <a:solidFill>
              <a:schemeClr val="bg2"/>
            </a:solidFill>
            <a:prstDash val="solid"/>
          </a:ln>
        </p:spPr>
      </p:sp>
      <p:sp>
        <p:nvSpPr>
          <p:cNvPr id="14" name="Text 11"/>
          <p:cNvSpPr txBox="1"/>
          <p:nvPr/>
        </p:nvSpPr>
        <p:spPr>
          <a:xfrm>
            <a:off x="2880360" y="2103120"/>
            <a:ext cx="731520" cy="685800"/>
          </a:xfrm>
          <a:prstGeom prst="rect">
            <a:avLst/>
          </a:prstGeom>
          <a:noFill/>
          <a:ln/>
        </p:spPr>
        <p:txBody>
          <a:bodyPr wrap="square" lIns="635" tIns="635" rIns="635" bIns="635" rtlCol="0" anchor="ctr"/>
          <a:lstStyle/>
          <a:p>
            <a:pPr algn="ctr" indent="0" marL="0" eaLnBrk="0">
              <a:buNone/>
            </a:pPr>
            <a:r>
              <a:rPr lang="ko-KR" altLang="en-US" sz="1100" dirty="0">
                <a:solidFill>
                  <a:schemeClr val="accent5"/>
                </a:solidFill>
              </a:rPr>
              <a:t>프레임</a:t>
            </a:r>
            <a:endParaRPr lang="ko-KR" altLang="en-US" sz="1100" dirty="0"/>
          </a:p>
        </p:txBody>
      </p:sp>
      <p:sp>
        <p:nvSpPr>
          <p:cNvPr id="15" name="box"/>
          <p:cNvSpPr/>
          <p:nvPr/>
        </p:nvSpPr>
        <p:spPr>
          <a:xfrm>
            <a:off x="3657600" y="2103120"/>
            <a:ext cx="731520" cy="685800"/>
          </a:xfrm>
          <a:prstGeom prst="roundRect">
            <a:avLst>
              <a:gd name="adj" fmla="val 10667"/>
            </a:avLst>
          </a:prstGeom>
          <a:solidFill>
            <a:schemeClr val="bg2"/>
          </a:solidFill>
          <a:ln w="12700">
            <a:solidFill>
              <a:schemeClr val="bg2"/>
            </a:solidFill>
            <a:prstDash val="solid"/>
          </a:ln>
        </p:spPr>
      </p:sp>
      <p:sp>
        <p:nvSpPr>
          <p:cNvPr id="16" name="Text 13"/>
          <p:cNvSpPr txBox="1"/>
          <p:nvPr/>
        </p:nvSpPr>
        <p:spPr>
          <a:xfrm>
            <a:off x="3657600" y="2103120"/>
            <a:ext cx="731520" cy="685800"/>
          </a:xfrm>
          <a:prstGeom prst="rect">
            <a:avLst/>
          </a:prstGeom>
          <a:noFill/>
          <a:ln/>
        </p:spPr>
        <p:txBody>
          <a:bodyPr wrap="square" lIns="635" tIns="635" rIns="635" bIns="635" rtlCol="0" anchor="ctr"/>
          <a:lstStyle/>
          <a:p>
            <a:pPr algn="ctr" indent="0" marL="0" eaLnBrk="0">
              <a:buNone/>
            </a:pPr>
            <a:r>
              <a:rPr lang="ko-KR" altLang="en-US" sz="1100" dirty="0">
                <a:solidFill>
                  <a:schemeClr val="accent5"/>
                </a:solidFill>
              </a:rPr>
              <a:t>프레임</a:t>
            </a:r>
            <a:endParaRPr lang="ko-KR" altLang="en-US" sz="1100" dirty="0"/>
          </a:p>
        </p:txBody>
      </p:sp>
      <p:sp>
        <p:nvSpPr>
          <p:cNvPr id="17" name="box"/>
          <p:cNvSpPr/>
          <p:nvPr/>
        </p:nvSpPr>
        <p:spPr>
          <a:xfrm>
            <a:off x="4434840" y="2103120"/>
            <a:ext cx="4206240" cy="685800"/>
          </a:xfrm>
          <a:prstGeom prst="roundRect">
            <a:avLst>
              <a:gd name="adj" fmla="val 10667"/>
            </a:avLst>
          </a:prstGeom>
          <a:solidFill>
            <a:schemeClr val="accent6"/>
          </a:solidFill>
          <a:ln w="12700">
            <a:solidFill>
              <a:schemeClr val="accent6"/>
            </a:solidFill>
            <a:prstDash val="solid"/>
          </a:ln>
        </p:spPr>
      </p:sp>
      <p:sp>
        <p:nvSpPr>
          <p:cNvPr id="18" name="Text 15"/>
          <p:cNvSpPr txBox="1"/>
          <p:nvPr/>
        </p:nvSpPr>
        <p:spPr>
          <a:xfrm>
            <a:off x="4434840" y="2103120"/>
            <a:ext cx="4206240"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오디오 초기화: 수백 밀리초</a:t>
            </a:r>
            <a:endParaRPr lang="ko-KR" altLang="en-US" sz="1400" dirty="0"/>
          </a:p>
        </p:txBody>
      </p:sp>
      <p:sp>
        <p:nvSpPr>
          <p:cNvPr id="19" name="box"/>
          <p:cNvSpPr/>
          <p:nvPr/>
        </p:nvSpPr>
        <p:spPr>
          <a:xfrm>
            <a:off x="8686800" y="2103120"/>
            <a:ext cx="731520" cy="685800"/>
          </a:xfrm>
          <a:prstGeom prst="roundRect">
            <a:avLst>
              <a:gd name="adj" fmla="val 10667"/>
            </a:avLst>
          </a:prstGeom>
          <a:solidFill>
            <a:schemeClr val="bg2"/>
          </a:solidFill>
          <a:ln w="12700">
            <a:solidFill>
              <a:schemeClr val="bg2"/>
            </a:solidFill>
            <a:prstDash val="solid"/>
          </a:ln>
        </p:spPr>
      </p:sp>
      <p:sp>
        <p:nvSpPr>
          <p:cNvPr id="20" name="Text 17"/>
          <p:cNvSpPr txBox="1"/>
          <p:nvPr/>
        </p:nvSpPr>
        <p:spPr>
          <a:xfrm>
            <a:off x="8686800" y="2103120"/>
            <a:ext cx="731520" cy="685800"/>
          </a:xfrm>
          <a:prstGeom prst="rect">
            <a:avLst/>
          </a:prstGeom>
          <a:noFill/>
          <a:ln/>
        </p:spPr>
        <p:txBody>
          <a:bodyPr wrap="square" lIns="635" tIns="635" rIns="635" bIns="635" rtlCol="0" anchor="ctr"/>
          <a:lstStyle/>
          <a:p>
            <a:pPr algn="ctr" indent="0" marL="0" eaLnBrk="0">
              <a:buNone/>
            </a:pPr>
            <a:r>
              <a:rPr lang="ko-KR" altLang="en-US" sz="1100" dirty="0">
                <a:solidFill>
                  <a:schemeClr val="accent5"/>
                </a:solidFill>
              </a:rPr>
              <a:t>프레임</a:t>
            </a:r>
            <a:endParaRPr lang="ko-KR" altLang="en-US" sz="1100" dirty="0"/>
          </a:p>
        </p:txBody>
      </p:sp>
      <p:sp>
        <p:nvSpPr>
          <p:cNvPr id="21" name="box"/>
          <p:cNvSpPr/>
          <p:nvPr/>
        </p:nvSpPr>
        <p:spPr>
          <a:xfrm>
            <a:off x="9464040" y="2103120"/>
            <a:ext cx="731520" cy="685800"/>
          </a:xfrm>
          <a:prstGeom prst="roundRect">
            <a:avLst>
              <a:gd name="adj" fmla="val 10667"/>
            </a:avLst>
          </a:prstGeom>
          <a:solidFill>
            <a:schemeClr val="bg2"/>
          </a:solidFill>
          <a:ln w="12700">
            <a:solidFill>
              <a:schemeClr val="bg2"/>
            </a:solidFill>
            <a:prstDash val="solid"/>
          </a:ln>
        </p:spPr>
      </p:sp>
      <p:sp>
        <p:nvSpPr>
          <p:cNvPr id="22" name="Text 19"/>
          <p:cNvSpPr txBox="1"/>
          <p:nvPr/>
        </p:nvSpPr>
        <p:spPr>
          <a:xfrm>
            <a:off x="9464040" y="2103120"/>
            <a:ext cx="731520" cy="685800"/>
          </a:xfrm>
          <a:prstGeom prst="rect">
            <a:avLst/>
          </a:prstGeom>
          <a:noFill/>
          <a:ln/>
        </p:spPr>
        <p:txBody>
          <a:bodyPr wrap="square" lIns="635" tIns="635" rIns="635" bIns="635" rtlCol="0" anchor="ctr"/>
          <a:lstStyle/>
          <a:p>
            <a:pPr algn="ctr" indent="0" marL="0" eaLnBrk="0">
              <a:buNone/>
            </a:pPr>
            <a:r>
              <a:rPr lang="ko-KR" altLang="en-US" sz="1100" dirty="0">
                <a:solidFill>
                  <a:schemeClr val="accent5"/>
                </a:solidFill>
              </a:rPr>
              <a:t>프레임</a:t>
            </a:r>
            <a:endParaRPr lang="ko-KR" altLang="en-US" sz="1100" dirty="0"/>
          </a:p>
        </p:txBody>
      </p:sp>
      <p:sp>
        <p:nvSpPr>
          <p:cNvPr id="23" name="box"/>
          <p:cNvSpPr/>
          <p:nvPr/>
        </p:nvSpPr>
        <p:spPr>
          <a:xfrm>
            <a:off x="10241280" y="2103120"/>
            <a:ext cx="731520" cy="685800"/>
          </a:xfrm>
          <a:prstGeom prst="roundRect">
            <a:avLst>
              <a:gd name="adj" fmla="val 10667"/>
            </a:avLst>
          </a:prstGeom>
          <a:solidFill>
            <a:schemeClr val="bg2"/>
          </a:solidFill>
          <a:ln w="12700">
            <a:solidFill>
              <a:schemeClr val="bg2"/>
            </a:solidFill>
            <a:prstDash val="solid"/>
          </a:ln>
        </p:spPr>
      </p:sp>
      <p:sp>
        <p:nvSpPr>
          <p:cNvPr id="24" name="Text 21"/>
          <p:cNvSpPr txBox="1"/>
          <p:nvPr/>
        </p:nvSpPr>
        <p:spPr>
          <a:xfrm>
            <a:off x="10241280" y="2103120"/>
            <a:ext cx="731520" cy="685800"/>
          </a:xfrm>
          <a:prstGeom prst="rect">
            <a:avLst/>
          </a:prstGeom>
          <a:noFill/>
          <a:ln/>
        </p:spPr>
        <p:txBody>
          <a:bodyPr wrap="square" lIns="635" tIns="635" rIns="635" bIns="635" rtlCol="0" anchor="ctr"/>
          <a:lstStyle/>
          <a:p>
            <a:pPr algn="ctr" indent="0" marL="0" eaLnBrk="0">
              <a:buNone/>
            </a:pPr>
            <a:r>
              <a:rPr lang="ko-KR" altLang="en-US" sz="1100" dirty="0">
                <a:solidFill>
                  <a:schemeClr val="accent5"/>
                </a:solidFill>
              </a:rPr>
              <a:t>프레임</a:t>
            </a:r>
            <a:endParaRPr lang="ko-KR" altLang="en-US" sz="1100" dirty="0"/>
          </a:p>
        </p:txBody>
      </p:sp>
      <p:sp>
        <p:nvSpPr>
          <p:cNvPr id="25" name="Text 22"/>
          <p:cNvSpPr txBox="1"/>
          <p:nvPr/>
        </p:nvSpPr>
        <p:spPr>
          <a:xfrm>
            <a:off x="4434840" y="2880360"/>
            <a:ext cx="4206240" cy="320040"/>
          </a:xfrm>
          <a:prstGeom prst="rect">
            <a:avLst/>
          </a:prstGeom>
          <a:noFill/>
          <a:ln/>
        </p:spPr>
        <p:txBody>
          <a:bodyPr wrap="square" lIns="0" tIns="0" rIns="0" bIns="0" rtlCol="0" anchor="t"/>
          <a:lstStyle/>
          <a:p>
            <a:pPr algn="ctr" indent="0" marL="0" eaLnBrk="0">
              <a:buNone/>
            </a:pPr>
            <a:r>
              <a:rPr lang="ko-KR" altLang="en-US" sz="1300" dirty="0">
                <a:solidFill>
                  <a:schemeClr val="accent6"/>
                </a:solidFill>
              </a:rPr>
              <a:t>이 동안 화면이 멈춘다.</a:t>
            </a:r>
            <a:endParaRPr lang="ko-KR" altLang="en-US" sz="1300" dirty="0"/>
          </a:p>
        </p:txBody>
      </p:sp>
      <p:sp>
        <p:nvSpPr>
          <p:cNvPr id="26" name="card"/>
          <p:cNvSpPr/>
          <p:nvPr/>
        </p:nvSpPr>
        <p:spPr>
          <a:xfrm>
            <a:off x="548640" y="3429000"/>
            <a:ext cx="5364328" cy="2194560"/>
          </a:xfrm>
          <a:prstGeom prst="roundRect">
            <a:avLst>
              <a:gd name="adj" fmla="val 4167"/>
            </a:avLst>
          </a:prstGeom>
          <a:solidFill>
            <a:schemeClr val="bg2"/>
          </a:solidFill>
          <a:ln w="12700">
            <a:solidFill>
              <a:schemeClr val="bg2"/>
            </a:solidFill>
            <a:prstDash val="solid"/>
          </a:ln>
        </p:spPr>
      </p:sp>
      <p:sp>
        <p:nvSpPr>
          <p:cNvPr id="27" name="Shape 24"/>
          <p:cNvSpPr/>
          <p:nvPr/>
        </p:nvSpPr>
        <p:spPr>
          <a:xfrm>
            <a:off x="777240" y="3630168"/>
            <a:ext cx="420624" cy="420624"/>
          </a:xfrm>
          <a:prstGeom prst="ellipse">
            <a:avLst/>
          </a:prstGeom>
          <a:solidFill>
            <a:schemeClr val="accent1"/>
          </a:solidFill>
          <a:ln w="12700">
            <a:solidFill>
              <a:schemeClr val="accent1"/>
            </a:solidFill>
            <a:prstDash val="solid"/>
          </a:ln>
        </p:spPr>
      </p:sp>
      <p:sp>
        <p:nvSpPr>
          <p:cNvPr id="28" name="Text 25"/>
          <p:cNvSpPr txBox="1"/>
          <p:nvPr/>
        </p:nvSpPr>
        <p:spPr>
          <a:xfrm>
            <a:off x="777240"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9" name="Text 26"/>
          <p:cNvSpPr txBox="1"/>
          <p:nvPr/>
        </p:nvSpPr>
        <p:spPr>
          <a:xfrm>
            <a:off x="1325880" y="3648456"/>
            <a:ext cx="440420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시간을 통제할 수 없다</a:t>
            </a:r>
            <a:endParaRPr lang="ko-KR" altLang="en-US" sz="1700" dirty="0"/>
          </a:p>
        </p:txBody>
      </p:sp>
      <p:sp>
        <p:nvSpPr>
          <p:cNvPr id="30" name="Text 27"/>
          <p:cNvSpPr txBox="1"/>
          <p:nvPr/>
        </p:nvSpPr>
        <p:spPr>
          <a:xfrm>
            <a:off x="777240" y="4206240"/>
            <a:ext cx="4907128" cy="1280160"/>
          </a:xfrm>
          <a:prstGeom prst="rect">
            <a:avLst/>
          </a:prstGeom>
          <a:noFill/>
          <a:ln/>
        </p:spPr>
        <p:txBody>
          <a:bodyPr wrap="square" lIns="0" tIns="0" rIns="0" bIns="0" rtlCol="0" anchor="t"/>
          <a:lstStyle/>
          <a:p>
            <a:pPr indent="0" marL="0" eaLnBrk="0">
              <a:buNone/>
            </a:pPr>
            <a:r>
              <a:rPr lang="ko-KR" altLang="en-US" sz="1500" dirty="0">
                <a:solidFill>
                  <a:schemeClr val="tx2"/>
                </a:solidFill>
              </a:rPr>
              <a:t>처음 소리가 날 때 초기화되면, 그 순간이 한창 전투 중일 수 있다. 프레임이 눈에 띄게 끊긴다.</a:t>
            </a:r>
            <a:endParaRPr lang="ko-KR" altLang="en-US" sz="1500" dirty="0"/>
          </a:p>
        </p:txBody>
      </p:sp>
      <p:sp>
        <p:nvSpPr>
          <p:cNvPr id="31" name="card"/>
          <p:cNvSpPr/>
          <p:nvPr/>
        </p:nvSpPr>
        <p:spPr>
          <a:xfrm>
            <a:off x="6278728" y="3429000"/>
            <a:ext cx="5364328" cy="2194560"/>
          </a:xfrm>
          <a:prstGeom prst="roundRect">
            <a:avLst>
              <a:gd name="adj" fmla="val 4167"/>
            </a:avLst>
          </a:prstGeom>
          <a:solidFill>
            <a:schemeClr val="bg2"/>
          </a:solidFill>
          <a:ln w="12700">
            <a:solidFill>
              <a:schemeClr val="bg2"/>
            </a:solidFill>
            <a:prstDash val="solid"/>
          </a:ln>
        </p:spPr>
      </p:sp>
      <p:sp>
        <p:nvSpPr>
          <p:cNvPr id="32" name="Shape 29"/>
          <p:cNvSpPr/>
          <p:nvPr/>
        </p:nvSpPr>
        <p:spPr>
          <a:xfrm>
            <a:off x="6507328" y="3630168"/>
            <a:ext cx="420624" cy="420624"/>
          </a:xfrm>
          <a:prstGeom prst="ellipse">
            <a:avLst/>
          </a:prstGeom>
          <a:solidFill>
            <a:schemeClr val="accent1"/>
          </a:solidFill>
          <a:ln w="12700">
            <a:solidFill>
              <a:schemeClr val="accent1"/>
            </a:solidFill>
            <a:prstDash val="solid"/>
          </a:ln>
        </p:spPr>
      </p:sp>
      <p:sp>
        <p:nvSpPr>
          <p:cNvPr id="33" name="Text 30"/>
          <p:cNvSpPr txBox="1"/>
          <p:nvPr/>
        </p:nvSpPr>
        <p:spPr>
          <a:xfrm>
            <a:off x="6507328"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34" name="Text 31"/>
          <p:cNvSpPr txBox="1"/>
          <p:nvPr/>
        </p:nvSpPr>
        <p:spPr>
          <a:xfrm>
            <a:off x="7055968" y="3648456"/>
            <a:ext cx="440420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메모리를 통제할 수 없다</a:t>
            </a:r>
            <a:endParaRPr lang="ko-KR" altLang="en-US" sz="1700" dirty="0"/>
          </a:p>
        </p:txBody>
      </p:sp>
      <p:sp>
        <p:nvSpPr>
          <p:cNvPr id="35" name="Text 32"/>
          <p:cNvSpPr txBox="1"/>
          <p:nvPr/>
        </p:nvSpPr>
        <p:spPr>
          <a:xfrm>
            <a:off x="6507328" y="4206240"/>
            <a:ext cx="4907128" cy="1280160"/>
          </a:xfrm>
          <a:prstGeom prst="rect">
            <a:avLst/>
          </a:prstGeom>
          <a:noFill/>
          <a:ln/>
        </p:spPr>
        <p:txBody>
          <a:bodyPr wrap="square" lIns="0" tIns="0" rIns="0" bIns="0" rtlCol="0" anchor="t"/>
          <a:lstStyle/>
          <a:p>
            <a:pPr indent="0" marL="0" eaLnBrk="0">
              <a:buNone/>
            </a:pPr>
            <a:r>
              <a:rPr lang="ko-KR" altLang="en-US" sz="1500" dirty="0">
                <a:solidFill>
                  <a:schemeClr val="tx2"/>
                </a:solidFill>
              </a:rPr>
              <a:t>초기화하면서 힙을 할당한다. 언제 할당될지 모르면 메모리 배치를 정할 수 없어 단편화가 생긴다.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정적 인스턴스</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인스턴스를 미리 만들어 두면 사실상 정적 클래스가 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싱글턴을 쓰지 않는다면, 원래의 문제는 무엇으로 풀까?</a:t>
            </a:r>
            <a:endParaRPr lang="ko-KR" altLang="en-US" sz="1500" dirty="0"/>
          </a:p>
        </p:txBody>
      </p:sp>
      <p:sp>
        <p:nvSpPr>
          <p:cNvPr id="6" name="codePanel"/>
          <p:cNvSpPr/>
          <p:nvPr/>
        </p:nvSpPr>
        <p:spPr>
          <a:xfrm>
            <a:off x="548640" y="1645920"/>
            <a:ext cx="6583680" cy="2194560"/>
          </a:xfrm>
          <a:prstGeom prst="roundRect">
            <a:avLst>
              <a:gd name="adj" fmla="val 3333"/>
            </a:avLst>
          </a:prstGeom>
          <a:solidFill>
            <a:schemeClr val="tx1"/>
          </a:solidFill>
          <a:ln w="12700">
            <a:solidFill>
              <a:schemeClr val="tx1"/>
            </a:solidFill>
            <a:prstDash val="solid"/>
          </a:ln>
        </p:spPr>
      </p:sp>
      <p:sp>
        <p:nvSpPr>
          <p:cNvPr id="7" name="code"/>
          <p:cNvSpPr txBox="1"/>
          <p:nvPr/>
        </p:nvSpPr>
        <p:spPr>
          <a:xfrm>
            <a:off x="658368" y="1737360"/>
            <a:ext cx="6364224" cy="201168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public class FileSystem</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static readonly FileSystem _instance = new FileSystem();</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public static FileSystem Instance =&gt; _instance;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FileSystem() {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codeCaption"/>
          <p:cNvSpPr txBox="1"/>
          <p:nvPr/>
        </p:nvSpPr>
        <p:spPr>
          <a:xfrm>
            <a:off x="402336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498080" y="1645920"/>
            <a:ext cx="4144975" cy="2194560"/>
          </a:xfrm>
          <a:prstGeom prst="roundRect">
            <a:avLst>
              <a:gd name="adj" fmla="val 4167"/>
            </a:avLst>
          </a:prstGeom>
          <a:solidFill>
            <a:schemeClr val="bg2"/>
          </a:solidFill>
          <a:ln w="12700">
            <a:solidFill>
              <a:schemeClr val="bg2"/>
            </a:solidFill>
            <a:prstDash val="solid"/>
          </a:ln>
        </p:spPr>
      </p:sp>
      <p:sp>
        <p:nvSpPr>
          <p:cNvPr id="10" name="Text 7"/>
          <p:cNvSpPr txBox="1"/>
          <p:nvPr/>
        </p:nvSpPr>
        <p:spPr>
          <a:xfrm>
            <a:off x="7726680" y="186537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함께 잃는 것</a:t>
            </a:r>
            <a:endParaRPr lang="ko-KR" altLang="en-US" sz="1700" dirty="0"/>
          </a:p>
        </p:txBody>
      </p:sp>
      <p:sp>
        <p:nvSpPr>
          <p:cNvPr id="11" name="Text 8"/>
          <p:cNvSpPr txBox="1"/>
          <p:nvPr/>
        </p:nvSpPr>
        <p:spPr>
          <a:xfrm>
            <a:off x="7726680" y="2286000"/>
            <a:ext cx="3687775" cy="1463040"/>
          </a:xfrm>
          <a:prstGeom prst="rect">
            <a:avLst/>
          </a:prstGeom>
          <a:noFill/>
          <a:ln/>
        </p:spPr>
        <p:txBody>
          <a:bodyPr wrap="square" lIns="0" tIns="0" rIns="0" bIns="0" rtlCol="0" anchor="t"/>
          <a:lstStyle/>
          <a:p>
            <a:pPr indent="0" marL="0" eaLnBrk="0">
              <a:spcAft>
                <a:spcPts val="600"/>
              </a:spcAft>
              <a:buNone/>
            </a:pPr>
            <a:r>
              <a:rPr lang="ko-KR" altLang="en-US" sz="1400" dirty="0">
                <a:solidFill>
                  <a:schemeClr val="tx2"/>
                </a:solidFill>
              </a:rPr>
              <a:t>하위 클래스로 바꿀 수 없다.</a:t>
            </a:r>
            <a:endParaRPr lang="ko-KR" altLang="en-US" sz="1400" dirty="0"/>
          </a:p>
          <a:p>
            <a:pPr indent="0" marL="0" eaLnBrk="0">
              <a:spcAft>
                <a:spcPts val="600"/>
              </a:spcAft>
              <a:buNone/>
            </a:pPr>
            <a:r>
              <a:rPr lang="ko-KR" altLang="en-US" sz="1400" dirty="0">
                <a:solidFill>
                  <a:schemeClr val="tx2"/>
                </a:solidFill>
              </a:rPr>
              <a:t>정적 초기화 시점에 만들 수 있어야 한다.</a:t>
            </a:r>
            <a:endParaRPr lang="ko-KR" altLang="en-US" sz="1400" dirty="0"/>
          </a:p>
          <a:p>
            <a:pPr indent="0" marL="0" eaLnBrk="0">
              <a:spcAft>
                <a:spcPts val="600"/>
              </a:spcAft>
              <a:buNone/>
            </a:pPr>
            <a:r>
              <a:rPr lang="ko-KR" altLang="en-US" sz="1400" dirty="0">
                <a:solidFill>
                  <a:schemeClr val="tx2"/>
                </a:solidFill>
              </a:rPr>
              <a:t>쓰지 않을 때 메모리를 풀 수 없다.</a:t>
            </a:r>
            <a:endParaRPr lang="ko-KR" altLang="en-US" sz="1400" dirty="0"/>
          </a:p>
        </p:txBody>
      </p:sp>
      <p:sp>
        <p:nvSpPr>
          <p:cNvPr id="12" name="Text 9"/>
          <p:cNvSpPr txBox="1"/>
          <p:nvPr/>
        </p:nvSpPr>
        <p:spPr>
          <a:xfrm>
            <a:off x="548640" y="4069080"/>
            <a:ext cx="11094415" cy="365760"/>
          </a:xfrm>
          <a:prstGeom prst="rect">
            <a:avLst/>
          </a:prstGeom>
          <a:noFill/>
          <a:ln/>
        </p:spPr>
        <p:txBody>
          <a:bodyPr wrap="square" lIns="0" tIns="0" rIns="0" bIns="0" rtlCol="0" anchor="t"/>
          <a:lstStyle/>
          <a:p>
            <a:pPr indent="0" marL="0" eaLnBrk="0">
              <a:buNone/>
            </a:pPr>
            <a:r>
              <a:rPr lang="ko-KR" altLang="en-US" sz="1700" b="1" dirty="0">
                <a:solidFill>
                  <a:schemeClr val="tx1"/>
                </a:solidFill>
              </a:rPr>
              <a:t>남은 것은 정적 클래스다</a:t>
            </a:r>
            <a:endParaRPr lang="ko-KR" altLang="en-US" sz="1700" dirty="0"/>
          </a:p>
        </p:txBody>
      </p:sp>
      <p:sp>
        <p:nvSpPr>
          <p:cNvPr id="13" name="codePanel"/>
          <p:cNvSpPr/>
          <p:nvPr/>
        </p:nvSpPr>
        <p:spPr>
          <a:xfrm>
            <a:off x="548640" y="4526280"/>
            <a:ext cx="11094415" cy="914400"/>
          </a:xfrm>
          <a:prstGeom prst="roundRect">
            <a:avLst>
              <a:gd name="adj" fmla="val 8000"/>
            </a:avLst>
          </a:prstGeom>
          <a:solidFill>
            <a:schemeClr val="tx1"/>
          </a:solidFill>
          <a:ln w="12700">
            <a:solidFill>
              <a:schemeClr val="tx1"/>
            </a:solidFill>
            <a:prstDash val="solid"/>
          </a:ln>
        </p:spPr>
      </p:sp>
      <p:sp>
        <p:nvSpPr>
          <p:cNvPr id="14" name="code"/>
          <p:cNvSpPr txBox="1"/>
          <p:nvPr/>
        </p:nvSpPr>
        <p:spPr>
          <a:xfrm>
            <a:off x="658368" y="4617720"/>
            <a:ext cx="10874959" cy="73152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Foo.Instance.Bar();   // 싱글턴처럼 부른다</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Foo.Bar();            // 정적 클래스: 더 짧고, 정적 메모리라는 것이 드러난다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4부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대신 할 수 있는 것</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대안</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관리자 클래스</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관리자 클래스는 다른 객체를 돌보려고만 존재한다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BulletManager는 정말 몇 개가 필요할까?</a:t>
            </a:r>
            <a:endParaRPr lang="ko-KR" altLang="en-US" sz="1500" dirty="0"/>
          </a:p>
        </p:txBody>
      </p:sp>
      <p:sp>
        <p:nvSpPr>
          <p:cNvPr id="6" name="codePanel"/>
          <p:cNvSpPr/>
          <p:nvPr/>
        </p:nvSpPr>
        <p:spPr>
          <a:xfrm>
            <a:off x="548640" y="1600200"/>
            <a:ext cx="676656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547104" cy="393192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Bullet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int X { get; set;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int Y { get; set;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public class BulletManager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Bullet Create(int x, int y)</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var bullet = new Bullet();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bullet.X = x;</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bullet.Y = y;</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return bullet;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bool IsOnScreen(Bullet bullet)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return bullet.X &gt;= 0 &amp;&amp; bullet.X &lt; ScreenWidth &amp;&amp;</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bullet.Y &gt;= 0 &amp;&amp; bullet.Y &lt; ScreenHeight;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Move(Bullet bullet) { bullet.X += 5;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8" name="codeCaption"/>
          <p:cNvSpPr txBox="1"/>
          <p:nvPr/>
        </p:nvSpPr>
        <p:spPr>
          <a:xfrm>
            <a:off x="420624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680960" y="1600200"/>
            <a:ext cx="3962095" cy="1920240"/>
          </a:xfrm>
          <a:prstGeom prst="roundRect">
            <a:avLst>
              <a:gd name="adj" fmla="val 4762"/>
            </a:avLst>
          </a:prstGeom>
          <a:solidFill>
            <a:schemeClr val="bg2"/>
          </a:solidFill>
          <a:ln w="12700">
            <a:solidFill>
              <a:schemeClr val="bg2"/>
            </a:solidFill>
            <a:prstDash val="solid"/>
          </a:ln>
        </p:spPr>
      </p:sp>
      <p:sp>
        <p:nvSpPr>
          <p:cNvPr id="10" name="Text 7"/>
          <p:cNvSpPr txBox="1"/>
          <p:nvPr/>
        </p:nvSpPr>
        <p:spPr>
          <a:xfrm>
            <a:off x="7909560" y="181965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흔한 관리자 이름</a:t>
            </a:r>
            <a:endParaRPr lang="ko-KR" altLang="en-US" sz="1700" dirty="0"/>
          </a:p>
        </p:txBody>
      </p:sp>
      <p:sp>
        <p:nvSpPr>
          <p:cNvPr id="11" name="Text 8"/>
          <p:cNvSpPr txBox="1"/>
          <p:nvPr/>
        </p:nvSpPr>
        <p:spPr>
          <a:xfrm>
            <a:off x="7909560" y="2286000"/>
            <a:ext cx="3504895"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MonsterManager, ParticleManager, SoundManager, 그리고 System이나 Engine.</a:t>
            </a:r>
            <a:endParaRPr lang="ko-KR" altLang="en-US" sz="1400" dirty="0"/>
          </a:p>
        </p:txBody>
      </p:sp>
      <p:sp>
        <p:nvSpPr>
          <p:cNvPr id="12" name="card"/>
          <p:cNvSpPr/>
          <p:nvPr/>
        </p:nvSpPr>
        <p:spPr>
          <a:xfrm>
            <a:off x="7680960" y="3657600"/>
            <a:ext cx="3962095" cy="2057400"/>
          </a:xfrm>
          <a:prstGeom prst="roundRect">
            <a:avLst>
              <a:gd name="adj" fmla="val 4444"/>
            </a:avLst>
          </a:prstGeom>
          <a:solidFill>
            <a:schemeClr val="bg2"/>
          </a:solidFill>
          <a:ln w="12700">
            <a:solidFill>
              <a:schemeClr val="bg2"/>
            </a:solidFill>
            <a:prstDash val="solid"/>
          </a:ln>
        </p:spPr>
      </p:sp>
      <p:sp>
        <p:nvSpPr>
          <p:cNvPr id="13" name="Text 10"/>
          <p:cNvSpPr txBox="1"/>
          <p:nvPr/>
        </p:nvSpPr>
        <p:spPr>
          <a:xfrm>
            <a:off x="7909560" y="387705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자연스러운 생각</a:t>
            </a:r>
            <a:endParaRPr lang="ko-KR" altLang="en-US" sz="1700" dirty="0"/>
          </a:p>
        </p:txBody>
      </p:sp>
      <p:sp>
        <p:nvSpPr>
          <p:cNvPr id="14" name="Text 11"/>
          <p:cNvSpPr txBox="1"/>
          <p:nvPr/>
        </p:nvSpPr>
        <p:spPr>
          <a:xfrm>
            <a:off x="7909560" y="4343400"/>
            <a:ext cx="3504895" cy="1280160"/>
          </a:xfrm>
          <a:prstGeom prst="rect">
            <a:avLst/>
          </a:prstGeom>
          <a:noFill/>
          <a:ln/>
        </p:spPr>
        <p:txBody>
          <a:bodyPr wrap="square" lIns="0" tIns="0" rIns="0" bIns="0" rtlCol="0" anchor="t"/>
          <a:lstStyle/>
          <a:p>
            <a:pPr indent="0" marL="0" eaLnBrk="0">
              <a:buNone/>
            </a:pPr>
            <a:r>
              <a:rPr lang="ko-KR" altLang="en-US" sz="1400" dirty="0">
                <a:solidFill>
                  <a:schemeClr val="tx2"/>
                </a:solidFill>
              </a:rPr>
              <a:t>총알이 있는 곳마다 관리자가 필요하다. 관리자는 하나면 되니 싱글턴으로 만들자.</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행동을 객체로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답은 0개다. 행동을 Bullet 자신에게 옮긴다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파일 시스템처럼 정말 하나만 있어야 할 때는 어떻게 할까?</a:t>
            </a:r>
            <a:endParaRPr lang="ko-KR" altLang="en-US" sz="1500" dirty="0"/>
          </a:p>
        </p:txBody>
      </p:sp>
      <p:sp>
        <p:nvSpPr>
          <p:cNvPr id="6" name="codePanel"/>
          <p:cNvSpPr/>
          <p:nvPr/>
        </p:nvSpPr>
        <p:spPr>
          <a:xfrm>
            <a:off x="548640" y="1645920"/>
            <a:ext cx="6309360" cy="3291840"/>
          </a:xfrm>
          <a:prstGeom prst="roundRect">
            <a:avLst>
              <a:gd name="adj" fmla="val 2222"/>
            </a:avLst>
          </a:prstGeom>
          <a:solidFill>
            <a:schemeClr val="tx1"/>
          </a:solidFill>
          <a:ln w="12700">
            <a:solidFill>
              <a:schemeClr val="tx1"/>
            </a:solidFill>
            <a:prstDash val="solid"/>
          </a:ln>
        </p:spPr>
      </p:sp>
      <p:sp>
        <p:nvSpPr>
          <p:cNvPr id="7" name="code"/>
          <p:cNvSpPr txBox="1"/>
          <p:nvPr/>
        </p:nvSpPr>
        <p:spPr>
          <a:xfrm>
            <a:off x="658368" y="1737360"/>
            <a:ext cx="6089904" cy="310896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Bullet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int _x, _y;</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public Bullet(int x, int y) { _x = x; _y = y;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public bool IsOnScreen()</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return _x &gt;= 0 &amp;&amp; _x &lt; ScreenWidth &amp;&amp;</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_y &gt;= 0 &amp;&amp; _y &lt; ScreenHeight;</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public void Move() { _x += 5;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374904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223760" y="1645920"/>
          <a:ext cx="4419295" cy="914400"/>
        </p:xfrm>
        <a:graphic>
          <a:graphicData uri="http://schemas.openxmlformats.org/drawingml/2006/table">
            <a:tbl>
              <a:tblPr/>
              <a:tblGrid>
                <a:gridCol w="2240280"/>
                <a:gridCol w="2179015"/>
              </a:tblGrid>
              <a:tr h="502920">
                <a:tc>
                  <a:txBody>
                    <a:bodyPr/>
                    <a:lstStyle/>
                    <a:p>
                      <a:pPr indent="0" marL="0" eaLnBrk="0">
                        <a:buNone/>
                      </a:pPr>
                      <a:r>
                        <a:rPr lang="ko-KR" altLang="en-US" sz="1300" b="1" dirty="0">
                          <a:solidFill>
                            <a:schemeClr val="bg1"/>
                          </a:solidFill>
                        </a:rPr>
                        <a:t>BulletManager에 있던 것</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300" b="1" dirty="0">
                          <a:solidFill>
                            <a:schemeClr val="bg1"/>
                          </a:solidFill>
                        </a:rPr>
                        <a:t>Bullet으로 옮긴 것</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300" b="1" dirty="0">
                          <a:solidFill>
                            <a:schemeClr val="tx1"/>
                          </a:solidFill>
                        </a:rPr>
                        <a:t>Create(x, y)</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생성자 Bullet(x, y)</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300" b="1" dirty="0">
                          <a:solidFill>
                            <a:schemeClr val="tx1"/>
                          </a:solidFill>
                        </a:rPr>
                        <a:t>IsOnScreen(bullet)</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bullet.IsOnScreen()</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300" b="1" dirty="0">
                          <a:solidFill>
                            <a:schemeClr val="tx1"/>
                          </a:solidFill>
                        </a:rPr>
                        <a:t>Move(bullet)</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300" dirty="0">
                          <a:solidFill>
                            <a:schemeClr val="tx2"/>
                          </a:solidFill>
                        </a:rPr>
                        <a:t>bullet.Move()</a:t>
                      </a:r>
                      <a:endParaRPr lang="ko-KR" altLang="en-US" sz="13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10" name="box"/>
          <p:cNvSpPr/>
          <p:nvPr/>
        </p:nvSpPr>
        <p:spPr>
          <a:xfrm>
            <a:off x="548640" y="5166360"/>
            <a:ext cx="11094415" cy="548640"/>
          </a:xfrm>
          <a:prstGeom prst="roundRect">
            <a:avLst>
              <a:gd name="adj" fmla="val 13333"/>
            </a:avLst>
          </a:prstGeom>
          <a:solidFill>
            <a:schemeClr val="tx2"/>
          </a:solidFill>
          <a:ln w="12700">
            <a:solidFill>
              <a:schemeClr val="tx2"/>
            </a:solidFill>
            <a:prstDash val="solid"/>
          </a:ln>
        </p:spPr>
      </p:sp>
      <p:sp>
        <p:nvSpPr>
          <p:cNvPr id="11" name="Text 7"/>
          <p:cNvSpPr txBox="1"/>
          <p:nvPr/>
        </p:nvSpPr>
        <p:spPr>
          <a:xfrm>
            <a:off x="548640" y="5166360"/>
            <a:ext cx="11094415" cy="54864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관리자도, 싱글턴도 필요 없다. 객체가 자기 일을 스스로 하게 한다.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하나만 보장하기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전역 접근 없이 인스턴스 하나만 보장한다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그럼 남은 절반, 편한 접근은 무엇으로 대신할까?</a:t>
            </a:r>
            <a:endParaRPr lang="ko-KR" altLang="en-US" sz="1500" dirty="0"/>
          </a:p>
        </p:txBody>
      </p:sp>
      <p:sp>
        <p:nvSpPr>
          <p:cNvPr id="6" name="codePanel"/>
          <p:cNvSpPr/>
          <p:nvPr/>
        </p:nvSpPr>
        <p:spPr>
          <a:xfrm>
            <a:off x="548640" y="1645920"/>
            <a:ext cx="6949440" cy="3017520"/>
          </a:xfrm>
          <a:prstGeom prst="roundRect">
            <a:avLst>
              <a:gd name="adj" fmla="val 2424"/>
            </a:avLst>
          </a:prstGeom>
          <a:solidFill>
            <a:schemeClr val="tx1"/>
          </a:solidFill>
          <a:ln w="12700">
            <a:solidFill>
              <a:schemeClr val="tx1"/>
            </a:solidFill>
            <a:prstDash val="solid"/>
          </a:ln>
        </p:spPr>
      </p:sp>
      <p:sp>
        <p:nvSpPr>
          <p:cNvPr id="7" name="code"/>
          <p:cNvSpPr txBox="1"/>
          <p:nvPr/>
        </p:nvSpPr>
        <p:spPr>
          <a:xfrm>
            <a:off x="658368" y="1737360"/>
            <a:ext cx="6729984" cy="283464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class FileSystem : IDisposable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static bool _instantiated;</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FileSystem()</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Debug.Assert(!_instantiated, "FileSystem은 하나만 만들 수 있다");</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_instantiated = true;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public void Dispose() { _instantiated = false;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38912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Text 6"/>
          <p:cNvSpPr txBox="1"/>
          <p:nvPr/>
        </p:nvSpPr>
        <p:spPr>
          <a:xfrm>
            <a:off x="548640" y="4846320"/>
            <a:ext cx="6949440" cy="731520"/>
          </a:xfrm>
          <a:prstGeom prst="rect">
            <a:avLst/>
          </a:prstGeom>
          <a:noFill/>
          <a:ln/>
        </p:spPr>
        <p:txBody>
          <a:bodyPr wrap="square" lIns="0" tIns="0" rIns="0" bIns="0" rtlCol="0" anchor="t"/>
          <a:lstStyle/>
          <a:p>
            <a:pPr indent="0" marL="0" eaLnBrk="0">
              <a:buNone/>
            </a:pPr>
            <a:r>
              <a:rPr lang="ko-KR" altLang="en-US" sz="1400" dirty="0">
                <a:solidFill>
                  <a:schemeClr val="accent5"/>
                </a:solidFill>
              </a:rPr>
              <a:t>C++의 소멸자 대신 Dispose()에서 표시를 되돌린다. C#의 종료자는 언제 실행될지 정해져 있지 않다.</a:t>
            </a:r>
            <a:endParaRPr lang="ko-KR" altLang="en-US" sz="1400" dirty="0"/>
          </a:p>
        </p:txBody>
      </p:sp>
      <p:sp>
        <p:nvSpPr>
          <p:cNvPr id="10" name="card"/>
          <p:cNvSpPr/>
          <p:nvPr/>
        </p:nvSpPr>
        <p:spPr>
          <a:xfrm>
            <a:off x="7863840" y="1645920"/>
            <a:ext cx="3779215" cy="1280160"/>
          </a:xfrm>
          <a:prstGeom prst="roundRect">
            <a:avLst>
              <a:gd name="adj" fmla="val 7143"/>
            </a:avLst>
          </a:prstGeom>
          <a:solidFill>
            <a:schemeClr val="bg2"/>
          </a:solidFill>
          <a:ln w="12700">
            <a:solidFill>
              <a:schemeClr val="bg2"/>
            </a:solidFill>
            <a:prstDash val="solid"/>
          </a:ln>
        </p:spPr>
      </p:sp>
      <p:sp>
        <p:nvSpPr>
          <p:cNvPr id="11" name="Text 8"/>
          <p:cNvSpPr txBox="1"/>
          <p:nvPr/>
        </p:nvSpPr>
        <p:spPr>
          <a:xfrm>
            <a:off x="8092440" y="18653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누구나, 단 한 번</a:t>
            </a:r>
            <a:endParaRPr lang="ko-KR" altLang="en-US" sz="1700" dirty="0"/>
          </a:p>
        </p:txBody>
      </p:sp>
      <p:sp>
        <p:nvSpPr>
          <p:cNvPr id="12" name="Text 9"/>
          <p:cNvSpPr txBox="1"/>
          <p:nvPr/>
        </p:nvSpPr>
        <p:spPr>
          <a:xfrm>
            <a:off x="8092440" y="2331720"/>
            <a:ext cx="3322015" cy="502920"/>
          </a:xfrm>
          <a:prstGeom prst="rect">
            <a:avLst/>
          </a:prstGeom>
          <a:noFill/>
          <a:ln/>
        </p:spPr>
        <p:txBody>
          <a:bodyPr wrap="square" lIns="0" tIns="0" rIns="0" bIns="0" rtlCol="0" anchor="t"/>
          <a:lstStyle/>
          <a:p>
            <a:pPr indent="0" marL="0" eaLnBrk="0">
              <a:buNone/>
            </a:pPr>
            <a:r>
              <a:rPr lang="ko-KR" altLang="en-US" sz="1400" dirty="0">
                <a:solidFill>
                  <a:schemeClr val="tx2"/>
                </a:solidFill>
              </a:rPr>
              <a:t>두 번째 생성에서 단언이 실패한다.</a:t>
            </a:r>
            <a:endParaRPr lang="ko-KR" altLang="en-US" sz="1400" dirty="0"/>
          </a:p>
        </p:txBody>
      </p:sp>
      <p:sp>
        <p:nvSpPr>
          <p:cNvPr id="13" name="card"/>
          <p:cNvSpPr/>
          <p:nvPr/>
        </p:nvSpPr>
        <p:spPr>
          <a:xfrm>
            <a:off x="7863840" y="3063240"/>
            <a:ext cx="3779215" cy="1280160"/>
          </a:xfrm>
          <a:prstGeom prst="roundRect">
            <a:avLst>
              <a:gd name="adj" fmla="val 7143"/>
            </a:avLst>
          </a:prstGeom>
          <a:solidFill>
            <a:schemeClr val="bg2"/>
          </a:solidFill>
          <a:ln w="12700">
            <a:solidFill>
              <a:schemeClr val="bg2"/>
            </a:solidFill>
            <a:prstDash val="solid"/>
          </a:ln>
        </p:spPr>
      </p:sp>
      <p:sp>
        <p:nvSpPr>
          <p:cNvPr id="14" name="Text 11"/>
          <p:cNvSpPr txBox="1"/>
          <p:nvPr/>
        </p:nvSpPr>
        <p:spPr>
          <a:xfrm>
            <a:off x="8092440" y="32826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쓰는 법은 정하지 않는다</a:t>
            </a:r>
            <a:endParaRPr lang="ko-KR" altLang="en-US" sz="1700" dirty="0"/>
          </a:p>
        </p:txBody>
      </p:sp>
      <p:sp>
        <p:nvSpPr>
          <p:cNvPr id="15" name="Text 12"/>
          <p:cNvSpPr txBox="1"/>
          <p:nvPr/>
        </p:nvSpPr>
        <p:spPr>
          <a:xfrm>
            <a:off x="8092440" y="3749040"/>
            <a:ext cx="3322015" cy="502920"/>
          </a:xfrm>
          <a:prstGeom prst="rect">
            <a:avLst/>
          </a:prstGeom>
          <a:noFill/>
          <a:ln/>
        </p:spPr>
        <p:txBody>
          <a:bodyPr wrap="square" lIns="0" tIns="0" rIns="0" bIns="0" rtlCol="0" anchor="t"/>
          <a:lstStyle/>
          <a:p>
            <a:pPr indent="0" marL="0" eaLnBrk="0">
              <a:buNone/>
            </a:pPr>
            <a:r>
              <a:rPr lang="ko-KR" altLang="en-US" sz="1400" dirty="0">
                <a:solidFill>
                  <a:schemeClr val="tx2"/>
                </a:solidFill>
              </a:rPr>
              <a:t>접근 범위를 필요한 곳으로 좁힐 수 있다.</a:t>
            </a:r>
            <a:endParaRPr lang="ko-KR" altLang="en-US" sz="1400" dirty="0"/>
          </a:p>
        </p:txBody>
      </p:sp>
      <p:sp>
        <p:nvSpPr>
          <p:cNvPr id="16" name="card"/>
          <p:cNvSpPr/>
          <p:nvPr/>
        </p:nvSpPr>
        <p:spPr>
          <a:xfrm>
            <a:off x="7863840" y="4480560"/>
            <a:ext cx="3779215" cy="1234440"/>
          </a:xfrm>
          <a:prstGeom prst="roundRect">
            <a:avLst>
              <a:gd name="adj" fmla="val 7407"/>
            </a:avLst>
          </a:prstGeom>
          <a:solidFill>
            <a:schemeClr val="bg2"/>
          </a:solidFill>
          <a:ln w="12700">
            <a:solidFill>
              <a:schemeClr val="bg2"/>
            </a:solidFill>
            <a:prstDash val="solid"/>
          </a:ln>
        </p:spPr>
      </p:sp>
      <p:sp>
        <p:nvSpPr>
          <p:cNvPr id="17" name="Text 14"/>
          <p:cNvSpPr txBox="1"/>
          <p:nvPr/>
        </p:nvSpPr>
        <p:spPr>
          <a:xfrm>
            <a:off x="8092440" y="470001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단점</a:t>
            </a:r>
            <a:endParaRPr lang="ko-KR" altLang="en-US" sz="1700" dirty="0"/>
          </a:p>
        </p:txBody>
      </p:sp>
      <p:sp>
        <p:nvSpPr>
          <p:cNvPr id="18" name="Text 15"/>
          <p:cNvSpPr txBox="1"/>
          <p:nvPr/>
        </p:nvSpPr>
        <p:spPr>
          <a:xfrm>
            <a:off x="8092440" y="5166360"/>
            <a:ext cx="33220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검사가 실행 중에 일어난다.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쉽게 접근하기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변수의 범위는 일이 되는 한 가장 좁게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가장 좁은 첫 번째 방법, 넘겨주기는 언제 잘 맞을까?</a:t>
            </a:r>
            <a:endParaRPr lang="ko-KR" altLang="en-US" sz="1500" dirty="0"/>
          </a:p>
        </p:txBody>
      </p:sp>
      <p:sp>
        <p:nvSpPr>
          <p:cNvPr id="6" name="box"/>
          <p:cNvSpPr/>
          <p:nvPr/>
        </p:nvSpPr>
        <p:spPr>
          <a:xfrm>
            <a:off x="548640" y="1645920"/>
            <a:ext cx="11094415" cy="868680"/>
          </a:xfrm>
          <a:prstGeom prst="roundRect">
            <a:avLst>
              <a:gd name="adj" fmla="val 8421"/>
            </a:avLst>
          </a:prstGeom>
          <a:solidFill>
            <a:schemeClr val="tx2"/>
          </a:solidFill>
          <a:ln w="12700">
            <a:solidFill>
              <a:schemeClr val="tx2"/>
            </a:solidFill>
            <a:prstDash val="solid"/>
          </a:ln>
        </p:spPr>
      </p:sp>
      <p:sp>
        <p:nvSpPr>
          <p:cNvPr id="7" name="Text 4"/>
          <p:cNvSpPr txBox="1"/>
          <p:nvPr/>
        </p:nvSpPr>
        <p:spPr>
          <a:xfrm>
            <a:off x="548640" y="1645920"/>
            <a:ext cx="11094415" cy="86868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쉽게 얻을 수 있는 객체는, 쓰지 말아야 할 곳에서도 쉽게 얻을 수 있다.</a:t>
            </a:r>
            <a:endParaRPr lang="ko-KR" altLang="en-US" sz="1700" dirty="0"/>
          </a:p>
        </p:txBody>
      </p:sp>
      <p:sp>
        <p:nvSpPr>
          <p:cNvPr id="8" name="card"/>
          <p:cNvSpPr/>
          <p:nvPr/>
        </p:nvSpPr>
        <p:spPr>
          <a:xfrm>
            <a:off x="548640" y="2788920"/>
            <a:ext cx="2377440" cy="2331720"/>
          </a:xfrm>
          <a:prstGeom prst="roundRect">
            <a:avLst>
              <a:gd name="adj" fmla="val 3922"/>
            </a:avLst>
          </a:prstGeom>
          <a:solidFill>
            <a:schemeClr val="bg2"/>
          </a:solidFill>
          <a:ln w="12700">
            <a:solidFill>
              <a:schemeClr val="bg2"/>
            </a:solidFill>
            <a:prstDash val="solid"/>
          </a:ln>
        </p:spPr>
      </p:sp>
      <p:sp>
        <p:nvSpPr>
          <p:cNvPr id="9" name="Shape 6"/>
          <p:cNvSpPr/>
          <p:nvPr/>
        </p:nvSpPr>
        <p:spPr>
          <a:xfrm>
            <a:off x="777240" y="2990088"/>
            <a:ext cx="420624" cy="420624"/>
          </a:xfrm>
          <a:prstGeom prst="ellipse">
            <a:avLst/>
          </a:prstGeom>
          <a:solidFill>
            <a:schemeClr val="accent1"/>
          </a:solidFill>
          <a:ln w="12700">
            <a:solidFill>
              <a:schemeClr val="accent1"/>
            </a:solidFill>
            <a:prstDash val="solid"/>
          </a:ln>
        </p:spPr>
      </p:sp>
      <p:sp>
        <p:nvSpPr>
          <p:cNvPr id="10" name="Text 7"/>
          <p:cNvSpPr txBox="1"/>
          <p:nvPr/>
        </p:nvSpPr>
        <p:spPr>
          <a:xfrm>
            <a:off x="777240" y="2990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1" name="Text 8"/>
          <p:cNvSpPr txBox="1"/>
          <p:nvPr/>
        </p:nvSpPr>
        <p:spPr>
          <a:xfrm>
            <a:off x="777240" y="3520440"/>
            <a:ext cx="2011680" cy="685800"/>
          </a:xfrm>
          <a:prstGeom prst="rect">
            <a:avLst/>
          </a:prstGeom>
          <a:noFill/>
          <a:ln/>
        </p:spPr>
        <p:txBody>
          <a:bodyPr wrap="square" lIns="0" tIns="0" rIns="0" bIns="0" rtlCol="0" anchor="t"/>
          <a:lstStyle/>
          <a:p>
            <a:pPr indent="0" marL="0" eaLnBrk="0">
              <a:buNone/>
            </a:pPr>
            <a:r>
              <a:rPr lang="ko-KR" altLang="en-US" sz="1500" b="1" dirty="0">
                <a:solidFill>
                  <a:schemeClr val="tx1"/>
                </a:solidFill>
              </a:rPr>
              <a:t>넘겨주기</a:t>
            </a:r>
            <a:endParaRPr lang="ko-KR" altLang="en-US" sz="1500" dirty="0"/>
          </a:p>
        </p:txBody>
      </p:sp>
      <p:sp>
        <p:nvSpPr>
          <p:cNvPr id="12" name="Text 9"/>
          <p:cNvSpPr txBox="1"/>
          <p:nvPr/>
        </p:nvSpPr>
        <p:spPr>
          <a:xfrm>
            <a:off x="777240" y="4251960"/>
            <a:ext cx="2011680"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필요한 함수에</a:t>
            </a:r>
            <a:endParaRPr lang="ko-KR" altLang="en-US" sz="1300" dirty="0"/>
          </a:p>
          <a:p>
            <a:pPr indent="0" marL="0" eaLnBrk="0">
              <a:buNone/>
            </a:pPr>
            <a:r>
              <a:rPr lang="ko-KR" altLang="en-US" sz="1300" dirty="0">
                <a:solidFill>
                  <a:schemeClr val="accent5"/>
                </a:solidFill>
              </a:rPr>
              <a:t>매개변수로 넘긴다</a:t>
            </a:r>
            <a:endParaRPr lang="ko-KR" altLang="en-US" sz="1300" dirty="0"/>
          </a:p>
        </p:txBody>
      </p:sp>
      <p:sp>
        <p:nvSpPr>
          <p:cNvPr id="13" name="Shape 10"/>
          <p:cNvSpPr/>
          <p:nvPr/>
        </p:nvSpPr>
        <p:spPr>
          <a:xfrm>
            <a:off x="2971800" y="3931920"/>
            <a:ext cx="436778" cy="914"/>
          </a:xfrm>
          <a:prstGeom prst="line">
            <a:avLst/>
          </a:prstGeom>
          <a:noFill/>
          <a:ln w="22225">
            <a:solidFill>
              <a:schemeClr val="accent3"/>
            </a:solidFill>
            <a:prstDash val="solid"/>
            <a:tailEnd type="triangle"/>
          </a:ln>
        </p:spPr>
      </p:sp>
      <p:sp>
        <p:nvSpPr>
          <p:cNvPr id="14" name="card"/>
          <p:cNvSpPr/>
          <p:nvPr/>
        </p:nvSpPr>
        <p:spPr>
          <a:xfrm>
            <a:off x="3454298" y="2788920"/>
            <a:ext cx="2377440" cy="2331720"/>
          </a:xfrm>
          <a:prstGeom prst="roundRect">
            <a:avLst>
              <a:gd name="adj" fmla="val 3922"/>
            </a:avLst>
          </a:prstGeom>
          <a:solidFill>
            <a:schemeClr val="bg2"/>
          </a:solidFill>
          <a:ln w="12700">
            <a:solidFill>
              <a:schemeClr val="bg2"/>
            </a:solidFill>
            <a:prstDash val="solid"/>
          </a:ln>
        </p:spPr>
      </p:sp>
      <p:sp>
        <p:nvSpPr>
          <p:cNvPr id="15" name="Shape 12"/>
          <p:cNvSpPr/>
          <p:nvPr/>
        </p:nvSpPr>
        <p:spPr>
          <a:xfrm>
            <a:off x="3682898" y="2990088"/>
            <a:ext cx="420624" cy="420624"/>
          </a:xfrm>
          <a:prstGeom prst="ellipse">
            <a:avLst/>
          </a:prstGeom>
          <a:solidFill>
            <a:schemeClr val="accent1"/>
          </a:solidFill>
          <a:ln w="12700">
            <a:solidFill>
              <a:schemeClr val="accent1"/>
            </a:solidFill>
            <a:prstDash val="solid"/>
          </a:ln>
        </p:spPr>
      </p:sp>
      <p:sp>
        <p:nvSpPr>
          <p:cNvPr id="16" name="Text 13"/>
          <p:cNvSpPr txBox="1"/>
          <p:nvPr/>
        </p:nvSpPr>
        <p:spPr>
          <a:xfrm>
            <a:off x="3682898" y="2990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7" name="Text 14"/>
          <p:cNvSpPr txBox="1"/>
          <p:nvPr/>
        </p:nvSpPr>
        <p:spPr>
          <a:xfrm>
            <a:off x="3682898" y="3520440"/>
            <a:ext cx="2011680" cy="685800"/>
          </a:xfrm>
          <a:prstGeom prst="rect">
            <a:avLst/>
          </a:prstGeom>
          <a:noFill/>
          <a:ln/>
        </p:spPr>
        <p:txBody>
          <a:bodyPr wrap="square" lIns="0" tIns="0" rIns="0" bIns="0" rtlCol="0" anchor="t"/>
          <a:lstStyle/>
          <a:p>
            <a:pPr indent="0" marL="0" eaLnBrk="0">
              <a:buNone/>
            </a:pPr>
            <a:r>
              <a:rPr lang="ko-KR" altLang="en-US" sz="1500" b="1" dirty="0">
                <a:solidFill>
                  <a:schemeClr val="tx1"/>
                </a:solidFill>
              </a:rPr>
              <a:t>상위 클래스에서</a:t>
            </a:r>
            <a:endParaRPr lang="ko-KR" altLang="en-US" sz="1500" dirty="0"/>
          </a:p>
          <a:p>
            <a:pPr indent="0" marL="0" eaLnBrk="0">
              <a:buNone/>
            </a:pPr>
            <a:r>
              <a:rPr lang="ko-KR" altLang="en-US" sz="1500" b="1" dirty="0">
                <a:solidFill>
                  <a:schemeClr val="tx1"/>
                </a:solidFill>
              </a:rPr>
              <a:t>얻기</a:t>
            </a:r>
            <a:endParaRPr lang="ko-KR" altLang="en-US" sz="1500" dirty="0"/>
          </a:p>
        </p:txBody>
      </p:sp>
      <p:sp>
        <p:nvSpPr>
          <p:cNvPr id="18" name="Text 15"/>
          <p:cNvSpPr txBox="1"/>
          <p:nvPr/>
        </p:nvSpPr>
        <p:spPr>
          <a:xfrm>
            <a:off x="3682898" y="4251960"/>
            <a:ext cx="2011680"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하위 클래스만</a:t>
            </a:r>
            <a:endParaRPr lang="ko-KR" altLang="en-US" sz="1300" dirty="0"/>
          </a:p>
          <a:p>
            <a:pPr indent="0" marL="0" eaLnBrk="0">
              <a:buNone/>
            </a:pPr>
            <a:r>
              <a:rPr lang="ko-KR" altLang="en-US" sz="1300" dirty="0">
                <a:solidFill>
                  <a:schemeClr val="accent5"/>
                </a:solidFill>
              </a:rPr>
              <a:t>쓸 수 있게 한다</a:t>
            </a:r>
            <a:endParaRPr lang="ko-KR" altLang="en-US" sz="1300" dirty="0"/>
          </a:p>
        </p:txBody>
      </p:sp>
      <p:sp>
        <p:nvSpPr>
          <p:cNvPr id="19" name="Shape 16"/>
          <p:cNvSpPr/>
          <p:nvPr/>
        </p:nvSpPr>
        <p:spPr>
          <a:xfrm>
            <a:off x="5877458" y="3931920"/>
            <a:ext cx="436778" cy="914"/>
          </a:xfrm>
          <a:prstGeom prst="line">
            <a:avLst/>
          </a:prstGeom>
          <a:noFill/>
          <a:ln w="22225">
            <a:solidFill>
              <a:schemeClr val="accent3"/>
            </a:solidFill>
            <a:prstDash val="solid"/>
            <a:tailEnd type="triangle"/>
          </a:ln>
        </p:spPr>
      </p:sp>
      <p:sp>
        <p:nvSpPr>
          <p:cNvPr id="20" name="card"/>
          <p:cNvSpPr/>
          <p:nvPr/>
        </p:nvSpPr>
        <p:spPr>
          <a:xfrm>
            <a:off x="6359957" y="2788920"/>
            <a:ext cx="2377440" cy="2331720"/>
          </a:xfrm>
          <a:prstGeom prst="roundRect">
            <a:avLst>
              <a:gd name="adj" fmla="val 3922"/>
            </a:avLst>
          </a:prstGeom>
          <a:solidFill>
            <a:schemeClr val="bg2"/>
          </a:solidFill>
          <a:ln w="12700">
            <a:solidFill>
              <a:schemeClr val="bg2"/>
            </a:solidFill>
            <a:prstDash val="solid"/>
          </a:ln>
        </p:spPr>
      </p:sp>
      <p:sp>
        <p:nvSpPr>
          <p:cNvPr id="21" name="Shape 18"/>
          <p:cNvSpPr/>
          <p:nvPr/>
        </p:nvSpPr>
        <p:spPr>
          <a:xfrm>
            <a:off x="6588557" y="2990088"/>
            <a:ext cx="420624" cy="420624"/>
          </a:xfrm>
          <a:prstGeom prst="ellipse">
            <a:avLst/>
          </a:prstGeom>
          <a:solidFill>
            <a:schemeClr val="accent1"/>
          </a:solidFill>
          <a:ln w="12700">
            <a:solidFill>
              <a:schemeClr val="accent1"/>
            </a:solidFill>
            <a:prstDash val="solid"/>
          </a:ln>
        </p:spPr>
      </p:sp>
      <p:sp>
        <p:nvSpPr>
          <p:cNvPr id="22" name="Text 19"/>
          <p:cNvSpPr txBox="1"/>
          <p:nvPr/>
        </p:nvSpPr>
        <p:spPr>
          <a:xfrm>
            <a:off x="6588557" y="2990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3" name="Text 20"/>
          <p:cNvSpPr txBox="1"/>
          <p:nvPr/>
        </p:nvSpPr>
        <p:spPr>
          <a:xfrm>
            <a:off x="6588557" y="3520440"/>
            <a:ext cx="2011680" cy="685800"/>
          </a:xfrm>
          <a:prstGeom prst="rect">
            <a:avLst/>
          </a:prstGeom>
          <a:noFill/>
          <a:ln/>
        </p:spPr>
        <p:txBody>
          <a:bodyPr wrap="square" lIns="0" tIns="0" rIns="0" bIns="0" rtlCol="0" anchor="t"/>
          <a:lstStyle/>
          <a:p>
            <a:pPr indent="0" marL="0" eaLnBrk="0">
              <a:buNone/>
            </a:pPr>
            <a:r>
              <a:rPr lang="ko-KR" altLang="en-US" sz="1500" b="1" dirty="0">
                <a:solidFill>
                  <a:schemeClr val="tx1"/>
                </a:solidFill>
              </a:rPr>
              <a:t>이미 전역인</a:t>
            </a:r>
            <a:endParaRPr lang="ko-KR" altLang="en-US" sz="1500" dirty="0"/>
          </a:p>
          <a:p>
            <a:pPr indent="0" marL="0" eaLnBrk="0">
              <a:buNone/>
            </a:pPr>
            <a:r>
              <a:rPr lang="ko-KR" altLang="en-US" sz="1500" b="1" dirty="0">
                <a:solidFill>
                  <a:schemeClr val="tx1"/>
                </a:solidFill>
              </a:rPr>
              <a:t>객체에서 얻기</a:t>
            </a:r>
            <a:endParaRPr lang="ko-KR" altLang="en-US" sz="1500" dirty="0"/>
          </a:p>
        </p:txBody>
      </p:sp>
      <p:sp>
        <p:nvSpPr>
          <p:cNvPr id="24" name="Text 21"/>
          <p:cNvSpPr txBox="1"/>
          <p:nvPr/>
        </p:nvSpPr>
        <p:spPr>
          <a:xfrm>
            <a:off x="6588557" y="4251960"/>
            <a:ext cx="2011680"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전역 객체를</a:t>
            </a:r>
            <a:endParaRPr lang="ko-KR" altLang="en-US" sz="1300" dirty="0"/>
          </a:p>
          <a:p>
            <a:pPr indent="0" marL="0" eaLnBrk="0">
              <a:buNone/>
            </a:pPr>
            <a:r>
              <a:rPr lang="ko-KR" altLang="en-US" sz="1300" dirty="0">
                <a:solidFill>
                  <a:schemeClr val="accent5"/>
                </a:solidFill>
              </a:rPr>
              <a:t>하나로 줄인다</a:t>
            </a:r>
            <a:endParaRPr lang="ko-KR" altLang="en-US" sz="1300" dirty="0"/>
          </a:p>
        </p:txBody>
      </p:sp>
      <p:sp>
        <p:nvSpPr>
          <p:cNvPr id="25" name="Shape 22"/>
          <p:cNvSpPr/>
          <p:nvPr/>
        </p:nvSpPr>
        <p:spPr>
          <a:xfrm>
            <a:off x="8783117" y="3931920"/>
            <a:ext cx="436778" cy="914"/>
          </a:xfrm>
          <a:prstGeom prst="line">
            <a:avLst/>
          </a:prstGeom>
          <a:noFill/>
          <a:ln w="22225">
            <a:solidFill>
              <a:schemeClr val="accent3"/>
            </a:solidFill>
            <a:prstDash val="solid"/>
            <a:tailEnd type="triangle"/>
          </a:ln>
        </p:spPr>
      </p:sp>
      <p:sp>
        <p:nvSpPr>
          <p:cNvPr id="26" name="card"/>
          <p:cNvSpPr/>
          <p:nvPr/>
        </p:nvSpPr>
        <p:spPr>
          <a:xfrm>
            <a:off x="9265615" y="2788920"/>
            <a:ext cx="2377440" cy="2331720"/>
          </a:xfrm>
          <a:prstGeom prst="roundRect">
            <a:avLst>
              <a:gd name="adj" fmla="val 3922"/>
            </a:avLst>
          </a:prstGeom>
          <a:solidFill>
            <a:schemeClr val="bg2"/>
          </a:solidFill>
          <a:ln w="12700">
            <a:solidFill>
              <a:schemeClr val="bg2"/>
            </a:solidFill>
            <a:prstDash val="solid"/>
          </a:ln>
        </p:spPr>
      </p:sp>
      <p:sp>
        <p:nvSpPr>
          <p:cNvPr id="27" name="Shape 24"/>
          <p:cNvSpPr/>
          <p:nvPr/>
        </p:nvSpPr>
        <p:spPr>
          <a:xfrm>
            <a:off x="9494215" y="2990088"/>
            <a:ext cx="420624" cy="420624"/>
          </a:xfrm>
          <a:prstGeom prst="ellipse">
            <a:avLst/>
          </a:prstGeom>
          <a:solidFill>
            <a:schemeClr val="accent1"/>
          </a:solidFill>
          <a:ln w="12700">
            <a:solidFill>
              <a:schemeClr val="accent1"/>
            </a:solidFill>
            <a:prstDash val="solid"/>
          </a:ln>
        </p:spPr>
      </p:sp>
      <p:sp>
        <p:nvSpPr>
          <p:cNvPr id="28" name="Text 25"/>
          <p:cNvSpPr txBox="1"/>
          <p:nvPr/>
        </p:nvSpPr>
        <p:spPr>
          <a:xfrm>
            <a:off x="9494215" y="2990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9" name="Shape 26"/>
          <p:cNvSpPr/>
          <p:nvPr/>
        </p:nvSpPr>
        <p:spPr>
          <a:xfrm>
            <a:off x="10637215" y="2962656"/>
            <a:ext cx="822960" cy="347472"/>
          </a:xfrm>
          <a:prstGeom prst="roundRect">
            <a:avLst>
              <a:gd name="adj" fmla="val 21053"/>
            </a:avLst>
          </a:prstGeom>
          <a:solidFill>
            <a:schemeClr val="accent1"/>
          </a:solidFill>
          <a:ln w="12700">
            <a:solidFill>
              <a:schemeClr val="accent1"/>
            </a:solidFill>
            <a:prstDash val="solid"/>
          </a:ln>
        </p:spPr>
      </p:sp>
      <p:sp>
        <p:nvSpPr>
          <p:cNvPr id="30" name="Text 27"/>
          <p:cNvSpPr txBox="1"/>
          <p:nvPr/>
        </p:nvSpPr>
        <p:spPr>
          <a:xfrm>
            <a:off x="10637215" y="2962656"/>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11강</a:t>
            </a:r>
            <a:endParaRPr lang="ko-KR" altLang="en-US" sz="1200" dirty="0"/>
          </a:p>
        </p:txBody>
      </p:sp>
      <p:sp>
        <p:nvSpPr>
          <p:cNvPr id="31" name="Text 28"/>
          <p:cNvSpPr txBox="1"/>
          <p:nvPr/>
        </p:nvSpPr>
        <p:spPr>
          <a:xfrm>
            <a:off x="9494215" y="3520440"/>
            <a:ext cx="2011680" cy="685800"/>
          </a:xfrm>
          <a:prstGeom prst="rect">
            <a:avLst/>
          </a:prstGeom>
          <a:noFill/>
          <a:ln/>
        </p:spPr>
        <p:txBody>
          <a:bodyPr wrap="square" lIns="0" tIns="0" rIns="0" bIns="0" rtlCol="0" anchor="t"/>
          <a:lstStyle/>
          <a:p>
            <a:pPr indent="0" marL="0" eaLnBrk="0">
              <a:buNone/>
            </a:pPr>
            <a:r>
              <a:rPr lang="ko-KR" altLang="en-US" sz="1500" b="1" dirty="0">
                <a:solidFill>
                  <a:schemeClr val="tx1"/>
                </a:solidFill>
              </a:rPr>
              <a:t>서비스 중개자에서</a:t>
            </a:r>
            <a:endParaRPr lang="ko-KR" altLang="en-US" sz="1500" dirty="0"/>
          </a:p>
          <a:p>
            <a:pPr indent="0" marL="0" eaLnBrk="0">
              <a:buNone/>
            </a:pPr>
            <a:r>
              <a:rPr lang="ko-KR" altLang="en-US" sz="1500" b="1" dirty="0">
                <a:solidFill>
                  <a:schemeClr val="tx1"/>
                </a:solidFill>
              </a:rPr>
              <a:t>얻기</a:t>
            </a:r>
            <a:endParaRPr lang="ko-KR" altLang="en-US" sz="1500" dirty="0"/>
          </a:p>
        </p:txBody>
      </p:sp>
      <p:sp>
        <p:nvSpPr>
          <p:cNvPr id="32" name="Text 29"/>
          <p:cNvSpPr txBox="1"/>
          <p:nvPr/>
        </p:nvSpPr>
        <p:spPr>
          <a:xfrm>
            <a:off x="9494215" y="4251960"/>
            <a:ext cx="2011680" cy="731520"/>
          </a:xfrm>
          <a:prstGeom prst="rect">
            <a:avLst/>
          </a:prstGeom>
          <a:noFill/>
          <a:ln/>
        </p:spPr>
        <p:txBody>
          <a:bodyPr wrap="square" lIns="0" tIns="0" rIns="0" bIns="0" rtlCol="0" anchor="t"/>
          <a:lstStyle/>
          <a:p>
            <a:pPr indent="0" marL="0" eaLnBrk="0">
              <a:buNone/>
            </a:pPr>
            <a:r>
              <a:rPr lang="ko-KR" altLang="en-US" sz="1300" dirty="0">
                <a:solidFill>
                  <a:schemeClr val="accent5"/>
                </a:solidFill>
              </a:rPr>
              <a:t>전역 접근만 맡는</a:t>
            </a:r>
            <a:endParaRPr lang="ko-KR" altLang="en-US" sz="1300" dirty="0"/>
          </a:p>
          <a:p>
            <a:pPr indent="0" marL="0" eaLnBrk="0">
              <a:buNone/>
            </a:pPr>
            <a:r>
              <a:rPr lang="ko-KR" altLang="en-US" sz="1300" dirty="0">
                <a:solidFill>
                  <a:schemeClr val="accent5"/>
                </a:solidFill>
              </a:rPr>
              <a:t>클래스를 둔다</a:t>
            </a:r>
            <a:endParaRPr lang="ko-KR" altLang="en-US" sz="1300" dirty="0"/>
          </a:p>
        </p:txBody>
      </p:sp>
      <p:sp>
        <p:nvSpPr>
          <p:cNvPr id="33" name="Text 30"/>
          <p:cNvSpPr txBox="1"/>
          <p:nvPr/>
        </p:nvSpPr>
        <p:spPr>
          <a:xfrm>
            <a:off x="548640" y="5257800"/>
            <a:ext cx="11094415" cy="365760"/>
          </a:xfrm>
          <a:prstGeom prst="rect">
            <a:avLst/>
          </a:prstGeom>
          <a:noFill/>
          <a:ln/>
        </p:spPr>
        <p:txBody>
          <a:bodyPr wrap="square" lIns="0" tIns="0" rIns="0" bIns="0" rtlCol="0" anchor="t"/>
          <a:lstStyle/>
          <a:p>
            <a:pPr indent="0" marL="0" eaLnBrk="0">
              <a:buNone/>
            </a:pPr>
            <a:r>
              <a:rPr lang="ko-KR" altLang="en-US" sz="1400" b="1" dirty="0">
                <a:solidFill>
                  <a:schemeClr val="accent5"/>
                </a:solidFill>
              </a:rPr>
              <a:t>범위:  좁다  →  넓다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넘겨주기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가장 단순하고 흔히 가장 좋은 방법은 매개변수로 넘기는 것이다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매개변수로 넘기기 어색한 객체는 어디서 얻을까?</a:t>
            </a:r>
            <a:endParaRPr lang="ko-KR" altLang="en-US" sz="1500" dirty="0"/>
          </a:p>
        </p:txBody>
      </p:sp>
      <p:sp>
        <p:nvSpPr>
          <p:cNvPr id="6" name="Text 3"/>
          <p:cNvSpPr txBox="1"/>
          <p:nvPr/>
        </p:nvSpPr>
        <p:spPr>
          <a:xfrm>
            <a:off x="548640" y="1645920"/>
            <a:ext cx="6400800" cy="365760"/>
          </a:xfrm>
          <a:prstGeom prst="rect">
            <a:avLst/>
          </a:prstGeom>
          <a:noFill/>
          <a:ln/>
        </p:spPr>
        <p:txBody>
          <a:bodyPr wrap="square" lIns="0" tIns="0" rIns="0" bIns="0" rtlCol="0" anchor="t"/>
          <a:lstStyle/>
          <a:p>
            <a:pPr indent="0" marL="0" eaLnBrk="0">
              <a:buNone/>
            </a:pPr>
            <a:r>
              <a:rPr lang="ko-KR" altLang="en-US" sz="1700" b="1" dirty="0">
                <a:solidFill>
                  <a:schemeClr val="accent2"/>
                </a:solidFill>
              </a:rPr>
              <a:t>잘 맞는다</a:t>
            </a:r>
            <a:endParaRPr lang="ko-KR" altLang="en-US" sz="1700" dirty="0"/>
          </a:p>
        </p:txBody>
      </p:sp>
      <p:sp>
        <p:nvSpPr>
          <p:cNvPr id="7" name="codePanel"/>
          <p:cNvSpPr/>
          <p:nvPr/>
        </p:nvSpPr>
        <p:spPr>
          <a:xfrm>
            <a:off x="548640" y="2057400"/>
            <a:ext cx="6583680" cy="914400"/>
          </a:xfrm>
          <a:prstGeom prst="roundRect">
            <a:avLst>
              <a:gd name="adj" fmla="val 8000"/>
            </a:avLst>
          </a:prstGeom>
          <a:solidFill>
            <a:schemeClr val="tx1"/>
          </a:solidFill>
          <a:ln w="12700">
            <a:solidFill>
              <a:schemeClr val="tx1"/>
            </a:solidFill>
            <a:prstDash val="solid"/>
          </a:ln>
        </p:spPr>
      </p:sp>
      <p:sp>
        <p:nvSpPr>
          <p:cNvPr id="8" name="code"/>
          <p:cNvSpPr txBox="1"/>
          <p:nvPr/>
        </p:nvSpPr>
        <p:spPr>
          <a:xfrm>
            <a:off x="658368" y="2148840"/>
            <a:ext cx="6364224" cy="731520"/>
          </a:xfrm>
          <a:prstGeom prst="rect">
            <a:avLst/>
          </a:prstGeom>
          <a:noFill/>
          <a:ln/>
        </p:spPr>
        <p:txBody>
          <a:bodyPr wrap="square" lIns="635" tIns="635" rIns="635" bIns="635" rtlCol="0" anchor="t"/>
          <a:lstStyle/>
          <a:p>
            <a:pPr indent="0" marL="0" eaLnBrk="0">
              <a:buNone/>
            </a:pPr>
            <a:r>
              <a:rPr lang="ko-KR" altLang="en-US" sz="1400" dirty="0">
                <a:solidFill>
                  <a:schemeClr val="accent3"/>
                </a:solidFill>
                <a:latin typeface="Consolas" pitchFamily="34" charset="0"/>
                <a:ea typeface="Consolas" pitchFamily="34" charset="-122"/>
                <a:cs typeface="Consolas" pitchFamily="34" charset="-120"/>
              </a:rPr>
              <a:t>// 렌더링 함수마다 그래픽 상태를 넘긴다</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void Render(RenderContext context) { ... }</a:t>
            </a:r>
            <a:endParaRPr lang="ko-KR" altLang="en-US" sz="1400" dirty="0"/>
          </a:p>
        </p:txBody>
      </p:sp>
      <p:sp>
        <p:nvSpPr>
          <p:cNvPr id="9" name="Text 6"/>
          <p:cNvSpPr txBox="1"/>
          <p:nvPr/>
        </p:nvSpPr>
        <p:spPr>
          <a:xfrm>
            <a:off x="548640" y="3291840"/>
            <a:ext cx="6400800" cy="365760"/>
          </a:xfrm>
          <a:prstGeom prst="rect">
            <a:avLst/>
          </a:prstGeom>
          <a:noFill/>
          <a:ln/>
        </p:spPr>
        <p:txBody>
          <a:bodyPr wrap="square" lIns="0" tIns="0" rIns="0" bIns="0" rtlCol="0" anchor="t"/>
          <a:lstStyle/>
          <a:p>
            <a:pPr indent="0" marL="0" eaLnBrk="0">
              <a:buNone/>
            </a:pPr>
            <a:r>
              <a:rPr lang="ko-KR" altLang="en-US" sz="1700" b="1" dirty="0">
                <a:solidFill>
                  <a:schemeClr val="accent6"/>
                </a:solidFill>
              </a:rPr>
              <a:t>어색하다</a:t>
            </a:r>
            <a:endParaRPr lang="ko-KR" altLang="en-US" sz="1700" dirty="0"/>
          </a:p>
        </p:txBody>
      </p:sp>
      <p:sp>
        <p:nvSpPr>
          <p:cNvPr id="10" name="codePanel"/>
          <p:cNvSpPr/>
          <p:nvPr/>
        </p:nvSpPr>
        <p:spPr>
          <a:xfrm>
            <a:off x="548640" y="3703320"/>
            <a:ext cx="6583680" cy="914400"/>
          </a:xfrm>
          <a:prstGeom prst="roundRect">
            <a:avLst>
              <a:gd name="adj" fmla="val 8000"/>
            </a:avLst>
          </a:prstGeom>
          <a:solidFill>
            <a:schemeClr val="tx1"/>
          </a:solidFill>
          <a:ln w="12700">
            <a:solidFill>
              <a:schemeClr val="tx1"/>
            </a:solidFill>
            <a:prstDash val="solid"/>
          </a:ln>
        </p:spPr>
      </p:sp>
      <p:sp>
        <p:nvSpPr>
          <p:cNvPr id="11" name="code"/>
          <p:cNvSpPr txBox="1"/>
          <p:nvPr/>
        </p:nvSpPr>
        <p:spPr>
          <a:xfrm>
            <a:off x="658368" y="3794760"/>
            <a:ext cx="6364224" cy="731520"/>
          </a:xfrm>
          <a:prstGeom prst="rect">
            <a:avLst/>
          </a:prstGeom>
          <a:noFill/>
          <a:ln/>
        </p:spPr>
        <p:txBody>
          <a:bodyPr wrap="square" lIns="635" tIns="635" rIns="635" bIns="635" rtlCol="0" anchor="t"/>
          <a:lstStyle/>
          <a:p>
            <a:pPr indent="0" marL="0" eaLnBrk="0">
              <a:buNone/>
            </a:pPr>
            <a:r>
              <a:rPr lang="ko-KR" altLang="en-US" sz="1400" dirty="0">
                <a:solidFill>
                  <a:schemeClr val="accent3"/>
                </a:solidFill>
                <a:latin typeface="Consolas" pitchFamily="34" charset="0"/>
                <a:ea typeface="Consolas" pitchFamily="34" charset="-122"/>
                <a:cs typeface="Consolas" pitchFamily="34" charset="-120"/>
              </a:rPr>
              <a:t>// 로그는 AI의 핵심 관심사가 아니다</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void UpdateAi(Log log) { ... }</a:t>
            </a:r>
            <a:endParaRPr lang="ko-KR" altLang="en-US" sz="1400" dirty="0"/>
          </a:p>
        </p:txBody>
      </p:sp>
      <p:sp>
        <p:nvSpPr>
          <p:cNvPr id="12" name="card"/>
          <p:cNvSpPr/>
          <p:nvPr/>
        </p:nvSpPr>
        <p:spPr>
          <a:xfrm>
            <a:off x="7498080" y="1645920"/>
            <a:ext cx="4144975" cy="1828800"/>
          </a:xfrm>
          <a:prstGeom prst="roundRect">
            <a:avLst>
              <a:gd name="adj" fmla="val 5000"/>
            </a:avLst>
          </a:prstGeom>
          <a:solidFill>
            <a:schemeClr val="bg2"/>
          </a:solidFill>
          <a:ln w="12700">
            <a:solidFill>
              <a:schemeClr val="bg2"/>
            </a:solidFill>
            <a:prstDash val="solid"/>
          </a:ln>
        </p:spPr>
      </p:sp>
      <p:sp>
        <p:nvSpPr>
          <p:cNvPr id="13" name="Text 10"/>
          <p:cNvSpPr txBox="1"/>
          <p:nvPr/>
        </p:nvSpPr>
        <p:spPr>
          <a:xfrm>
            <a:off x="7726680" y="186537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잘 맞는 경우</a:t>
            </a:r>
            <a:endParaRPr lang="ko-KR" altLang="en-US" sz="1700" dirty="0"/>
          </a:p>
        </p:txBody>
      </p:sp>
      <p:sp>
        <p:nvSpPr>
          <p:cNvPr id="14" name="Text 11"/>
          <p:cNvSpPr txBox="1"/>
          <p:nvPr/>
        </p:nvSpPr>
        <p:spPr>
          <a:xfrm>
            <a:off x="7726680" y="2331720"/>
            <a:ext cx="3687775" cy="1051560"/>
          </a:xfrm>
          <a:prstGeom prst="rect">
            <a:avLst/>
          </a:prstGeom>
          <a:noFill/>
          <a:ln/>
        </p:spPr>
        <p:txBody>
          <a:bodyPr wrap="square" lIns="0" tIns="0" rIns="0" bIns="0" rtlCol="0" anchor="t"/>
          <a:lstStyle/>
          <a:p>
            <a:pPr indent="0" marL="0" eaLnBrk="0">
              <a:buNone/>
            </a:pPr>
            <a:r>
              <a:rPr lang="ko-KR" altLang="en-US" sz="1400" dirty="0">
                <a:solidFill>
                  <a:schemeClr val="tx2"/>
                </a:solidFill>
              </a:rPr>
              <a:t>그 객체가 함수의 핵심 일에 쓰인다. 렌더링 함수에는 렌더 상태가 꼭 필요하다.</a:t>
            </a:r>
            <a:endParaRPr lang="ko-KR" altLang="en-US" sz="1400" dirty="0"/>
          </a:p>
        </p:txBody>
      </p:sp>
      <p:sp>
        <p:nvSpPr>
          <p:cNvPr id="15" name="card"/>
          <p:cNvSpPr/>
          <p:nvPr/>
        </p:nvSpPr>
        <p:spPr>
          <a:xfrm>
            <a:off x="7498080" y="3611880"/>
            <a:ext cx="4144975" cy="1965960"/>
          </a:xfrm>
          <a:prstGeom prst="roundRect">
            <a:avLst>
              <a:gd name="adj" fmla="val 4651"/>
            </a:avLst>
          </a:prstGeom>
          <a:solidFill>
            <a:schemeClr val="bg2"/>
          </a:solidFill>
          <a:ln w="12700">
            <a:solidFill>
              <a:schemeClr val="bg2"/>
            </a:solidFill>
            <a:prstDash val="solid"/>
          </a:ln>
        </p:spPr>
      </p:sp>
      <p:sp>
        <p:nvSpPr>
          <p:cNvPr id="16" name="Text 13"/>
          <p:cNvSpPr txBox="1"/>
          <p:nvPr/>
        </p:nvSpPr>
        <p:spPr>
          <a:xfrm>
            <a:off x="7726680" y="383133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어색한 경우</a:t>
            </a:r>
            <a:endParaRPr lang="ko-KR" altLang="en-US" sz="1700" dirty="0"/>
          </a:p>
        </p:txBody>
      </p:sp>
      <p:sp>
        <p:nvSpPr>
          <p:cNvPr id="17" name="Text 14"/>
          <p:cNvSpPr txBox="1"/>
          <p:nvPr/>
        </p:nvSpPr>
        <p:spPr>
          <a:xfrm>
            <a:off x="7726680" y="4297680"/>
            <a:ext cx="3687775" cy="1188720"/>
          </a:xfrm>
          <a:prstGeom prst="rect">
            <a:avLst/>
          </a:prstGeom>
          <a:noFill/>
          <a:ln/>
        </p:spPr>
        <p:txBody>
          <a:bodyPr wrap="square" lIns="0" tIns="0" rIns="0" bIns="0" rtlCol="0" anchor="t"/>
          <a:lstStyle/>
          <a:p>
            <a:pPr indent="0" marL="0" eaLnBrk="0">
              <a:buNone/>
            </a:pPr>
            <a:r>
              <a:rPr lang="ko-KR" altLang="en-US" sz="1400" dirty="0">
                <a:solidFill>
                  <a:schemeClr val="tx2"/>
                </a:solidFill>
              </a:rPr>
              <a:t>로깅처럼 여러 곳에 걸치지만 핵심이 아닌 일. 시그니처에 넣으면 의도가 흐려진다.</a:t>
            </a:r>
            <a:endParaRPr lang="ko-KR" altLang="en-US" sz="1400" dirty="0"/>
          </a:p>
        </p:txBody>
      </p:sp>
      <p:sp>
        <p:nvSpPr>
          <p:cNvPr id="18" name="Text 15"/>
          <p:cNvSpPr txBox="1"/>
          <p:nvPr/>
        </p:nvSpPr>
        <p:spPr>
          <a:xfrm>
            <a:off x="548640" y="4846320"/>
            <a:ext cx="6583680" cy="365760"/>
          </a:xfrm>
          <a:prstGeom prst="rect">
            <a:avLst/>
          </a:prstGeom>
          <a:noFill/>
          <a:ln/>
        </p:spPr>
        <p:txBody>
          <a:bodyPr wrap="square" lIns="0" tIns="0" rIns="0" bIns="0" rtlCol="0" anchor="t"/>
          <a:lstStyle/>
          <a:p>
            <a:pPr indent="0" marL="0" eaLnBrk="0">
              <a:buNone/>
            </a:pPr>
            <a:r>
              <a:rPr lang="ko-KR" altLang="en-US" sz="1200" dirty="0">
                <a:solidFill>
                  <a:schemeClr val="accent5"/>
                </a:solidFill>
              </a:rPr>
              <a:t>인자 이름과 코드 모양은 원서의 설명을 옮긴 예시다.</a:t>
            </a:r>
            <a:endParaRPr lang="ko-KR" alt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상위 클래스에서 얻기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상위 클래스가 protected 메서드로 건네준다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상속 구조 밖의 코드는 어디서 얻을까?</a:t>
            </a:r>
            <a:endParaRPr lang="ko-KR" altLang="en-US" sz="1500" dirty="0"/>
          </a:p>
        </p:txBody>
      </p:sp>
      <p:sp>
        <p:nvSpPr>
          <p:cNvPr id="6" name="codePanel"/>
          <p:cNvSpPr/>
          <p:nvPr/>
        </p:nvSpPr>
        <p:spPr>
          <a:xfrm>
            <a:off x="548640" y="1645920"/>
            <a:ext cx="6400800" cy="3566160"/>
          </a:xfrm>
          <a:prstGeom prst="roundRect">
            <a:avLst>
              <a:gd name="adj" fmla="val 2051"/>
            </a:avLst>
          </a:prstGeom>
          <a:solidFill>
            <a:schemeClr val="tx1"/>
          </a:solidFill>
          <a:ln w="12700">
            <a:solidFill>
              <a:schemeClr val="tx1"/>
            </a:solidFill>
            <a:prstDash val="solid"/>
          </a:ln>
        </p:spPr>
      </p:sp>
      <p:sp>
        <p:nvSpPr>
          <p:cNvPr id="7" name="code"/>
          <p:cNvSpPr txBox="1"/>
          <p:nvPr/>
        </p:nvSpPr>
        <p:spPr>
          <a:xfrm>
            <a:off x="658368" y="1737360"/>
            <a:ext cx="6181344" cy="338328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public class GameObject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static Log _log;</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protected Log GetLog() { return _log;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public class Enemy : GameObject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void DoSomething()</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GetLog().Write("로그를 남길 수 있다!");</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codeCaption"/>
          <p:cNvSpPr txBox="1"/>
          <p:nvPr/>
        </p:nvSpPr>
        <p:spPr>
          <a:xfrm>
            <a:off x="384048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315200" y="1645920"/>
            <a:ext cx="4327855" cy="1783080"/>
          </a:xfrm>
          <a:prstGeom prst="roundRect">
            <a:avLst>
              <a:gd name="adj" fmla="val 5128"/>
            </a:avLst>
          </a:prstGeom>
          <a:solidFill>
            <a:schemeClr val="bg2"/>
          </a:solidFill>
          <a:ln w="12700">
            <a:solidFill>
              <a:schemeClr val="bg2"/>
            </a:solidFill>
            <a:prstDash val="solid"/>
          </a:ln>
        </p:spPr>
      </p:sp>
      <p:sp>
        <p:nvSpPr>
          <p:cNvPr id="10" name="Text 7"/>
          <p:cNvSpPr txBox="1"/>
          <p:nvPr/>
        </p:nvSpPr>
        <p:spPr>
          <a:xfrm>
            <a:off x="7543800" y="186537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얕고 넓은 상속</a:t>
            </a:r>
            <a:endParaRPr lang="ko-KR" altLang="en-US" sz="1700" dirty="0"/>
          </a:p>
        </p:txBody>
      </p:sp>
      <p:sp>
        <p:nvSpPr>
          <p:cNvPr id="11" name="Text 8"/>
          <p:cNvSpPr txBox="1"/>
          <p:nvPr/>
        </p:nvSpPr>
        <p:spPr>
          <a:xfrm>
            <a:off x="7543800" y="2331720"/>
            <a:ext cx="3870655" cy="1005840"/>
          </a:xfrm>
          <a:prstGeom prst="rect">
            <a:avLst/>
          </a:prstGeom>
          <a:noFill/>
          <a:ln/>
        </p:spPr>
        <p:txBody>
          <a:bodyPr wrap="square" lIns="0" tIns="0" rIns="0" bIns="0" rtlCol="0" anchor="t"/>
          <a:lstStyle/>
          <a:p>
            <a:pPr indent="0" marL="0" eaLnBrk="0">
              <a:buNone/>
            </a:pPr>
            <a:r>
              <a:rPr lang="ko-KR" altLang="en-US" sz="1400" dirty="0">
                <a:solidFill>
                  <a:schemeClr val="tx2"/>
                </a:solidFill>
              </a:rPr>
              <a:t>GameObject 아래에 적과 물체가 한 단계로 붙는다. 게임 코드 대부분이 하위 클래스에 있다.</a:t>
            </a:r>
            <a:endParaRPr lang="ko-KR" altLang="en-US" sz="1400" dirty="0"/>
          </a:p>
        </p:txBody>
      </p:sp>
      <p:sp>
        <p:nvSpPr>
          <p:cNvPr id="12" name="card"/>
          <p:cNvSpPr/>
          <p:nvPr/>
        </p:nvSpPr>
        <p:spPr>
          <a:xfrm>
            <a:off x="7315200" y="3566160"/>
            <a:ext cx="4327855" cy="1645920"/>
          </a:xfrm>
          <a:prstGeom prst="roundRect">
            <a:avLst>
              <a:gd name="adj" fmla="val 5556"/>
            </a:avLst>
          </a:prstGeom>
          <a:solidFill>
            <a:schemeClr val="bg2"/>
          </a:solidFill>
          <a:ln w="12700">
            <a:solidFill>
              <a:schemeClr val="bg2"/>
            </a:solidFill>
            <a:prstDash val="solid"/>
          </a:ln>
        </p:spPr>
      </p:sp>
      <p:sp>
        <p:nvSpPr>
          <p:cNvPr id="13" name="Text 10"/>
          <p:cNvSpPr txBox="1"/>
          <p:nvPr/>
        </p:nvSpPr>
        <p:spPr>
          <a:xfrm>
            <a:off x="7543800" y="378561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접근 범위</a:t>
            </a:r>
            <a:endParaRPr lang="ko-KR" altLang="en-US" sz="1700" dirty="0"/>
          </a:p>
        </p:txBody>
      </p:sp>
      <p:sp>
        <p:nvSpPr>
          <p:cNvPr id="14" name="Text 11"/>
          <p:cNvSpPr txBox="1"/>
          <p:nvPr/>
        </p:nvSpPr>
        <p:spPr>
          <a:xfrm>
            <a:off x="7543800" y="4251960"/>
            <a:ext cx="3870655" cy="868680"/>
          </a:xfrm>
          <a:prstGeom prst="rect">
            <a:avLst/>
          </a:prstGeom>
          <a:noFill/>
          <a:ln/>
        </p:spPr>
        <p:txBody>
          <a:bodyPr wrap="square" lIns="0" tIns="0" rIns="0" bIns="0" rtlCol="0" anchor="t"/>
          <a:lstStyle/>
          <a:p>
            <a:pPr indent="0" marL="0" eaLnBrk="0">
              <a:buNone/>
            </a:pPr>
            <a:r>
              <a:rPr lang="ko-KR" altLang="en-US" sz="1400" dirty="0">
                <a:solidFill>
                  <a:schemeClr val="tx2"/>
                </a:solidFill>
              </a:rPr>
              <a:t>GameObject 밖에서는 Log에 닿을 수 없다. 하위 클래스만 GetLog()로 쓴다.</a:t>
            </a:r>
            <a:endParaRPr lang="ko-KR" altLang="en-US" sz="1400" dirty="0"/>
          </a:p>
        </p:txBody>
      </p:sp>
      <p:sp>
        <p:nvSpPr>
          <p:cNvPr id="15" name="Text 12"/>
          <p:cNvSpPr txBox="1"/>
          <p:nvPr/>
        </p:nvSpPr>
        <p:spPr>
          <a:xfrm>
            <a:off x="548640" y="5376672"/>
            <a:ext cx="3657600" cy="365760"/>
          </a:xfrm>
          <a:prstGeom prst="rect">
            <a:avLst/>
          </a:prstGeom>
          <a:noFill/>
          <a:ln/>
        </p:spPr>
        <p:txBody>
          <a:bodyPr wrap="square" lIns="0" tIns="0" rIns="0" bIns="0" rtlCol="0" anchor="ctr"/>
          <a:lstStyle/>
          <a:p>
            <a:pPr indent="0" marL="0" eaLnBrk="0">
              <a:buNone/>
            </a:pPr>
            <a:r>
              <a:rPr lang="ko-KR" altLang="en-US" sz="1500" b="1" dirty="0">
                <a:solidFill>
                  <a:schemeClr val="tx1"/>
                </a:solidFill>
              </a:rPr>
              <a:t>하위 클래스 샌드박스 패턴</a:t>
            </a:r>
            <a:endParaRPr lang="ko-KR" altLang="en-US" sz="1500" dirty="0"/>
          </a:p>
        </p:txBody>
      </p:sp>
      <p:sp>
        <p:nvSpPr>
          <p:cNvPr id="16" name="Shape 13"/>
          <p:cNvSpPr/>
          <p:nvPr/>
        </p:nvSpPr>
        <p:spPr>
          <a:xfrm>
            <a:off x="3291840" y="5385816"/>
            <a:ext cx="822960" cy="347472"/>
          </a:xfrm>
          <a:prstGeom prst="roundRect">
            <a:avLst>
              <a:gd name="adj" fmla="val 21053"/>
            </a:avLst>
          </a:prstGeom>
          <a:solidFill>
            <a:schemeClr val="accent1"/>
          </a:solidFill>
          <a:ln w="12700">
            <a:solidFill>
              <a:schemeClr val="accent1"/>
            </a:solidFill>
            <a:prstDash val="solid"/>
          </a:ln>
        </p:spPr>
      </p:sp>
      <p:sp>
        <p:nvSpPr>
          <p:cNvPr id="17" name="Text 14"/>
          <p:cNvSpPr txBox="1"/>
          <p:nvPr/>
        </p:nvSpPr>
        <p:spPr>
          <a:xfrm>
            <a:off x="3291840" y="5385816"/>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8강</a:t>
            </a:r>
            <a:endParaRPr lang="ko-KR" alt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이미 전역인 객체에서 얻기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이미 전역인 Game 객체에 시스템들을 매단다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진짜 싱글턴은 어디에 남을까?</a:t>
            </a:r>
            <a:endParaRPr lang="ko-KR" altLang="en-US" sz="1500" dirty="0"/>
          </a:p>
        </p:txBody>
      </p:sp>
      <p:sp>
        <p:nvSpPr>
          <p:cNvPr id="6" name="codePanel"/>
          <p:cNvSpPr/>
          <p:nvPr/>
        </p:nvSpPr>
        <p:spPr>
          <a:xfrm>
            <a:off x="548640" y="1600200"/>
            <a:ext cx="6949440" cy="3429000"/>
          </a:xfrm>
          <a:prstGeom prst="roundRect">
            <a:avLst>
              <a:gd name="adj" fmla="val 2133"/>
            </a:avLst>
          </a:prstGeom>
          <a:solidFill>
            <a:schemeClr val="tx1"/>
          </a:solidFill>
          <a:ln w="12700">
            <a:solidFill>
              <a:schemeClr val="tx1"/>
            </a:solidFill>
            <a:prstDash val="solid"/>
          </a:ln>
        </p:spPr>
      </p:sp>
      <p:sp>
        <p:nvSpPr>
          <p:cNvPr id="7" name="code"/>
          <p:cNvSpPr txBox="1"/>
          <p:nvPr/>
        </p:nvSpPr>
        <p:spPr>
          <a:xfrm>
            <a:off x="658368" y="1691640"/>
            <a:ext cx="6729984" cy="324612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class Game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static readonly Game _instance = new Game();</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public static Game Instance =&gt; _instance;</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accent3"/>
                </a:solidFill>
                <a:latin typeface="Consolas" pitchFamily="34" charset="0"/>
                <a:ea typeface="Consolas" pitchFamily="34" charset="-122"/>
                <a:cs typeface="Consolas" pitchFamily="34" charset="-120"/>
              </a:rPr>
              <a:t>    // _log 등을 설정하는 메서드들...</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Log _log;</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FileSystem _fileSystem;</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AudioPlayer _audioPlayer;</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public Log GetLog() { return _log; }</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public FileSystem GetFileSystem() { return _fileSystem; }</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public AudioPlayer GetAudioPlayer() { return _audioPlayer;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8" name="codeCaption"/>
          <p:cNvSpPr txBox="1"/>
          <p:nvPr/>
        </p:nvSpPr>
        <p:spPr>
          <a:xfrm>
            <a:off x="438912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5166360"/>
            <a:ext cx="6949440" cy="502920"/>
          </a:xfrm>
          <a:prstGeom prst="roundRect">
            <a:avLst>
              <a:gd name="adj" fmla="val 14545"/>
            </a:avLst>
          </a:prstGeom>
          <a:solidFill>
            <a:schemeClr val="tx1"/>
          </a:solidFill>
          <a:ln w="12700">
            <a:solidFill>
              <a:schemeClr val="tx1"/>
            </a:solidFill>
            <a:prstDash val="solid"/>
          </a:ln>
        </p:spPr>
      </p:sp>
      <p:sp>
        <p:nvSpPr>
          <p:cNvPr id="10" name="code"/>
          <p:cNvSpPr txBox="1"/>
          <p:nvPr/>
        </p:nvSpPr>
        <p:spPr>
          <a:xfrm>
            <a:off x="658368" y="5257800"/>
            <a:ext cx="6729984" cy="32004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Game.Instance.GetAudioPlayer().Play(Sound.VeryLoudBang);</a:t>
            </a:r>
            <a:endParaRPr lang="ko-KR" altLang="en-US" sz="1300" dirty="0"/>
          </a:p>
        </p:txBody>
      </p:sp>
      <p:sp>
        <p:nvSpPr>
          <p:cNvPr id="11" name="card"/>
          <p:cNvSpPr/>
          <p:nvPr/>
        </p:nvSpPr>
        <p:spPr>
          <a:xfrm>
            <a:off x="7863840" y="1600200"/>
            <a:ext cx="3779215" cy="1325880"/>
          </a:xfrm>
          <a:prstGeom prst="roundRect">
            <a:avLst>
              <a:gd name="adj" fmla="val 6897"/>
            </a:avLst>
          </a:prstGeom>
          <a:solidFill>
            <a:schemeClr val="bg2"/>
          </a:solidFill>
          <a:ln w="12700">
            <a:solidFill>
              <a:schemeClr val="bg2"/>
            </a:solidFill>
            <a:prstDash val="solid"/>
          </a:ln>
        </p:spPr>
      </p:sp>
      <p:sp>
        <p:nvSpPr>
          <p:cNvPr id="12" name="Text 9"/>
          <p:cNvSpPr txBox="1"/>
          <p:nvPr/>
        </p:nvSpPr>
        <p:spPr>
          <a:xfrm>
            <a:off x="8092440" y="18196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좋은 점</a:t>
            </a:r>
            <a:endParaRPr lang="ko-KR" altLang="en-US" sz="1700" dirty="0"/>
          </a:p>
        </p:txBody>
      </p:sp>
      <p:sp>
        <p:nvSpPr>
          <p:cNvPr id="13" name="Text 10"/>
          <p:cNvSpPr txBox="1"/>
          <p:nvPr/>
        </p:nvSpPr>
        <p:spPr>
          <a:xfrm>
            <a:off x="8092440" y="2286000"/>
            <a:ext cx="3322015"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전역 클래스는 Game 하나다. Game이 여럿이 되어도 Log 등은 모른다.</a:t>
            </a:r>
            <a:endParaRPr lang="ko-KR" altLang="en-US" sz="1400" dirty="0"/>
          </a:p>
        </p:txBody>
      </p:sp>
      <p:sp>
        <p:nvSpPr>
          <p:cNvPr id="14" name="card"/>
          <p:cNvSpPr/>
          <p:nvPr/>
        </p:nvSpPr>
        <p:spPr>
          <a:xfrm>
            <a:off x="7863840" y="3063240"/>
            <a:ext cx="3779215" cy="1280160"/>
          </a:xfrm>
          <a:prstGeom prst="roundRect">
            <a:avLst>
              <a:gd name="adj" fmla="val 7143"/>
            </a:avLst>
          </a:prstGeom>
          <a:solidFill>
            <a:schemeClr val="bg2"/>
          </a:solidFill>
          <a:ln w="12700">
            <a:solidFill>
              <a:schemeClr val="bg2"/>
            </a:solidFill>
            <a:prstDash val="solid"/>
          </a:ln>
        </p:spPr>
      </p:sp>
      <p:sp>
        <p:nvSpPr>
          <p:cNvPr id="15" name="Text 12"/>
          <p:cNvSpPr txBox="1"/>
          <p:nvPr/>
        </p:nvSpPr>
        <p:spPr>
          <a:xfrm>
            <a:off x="8092440" y="328269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나쁜 점</a:t>
            </a:r>
            <a:endParaRPr lang="ko-KR" altLang="en-US" sz="1700" dirty="0"/>
          </a:p>
        </p:txBody>
      </p:sp>
      <p:sp>
        <p:nvSpPr>
          <p:cNvPr id="16" name="Text 13"/>
          <p:cNvSpPr txBox="1"/>
          <p:nvPr/>
        </p:nvSpPr>
        <p:spPr>
          <a:xfrm>
            <a:off x="8092440" y="3749040"/>
            <a:ext cx="3322015" cy="502920"/>
          </a:xfrm>
          <a:prstGeom prst="rect">
            <a:avLst/>
          </a:prstGeom>
          <a:noFill/>
          <a:ln/>
        </p:spPr>
        <p:txBody>
          <a:bodyPr wrap="square" lIns="0" tIns="0" rIns="0" bIns="0" rtlCol="0" anchor="t"/>
          <a:lstStyle/>
          <a:p>
            <a:pPr indent="0" marL="0" eaLnBrk="0">
              <a:buNone/>
            </a:pPr>
            <a:r>
              <a:rPr lang="ko-KR" altLang="en-US" sz="1400" dirty="0">
                <a:solidFill>
                  <a:schemeClr val="tx2"/>
                </a:solidFill>
              </a:rPr>
              <a:t>소리만 내려는 클래스도 Game을 알아야 해서 결합이 늘어난다.</a:t>
            </a:r>
            <a:endParaRPr lang="ko-KR" altLang="en-US" sz="1400" dirty="0"/>
          </a:p>
        </p:txBody>
      </p:sp>
      <p:sp>
        <p:nvSpPr>
          <p:cNvPr id="17" name="card"/>
          <p:cNvSpPr/>
          <p:nvPr/>
        </p:nvSpPr>
        <p:spPr>
          <a:xfrm>
            <a:off x="7863840" y="4480560"/>
            <a:ext cx="3779215" cy="1188720"/>
          </a:xfrm>
          <a:prstGeom prst="roundRect">
            <a:avLst>
              <a:gd name="adj" fmla="val 7692"/>
            </a:avLst>
          </a:prstGeom>
          <a:solidFill>
            <a:schemeClr val="bg2"/>
          </a:solidFill>
          <a:ln w="12700">
            <a:solidFill>
              <a:schemeClr val="bg2"/>
            </a:solidFill>
            <a:prstDash val="solid"/>
          </a:ln>
        </p:spPr>
      </p:sp>
      <p:sp>
        <p:nvSpPr>
          <p:cNvPr id="18" name="Text 15"/>
          <p:cNvSpPr txBox="1"/>
          <p:nvPr/>
        </p:nvSpPr>
        <p:spPr>
          <a:xfrm>
            <a:off x="8092440" y="470001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혼합 방식</a:t>
            </a:r>
            <a:endParaRPr lang="ko-KR" altLang="en-US" sz="1700" dirty="0"/>
          </a:p>
        </p:txBody>
      </p:sp>
      <p:sp>
        <p:nvSpPr>
          <p:cNvPr id="19" name="Text 16"/>
          <p:cNvSpPr txBox="1"/>
          <p:nvPr/>
        </p:nvSpPr>
        <p:spPr>
          <a:xfrm>
            <a:off x="8092440" y="5166360"/>
            <a:ext cx="3322015" cy="411480"/>
          </a:xfrm>
          <a:prstGeom prst="rect">
            <a:avLst/>
          </a:prstGeom>
          <a:noFill/>
          <a:ln/>
        </p:spPr>
        <p:txBody>
          <a:bodyPr wrap="square" lIns="0" tIns="0" rIns="0" bIns="0" rtlCol="0" anchor="t"/>
          <a:lstStyle/>
          <a:p>
            <a:pPr indent="0" marL="0" eaLnBrk="0">
              <a:buNone/>
            </a:pPr>
            <a:r>
              <a:rPr lang="ko-KR" altLang="en-US" sz="1400" dirty="0">
                <a:solidFill>
                  <a:schemeClr val="tx2"/>
                </a:solidFill>
              </a:rPr>
              <a:t>Game을 아는 코드만 Game에서 꺼낸다.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5부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쓸 때와 주의점</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싱글턴에 남은 것</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싱글턴에 남은 것</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하나만 필요하면 정적 클래스나 정적 표시로 충분하다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정리하면, 싱글턴은 언제 쓰고 무엇을 조심해야 할까?</a:t>
            </a:r>
            <a:endParaRPr lang="ko-KR" altLang="en-US" sz="1500" dirty="0"/>
          </a:p>
        </p:txBody>
      </p:sp>
      <p:sp>
        <p:nvSpPr>
          <p:cNvPr id="6" name="card"/>
          <p:cNvSpPr/>
          <p:nvPr/>
        </p:nvSpPr>
        <p:spPr>
          <a:xfrm>
            <a:off x="548640" y="1691640"/>
            <a:ext cx="3545738" cy="2560320"/>
          </a:xfrm>
          <a:prstGeom prst="roundRect">
            <a:avLst>
              <a:gd name="adj" fmla="val 3571"/>
            </a:avLst>
          </a:prstGeom>
          <a:solidFill>
            <a:schemeClr val="bg2"/>
          </a:solidFill>
          <a:ln w="12700">
            <a:solidFill>
              <a:schemeClr val="bg2"/>
            </a:solidFill>
            <a:prstDash val="solid"/>
          </a:ln>
        </p:spPr>
      </p:sp>
      <p:sp>
        <p:nvSpPr>
          <p:cNvPr id="7" name="Shape 4"/>
          <p:cNvSpPr/>
          <p:nvPr/>
        </p:nvSpPr>
        <p:spPr>
          <a:xfrm>
            <a:off x="777240" y="189280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911096"/>
            <a:ext cx="258561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정적 클래스</a:t>
            </a:r>
            <a:endParaRPr lang="ko-KR" altLang="en-US" sz="1700" dirty="0"/>
          </a:p>
        </p:txBody>
      </p:sp>
      <p:sp>
        <p:nvSpPr>
          <p:cNvPr id="10" name="Text 7"/>
          <p:cNvSpPr txBox="1"/>
          <p:nvPr/>
        </p:nvSpPr>
        <p:spPr>
          <a:xfrm>
            <a:off x="777240" y="2468880"/>
            <a:ext cx="3088538" cy="1645920"/>
          </a:xfrm>
          <a:prstGeom prst="rect">
            <a:avLst/>
          </a:prstGeom>
          <a:noFill/>
          <a:ln/>
        </p:spPr>
        <p:txBody>
          <a:bodyPr wrap="square" lIns="0" tIns="0" rIns="0" bIns="0" rtlCol="0" anchor="t"/>
          <a:lstStyle/>
          <a:p>
            <a:pPr indent="0" marL="0" eaLnBrk="0">
              <a:buNone/>
            </a:pPr>
            <a:r>
              <a:rPr lang="ko-KR" altLang="en-US" sz="1400" dirty="0">
                <a:solidFill>
                  <a:schemeClr val="tx2"/>
                </a:solidFill>
              </a:rPr>
              <a:t>인스턴스 하나를 보장하는 가장 단순한 방법이다.</a:t>
            </a:r>
            <a:endParaRPr lang="ko-KR" altLang="en-US" sz="1400" dirty="0"/>
          </a:p>
        </p:txBody>
      </p:sp>
      <p:sp>
        <p:nvSpPr>
          <p:cNvPr id="11" name="card"/>
          <p:cNvSpPr/>
          <p:nvPr/>
        </p:nvSpPr>
        <p:spPr>
          <a:xfrm>
            <a:off x="4322978" y="1691640"/>
            <a:ext cx="3545738" cy="2560320"/>
          </a:xfrm>
          <a:prstGeom prst="roundRect">
            <a:avLst>
              <a:gd name="adj" fmla="val 3571"/>
            </a:avLst>
          </a:prstGeom>
          <a:solidFill>
            <a:schemeClr val="bg2"/>
          </a:solidFill>
          <a:ln w="12700">
            <a:solidFill>
              <a:schemeClr val="bg2"/>
            </a:solidFill>
            <a:prstDash val="solid"/>
          </a:ln>
        </p:spPr>
      </p:sp>
      <p:sp>
        <p:nvSpPr>
          <p:cNvPr id="12" name="Shape 9"/>
          <p:cNvSpPr/>
          <p:nvPr/>
        </p:nvSpPr>
        <p:spPr>
          <a:xfrm>
            <a:off x="4551578" y="189280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4551578"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5100218" y="1911096"/>
            <a:ext cx="258561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정적 표시 검사</a:t>
            </a:r>
            <a:endParaRPr lang="ko-KR" altLang="en-US" sz="1700" dirty="0"/>
          </a:p>
        </p:txBody>
      </p:sp>
      <p:sp>
        <p:nvSpPr>
          <p:cNvPr id="15" name="Text 12"/>
          <p:cNvSpPr txBox="1"/>
          <p:nvPr/>
        </p:nvSpPr>
        <p:spPr>
          <a:xfrm>
            <a:off x="4551578" y="2468880"/>
            <a:ext cx="3088538" cy="1645920"/>
          </a:xfrm>
          <a:prstGeom prst="rect">
            <a:avLst/>
          </a:prstGeom>
          <a:noFill/>
          <a:ln/>
        </p:spPr>
        <p:txBody>
          <a:bodyPr wrap="square" lIns="0" tIns="0" rIns="0" bIns="0" rtlCol="0" anchor="t"/>
          <a:lstStyle/>
          <a:p>
            <a:pPr indent="0" marL="0" eaLnBrk="0">
              <a:buNone/>
            </a:pPr>
            <a:r>
              <a:rPr lang="ko-KR" altLang="en-US" sz="1400" dirty="0">
                <a:solidFill>
                  <a:schemeClr val="tx2"/>
                </a:solidFill>
              </a:rPr>
              <a:t>정적 클래스로 안 되면, 생성자에서 실행 중에 생성 횟수를 검사한다.</a:t>
            </a:r>
            <a:endParaRPr lang="ko-KR" altLang="en-US" sz="1400" dirty="0"/>
          </a:p>
        </p:txBody>
      </p:sp>
      <p:sp>
        <p:nvSpPr>
          <p:cNvPr id="16" name="card"/>
          <p:cNvSpPr/>
          <p:nvPr/>
        </p:nvSpPr>
        <p:spPr>
          <a:xfrm>
            <a:off x="8097317" y="1691640"/>
            <a:ext cx="3545738" cy="2560320"/>
          </a:xfrm>
          <a:prstGeom prst="roundRect">
            <a:avLst>
              <a:gd name="adj" fmla="val 3571"/>
            </a:avLst>
          </a:prstGeom>
          <a:solidFill>
            <a:schemeClr val="bg2"/>
          </a:solidFill>
          <a:ln w="12700">
            <a:solidFill>
              <a:schemeClr val="bg2"/>
            </a:solidFill>
            <a:prstDash val="solid"/>
          </a:ln>
        </p:spPr>
      </p:sp>
      <p:sp>
        <p:nvSpPr>
          <p:cNvPr id="17" name="Shape 14"/>
          <p:cNvSpPr/>
          <p:nvPr/>
        </p:nvSpPr>
        <p:spPr>
          <a:xfrm>
            <a:off x="8325917" y="189280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8325917"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8874557" y="1911096"/>
            <a:ext cx="258561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다른 패턴</a:t>
            </a:r>
            <a:endParaRPr lang="ko-KR" altLang="en-US" sz="1700" dirty="0"/>
          </a:p>
        </p:txBody>
      </p:sp>
      <p:sp>
        <p:nvSpPr>
          <p:cNvPr id="20" name="Text 17"/>
          <p:cNvSpPr txBox="1"/>
          <p:nvPr/>
        </p:nvSpPr>
        <p:spPr>
          <a:xfrm>
            <a:off x="8325917" y="2468880"/>
            <a:ext cx="3088538" cy="1645920"/>
          </a:xfrm>
          <a:prstGeom prst="rect">
            <a:avLst/>
          </a:prstGeom>
          <a:noFill/>
          <a:ln/>
        </p:spPr>
        <p:txBody>
          <a:bodyPr wrap="square" lIns="0" tIns="0" rIns="0" bIns="0" rtlCol="0" anchor="t"/>
          <a:lstStyle/>
          <a:p>
            <a:pPr indent="0" marL="0" eaLnBrk="0">
              <a:buNone/>
            </a:pPr>
            <a:r>
              <a:rPr lang="ko-KR" altLang="en-US" sz="1400" dirty="0">
                <a:solidFill>
                  <a:schemeClr val="tx2"/>
                </a:solidFill>
              </a:rPr>
              <a:t>하위 클래스 샌드박스는 전역으로 열지 않고 상태를 공유한다. 서비스 중개자는 전역으로 열되 설정을 유연하게 한다.</a:t>
            </a:r>
            <a:endParaRPr lang="ko-KR" altLang="en-US" sz="1400" dirty="0"/>
          </a:p>
        </p:txBody>
      </p:sp>
      <p:sp>
        <p:nvSpPr>
          <p:cNvPr id="21" name="Shape 18"/>
          <p:cNvSpPr/>
          <p:nvPr/>
        </p:nvSpPr>
        <p:spPr>
          <a:xfrm>
            <a:off x="8325917" y="3749040"/>
            <a:ext cx="822960" cy="347472"/>
          </a:xfrm>
          <a:prstGeom prst="roundRect">
            <a:avLst>
              <a:gd name="adj" fmla="val 21053"/>
            </a:avLst>
          </a:prstGeom>
          <a:solidFill>
            <a:schemeClr val="accent1"/>
          </a:solidFill>
          <a:ln w="12700">
            <a:solidFill>
              <a:schemeClr val="accent1"/>
            </a:solidFill>
            <a:prstDash val="solid"/>
          </a:ln>
        </p:spPr>
      </p:sp>
      <p:sp>
        <p:nvSpPr>
          <p:cNvPr id="22" name="Text 19"/>
          <p:cNvSpPr txBox="1"/>
          <p:nvPr/>
        </p:nvSpPr>
        <p:spPr>
          <a:xfrm>
            <a:off x="8325917" y="374904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8강</a:t>
            </a:r>
            <a:endParaRPr lang="ko-KR" altLang="en-US" sz="1200" dirty="0"/>
          </a:p>
        </p:txBody>
      </p:sp>
      <p:sp>
        <p:nvSpPr>
          <p:cNvPr id="23" name="Shape 20"/>
          <p:cNvSpPr/>
          <p:nvPr/>
        </p:nvSpPr>
        <p:spPr>
          <a:xfrm>
            <a:off x="9286037" y="3749040"/>
            <a:ext cx="822960" cy="347472"/>
          </a:xfrm>
          <a:prstGeom prst="roundRect">
            <a:avLst>
              <a:gd name="adj" fmla="val 21053"/>
            </a:avLst>
          </a:prstGeom>
          <a:solidFill>
            <a:schemeClr val="accent1"/>
          </a:solidFill>
          <a:ln w="12700">
            <a:solidFill>
              <a:schemeClr val="accent1"/>
            </a:solidFill>
            <a:prstDash val="solid"/>
          </a:ln>
        </p:spPr>
      </p:sp>
      <p:sp>
        <p:nvSpPr>
          <p:cNvPr id="24" name="Text 21"/>
          <p:cNvSpPr txBox="1"/>
          <p:nvPr/>
        </p:nvSpPr>
        <p:spPr>
          <a:xfrm>
            <a:off x="9286037" y="374904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11강</a:t>
            </a:r>
            <a:endParaRPr lang="ko-KR" altLang="en-US" sz="1200" dirty="0"/>
          </a:p>
        </p:txBody>
      </p:sp>
      <p:sp>
        <p:nvSpPr>
          <p:cNvPr id="25" name="box"/>
          <p:cNvSpPr/>
          <p:nvPr/>
        </p:nvSpPr>
        <p:spPr>
          <a:xfrm>
            <a:off x="548640" y="4526280"/>
            <a:ext cx="11094415" cy="1097280"/>
          </a:xfrm>
          <a:prstGeom prst="roundRect">
            <a:avLst>
              <a:gd name="adj" fmla="val 6667"/>
            </a:avLst>
          </a:prstGeom>
          <a:solidFill>
            <a:schemeClr val="tx2"/>
          </a:solidFill>
          <a:ln w="12700">
            <a:solidFill>
              <a:schemeClr val="tx2"/>
            </a:solidFill>
            <a:prstDash val="solid"/>
          </a:ln>
        </p:spPr>
      </p:sp>
      <p:sp>
        <p:nvSpPr>
          <p:cNvPr id="26" name="Text 23"/>
          <p:cNvSpPr txBox="1"/>
          <p:nvPr/>
        </p:nvSpPr>
        <p:spPr>
          <a:xfrm>
            <a:off x="548640" y="4526280"/>
            <a:ext cx="11094415" cy="109728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원서의 저자는 게임에서 GoF의 완전한 싱글턴 구현을 써 본 적이 없다고 말한다.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쓸 때와 주의점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정말 하나여야 할 때만, 대안을 먼저 따져 보고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원서는 싱글턴과 함께 볼 패턴으로 무엇을 소개할까?</a:t>
            </a:r>
            <a:endParaRPr lang="ko-KR" altLang="en-US" sz="1500" dirty="0"/>
          </a:p>
        </p:txBody>
      </p:sp>
      <p:sp>
        <p:nvSpPr>
          <p:cNvPr id="6" name="Text 3"/>
          <p:cNvSpPr txBox="1"/>
          <p:nvPr/>
        </p:nvSpPr>
        <p:spPr>
          <a:xfrm>
            <a:off x="548640" y="169164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2"/>
                </a:solidFill>
              </a:rPr>
              <a:t>이럴 때 쓴다</a:t>
            </a:r>
            <a:endParaRPr lang="ko-KR" altLang="en-US" sz="2000" dirty="0"/>
          </a:p>
        </p:txBody>
      </p:sp>
      <p:sp>
        <p:nvSpPr>
          <p:cNvPr id="7" name="card"/>
          <p:cNvSpPr/>
          <p:nvPr/>
        </p:nvSpPr>
        <p:spPr>
          <a:xfrm>
            <a:off x="548640" y="2240280"/>
            <a:ext cx="5349240" cy="1051560"/>
          </a:xfrm>
          <a:prstGeom prst="roundRect">
            <a:avLst>
              <a:gd name="adj" fmla="val 8696"/>
            </a:avLst>
          </a:prstGeom>
          <a:solidFill>
            <a:schemeClr val="bg2"/>
          </a:solidFill>
          <a:ln w="12700">
            <a:solidFill>
              <a:schemeClr val="bg2"/>
            </a:solidFill>
            <a:prstDash val="solid"/>
          </a:ln>
        </p:spPr>
      </p:sp>
      <p:sp>
        <p:nvSpPr>
          <p:cNvPr id="8" name="Shape 5"/>
          <p:cNvSpPr/>
          <p:nvPr/>
        </p:nvSpPr>
        <p:spPr>
          <a:xfrm>
            <a:off x="777240" y="2441448"/>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 y="2441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0" name="card"/>
          <p:cNvSpPr/>
          <p:nvPr/>
        </p:nvSpPr>
        <p:spPr>
          <a:xfrm>
            <a:off x="548640" y="3429000"/>
            <a:ext cx="5349240" cy="1051560"/>
          </a:xfrm>
          <a:prstGeom prst="roundRect">
            <a:avLst>
              <a:gd name="adj" fmla="val 8696"/>
            </a:avLst>
          </a:prstGeom>
          <a:solidFill>
            <a:schemeClr val="bg2"/>
          </a:solidFill>
          <a:ln w="12700">
            <a:solidFill>
              <a:schemeClr val="bg2"/>
            </a:solidFill>
            <a:prstDash val="solid"/>
          </a:ln>
        </p:spPr>
      </p:sp>
      <p:sp>
        <p:nvSpPr>
          <p:cNvPr id="11" name="Shape 8"/>
          <p:cNvSpPr/>
          <p:nvPr/>
        </p:nvSpPr>
        <p:spPr>
          <a:xfrm>
            <a:off x="777240" y="3630168"/>
            <a:ext cx="420624" cy="420624"/>
          </a:xfrm>
          <a:prstGeom prst="ellipse">
            <a:avLst/>
          </a:prstGeom>
          <a:solidFill>
            <a:schemeClr val="accent1"/>
          </a:solidFill>
          <a:ln w="12700">
            <a:solidFill>
              <a:schemeClr val="accent1"/>
            </a:solidFill>
            <a:prstDash val="solid"/>
          </a:ln>
        </p:spPr>
      </p:sp>
      <p:sp>
        <p:nvSpPr>
          <p:cNvPr id="12" name="Text 9"/>
          <p:cNvSpPr txBox="1"/>
          <p:nvPr/>
        </p:nvSpPr>
        <p:spPr>
          <a:xfrm>
            <a:off x="777240"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3" name="card"/>
          <p:cNvSpPr/>
          <p:nvPr/>
        </p:nvSpPr>
        <p:spPr>
          <a:xfrm>
            <a:off x="548640" y="4617720"/>
            <a:ext cx="5349240" cy="1051560"/>
          </a:xfrm>
          <a:prstGeom prst="roundRect">
            <a:avLst>
              <a:gd name="adj" fmla="val 8696"/>
            </a:avLst>
          </a:prstGeom>
          <a:solidFill>
            <a:schemeClr val="bg2"/>
          </a:solidFill>
          <a:ln w="12700">
            <a:solidFill>
              <a:schemeClr val="bg2"/>
            </a:solidFill>
            <a:prstDash val="solid"/>
          </a:ln>
        </p:spPr>
      </p:sp>
      <p:sp>
        <p:nvSpPr>
          <p:cNvPr id="14" name="Shape 11"/>
          <p:cNvSpPr/>
          <p:nvPr/>
        </p:nvSpPr>
        <p:spPr>
          <a:xfrm>
            <a:off x="777240" y="4818888"/>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777240" y="48188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6" name="Text 13"/>
          <p:cNvSpPr txBox="1"/>
          <p:nvPr/>
        </p:nvSpPr>
        <p:spPr>
          <a:xfrm>
            <a:off x="1371600" y="237744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외부 시스템을 감싸고 있어서, 인스턴스가 둘이면 실제로 오작동하는 경우다.</a:t>
            </a:r>
            <a:endParaRPr lang="ko-KR" altLang="en-US" sz="1400" dirty="0"/>
          </a:p>
        </p:txBody>
      </p:sp>
      <p:sp>
        <p:nvSpPr>
          <p:cNvPr id="17" name="Text 14"/>
          <p:cNvSpPr txBox="1"/>
          <p:nvPr/>
        </p:nvSpPr>
        <p:spPr>
          <a:xfrm>
            <a:off x="1371600" y="356616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하위 클래스를 골라 끼우거나 생성 시점을 늦출 이유가 있다.</a:t>
            </a:r>
            <a:endParaRPr lang="ko-KR" altLang="en-US" sz="1400" dirty="0"/>
          </a:p>
        </p:txBody>
      </p:sp>
      <p:sp>
        <p:nvSpPr>
          <p:cNvPr id="18" name="Text 15"/>
          <p:cNvSpPr txBox="1"/>
          <p:nvPr/>
        </p:nvSpPr>
        <p:spPr>
          <a:xfrm>
            <a:off x="1371600" y="475488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대안인 넘겨주기, 상위 클래스, 이미 전역인 객체를 먼저 따져 보았다.</a:t>
            </a:r>
            <a:endParaRPr lang="ko-KR" altLang="en-US" sz="1400" dirty="0"/>
          </a:p>
        </p:txBody>
      </p:sp>
      <p:sp>
        <p:nvSpPr>
          <p:cNvPr id="19" name="Text 16"/>
          <p:cNvSpPr txBox="1"/>
          <p:nvPr/>
        </p:nvSpPr>
        <p:spPr>
          <a:xfrm>
            <a:off x="6263640" y="169164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6"/>
                </a:solidFill>
              </a:rPr>
              <a:t>이것을 조심한다</a:t>
            </a:r>
            <a:endParaRPr lang="ko-KR" altLang="en-US" sz="2000" dirty="0"/>
          </a:p>
        </p:txBody>
      </p:sp>
      <p:sp>
        <p:nvSpPr>
          <p:cNvPr id="20" name="card"/>
          <p:cNvSpPr/>
          <p:nvPr/>
        </p:nvSpPr>
        <p:spPr>
          <a:xfrm>
            <a:off x="6263640" y="2240280"/>
            <a:ext cx="5349240" cy="1051560"/>
          </a:xfrm>
          <a:prstGeom prst="roundRect">
            <a:avLst>
              <a:gd name="adj" fmla="val 8696"/>
            </a:avLst>
          </a:prstGeom>
          <a:solidFill>
            <a:schemeClr val="bg2"/>
          </a:solidFill>
          <a:ln w="12700">
            <a:solidFill>
              <a:schemeClr val="bg2"/>
            </a:solidFill>
            <a:prstDash val="solid"/>
          </a:ln>
        </p:spPr>
      </p:sp>
      <p:sp>
        <p:nvSpPr>
          <p:cNvPr id="21" name="Shape 18"/>
          <p:cNvSpPr/>
          <p:nvPr/>
        </p:nvSpPr>
        <p:spPr>
          <a:xfrm>
            <a:off x="6492240" y="2441448"/>
            <a:ext cx="420624" cy="420624"/>
          </a:xfrm>
          <a:prstGeom prst="ellipse">
            <a:avLst/>
          </a:prstGeom>
          <a:solidFill>
            <a:schemeClr val="accent1"/>
          </a:solidFill>
          <a:ln w="12700">
            <a:solidFill>
              <a:schemeClr val="accent1"/>
            </a:solidFill>
            <a:prstDash val="solid"/>
          </a:ln>
        </p:spPr>
      </p:sp>
      <p:sp>
        <p:nvSpPr>
          <p:cNvPr id="22" name="Text 19"/>
          <p:cNvSpPr txBox="1"/>
          <p:nvPr/>
        </p:nvSpPr>
        <p:spPr>
          <a:xfrm>
            <a:off x="6492240" y="2441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3" name="card"/>
          <p:cNvSpPr/>
          <p:nvPr/>
        </p:nvSpPr>
        <p:spPr>
          <a:xfrm>
            <a:off x="6263640" y="3429000"/>
            <a:ext cx="5349240" cy="1051560"/>
          </a:xfrm>
          <a:prstGeom prst="roundRect">
            <a:avLst>
              <a:gd name="adj" fmla="val 8696"/>
            </a:avLst>
          </a:prstGeom>
          <a:solidFill>
            <a:schemeClr val="bg2"/>
          </a:solidFill>
          <a:ln w="12700">
            <a:solidFill>
              <a:schemeClr val="bg2"/>
            </a:solidFill>
            <a:prstDash val="solid"/>
          </a:ln>
        </p:spPr>
      </p:sp>
      <p:sp>
        <p:nvSpPr>
          <p:cNvPr id="24" name="Shape 21"/>
          <p:cNvSpPr/>
          <p:nvPr/>
        </p:nvSpPr>
        <p:spPr>
          <a:xfrm>
            <a:off x="6492240" y="3630168"/>
            <a:ext cx="420624" cy="420624"/>
          </a:xfrm>
          <a:prstGeom prst="ellipse">
            <a:avLst/>
          </a:prstGeom>
          <a:solidFill>
            <a:schemeClr val="accent1"/>
          </a:solidFill>
          <a:ln w="12700">
            <a:solidFill>
              <a:schemeClr val="accent1"/>
            </a:solidFill>
            <a:prstDash val="solid"/>
          </a:ln>
        </p:spPr>
      </p:sp>
      <p:sp>
        <p:nvSpPr>
          <p:cNvPr id="25" name="Text 22"/>
          <p:cNvSpPr txBox="1"/>
          <p:nvPr/>
        </p:nvSpPr>
        <p:spPr>
          <a:xfrm>
            <a:off x="6492240"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6" name="card"/>
          <p:cNvSpPr/>
          <p:nvPr/>
        </p:nvSpPr>
        <p:spPr>
          <a:xfrm>
            <a:off x="6263640" y="4617720"/>
            <a:ext cx="5349240" cy="1051560"/>
          </a:xfrm>
          <a:prstGeom prst="roundRect">
            <a:avLst>
              <a:gd name="adj" fmla="val 8696"/>
            </a:avLst>
          </a:prstGeom>
          <a:solidFill>
            <a:schemeClr val="bg2"/>
          </a:solidFill>
          <a:ln w="12700">
            <a:solidFill>
              <a:schemeClr val="bg2"/>
            </a:solidFill>
            <a:prstDash val="solid"/>
          </a:ln>
        </p:spPr>
      </p:sp>
      <p:sp>
        <p:nvSpPr>
          <p:cNvPr id="27" name="Shape 24"/>
          <p:cNvSpPr/>
          <p:nvPr/>
        </p:nvSpPr>
        <p:spPr>
          <a:xfrm>
            <a:off x="6492240" y="4818888"/>
            <a:ext cx="420624" cy="420624"/>
          </a:xfrm>
          <a:prstGeom prst="ellipse">
            <a:avLst/>
          </a:prstGeom>
          <a:solidFill>
            <a:schemeClr val="accent1"/>
          </a:solidFill>
          <a:ln w="12700">
            <a:solidFill>
              <a:schemeClr val="accent1"/>
            </a:solidFill>
            <a:prstDash val="solid"/>
          </a:ln>
        </p:spPr>
      </p:sp>
      <p:sp>
        <p:nvSpPr>
          <p:cNvPr id="28" name="Text 25"/>
          <p:cNvSpPr txBox="1"/>
          <p:nvPr/>
        </p:nvSpPr>
        <p:spPr>
          <a:xfrm>
            <a:off x="6492240" y="48188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9" name="Text 26"/>
          <p:cNvSpPr txBox="1"/>
          <p:nvPr/>
        </p:nvSpPr>
        <p:spPr>
          <a:xfrm>
            <a:off x="7086600" y="237744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편한 접근만 원했는데 ‘하나만’이라는 제한까지 함께 떠안게 된다.</a:t>
            </a:r>
            <a:endParaRPr lang="ko-KR" altLang="en-US" sz="1400" dirty="0"/>
          </a:p>
        </p:txBody>
      </p:sp>
      <p:sp>
        <p:nvSpPr>
          <p:cNvPr id="30" name="Text 27"/>
          <p:cNvSpPr txBox="1"/>
          <p:nvPr/>
        </p:nvSpPr>
        <p:spPr>
          <a:xfrm>
            <a:off x="7086600" y="356616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싱글턴도 전역 상태이므로 추적, 결합, 동시성 문제가 그대로 남는다.</a:t>
            </a:r>
            <a:endParaRPr lang="ko-KR" altLang="en-US" sz="1400" dirty="0"/>
          </a:p>
        </p:txBody>
      </p:sp>
      <p:sp>
        <p:nvSpPr>
          <p:cNvPr id="31" name="Text 28"/>
          <p:cNvSpPr txBox="1"/>
          <p:nvPr/>
        </p:nvSpPr>
        <p:spPr>
          <a:xfrm>
            <a:off x="7086600" y="475488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게으른 초기화는 프레임 끊김과 메모리 배치 문제를 함께 불러온다.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관련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원서가 함께 소개하는 패턴들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Unity에서는 이 생각이 어디에 드러날까?</a:t>
            </a:r>
            <a:endParaRPr lang="ko-KR" altLang="en-US" sz="1500" dirty="0"/>
          </a:p>
        </p:txBody>
      </p:sp>
      <p:sp>
        <p:nvSpPr>
          <p:cNvPr id="6" name="Shape 3"/>
          <p:cNvSpPr/>
          <p:nvPr/>
        </p:nvSpPr>
        <p:spPr>
          <a:xfrm>
            <a:off x="548640" y="1737360"/>
            <a:ext cx="11094415" cy="1143000"/>
          </a:xfrm>
          <a:prstGeom prst="roundRect">
            <a:avLst>
              <a:gd name="adj" fmla="val 8000"/>
            </a:avLst>
          </a:prstGeom>
          <a:solidFill>
            <a:schemeClr val="bg2"/>
          </a:solidFill>
          <a:ln w="12700">
            <a:solidFill>
              <a:schemeClr val="bg2"/>
            </a:solidFill>
            <a:prstDash val="solid"/>
          </a:ln>
        </p:spPr>
      </p:sp>
      <p:sp>
        <p:nvSpPr>
          <p:cNvPr id="7" name="Text 4"/>
          <p:cNvSpPr txBox="1"/>
          <p:nvPr/>
        </p:nvSpPr>
        <p:spPr>
          <a:xfrm>
            <a:off x="822960" y="187452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하위 클래스 샌드박스</a:t>
            </a:r>
            <a:endParaRPr lang="ko-KR" altLang="en-US" sz="1800" dirty="0"/>
          </a:p>
        </p:txBody>
      </p:sp>
      <p:sp>
        <p:nvSpPr>
          <p:cNvPr id="8" name="Shape 5"/>
          <p:cNvSpPr/>
          <p:nvPr/>
        </p:nvSpPr>
        <p:spPr>
          <a:xfrm>
            <a:off x="822960" y="2377440"/>
            <a:ext cx="822960" cy="347472"/>
          </a:xfrm>
          <a:prstGeom prst="roundRect">
            <a:avLst>
              <a:gd name="adj" fmla="val 21053"/>
            </a:avLst>
          </a:prstGeom>
          <a:solidFill>
            <a:schemeClr val="accent1"/>
          </a:solidFill>
          <a:ln w="12700">
            <a:solidFill>
              <a:schemeClr val="accent1"/>
            </a:solidFill>
            <a:prstDash val="solid"/>
          </a:ln>
        </p:spPr>
      </p:sp>
      <p:sp>
        <p:nvSpPr>
          <p:cNvPr id="9" name="Text 6"/>
          <p:cNvSpPr txBox="1"/>
          <p:nvPr/>
        </p:nvSpPr>
        <p:spPr>
          <a:xfrm>
            <a:off x="822960" y="237744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8강</a:t>
            </a:r>
            <a:endParaRPr lang="ko-KR" altLang="en-US" sz="1200" dirty="0"/>
          </a:p>
        </p:txBody>
      </p:sp>
      <p:sp>
        <p:nvSpPr>
          <p:cNvPr id="10" name="Text 7"/>
          <p:cNvSpPr txBox="1"/>
          <p:nvPr/>
        </p:nvSpPr>
        <p:spPr>
          <a:xfrm>
            <a:off x="4297680" y="1874520"/>
            <a:ext cx="7071055" cy="868680"/>
          </a:xfrm>
          <a:prstGeom prst="rect">
            <a:avLst/>
          </a:prstGeom>
          <a:noFill/>
          <a:ln/>
        </p:spPr>
        <p:txBody>
          <a:bodyPr wrap="square" lIns="0" tIns="0" rIns="0" bIns="0" rtlCol="0" anchor="ctr"/>
          <a:lstStyle/>
          <a:p>
            <a:pPr indent="0" marL="0" eaLnBrk="0">
              <a:buNone/>
            </a:pPr>
            <a:r>
              <a:rPr lang="ko-KR" altLang="en-US" sz="1500" dirty="0">
                <a:solidFill>
                  <a:schemeClr val="tx2"/>
                </a:solidFill>
              </a:rPr>
              <a:t>상위 클래스가 protected 메서드로 필요한 것을 건네준다. 전역으로 열지 않고 하위 클래스끼리 상태를 공유한다.</a:t>
            </a:r>
            <a:endParaRPr lang="ko-KR" altLang="en-US" sz="1500" dirty="0"/>
          </a:p>
        </p:txBody>
      </p:sp>
      <p:sp>
        <p:nvSpPr>
          <p:cNvPr id="11" name="Shape 8"/>
          <p:cNvSpPr/>
          <p:nvPr/>
        </p:nvSpPr>
        <p:spPr>
          <a:xfrm>
            <a:off x="548640" y="3063240"/>
            <a:ext cx="11094415" cy="1143000"/>
          </a:xfrm>
          <a:prstGeom prst="roundRect">
            <a:avLst>
              <a:gd name="adj" fmla="val 8000"/>
            </a:avLst>
          </a:prstGeom>
          <a:solidFill>
            <a:schemeClr val="bg2"/>
          </a:solidFill>
          <a:ln w="12700">
            <a:solidFill>
              <a:schemeClr val="bg2"/>
            </a:solidFill>
            <a:prstDash val="solid"/>
          </a:ln>
        </p:spPr>
      </p:sp>
      <p:sp>
        <p:nvSpPr>
          <p:cNvPr id="12" name="Text 9"/>
          <p:cNvSpPr txBox="1"/>
          <p:nvPr/>
        </p:nvSpPr>
        <p:spPr>
          <a:xfrm>
            <a:off x="822960" y="320040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서비스 중개자</a:t>
            </a:r>
            <a:endParaRPr lang="ko-KR" altLang="en-US" sz="1800" dirty="0"/>
          </a:p>
        </p:txBody>
      </p:sp>
      <p:sp>
        <p:nvSpPr>
          <p:cNvPr id="13" name="Shape 10"/>
          <p:cNvSpPr/>
          <p:nvPr/>
        </p:nvSpPr>
        <p:spPr>
          <a:xfrm>
            <a:off x="822960" y="3703320"/>
            <a:ext cx="822960" cy="347472"/>
          </a:xfrm>
          <a:prstGeom prst="roundRect">
            <a:avLst>
              <a:gd name="adj" fmla="val 21053"/>
            </a:avLst>
          </a:prstGeom>
          <a:solidFill>
            <a:schemeClr val="accent1"/>
          </a:solidFill>
          <a:ln w="12700">
            <a:solidFill>
              <a:schemeClr val="accent1"/>
            </a:solidFill>
            <a:prstDash val="solid"/>
          </a:ln>
        </p:spPr>
      </p:sp>
      <p:sp>
        <p:nvSpPr>
          <p:cNvPr id="14" name="Text 11"/>
          <p:cNvSpPr txBox="1"/>
          <p:nvPr/>
        </p:nvSpPr>
        <p:spPr>
          <a:xfrm>
            <a:off x="822960" y="370332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11강</a:t>
            </a:r>
            <a:endParaRPr lang="ko-KR" altLang="en-US" sz="1200" dirty="0"/>
          </a:p>
        </p:txBody>
      </p:sp>
      <p:sp>
        <p:nvSpPr>
          <p:cNvPr id="15" name="Text 12"/>
          <p:cNvSpPr txBox="1"/>
          <p:nvPr/>
        </p:nvSpPr>
        <p:spPr>
          <a:xfrm>
            <a:off x="4297680" y="3200400"/>
            <a:ext cx="7071055" cy="868680"/>
          </a:xfrm>
          <a:prstGeom prst="rect">
            <a:avLst/>
          </a:prstGeom>
          <a:noFill/>
          <a:ln/>
        </p:spPr>
        <p:txBody>
          <a:bodyPr wrap="square" lIns="0" tIns="0" rIns="0" bIns="0" rtlCol="0" anchor="ctr"/>
          <a:lstStyle/>
          <a:p>
            <a:pPr indent="0" marL="0" eaLnBrk="0">
              <a:buNone/>
            </a:pPr>
            <a:r>
              <a:rPr lang="ko-KR" altLang="en-US" sz="1500" dirty="0">
                <a:solidFill>
                  <a:schemeClr val="tx2"/>
                </a:solidFill>
              </a:rPr>
              <a:t>전역 접근만을 위한 클래스를 둔다. 전역으로 열되, 어떤 객체를 연결할지 더 유연하게 설정할 수 있다.</a:t>
            </a:r>
            <a:endParaRPr lang="ko-KR" altLang="en-US" sz="1500" dirty="0"/>
          </a:p>
        </p:txBody>
      </p:sp>
      <p:sp>
        <p:nvSpPr>
          <p:cNvPr id="16" name="Shape 13"/>
          <p:cNvSpPr/>
          <p:nvPr/>
        </p:nvSpPr>
        <p:spPr>
          <a:xfrm>
            <a:off x="548640" y="4389120"/>
            <a:ext cx="11094415" cy="1143000"/>
          </a:xfrm>
          <a:prstGeom prst="roundRect">
            <a:avLst>
              <a:gd name="adj" fmla="val 8000"/>
            </a:avLst>
          </a:prstGeom>
          <a:solidFill>
            <a:schemeClr val="bg2"/>
          </a:solidFill>
          <a:ln w="12700">
            <a:solidFill>
              <a:schemeClr val="bg2"/>
            </a:solidFill>
            <a:prstDash val="solid"/>
          </a:ln>
        </p:spPr>
      </p:sp>
      <p:sp>
        <p:nvSpPr>
          <p:cNvPr id="17" name="Text 14"/>
          <p:cNvSpPr txBox="1"/>
          <p:nvPr/>
        </p:nvSpPr>
        <p:spPr>
          <a:xfrm>
            <a:off x="822960" y="452628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명령</a:t>
            </a:r>
            <a:endParaRPr lang="ko-KR" altLang="en-US" sz="1800" dirty="0"/>
          </a:p>
        </p:txBody>
      </p:sp>
      <p:sp>
        <p:nvSpPr>
          <p:cNvPr id="18" name="Shape 15"/>
          <p:cNvSpPr/>
          <p:nvPr/>
        </p:nvSpPr>
        <p:spPr>
          <a:xfrm>
            <a:off x="822960" y="5029200"/>
            <a:ext cx="822960" cy="347472"/>
          </a:xfrm>
          <a:prstGeom prst="roundRect">
            <a:avLst>
              <a:gd name="adj" fmla="val 21053"/>
            </a:avLst>
          </a:prstGeom>
          <a:solidFill>
            <a:schemeClr val="accent1"/>
          </a:solidFill>
          <a:ln w="12700">
            <a:solidFill>
              <a:schemeClr val="accent1"/>
            </a:solidFill>
            <a:prstDash val="solid"/>
          </a:ln>
        </p:spPr>
      </p:sp>
      <p:sp>
        <p:nvSpPr>
          <p:cNvPr id="19" name="Text 16"/>
          <p:cNvSpPr txBox="1"/>
          <p:nvPr/>
        </p:nvSpPr>
        <p:spPr>
          <a:xfrm>
            <a:off x="822960" y="502920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2강</a:t>
            </a:r>
            <a:endParaRPr lang="ko-KR" altLang="en-US" sz="1200" dirty="0"/>
          </a:p>
        </p:txBody>
      </p:sp>
      <p:sp>
        <p:nvSpPr>
          <p:cNvPr id="20" name="Text 17"/>
          <p:cNvSpPr txBox="1"/>
          <p:nvPr/>
        </p:nvSpPr>
        <p:spPr>
          <a:xfrm>
            <a:off x="4297680" y="4526280"/>
            <a:ext cx="7071055" cy="868680"/>
          </a:xfrm>
          <a:prstGeom prst="rect">
            <a:avLst/>
          </a:prstGeom>
          <a:noFill/>
          <a:ln/>
        </p:spPr>
        <p:txBody>
          <a:bodyPr wrap="square" lIns="0" tIns="0" rIns="0" bIns="0" rtlCol="0" anchor="ctr"/>
          <a:lstStyle/>
          <a:p>
            <a:pPr indent="0" marL="0" eaLnBrk="0">
              <a:buNone/>
            </a:pPr>
            <a:r>
              <a:rPr lang="ko-KR" altLang="en-US" sz="1500" dirty="0">
                <a:solidFill>
                  <a:schemeClr val="tx2"/>
                </a:solidFill>
              </a:rPr>
              <a:t>상태가 없는 명령은 하나만 있으면 된다. 그렇다고 싱글턴으로 만드는 것은 원서가 권하지 않는다.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Unity에서도 싱글턴과 그 대안을 함께 만난다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마지막으로 오늘 내용을 질문으로 확인해 보자.</a:t>
            </a:r>
            <a:endParaRPr lang="ko-KR" alt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566160"/>
                <a:gridCol w="7528255"/>
              </a:tblGrid>
              <a:tr h="411480">
                <a:tc>
                  <a:txBody>
                    <a:bodyPr/>
                    <a:lstStyle/>
                    <a:p>
                      <a:pPr indent="0" marL="0" eaLnBrk="0">
                        <a:buNone/>
                      </a:pPr>
                      <a:r>
                        <a:rPr lang="ko-KR" altLang="en-US" sz="1400" b="1" dirty="0">
                          <a:solidFill>
                            <a:schemeClr val="bg1"/>
                          </a:solidFill>
                        </a:rPr>
                        <a:t>Unity 기능</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싱글턴과의 관계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777240">
                <a:tc>
                  <a:txBody>
                    <a:bodyPr/>
                    <a:lstStyle/>
                    <a:p>
                      <a:pPr indent="0" marL="0" eaLnBrk="0">
                        <a:buNone/>
                      </a:pPr>
                      <a:r>
                        <a:rPr lang="ko-KR" altLang="en-US" sz="1400" b="1" dirty="0">
                          <a:solidFill>
                            <a:schemeClr val="tx1"/>
                          </a:solidFill>
                        </a:rPr>
                        <a:t>Awake에서 정적 Instance 정하기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MonoBehaviour는 new로 만들지 않아 private 생성자를 쓸 수 없다. Awake에서 정적 필드에 this를 넣고, 이미 있으면 Destroy한다. 실행 중 검사다.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48640">
                <a:tc>
                  <a:txBody>
                    <a:bodyPr/>
                    <a:lstStyle/>
                    <a:p>
                      <a:pPr indent="0" marL="0" eaLnBrk="0">
                        <a:buNone/>
                      </a:pPr>
                      <a:r>
                        <a:rPr lang="ko-KR" altLang="en-US" sz="1400" b="1" dirty="0">
                          <a:solidFill>
                            <a:schemeClr val="tx1"/>
                          </a:solidFill>
                        </a:rPr>
                        <a:t>DontDestroyOnLoad</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씬이 바뀌어도 객체를 남긴다. 게임 내내 살아 있는 전역 객체가 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48640">
                <a:tc>
                  <a:txBody>
                    <a:bodyPr/>
                    <a:lstStyle/>
                    <a:p>
                      <a:pPr indent="0" marL="0" eaLnBrk="0">
                        <a:buNone/>
                      </a:pPr>
                      <a:r>
                        <a:rPr lang="ko-KR" altLang="en-US" sz="1400" b="1" dirty="0">
                          <a:solidFill>
                            <a:schemeClr val="tx1"/>
                          </a:solidFill>
                        </a:rPr>
                        <a:t>[RuntimeInitializeOnLoadMethod]</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게으른 초기화 대신, 씬을 불러오기 전 같은 정해진 시점에 초기화한다.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48640">
                <a:tc>
                  <a:txBody>
                    <a:bodyPr/>
                    <a:lstStyle/>
                    <a:p>
                      <a:pPr indent="0" marL="0" eaLnBrk="0">
                        <a:buNone/>
                      </a:pPr>
                      <a:r>
                        <a:rPr lang="ko-KR" altLang="en-US" sz="1400" b="1" dirty="0">
                          <a:solidFill>
                            <a:schemeClr val="tx1"/>
                          </a:solidFill>
                        </a:rPr>
                        <a:t>[SerializeField] 참조 연결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필요한 객체를 Inspector에서 직접 넣어 준다. ‘넘겨주기’에 해당한다.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48640">
                <a:tc>
                  <a:txBody>
                    <a:bodyPr/>
                    <a:lstStyle/>
                    <a:p>
                      <a:pPr indent="0" marL="0" eaLnBrk="0">
                        <a:buNone/>
                      </a:pPr>
                      <a:r>
                        <a:rPr lang="ko-KR" altLang="en-US" sz="1400" b="1" dirty="0">
                          <a:solidFill>
                            <a:schemeClr val="tx1"/>
                          </a:solidFill>
                        </a:rPr>
                        <a:t>도메인 리로드를 끈 Play Mode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정적 필드가 다음 실행까지 남는다. 전역 상태의 비용이 드러나는 곳이다.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확인 질문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질문으로 다시 정리한다</a:t>
            </a:r>
            <a:endParaRPr lang="ko-KR" alt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120640"/>
                <a:gridCol w="5973775"/>
              </a:tblGrid>
              <a:tr h="457200">
                <a:tc>
                  <a:txBody>
                    <a:bodyPr/>
                    <a:lstStyle/>
                    <a:p>
                      <a:pPr indent="0" marL="0" eaLnBrk="0">
                        <a:buNone/>
                      </a:pPr>
                      <a:r>
                        <a:rPr lang="ko-KR" altLang="en-US" sz="1500" b="1" dirty="0">
                          <a:solidFill>
                            <a:schemeClr val="bg1"/>
                          </a:solidFill>
                        </a:rPr>
                        <a:t>질문</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답</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58368">
                <a:tc>
                  <a:txBody>
                    <a:bodyPr/>
                    <a:lstStyle/>
                    <a:p>
                      <a:pPr indent="0" marL="0" eaLnBrk="0">
                        <a:buNone/>
                      </a:pPr>
                      <a:r>
                        <a:rPr lang="ko-KR" altLang="en-US" sz="1500" b="1" dirty="0">
                          <a:solidFill>
                            <a:schemeClr val="tx1"/>
                          </a:solidFill>
                        </a:rPr>
                        <a:t>싱글턴 패턴이 주는 두 가지는?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인스턴스를 하나로 제한하는 것과, 그 인스턴스에 대한 전역 접근점.</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첫 Instance 구현이 여러 스레드에서 위험한 이유는?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두 스레드가 모두 null을 보고 객체를 둘 만들 수 있다. Lazy&lt;T&gt;가 이를 막는다.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싱글턴 Log를 분야별 로그로 나누기 어려운 이유는?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인스턴스가 하나로 제한되고, Log.Instance 호출이 모든 호출 지점에 박혀 있다.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BulletManager는 몇 개가 필요한가?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0개. 그 행동을 Bullet 자신에게 옮기면 관리자가 필요 없다.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전역 접근 없이 인스턴스를 하나로 보장하려면?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생성자에서 정적 표시를 검사한다. 단, 검사는 실행 중에 일어난다.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70448"/>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다음 강의  </a:t>
            </a:r>
            <a:pPr indent="0" marL="0" eaLnBrk="0">
              <a:buNone/>
            </a:pPr>
            <a:r>
              <a:rPr lang="ko-KR" altLang="en-US" sz="1500" dirty="0">
                <a:solidFill>
                  <a:schemeClr val="tx2"/>
                </a:solidFill>
              </a:rPr>
              <a:t>관찰자(Observer) 패턴: 한 객체에 일어난 일을, 받는 쪽을 모르는 채로 여러 객체에 알린다.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33</a:t>
            </a:fld>
            <a:endParaRPr lang="ko-KR" altLang="en-US"/>
          </a:p>
        </p:txBody>
      </p:sp>
    </p:spTree>
  </p:cSld>
  <p:clrMapOvr>
    <a:masterClrMapping/>
  </p:clrMapOvr>
</p:sld>
</file>

<file path=ppt/theme/theme1.xml><?xml version="1.0" encoding="utf-8"?>
<a:theme xmlns:a="http://schemas.openxmlformats.org/drawingml/2006/main" name="Patterns Lecture">
  <a:themeElements>
    <a:clrScheme name="Patterns Lecture">
      <a:dk1>
        <a:srgbClr val="1F2430"/>
      </a:dk1>
      <a:lt1>
        <a:srgbClr val="FFFFFF"/>
      </a:lt1>
      <a:dk2>
        <a:srgbClr val="2B2D42"/>
      </a:dk2>
      <a:lt2>
        <a:srgbClr val="F1F3F6"/>
      </a:lt2>
      <a:accent1>
        <a:srgbClr val="E07A3F"/>
      </a:accent1>
      <a:accent2>
        <a:srgbClr val="2A9D8F"/>
      </a:accent2>
      <a:accent3>
        <a:srgbClr val="8D99AE"/>
      </a:accent3>
      <a:accent4>
        <a:srgbClr val="E9C46A"/>
      </a:accent4>
      <a:accent5>
        <a:srgbClr val="5C6577"/>
      </a:accent5>
      <a:accent6>
        <a:srgbClr val="C44536"/>
      </a:accent6>
      <a:hlink>
        <a:srgbClr val="2A9D8F"/>
      </a:hlink>
      <a:folHlink>
        <a:srgbClr val="5C6577"/>
      </a:folHlink>
    </a:clrScheme>
    <a:fontScheme name="Pattern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5강 싱글턴(Singleton) 패턴</dc:title>
  <dc:subject>PptxGenJS Presentation</dc:subject>
  <dc:creator>Mini Tactics 패턴 수업</dc:creator>
  <cp:lastModifiedBy>Mini Tactics 패턴 수업</cp:lastModifiedBy>
  <cp:revision>1</cp:revision>
  <dcterms:created xsi:type="dcterms:W3CDTF">2026-10-27T07:28:27Z</dcterms:created>
  <dcterms:modified xsi:type="dcterms:W3CDTF">2026-10-27T07:28:27Z</dcterms:modified>
</cp:coreProperties>
</file>