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8b722ed7-dc89-73e2-1cf8-0621f4352e5a}">
          <p14:sldIdLst>
            <p14:sldId id="256"/>
            <p14:sldId id="257"/>
            <p14:sldId id="258"/>
          </p14:sldIdLst>
        </p14:section>
        <p14:section name="1 · 종족마다 하위 클래스" id="{959b0a49-8e28-0383-285d-0f5974e270b6}">
          <p14:sldIdLst>
            <p14:sldId id="259"/>
            <p14:sldId id="260"/>
            <p14:sldId id="261"/>
            <p14:sldId id="262"/>
          </p14:sldIdLst>
        </p14:section>
        <p14:section name="2 · 종족을 객체로" id="{7350f064-58e2-ebbe-83d9-fa0fff45fce4}">
          <p14:sldIdLst>
            <p14:sldId id="263"/>
            <p14:sldId id="264"/>
            <p14:sldId id="265"/>
            <p14:sldId id="266"/>
            <p14:sldId id="267"/>
          </p14:sldIdLst>
        </p14:section>
        <p14:section name="3 · 종족을 타입답게" id="{862b5a22-0d9d-731a-8483-b65af5653672}">
          <p14:sldIdLst>
            <p14:sldId id="268"/>
            <p14:sldId id="269"/>
            <p14:sldId id="270"/>
            <p14:sldId id="271"/>
            <p14:sldId id="272"/>
            <p14:sldId id="273"/>
            <p14:sldId id="274"/>
            <p14:sldId id="275"/>
          </p14:sldIdLst>
        </p14:section>
        <p14:section name="4 · 설계 결정" id="{1f2cb954-e04c-6d94-7a45-b3d9804ca238}">
          <p14:sldIdLst>
            <p14:sldId id="276"/>
            <p14:sldId id="277"/>
            <p14:sldId id="278"/>
            <p14:sldId id="279"/>
            <p14:sldId id="280"/>
          </p14:sldIdLst>
        </p14:section>
        <p14:section name="5 · 쓸 때와 주의점" id="{ae7e3792-3568-489a-7feb-ed7ddad49f9f}">
          <p14:sldIdLst>
            <p14:sldId id="281"/>
            <p14:sldId id="282"/>
            <p14:sldId id="283"/>
            <p14:sldId id="284"/>
            <p14:sldId id="285"/>
            <p14:sldId id="286"/>
          </p14:sldIdLst>
        </p14:section>
        <p14:section name="정리" id="{97926111-5f46-98c7-55dc-297121bbc49b}">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원서 「타입 객체」 장의 순서를 그대로 따라갑니다. 몬스터 종족마다 하위 클래스를 만드는 첫 시도에서 출발해, 종족을 객체로 바꾸고, 종족끼리 데이터를 물려주고, 마지막에는 종족을 데이터 파일로 정의합니다.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타입 객체 장은 판타지 RPG의 몬스터 하나로 끝까지 설명합니다. 먼저 종족마다 하위 클래스를 만들고 그 한계를 봅니다. 그다음 종족을 객체로 바꾸고, 종족이 몬스터를 만들게 하고, 종족끼리 값을 물려주게 합니다. 끝으로 설계 결정과 Unity 대응을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원서가 말하는 이 패턴의 의도는 이렇습니다. 클래스 하나를 만들고, 그 클래스의 인스턴스 하나하나가 서로 다른 타입을 나타내게 합니다. 그러면 새 타입이 필요할 때 클래스를 새로 쓰지 않고 객체를 하나 더 만들면 됩니다. 왼쪽은 종족 하나가 클래스 하나인 방식이고, 오른쪽은 종족 하나가 객체 하나인 방식입니다.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판타지 RPG에 몬스터 무리를 넣는 일에서 출발합니다. 객체지향을 배운 사람이 가장 먼저 떠올릴 구조를 만들어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몬스터에게는 현재 체력과 공격이 있습니다. 공격할 때는 공격 문장을 화면에 보여 줍니다. 모든 몬스터는 용이나 트롤 같은 종족에 속합니다. 같은 종족의 몬스터는 시작 체력과 공격 문장이 같습니다. 하지만 싸우는 동안 현재 체력은 몬스터마다 달라집니다.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객체지향으로 짜면 자연스럽게 이런 모양이 됩니다. Monster는 추상 클래스이고 현재 체력을 가집니다. 생성자는 시작 체력을 받습니다. 종족마다 하위 클래스를 만들어 생성자에서 시작 체력을 넘기고, GetAttack을 재정의해 공격 문장을 돌려줍니다. 용은 230, 트롤은 48로 시작합니다.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게임 디자이너는 종족을 수백 개 만들고 싶어 하고, 균형을 맞추려고 값을 계속 조정합니다. 지금 구조에서는 트롤의 체력을 48에서 52로 바꾸는 일도 코드 수정, 다시 컴파일, 저장소 반영을 거쳐야 합니다. 원서는 이렇게 되면 프로그래머가 하루 종일 값만 옮겨 적는 사람이 된다고 지적합니다. 우리가 원하는 것은 다시 컴파일하지 않고 종족 값을 바꾸는 것, 더 나아가 디자이너가 프로그래머 없이 새 종족을 만드는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클래스 상속으로 표현하던 종족을, 몬스터가 참조하는 평범한 객체로 바꿉니다.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왼쪽은 지금까지의 구조입니다. 몬스터가 곧 용이거나 트롤입니다. 오른쪽은 이 패턴의 구조입니다. Monster 클래스는 하나뿐이고, 각 몬스터는 자기 종족을 나타내는 Breed 객체를 참조합니다. 종족을 하나 더하려면 Breed 인스턴스를 하나 더 만들면 됩니다. Breed 인스턴스 하나가 타입 하나를 나타내므로 이 패턴을 타입 객체라고 부릅니다.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패턴의 역할은 둘입니다. 타입 객체 클래스의 인스턴스는 각각 하나의 논리적인 타입을 나타냅니다. 타입이 지정된 객체는 자기 타입 객체를 참조합니다. 몬스터마다 다른 값은 몬스터에, 같은 종족이 함께 쓰는 값은 종족에 둡니다. 같은 종족 객체를 참조하는 몬스터들은 같은 타입처럼 행동합니다.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기본 코드입니다. Breed는 시작 체력과 공격 문장을 담는 단순한 그릇입니다. Monster는 생성될 때 종족의 시작 체력을 자기 현재 체력으로 복사하고, 종족을 참조로 기억합니다. 공격 문장은 따로 갖지 않고 종족에게 물어서 돌려줍니다. 원서는 패턴의 핵심은 여기까지이고, 나머지는 덤이라고 말합니다.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용 종족과 트롤 종족을 하나씩 만들고, 트롤 몬스터 둘과 용 몬스터 하나를 만듭니다. m1과 m2는 같은 트롤 종족 객체를 참조하므로 같은 공격 문장을 돌려줍니다. 현재 체력은 각 몬스터가 따로 가지므로, m1이 피해를 받아도 m2의 체력은 그대로입니다. 종족 객체는 둘뿐이고, 새 하위 클래스는 하나도 없습니다.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기본 패턴은 끝났습니다. 이제 종족 객체가 클래스처럼 인스턴스를 만들고, 부모에게서 값을 물려받게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클래스는 new로 인스턴스를 만드는 공장 역할을 합니다. 종족도 타입이니 같은 일을 하게 합니다. Breed에 NewMonster()를 두고, 몬스터는 이 메서드로만 만들게 합니다. 원서의 C++ 코드는 Monster의 생성자를 private으로 막고 Breed를 friend로 지정합니다. C#에는 friend가 없으므로 internal로 범위를 좁혔습니다. 이것은 팩토리 메서드(Factory Method)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트롤 종류가 많아지면 모두 같은 체력을 반복해서 적게 됩니다. 원서는 종족에 부모 종족을 하나 둘 수 있게 합니다. 클래스 상속처럼 단일 상속입니다. 규칙은 간단합니다. 체력이 0이 아니면 자기 값을 쓰고, 공격 문장이 null이 아니면 자기 값을 씁니다. 그렇지 않으면 부모의 값을 물려받습니다.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첫 번째 방법입니다. Breed가 부모 종족 참조를 필드로 가집니다. GetHealth는 자기 체력이 0이 아니거나 부모가 없으면 자기 값을 돌려주고, 그렇지 않으면 부모의 GetHealth를 부릅니다. 부모도 물려받는 중이면 그 부모로 다시 올라갑니다. 값을 읽는 순간에 상속을 처리하므로, 실행 중에 종족 값이 바뀌어도 맞는 값을 돌려줍니다.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두 번째 방법입니다. 종족 값이 만들어진 뒤로 바뀌지 않는다고 가정할 수 있다면, 생성자에서 상속을 끝낼 수 있습니다. 덮어쓰지 않은 값은 부모에게서 복사해 자기 필드에 넣습니다. 그러면 부모 참조를 보관할 필요가 없고, 값을 읽을 때는 필드를 그대로 돌려주기만 합니다. 원서는 이것을 생성 시점에 아래로 복사한다는 뜻으로 부릅니다.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두 방식을 나란히 놓습니다. 동적 위임은 부모 참조를 계속 들고 다니고, 값을 읽을 때마다 사슬을 따라가므로 메모리와 시간이 더 듭니다. 대신 실행 중에 종족 값이 바뀌어도 자식이 새 값을 읽습니다. 생성 시 복사는 빠르고 가볍지만, 만든 뒤 부모 값이 바뀌면 자식은 복사해 둔 옛 값을 그대로 가집니다. 원서는 종족 값이 바뀌지 않는다고 가정할 수 있으면 생성 시 복사를 쓴다고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종족을 JSON 파일로 정의하는 예를 보여 줍니다. 항목 하나가 종족 하나입니다. parent는 부모 종족의 이름이고, health가 0이면 물려받는다는 뜻입니다. 게임은 이 파일을 읽어 항목마다 Breed를 하나씩 만듭니다. 이제 새 종족을 더하는 데 코드가 필요 없습니다. 디자이너가 파일만 고치면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파일을 읽어 만든 세 종족의 값을 확인합니다. 트롤은 자기 값을 그대로 씁니다. 궁수와 마법사는 체력이 0이므로 부모 트롤의 25를 물려받고, 공격 문장은 자기 것을 씁니다. 디자이너가 파일에서 트롤의 체력을 30으로 고치고 게임을 다시 실행하면 세 종족이 모두 30이 됩니다. 이 과정에서 코드는 한 줄도 바뀌지 않습니다.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타입 객체 패턴은 만드는 방법의 폭이 넓습니다. 원서가 짚는 네 가지 결정을 차례로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첫 번째 결정은 Breed를 Monster 안에 숨길지, 밖으로 드러낼지입니다. 숨기면 나머지 코드는 종족의 존재를 몰라도 되고, 몬스터가 종족의 행동을 덮어쓸 수 있습니다. 예를 들어 체력이 낮으면 종족의 공격 문장 대신 힘없이 허우적거린다는 문장을 돌려줍니다. 대신 종족의 기능마다 전달 메서드를 써야 합니다. 드러내면 몬스터 없이도 종족을 쓸 수 있어 NewMonster 같은 방식이 가능하지만, 종족이 공개 API의 일부가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두 번째 결정은 몬스터를 만드는 방법입니다. 하나는 호출하는 쪽이 몬스터를 만들면서 종족을 넘기는 방법입니다. 이때는 호출하는 쪽이 객체를 새로 만들지, 미리 만들어 둔 것을 쓸지 정할 수 있습니다. 다른 하나는 종족의 NewMonster를 부르는 방법입니다. 이때는 종족이 메모리를 관리합니다. 예를 들어 모든 몬스터를 객체 풀에서 꺼내도록 보장할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세 번째 결정은 몬스터의 종족을 나중에 바꿀 수 있게 할지입니다. 원서의 예는 죽은 몬스터가 좀비로 되살아나는 경우입니다. 종족을 바꿀 수 있으면 새 좀비 몬스터를 만들고 값을 옮길 필요 없이 종족 참조만 바꾸면 됩니다. 하지만 바꾼 뒤에도 새 종족의 가정이 지켜져야 합니다. 예를 들어 종족이 현재 체력은 시작 체력보다 크지 않다고 가정한다면, 바꾼 직후에 이것을 확인해야 합니다. 종족을 고정하면 코드가 단순하고 디버깅도 쉽습니다.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네 번째 결정은 상속의 범위입니다. 상속이 없으면 가장 단순하지만, 엘프 쉰 종류의 같은 값을 쉰 번 고치는 일이 생깁니다. 단일 상속은 비교적 단순하고 프로그래머가 아닌 사람도 이해하기 쉽습니다. 다만 값을 찾느라 사슬을 따라가면 느려질 수 있습니다. 다중 상속은 중복을 거의 없앨 수 있지만 복잡합니다. 좀비 용이 좀비와 용을 모두 부모로 가지면, 어떤 값이 어느 부모에서 오는지 알아야 합니다. 원서는 타입 객체에 다중 상속을 쓸 일은 드물다고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패턴을 고를 때의 판단 기준과, 원서가 소개하는 관련 패턴을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언어의 클래스 체계가 필요한 종류를 다루기에 너무 경직되어 있을 때 이 패턴을 쓰라고 합니다. 특히 어떤 타입이 필요할지 미리 모를 때, 그리고 다시 컴파일하지 않고 타입을 더하거나 고치고 싶을 때 잘 맞습니다. 반대로 컴파일러가 해 주던 타입 관리를 우리가 직접 해야 하고, 종족마다 다른 행동을 코드로 쓰기 어려워집니다.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클래스를 쓰면 컴파일러가 타입을 관리합니다. 원서는 가상 메서드를 가진 객체가 이미 이 패턴과 같은 모양이라고 설명합니다. 컴파일러가 만드는 가상 함수 테이블이 종족 객체이고, 객체가 가진 테이블 참조가 종족 참조입니다. 타입 객체를 쓰면 이 관리를 우리가 맡습니다. 또 하위 클래스는 메서드를 재정의해 무엇이든 할 수 있지만, 종족은 데이터만 가지므로 행동을 정하기 어렵습니다. 원서는 미리 만든 행동 몇 개 중에서 종족이 고르게 하거나, 해석자 패턴이나 바이트코드로 행동 자체를 데이터로 정의하는 방법을 소개합니다.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관련 자료 절입니다. 프로토타입 패턴은 같은 문제를 다른 방법으로 풉니다. 경량 패턴은 3강, 상태 패턴은 4강에서 배웠습니다. 두 패턴 모두 다른 객체에게 무언가를 맡긴다는 점에서 타입 객체와 닮았지만, 맡기는 목적과 내용이 다릅니다.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Unity의 기능을 타입 객체 패턴의 관점에서 봅니다. ScriptableObject 에셋은 여러 오브젝트가 참조하는 공유 데이터이므로 종족 객체와 같은 역할을 합니다. 에셋은 다시 컴파일하지 않고 에디터에서 만들고 고칠 수 있습니다. 반면 프리팹은 원본 오브젝트를 복제해 새 오브젝트를 만들므로 타입 객체보다 프로토타입에 가깝습니다. 프리팹 변형은 바탕 프리팹의 값을 물려받고 일부만 덮어쓰므로 종족 상속과 비교해 볼 만합니다.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두 기능은 함께 쓰는 경우가 많습니다. 프리팹은 몬스터 오브젝트의 구성, 즉 어떤 컴포넌트를 가질지를 복제합니다. 그 안의 몬스터 컴포넌트는 종족 에셋을 참조하는 필드를 가집니다. Instantiate는 이 필드의 참조를 복사할 뿐 에셋을 복제하지 않으므로, 복제된 몬스터들은 모두 같은 종족 에셋을 가리킵니다. 현재 체력처럼 몬스터마다 다른 값은 에셋이 아니라 컴포넌트에 둡니다. 원서의 Monster와 Breed의 나눔과 같습니다.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답을 가리고 먼저 학생에게 물어본 뒤 확인합니다. 다음 강의는 하위 클래스 샌드박스(Subclass Sandbox) 패턴입니다.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lstStyle>
            <a:lvl1pPr algn="l" indent="0" marL="0" eaLnBrk="0">
              <a:buNone/>
              <a:defRPr lang="ko-KR" altLang="en-US" sz="4000" b="1" dirty="0">
                <a:solidFill>
                  <a:schemeClr val="bg1"/>
                </a:solidFill>
              </a:defRPr>
            </a:lvl1pPr>
          </a:lstStyle>
          <a:p>
            <a:pPr algn="l" indent="0" marL="0" eaLnBrk="0">
              <a:buNone/>
            </a:pP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97280"/>
          </a:xfrm>
          <a:prstGeom prst="rect">
            <a:avLst/>
          </a:prstGeom>
          <a:noFill/>
          <a:ln/>
        </p:spPr>
        <p:txBody>
          <a:bodyPr wrap="square" rtlCol="0"/>
          <a:lstStyle>
            <a:lvl1pPr algn="l" indent="0" marL="0" eaLnBrk="0">
              <a:buNone/>
              <a:defRPr lang="ko-KR" altLang="en-US" sz="3600" b="1" dirty="0">
                <a:solidFill>
                  <a:schemeClr val="bg1"/>
                </a:solidFill>
              </a:defRPr>
            </a:lvl1pPr>
          </a:lstStyle>
          <a:p>
            <a:pPr algn="l" indent="0" marL="0" eaLnBrk="0">
              <a:buNone/>
            </a:pPr>
            <a:endParaRPr lang="ko-KR" altLang="en-US" sz="3600" dirty="0"/>
          </a:p>
        </p:txBody>
      </p:sp>
      <p:sp>
        <p:nvSpPr>
          <p:cNvPr id="3" name="Text 0"/>
          <p:cNvSpPr/>
          <p:nvPr>
            <p:ph idx="101" type="body" hasCustomPrompt="1"/>
          </p:nvPr>
        </p:nvSpPr>
        <p:spPr>
          <a:xfrm>
            <a:off x="548640" y="3794760"/>
            <a:ext cx="11094415" cy="73152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eaLnBrk="0">
              <a:buNone/>
              <a:defRPr lang="ko-KR" altLang="en-US" sz="2600" b="1" dirty="0">
                <a:solidFill>
                  <a:schemeClr val="tx1"/>
                </a:solidFill>
              </a:defRPr>
            </a:lvl1pPr>
          </a:lstStyle>
          <a:p>
            <a:pPr algn="l" indent="0" marL="0" eaLnBrk="0">
              <a:buNone/>
            </a:pPr>
            <a:endParaRPr lang="ko-KR" alt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eaLnBrk="0">
              <a:buNone/>
            </a:pPr>
            <a:r>
              <a:rPr lang="ko-KR" altLang="en-US" sz="1000" dirty="0">
                <a:solidFill>
                  <a:schemeClr val="accent3"/>
                </a:solidFill>
              </a:rPr>
              <a:t>7강 · 타입 객체(Type Object) 패턴</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eaLnBrk="0">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nchor="b"/>
          <a:lstStyle/>
          <a:p>
            <a:pPr algn="l" indent="0" marL="0" eaLnBrk="0">
              <a:buNone/>
            </a:pPr>
            <a:r>
              <a:rPr lang="ko-KR" altLang="en-US" sz="4000" b="1" dirty="0">
                <a:solidFill>
                  <a:schemeClr val="bg1"/>
                </a:solidFill>
              </a:rPr>
              <a:t>7강 · 타입 객체(Type Object) 패턴</a:t>
            </a: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nchor="t"/>
          <a:lstStyle/>
          <a:p>
            <a:pPr indent="0" marL="0" eaLnBrk="0">
              <a:buNone/>
            </a:pPr>
            <a:r>
              <a:rPr lang="ko-KR" altLang="en-US" sz="1800" dirty="0">
                <a:solidFill>
                  <a:schemeClr val="accent3"/>
                </a:solidFill>
              </a:rPr>
              <a:t>종족마다 클래스를 만드는 대신</a:t>
            </a:r>
            <a:endParaRPr lang="ko-KR" altLang="en-US" sz="1800" dirty="0"/>
          </a:p>
          <a:p>
            <a:pPr indent="0" marL="0" eaLnBrk="0">
              <a:buNone/>
            </a:pPr>
            <a:r>
              <a:rPr lang="ko-KR" altLang="en-US" sz="1800" dirty="0">
                <a:solidFill>
                  <a:schemeClr val="accent3"/>
                </a:solidFill>
              </a:rPr>
              <a:t>종족 하나를 객체 하나로 나타낸다</a:t>
            </a:r>
            <a:endParaRPr lang="ko-KR" altLang="en-US" sz="1800" dirty="0"/>
          </a:p>
          <a:p>
            <a:pPr indent="0" marL="0" eaLnBrk="0">
              <a:buNone/>
            </a:pPr>
            <a:endParaRPr lang="ko-KR" altLang="en-US" sz="1800" dirty="0"/>
          </a:p>
          <a:p>
            <a:pPr indent="0" marL="0" eaLnBrk="0">
              <a:buNone/>
            </a:pPr>
            <a:r>
              <a:rPr lang="ko-KR" altLang="en-US" sz="1800" dirty="0">
                <a:solidFill>
                  <a:schemeClr val="accent3"/>
                </a:solidFill>
              </a:rPr>
              <a:t>교재: 로버트 나이스트롬, 『게임 프로그래밍 패턴』</a:t>
            </a:r>
            <a:endParaRPr lang="ko-KR" altLang="en-US" sz="1800" dirty="0"/>
          </a:p>
          <a:p>
            <a:pPr indent="0" marL="0" eaLnBrk="0">
              <a:buNone/>
            </a:pPr>
            <a:r>
              <a:rPr lang="ko-KR" altLang="en-US" sz="1800" dirty="0">
                <a:solidFill>
                  <a:schemeClr val="accent3"/>
                </a:solidFill>
              </a:rPr>
              <a:t>「타입 객체」 장</a:t>
            </a:r>
            <a:endParaRPr lang="ko-KR"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오늘의 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종족마다 만든 클래스가 데이터 파일 한 줄이 되기까지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먼저, 타입 객체 패턴은 한 문장으로 무엇일까?</a:t>
            </a:r>
            <a:endParaRPr lang="ko-KR" altLang="en-US" sz="1500" dirty="0"/>
          </a:p>
        </p:txBody>
      </p:sp>
      <p:sp>
        <p:nvSpPr>
          <p:cNvPr id="6" name="card"/>
          <p:cNvSpPr/>
          <p:nvPr/>
        </p:nvSpPr>
        <p:spPr>
          <a:xfrm>
            <a:off x="548640" y="1828800"/>
            <a:ext cx="2057400" cy="2103120"/>
          </a:xfrm>
          <a:prstGeom prst="roundRect">
            <a:avLst>
              <a:gd name="adj" fmla="val 4444"/>
            </a:avLst>
          </a:prstGeom>
          <a:solidFill>
            <a:schemeClr val="bg2"/>
          </a:solidFill>
          <a:ln w="12700">
            <a:solidFill>
              <a:schemeClr val="bg2"/>
            </a:solidFill>
            <a:prstDash val="solid"/>
          </a:ln>
        </p:spPr>
      </p:sp>
      <p:sp>
        <p:nvSpPr>
          <p:cNvPr id="7" name="Shape 4"/>
          <p:cNvSpPr/>
          <p:nvPr/>
        </p:nvSpPr>
        <p:spPr>
          <a:xfrm>
            <a:off x="777240" y="202996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777240"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종족마다</a:t>
            </a:r>
            <a:endParaRPr lang="ko-KR" altLang="en-US" sz="1500" dirty="0"/>
          </a:p>
          <a:p>
            <a:pPr indent="0" marL="0" eaLnBrk="0">
              <a:buNone/>
            </a:pPr>
            <a:r>
              <a:rPr lang="ko-KR" altLang="en-US" sz="1500" b="1" dirty="0">
                <a:solidFill>
                  <a:schemeClr val="tx1"/>
                </a:solidFill>
              </a:rPr>
              <a:t>하위 클래스</a:t>
            </a:r>
            <a:endParaRPr lang="ko-KR" altLang="en-US" sz="1500" dirty="0"/>
          </a:p>
        </p:txBody>
      </p:sp>
      <p:sp>
        <p:nvSpPr>
          <p:cNvPr id="10" name="Text 7"/>
          <p:cNvSpPr txBox="1"/>
          <p:nvPr/>
        </p:nvSpPr>
        <p:spPr>
          <a:xfrm>
            <a:off x="777240"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첫 시도와 그 한계</a:t>
            </a:r>
            <a:endParaRPr lang="ko-KR" altLang="en-US" sz="1300" dirty="0"/>
          </a:p>
        </p:txBody>
      </p:sp>
      <p:sp>
        <p:nvSpPr>
          <p:cNvPr id="11" name="Shape 8"/>
          <p:cNvSpPr/>
          <p:nvPr/>
        </p:nvSpPr>
        <p:spPr>
          <a:xfrm>
            <a:off x="2651760" y="2880360"/>
            <a:ext cx="110414" cy="914"/>
          </a:xfrm>
          <a:prstGeom prst="line">
            <a:avLst/>
          </a:prstGeom>
          <a:noFill/>
          <a:ln w="22225">
            <a:solidFill>
              <a:schemeClr val="accent3"/>
            </a:solidFill>
            <a:prstDash val="solid"/>
            <a:tailEnd type="triangle"/>
          </a:ln>
        </p:spPr>
      </p:sp>
      <p:sp>
        <p:nvSpPr>
          <p:cNvPr id="12" name="card"/>
          <p:cNvSpPr/>
          <p:nvPr/>
        </p:nvSpPr>
        <p:spPr>
          <a:xfrm>
            <a:off x="2807894" y="1828800"/>
            <a:ext cx="2057400" cy="2103120"/>
          </a:xfrm>
          <a:prstGeom prst="roundRect">
            <a:avLst>
              <a:gd name="adj" fmla="val 4444"/>
            </a:avLst>
          </a:prstGeom>
          <a:solidFill>
            <a:schemeClr val="bg2"/>
          </a:solidFill>
          <a:ln w="12700">
            <a:solidFill>
              <a:schemeClr val="bg2"/>
            </a:solidFill>
            <a:prstDash val="solid"/>
          </a:ln>
        </p:spPr>
      </p:sp>
      <p:sp>
        <p:nvSpPr>
          <p:cNvPr id="13" name="Shape 10"/>
          <p:cNvSpPr/>
          <p:nvPr/>
        </p:nvSpPr>
        <p:spPr>
          <a:xfrm>
            <a:off x="3036494" y="202996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3036494"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3036494"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종족을 객체로</a:t>
            </a:r>
            <a:endParaRPr lang="ko-KR" altLang="en-US" sz="1500" dirty="0"/>
          </a:p>
        </p:txBody>
      </p:sp>
      <p:sp>
        <p:nvSpPr>
          <p:cNvPr id="16" name="Text 13"/>
          <p:cNvSpPr txBox="1"/>
          <p:nvPr/>
        </p:nvSpPr>
        <p:spPr>
          <a:xfrm>
            <a:off x="3036494"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Breed와 Monster</a:t>
            </a:r>
            <a:endParaRPr lang="ko-KR" altLang="en-US" sz="1300" dirty="0"/>
          </a:p>
        </p:txBody>
      </p:sp>
      <p:sp>
        <p:nvSpPr>
          <p:cNvPr id="17" name="Shape 14"/>
          <p:cNvSpPr/>
          <p:nvPr/>
        </p:nvSpPr>
        <p:spPr>
          <a:xfrm>
            <a:off x="4911014" y="2880360"/>
            <a:ext cx="110414" cy="914"/>
          </a:xfrm>
          <a:prstGeom prst="line">
            <a:avLst/>
          </a:prstGeom>
          <a:noFill/>
          <a:ln w="22225">
            <a:solidFill>
              <a:schemeClr val="accent3"/>
            </a:solidFill>
            <a:prstDash val="solid"/>
            <a:tailEnd type="triangle"/>
          </a:ln>
        </p:spPr>
      </p:sp>
      <p:sp>
        <p:nvSpPr>
          <p:cNvPr id="18" name="card"/>
          <p:cNvSpPr/>
          <p:nvPr/>
        </p:nvSpPr>
        <p:spPr>
          <a:xfrm>
            <a:off x="5067148" y="1828800"/>
            <a:ext cx="2057400" cy="2103120"/>
          </a:xfrm>
          <a:prstGeom prst="roundRect">
            <a:avLst>
              <a:gd name="adj" fmla="val 4444"/>
            </a:avLst>
          </a:prstGeom>
          <a:solidFill>
            <a:schemeClr val="bg2"/>
          </a:solidFill>
          <a:ln w="12700">
            <a:solidFill>
              <a:schemeClr val="bg2"/>
            </a:solidFill>
            <a:prstDash val="solid"/>
          </a:ln>
        </p:spPr>
      </p:sp>
      <p:sp>
        <p:nvSpPr>
          <p:cNvPr id="19" name="Shape 16"/>
          <p:cNvSpPr/>
          <p:nvPr/>
        </p:nvSpPr>
        <p:spPr>
          <a:xfrm>
            <a:off x="5295748" y="202996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5295748"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1" name="Text 18"/>
          <p:cNvSpPr txBox="1"/>
          <p:nvPr/>
        </p:nvSpPr>
        <p:spPr>
          <a:xfrm>
            <a:off x="5295748"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종족을</a:t>
            </a:r>
            <a:endParaRPr lang="ko-KR" altLang="en-US" sz="1500" dirty="0"/>
          </a:p>
          <a:p>
            <a:pPr indent="0" marL="0" eaLnBrk="0">
              <a:buNone/>
            </a:pPr>
            <a:r>
              <a:rPr lang="ko-KR" altLang="en-US" sz="1500" b="1" dirty="0">
                <a:solidFill>
                  <a:schemeClr val="tx1"/>
                </a:solidFill>
              </a:rPr>
              <a:t>타입답게</a:t>
            </a:r>
            <a:endParaRPr lang="ko-KR" altLang="en-US" sz="1500" dirty="0"/>
          </a:p>
        </p:txBody>
      </p:sp>
      <p:sp>
        <p:nvSpPr>
          <p:cNvPr id="22" name="Text 19"/>
          <p:cNvSpPr txBox="1"/>
          <p:nvPr/>
        </p:nvSpPr>
        <p:spPr>
          <a:xfrm>
            <a:off x="5295748"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생성, 상속, JSON</a:t>
            </a:r>
            <a:endParaRPr lang="ko-KR" altLang="en-US" sz="1300" dirty="0"/>
          </a:p>
        </p:txBody>
      </p:sp>
      <p:sp>
        <p:nvSpPr>
          <p:cNvPr id="23" name="Shape 20"/>
          <p:cNvSpPr/>
          <p:nvPr/>
        </p:nvSpPr>
        <p:spPr>
          <a:xfrm>
            <a:off x="7170268" y="2880360"/>
            <a:ext cx="110414" cy="914"/>
          </a:xfrm>
          <a:prstGeom prst="line">
            <a:avLst/>
          </a:prstGeom>
          <a:noFill/>
          <a:ln w="22225">
            <a:solidFill>
              <a:schemeClr val="accent3"/>
            </a:solidFill>
            <a:prstDash val="solid"/>
            <a:tailEnd type="triangle"/>
          </a:ln>
        </p:spPr>
      </p:sp>
      <p:sp>
        <p:nvSpPr>
          <p:cNvPr id="24" name="card"/>
          <p:cNvSpPr/>
          <p:nvPr/>
        </p:nvSpPr>
        <p:spPr>
          <a:xfrm>
            <a:off x="7326401" y="1828800"/>
            <a:ext cx="2057400" cy="2103120"/>
          </a:xfrm>
          <a:prstGeom prst="roundRect">
            <a:avLst>
              <a:gd name="adj" fmla="val 4444"/>
            </a:avLst>
          </a:prstGeom>
          <a:solidFill>
            <a:schemeClr val="bg2"/>
          </a:solidFill>
          <a:ln w="12700">
            <a:solidFill>
              <a:schemeClr val="bg2"/>
            </a:solidFill>
            <a:prstDash val="solid"/>
          </a:ln>
        </p:spPr>
      </p:sp>
      <p:sp>
        <p:nvSpPr>
          <p:cNvPr id="25" name="Shape 22"/>
          <p:cNvSpPr/>
          <p:nvPr/>
        </p:nvSpPr>
        <p:spPr>
          <a:xfrm>
            <a:off x="7555001" y="202996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7555001"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7" name="Text 24"/>
          <p:cNvSpPr txBox="1"/>
          <p:nvPr/>
        </p:nvSpPr>
        <p:spPr>
          <a:xfrm>
            <a:off x="7555001"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설계 결정</a:t>
            </a:r>
            <a:endParaRPr lang="ko-KR" altLang="en-US" sz="1500" dirty="0"/>
          </a:p>
        </p:txBody>
      </p:sp>
      <p:sp>
        <p:nvSpPr>
          <p:cNvPr id="28" name="Text 25"/>
          <p:cNvSpPr txBox="1"/>
          <p:nvPr/>
        </p:nvSpPr>
        <p:spPr>
          <a:xfrm>
            <a:off x="7555001"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원서의 네 가지 결정</a:t>
            </a:r>
            <a:endParaRPr lang="ko-KR" altLang="en-US" sz="1300" dirty="0"/>
          </a:p>
        </p:txBody>
      </p:sp>
      <p:sp>
        <p:nvSpPr>
          <p:cNvPr id="29" name="Shape 26"/>
          <p:cNvSpPr/>
          <p:nvPr/>
        </p:nvSpPr>
        <p:spPr>
          <a:xfrm>
            <a:off x="9429521" y="2880360"/>
            <a:ext cx="110414" cy="914"/>
          </a:xfrm>
          <a:prstGeom prst="line">
            <a:avLst/>
          </a:prstGeom>
          <a:noFill/>
          <a:ln w="22225">
            <a:solidFill>
              <a:schemeClr val="accent3"/>
            </a:solidFill>
            <a:prstDash val="solid"/>
            <a:tailEnd type="triangle"/>
          </a:ln>
        </p:spPr>
      </p:sp>
      <p:sp>
        <p:nvSpPr>
          <p:cNvPr id="30" name="card"/>
          <p:cNvSpPr/>
          <p:nvPr/>
        </p:nvSpPr>
        <p:spPr>
          <a:xfrm>
            <a:off x="9585655" y="1828800"/>
            <a:ext cx="2057400" cy="2103120"/>
          </a:xfrm>
          <a:prstGeom prst="roundRect">
            <a:avLst>
              <a:gd name="adj" fmla="val 4444"/>
            </a:avLst>
          </a:prstGeom>
          <a:solidFill>
            <a:schemeClr val="bg2"/>
          </a:solidFill>
          <a:ln w="12700">
            <a:solidFill>
              <a:schemeClr val="bg2"/>
            </a:solidFill>
            <a:prstDash val="solid"/>
          </a:ln>
        </p:spPr>
      </p:sp>
      <p:sp>
        <p:nvSpPr>
          <p:cNvPr id="31" name="Shape 28"/>
          <p:cNvSpPr/>
          <p:nvPr/>
        </p:nvSpPr>
        <p:spPr>
          <a:xfrm>
            <a:off x="9814255" y="202996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9814255"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5</a:t>
            </a:r>
            <a:endParaRPr lang="ko-KR" altLang="en-US" sz="1500" dirty="0"/>
          </a:p>
        </p:txBody>
      </p:sp>
      <p:sp>
        <p:nvSpPr>
          <p:cNvPr id="33" name="Text 30"/>
          <p:cNvSpPr txBox="1"/>
          <p:nvPr/>
        </p:nvSpPr>
        <p:spPr>
          <a:xfrm>
            <a:off x="9814255"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쓸 때와 주의점</a:t>
            </a:r>
            <a:endParaRPr lang="ko-KR" altLang="en-US" sz="1500" dirty="0"/>
          </a:p>
        </p:txBody>
      </p:sp>
      <p:sp>
        <p:nvSpPr>
          <p:cNvPr id="34" name="Text 31"/>
          <p:cNvSpPr txBox="1"/>
          <p:nvPr/>
        </p:nvSpPr>
        <p:spPr>
          <a:xfrm>
            <a:off x="9814255"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관련 패턴, Unity 대응</a:t>
            </a:r>
            <a:endParaRPr lang="ko-KR" altLang="en-US" sz="1300" dirty="0"/>
          </a:p>
        </p:txBody>
      </p:sp>
      <p:sp>
        <p:nvSpPr>
          <p:cNvPr id="35" name="Text 32"/>
          <p:cNvSpPr txBox="1"/>
          <p:nvPr/>
        </p:nvSpPr>
        <p:spPr>
          <a:xfrm>
            <a:off x="548640" y="4434840"/>
            <a:ext cx="11094415" cy="548640"/>
          </a:xfrm>
          <a:prstGeom prst="rect">
            <a:avLst/>
          </a:prstGeom>
          <a:noFill/>
          <a:ln/>
        </p:spPr>
        <p:txBody>
          <a:bodyPr wrap="square" lIns="0" tIns="0" rIns="0" bIns="0" rtlCol="0" anchor="t"/>
          <a:lstStyle/>
          <a:p>
            <a:pPr indent="0" marL="0" eaLnBrk="0">
              <a:buNone/>
            </a:pPr>
            <a:r>
              <a:rPr lang="ko-KR" altLang="en-US" sz="1600" dirty="0">
                <a:solidFill>
                  <a:schemeClr val="tx2"/>
                </a:solidFill>
              </a:rPr>
              <a:t>오늘 예제는 원서와 같다: 판타지 RPG의 몬스터와 종족(용, 트롤), 그리고 트롤 종족들을 정의한 JSON 파일.</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새 클래스를 만들지 않고 새 타입을 만든다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왜 클래스 대신 객체로 타입을 만들어야 할까? 몬스터 예제부터 보자.</a:t>
            </a:r>
            <a:endParaRPr lang="ko-KR" altLang="en-US" sz="1500" dirty="0"/>
          </a:p>
        </p:txBody>
      </p:sp>
      <p:sp>
        <p:nvSpPr>
          <p:cNvPr id="6" name="Shape 3"/>
          <p:cNvSpPr/>
          <p:nvPr/>
        </p:nvSpPr>
        <p:spPr>
          <a:xfrm>
            <a:off x="548640" y="1783080"/>
            <a:ext cx="4572000" cy="2514600"/>
          </a:xfrm>
          <a:prstGeom prst="roundRect">
            <a:avLst>
              <a:gd name="adj" fmla="val 3636"/>
            </a:avLst>
          </a:prstGeom>
          <a:solidFill>
            <a:schemeClr val="bg2"/>
          </a:solidFill>
          <a:ln w="12700">
            <a:solidFill>
              <a:schemeClr val="bg2"/>
            </a:solidFill>
            <a:prstDash val="solid"/>
          </a:ln>
        </p:spPr>
      </p:sp>
      <p:sp>
        <p:nvSpPr>
          <p:cNvPr id="7" name="Text 4"/>
          <p:cNvSpPr txBox="1"/>
          <p:nvPr/>
        </p:nvSpPr>
        <p:spPr>
          <a:xfrm>
            <a:off x="822960" y="1965960"/>
            <a:ext cx="4023360" cy="411480"/>
          </a:xfrm>
          <a:prstGeom prst="rect">
            <a:avLst/>
          </a:prstGeom>
          <a:noFill/>
          <a:ln/>
        </p:spPr>
        <p:txBody>
          <a:bodyPr wrap="square" lIns="0" tIns="0" rIns="0" bIns="0" rtlCol="0" anchor="t"/>
          <a:lstStyle/>
          <a:p>
            <a:pPr indent="0" marL="0" eaLnBrk="0">
              <a:buNone/>
            </a:pPr>
            <a:r>
              <a:rPr lang="ko-KR" altLang="en-US" sz="1800" b="1" dirty="0">
                <a:solidFill>
                  <a:schemeClr val="accent6"/>
                </a:solidFill>
              </a:rPr>
              <a:t>클래스로 만든 종족</a:t>
            </a:r>
            <a:endParaRPr lang="ko-KR" altLang="en-US" sz="1800" dirty="0"/>
          </a:p>
        </p:txBody>
      </p:sp>
      <p:sp>
        <p:nvSpPr>
          <p:cNvPr id="8" name="codePanel"/>
          <p:cNvSpPr/>
          <p:nvPr/>
        </p:nvSpPr>
        <p:spPr>
          <a:xfrm>
            <a:off x="822960" y="2514600"/>
            <a:ext cx="4023360" cy="777240"/>
          </a:xfrm>
          <a:prstGeom prst="roundRect">
            <a:avLst>
              <a:gd name="adj" fmla="val 9412"/>
            </a:avLst>
          </a:prstGeom>
          <a:solidFill>
            <a:schemeClr val="tx1"/>
          </a:solidFill>
          <a:ln w="12700">
            <a:solidFill>
              <a:schemeClr val="tx1"/>
            </a:solidFill>
            <a:prstDash val="solid"/>
          </a:ln>
        </p:spPr>
      </p:sp>
      <p:sp>
        <p:nvSpPr>
          <p:cNvPr id="9" name="code"/>
          <p:cNvSpPr txBox="1"/>
          <p:nvPr/>
        </p:nvSpPr>
        <p:spPr>
          <a:xfrm>
            <a:off x="932688" y="2606040"/>
            <a:ext cx="3803904" cy="594360"/>
          </a:xfrm>
          <a:prstGeom prst="rect">
            <a:avLst/>
          </a:prstGeom>
          <a:noFill/>
          <a:ln/>
        </p:spPr>
        <p:txBody>
          <a:bodyPr wrap="square" lIns="635" tIns="635" rIns="635" bIns="635" rtlCol="0" anchor="t"/>
          <a:lstStyle/>
          <a:p>
            <a:pPr indent="0" marL="0" eaLnBrk="0">
              <a:buNone/>
            </a:pPr>
            <a:r>
              <a:rPr lang="ko-KR" altLang="en-US" sz="1500" dirty="0">
                <a:solidFill>
                  <a:schemeClr val="bg1"/>
                </a:solidFill>
                <a:latin typeface="Consolas" pitchFamily="34" charset="0"/>
                <a:ea typeface="Consolas" pitchFamily="34" charset="-122"/>
                <a:cs typeface="Consolas" pitchFamily="34" charset="-120"/>
              </a:rPr>
              <a:t>class Troll : Monster</a:t>
            </a:r>
            <a:endParaRPr lang="ko-KR" altLang="en-US" sz="1500" dirty="0"/>
          </a:p>
          <a:p>
            <a:pPr indent="0" marL="0" eaLnBrk="0">
              <a:buNone/>
            </a:pPr>
            <a:r>
              <a:rPr lang="ko-KR" altLang="en-US" sz="1500" dirty="0">
                <a:solidFill>
                  <a:schemeClr val="bg1"/>
                </a:solidFill>
                <a:latin typeface="Consolas" pitchFamily="34" charset="0"/>
                <a:ea typeface="Consolas" pitchFamily="34" charset="-122"/>
                <a:cs typeface="Consolas" pitchFamily="34" charset="-120"/>
              </a:rPr>
              <a:t>{ ... }</a:t>
            </a:r>
            <a:endParaRPr lang="ko-KR" altLang="en-US" sz="1500" dirty="0"/>
          </a:p>
        </p:txBody>
      </p:sp>
      <p:sp>
        <p:nvSpPr>
          <p:cNvPr id="10" name="Text 7"/>
          <p:cNvSpPr txBox="1"/>
          <p:nvPr/>
        </p:nvSpPr>
        <p:spPr>
          <a:xfrm>
            <a:off x="822960" y="3474720"/>
            <a:ext cx="4023360"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종족을 하나 더하려면</a:t>
            </a:r>
            <a:endParaRPr lang="ko-KR" altLang="en-US" sz="1400" dirty="0"/>
          </a:p>
          <a:p>
            <a:pPr indent="0" marL="0" eaLnBrk="0">
              <a:buNone/>
            </a:pPr>
            <a:r>
              <a:rPr lang="ko-KR" altLang="en-US" sz="1400" dirty="0">
                <a:solidFill>
                  <a:schemeClr val="tx2"/>
                </a:solidFill>
              </a:rPr>
              <a:t>클래스를 쓰고 다시 컴파일한다.</a:t>
            </a:r>
            <a:endParaRPr lang="ko-KR" altLang="en-US" sz="1400" dirty="0"/>
          </a:p>
        </p:txBody>
      </p:sp>
      <p:sp>
        <p:nvSpPr>
          <p:cNvPr id="11" name="Shape 8"/>
          <p:cNvSpPr/>
          <p:nvPr/>
        </p:nvSpPr>
        <p:spPr>
          <a:xfrm>
            <a:off x="5257800" y="3017520"/>
            <a:ext cx="914400" cy="914"/>
          </a:xfrm>
          <a:prstGeom prst="line">
            <a:avLst/>
          </a:prstGeom>
          <a:noFill/>
          <a:ln w="31750">
            <a:solidFill>
              <a:schemeClr val="accent1"/>
            </a:solidFill>
            <a:prstDash val="solid"/>
            <a:tailEnd type="triangle"/>
          </a:ln>
        </p:spPr>
      </p:sp>
      <p:sp>
        <p:nvSpPr>
          <p:cNvPr id="12" name="Shape 9"/>
          <p:cNvSpPr/>
          <p:nvPr/>
        </p:nvSpPr>
        <p:spPr>
          <a:xfrm>
            <a:off x="6309360" y="1783080"/>
            <a:ext cx="5333695" cy="2514600"/>
          </a:xfrm>
          <a:prstGeom prst="roundRect">
            <a:avLst>
              <a:gd name="adj" fmla="val 3636"/>
            </a:avLst>
          </a:prstGeom>
          <a:solidFill>
            <a:schemeClr val="bg2"/>
          </a:solidFill>
          <a:ln w="12700">
            <a:solidFill>
              <a:schemeClr val="bg2"/>
            </a:solidFill>
            <a:prstDash val="solid"/>
          </a:ln>
        </p:spPr>
      </p:sp>
      <p:sp>
        <p:nvSpPr>
          <p:cNvPr id="13" name="Text 10"/>
          <p:cNvSpPr txBox="1"/>
          <p:nvPr/>
        </p:nvSpPr>
        <p:spPr>
          <a:xfrm>
            <a:off x="6583680" y="1965960"/>
            <a:ext cx="4785055" cy="411480"/>
          </a:xfrm>
          <a:prstGeom prst="rect">
            <a:avLst/>
          </a:prstGeom>
          <a:noFill/>
          <a:ln/>
        </p:spPr>
        <p:txBody>
          <a:bodyPr wrap="square" lIns="0" tIns="0" rIns="0" bIns="0" rtlCol="0" anchor="t"/>
          <a:lstStyle/>
          <a:p>
            <a:pPr indent="0" marL="0" eaLnBrk="0">
              <a:buNone/>
            </a:pPr>
            <a:r>
              <a:rPr lang="ko-KR" altLang="en-US" sz="1800" b="1" dirty="0">
                <a:solidFill>
                  <a:schemeClr val="accent2"/>
                </a:solidFill>
              </a:rPr>
              <a:t>객체로 만든 종족</a:t>
            </a:r>
            <a:endParaRPr lang="ko-KR" altLang="en-US" sz="1800" dirty="0"/>
          </a:p>
        </p:txBody>
      </p:sp>
      <p:sp>
        <p:nvSpPr>
          <p:cNvPr id="14" name="codePanel"/>
          <p:cNvSpPr/>
          <p:nvPr/>
        </p:nvSpPr>
        <p:spPr>
          <a:xfrm>
            <a:off x="6583680" y="2514600"/>
            <a:ext cx="4785055" cy="777240"/>
          </a:xfrm>
          <a:prstGeom prst="roundRect">
            <a:avLst>
              <a:gd name="adj" fmla="val 9412"/>
            </a:avLst>
          </a:prstGeom>
          <a:solidFill>
            <a:schemeClr val="tx1"/>
          </a:solidFill>
          <a:ln w="12700">
            <a:solidFill>
              <a:schemeClr val="tx1"/>
            </a:solidFill>
            <a:prstDash val="solid"/>
          </a:ln>
        </p:spPr>
      </p:sp>
      <p:sp>
        <p:nvSpPr>
          <p:cNvPr id="15" name="code"/>
          <p:cNvSpPr txBox="1"/>
          <p:nvPr/>
        </p:nvSpPr>
        <p:spPr>
          <a:xfrm>
            <a:off x="6693408" y="2606040"/>
            <a:ext cx="4565599" cy="59436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Breed troll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new Breed(48, "트롤이 몽둥이로 내리친다!");</a:t>
            </a:r>
            <a:endParaRPr lang="ko-KR" altLang="en-US" sz="1400" dirty="0"/>
          </a:p>
        </p:txBody>
      </p:sp>
      <p:sp>
        <p:nvSpPr>
          <p:cNvPr id="16" name="Text 13"/>
          <p:cNvSpPr txBox="1"/>
          <p:nvPr/>
        </p:nvSpPr>
        <p:spPr>
          <a:xfrm>
            <a:off x="6583680" y="3474720"/>
            <a:ext cx="478505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종족을 하나 더하려면 Breed 객체를 하나 더 만든다. 실행 중에도, 파일을 읽어서도 만들 수 있다.</a:t>
            </a:r>
            <a:endParaRPr lang="ko-KR" altLang="en-US" sz="1400" dirty="0"/>
          </a:p>
        </p:txBody>
      </p:sp>
      <p:sp>
        <p:nvSpPr>
          <p:cNvPr id="17" name="box"/>
          <p:cNvSpPr/>
          <p:nvPr/>
        </p:nvSpPr>
        <p:spPr>
          <a:xfrm>
            <a:off x="548640" y="4572000"/>
            <a:ext cx="11094415" cy="1051560"/>
          </a:xfrm>
          <a:prstGeom prst="roundRect">
            <a:avLst>
              <a:gd name="adj" fmla="val 6957"/>
            </a:avLst>
          </a:prstGeom>
          <a:solidFill>
            <a:schemeClr val="tx2"/>
          </a:solidFill>
          <a:ln w="12700">
            <a:solidFill>
              <a:schemeClr val="tx2"/>
            </a:solidFill>
            <a:prstDash val="solid"/>
          </a:ln>
        </p:spPr>
      </p:sp>
      <p:sp>
        <p:nvSpPr>
          <p:cNvPr id="18" name="Text 15"/>
          <p:cNvSpPr txBox="1"/>
          <p:nvPr/>
        </p:nvSpPr>
        <p:spPr>
          <a:xfrm>
            <a:off x="548640" y="4572000"/>
            <a:ext cx="11094415" cy="105156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원서의 의도: 클래스 하나의 인스턴스 하나하나가 서로 다른 타입을 나타내게 한다.</a:t>
            </a:r>
            <a:endParaRPr lang="ko-KR" altLang="en-US" sz="1700" dirty="0"/>
          </a:p>
          <a:p>
            <a:pPr algn="ctr" indent="0" marL="0" eaLnBrk="0">
              <a:buNone/>
            </a:pPr>
            <a:r>
              <a:rPr lang="ko-KR" altLang="en-US" sz="1700" dirty="0">
                <a:solidFill>
                  <a:schemeClr val="bg1"/>
                </a:solidFill>
              </a:rPr>
              <a:t>그러면 새 클래스 없이 새 타입을 만들 수 있다.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1부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종족마다 하위 클래스</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동기</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문제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몬스터는 저마다 체력을 갖고, 종족이 시작 체력과 공격을 정한다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객체지향으로 짜면 가장 먼저 떠오르는 구조는 무엇일까?</a:t>
            </a:r>
            <a:endParaRPr lang="ko-KR" altLang="en-US" sz="1500" dirty="0"/>
          </a:p>
        </p:txBody>
      </p:sp>
      <p:sp>
        <p:nvSpPr>
          <p:cNvPr id="6" name="Shape 3"/>
          <p:cNvSpPr/>
          <p:nvPr/>
        </p:nvSpPr>
        <p:spPr>
          <a:xfrm>
            <a:off x="548640" y="1783080"/>
            <a:ext cx="3291840" cy="1600200"/>
          </a:xfrm>
          <a:prstGeom prst="roundRect">
            <a:avLst>
              <a:gd name="adj" fmla="val 5714"/>
            </a:avLst>
          </a:prstGeom>
          <a:solidFill>
            <a:schemeClr val="accent1"/>
          </a:solidFill>
          <a:ln w="12700">
            <a:solidFill>
              <a:schemeClr val="accent1"/>
            </a:solidFill>
            <a:prstDash val="solid"/>
          </a:ln>
        </p:spPr>
      </p:sp>
      <p:sp>
        <p:nvSpPr>
          <p:cNvPr id="7" name="Text 4"/>
          <p:cNvSpPr txBox="1"/>
          <p:nvPr/>
        </p:nvSpPr>
        <p:spPr>
          <a:xfrm>
            <a:off x="777240" y="1920240"/>
            <a:ext cx="2834640" cy="411480"/>
          </a:xfrm>
          <a:prstGeom prst="rect">
            <a:avLst/>
          </a:prstGeom>
          <a:noFill/>
          <a:ln/>
        </p:spPr>
        <p:txBody>
          <a:bodyPr wrap="square" lIns="0" tIns="0" rIns="0" bIns="0" rtlCol="0" anchor="t"/>
          <a:lstStyle/>
          <a:p>
            <a:pPr indent="0" marL="0" eaLnBrk="0">
              <a:buNone/>
            </a:pPr>
            <a:r>
              <a:rPr lang="ko-KR" altLang="en-US" sz="1800" b="1" dirty="0">
                <a:solidFill>
                  <a:schemeClr val="bg1"/>
                </a:solidFill>
              </a:rPr>
              <a:t>용 종족</a:t>
            </a:r>
            <a:endParaRPr lang="ko-KR" altLang="en-US" sz="1800" dirty="0"/>
          </a:p>
        </p:txBody>
      </p:sp>
      <p:sp>
        <p:nvSpPr>
          <p:cNvPr id="8" name="Text 5"/>
          <p:cNvSpPr txBox="1"/>
          <p:nvPr/>
        </p:nvSpPr>
        <p:spPr>
          <a:xfrm>
            <a:off x="777240" y="2423160"/>
            <a:ext cx="2971800" cy="822960"/>
          </a:xfrm>
          <a:prstGeom prst="rect">
            <a:avLst/>
          </a:prstGeom>
          <a:noFill/>
          <a:ln/>
        </p:spPr>
        <p:txBody>
          <a:bodyPr wrap="square" lIns="0" tIns="0" rIns="0" bIns="0" rtlCol="0" anchor="t"/>
          <a:lstStyle/>
          <a:p>
            <a:pPr indent="0" marL="0" eaLnBrk="0">
              <a:buNone/>
            </a:pPr>
            <a:r>
              <a:rPr lang="ko-KR" altLang="en-US" sz="1400" dirty="0">
                <a:solidFill>
                  <a:schemeClr val="bg1"/>
                </a:solidFill>
              </a:rPr>
              <a:t>시작 체력 230</a:t>
            </a:r>
            <a:endParaRPr lang="ko-KR" altLang="en-US" sz="1400" dirty="0"/>
          </a:p>
          <a:p>
            <a:pPr indent="0" marL="0" eaLnBrk="0">
              <a:buNone/>
            </a:pPr>
            <a:r>
              <a:rPr lang="ko-KR" altLang="en-US" sz="1400" dirty="0">
                <a:solidFill>
                  <a:schemeClr val="bg1"/>
                </a:solidFill>
              </a:rPr>
              <a:t>“용이 불을 뿜는다!”</a:t>
            </a:r>
            <a:endParaRPr lang="ko-KR" altLang="en-US" sz="1400" dirty="0"/>
          </a:p>
        </p:txBody>
      </p:sp>
      <p:sp>
        <p:nvSpPr>
          <p:cNvPr id="9" name="Shape 6"/>
          <p:cNvSpPr/>
          <p:nvPr/>
        </p:nvSpPr>
        <p:spPr>
          <a:xfrm>
            <a:off x="3840480" y="2587752"/>
            <a:ext cx="548640" cy="914"/>
          </a:xfrm>
          <a:prstGeom prst="line">
            <a:avLst/>
          </a:prstGeom>
          <a:noFill/>
          <a:ln w="12700">
            <a:solidFill>
              <a:schemeClr val="accent3"/>
            </a:solidFill>
            <a:prstDash val="solid"/>
          </a:ln>
        </p:spPr>
      </p:sp>
      <p:sp>
        <p:nvSpPr>
          <p:cNvPr id="10" name="Shape 7"/>
          <p:cNvSpPr/>
          <p:nvPr/>
        </p:nvSpPr>
        <p:spPr>
          <a:xfrm>
            <a:off x="4389120" y="2057400"/>
            <a:ext cx="1051560" cy="1051560"/>
          </a:xfrm>
          <a:prstGeom prst="ellipse">
            <a:avLst/>
          </a:prstGeom>
          <a:solidFill>
            <a:schemeClr val="bg2"/>
          </a:solidFill>
          <a:ln w="12700">
            <a:solidFill>
              <a:schemeClr val="accent3"/>
            </a:solidFill>
            <a:prstDash val="solid"/>
          </a:ln>
        </p:spPr>
      </p:sp>
      <p:sp>
        <p:nvSpPr>
          <p:cNvPr id="11" name="Text 8"/>
          <p:cNvSpPr txBox="1"/>
          <p:nvPr/>
        </p:nvSpPr>
        <p:spPr>
          <a:xfrm>
            <a:off x="4389120" y="2057400"/>
            <a:ext cx="1051560" cy="1051560"/>
          </a:xfrm>
          <a:prstGeom prst="rect">
            <a:avLst/>
          </a:prstGeom>
          <a:noFill/>
          <a:ln/>
        </p:spPr>
        <p:txBody>
          <a:bodyPr wrap="square" lIns="0" tIns="0" rIns="0" bIns="0" rtlCol="0" anchor="ctr"/>
          <a:lstStyle/>
          <a:p>
            <a:pPr algn="ctr" indent="0" marL="0" eaLnBrk="0">
              <a:buNone/>
            </a:pPr>
            <a:r>
              <a:rPr lang="ko-KR" altLang="en-US" sz="1200" b="1" dirty="0">
                <a:solidFill>
                  <a:schemeClr val="tx1"/>
                </a:solidFill>
              </a:rPr>
              <a:t>용 A</a:t>
            </a:r>
            <a:endParaRPr lang="ko-KR" altLang="en-US" sz="1200" dirty="0"/>
          </a:p>
          <a:p>
            <a:pPr algn="ctr" indent="0" marL="0" eaLnBrk="0">
              <a:buNone/>
            </a:pPr>
            <a:r>
              <a:rPr lang="ko-KR" altLang="en-US" sz="1200" b="1" dirty="0">
                <a:solidFill>
                  <a:schemeClr val="tx1"/>
                </a:solidFill>
              </a:rPr>
              <a:t>체력 230</a:t>
            </a:r>
            <a:endParaRPr lang="ko-KR" altLang="en-US" sz="1200" dirty="0"/>
          </a:p>
        </p:txBody>
      </p:sp>
      <p:sp>
        <p:nvSpPr>
          <p:cNvPr id="12" name="Shape 9"/>
          <p:cNvSpPr/>
          <p:nvPr/>
        </p:nvSpPr>
        <p:spPr>
          <a:xfrm>
            <a:off x="3840480" y="2587752"/>
            <a:ext cx="1691640" cy="914"/>
          </a:xfrm>
          <a:prstGeom prst="line">
            <a:avLst/>
          </a:prstGeom>
          <a:noFill/>
          <a:ln w="12700">
            <a:solidFill>
              <a:schemeClr val="accent3"/>
            </a:solidFill>
            <a:prstDash val="solid"/>
          </a:ln>
        </p:spPr>
      </p:sp>
      <p:sp>
        <p:nvSpPr>
          <p:cNvPr id="13" name="Shape 10"/>
          <p:cNvSpPr/>
          <p:nvPr/>
        </p:nvSpPr>
        <p:spPr>
          <a:xfrm>
            <a:off x="5532120" y="2057400"/>
            <a:ext cx="1051560" cy="1051560"/>
          </a:xfrm>
          <a:prstGeom prst="ellipse">
            <a:avLst/>
          </a:prstGeom>
          <a:solidFill>
            <a:schemeClr val="bg2"/>
          </a:solidFill>
          <a:ln w="12700">
            <a:solidFill>
              <a:schemeClr val="accent3"/>
            </a:solidFill>
            <a:prstDash val="solid"/>
          </a:ln>
        </p:spPr>
      </p:sp>
      <p:sp>
        <p:nvSpPr>
          <p:cNvPr id="14" name="Text 11"/>
          <p:cNvSpPr txBox="1"/>
          <p:nvPr/>
        </p:nvSpPr>
        <p:spPr>
          <a:xfrm>
            <a:off x="5532120" y="2057400"/>
            <a:ext cx="1051560" cy="1051560"/>
          </a:xfrm>
          <a:prstGeom prst="rect">
            <a:avLst/>
          </a:prstGeom>
          <a:noFill/>
          <a:ln/>
        </p:spPr>
        <p:txBody>
          <a:bodyPr wrap="square" lIns="0" tIns="0" rIns="0" bIns="0" rtlCol="0" anchor="ctr"/>
          <a:lstStyle/>
          <a:p>
            <a:pPr algn="ctr" indent="0" marL="0" eaLnBrk="0">
              <a:buNone/>
            </a:pPr>
            <a:r>
              <a:rPr lang="ko-KR" altLang="en-US" sz="1200" b="1" dirty="0">
                <a:solidFill>
                  <a:schemeClr val="tx1"/>
                </a:solidFill>
              </a:rPr>
              <a:t>용 B</a:t>
            </a:r>
            <a:endParaRPr lang="ko-KR" altLang="en-US" sz="1200" dirty="0"/>
          </a:p>
          <a:p>
            <a:pPr algn="ctr" indent="0" marL="0" eaLnBrk="0">
              <a:buNone/>
            </a:pPr>
            <a:r>
              <a:rPr lang="ko-KR" altLang="en-US" sz="1200" b="1" dirty="0">
                <a:solidFill>
                  <a:schemeClr val="tx1"/>
                </a:solidFill>
              </a:rPr>
              <a:t>체력 175</a:t>
            </a:r>
            <a:endParaRPr lang="ko-KR" altLang="en-US" sz="1200" dirty="0"/>
          </a:p>
        </p:txBody>
      </p:sp>
      <p:sp>
        <p:nvSpPr>
          <p:cNvPr id="15" name="Shape 12"/>
          <p:cNvSpPr/>
          <p:nvPr/>
        </p:nvSpPr>
        <p:spPr>
          <a:xfrm>
            <a:off x="548640" y="3703320"/>
            <a:ext cx="3291840" cy="1600200"/>
          </a:xfrm>
          <a:prstGeom prst="roundRect">
            <a:avLst>
              <a:gd name="adj" fmla="val 5714"/>
            </a:avLst>
          </a:prstGeom>
          <a:solidFill>
            <a:schemeClr val="accent1"/>
          </a:solidFill>
          <a:ln w="12700">
            <a:solidFill>
              <a:schemeClr val="accent1"/>
            </a:solidFill>
            <a:prstDash val="solid"/>
          </a:ln>
        </p:spPr>
      </p:sp>
      <p:sp>
        <p:nvSpPr>
          <p:cNvPr id="16" name="Text 13"/>
          <p:cNvSpPr txBox="1"/>
          <p:nvPr/>
        </p:nvSpPr>
        <p:spPr>
          <a:xfrm>
            <a:off x="777240" y="3840480"/>
            <a:ext cx="2834640" cy="411480"/>
          </a:xfrm>
          <a:prstGeom prst="rect">
            <a:avLst/>
          </a:prstGeom>
          <a:noFill/>
          <a:ln/>
        </p:spPr>
        <p:txBody>
          <a:bodyPr wrap="square" lIns="0" tIns="0" rIns="0" bIns="0" rtlCol="0" anchor="t"/>
          <a:lstStyle/>
          <a:p>
            <a:pPr indent="0" marL="0" eaLnBrk="0">
              <a:buNone/>
            </a:pPr>
            <a:r>
              <a:rPr lang="ko-KR" altLang="en-US" sz="1800" b="1" dirty="0">
                <a:solidFill>
                  <a:schemeClr val="bg1"/>
                </a:solidFill>
              </a:rPr>
              <a:t>트롤 종족</a:t>
            </a:r>
            <a:endParaRPr lang="ko-KR" altLang="en-US" sz="1800" dirty="0"/>
          </a:p>
        </p:txBody>
      </p:sp>
      <p:sp>
        <p:nvSpPr>
          <p:cNvPr id="17" name="Text 14"/>
          <p:cNvSpPr txBox="1"/>
          <p:nvPr/>
        </p:nvSpPr>
        <p:spPr>
          <a:xfrm>
            <a:off x="777240" y="4343400"/>
            <a:ext cx="2971800" cy="822960"/>
          </a:xfrm>
          <a:prstGeom prst="rect">
            <a:avLst/>
          </a:prstGeom>
          <a:noFill/>
          <a:ln/>
        </p:spPr>
        <p:txBody>
          <a:bodyPr wrap="square" lIns="0" tIns="0" rIns="0" bIns="0" rtlCol="0" anchor="t"/>
          <a:lstStyle/>
          <a:p>
            <a:pPr indent="0" marL="0" eaLnBrk="0">
              <a:buNone/>
            </a:pPr>
            <a:r>
              <a:rPr lang="ko-KR" altLang="en-US" sz="1400" dirty="0">
                <a:solidFill>
                  <a:schemeClr val="bg1"/>
                </a:solidFill>
              </a:rPr>
              <a:t>시작 체력 48</a:t>
            </a:r>
            <a:endParaRPr lang="ko-KR" altLang="en-US" sz="1400" dirty="0"/>
          </a:p>
          <a:p>
            <a:pPr indent="0" marL="0" eaLnBrk="0">
              <a:buNone/>
            </a:pPr>
            <a:r>
              <a:rPr lang="ko-KR" altLang="en-US" sz="1400" dirty="0">
                <a:solidFill>
                  <a:schemeClr val="bg1"/>
                </a:solidFill>
              </a:rPr>
              <a:t>“트롤이 몽둥이로 내리친다!”</a:t>
            </a:r>
            <a:endParaRPr lang="ko-KR" altLang="en-US" sz="1400" dirty="0"/>
          </a:p>
        </p:txBody>
      </p:sp>
      <p:sp>
        <p:nvSpPr>
          <p:cNvPr id="18" name="Shape 15"/>
          <p:cNvSpPr/>
          <p:nvPr/>
        </p:nvSpPr>
        <p:spPr>
          <a:xfrm>
            <a:off x="3840480" y="4507992"/>
            <a:ext cx="548640" cy="914"/>
          </a:xfrm>
          <a:prstGeom prst="line">
            <a:avLst/>
          </a:prstGeom>
          <a:noFill/>
          <a:ln w="12700">
            <a:solidFill>
              <a:schemeClr val="accent3"/>
            </a:solidFill>
            <a:prstDash val="solid"/>
          </a:ln>
        </p:spPr>
      </p:sp>
      <p:sp>
        <p:nvSpPr>
          <p:cNvPr id="19" name="Shape 16"/>
          <p:cNvSpPr/>
          <p:nvPr/>
        </p:nvSpPr>
        <p:spPr>
          <a:xfrm>
            <a:off x="4389120" y="3977640"/>
            <a:ext cx="1051560" cy="1051560"/>
          </a:xfrm>
          <a:prstGeom prst="ellipse">
            <a:avLst/>
          </a:prstGeom>
          <a:solidFill>
            <a:schemeClr val="bg2"/>
          </a:solidFill>
          <a:ln w="12700">
            <a:solidFill>
              <a:schemeClr val="accent3"/>
            </a:solidFill>
            <a:prstDash val="solid"/>
          </a:ln>
        </p:spPr>
      </p:sp>
      <p:sp>
        <p:nvSpPr>
          <p:cNvPr id="20" name="Text 17"/>
          <p:cNvSpPr txBox="1"/>
          <p:nvPr/>
        </p:nvSpPr>
        <p:spPr>
          <a:xfrm>
            <a:off x="4389120" y="3977640"/>
            <a:ext cx="1051560" cy="1051560"/>
          </a:xfrm>
          <a:prstGeom prst="rect">
            <a:avLst/>
          </a:prstGeom>
          <a:noFill/>
          <a:ln/>
        </p:spPr>
        <p:txBody>
          <a:bodyPr wrap="square" lIns="0" tIns="0" rIns="0" bIns="0" rtlCol="0" anchor="ctr"/>
          <a:lstStyle/>
          <a:p>
            <a:pPr algn="ctr" indent="0" marL="0" eaLnBrk="0">
              <a:buNone/>
            </a:pPr>
            <a:r>
              <a:rPr lang="ko-KR" altLang="en-US" sz="1200" b="1" dirty="0">
                <a:solidFill>
                  <a:schemeClr val="tx1"/>
                </a:solidFill>
              </a:rPr>
              <a:t>트롤 A</a:t>
            </a:r>
            <a:endParaRPr lang="ko-KR" altLang="en-US" sz="1200" dirty="0"/>
          </a:p>
          <a:p>
            <a:pPr algn="ctr" indent="0" marL="0" eaLnBrk="0">
              <a:buNone/>
            </a:pPr>
            <a:r>
              <a:rPr lang="ko-KR" altLang="en-US" sz="1200" b="1" dirty="0">
                <a:solidFill>
                  <a:schemeClr val="tx1"/>
                </a:solidFill>
              </a:rPr>
              <a:t>체력 48</a:t>
            </a:r>
            <a:endParaRPr lang="ko-KR" altLang="en-US" sz="1200" dirty="0"/>
          </a:p>
        </p:txBody>
      </p:sp>
      <p:sp>
        <p:nvSpPr>
          <p:cNvPr id="21" name="Shape 18"/>
          <p:cNvSpPr/>
          <p:nvPr/>
        </p:nvSpPr>
        <p:spPr>
          <a:xfrm>
            <a:off x="3840480" y="4507992"/>
            <a:ext cx="1691640" cy="914"/>
          </a:xfrm>
          <a:prstGeom prst="line">
            <a:avLst/>
          </a:prstGeom>
          <a:noFill/>
          <a:ln w="12700">
            <a:solidFill>
              <a:schemeClr val="accent3"/>
            </a:solidFill>
            <a:prstDash val="solid"/>
          </a:ln>
        </p:spPr>
      </p:sp>
      <p:sp>
        <p:nvSpPr>
          <p:cNvPr id="22" name="Shape 19"/>
          <p:cNvSpPr/>
          <p:nvPr/>
        </p:nvSpPr>
        <p:spPr>
          <a:xfrm>
            <a:off x="5532120" y="3977640"/>
            <a:ext cx="1051560" cy="1051560"/>
          </a:xfrm>
          <a:prstGeom prst="ellipse">
            <a:avLst/>
          </a:prstGeom>
          <a:solidFill>
            <a:schemeClr val="bg2"/>
          </a:solidFill>
          <a:ln w="12700">
            <a:solidFill>
              <a:schemeClr val="accent3"/>
            </a:solidFill>
            <a:prstDash val="solid"/>
          </a:ln>
        </p:spPr>
      </p:sp>
      <p:sp>
        <p:nvSpPr>
          <p:cNvPr id="23" name="Text 20"/>
          <p:cNvSpPr txBox="1"/>
          <p:nvPr/>
        </p:nvSpPr>
        <p:spPr>
          <a:xfrm>
            <a:off x="5532120" y="3977640"/>
            <a:ext cx="1051560" cy="1051560"/>
          </a:xfrm>
          <a:prstGeom prst="rect">
            <a:avLst/>
          </a:prstGeom>
          <a:noFill/>
          <a:ln/>
        </p:spPr>
        <p:txBody>
          <a:bodyPr wrap="square" lIns="0" tIns="0" rIns="0" bIns="0" rtlCol="0" anchor="ctr"/>
          <a:lstStyle/>
          <a:p>
            <a:pPr algn="ctr" indent="0" marL="0" eaLnBrk="0">
              <a:buNone/>
            </a:pPr>
            <a:r>
              <a:rPr lang="ko-KR" altLang="en-US" sz="1200" b="1" dirty="0">
                <a:solidFill>
                  <a:schemeClr val="tx1"/>
                </a:solidFill>
              </a:rPr>
              <a:t>트롤 B</a:t>
            </a:r>
            <a:endParaRPr lang="ko-KR" altLang="en-US" sz="1200" dirty="0"/>
          </a:p>
          <a:p>
            <a:pPr algn="ctr" indent="0" marL="0" eaLnBrk="0">
              <a:buNone/>
            </a:pPr>
            <a:r>
              <a:rPr lang="ko-KR" altLang="en-US" sz="1200" b="1" dirty="0">
                <a:solidFill>
                  <a:schemeClr val="tx1"/>
                </a:solidFill>
              </a:rPr>
              <a:t>체력 30</a:t>
            </a:r>
            <a:endParaRPr lang="ko-KR" altLang="en-US" sz="1200" dirty="0"/>
          </a:p>
        </p:txBody>
      </p:sp>
      <p:sp>
        <p:nvSpPr>
          <p:cNvPr id="24" name="Shape 21"/>
          <p:cNvSpPr/>
          <p:nvPr/>
        </p:nvSpPr>
        <p:spPr>
          <a:xfrm>
            <a:off x="3840480" y="4507992"/>
            <a:ext cx="2834640" cy="914"/>
          </a:xfrm>
          <a:prstGeom prst="line">
            <a:avLst/>
          </a:prstGeom>
          <a:noFill/>
          <a:ln w="12700">
            <a:solidFill>
              <a:schemeClr val="accent3"/>
            </a:solidFill>
            <a:prstDash val="solid"/>
          </a:ln>
        </p:spPr>
      </p:sp>
      <p:sp>
        <p:nvSpPr>
          <p:cNvPr id="25" name="Shape 22"/>
          <p:cNvSpPr/>
          <p:nvPr/>
        </p:nvSpPr>
        <p:spPr>
          <a:xfrm>
            <a:off x="6675120" y="3977640"/>
            <a:ext cx="1051560" cy="1051560"/>
          </a:xfrm>
          <a:prstGeom prst="ellipse">
            <a:avLst/>
          </a:prstGeom>
          <a:solidFill>
            <a:schemeClr val="bg2"/>
          </a:solidFill>
          <a:ln w="12700">
            <a:solidFill>
              <a:schemeClr val="accent3"/>
            </a:solidFill>
            <a:prstDash val="solid"/>
          </a:ln>
        </p:spPr>
      </p:sp>
      <p:sp>
        <p:nvSpPr>
          <p:cNvPr id="26" name="Text 23"/>
          <p:cNvSpPr txBox="1"/>
          <p:nvPr/>
        </p:nvSpPr>
        <p:spPr>
          <a:xfrm>
            <a:off x="6675120" y="3977640"/>
            <a:ext cx="1051560" cy="1051560"/>
          </a:xfrm>
          <a:prstGeom prst="rect">
            <a:avLst/>
          </a:prstGeom>
          <a:noFill/>
          <a:ln/>
        </p:spPr>
        <p:txBody>
          <a:bodyPr wrap="square" lIns="0" tIns="0" rIns="0" bIns="0" rtlCol="0" anchor="ctr"/>
          <a:lstStyle/>
          <a:p>
            <a:pPr algn="ctr" indent="0" marL="0" eaLnBrk="0">
              <a:buNone/>
            </a:pPr>
            <a:r>
              <a:rPr lang="ko-KR" altLang="en-US" sz="1200" b="1" dirty="0">
                <a:solidFill>
                  <a:schemeClr val="tx1"/>
                </a:solidFill>
              </a:rPr>
              <a:t>트롤 C</a:t>
            </a:r>
            <a:endParaRPr lang="ko-KR" altLang="en-US" sz="1200" dirty="0"/>
          </a:p>
          <a:p>
            <a:pPr algn="ctr" indent="0" marL="0" eaLnBrk="0">
              <a:buNone/>
            </a:pPr>
            <a:r>
              <a:rPr lang="ko-KR" altLang="en-US" sz="1200" b="1" dirty="0">
                <a:solidFill>
                  <a:schemeClr val="tx1"/>
                </a:solidFill>
              </a:rPr>
              <a:t>체력 12</a:t>
            </a:r>
            <a:endParaRPr lang="ko-KR" altLang="en-US" sz="1200" dirty="0"/>
          </a:p>
        </p:txBody>
      </p:sp>
      <p:sp>
        <p:nvSpPr>
          <p:cNvPr id="27" name="card"/>
          <p:cNvSpPr/>
          <p:nvPr/>
        </p:nvSpPr>
        <p:spPr>
          <a:xfrm>
            <a:off x="8046720" y="1783080"/>
            <a:ext cx="3596335" cy="1783080"/>
          </a:xfrm>
          <a:prstGeom prst="roundRect">
            <a:avLst>
              <a:gd name="adj" fmla="val 5128"/>
            </a:avLst>
          </a:prstGeom>
          <a:solidFill>
            <a:schemeClr val="bg2"/>
          </a:solidFill>
          <a:ln w="12700">
            <a:solidFill>
              <a:schemeClr val="bg2"/>
            </a:solidFill>
            <a:prstDash val="solid"/>
          </a:ln>
        </p:spPr>
      </p:sp>
      <p:sp>
        <p:nvSpPr>
          <p:cNvPr id="28" name="Text 25"/>
          <p:cNvSpPr txBox="1"/>
          <p:nvPr/>
        </p:nvSpPr>
        <p:spPr>
          <a:xfrm>
            <a:off x="8275320" y="2002536"/>
            <a:ext cx="31848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몬스터마다 다른 것</a:t>
            </a:r>
            <a:endParaRPr lang="ko-KR" altLang="en-US" sz="1700" dirty="0"/>
          </a:p>
        </p:txBody>
      </p:sp>
      <p:sp>
        <p:nvSpPr>
          <p:cNvPr id="29" name="Text 26"/>
          <p:cNvSpPr txBox="1"/>
          <p:nvPr/>
        </p:nvSpPr>
        <p:spPr>
          <a:xfrm>
            <a:off x="8275320" y="2514600"/>
            <a:ext cx="3139135" cy="914400"/>
          </a:xfrm>
          <a:prstGeom prst="rect">
            <a:avLst/>
          </a:prstGeom>
          <a:noFill/>
          <a:ln/>
        </p:spPr>
        <p:txBody>
          <a:bodyPr wrap="square" lIns="0" tIns="0" rIns="0" bIns="0" rtlCol="0" anchor="t"/>
          <a:lstStyle/>
          <a:p>
            <a:pPr indent="0" marL="0" eaLnBrk="0">
              <a:buNone/>
            </a:pPr>
            <a:r>
              <a:rPr lang="ko-KR" altLang="en-US" sz="1400" dirty="0">
                <a:solidFill>
                  <a:schemeClr val="tx2"/>
                </a:solidFill>
              </a:rPr>
              <a:t>현재 체력. 싸우는 동안 몬스터마다 따로 줄어든다.</a:t>
            </a:r>
            <a:endParaRPr lang="ko-KR" altLang="en-US" sz="1400" dirty="0"/>
          </a:p>
        </p:txBody>
      </p:sp>
      <p:sp>
        <p:nvSpPr>
          <p:cNvPr id="30" name="card"/>
          <p:cNvSpPr/>
          <p:nvPr/>
        </p:nvSpPr>
        <p:spPr>
          <a:xfrm>
            <a:off x="8046720" y="3703320"/>
            <a:ext cx="3596335" cy="1828800"/>
          </a:xfrm>
          <a:prstGeom prst="roundRect">
            <a:avLst>
              <a:gd name="adj" fmla="val 5000"/>
            </a:avLst>
          </a:prstGeom>
          <a:solidFill>
            <a:schemeClr val="bg2"/>
          </a:solidFill>
          <a:ln w="12700">
            <a:solidFill>
              <a:schemeClr val="bg2"/>
            </a:solidFill>
            <a:prstDash val="solid"/>
          </a:ln>
        </p:spPr>
      </p:sp>
      <p:sp>
        <p:nvSpPr>
          <p:cNvPr id="31" name="Text 28"/>
          <p:cNvSpPr txBox="1"/>
          <p:nvPr/>
        </p:nvSpPr>
        <p:spPr>
          <a:xfrm>
            <a:off x="8275320" y="3922776"/>
            <a:ext cx="318485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종족마다 같은 것</a:t>
            </a:r>
            <a:endParaRPr lang="ko-KR" altLang="en-US" sz="1700" dirty="0"/>
          </a:p>
        </p:txBody>
      </p:sp>
      <p:sp>
        <p:nvSpPr>
          <p:cNvPr id="32" name="Text 29"/>
          <p:cNvSpPr txBox="1"/>
          <p:nvPr/>
        </p:nvSpPr>
        <p:spPr>
          <a:xfrm>
            <a:off x="8275320" y="4434840"/>
            <a:ext cx="3139135" cy="960120"/>
          </a:xfrm>
          <a:prstGeom prst="rect">
            <a:avLst/>
          </a:prstGeom>
          <a:noFill/>
          <a:ln/>
        </p:spPr>
        <p:txBody>
          <a:bodyPr wrap="square" lIns="0" tIns="0" rIns="0" bIns="0" rtlCol="0" anchor="t"/>
          <a:lstStyle/>
          <a:p>
            <a:pPr indent="0" marL="0" eaLnBrk="0">
              <a:buNone/>
            </a:pPr>
            <a:r>
              <a:rPr lang="ko-KR" altLang="en-US" sz="1400" dirty="0">
                <a:solidFill>
                  <a:schemeClr val="tx2"/>
                </a:solidFill>
              </a:rPr>
              <a:t>시작 체력과 공격 문장. 같은 종족이면 모두 같다.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첫 시도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종족마다 Monster의 하위 클래스를 만든다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종족이 수백 개로 늘어나면 어떻게 될까?</a:t>
            </a:r>
            <a:endParaRPr lang="ko-KR" altLang="en-US" sz="1500" dirty="0"/>
          </a:p>
        </p:txBody>
      </p:sp>
      <p:sp>
        <p:nvSpPr>
          <p:cNvPr id="6" name="codePanel"/>
          <p:cNvSpPr/>
          <p:nvPr/>
        </p:nvSpPr>
        <p:spPr>
          <a:xfrm>
            <a:off x="548640" y="1600200"/>
            <a:ext cx="694944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729984" cy="393192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abstract class Monster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int _health;   // 현재 체력</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protected Monster(int startingHealth)</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_health = startingHealth;</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abstract string GetAttack();</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class Dragon : Monster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public Dragon() : base(230) {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public override string GetAttack() =&gt; "용이 불을 뿜는다!";</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class Troll : Monster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public Troll() : base(48) {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public override string GetAttack() =&gt; "트롤이 몽둥이로 내리친다!";</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8" name="codeCaption"/>
          <p:cNvSpPr txBox="1"/>
          <p:nvPr/>
        </p:nvSpPr>
        <p:spPr>
          <a:xfrm>
            <a:off x="438912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box"/>
          <p:cNvSpPr/>
          <p:nvPr/>
        </p:nvSpPr>
        <p:spPr>
          <a:xfrm>
            <a:off x="8747608" y="1691640"/>
            <a:ext cx="2011680" cy="640080"/>
          </a:xfrm>
          <a:prstGeom prst="roundRect">
            <a:avLst>
              <a:gd name="adj" fmla="val 11429"/>
            </a:avLst>
          </a:prstGeom>
          <a:solidFill>
            <a:schemeClr val="tx2"/>
          </a:solidFill>
          <a:ln w="12700">
            <a:solidFill>
              <a:schemeClr val="tx2"/>
            </a:solidFill>
            <a:prstDash val="solid"/>
          </a:ln>
        </p:spPr>
      </p:sp>
      <p:sp>
        <p:nvSpPr>
          <p:cNvPr id="10" name="Text 7"/>
          <p:cNvSpPr txBox="1"/>
          <p:nvPr/>
        </p:nvSpPr>
        <p:spPr>
          <a:xfrm>
            <a:off x="8747608" y="1691640"/>
            <a:ext cx="2011680" cy="64008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Monster</a:t>
            </a:r>
            <a:endParaRPr lang="ko-KR" altLang="en-US" sz="1600" dirty="0"/>
          </a:p>
        </p:txBody>
      </p:sp>
      <p:sp>
        <p:nvSpPr>
          <p:cNvPr id="11" name="Shape 8"/>
          <p:cNvSpPr/>
          <p:nvPr/>
        </p:nvSpPr>
        <p:spPr>
          <a:xfrm flipV="1">
            <a:off x="8493709" y="2377440"/>
            <a:ext cx="1259738" cy="502920"/>
          </a:xfrm>
          <a:prstGeom prst="line">
            <a:avLst/>
          </a:prstGeom>
          <a:noFill/>
          <a:ln w="22225">
            <a:solidFill>
              <a:schemeClr val="accent3"/>
            </a:solidFill>
            <a:prstDash val="solid"/>
            <a:tailEnd type="triangle"/>
          </a:ln>
        </p:spPr>
      </p:sp>
      <p:sp>
        <p:nvSpPr>
          <p:cNvPr id="12" name="box"/>
          <p:cNvSpPr/>
          <p:nvPr/>
        </p:nvSpPr>
        <p:spPr>
          <a:xfrm>
            <a:off x="7909560" y="2880360"/>
            <a:ext cx="1168298" cy="594360"/>
          </a:xfrm>
          <a:prstGeom prst="roundRect">
            <a:avLst>
              <a:gd name="adj" fmla="val 12308"/>
            </a:avLst>
          </a:prstGeom>
          <a:solidFill>
            <a:schemeClr val="accent1"/>
          </a:solidFill>
          <a:ln w="12700">
            <a:solidFill>
              <a:schemeClr val="accent1"/>
            </a:solidFill>
            <a:prstDash val="solid"/>
          </a:ln>
        </p:spPr>
      </p:sp>
      <p:sp>
        <p:nvSpPr>
          <p:cNvPr id="13" name="Text 10"/>
          <p:cNvSpPr txBox="1"/>
          <p:nvPr/>
        </p:nvSpPr>
        <p:spPr>
          <a:xfrm>
            <a:off x="7909560" y="2880360"/>
            <a:ext cx="1168298" cy="59436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Dragon</a:t>
            </a:r>
            <a:endParaRPr lang="ko-KR" altLang="en-US" sz="1400" dirty="0"/>
          </a:p>
        </p:txBody>
      </p:sp>
      <p:sp>
        <p:nvSpPr>
          <p:cNvPr id="14" name="Shape 11"/>
          <p:cNvSpPr/>
          <p:nvPr/>
        </p:nvSpPr>
        <p:spPr>
          <a:xfrm flipH="1" flipV="1">
            <a:off x="9753448" y="2377440"/>
            <a:ext cx="914" cy="502920"/>
          </a:xfrm>
          <a:prstGeom prst="line">
            <a:avLst/>
          </a:prstGeom>
          <a:noFill/>
          <a:ln w="22225">
            <a:solidFill>
              <a:schemeClr val="accent3"/>
            </a:solidFill>
            <a:prstDash val="solid"/>
            <a:tailEnd type="triangle"/>
          </a:ln>
        </p:spPr>
      </p:sp>
      <p:sp>
        <p:nvSpPr>
          <p:cNvPr id="15" name="box"/>
          <p:cNvSpPr/>
          <p:nvPr/>
        </p:nvSpPr>
        <p:spPr>
          <a:xfrm>
            <a:off x="9169298" y="2880360"/>
            <a:ext cx="1168298" cy="594360"/>
          </a:xfrm>
          <a:prstGeom prst="roundRect">
            <a:avLst>
              <a:gd name="adj" fmla="val 12308"/>
            </a:avLst>
          </a:prstGeom>
          <a:solidFill>
            <a:schemeClr val="accent1"/>
          </a:solidFill>
          <a:ln w="12700">
            <a:solidFill>
              <a:schemeClr val="accent1"/>
            </a:solidFill>
            <a:prstDash val="solid"/>
          </a:ln>
        </p:spPr>
      </p:sp>
      <p:sp>
        <p:nvSpPr>
          <p:cNvPr id="16" name="Text 13"/>
          <p:cNvSpPr txBox="1"/>
          <p:nvPr/>
        </p:nvSpPr>
        <p:spPr>
          <a:xfrm>
            <a:off x="9169298" y="2880360"/>
            <a:ext cx="1168298" cy="59436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Troll</a:t>
            </a:r>
            <a:endParaRPr lang="ko-KR" altLang="en-US" sz="1400" dirty="0"/>
          </a:p>
        </p:txBody>
      </p:sp>
      <p:sp>
        <p:nvSpPr>
          <p:cNvPr id="17" name="Shape 14"/>
          <p:cNvSpPr/>
          <p:nvPr/>
        </p:nvSpPr>
        <p:spPr>
          <a:xfrm flipH="1" flipV="1">
            <a:off x="9753448" y="2377440"/>
            <a:ext cx="1259738" cy="502920"/>
          </a:xfrm>
          <a:prstGeom prst="line">
            <a:avLst/>
          </a:prstGeom>
          <a:noFill/>
          <a:ln w="22225">
            <a:solidFill>
              <a:schemeClr val="accent3"/>
            </a:solidFill>
            <a:prstDash val="solid"/>
            <a:tailEnd type="triangle"/>
          </a:ln>
        </p:spPr>
      </p:sp>
      <p:sp>
        <p:nvSpPr>
          <p:cNvPr id="18" name="box"/>
          <p:cNvSpPr/>
          <p:nvPr/>
        </p:nvSpPr>
        <p:spPr>
          <a:xfrm>
            <a:off x="10429037" y="2880360"/>
            <a:ext cx="1168298" cy="594360"/>
          </a:xfrm>
          <a:prstGeom prst="roundRect">
            <a:avLst>
              <a:gd name="adj" fmla="val 12308"/>
            </a:avLst>
          </a:prstGeom>
          <a:solidFill>
            <a:schemeClr val="bg1"/>
          </a:solidFill>
          <a:ln w="19050">
            <a:solidFill>
              <a:schemeClr val="accent6"/>
            </a:solidFill>
            <a:prstDash val="dash"/>
          </a:ln>
        </p:spPr>
      </p:sp>
      <p:sp>
        <p:nvSpPr>
          <p:cNvPr id="19" name="Text 16"/>
          <p:cNvSpPr txBox="1"/>
          <p:nvPr/>
        </p:nvSpPr>
        <p:spPr>
          <a:xfrm>
            <a:off x="10429037" y="2880360"/>
            <a:ext cx="1168298" cy="594360"/>
          </a:xfrm>
          <a:prstGeom prst="rect">
            <a:avLst/>
          </a:prstGeom>
          <a:noFill/>
          <a:ln/>
        </p:spPr>
        <p:txBody>
          <a:bodyPr wrap="square" lIns="635" tIns="635" rIns="635" bIns="635" rtlCol="0" anchor="ctr"/>
          <a:lstStyle/>
          <a:p>
            <a:pPr algn="ctr" indent="0" marL="0" eaLnBrk="0">
              <a:buNone/>
            </a:pPr>
            <a:r>
              <a:rPr lang="ko-KR" altLang="en-US" sz="1400" b="1" dirty="0">
                <a:solidFill>
                  <a:schemeClr val="accent3"/>
                </a:solidFill>
              </a:rPr>
              <a:t>…</a:t>
            </a:r>
            <a:endParaRPr lang="ko-KR" altLang="en-US" sz="1400" dirty="0"/>
          </a:p>
        </p:txBody>
      </p:sp>
      <p:sp>
        <p:nvSpPr>
          <p:cNvPr id="20" name="card"/>
          <p:cNvSpPr/>
          <p:nvPr/>
        </p:nvSpPr>
        <p:spPr>
          <a:xfrm>
            <a:off x="7863840" y="3794760"/>
            <a:ext cx="3779215" cy="1920240"/>
          </a:xfrm>
          <a:prstGeom prst="roundRect">
            <a:avLst>
              <a:gd name="adj" fmla="val 4762"/>
            </a:avLst>
          </a:prstGeom>
          <a:solidFill>
            <a:schemeClr val="bg2"/>
          </a:solidFill>
          <a:ln w="12700">
            <a:solidFill>
              <a:schemeClr val="bg2"/>
            </a:solidFill>
            <a:prstDash val="solid"/>
          </a:ln>
        </p:spPr>
      </p:sp>
      <p:sp>
        <p:nvSpPr>
          <p:cNvPr id="21" name="Text 18"/>
          <p:cNvSpPr txBox="1"/>
          <p:nvPr/>
        </p:nvSpPr>
        <p:spPr>
          <a:xfrm>
            <a:off x="8092440" y="401421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종족 하나 = 클래스 하나</a:t>
            </a:r>
            <a:endParaRPr lang="ko-KR" altLang="en-US" sz="1700" dirty="0"/>
          </a:p>
        </p:txBody>
      </p:sp>
      <p:sp>
        <p:nvSpPr>
          <p:cNvPr id="22" name="Text 19"/>
          <p:cNvSpPr txBox="1"/>
          <p:nvPr/>
        </p:nvSpPr>
        <p:spPr>
          <a:xfrm>
            <a:off x="8092440" y="4572000"/>
            <a:ext cx="3322015" cy="1005840"/>
          </a:xfrm>
          <a:prstGeom prst="rect">
            <a:avLst/>
          </a:prstGeom>
          <a:noFill/>
          <a:ln/>
        </p:spPr>
        <p:txBody>
          <a:bodyPr wrap="square" lIns="0" tIns="0" rIns="0" bIns="0" rtlCol="0" anchor="t"/>
          <a:lstStyle/>
          <a:p>
            <a:pPr indent="0" marL="0" eaLnBrk="0">
              <a:spcAft>
                <a:spcPts val="400"/>
              </a:spcAft>
              <a:buNone/>
            </a:pPr>
            <a:r>
              <a:rPr lang="ko-KR" altLang="en-US" sz="1400" dirty="0">
                <a:solidFill>
                  <a:schemeClr val="tx2"/>
                </a:solidFill>
              </a:rPr>
              <a:t>새 종족을 더할 때마다 하위 클래스가 하나씩 늘어난다.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한계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값 하나를 고칠 때마다 코드를 고치고 다시 컴파일한다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종족을 클래스가 아니라 다른 무엇으로 나타낼 수 있을까?</a:t>
            </a:r>
            <a:endParaRPr lang="ko-KR" altLang="en-US" sz="1500" dirty="0"/>
          </a:p>
        </p:txBody>
      </p:sp>
      <p:sp>
        <p:nvSpPr>
          <p:cNvPr id="6" name="box"/>
          <p:cNvSpPr/>
          <p:nvPr/>
        </p:nvSpPr>
        <p:spPr>
          <a:xfrm>
            <a:off x="548640" y="1783080"/>
            <a:ext cx="2377440" cy="1005840"/>
          </a:xfrm>
          <a:prstGeom prst="roundRect">
            <a:avLst>
              <a:gd name="adj" fmla="val 7273"/>
            </a:avLst>
          </a:prstGeom>
          <a:solidFill>
            <a:schemeClr val="accent2"/>
          </a:solidFill>
          <a:ln w="12700">
            <a:solidFill>
              <a:schemeClr val="accent2"/>
            </a:solidFill>
            <a:prstDash val="solid"/>
          </a:ln>
        </p:spPr>
      </p:sp>
      <p:sp>
        <p:nvSpPr>
          <p:cNvPr id="7" name="Text 4"/>
          <p:cNvSpPr txBox="1"/>
          <p:nvPr/>
        </p:nvSpPr>
        <p:spPr>
          <a:xfrm>
            <a:off x="548640" y="1783080"/>
            <a:ext cx="2377440" cy="100584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디자이너:</a:t>
            </a:r>
            <a:endParaRPr lang="ko-KR" altLang="en-US" sz="1400" dirty="0"/>
          </a:p>
          <a:p>
            <a:pPr algn="ctr" indent="0" marL="0" eaLnBrk="0">
              <a:buNone/>
            </a:pPr>
            <a:r>
              <a:rPr lang="ko-KR" altLang="en-US" sz="1400" b="1" dirty="0">
                <a:solidFill>
                  <a:schemeClr val="bg1"/>
                </a:solidFill>
              </a:rPr>
              <a:t>트롤 체력 48 → 52</a:t>
            </a:r>
            <a:endParaRPr lang="ko-KR" altLang="en-US" sz="1400" dirty="0"/>
          </a:p>
        </p:txBody>
      </p:sp>
      <p:sp>
        <p:nvSpPr>
          <p:cNvPr id="8" name="Shape 5"/>
          <p:cNvSpPr/>
          <p:nvPr/>
        </p:nvSpPr>
        <p:spPr>
          <a:xfrm>
            <a:off x="2971800" y="2286000"/>
            <a:ext cx="436778" cy="914"/>
          </a:xfrm>
          <a:prstGeom prst="line">
            <a:avLst/>
          </a:prstGeom>
          <a:noFill/>
          <a:ln w="22225">
            <a:solidFill>
              <a:schemeClr val="accent3"/>
            </a:solidFill>
            <a:prstDash val="solid"/>
            <a:tailEnd type="triangle"/>
          </a:ln>
        </p:spPr>
      </p:sp>
      <p:sp>
        <p:nvSpPr>
          <p:cNvPr id="9" name="box"/>
          <p:cNvSpPr/>
          <p:nvPr/>
        </p:nvSpPr>
        <p:spPr>
          <a:xfrm>
            <a:off x="3454298" y="1783080"/>
            <a:ext cx="2377440" cy="1005840"/>
          </a:xfrm>
          <a:prstGeom prst="roundRect">
            <a:avLst>
              <a:gd name="adj" fmla="val 7273"/>
            </a:avLst>
          </a:prstGeom>
          <a:solidFill>
            <a:schemeClr val="bg2"/>
          </a:solidFill>
          <a:ln w="12700">
            <a:solidFill>
              <a:schemeClr val="bg2"/>
            </a:solidFill>
            <a:prstDash val="solid"/>
          </a:ln>
        </p:spPr>
      </p:sp>
      <p:sp>
        <p:nvSpPr>
          <p:cNvPr id="10" name="Text 7"/>
          <p:cNvSpPr txBox="1"/>
          <p:nvPr/>
        </p:nvSpPr>
        <p:spPr>
          <a:xfrm>
            <a:off x="3454298" y="1783080"/>
            <a:ext cx="2377440" cy="100584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프로그래머가</a:t>
            </a:r>
            <a:endParaRPr lang="ko-KR" altLang="en-US" sz="1400" dirty="0"/>
          </a:p>
          <a:p>
            <a:pPr algn="ctr" indent="0" marL="0" eaLnBrk="0">
              <a:buNone/>
            </a:pPr>
            <a:r>
              <a:rPr lang="ko-KR" altLang="en-US" sz="1400" b="1" dirty="0">
                <a:solidFill>
                  <a:schemeClr val="tx1"/>
                </a:solidFill>
              </a:rPr>
              <a:t>Troll 코드를 고친다</a:t>
            </a:r>
            <a:endParaRPr lang="ko-KR" altLang="en-US" sz="1400" dirty="0"/>
          </a:p>
        </p:txBody>
      </p:sp>
      <p:sp>
        <p:nvSpPr>
          <p:cNvPr id="11" name="Shape 8"/>
          <p:cNvSpPr/>
          <p:nvPr/>
        </p:nvSpPr>
        <p:spPr>
          <a:xfrm>
            <a:off x="5877458" y="2286000"/>
            <a:ext cx="436778" cy="914"/>
          </a:xfrm>
          <a:prstGeom prst="line">
            <a:avLst/>
          </a:prstGeom>
          <a:noFill/>
          <a:ln w="22225">
            <a:solidFill>
              <a:schemeClr val="accent3"/>
            </a:solidFill>
            <a:prstDash val="solid"/>
            <a:tailEnd type="triangle"/>
          </a:ln>
        </p:spPr>
      </p:sp>
      <p:sp>
        <p:nvSpPr>
          <p:cNvPr id="12" name="box"/>
          <p:cNvSpPr/>
          <p:nvPr/>
        </p:nvSpPr>
        <p:spPr>
          <a:xfrm>
            <a:off x="6359957" y="1783080"/>
            <a:ext cx="2377440" cy="1005840"/>
          </a:xfrm>
          <a:prstGeom prst="roundRect">
            <a:avLst>
              <a:gd name="adj" fmla="val 7273"/>
            </a:avLst>
          </a:prstGeom>
          <a:solidFill>
            <a:schemeClr val="bg2"/>
          </a:solidFill>
          <a:ln w="12700">
            <a:solidFill>
              <a:schemeClr val="bg2"/>
            </a:solidFill>
            <a:prstDash val="solid"/>
          </a:ln>
        </p:spPr>
      </p:sp>
      <p:sp>
        <p:nvSpPr>
          <p:cNvPr id="13" name="Text 10"/>
          <p:cNvSpPr txBox="1"/>
          <p:nvPr/>
        </p:nvSpPr>
        <p:spPr>
          <a:xfrm>
            <a:off x="6359957" y="1783080"/>
            <a:ext cx="2377440" cy="100584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다시 컴파일하고</a:t>
            </a:r>
            <a:endParaRPr lang="ko-KR" altLang="en-US" sz="1400" dirty="0"/>
          </a:p>
          <a:p>
            <a:pPr algn="ctr" indent="0" marL="0" eaLnBrk="0">
              <a:buNone/>
            </a:pPr>
            <a:r>
              <a:rPr lang="ko-KR" altLang="en-US" sz="1400" b="1" dirty="0">
                <a:solidFill>
                  <a:schemeClr val="tx1"/>
                </a:solidFill>
              </a:rPr>
              <a:t>저장소에 반영한다</a:t>
            </a:r>
            <a:endParaRPr lang="ko-KR" altLang="en-US" sz="1400" dirty="0"/>
          </a:p>
        </p:txBody>
      </p:sp>
      <p:sp>
        <p:nvSpPr>
          <p:cNvPr id="14" name="Shape 11"/>
          <p:cNvSpPr/>
          <p:nvPr/>
        </p:nvSpPr>
        <p:spPr>
          <a:xfrm>
            <a:off x="8783117" y="2286000"/>
            <a:ext cx="436778" cy="914"/>
          </a:xfrm>
          <a:prstGeom prst="line">
            <a:avLst/>
          </a:prstGeom>
          <a:noFill/>
          <a:ln w="22225">
            <a:solidFill>
              <a:schemeClr val="accent3"/>
            </a:solidFill>
            <a:prstDash val="solid"/>
            <a:tailEnd type="triangle"/>
          </a:ln>
        </p:spPr>
      </p:sp>
      <p:sp>
        <p:nvSpPr>
          <p:cNvPr id="15" name="box"/>
          <p:cNvSpPr/>
          <p:nvPr/>
        </p:nvSpPr>
        <p:spPr>
          <a:xfrm>
            <a:off x="9265615" y="1783080"/>
            <a:ext cx="2377440" cy="1005840"/>
          </a:xfrm>
          <a:prstGeom prst="roundRect">
            <a:avLst>
              <a:gd name="adj" fmla="val 7273"/>
            </a:avLst>
          </a:prstGeom>
          <a:solidFill>
            <a:schemeClr val="accent2"/>
          </a:solidFill>
          <a:ln w="12700">
            <a:solidFill>
              <a:schemeClr val="accent2"/>
            </a:solidFill>
            <a:prstDash val="solid"/>
          </a:ln>
        </p:spPr>
      </p:sp>
      <p:sp>
        <p:nvSpPr>
          <p:cNvPr id="16" name="Text 13"/>
          <p:cNvSpPr txBox="1"/>
          <p:nvPr/>
        </p:nvSpPr>
        <p:spPr>
          <a:xfrm>
            <a:off x="9265615" y="1783080"/>
            <a:ext cx="2377440" cy="1005840"/>
          </a:xfrm>
          <a:prstGeom prst="rect">
            <a:avLst/>
          </a:prstGeom>
          <a:noFill/>
          <a:ln/>
        </p:spPr>
        <p:txBody>
          <a:bodyPr wrap="square" lIns="635" tIns="635" rIns="635" bIns="635" rtlCol="0" anchor="ctr"/>
          <a:lstStyle/>
          <a:p>
            <a:pPr algn="ctr" indent="0" marL="0" eaLnBrk="0">
              <a:buNone/>
            </a:pPr>
            <a:r>
              <a:rPr lang="ko-KR" altLang="en-US" sz="1400" b="1" dirty="0">
                <a:solidFill>
                  <a:schemeClr val="bg1"/>
                </a:solidFill>
              </a:rPr>
              <a:t>디자이너가</a:t>
            </a:r>
            <a:endParaRPr lang="ko-KR" altLang="en-US" sz="1400" dirty="0"/>
          </a:p>
          <a:p>
            <a:pPr algn="ctr" indent="0" marL="0" eaLnBrk="0">
              <a:buNone/>
            </a:pPr>
            <a:r>
              <a:rPr lang="ko-KR" altLang="en-US" sz="1400" b="1" dirty="0">
                <a:solidFill>
                  <a:schemeClr val="bg1"/>
                </a:solidFill>
              </a:rPr>
              <a:t>결과를 확인한다</a:t>
            </a:r>
            <a:endParaRPr lang="ko-KR" altLang="en-US" sz="1400" dirty="0"/>
          </a:p>
        </p:txBody>
      </p:sp>
      <p:sp>
        <p:nvSpPr>
          <p:cNvPr id="17" name="Text 14"/>
          <p:cNvSpPr txBox="1"/>
          <p:nvPr/>
        </p:nvSpPr>
        <p:spPr>
          <a:xfrm>
            <a:off x="548640" y="2926080"/>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6"/>
                </a:solidFill>
              </a:rPr>
              <a:t>이 과정이 종족 수백 개, 조정 수천 번만큼 반복된다.</a:t>
            </a:r>
            <a:endParaRPr lang="ko-KR" altLang="en-US" sz="1500" dirty="0"/>
          </a:p>
        </p:txBody>
      </p:sp>
      <p:sp>
        <p:nvSpPr>
          <p:cNvPr id="18" name="card"/>
          <p:cNvSpPr/>
          <p:nvPr/>
        </p:nvSpPr>
        <p:spPr>
          <a:xfrm>
            <a:off x="548640" y="3566160"/>
            <a:ext cx="5440680" cy="2057400"/>
          </a:xfrm>
          <a:prstGeom prst="roundRect">
            <a:avLst>
              <a:gd name="adj" fmla="val 4444"/>
            </a:avLst>
          </a:prstGeom>
          <a:solidFill>
            <a:schemeClr val="bg2"/>
          </a:solidFill>
          <a:ln w="12700">
            <a:solidFill>
              <a:schemeClr val="bg2"/>
            </a:solidFill>
            <a:prstDash val="solid"/>
          </a:ln>
        </p:spPr>
      </p:sp>
      <p:sp>
        <p:nvSpPr>
          <p:cNvPr id="19" name="Shape 16"/>
          <p:cNvSpPr/>
          <p:nvPr/>
        </p:nvSpPr>
        <p:spPr>
          <a:xfrm>
            <a:off x="777240" y="376732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777240" y="376732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1" name="Text 18"/>
          <p:cNvSpPr txBox="1"/>
          <p:nvPr/>
        </p:nvSpPr>
        <p:spPr>
          <a:xfrm>
            <a:off x="1325880" y="3785616"/>
            <a:ext cx="448056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다시 컴파일하지 않고</a:t>
            </a:r>
            <a:endParaRPr lang="ko-KR" altLang="en-US" sz="1700" dirty="0"/>
          </a:p>
        </p:txBody>
      </p:sp>
      <p:sp>
        <p:nvSpPr>
          <p:cNvPr id="22" name="Text 19"/>
          <p:cNvSpPr txBox="1"/>
          <p:nvPr/>
        </p:nvSpPr>
        <p:spPr>
          <a:xfrm>
            <a:off x="1325880" y="4160520"/>
            <a:ext cx="4480560" cy="1097280"/>
          </a:xfrm>
          <a:prstGeom prst="rect">
            <a:avLst/>
          </a:prstGeom>
          <a:noFill/>
          <a:ln/>
        </p:spPr>
        <p:txBody>
          <a:bodyPr wrap="square" lIns="0" tIns="0" rIns="0" bIns="0" rtlCol="0" anchor="t"/>
          <a:lstStyle/>
          <a:p>
            <a:pPr indent="0" marL="0" eaLnBrk="0">
              <a:buNone/>
            </a:pPr>
            <a:r>
              <a:rPr lang="ko-KR" altLang="en-US" sz="1500" dirty="0">
                <a:solidFill>
                  <a:schemeClr val="tx2"/>
                </a:solidFill>
              </a:rPr>
              <a:t>종족의 체력과 공격 문장을 코드 밖에서 바꿀 수 있어야 한다.</a:t>
            </a:r>
            <a:endParaRPr lang="ko-KR" altLang="en-US" sz="1500" dirty="0"/>
          </a:p>
        </p:txBody>
      </p:sp>
      <p:sp>
        <p:nvSpPr>
          <p:cNvPr id="23" name="card"/>
          <p:cNvSpPr/>
          <p:nvPr/>
        </p:nvSpPr>
        <p:spPr>
          <a:xfrm>
            <a:off x="6217920" y="3566160"/>
            <a:ext cx="5425135" cy="2057400"/>
          </a:xfrm>
          <a:prstGeom prst="roundRect">
            <a:avLst>
              <a:gd name="adj" fmla="val 4444"/>
            </a:avLst>
          </a:prstGeom>
          <a:solidFill>
            <a:schemeClr val="bg2"/>
          </a:solidFill>
          <a:ln w="12700">
            <a:solidFill>
              <a:schemeClr val="bg2"/>
            </a:solidFill>
            <a:prstDash val="solid"/>
          </a:ln>
        </p:spPr>
      </p:sp>
      <p:sp>
        <p:nvSpPr>
          <p:cNvPr id="24" name="Shape 21"/>
          <p:cNvSpPr/>
          <p:nvPr/>
        </p:nvSpPr>
        <p:spPr>
          <a:xfrm>
            <a:off x="6446520" y="3767328"/>
            <a:ext cx="420624" cy="420624"/>
          </a:xfrm>
          <a:prstGeom prst="ellipse">
            <a:avLst/>
          </a:prstGeom>
          <a:solidFill>
            <a:schemeClr val="accent1"/>
          </a:solidFill>
          <a:ln w="12700">
            <a:solidFill>
              <a:schemeClr val="accent1"/>
            </a:solidFill>
            <a:prstDash val="solid"/>
          </a:ln>
        </p:spPr>
      </p:sp>
      <p:sp>
        <p:nvSpPr>
          <p:cNvPr id="25" name="Text 22"/>
          <p:cNvSpPr txBox="1"/>
          <p:nvPr/>
        </p:nvSpPr>
        <p:spPr>
          <a:xfrm>
            <a:off x="6446520" y="376732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6" name="Text 23"/>
          <p:cNvSpPr txBox="1"/>
          <p:nvPr/>
        </p:nvSpPr>
        <p:spPr>
          <a:xfrm>
            <a:off x="6995160" y="3785616"/>
            <a:ext cx="44650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프로그래머 없이</a:t>
            </a:r>
            <a:endParaRPr lang="ko-KR" altLang="en-US" sz="1700" dirty="0"/>
          </a:p>
        </p:txBody>
      </p:sp>
      <p:sp>
        <p:nvSpPr>
          <p:cNvPr id="27" name="Text 24"/>
          <p:cNvSpPr txBox="1"/>
          <p:nvPr/>
        </p:nvSpPr>
        <p:spPr>
          <a:xfrm>
            <a:off x="6995160" y="4160520"/>
            <a:ext cx="4465015" cy="1097280"/>
          </a:xfrm>
          <a:prstGeom prst="rect">
            <a:avLst/>
          </a:prstGeom>
          <a:noFill/>
          <a:ln/>
        </p:spPr>
        <p:txBody>
          <a:bodyPr wrap="square" lIns="0" tIns="0" rIns="0" bIns="0" rtlCol="0" anchor="t"/>
          <a:lstStyle/>
          <a:p>
            <a:pPr indent="0" marL="0" eaLnBrk="0">
              <a:buNone/>
            </a:pPr>
            <a:r>
              <a:rPr lang="ko-KR" altLang="en-US" sz="1500" dirty="0">
                <a:solidFill>
                  <a:schemeClr val="tx2"/>
                </a:solidFill>
              </a:rPr>
              <a:t>디자이너가 직접 새 종족을 만들 수 있으면 더 좋다.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2부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종족을 객체로</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클래스를 위한 클래스, 패턴</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구조 바꾸기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몬스터가 종족이 되는 대신, 종족 객체를 참조한다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구조에서 두 클래스는 각각 어떤 데이터를 맡을까?</a:t>
            </a:r>
            <a:endParaRPr lang="ko-KR" altLang="en-US" sz="1500" dirty="0"/>
          </a:p>
        </p:txBody>
      </p:sp>
      <p:sp>
        <p:nvSpPr>
          <p:cNvPr id="6" name="Text 3"/>
          <p:cNvSpPr txBox="1"/>
          <p:nvPr/>
        </p:nvSpPr>
        <p:spPr>
          <a:xfrm>
            <a:off x="548640" y="1645920"/>
            <a:ext cx="4937760" cy="411480"/>
          </a:xfrm>
          <a:prstGeom prst="rect">
            <a:avLst/>
          </a:prstGeom>
          <a:noFill/>
          <a:ln/>
        </p:spPr>
        <p:txBody>
          <a:bodyPr wrap="square" lIns="0" tIns="0" rIns="0" bIns="0" rtlCol="0" anchor="t"/>
          <a:lstStyle/>
          <a:p>
            <a:pPr indent="0" marL="0" eaLnBrk="0">
              <a:buNone/>
            </a:pPr>
            <a:r>
              <a:rPr lang="ko-KR" altLang="en-US" sz="1700" b="1" dirty="0">
                <a:solidFill>
                  <a:schemeClr val="accent6"/>
                </a:solidFill>
              </a:rPr>
              <a:t>상속: 몬스터가 종족이다</a:t>
            </a:r>
            <a:endParaRPr lang="ko-KR" altLang="en-US" sz="1700" dirty="0"/>
          </a:p>
        </p:txBody>
      </p:sp>
      <p:sp>
        <p:nvSpPr>
          <p:cNvPr id="7" name="box"/>
          <p:cNvSpPr/>
          <p:nvPr/>
        </p:nvSpPr>
        <p:spPr>
          <a:xfrm>
            <a:off x="2011680" y="2240280"/>
            <a:ext cx="2011680" cy="640080"/>
          </a:xfrm>
          <a:prstGeom prst="roundRect">
            <a:avLst>
              <a:gd name="adj" fmla="val 11429"/>
            </a:avLst>
          </a:prstGeom>
          <a:solidFill>
            <a:schemeClr val="tx2"/>
          </a:solidFill>
          <a:ln w="12700">
            <a:solidFill>
              <a:schemeClr val="tx2"/>
            </a:solidFill>
            <a:prstDash val="solid"/>
          </a:ln>
        </p:spPr>
      </p:sp>
      <p:sp>
        <p:nvSpPr>
          <p:cNvPr id="8" name="Text 5"/>
          <p:cNvSpPr txBox="1"/>
          <p:nvPr/>
        </p:nvSpPr>
        <p:spPr>
          <a:xfrm>
            <a:off x="2011680" y="2240280"/>
            <a:ext cx="2011680" cy="64008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Monster</a:t>
            </a:r>
            <a:endParaRPr lang="ko-KR" altLang="en-US" sz="1600" dirty="0"/>
          </a:p>
        </p:txBody>
      </p:sp>
      <p:sp>
        <p:nvSpPr>
          <p:cNvPr id="9" name="Shape 6"/>
          <p:cNvSpPr/>
          <p:nvPr/>
        </p:nvSpPr>
        <p:spPr>
          <a:xfrm flipV="1">
            <a:off x="1371600" y="2926080"/>
            <a:ext cx="1645920" cy="594360"/>
          </a:xfrm>
          <a:prstGeom prst="line">
            <a:avLst/>
          </a:prstGeom>
          <a:noFill/>
          <a:ln w="22225">
            <a:solidFill>
              <a:schemeClr val="accent3"/>
            </a:solidFill>
            <a:prstDash val="solid"/>
            <a:tailEnd type="triangle"/>
          </a:ln>
        </p:spPr>
      </p:sp>
      <p:sp>
        <p:nvSpPr>
          <p:cNvPr id="10" name="box"/>
          <p:cNvSpPr/>
          <p:nvPr/>
        </p:nvSpPr>
        <p:spPr>
          <a:xfrm>
            <a:off x="594360" y="3520440"/>
            <a:ext cx="1554480" cy="822960"/>
          </a:xfrm>
          <a:prstGeom prst="roundRect">
            <a:avLst>
              <a:gd name="adj" fmla="val 8889"/>
            </a:avLst>
          </a:prstGeom>
          <a:solidFill>
            <a:schemeClr val="accent1"/>
          </a:solidFill>
          <a:ln w="12700">
            <a:solidFill>
              <a:schemeClr val="accent1"/>
            </a:solidFill>
            <a:prstDash val="solid"/>
          </a:ln>
        </p:spPr>
      </p:sp>
      <p:sp>
        <p:nvSpPr>
          <p:cNvPr id="11" name="Text 8"/>
          <p:cNvSpPr txBox="1"/>
          <p:nvPr/>
        </p:nvSpPr>
        <p:spPr>
          <a:xfrm>
            <a:off x="594360" y="3520440"/>
            <a:ext cx="1554480" cy="82296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Dragon</a:t>
            </a:r>
            <a:endParaRPr lang="ko-KR" altLang="en-US" sz="1500" dirty="0"/>
          </a:p>
        </p:txBody>
      </p:sp>
      <p:sp>
        <p:nvSpPr>
          <p:cNvPr id="12" name="Shape 9"/>
          <p:cNvSpPr/>
          <p:nvPr/>
        </p:nvSpPr>
        <p:spPr>
          <a:xfrm flipV="1">
            <a:off x="3017520" y="2926080"/>
            <a:ext cx="914" cy="594360"/>
          </a:xfrm>
          <a:prstGeom prst="line">
            <a:avLst/>
          </a:prstGeom>
          <a:noFill/>
          <a:ln w="22225">
            <a:solidFill>
              <a:schemeClr val="accent3"/>
            </a:solidFill>
            <a:prstDash val="solid"/>
            <a:tailEnd type="triangle"/>
          </a:ln>
        </p:spPr>
      </p:sp>
      <p:sp>
        <p:nvSpPr>
          <p:cNvPr id="13" name="box"/>
          <p:cNvSpPr/>
          <p:nvPr/>
        </p:nvSpPr>
        <p:spPr>
          <a:xfrm>
            <a:off x="2240280" y="3520440"/>
            <a:ext cx="1554480" cy="822960"/>
          </a:xfrm>
          <a:prstGeom prst="roundRect">
            <a:avLst>
              <a:gd name="adj" fmla="val 8889"/>
            </a:avLst>
          </a:prstGeom>
          <a:solidFill>
            <a:schemeClr val="accent1"/>
          </a:solidFill>
          <a:ln w="12700">
            <a:solidFill>
              <a:schemeClr val="accent1"/>
            </a:solidFill>
            <a:prstDash val="solid"/>
          </a:ln>
        </p:spPr>
      </p:sp>
      <p:sp>
        <p:nvSpPr>
          <p:cNvPr id="14" name="Text 11"/>
          <p:cNvSpPr txBox="1"/>
          <p:nvPr/>
        </p:nvSpPr>
        <p:spPr>
          <a:xfrm>
            <a:off x="2240280" y="3520440"/>
            <a:ext cx="1554480" cy="82296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Troll</a:t>
            </a:r>
            <a:endParaRPr lang="ko-KR" altLang="en-US" sz="1500" dirty="0"/>
          </a:p>
        </p:txBody>
      </p:sp>
      <p:sp>
        <p:nvSpPr>
          <p:cNvPr id="15" name="Shape 12"/>
          <p:cNvSpPr/>
          <p:nvPr/>
        </p:nvSpPr>
        <p:spPr>
          <a:xfrm flipH="1" flipV="1">
            <a:off x="3017520" y="2926080"/>
            <a:ext cx="1645920" cy="594360"/>
          </a:xfrm>
          <a:prstGeom prst="line">
            <a:avLst/>
          </a:prstGeom>
          <a:noFill/>
          <a:ln w="22225">
            <a:solidFill>
              <a:schemeClr val="accent3"/>
            </a:solidFill>
            <a:prstDash val="solid"/>
            <a:tailEnd type="triangle"/>
          </a:ln>
        </p:spPr>
      </p:sp>
      <p:sp>
        <p:nvSpPr>
          <p:cNvPr id="16" name="box"/>
          <p:cNvSpPr/>
          <p:nvPr/>
        </p:nvSpPr>
        <p:spPr>
          <a:xfrm>
            <a:off x="3886200" y="3520440"/>
            <a:ext cx="1554480" cy="822960"/>
          </a:xfrm>
          <a:prstGeom prst="roundRect">
            <a:avLst>
              <a:gd name="adj" fmla="val 8889"/>
            </a:avLst>
          </a:prstGeom>
          <a:solidFill>
            <a:schemeClr val="bg1"/>
          </a:solidFill>
          <a:ln w="19050">
            <a:solidFill>
              <a:schemeClr val="accent6"/>
            </a:solidFill>
            <a:prstDash val="dash"/>
          </a:ln>
        </p:spPr>
      </p:sp>
      <p:sp>
        <p:nvSpPr>
          <p:cNvPr id="17" name="Text 14"/>
          <p:cNvSpPr txBox="1"/>
          <p:nvPr/>
        </p:nvSpPr>
        <p:spPr>
          <a:xfrm>
            <a:off x="3886200" y="3520440"/>
            <a:ext cx="1554480" cy="822960"/>
          </a:xfrm>
          <a:prstGeom prst="rect">
            <a:avLst/>
          </a:prstGeom>
          <a:noFill/>
          <a:ln/>
        </p:spPr>
        <p:txBody>
          <a:bodyPr wrap="square" lIns="635" tIns="635" rIns="635" bIns="635" rtlCol="0" anchor="ctr"/>
          <a:lstStyle/>
          <a:p>
            <a:pPr algn="ctr" indent="0" marL="0" eaLnBrk="0">
              <a:buNone/>
            </a:pPr>
            <a:r>
              <a:rPr lang="ko-KR" altLang="en-US" sz="1200" b="1" dirty="0">
                <a:solidFill>
                  <a:schemeClr val="accent3"/>
                </a:solidFill>
              </a:rPr>
              <a:t>새 종족마다</a:t>
            </a:r>
            <a:endParaRPr lang="ko-KR" altLang="en-US" sz="1200" dirty="0"/>
          </a:p>
          <a:p>
            <a:pPr algn="ctr" indent="0" marL="0" eaLnBrk="0">
              <a:buNone/>
            </a:pPr>
            <a:r>
              <a:rPr lang="ko-KR" altLang="en-US" sz="1200" b="1" dirty="0">
                <a:solidFill>
                  <a:schemeClr val="accent3"/>
                </a:solidFill>
              </a:rPr>
              <a:t>클래스 추가</a:t>
            </a:r>
            <a:endParaRPr lang="ko-KR" altLang="en-US" sz="1200" dirty="0"/>
          </a:p>
        </p:txBody>
      </p:sp>
      <p:sp>
        <p:nvSpPr>
          <p:cNvPr id="18" name="Shape 15"/>
          <p:cNvSpPr/>
          <p:nvPr/>
        </p:nvSpPr>
        <p:spPr>
          <a:xfrm>
            <a:off x="5989320" y="1691640"/>
            <a:ext cx="0" cy="3931920"/>
          </a:xfrm>
          <a:prstGeom prst="line">
            <a:avLst/>
          </a:prstGeom>
          <a:noFill/>
          <a:ln w="12700">
            <a:solidFill>
              <a:srgbClr val="D5D9E0"/>
            </a:solidFill>
            <a:prstDash val="solid"/>
          </a:ln>
        </p:spPr>
      </p:sp>
      <p:sp>
        <p:nvSpPr>
          <p:cNvPr id="19" name="Text 16"/>
          <p:cNvSpPr txBox="1"/>
          <p:nvPr/>
        </p:nvSpPr>
        <p:spPr>
          <a:xfrm>
            <a:off x="6492240" y="1645920"/>
            <a:ext cx="5150815" cy="411480"/>
          </a:xfrm>
          <a:prstGeom prst="rect">
            <a:avLst/>
          </a:prstGeom>
          <a:noFill/>
          <a:ln/>
        </p:spPr>
        <p:txBody>
          <a:bodyPr wrap="square" lIns="0" tIns="0" rIns="0" bIns="0" rtlCol="0" anchor="t"/>
          <a:lstStyle/>
          <a:p>
            <a:pPr indent="0" marL="0" eaLnBrk="0">
              <a:buNone/>
            </a:pPr>
            <a:r>
              <a:rPr lang="ko-KR" altLang="en-US" sz="1700" b="1" dirty="0">
                <a:solidFill>
                  <a:schemeClr val="accent2"/>
                </a:solidFill>
              </a:rPr>
              <a:t>타입 객체: 몬스터가 종족을 가진다</a:t>
            </a:r>
            <a:endParaRPr lang="ko-KR" altLang="en-US" sz="1700" dirty="0"/>
          </a:p>
        </p:txBody>
      </p:sp>
      <p:sp>
        <p:nvSpPr>
          <p:cNvPr id="20" name="box"/>
          <p:cNvSpPr/>
          <p:nvPr/>
        </p:nvSpPr>
        <p:spPr>
          <a:xfrm>
            <a:off x="6492240" y="2240280"/>
            <a:ext cx="2011680" cy="640080"/>
          </a:xfrm>
          <a:prstGeom prst="roundRect">
            <a:avLst>
              <a:gd name="adj" fmla="val 11429"/>
            </a:avLst>
          </a:prstGeom>
          <a:solidFill>
            <a:schemeClr val="tx2"/>
          </a:solidFill>
          <a:ln w="12700">
            <a:solidFill>
              <a:schemeClr val="tx2"/>
            </a:solidFill>
            <a:prstDash val="solid"/>
          </a:ln>
        </p:spPr>
      </p:sp>
      <p:sp>
        <p:nvSpPr>
          <p:cNvPr id="21" name="Text 18"/>
          <p:cNvSpPr txBox="1"/>
          <p:nvPr/>
        </p:nvSpPr>
        <p:spPr>
          <a:xfrm>
            <a:off x="6492240" y="2240280"/>
            <a:ext cx="2011680" cy="64008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Monster</a:t>
            </a:r>
            <a:endParaRPr lang="ko-KR" altLang="en-US" sz="1600" dirty="0"/>
          </a:p>
        </p:txBody>
      </p:sp>
      <p:sp>
        <p:nvSpPr>
          <p:cNvPr id="22" name="Shape 19"/>
          <p:cNvSpPr/>
          <p:nvPr/>
        </p:nvSpPr>
        <p:spPr>
          <a:xfrm>
            <a:off x="8549640" y="2560320"/>
            <a:ext cx="1005840" cy="914"/>
          </a:xfrm>
          <a:prstGeom prst="line">
            <a:avLst/>
          </a:prstGeom>
          <a:noFill/>
          <a:ln w="25400">
            <a:solidFill>
              <a:schemeClr val="accent1"/>
            </a:solidFill>
            <a:prstDash val="solid"/>
            <a:tailEnd type="triangle"/>
          </a:ln>
        </p:spPr>
      </p:sp>
      <p:sp>
        <p:nvSpPr>
          <p:cNvPr id="23" name="Text 20"/>
          <p:cNvSpPr txBox="1"/>
          <p:nvPr/>
        </p:nvSpPr>
        <p:spPr>
          <a:xfrm>
            <a:off x="8595360" y="2176272"/>
            <a:ext cx="914400" cy="320040"/>
          </a:xfrm>
          <a:prstGeom prst="rect">
            <a:avLst/>
          </a:prstGeom>
          <a:noFill/>
          <a:ln/>
        </p:spPr>
        <p:txBody>
          <a:bodyPr wrap="square" lIns="0" tIns="0" rIns="0" bIns="0" rtlCol="0" anchor="t"/>
          <a:lstStyle/>
          <a:p>
            <a:pPr algn="ctr" indent="0" marL="0" eaLnBrk="0">
              <a:buNone/>
            </a:pPr>
            <a:r>
              <a:rPr lang="ko-KR" altLang="en-US" sz="1200" b="1" dirty="0">
                <a:solidFill>
                  <a:schemeClr val="accent1"/>
                </a:solidFill>
              </a:rPr>
              <a:t>breed</a:t>
            </a:r>
            <a:endParaRPr lang="ko-KR" altLang="en-US" sz="1200" dirty="0"/>
          </a:p>
        </p:txBody>
      </p:sp>
      <p:sp>
        <p:nvSpPr>
          <p:cNvPr id="24" name="box"/>
          <p:cNvSpPr/>
          <p:nvPr/>
        </p:nvSpPr>
        <p:spPr>
          <a:xfrm>
            <a:off x="9601200" y="2240280"/>
            <a:ext cx="2011680" cy="640080"/>
          </a:xfrm>
          <a:prstGeom prst="roundRect">
            <a:avLst>
              <a:gd name="adj" fmla="val 11429"/>
            </a:avLst>
          </a:prstGeom>
          <a:solidFill>
            <a:schemeClr val="accent2"/>
          </a:solidFill>
          <a:ln w="12700">
            <a:solidFill>
              <a:schemeClr val="accent2"/>
            </a:solidFill>
            <a:prstDash val="solid"/>
          </a:ln>
        </p:spPr>
      </p:sp>
      <p:sp>
        <p:nvSpPr>
          <p:cNvPr id="25" name="Text 22"/>
          <p:cNvSpPr txBox="1"/>
          <p:nvPr/>
        </p:nvSpPr>
        <p:spPr>
          <a:xfrm>
            <a:off x="9601200" y="2240280"/>
            <a:ext cx="2011680" cy="640080"/>
          </a:xfrm>
          <a:prstGeom prst="rect">
            <a:avLst/>
          </a:prstGeom>
          <a:noFill/>
          <a:ln/>
        </p:spPr>
        <p:txBody>
          <a:bodyPr wrap="square" lIns="635" tIns="635" rIns="635" bIns="635" rtlCol="0" anchor="ctr"/>
          <a:lstStyle/>
          <a:p>
            <a:pPr algn="ctr" indent="0" marL="0" eaLnBrk="0">
              <a:buNone/>
            </a:pPr>
            <a:r>
              <a:rPr lang="ko-KR" altLang="en-US" sz="1600" b="1" dirty="0">
                <a:solidFill>
                  <a:schemeClr val="bg1"/>
                </a:solidFill>
              </a:rPr>
              <a:t>Breed</a:t>
            </a:r>
            <a:endParaRPr lang="ko-KR" altLang="en-US" sz="1600" dirty="0"/>
          </a:p>
        </p:txBody>
      </p:sp>
      <p:sp>
        <p:nvSpPr>
          <p:cNvPr id="26" name="Shape 23"/>
          <p:cNvSpPr/>
          <p:nvPr/>
        </p:nvSpPr>
        <p:spPr>
          <a:xfrm flipV="1">
            <a:off x="7726680" y="2926080"/>
            <a:ext cx="2880360" cy="594360"/>
          </a:xfrm>
          <a:prstGeom prst="line">
            <a:avLst/>
          </a:prstGeom>
          <a:noFill/>
          <a:ln w="22225">
            <a:solidFill>
              <a:schemeClr val="accent3"/>
            </a:solidFill>
            <a:prstDash val="dash"/>
            <a:tailEnd type="triangle"/>
          </a:ln>
        </p:spPr>
      </p:sp>
      <p:sp>
        <p:nvSpPr>
          <p:cNvPr id="27" name="box"/>
          <p:cNvSpPr/>
          <p:nvPr/>
        </p:nvSpPr>
        <p:spPr>
          <a:xfrm>
            <a:off x="6583680" y="3520440"/>
            <a:ext cx="2286000" cy="822960"/>
          </a:xfrm>
          <a:prstGeom prst="roundRect">
            <a:avLst>
              <a:gd name="adj" fmla="val 8889"/>
            </a:avLst>
          </a:prstGeom>
          <a:solidFill>
            <a:schemeClr val="bg2"/>
          </a:solidFill>
          <a:ln w="12700">
            <a:solidFill>
              <a:schemeClr val="bg2"/>
            </a:solidFill>
            <a:prstDash val="solid"/>
          </a:ln>
        </p:spPr>
      </p:sp>
      <p:sp>
        <p:nvSpPr>
          <p:cNvPr id="28" name="Text 25"/>
          <p:cNvSpPr txBox="1"/>
          <p:nvPr/>
        </p:nvSpPr>
        <p:spPr>
          <a:xfrm>
            <a:off x="6583680" y="3520440"/>
            <a:ext cx="2286000" cy="82296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용 종족</a:t>
            </a:r>
            <a:endParaRPr lang="ko-KR" altLang="en-US" sz="1400" dirty="0"/>
          </a:p>
          <a:p>
            <a:pPr algn="ctr" indent="0" marL="0" eaLnBrk="0">
              <a:buNone/>
            </a:pPr>
            <a:r>
              <a:rPr lang="ko-KR" altLang="en-US" sz="1400" b="1" dirty="0">
                <a:solidFill>
                  <a:schemeClr val="tx1"/>
                </a:solidFill>
              </a:rPr>
              <a:t>시작 체력 230</a:t>
            </a:r>
            <a:endParaRPr lang="ko-KR" altLang="en-US" sz="1400" dirty="0"/>
          </a:p>
        </p:txBody>
      </p:sp>
      <p:sp>
        <p:nvSpPr>
          <p:cNvPr id="29" name="Shape 26"/>
          <p:cNvSpPr/>
          <p:nvPr/>
        </p:nvSpPr>
        <p:spPr>
          <a:xfrm flipV="1">
            <a:off x="10287000" y="2926080"/>
            <a:ext cx="320040" cy="594360"/>
          </a:xfrm>
          <a:prstGeom prst="line">
            <a:avLst/>
          </a:prstGeom>
          <a:noFill/>
          <a:ln w="22225">
            <a:solidFill>
              <a:schemeClr val="accent3"/>
            </a:solidFill>
            <a:prstDash val="dash"/>
            <a:tailEnd type="triangle"/>
          </a:ln>
        </p:spPr>
      </p:sp>
      <p:sp>
        <p:nvSpPr>
          <p:cNvPr id="30" name="box"/>
          <p:cNvSpPr/>
          <p:nvPr/>
        </p:nvSpPr>
        <p:spPr>
          <a:xfrm>
            <a:off x="9144000" y="3520440"/>
            <a:ext cx="2286000" cy="822960"/>
          </a:xfrm>
          <a:prstGeom prst="roundRect">
            <a:avLst>
              <a:gd name="adj" fmla="val 8889"/>
            </a:avLst>
          </a:prstGeom>
          <a:solidFill>
            <a:schemeClr val="bg2"/>
          </a:solidFill>
          <a:ln w="12700">
            <a:solidFill>
              <a:schemeClr val="bg2"/>
            </a:solidFill>
            <a:prstDash val="solid"/>
          </a:ln>
        </p:spPr>
      </p:sp>
      <p:sp>
        <p:nvSpPr>
          <p:cNvPr id="31" name="Text 28"/>
          <p:cNvSpPr txBox="1"/>
          <p:nvPr/>
        </p:nvSpPr>
        <p:spPr>
          <a:xfrm>
            <a:off x="9144000" y="3520440"/>
            <a:ext cx="2286000" cy="82296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트롤 종족</a:t>
            </a:r>
            <a:endParaRPr lang="ko-KR" altLang="en-US" sz="1400" dirty="0"/>
          </a:p>
          <a:p>
            <a:pPr algn="ctr" indent="0" marL="0" eaLnBrk="0">
              <a:buNone/>
            </a:pPr>
            <a:r>
              <a:rPr lang="ko-KR" altLang="en-US" sz="1400" b="1" dirty="0">
                <a:solidFill>
                  <a:schemeClr val="tx1"/>
                </a:solidFill>
              </a:rPr>
              <a:t>시작 체력 48</a:t>
            </a:r>
            <a:endParaRPr lang="ko-KR" altLang="en-US" sz="1400" dirty="0"/>
          </a:p>
        </p:txBody>
      </p:sp>
      <p:sp>
        <p:nvSpPr>
          <p:cNvPr id="32" name="Text 29"/>
          <p:cNvSpPr txBox="1"/>
          <p:nvPr/>
        </p:nvSpPr>
        <p:spPr>
          <a:xfrm>
            <a:off x="6492240" y="4526280"/>
            <a:ext cx="5150815"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Breed의 인스턴스. 종족을 더하려면 객체를 하나 더 만든다.</a:t>
            </a:r>
            <a:endParaRPr lang="ko-KR" altLang="en-US" sz="1400" dirty="0"/>
          </a:p>
        </p:txBody>
      </p:sp>
      <p:sp>
        <p:nvSpPr>
          <p:cNvPr id="33" name="Text 30"/>
          <p:cNvSpPr txBox="1"/>
          <p:nvPr/>
        </p:nvSpPr>
        <p:spPr>
          <a:xfrm>
            <a:off x="548640" y="5257800"/>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클래스 상속 대신 참조 하나로 종족을 표현한다.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두 역할</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타입 객체와 그것을 참조하는 객체가 데이터를 나눠 가진다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구조를 코드로는 어떻게 쓸까?</a:t>
            </a:r>
            <a:endParaRPr lang="ko-KR" alt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657600"/>
                <a:gridCol w="1554480"/>
                <a:gridCol w="5882335"/>
              </a:tblGrid>
              <a:tr h="457200">
                <a:tc>
                  <a:txBody>
                    <a:bodyPr/>
                    <a:lstStyle/>
                    <a:p>
                      <a:pPr indent="0" marL="0" eaLnBrk="0">
                        <a:buNone/>
                      </a:pPr>
                      <a:r>
                        <a:rPr lang="ko-KR" altLang="en-US" sz="1500" b="1" dirty="0">
                          <a:solidFill>
                            <a:schemeClr val="bg1"/>
                          </a:solidFill>
                        </a:rPr>
                        <a:t>역할</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원서 예제</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담는 데이터</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777240">
                <a:tc>
                  <a:txBody>
                    <a:bodyPr/>
                    <a:lstStyle/>
                    <a:p>
                      <a:pPr indent="0" marL="0" eaLnBrk="0">
                        <a:buNone/>
                      </a:pPr>
                      <a:r>
                        <a:rPr lang="ko-KR" altLang="en-US" sz="1500" b="1" dirty="0">
                          <a:solidFill>
                            <a:schemeClr val="tx1"/>
                          </a:solidFill>
                        </a:rPr>
                        <a:t>타입 객체 (type object)</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Breed</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시작 체력, 공격 문장. 같은 종족의 모든 몬스터가 함께 쓴다.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500" b="1" dirty="0">
                          <a:solidFill>
                            <a:schemeClr val="tx1"/>
                          </a:solidFill>
                        </a:rPr>
                        <a:t>타입이 지정된 객체 (typed object)</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Monster</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현재 체력. 그리고 자기 종족을 가리키는 참조.</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card"/>
          <p:cNvSpPr/>
          <p:nvPr/>
        </p:nvSpPr>
        <p:spPr>
          <a:xfrm>
            <a:off x="548640" y="4069080"/>
            <a:ext cx="5440680" cy="1600200"/>
          </a:xfrm>
          <a:prstGeom prst="roundRect">
            <a:avLst>
              <a:gd name="adj" fmla="val 5714"/>
            </a:avLst>
          </a:prstGeom>
          <a:solidFill>
            <a:schemeClr val="tx2"/>
          </a:solidFill>
          <a:ln w="12700">
            <a:solidFill>
              <a:schemeClr val="tx2"/>
            </a:solidFill>
            <a:prstDash val="solid"/>
          </a:ln>
        </p:spPr>
      </p:sp>
      <p:sp>
        <p:nvSpPr>
          <p:cNvPr id="8" name="Text 4"/>
          <p:cNvSpPr txBox="1"/>
          <p:nvPr/>
        </p:nvSpPr>
        <p:spPr>
          <a:xfrm>
            <a:off x="777240" y="4288536"/>
            <a:ext cx="5029200"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상속처럼 공유한다</a:t>
            </a:r>
            <a:endParaRPr lang="ko-KR" altLang="en-US" sz="1700" dirty="0"/>
          </a:p>
        </p:txBody>
      </p:sp>
      <p:sp>
        <p:nvSpPr>
          <p:cNvPr id="9" name="Text 5"/>
          <p:cNvSpPr txBox="1"/>
          <p:nvPr/>
        </p:nvSpPr>
        <p:spPr>
          <a:xfrm>
            <a:off x="777240" y="4846320"/>
            <a:ext cx="4983480" cy="685800"/>
          </a:xfrm>
          <a:prstGeom prst="rect">
            <a:avLst/>
          </a:prstGeom>
          <a:noFill/>
          <a:ln/>
        </p:spPr>
        <p:txBody>
          <a:bodyPr wrap="square" lIns="0" tIns="0" rIns="0" bIns="0" rtlCol="0" anchor="t"/>
          <a:lstStyle/>
          <a:p>
            <a:pPr indent="0" marL="0" eaLnBrk="0">
              <a:buNone/>
            </a:pPr>
            <a:r>
              <a:rPr lang="ko-KR" altLang="en-US" sz="1400" dirty="0">
                <a:solidFill>
                  <a:schemeClr val="bg1"/>
                </a:solidFill>
              </a:rPr>
              <a:t>같은 Breed를 참조하는 몬스터는 같은 값을 쓴다. 하위 클래스가 부모의 코드를 함께 쓰는 것과 같은 효과다.</a:t>
            </a:r>
            <a:endParaRPr lang="ko-KR" altLang="en-US" sz="1400" dirty="0"/>
          </a:p>
        </p:txBody>
      </p:sp>
      <p:sp>
        <p:nvSpPr>
          <p:cNvPr id="10" name="card"/>
          <p:cNvSpPr/>
          <p:nvPr/>
        </p:nvSpPr>
        <p:spPr>
          <a:xfrm>
            <a:off x="6217920" y="4069080"/>
            <a:ext cx="5425135" cy="1600200"/>
          </a:xfrm>
          <a:prstGeom prst="roundRect">
            <a:avLst>
              <a:gd name="adj" fmla="val 5714"/>
            </a:avLst>
          </a:prstGeom>
          <a:solidFill>
            <a:schemeClr val="tx2"/>
          </a:solidFill>
          <a:ln w="12700">
            <a:solidFill>
              <a:schemeClr val="tx2"/>
            </a:solidFill>
            <a:prstDash val="solid"/>
          </a:ln>
        </p:spPr>
      </p:sp>
      <p:sp>
        <p:nvSpPr>
          <p:cNvPr id="11" name="Text 7"/>
          <p:cNvSpPr txBox="1"/>
          <p:nvPr/>
        </p:nvSpPr>
        <p:spPr>
          <a:xfrm>
            <a:off x="6446520" y="4288536"/>
            <a:ext cx="501365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목록이 코드에 묶이지 않는다</a:t>
            </a:r>
            <a:endParaRPr lang="ko-KR" altLang="en-US" sz="1700" dirty="0"/>
          </a:p>
        </p:txBody>
      </p:sp>
      <p:sp>
        <p:nvSpPr>
          <p:cNvPr id="12" name="Text 8"/>
          <p:cNvSpPr txBox="1"/>
          <p:nvPr/>
        </p:nvSpPr>
        <p:spPr>
          <a:xfrm>
            <a:off x="6446520" y="4846320"/>
            <a:ext cx="4967935" cy="685800"/>
          </a:xfrm>
          <a:prstGeom prst="rect">
            <a:avLst/>
          </a:prstGeom>
          <a:noFill/>
          <a:ln/>
        </p:spPr>
        <p:txBody>
          <a:bodyPr wrap="square" lIns="0" tIns="0" rIns="0" bIns="0" rtlCol="0" anchor="t"/>
          <a:lstStyle/>
          <a:p>
            <a:pPr indent="0" marL="0" eaLnBrk="0">
              <a:buNone/>
            </a:pPr>
            <a:r>
              <a:rPr lang="ko-KR" altLang="en-US" sz="1400" dirty="0">
                <a:solidFill>
                  <a:schemeClr val="bg1"/>
                </a:solidFill>
              </a:rPr>
              <a:t>종족이 객체이므로 실행 중에 만들 수 있다. 설정 파일을 읽어 만들 수도 있다.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코드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Breed는 종족의 값을 담고, Monster는 종족에게 묻는다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종족 둘과 몬스터 셋을 만들면 값이 어떻게 놓일까?</a:t>
            </a:r>
            <a:endParaRPr lang="ko-KR" altLang="en-US" sz="1500" dirty="0"/>
          </a:p>
        </p:txBody>
      </p:sp>
      <p:sp>
        <p:nvSpPr>
          <p:cNvPr id="6" name="codePanel"/>
          <p:cNvSpPr/>
          <p:nvPr/>
        </p:nvSpPr>
        <p:spPr>
          <a:xfrm>
            <a:off x="548640" y="1645920"/>
            <a:ext cx="5440680" cy="3291840"/>
          </a:xfrm>
          <a:prstGeom prst="roundRect">
            <a:avLst>
              <a:gd name="adj" fmla="val 2222"/>
            </a:avLst>
          </a:prstGeom>
          <a:solidFill>
            <a:schemeClr val="tx1"/>
          </a:solidFill>
          <a:ln w="12700">
            <a:solidFill>
              <a:schemeClr val="tx1"/>
            </a:solidFill>
            <a:prstDash val="solid"/>
          </a:ln>
        </p:spPr>
      </p:sp>
      <p:sp>
        <p:nvSpPr>
          <p:cNvPr id="7" name="code"/>
          <p:cNvSpPr txBox="1"/>
          <p:nvPr/>
        </p:nvSpPr>
        <p:spPr>
          <a:xfrm>
            <a:off x="658368" y="1737360"/>
            <a:ext cx="5221224" cy="3108960"/>
          </a:xfrm>
          <a:prstGeom prst="rect">
            <a:avLst/>
          </a:prstGeom>
          <a:noFill/>
          <a:ln/>
        </p:spPr>
        <p:txBody>
          <a:bodyPr wrap="square" lIns="635" tIns="635" rIns="635" bIns="635" rtlCol="0" anchor="t"/>
          <a:lstStyle/>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class Breed</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readonly int _health;      // 시작 체력</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readonly string _attack;</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Breed(int health, string attack)</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_health = health;</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_attack = attack;</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int GetHealth() =&gt; _health;</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string GetAttack() =&gt; _attack;</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8" name="codeCaption"/>
          <p:cNvSpPr txBox="1"/>
          <p:nvPr/>
        </p:nvSpPr>
        <p:spPr>
          <a:xfrm>
            <a:off x="288036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6217920" y="1645920"/>
            <a:ext cx="5425135" cy="3291840"/>
          </a:xfrm>
          <a:prstGeom prst="roundRect">
            <a:avLst>
              <a:gd name="adj" fmla="val 2222"/>
            </a:avLst>
          </a:prstGeom>
          <a:solidFill>
            <a:schemeClr val="tx1"/>
          </a:solidFill>
          <a:ln w="12700">
            <a:solidFill>
              <a:schemeClr val="tx1"/>
            </a:solidFill>
            <a:prstDash val="solid"/>
          </a:ln>
        </p:spPr>
      </p:sp>
      <p:sp>
        <p:nvSpPr>
          <p:cNvPr id="10" name="code"/>
          <p:cNvSpPr txBox="1"/>
          <p:nvPr/>
        </p:nvSpPr>
        <p:spPr>
          <a:xfrm>
            <a:off x="6327648" y="1737360"/>
            <a:ext cx="5205679" cy="3108960"/>
          </a:xfrm>
          <a:prstGeom prst="rect">
            <a:avLst/>
          </a:prstGeom>
          <a:noFill/>
          <a:ln/>
        </p:spPr>
        <p:txBody>
          <a:bodyPr wrap="square" lIns="635" tIns="635" rIns="635" bIns="635" rtlCol="0" anchor="t"/>
          <a:lstStyle/>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class Monster</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readonly Breed _breed;</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int _health;   // 현재 체력</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public Monster(Breed breed)</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_breed = breed;</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_health = breed.GetHealth();</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public string GetAttack() =&gt; _breed.GetAttack();</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11" name="Text 8"/>
          <p:cNvSpPr txBox="1"/>
          <p:nvPr/>
        </p:nvSpPr>
        <p:spPr>
          <a:xfrm>
            <a:off x="548640" y="5166360"/>
            <a:ext cx="11094415" cy="457200"/>
          </a:xfrm>
          <a:prstGeom prst="rect">
            <a:avLst/>
          </a:prstGeom>
          <a:noFill/>
          <a:ln/>
        </p:spPr>
        <p:txBody>
          <a:bodyPr wrap="square" lIns="0" tIns="0" rIns="0" bIns="0" rtlCol="0" anchor="t"/>
          <a:lstStyle/>
          <a:p>
            <a:pPr indent="0" marL="0" eaLnBrk="0">
              <a:buNone/>
            </a:pPr>
            <a:r>
              <a:rPr lang="ko-KR" altLang="en-US" sz="1500" b="1" dirty="0">
                <a:solidFill>
                  <a:schemeClr val="tx1"/>
                </a:solidFill>
              </a:rPr>
              <a:t>Monster: </a:t>
            </a:r>
            <a:pPr indent="0" marL="0" eaLnBrk="0">
              <a:buNone/>
            </a:pPr>
            <a:r>
              <a:rPr lang="ko-KR" altLang="en-US" sz="1500" dirty="0">
                <a:solidFill>
                  <a:schemeClr val="tx2"/>
                </a:solidFill>
              </a:rPr>
              <a:t>시작 체력은 생성할 때 한 번 복사하고, 공격 문장은 부를 때마다 종족에게 묻는다.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종족 둘, 몬스터 셋을 만들어 값을 따라간다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지금은 몬스터를 만들 때 종족을 넘긴다. 종족이 직접 몬스터를 만들면 어떨까?</a:t>
            </a:r>
            <a:endParaRPr lang="ko-KR" altLang="en-US" sz="1500" dirty="0"/>
          </a:p>
        </p:txBody>
      </p:sp>
      <p:sp>
        <p:nvSpPr>
          <p:cNvPr id="6" name="codePanel"/>
          <p:cNvSpPr/>
          <p:nvPr/>
        </p:nvSpPr>
        <p:spPr>
          <a:xfrm>
            <a:off x="548640" y="1645920"/>
            <a:ext cx="6400800" cy="1691640"/>
          </a:xfrm>
          <a:prstGeom prst="roundRect">
            <a:avLst>
              <a:gd name="adj" fmla="val 4324"/>
            </a:avLst>
          </a:prstGeom>
          <a:solidFill>
            <a:schemeClr val="tx1"/>
          </a:solidFill>
          <a:ln w="12700">
            <a:solidFill>
              <a:schemeClr val="tx1"/>
            </a:solidFill>
            <a:prstDash val="solid"/>
          </a:ln>
        </p:spPr>
      </p:sp>
      <p:sp>
        <p:nvSpPr>
          <p:cNvPr id="7" name="code"/>
          <p:cNvSpPr txBox="1"/>
          <p:nvPr/>
        </p:nvSpPr>
        <p:spPr>
          <a:xfrm>
            <a:off x="658368" y="1737360"/>
            <a:ext cx="6181344" cy="150876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var troll = new Breed(48, "트롤이 몽둥이로 내리친다!");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var dragon = new Breed(230, "용이 불을 뿜는다!");</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var m1 = new Monster(troll);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var m2 = new Monster(troll);</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var m3 = new Monster(dragon);</a:t>
            </a:r>
            <a:endParaRPr lang="ko-KR" altLang="en-US" sz="1300" dirty="0"/>
          </a:p>
        </p:txBody>
      </p:sp>
      <p:sp>
        <p:nvSpPr>
          <p:cNvPr id="8" name="card"/>
          <p:cNvSpPr/>
          <p:nvPr/>
        </p:nvSpPr>
        <p:spPr>
          <a:xfrm>
            <a:off x="7315200" y="1645920"/>
            <a:ext cx="4327855" cy="1691640"/>
          </a:xfrm>
          <a:prstGeom prst="roundRect">
            <a:avLst>
              <a:gd name="adj" fmla="val 5405"/>
            </a:avLst>
          </a:prstGeom>
          <a:solidFill>
            <a:schemeClr val="bg2"/>
          </a:solidFill>
          <a:ln w="12700">
            <a:solidFill>
              <a:schemeClr val="bg2"/>
            </a:solidFill>
            <a:prstDash val="solid"/>
          </a:ln>
        </p:spPr>
      </p:sp>
      <p:sp>
        <p:nvSpPr>
          <p:cNvPr id="9" name="Text 6"/>
          <p:cNvSpPr txBox="1"/>
          <p:nvPr/>
        </p:nvSpPr>
        <p:spPr>
          <a:xfrm>
            <a:off x="7543800" y="1865376"/>
            <a:ext cx="39163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객체 수</a:t>
            </a:r>
            <a:endParaRPr lang="ko-KR" altLang="en-US" sz="1700" dirty="0"/>
          </a:p>
        </p:txBody>
      </p:sp>
      <p:sp>
        <p:nvSpPr>
          <p:cNvPr id="10" name="Text 7"/>
          <p:cNvSpPr txBox="1"/>
          <p:nvPr/>
        </p:nvSpPr>
        <p:spPr>
          <a:xfrm>
            <a:off x="7543800" y="2377440"/>
            <a:ext cx="3870655" cy="822960"/>
          </a:xfrm>
          <a:prstGeom prst="rect">
            <a:avLst/>
          </a:prstGeom>
          <a:noFill/>
          <a:ln/>
        </p:spPr>
        <p:txBody>
          <a:bodyPr wrap="square" lIns="0" tIns="0" rIns="0" bIns="0" rtlCol="0" anchor="t"/>
          <a:lstStyle/>
          <a:p>
            <a:pPr indent="0" marL="0" eaLnBrk="0">
              <a:buNone/>
            </a:pPr>
            <a:r>
              <a:rPr lang="ko-KR" altLang="en-US" sz="1400" dirty="0">
                <a:solidFill>
                  <a:schemeClr val="tx2"/>
                </a:solidFill>
              </a:rPr>
              <a:t>종족 객체 2개, 몬스터 3개. 하위 클래스는 없다.</a:t>
            </a:r>
            <a:endParaRPr lang="ko-KR" alt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11094415" cy="914400"/>
        </p:xfrm>
        <a:graphic>
          <a:graphicData uri="http://schemas.openxmlformats.org/drawingml/2006/table">
            <a:tbl>
              <a:tblPr/>
              <a:tblGrid>
                <a:gridCol w="1463040"/>
                <a:gridCol w="2377440"/>
                <a:gridCol w="1463040"/>
                <a:gridCol w="5790895"/>
              </a:tblGrid>
              <a:tr h="411480">
                <a:tc>
                  <a:txBody>
                    <a:bodyPr/>
                    <a:lstStyle/>
                    <a:p>
                      <a:pPr indent="0" marL="0" eaLnBrk="0">
                        <a:buNone/>
                      </a:pPr>
                      <a:r>
                        <a:rPr lang="ko-KR" altLang="en-US" sz="1400" b="1" dirty="0">
                          <a:solidFill>
                            <a:schemeClr val="bg1"/>
                          </a:solidFill>
                        </a:rPr>
                        <a:t>몬스터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참조하는 종족</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_health</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GetAttack()</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411480">
                <a:tc>
                  <a:txBody>
                    <a:bodyPr/>
                    <a:lstStyle/>
                    <a:p>
                      <a:pPr indent="0" marL="0" eaLnBrk="0">
                        <a:buNone/>
                      </a:pPr>
                      <a:r>
                        <a:rPr lang="ko-KR" altLang="en-US" sz="1400" b="1" dirty="0">
                          <a:solidFill>
                            <a:schemeClr val="tx1"/>
                          </a:solidFill>
                        </a:rPr>
                        <a:t>m1</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troll</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48</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트롤이 몽둥이로 내리친다!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11480">
                <a:tc>
                  <a:txBody>
                    <a:bodyPr/>
                    <a:lstStyle/>
                    <a:p>
                      <a:pPr indent="0" marL="0" eaLnBrk="0">
                        <a:buNone/>
                      </a:pPr>
                      <a:r>
                        <a:rPr lang="ko-KR" altLang="en-US" sz="1400" b="1" dirty="0">
                          <a:solidFill>
                            <a:schemeClr val="tx1"/>
                          </a:solidFill>
                        </a:rPr>
                        <a:t>m2</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troll</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48</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트롤이 몽둥이로 내리친다!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11480">
                <a:tc>
                  <a:txBody>
                    <a:bodyPr/>
                    <a:lstStyle/>
                    <a:p>
                      <a:pPr indent="0" marL="0" eaLnBrk="0">
                        <a:buNone/>
                      </a:pPr>
                      <a:r>
                        <a:rPr lang="ko-KR" altLang="en-US" sz="1400" b="1" dirty="0">
                          <a:solidFill>
                            <a:schemeClr val="tx1"/>
                          </a:solidFill>
                        </a:rPr>
                        <a:t>m3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dragon</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230</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용이 불을 뿜는다!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12" name="Text 8"/>
          <p:cNvSpPr txBox="1"/>
          <p:nvPr/>
        </p:nvSpPr>
        <p:spPr>
          <a:xfrm>
            <a:off x="548640" y="5349240"/>
            <a:ext cx="11094415" cy="411480"/>
          </a:xfrm>
          <a:prstGeom prst="rect">
            <a:avLst/>
          </a:prstGeom>
          <a:noFill/>
          <a:ln/>
        </p:spPr>
        <p:txBody>
          <a:bodyPr wrap="square" lIns="0" tIns="0" rIns="0" bIns="0" rtlCol="0" anchor="t"/>
          <a:lstStyle/>
          <a:p>
            <a:pPr indent="0" marL="0" eaLnBrk="0">
              <a:buNone/>
            </a:pPr>
            <a:r>
              <a:rPr lang="ko-KR" altLang="en-US" sz="1500" dirty="0">
                <a:solidFill>
                  <a:schemeClr val="tx2"/>
                </a:solidFill>
              </a:rPr>
              <a:t>m1과 m2는 같은 종족 객체를 가리킨다. 현재 체력만 몬스터마다 따로 줄어든다.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3부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종족을 타입답게</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타입 객체를 타입답게 만들기, 상속으로 데이터 공유하기</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생성자 역할</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종족이 자기 몬스터를 만드는 NewMonster()</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트롤 종류가 여럿이면 같은 값을 종족마다 다시 적어야 할까?</a:t>
            </a:r>
            <a:endParaRPr lang="ko-KR" altLang="en-US" sz="1500" dirty="0"/>
          </a:p>
        </p:txBody>
      </p:sp>
      <p:sp>
        <p:nvSpPr>
          <p:cNvPr id="6" name="codePanel"/>
          <p:cNvSpPr/>
          <p:nvPr/>
        </p:nvSpPr>
        <p:spPr>
          <a:xfrm>
            <a:off x="548640" y="1600200"/>
            <a:ext cx="676656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547104" cy="393192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class Breed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public Monster NewMonster()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return new Monster(this);</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앞의 Breed 코드는 그대로다</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class Monster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readonly Breed _breed;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int _health;</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C#에는 friend가 없어 internal로 범위를 좁힌다</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internal Monster(Breed breed)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_breed = breed;</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_health = breed.GetHealth();</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string GetAttack() =&gt; _breed.GetAttack();</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8" name="codeCaption"/>
          <p:cNvSpPr txBox="1"/>
          <p:nvPr/>
        </p:nvSpPr>
        <p:spPr>
          <a:xfrm>
            <a:off x="420624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7680960" y="1600200"/>
            <a:ext cx="3962095" cy="548640"/>
          </a:xfrm>
          <a:prstGeom prst="roundRect">
            <a:avLst>
              <a:gd name="adj" fmla="val 13333"/>
            </a:avLst>
          </a:prstGeom>
          <a:solidFill>
            <a:schemeClr val="tx1"/>
          </a:solidFill>
          <a:ln w="12700">
            <a:solidFill>
              <a:schemeClr val="tx1"/>
            </a:solidFill>
            <a:prstDash val="solid"/>
          </a:ln>
        </p:spPr>
      </p:sp>
      <p:sp>
        <p:nvSpPr>
          <p:cNvPr id="10" name="code"/>
          <p:cNvSpPr txBox="1"/>
          <p:nvPr/>
        </p:nvSpPr>
        <p:spPr>
          <a:xfrm>
            <a:off x="7790688" y="1691640"/>
            <a:ext cx="3742639" cy="365760"/>
          </a:xfrm>
          <a:prstGeom prst="rect">
            <a:avLst/>
          </a:prstGeom>
          <a:noFill/>
          <a:ln/>
        </p:spPr>
        <p:txBody>
          <a:bodyPr wrap="square" lIns="635" tIns="635" rIns="635" bIns="635" rtlCol="0" anchor="t"/>
          <a:lstStyle/>
          <a:p>
            <a:pPr indent="0" marL="0" eaLnBrk="0">
              <a:buNone/>
            </a:pPr>
            <a:r>
              <a:rPr lang="ko-KR" altLang="en-US" sz="1250" dirty="0">
                <a:solidFill>
                  <a:schemeClr val="bg1"/>
                </a:solidFill>
                <a:latin typeface="Consolas" pitchFamily="34" charset="0"/>
                <a:ea typeface="Consolas" pitchFamily="34" charset="-122"/>
                <a:cs typeface="Consolas" pitchFamily="34" charset="-120"/>
              </a:rPr>
              <a:t>Monster monster = troll.NewMonster();</a:t>
            </a:r>
            <a:endParaRPr lang="ko-KR" altLang="en-US" sz="1250" dirty="0"/>
          </a:p>
        </p:txBody>
      </p:sp>
      <p:sp>
        <p:nvSpPr>
          <p:cNvPr id="11" name="card"/>
          <p:cNvSpPr/>
          <p:nvPr/>
        </p:nvSpPr>
        <p:spPr>
          <a:xfrm>
            <a:off x="7680960" y="2331720"/>
            <a:ext cx="3962095" cy="1600200"/>
          </a:xfrm>
          <a:prstGeom prst="roundRect">
            <a:avLst>
              <a:gd name="adj" fmla="val 5714"/>
            </a:avLst>
          </a:prstGeom>
          <a:solidFill>
            <a:schemeClr val="bg2"/>
          </a:solidFill>
          <a:ln w="12700">
            <a:solidFill>
              <a:schemeClr val="bg2"/>
            </a:solidFill>
            <a:prstDash val="solid"/>
          </a:ln>
        </p:spPr>
      </p:sp>
      <p:sp>
        <p:nvSpPr>
          <p:cNvPr id="12" name="Text 9"/>
          <p:cNvSpPr txBox="1"/>
          <p:nvPr/>
        </p:nvSpPr>
        <p:spPr>
          <a:xfrm>
            <a:off x="7909560" y="255117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만드는 일 = 할당 + 초기화</a:t>
            </a:r>
            <a:endParaRPr lang="ko-KR" altLang="en-US" sz="1700" dirty="0"/>
          </a:p>
        </p:txBody>
      </p:sp>
      <p:sp>
        <p:nvSpPr>
          <p:cNvPr id="13" name="Text 10"/>
          <p:cNvSpPr txBox="1"/>
          <p:nvPr/>
        </p:nvSpPr>
        <p:spPr>
          <a:xfrm>
            <a:off x="7909560" y="3063240"/>
            <a:ext cx="350489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객체를 만들려면 메모리를 얻고, 그 메모리를 초기화해야 한다.</a:t>
            </a:r>
            <a:endParaRPr lang="ko-KR" altLang="en-US" sz="1400" dirty="0"/>
          </a:p>
        </p:txBody>
      </p:sp>
      <p:sp>
        <p:nvSpPr>
          <p:cNvPr id="14" name="card"/>
          <p:cNvSpPr/>
          <p:nvPr/>
        </p:nvSpPr>
        <p:spPr>
          <a:xfrm>
            <a:off x="7680960" y="4114800"/>
            <a:ext cx="3962095" cy="1600200"/>
          </a:xfrm>
          <a:prstGeom prst="roundRect">
            <a:avLst>
              <a:gd name="adj" fmla="val 5714"/>
            </a:avLst>
          </a:prstGeom>
          <a:solidFill>
            <a:schemeClr val="bg2"/>
          </a:solidFill>
          <a:ln w="12700">
            <a:solidFill>
              <a:schemeClr val="bg2"/>
            </a:solidFill>
            <a:prstDash val="solid"/>
          </a:ln>
        </p:spPr>
      </p:sp>
      <p:sp>
        <p:nvSpPr>
          <p:cNvPr id="15" name="Text 12"/>
          <p:cNvSpPr txBox="1"/>
          <p:nvPr/>
        </p:nvSpPr>
        <p:spPr>
          <a:xfrm>
            <a:off x="7909560" y="433425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종족이 맡으면</a:t>
            </a:r>
            <a:endParaRPr lang="ko-KR" altLang="en-US" sz="1700" dirty="0"/>
          </a:p>
        </p:txBody>
      </p:sp>
      <p:sp>
        <p:nvSpPr>
          <p:cNvPr id="16" name="Text 13"/>
          <p:cNvSpPr txBox="1"/>
          <p:nvPr/>
        </p:nvSpPr>
        <p:spPr>
          <a:xfrm>
            <a:off x="7909560" y="4846320"/>
            <a:ext cx="3504895"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메모리를 어디서 얻을지 종족이 정한다. 예: 객체 풀에서 꺼낸다.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부모 종족</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공통 값은 부모 종족에게서 물려받는다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물려받은 값은 언제 찾아올까? 먼저 읽을 때마다 부모에게 묻는 방법이다.</a:t>
            </a:r>
            <a:endParaRPr lang="ko-KR" altLang="en-US" sz="1500" dirty="0"/>
          </a:p>
        </p:txBody>
      </p:sp>
      <p:sp>
        <p:nvSpPr>
          <p:cNvPr id="6" name="box"/>
          <p:cNvSpPr/>
          <p:nvPr/>
        </p:nvSpPr>
        <p:spPr>
          <a:xfrm>
            <a:off x="1920240" y="1737360"/>
            <a:ext cx="2926080" cy="1005840"/>
          </a:xfrm>
          <a:prstGeom prst="roundRect">
            <a:avLst>
              <a:gd name="adj" fmla="val 7273"/>
            </a:avLst>
          </a:prstGeom>
          <a:solidFill>
            <a:schemeClr val="accent1"/>
          </a:solidFill>
          <a:ln w="12700">
            <a:solidFill>
              <a:schemeClr val="accent1"/>
            </a:solidFill>
            <a:prstDash val="solid"/>
          </a:ln>
        </p:spPr>
      </p:sp>
      <p:sp>
        <p:nvSpPr>
          <p:cNvPr id="7" name="Text 4"/>
          <p:cNvSpPr txBox="1"/>
          <p:nvPr/>
        </p:nvSpPr>
        <p:spPr>
          <a:xfrm>
            <a:off x="1920240" y="1737360"/>
            <a:ext cx="2926080" cy="10058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트롤</a:t>
            </a:r>
            <a:endParaRPr lang="ko-KR" altLang="en-US" sz="1300" dirty="0"/>
          </a:p>
          <a:p>
            <a:pPr algn="ctr" indent="0" marL="0" eaLnBrk="0">
              <a:buNone/>
            </a:pPr>
            <a:r>
              <a:rPr lang="ko-KR" altLang="en-US" sz="1300" b="1" dirty="0">
                <a:solidFill>
                  <a:schemeClr val="bg1"/>
                </a:solidFill>
              </a:rPr>
              <a:t>체력 25 · “트롤이 때린다!”</a:t>
            </a:r>
            <a:endParaRPr lang="ko-KR" altLang="en-US" sz="1300" dirty="0"/>
          </a:p>
        </p:txBody>
      </p:sp>
      <p:sp>
        <p:nvSpPr>
          <p:cNvPr id="8" name="Shape 5"/>
          <p:cNvSpPr/>
          <p:nvPr/>
        </p:nvSpPr>
        <p:spPr>
          <a:xfrm flipH="1">
            <a:off x="1965960" y="2788920"/>
            <a:ext cx="1417320" cy="594360"/>
          </a:xfrm>
          <a:prstGeom prst="line">
            <a:avLst/>
          </a:prstGeom>
          <a:noFill/>
          <a:ln w="22225">
            <a:solidFill>
              <a:schemeClr val="accent3"/>
            </a:solidFill>
            <a:prstDash val="solid"/>
            <a:tailEnd type="triangle"/>
          </a:ln>
        </p:spPr>
      </p:sp>
      <p:sp>
        <p:nvSpPr>
          <p:cNvPr id="9" name="Shape 6"/>
          <p:cNvSpPr/>
          <p:nvPr/>
        </p:nvSpPr>
        <p:spPr>
          <a:xfrm>
            <a:off x="594360" y="3383280"/>
            <a:ext cx="2743200" cy="1371600"/>
          </a:xfrm>
          <a:prstGeom prst="roundRect">
            <a:avLst>
              <a:gd name="adj" fmla="val 5333"/>
            </a:avLst>
          </a:prstGeom>
          <a:solidFill>
            <a:schemeClr val="bg2"/>
          </a:solidFill>
          <a:ln w="12700">
            <a:solidFill>
              <a:schemeClr val="bg2"/>
            </a:solidFill>
            <a:prstDash val="solid"/>
          </a:ln>
        </p:spPr>
      </p:sp>
      <p:sp>
        <p:nvSpPr>
          <p:cNvPr id="10" name="Text 7"/>
          <p:cNvSpPr txBox="1"/>
          <p:nvPr/>
        </p:nvSpPr>
        <p:spPr>
          <a:xfrm>
            <a:off x="731520" y="3474720"/>
            <a:ext cx="2468880" cy="365760"/>
          </a:xfrm>
          <a:prstGeom prst="rect">
            <a:avLst/>
          </a:prstGeom>
          <a:noFill/>
          <a:ln/>
        </p:spPr>
        <p:txBody>
          <a:bodyPr wrap="square" lIns="0" tIns="0" rIns="0" bIns="0" rtlCol="0" anchor="t"/>
          <a:lstStyle/>
          <a:p>
            <a:pPr algn="ctr" indent="0" marL="0" eaLnBrk="0">
              <a:buNone/>
            </a:pPr>
            <a:r>
              <a:rPr lang="ko-KR" altLang="en-US" sz="1500" b="1" dirty="0">
                <a:solidFill>
                  <a:schemeClr val="tx1"/>
                </a:solidFill>
              </a:rPr>
              <a:t>트롤 궁수</a:t>
            </a:r>
            <a:endParaRPr lang="ko-KR" altLang="en-US" sz="1500" dirty="0"/>
          </a:p>
        </p:txBody>
      </p:sp>
      <p:sp>
        <p:nvSpPr>
          <p:cNvPr id="11" name="Text 8"/>
          <p:cNvSpPr txBox="1"/>
          <p:nvPr/>
        </p:nvSpPr>
        <p:spPr>
          <a:xfrm>
            <a:off x="685800" y="3886200"/>
            <a:ext cx="2560320" cy="777240"/>
          </a:xfrm>
          <a:prstGeom prst="rect">
            <a:avLst/>
          </a:prstGeom>
          <a:noFill/>
          <a:ln/>
        </p:spPr>
        <p:txBody>
          <a:bodyPr wrap="square" lIns="0" tIns="0" rIns="0" bIns="0" rtlCol="0" anchor="t"/>
          <a:lstStyle/>
          <a:p>
            <a:pPr algn="ctr" indent="0" marL="0" eaLnBrk="0">
              <a:buNone/>
            </a:pPr>
            <a:r>
              <a:rPr lang="ko-KR" altLang="en-US" sz="1200" dirty="0">
                <a:solidFill>
                  <a:schemeClr val="tx2"/>
                </a:solidFill>
              </a:rPr>
              <a:t>체력 0 → 물려받는다</a:t>
            </a:r>
            <a:endParaRPr lang="ko-KR" altLang="en-US" sz="1200" dirty="0"/>
          </a:p>
          <a:p>
            <a:pPr algn="ctr" indent="0" marL="0" eaLnBrk="0">
              <a:buNone/>
            </a:pPr>
            <a:r>
              <a:rPr lang="ko-KR" altLang="en-US" sz="1200" dirty="0">
                <a:solidFill>
                  <a:schemeClr val="tx2"/>
                </a:solidFill>
              </a:rPr>
              <a:t>“트롤 궁수가 화살을 쏜다!”</a:t>
            </a:r>
            <a:endParaRPr lang="ko-KR" altLang="en-US" sz="1200" dirty="0"/>
          </a:p>
        </p:txBody>
      </p:sp>
      <p:sp>
        <p:nvSpPr>
          <p:cNvPr id="12" name="Shape 9"/>
          <p:cNvSpPr/>
          <p:nvPr/>
        </p:nvSpPr>
        <p:spPr>
          <a:xfrm>
            <a:off x="3383280" y="2788920"/>
            <a:ext cx="1417320" cy="594360"/>
          </a:xfrm>
          <a:prstGeom prst="line">
            <a:avLst/>
          </a:prstGeom>
          <a:noFill/>
          <a:ln w="22225">
            <a:solidFill>
              <a:schemeClr val="accent3"/>
            </a:solidFill>
            <a:prstDash val="solid"/>
            <a:tailEnd type="triangle"/>
          </a:ln>
        </p:spPr>
      </p:sp>
      <p:sp>
        <p:nvSpPr>
          <p:cNvPr id="13" name="Shape 10"/>
          <p:cNvSpPr/>
          <p:nvPr/>
        </p:nvSpPr>
        <p:spPr>
          <a:xfrm>
            <a:off x="3429000" y="3383280"/>
            <a:ext cx="2743200" cy="1371600"/>
          </a:xfrm>
          <a:prstGeom prst="roundRect">
            <a:avLst>
              <a:gd name="adj" fmla="val 5333"/>
            </a:avLst>
          </a:prstGeom>
          <a:solidFill>
            <a:schemeClr val="bg2"/>
          </a:solidFill>
          <a:ln w="12700">
            <a:solidFill>
              <a:schemeClr val="bg2"/>
            </a:solidFill>
            <a:prstDash val="solid"/>
          </a:ln>
        </p:spPr>
      </p:sp>
      <p:sp>
        <p:nvSpPr>
          <p:cNvPr id="14" name="Text 11"/>
          <p:cNvSpPr txBox="1"/>
          <p:nvPr/>
        </p:nvSpPr>
        <p:spPr>
          <a:xfrm>
            <a:off x="3566160" y="3474720"/>
            <a:ext cx="2468880" cy="365760"/>
          </a:xfrm>
          <a:prstGeom prst="rect">
            <a:avLst/>
          </a:prstGeom>
          <a:noFill/>
          <a:ln/>
        </p:spPr>
        <p:txBody>
          <a:bodyPr wrap="square" lIns="0" tIns="0" rIns="0" bIns="0" rtlCol="0" anchor="t"/>
          <a:lstStyle/>
          <a:p>
            <a:pPr algn="ctr" indent="0" marL="0" eaLnBrk="0">
              <a:buNone/>
            </a:pPr>
            <a:r>
              <a:rPr lang="ko-KR" altLang="en-US" sz="1500" b="1" dirty="0">
                <a:solidFill>
                  <a:schemeClr val="tx1"/>
                </a:solidFill>
              </a:rPr>
              <a:t>트롤 마법사</a:t>
            </a:r>
            <a:endParaRPr lang="ko-KR" altLang="en-US" sz="1500" dirty="0"/>
          </a:p>
        </p:txBody>
      </p:sp>
      <p:sp>
        <p:nvSpPr>
          <p:cNvPr id="15" name="Text 12"/>
          <p:cNvSpPr txBox="1"/>
          <p:nvPr/>
        </p:nvSpPr>
        <p:spPr>
          <a:xfrm>
            <a:off x="3520440" y="3886200"/>
            <a:ext cx="2560320" cy="777240"/>
          </a:xfrm>
          <a:prstGeom prst="rect">
            <a:avLst/>
          </a:prstGeom>
          <a:noFill/>
          <a:ln/>
        </p:spPr>
        <p:txBody>
          <a:bodyPr wrap="square" lIns="0" tIns="0" rIns="0" bIns="0" rtlCol="0" anchor="t"/>
          <a:lstStyle/>
          <a:p>
            <a:pPr algn="ctr" indent="0" marL="0" eaLnBrk="0">
              <a:buNone/>
            </a:pPr>
            <a:r>
              <a:rPr lang="ko-KR" altLang="en-US" sz="1200" dirty="0">
                <a:solidFill>
                  <a:schemeClr val="tx2"/>
                </a:solidFill>
              </a:rPr>
              <a:t>체력 0 → 물려받는다</a:t>
            </a:r>
            <a:endParaRPr lang="ko-KR" altLang="en-US" sz="1200" dirty="0"/>
          </a:p>
          <a:p>
            <a:pPr algn="ctr" indent="0" marL="0" eaLnBrk="0">
              <a:buNone/>
            </a:pPr>
            <a:r>
              <a:rPr lang="ko-KR" altLang="en-US" sz="1200" dirty="0">
                <a:solidFill>
                  <a:schemeClr val="tx2"/>
                </a:solidFill>
              </a:rPr>
              <a:t>“트롤 마법사가 주문을 건다!”</a:t>
            </a:r>
            <a:endParaRPr lang="ko-KR" altLang="en-US" sz="1200" dirty="0"/>
          </a:p>
        </p:txBody>
      </p:sp>
      <p:sp>
        <p:nvSpPr>
          <p:cNvPr id="16" name="Text 13"/>
          <p:cNvSpPr txBox="1"/>
          <p:nvPr/>
        </p:nvSpPr>
        <p:spPr>
          <a:xfrm>
            <a:off x="548640" y="4983480"/>
            <a:ext cx="5669280" cy="411480"/>
          </a:xfrm>
          <a:prstGeom prst="rect">
            <a:avLst/>
          </a:prstGeom>
          <a:noFill/>
          <a:ln/>
        </p:spPr>
        <p:txBody>
          <a:bodyPr wrap="square" lIns="0" tIns="0" rIns="0" bIns="0" rtlCol="0" anchor="t"/>
          <a:lstStyle/>
          <a:p>
            <a:pPr indent="0" marL="0" eaLnBrk="0">
              <a:buNone/>
            </a:pPr>
            <a:r>
              <a:rPr lang="ko-KR" altLang="en-US" sz="1400" b="1" dirty="0">
                <a:solidFill>
                  <a:schemeClr val="accent1"/>
                </a:solidFill>
              </a:rPr>
              <a:t>트롤의 체력을 고치면 궁수와 마법사도 함께 바뀐다.</a:t>
            </a:r>
            <a:endParaRPr lang="ko-KR" altLang="en-US" sz="1400" dirty="0"/>
          </a:p>
        </p:txBody>
      </p:sp>
      <p:sp>
        <p:nvSpPr>
          <p:cNvPr id="17" name="card"/>
          <p:cNvSpPr/>
          <p:nvPr/>
        </p:nvSpPr>
        <p:spPr>
          <a:xfrm>
            <a:off x="6583680" y="1737360"/>
            <a:ext cx="5059375" cy="1051560"/>
          </a:xfrm>
          <a:prstGeom prst="roundRect">
            <a:avLst>
              <a:gd name="adj" fmla="val 8696"/>
            </a:avLst>
          </a:prstGeom>
          <a:solidFill>
            <a:schemeClr val="bg2"/>
          </a:solidFill>
          <a:ln w="12700">
            <a:solidFill>
              <a:schemeClr val="bg2"/>
            </a:solidFill>
            <a:prstDash val="solid"/>
          </a:ln>
        </p:spPr>
      </p:sp>
      <p:sp>
        <p:nvSpPr>
          <p:cNvPr id="18" name="Shape 15"/>
          <p:cNvSpPr/>
          <p:nvPr/>
        </p:nvSpPr>
        <p:spPr>
          <a:xfrm>
            <a:off x="6812280" y="1938528"/>
            <a:ext cx="420624" cy="420624"/>
          </a:xfrm>
          <a:prstGeom prst="ellipse">
            <a:avLst/>
          </a:prstGeom>
          <a:solidFill>
            <a:schemeClr val="accent1"/>
          </a:solidFill>
          <a:ln w="12700">
            <a:solidFill>
              <a:schemeClr val="accent1"/>
            </a:solidFill>
            <a:prstDash val="solid"/>
          </a:ln>
        </p:spPr>
      </p:sp>
      <p:sp>
        <p:nvSpPr>
          <p:cNvPr id="19" name="Text 16"/>
          <p:cNvSpPr txBox="1"/>
          <p:nvPr/>
        </p:nvSpPr>
        <p:spPr>
          <a:xfrm>
            <a:off x="6812280" y="193852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0" name="Text 17"/>
          <p:cNvSpPr txBox="1"/>
          <p:nvPr/>
        </p:nvSpPr>
        <p:spPr>
          <a:xfrm>
            <a:off x="7406640" y="1874520"/>
            <a:ext cx="4053535" cy="777240"/>
          </a:xfrm>
          <a:prstGeom prst="rect">
            <a:avLst/>
          </a:prstGeom>
          <a:noFill/>
          <a:ln/>
        </p:spPr>
        <p:txBody>
          <a:bodyPr wrap="square" lIns="0" tIns="0" rIns="0" bIns="0" rtlCol="0" anchor="ctr"/>
          <a:lstStyle/>
          <a:p>
            <a:pPr indent="0" marL="0" eaLnBrk="0">
              <a:buNone/>
            </a:pPr>
            <a:r>
              <a:rPr lang="ko-KR" altLang="en-US" sz="1500" dirty="0">
                <a:solidFill>
                  <a:schemeClr val="tx2"/>
                </a:solidFill>
              </a:rPr>
              <a:t>체력이 0이 아니면 자기 체력을 쓴다.</a:t>
            </a:r>
            <a:endParaRPr lang="ko-KR" altLang="en-US" sz="1500" dirty="0"/>
          </a:p>
        </p:txBody>
      </p:sp>
      <p:sp>
        <p:nvSpPr>
          <p:cNvPr id="21" name="card"/>
          <p:cNvSpPr/>
          <p:nvPr/>
        </p:nvSpPr>
        <p:spPr>
          <a:xfrm>
            <a:off x="6583680" y="2971800"/>
            <a:ext cx="5059375" cy="1051560"/>
          </a:xfrm>
          <a:prstGeom prst="roundRect">
            <a:avLst>
              <a:gd name="adj" fmla="val 8696"/>
            </a:avLst>
          </a:prstGeom>
          <a:solidFill>
            <a:schemeClr val="bg2"/>
          </a:solidFill>
          <a:ln w="12700">
            <a:solidFill>
              <a:schemeClr val="bg2"/>
            </a:solidFill>
            <a:prstDash val="solid"/>
          </a:ln>
        </p:spPr>
      </p:sp>
      <p:sp>
        <p:nvSpPr>
          <p:cNvPr id="22" name="Shape 19"/>
          <p:cNvSpPr/>
          <p:nvPr/>
        </p:nvSpPr>
        <p:spPr>
          <a:xfrm>
            <a:off x="6812280" y="3172968"/>
            <a:ext cx="420624" cy="420624"/>
          </a:xfrm>
          <a:prstGeom prst="ellipse">
            <a:avLst/>
          </a:prstGeom>
          <a:solidFill>
            <a:schemeClr val="accent1"/>
          </a:solidFill>
          <a:ln w="12700">
            <a:solidFill>
              <a:schemeClr val="accent1"/>
            </a:solidFill>
            <a:prstDash val="solid"/>
          </a:ln>
        </p:spPr>
      </p:sp>
      <p:sp>
        <p:nvSpPr>
          <p:cNvPr id="23" name="Text 20"/>
          <p:cNvSpPr txBox="1"/>
          <p:nvPr/>
        </p:nvSpPr>
        <p:spPr>
          <a:xfrm>
            <a:off x="6812280" y="3172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4" name="Text 21"/>
          <p:cNvSpPr txBox="1"/>
          <p:nvPr/>
        </p:nvSpPr>
        <p:spPr>
          <a:xfrm>
            <a:off x="7406640" y="3108960"/>
            <a:ext cx="4053535" cy="777240"/>
          </a:xfrm>
          <a:prstGeom prst="rect">
            <a:avLst/>
          </a:prstGeom>
          <a:noFill/>
          <a:ln/>
        </p:spPr>
        <p:txBody>
          <a:bodyPr wrap="square" lIns="0" tIns="0" rIns="0" bIns="0" rtlCol="0" anchor="ctr"/>
          <a:lstStyle/>
          <a:p>
            <a:pPr indent="0" marL="0" eaLnBrk="0">
              <a:buNone/>
            </a:pPr>
            <a:r>
              <a:rPr lang="ko-KR" altLang="en-US" sz="1500" dirty="0">
                <a:solidFill>
                  <a:schemeClr val="tx2"/>
                </a:solidFill>
              </a:rPr>
              <a:t>공격 문장이 null이 아니면 자기 문장을 쓴다.</a:t>
            </a:r>
            <a:endParaRPr lang="ko-KR" altLang="en-US" sz="1500" dirty="0"/>
          </a:p>
        </p:txBody>
      </p:sp>
      <p:sp>
        <p:nvSpPr>
          <p:cNvPr id="25" name="card"/>
          <p:cNvSpPr/>
          <p:nvPr/>
        </p:nvSpPr>
        <p:spPr>
          <a:xfrm>
            <a:off x="6583680" y="4206240"/>
            <a:ext cx="5059375" cy="1051560"/>
          </a:xfrm>
          <a:prstGeom prst="roundRect">
            <a:avLst>
              <a:gd name="adj" fmla="val 8696"/>
            </a:avLst>
          </a:prstGeom>
          <a:solidFill>
            <a:schemeClr val="bg2"/>
          </a:solidFill>
          <a:ln w="12700">
            <a:solidFill>
              <a:schemeClr val="bg2"/>
            </a:solidFill>
            <a:prstDash val="solid"/>
          </a:ln>
        </p:spPr>
      </p:sp>
      <p:sp>
        <p:nvSpPr>
          <p:cNvPr id="26" name="Shape 23"/>
          <p:cNvSpPr/>
          <p:nvPr/>
        </p:nvSpPr>
        <p:spPr>
          <a:xfrm>
            <a:off x="6812280" y="4407408"/>
            <a:ext cx="420624" cy="420624"/>
          </a:xfrm>
          <a:prstGeom prst="ellipse">
            <a:avLst/>
          </a:prstGeom>
          <a:solidFill>
            <a:schemeClr val="accent1"/>
          </a:solidFill>
          <a:ln w="12700">
            <a:solidFill>
              <a:schemeClr val="accent1"/>
            </a:solidFill>
            <a:prstDash val="solid"/>
          </a:ln>
        </p:spPr>
      </p:sp>
      <p:sp>
        <p:nvSpPr>
          <p:cNvPr id="27" name="Text 24"/>
          <p:cNvSpPr txBox="1"/>
          <p:nvPr/>
        </p:nvSpPr>
        <p:spPr>
          <a:xfrm>
            <a:off x="6812280" y="44074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8" name="Text 25"/>
          <p:cNvSpPr txBox="1"/>
          <p:nvPr/>
        </p:nvSpPr>
        <p:spPr>
          <a:xfrm>
            <a:off x="7406640" y="4343400"/>
            <a:ext cx="4053535" cy="777240"/>
          </a:xfrm>
          <a:prstGeom prst="rect">
            <a:avLst/>
          </a:prstGeom>
          <a:noFill/>
          <a:ln/>
        </p:spPr>
        <p:txBody>
          <a:bodyPr wrap="square" lIns="0" tIns="0" rIns="0" bIns="0" rtlCol="0" anchor="ctr"/>
          <a:lstStyle/>
          <a:p>
            <a:pPr indent="0" marL="0" eaLnBrk="0">
              <a:buNone/>
            </a:pPr>
            <a:r>
              <a:rPr lang="ko-KR" altLang="en-US" sz="1500" dirty="0">
                <a:solidFill>
                  <a:schemeClr val="tx2"/>
                </a:solidFill>
              </a:rPr>
              <a:t>그렇지 않으면 부모 종족의 값을 쓴다.</a:t>
            </a:r>
            <a:endParaRPr lang="ko-KR" altLang="en-US" sz="1500" dirty="0"/>
          </a:p>
        </p:txBody>
      </p:sp>
      <p:sp>
        <p:nvSpPr>
          <p:cNvPr id="29" name="Text 26"/>
          <p:cNvSpPr txBox="1"/>
          <p:nvPr/>
        </p:nvSpPr>
        <p:spPr>
          <a:xfrm>
            <a:off x="6583680" y="5349240"/>
            <a:ext cx="5059375" cy="411480"/>
          </a:xfrm>
          <a:prstGeom prst="rect">
            <a:avLst/>
          </a:prstGeom>
          <a:noFill/>
          <a:ln/>
        </p:spPr>
        <p:txBody>
          <a:bodyPr wrap="square" lIns="0" tIns="0" rIns="0" bIns="0" rtlCol="0" anchor="t"/>
          <a:lstStyle/>
          <a:p>
            <a:pPr indent="0" marL="0" eaLnBrk="0">
              <a:buNone/>
            </a:pPr>
            <a:r>
              <a:rPr lang="ko-KR" altLang="en-US" sz="1400" dirty="0">
                <a:solidFill>
                  <a:schemeClr val="accent5"/>
                </a:solidFill>
              </a:rPr>
              <a:t>부모는 하나뿐이다. (단일 상속)</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동적 위임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값을 읽을 때마다 덮어썼는지 보고, 아니면 부모에게 묻는다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값을 읽을 때마다 부모를 따라가지 않을 방법은 없을까?</a:t>
            </a:r>
            <a:endParaRPr lang="ko-KR" altLang="en-US" sz="1500" dirty="0"/>
          </a:p>
        </p:txBody>
      </p:sp>
      <p:sp>
        <p:nvSpPr>
          <p:cNvPr id="6" name="codePanel"/>
          <p:cNvSpPr/>
          <p:nvPr/>
        </p:nvSpPr>
        <p:spPr>
          <a:xfrm>
            <a:off x="548640" y="1600200"/>
            <a:ext cx="749808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7278624" cy="3931920"/>
          </a:xfrm>
          <a:prstGeom prst="rect">
            <a:avLst/>
          </a:prstGeom>
          <a:noFill/>
          <a:ln/>
        </p:spPr>
        <p:txBody>
          <a:bodyPr wrap="square" lIns="635" tIns="635" rIns="635" bIns="635" rtlCol="0" anchor="t"/>
          <a:lstStyle/>
          <a:p>
            <a:pPr indent="0" marL="0" eaLnBrk="0">
              <a:buNone/>
            </a:pPr>
            <a:r>
              <a:rPr lang="ko-KR" altLang="en-US" sz="1150" dirty="0">
                <a:solidFill>
                  <a:schemeClr val="bg1"/>
                </a:solidFill>
                <a:latin typeface="Consolas" pitchFamily="34" charset="0"/>
                <a:ea typeface="Consolas" pitchFamily="34" charset="-122"/>
                <a:cs typeface="Consolas" pitchFamily="34" charset="-120"/>
              </a:rPr>
              <a:t>public class Breed</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readonly Breed _parent;    // 부모가 없으면 null</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readonly int _health;      // 시작 체력, 0이면 물려받는다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readonly string _attack;   // null이면 물려받는다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생성자 Breed(parent, health, attack)는 세 값을 그대로 저장한다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int GetHealth()</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덮어쓴 값이 있거나 부모가 없으면 자기 값</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if (_health != 0 || _parent == null) return _health;</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아니면 부모에게 묻는다</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return _parent.GetHealth();</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string GetAttack()</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if (_attack != null || _parent == null) return _attack;</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return _parent.GetAttack();</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p:txBody>
      </p:sp>
      <p:sp>
        <p:nvSpPr>
          <p:cNvPr id="8" name="codeCaption"/>
          <p:cNvSpPr txBox="1"/>
          <p:nvPr/>
        </p:nvSpPr>
        <p:spPr>
          <a:xfrm>
            <a:off x="493776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8412480" y="1600200"/>
            <a:ext cx="3230575" cy="1965960"/>
          </a:xfrm>
          <a:prstGeom prst="roundRect">
            <a:avLst>
              <a:gd name="adj" fmla="val 4651"/>
            </a:avLst>
          </a:prstGeom>
          <a:solidFill>
            <a:schemeClr val="bg2"/>
          </a:solidFill>
          <a:ln w="12700">
            <a:solidFill>
              <a:schemeClr val="bg2"/>
            </a:solidFill>
            <a:prstDash val="solid"/>
          </a:ln>
        </p:spPr>
      </p:sp>
      <p:sp>
        <p:nvSpPr>
          <p:cNvPr id="10" name="Text 7"/>
          <p:cNvSpPr txBox="1"/>
          <p:nvPr/>
        </p:nvSpPr>
        <p:spPr>
          <a:xfrm>
            <a:off x="8641080" y="1819656"/>
            <a:ext cx="28190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언제 찾나</a:t>
            </a:r>
            <a:endParaRPr lang="ko-KR" altLang="en-US" sz="1700" dirty="0"/>
          </a:p>
        </p:txBody>
      </p:sp>
      <p:sp>
        <p:nvSpPr>
          <p:cNvPr id="11" name="Text 8"/>
          <p:cNvSpPr txBox="1"/>
          <p:nvPr/>
        </p:nvSpPr>
        <p:spPr>
          <a:xfrm>
            <a:off x="8641080" y="2331720"/>
            <a:ext cx="2773375"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GetHealth()를 부를 때마다 찾는다.</a:t>
            </a:r>
            <a:endParaRPr lang="ko-KR" altLang="en-US" sz="1400" dirty="0"/>
          </a:p>
        </p:txBody>
      </p:sp>
      <p:sp>
        <p:nvSpPr>
          <p:cNvPr id="12" name="card"/>
          <p:cNvSpPr/>
          <p:nvPr/>
        </p:nvSpPr>
        <p:spPr>
          <a:xfrm>
            <a:off x="8412480" y="3749040"/>
            <a:ext cx="3230575" cy="1965960"/>
          </a:xfrm>
          <a:prstGeom prst="roundRect">
            <a:avLst>
              <a:gd name="adj" fmla="val 4651"/>
            </a:avLst>
          </a:prstGeom>
          <a:solidFill>
            <a:schemeClr val="bg2"/>
          </a:solidFill>
          <a:ln w="12700">
            <a:solidFill>
              <a:schemeClr val="bg2"/>
            </a:solidFill>
            <a:prstDash val="solid"/>
          </a:ln>
        </p:spPr>
      </p:sp>
      <p:sp>
        <p:nvSpPr>
          <p:cNvPr id="13" name="Text 10"/>
          <p:cNvSpPr txBox="1"/>
          <p:nvPr/>
        </p:nvSpPr>
        <p:spPr>
          <a:xfrm>
            <a:off x="8641080" y="3968496"/>
            <a:ext cx="28190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트롤 궁수라면</a:t>
            </a:r>
            <a:endParaRPr lang="ko-KR" altLang="en-US" sz="1700" dirty="0"/>
          </a:p>
        </p:txBody>
      </p:sp>
      <p:sp>
        <p:nvSpPr>
          <p:cNvPr id="14" name="Text 11"/>
          <p:cNvSpPr txBox="1"/>
          <p:nvPr/>
        </p:nvSpPr>
        <p:spPr>
          <a:xfrm>
            <a:off x="8641080" y="4480560"/>
            <a:ext cx="2773375"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체력 0 → 트롤에게 묻는다 → 25.</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생성 시 복사</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종족을 만들 때 물려받을 값을 한 번 복사해 둔다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두 방식은 무엇이 다를까?</a:t>
            </a:r>
            <a:endParaRPr lang="ko-KR" altLang="en-US" sz="1500" dirty="0"/>
          </a:p>
        </p:txBody>
      </p:sp>
      <p:sp>
        <p:nvSpPr>
          <p:cNvPr id="6" name="codePanel"/>
          <p:cNvSpPr/>
          <p:nvPr/>
        </p:nvSpPr>
        <p:spPr>
          <a:xfrm>
            <a:off x="548640" y="1600200"/>
            <a:ext cx="749808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7278624" cy="3931920"/>
          </a:xfrm>
          <a:prstGeom prst="rect">
            <a:avLst/>
          </a:prstGeom>
          <a:noFill/>
          <a:ln/>
        </p:spPr>
        <p:txBody>
          <a:bodyPr wrap="square" lIns="635" tIns="635" rIns="635" bIns="635" rtlCol="0" anchor="t"/>
          <a:lstStyle/>
          <a:p>
            <a:pPr indent="0" marL="0" eaLnBrk="0">
              <a:buNone/>
            </a:pPr>
            <a:r>
              <a:rPr lang="ko-KR" altLang="en-US" sz="1150" dirty="0">
                <a:solidFill>
                  <a:schemeClr val="bg1"/>
                </a:solidFill>
                <a:latin typeface="Consolas" pitchFamily="34" charset="0"/>
                <a:ea typeface="Consolas" pitchFamily="34" charset="-122"/>
                <a:cs typeface="Consolas" pitchFamily="34" charset="-120"/>
              </a:rPr>
              <a:t>public class Breed</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readonly int _health;      // 시작 체력</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readonly string _attack;</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public Breed(Breed parent, int health, string attack)</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_health = health;</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_attack = attack;</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덮어쓰지 않은 값은 부모에게서 복사한다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if (parent != null)</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if (health == 0) _health = parent.GetHealth();</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if (attack == null) _attack = parent.GetAttack();</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public int GetHealth() =&gt; _health;</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public string GetAttack() =&gt; _attack;</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p:txBody>
      </p:sp>
      <p:sp>
        <p:nvSpPr>
          <p:cNvPr id="8" name="codeCaption"/>
          <p:cNvSpPr txBox="1"/>
          <p:nvPr/>
        </p:nvSpPr>
        <p:spPr>
          <a:xfrm>
            <a:off x="493776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8412480" y="1600200"/>
            <a:ext cx="3230575" cy="1965960"/>
          </a:xfrm>
          <a:prstGeom prst="roundRect">
            <a:avLst>
              <a:gd name="adj" fmla="val 4651"/>
            </a:avLst>
          </a:prstGeom>
          <a:solidFill>
            <a:schemeClr val="bg2"/>
          </a:solidFill>
          <a:ln w="12700">
            <a:solidFill>
              <a:schemeClr val="bg2"/>
            </a:solidFill>
            <a:prstDash val="solid"/>
          </a:ln>
        </p:spPr>
      </p:sp>
      <p:sp>
        <p:nvSpPr>
          <p:cNvPr id="10" name="Text 7"/>
          <p:cNvSpPr txBox="1"/>
          <p:nvPr/>
        </p:nvSpPr>
        <p:spPr>
          <a:xfrm>
            <a:off x="8641080" y="1819656"/>
            <a:ext cx="28190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언제 찾나</a:t>
            </a:r>
            <a:endParaRPr lang="ko-KR" altLang="en-US" sz="1700" dirty="0"/>
          </a:p>
        </p:txBody>
      </p:sp>
      <p:sp>
        <p:nvSpPr>
          <p:cNvPr id="11" name="Text 8"/>
          <p:cNvSpPr txBox="1"/>
          <p:nvPr/>
        </p:nvSpPr>
        <p:spPr>
          <a:xfrm>
            <a:off x="8641080" y="2331720"/>
            <a:ext cx="2773375"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종족을 만들 때 한 번만 찾는다.</a:t>
            </a:r>
            <a:endParaRPr lang="ko-KR" altLang="en-US" sz="1400" dirty="0"/>
          </a:p>
        </p:txBody>
      </p:sp>
      <p:sp>
        <p:nvSpPr>
          <p:cNvPr id="12" name="card"/>
          <p:cNvSpPr/>
          <p:nvPr/>
        </p:nvSpPr>
        <p:spPr>
          <a:xfrm>
            <a:off x="8412480" y="3749040"/>
            <a:ext cx="3230575" cy="1965960"/>
          </a:xfrm>
          <a:prstGeom prst="roundRect">
            <a:avLst>
              <a:gd name="adj" fmla="val 4651"/>
            </a:avLst>
          </a:prstGeom>
          <a:solidFill>
            <a:schemeClr val="bg2"/>
          </a:solidFill>
          <a:ln w="12700">
            <a:solidFill>
              <a:schemeClr val="bg2"/>
            </a:solidFill>
            <a:prstDash val="solid"/>
          </a:ln>
        </p:spPr>
      </p:sp>
      <p:sp>
        <p:nvSpPr>
          <p:cNvPr id="13" name="Text 10"/>
          <p:cNvSpPr txBox="1"/>
          <p:nvPr/>
        </p:nvSpPr>
        <p:spPr>
          <a:xfrm>
            <a:off x="8641080" y="3968496"/>
            <a:ext cx="281909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부모 참조</a:t>
            </a:r>
            <a:endParaRPr lang="ko-KR" altLang="en-US" sz="1700" dirty="0"/>
          </a:p>
        </p:txBody>
      </p:sp>
      <p:sp>
        <p:nvSpPr>
          <p:cNvPr id="14" name="Text 11"/>
          <p:cNvSpPr txBox="1"/>
          <p:nvPr/>
        </p:nvSpPr>
        <p:spPr>
          <a:xfrm>
            <a:off x="8641080" y="4480560"/>
            <a:ext cx="2773375"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생성자에서만 쓰고 버린다.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두 방식 비교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동적 위임은 유연하고, 생성 시 복사는 빠르다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종족을 코드 대신 파일로 정의하면 어떻게 될까?</a:t>
            </a:r>
            <a:endParaRPr lang="ko-KR" alt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840480"/>
                <a:gridCol w="3626968"/>
                <a:gridCol w="3626968"/>
              </a:tblGrid>
              <a:tr h="566928">
                <a:tc>
                  <a:txBody>
                    <a:bodyPr/>
                    <a:lstStyle/>
                    <a:p>
                      <a:pPr indent="0" marL="0" eaLnBrk="0">
                        <a:buNone/>
                      </a:pPr>
                      <a:r>
                        <a:rPr lang="ko-KR" altLang="en-US" sz="1500" b="1" dirty="0">
                          <a:solidFill>
                            <a:schemeClr val="bg1"/>
                          </a:solidFill>
                        </a:rPr>
                        <a:t>비교</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동적 위임</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생성 시 복사</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66928">
                <a:tc>
                  <a:txBody>
                    <a:bodyPr/>
                    <a:lstStyle/>
                    <a:p>
                      <a:pPr indent="0" marL="0" eaLnBrk="0">
                        <a:buNone/>
                      </a:pPr>
                      <a:r>
                        <a:rPr lang="ko-KR" altLang="en-US" sz="1500" b="1" dirty="0">
                          <a:solidFill>
                            <a:schemeClr val="tx1"/>
                          </a:solidFill>
                        </a:rPr>
                        <a:t>물려받을 값을 찾는 때</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값을 읽을 때마다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종족을 만들 때 한 번</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500" b="1" dirty="0">
                          <a:solidFill>
                            <a:schemeClr val="tx1"/>
                          </a:solidFill>
                        </a:rPr>
                        <a:t>부모 참조</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계속 보관한다 (메모리를 더 쓴다)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보관하지 않는다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500" b="1" dirty="0">
                          <a:solidFill>
                            <a:schemeClr val="tx1"/>
                          </a:solidFill>
                        </a:rPr>
                        <a:t>값 읽기 속도</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부모 사슬을 따라가므로 느릴 수 있다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필드를 바로 돌려주므로 빠르다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66928">
                <a:tc>
                  <a:txBody>
                    <a:bodyPr/>
                    <a:lstStyle/>
                    <a:p>
                      <a:pPr indent="0" marL="0" eaLnBrk="0">
                        <a:buNone/>
                      </a:pPr>
                      <a:r>
                        <a:rPr lang="ko-KR" altLang="en-US" sz="1500" b="1" dirty="0">
                          <a:solidFill>
                            <a:schemeClr val="tx1"/>
                          </a:solidFill>
                        </a:rPr>
                        <a:t>실행 중 트롤 체력이 30이 되면</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궁수도 30을 읽는다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궁수는 복사해 둔 25를 그대로 가진다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box"/>
          <p:cNvSpPr/>
          <p:nvPr/>
        </p:nvSpPr>
        <p:spPr>
          <a:xfrm>
            <a:off x="548640" y="4800600"/>
            <a:ext cx="11094415" cy="822960"/>
          </a:xfrm>
          <a:prstGeom prst="roundRect">
            <a:avLst>
              <a:gd name="adj" fmla="val 8889"/>
            </a:avLst>
          </a:prstGeom>
          <a:solidFill>
            <a:schemeClr val="tx2"/>
          </a:solidFill>
          <a:ln w="12700">
            <a:solidFill>
              <a:schemeClr val="tx2"/>
            </a:solidFill>
            <a:prstDash val="solid"/>
          </a:ln>
        </p:spPr>
      </p:sp>
      <p:sp>
        <p:nvSpPr>
          <p:cNvPr id="8" name="Text 4"/>
          <p:cNvSpPr txBox="1"/>
          <p:nvPr/>
        </p:nvSpPr>
        <p:spPr>
          <a:xfrm>
            <a:off x="548640" y="4800600"/>
            <a:ext cx="11094415" cy="822960"/>
          </a:xfrm>
          <a:prstGeom prst="rect">
            <a:avLst/>
          </a:prstGeom>
          <a:noFill/>
          <a:ln/>
        </p:spPr>
        <p:txBody>
          <a:bodyPr wrap="square" lIns="635" tIns="635" rIns="635" bIns="635" rtlCol="0" anchor="ctr"/>
          <a:lstStyle/>
          <a:p>
            <a:pPr algn="ctr" indent="0" marL="0" eaLnBrk="0">
              <a:buNone/>
            </a:pPr>
            <a:r>
              <a:rPr lang="ko-KR" altLang="en-US" sz="1600" dirty="0">
                <a:solidFill>
                  <a:schemeClr val="bg1"/>
                </a:solidFill>
              </a:rPr>
              <a:t>종족 값이 게임 중에 바뀌지 않는다면 생성 시 복사로 충분하다.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데이터 파일</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종족을 JSON 파일에 적고, 게임은 읽어서 Breed를 만든다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파일을 읽으면 각 종족의 값은 어떻게 될까?</a:t>
            </a:r>
            <a:endParaRPr lang="ko-KR" altLang="en-US" sz="1500" dirty="0"/>
          </a:p>
        </p:txBody>
      </p:sp>
      <p:sp>
        <p:nvSpPr>
          <p:cNvPr id="6" name="codePanel"/>
          <p:cNvSpPr/>
          <p:nvPr/>
        </p:nvSpPr>
        <p:spPr>
          <a:xfrm>
            <a:off x="548640" y="1600200"/>
            <a:ext cx="640080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181344" cy="3931920"/>
          </a:xfrm>
          <a:prstGeom prst="rect">
            <a:avLst/>
          </a:prstGeom>
          <a:noFill/>
          <a:ln/>
        </p:spPr>
        <p:txBody>
          <a:bodyPr wrap="square" lIns="635" tIns="635" rIns="635" bIns="635" rtlCol="0" anchor="t"/>
          <a:lstStyle/>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"트롤": {</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"health": 25,</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"attack": "트롤이 때린다!"</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"트롤 궁수": {</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"parent": "트롤",</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"health": 0,</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"attack": "트롤 궁수가 화살을 쏜다!"</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"트롤 마법사":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"parent": "트롤",</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"health": 0,</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"attack": "트롤 마법사가 주문을 건다!"</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8" name="codeCaption"/>
          <p:cNvSpPr txBox="1"/>
          <p:nvPr/>
        </p:nvSpPr>
        <p:spPr>
          <a:xfrm>
            <a:off x="384048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예제의 데이터 파일</a:t>
            </a:r>
            <a:endParaRPr lang="ko-KR" altLang="en-US" sz="1000" dirty="0"/>
          </a:p>
        </p:txBody>
      </p:sp>
      <p:sp>
        <p:nvSpPr>
          <p:cNvPr id="9" name="card"/>
          <p:cNvSpPr/>
          <p:nvPr/>
        </p:nvSpPr>
        <p:spPr>
          <a:xfrm>
            <a:off x="7315200" y="1600200"/>
            <a:ext cx="4327855" cy="1234440"/>
          </a:xfrm>
          <a:prstGeom prst="roundRect">
            <a:avLst>
              <a:gd name="adj" fmla="val 7407"/>
            </a:avLst>
          </a:prstGeom>
          <a:solidFill>
            <a:schemeClr val="bg2"/>
          </a:solidFill>
          <a:ln w="12700">
            <a:solidFill>
              <a:schemeClr val="bg2"/>
            </a:solidFill>
            <a:prstDash val="solid"/>
          </a:ln>
        </p:spPr>
      </p:sp>
      <p:sp>
        <p:nvSpPr>
          <p:cNvPr id="10" name="Text 7"/>
          <p:cNvSpPr txBox="1"/>
          <p:nvPr/>
        </p:nvSpPr>
        <p:spPr>
          <a:xfrm>
            <a:off x="7543800" y="1819656"/>
            <a:ext cx="39163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parent</a:t>
            </a:r>
            <a:endParaRPr lang="ko-KR" altLang="en-US" sz="1700" dirty="0"/>
          </a:p>
        </p:txBody>
      </p:sp>
      <p:sp>
        <p:nvSpPr>
          <p:cNvPr id="11" name="Text 8"/>
          <p:cNvSpPr txBox="1"/>
          <p:nvPr/>
        </p:nvSpPr>
        <p:spPr>
          <a:xfrm>
            <a:off x="7543800" y="2331720"/>
            <a:ext cx="3870655" cy="365760"/>
          </a:xfrm>
          <a:prstGeom prst="rect">
            <a:avLst/>
          </a:prstGeom>
          <a:noFill/>
          <a:ln/>
        </p:spPr>
        <p:txBody>
          <a:bodyPr wrap="square" lIns="0" tIns="0" rIns="0" bIns="0" rtlCol="0" anchor="t"/>
          <a:lstStyle/>
          <a:p>
            <a:pPr indent="0" marL="0" eaLnBrk="0">
              <a:buNone/>
            </a:pPr>
            <a:r>
              <a:rPr lang="ko-KR" altLang="en-US" sz="1400" dirty="0">
                <a:solidFill>
                  <a:schemeClr val="tx2"/>
                </a:solidFill>
              </a:rPr>
              <a:t>부모 종족의 이름.</a:t>
            </a:r>
            <a:endParaRPr lang="ko-KR" altLang="en-US" sz="1400" dirty="0"/>
          </a:p>
        </p:txBody>
      </p:sp>
      <p:sp>
        <p:nvSpPr>
          <p:cNvPr id="12" name="card"/>
          <p:cNvSpPr/>
          <p:nvPr/>
        </p:nvSpPr>
        <p:spPr>
          <a:xfrm>
            <a:off x="7315200" y="2971800"/>
            <a:ext cx="4327855" cy="1234440"/>
          </a:xfrm>
          <a:prstGeom prst="roundRect">
            <a:avLst>
              <a:gd name="adj" fmla="val 7407"/>
            </a:avLst>
          </a:prstGeom>
          <a:solidFill>
            <a:schemeClr val="bg2"/>
          </a:solidFill>
          <a:ln w="12700">
            <a:solidFill>
              <a:schemeClr val="bg2"/>
            </a:solidFill>
            <a:prstDash val="solid"/>
          </a:ln>
        </p:spPr>
      </p:sp>
      <p:sp>
        <p:nvSpPr>
          <p:cNvPr id="13" name="Text 10"/>
          <p:cNvSpPr txBox="1"/>
          <p:nvPr/>
        </p:nvSpPr>
        <p:spPr>
          <a:xfrm>
            <a:off x="7543800" y="3191256"/>
            <a:ext cx="39163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health: 0</a:t>
            </a:r>
            <a:endParaRPr lang="ko-KR" altLang="en-US" sz="1700" dirty="0"/>
          </a:p>
        </p:txBody>
      </p:sp>
      <p:sp>
        <p:nvSpPr>
          <p:cNvPr id="14" name="Text 11"/>
          <p:cNvSpPr txBox="1"/>
          <p:nvPr/>
        </p:nvSpPr>
        <p:spPr>
          <a:xfrm>
            <a:off x="7543800" y="3703320"/>
            <a:ext cx="3870655" cy="365760"/>
          </a:xfrm>
          <a:prstGeom prst="rect">
            <a:avLst/>
          </a:prstGeom>
          <a:noFill/>
          <a:ln/>
        </p:spPr>
        <p:txBody>
          <a:bodyPr wrap="square" lIns="0" tIns="0" rIns="0" bIns="0" rtlCol="0" anchor="t"/>
          <a:lstStyle/>
          <a:p>
            <a:pPr indent="0" marL="0" eaLnBrk="0">
              <a:buNone/>
            </a:pPr>
            <a:r>
              <a:rPr lang="ko-KR" altLang="en-US" sz="1400" dirty="0">
                <a:solidFill>
                  <a:schemeClr val="tx2"/>
                </a:solidFill>
              </a:rPr>
              <a:t>부모에게서 체력을 물려받는다.</a:t>
            </a:r>
            <a:endParaRPr lang="ko-KR" altLang="en-US" sz="1400" dirty="0"/>
          </a:p>
        </p:txBody>
      </p:sp>
      <p:sp>
        <p:nvSpPr>
          <p:cNvPr id="15" name="card"/>
          <p:cNvSpPr/>
          <p:nvPr/>
        </p:nvSpPr>
        <p:spPr>
          <a:xfrm>
            <a:off x="7315200" y="4343400"/>
            <a:ext cx="4327855" cy="1371600"/>
          </a:xfrm>
          <a:prstGeom prst="roundRect">
            <a:avLst>
              <a:gd name="adj" fmla="val 6667"/>
            </a:avLst>
          </a:prstGeom>
          <a:solidFill>
            <a:schemeClr val="bg2"/>
          </a:solidFill>
          <a:ln w="12700">
            <a:solidFill>
              <a:schemeClr val="bg2"/>
            </a:solidFill>
            <a:prstDash val="solid"/>
          </a:ln>
        </p:spPr>
      </p:sp>
      <p:sp>
        <p:nvSpPr>
          <p:cNvPr id="16" name="Text 13"/>
          <p:cNvSpPr txBox="1"/>
          <p:nvPr/>
        </p:nvSpPr>
        <p:spPr>
          <a:xfrm>
            <a:off x="7543800" y="4562856"/>
            <a:ext cx="39163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읽는 쪽</a:t>
            </a:r>
            <a:endParaRPr lang="ko-KR" altLang="en-US" sz="1700" dirty="0"/>
          </a:p>
        </p:txBody>
      </p:sp>
      <p:sp>
        <p:nvSpPr>
          <p:cNvPr id="17" name="Text 14"/>
          <p:cNvSpPr txBox="1"/>
          <p:nvPr/>
        </p:nvSpPr>
        <p:spPr>
          <a:xfrm>
            <a:off x="7543800" y="5074920"/>
            <a:ext cx="3870655" cy="502920"/>
          </a:xfrm>
          <a:prstGeom prst="rect">
            <a:avLst/>
          </a:prstGeom>
          <a:noFill/>
          <a:ln/>
        </p:spPr>
        <p:txBody>
          <a:bodyPr wrap="square" lIns="0" tIns="0" rIns="0" bIns="0" rtlCol="0" anchor="t"/>
          <a:lstStyle/>
          <a:p>
            <a:pPr indent="0" marL="0" eaLnBrk="0">
              <a:buNone/>
            </a:pPr>
            <a:r>
              <a:rPr lang="ko-KR" altLang="en-US" sz="1400" dirty="0">
                <a:solidFill>
                  <a:schemeClr val="tx2"/>
                </a:solidFill>
              </a:rPr>
              <a:t>항목마다 Breed를 하나 만든다. 새 종족에 코드가 필요 없다.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파일을 읽은 뒤 세 종족의 값을 따라간다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패턴을 만들 때 미리 정해야 할 것은 무엇일까?</a:t>
            </a:r>
            <a:endParaRPr lang="ko-KR" alt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920240"/>
                <a:gridCol w="1280160"/>
                <a:gridCol w="1828800"/>
                <a:gridCol w="2194560"/>
                <a:gridCol w="3870655"/>
              </a:tblGrid>
              <a:tr h="502920">
                <a:tc>
                  <a:txBody>
                    <a:bodyPr/>
                    <a:lstStyle/>
                    <a:p>
                      <a:pPr indent="0" marL="0" eaLnBrk="0">
                        <a:buNone/>
                      </a:pPr>
                      <a:r>
                        <a:rPr lang="ko-KR" altLang="en-US" sz="1500" b="1" dirty="0">
                          <a:solidFill>
                            <a:schemeClr val="bg1"/>
                          </a:solidFill>
                        </a:rPr>
                        <a:t>종족</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parent</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파일의 health</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GetHealth()</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GetAttack()</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02920">
                <a:tc>
                  <a:txBody>
                    <a:bodyPr/>
                    <a:lstStyle/>
                    <a:p>
                      <a:pPr indent="0" marL="0" eaLnBrk="0">
                        <a:buNone/>
                      </a:pPr>
                      <a:r>
                        <a:rPr lang="ko-KR" altLang="en-US" sz="1500" b="1" dirty="0">
                          <a:solidFill>
                            <a:schemeClr val="tx1"/>
                          </a:solidFill>
                        </a:rPr>
                        <a:t>트롤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없음</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25</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25</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트롤이 때린다!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500" b="1" dirty="0">
                          <a:solidFill>
                            <a:schemeClr val="tx1"/>
                          </a:solidFill>
                        </a:rPr>
                        <a:t>트롤 궁수</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트롤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25 (물려받음)</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트롤 궁수가 화살을 쏜다!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02920">
                <a:tc>
                  <a:txBody>
                    <a:bodyPr/>
                    <a:lstStyle/>
                    <a:p>
                      <a:pPr indent="0" marL="0" eaLnBrk="0">
                        <a:buNone/>
                      </a:pPr>
                      <a:r>
                        <a:rPr lang="ko-KR" altLang="en-US" sz="1500" b="1" dirty="0">
                          <a:solidFill>
                            <a:schemeClr val="tx1"/>
                          </a:solidFill>
                        </a:rPr>
                        <a:t>트롤 마법사</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트롤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25 (물려받음)</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트롤 마법사가 주문을 건다!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card"/>
          <p:cNvSpPr/>
          <p:nvPr/>
        </p:nvSpPr>
        <p:spPr>
          <a:xfrm>
            <a:off x="548640" y="3931920"/>
            <a:ext cx="11094415" cy="1691640"/>
          </a:xfrm>
          <a:prstGeom prst="roundRect">
            <a:avLst>
              <a:gd name="adj" fmla="val 5405"/>
            </a:avLst>
          </a:prstGeom>
          <a:solidFill>
            <a:schemeClr val="tx2"/>
          </a:solidFill>
          <a:ln w="12700">
            <a:solidFill>
              <a:schemeClr val="tx2"/>
            </a:solidFill>
            <a:prstDash val="solid"/>
          </a:ln>
        </p:spPr>
      </p:sp>
      <p:sp>
        <p:nvSpPr>
          <p:cNvPr id="8" name="Text 4"/>
          <p:cNvSpPr txBox="1"/>
          <p:nvPr/>
        </p:nvSpPr>
        <p:spPr>
          <a:xfrm>
            <a:off x="777240" y="415137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파일에서 트롤의 health를 30으로 고치면</a:t>
            </a:r>
            <a:endParaRPr lang="ko-KR" altLang="en-US" sz="1700" dirty="0"/>
          </a:p>
        </p:txBody>
      </p:sp>
      <p:sp>
        <p:nvSpPr>
          <p:cNvPr id="9" name="Text 5"/>
          <p:cNvSpPr txBox="1"/>
          <p:nvPr/>
        </p:nvSpPr>
        <p:spPr>
          <a:xfrm>
            <a:off x="777240" y="4709160"/>
            <a:ext cx="10637215" cy="777240"/>
          </a:xfrm>
          <a:prstGeom prst="rect">
            <a:avLst/>
          </a:prstGeom>
          <a:noFill/>
          <a:ln/>
        </p:spPr>
        <p:txBody>
          <a:bodyPr wrap="square" lIns="0" tIns="0" rIns="0" bIns="0" rtlCol="0" anchor="t"/>
          <a:lstStyle/>
          <a:p>
            <a:pPr indent="0" marL="0" eaLnBrk="0">
              <a:buNone/>
            </a:pPr>
            <a:r>
              <a:rPr lang="ko-KR" altLang="en-US" sz="1400" dirty="0">
                <a:solidFill>
                  <a:schemeClr val="bg1"/>
                </a:solidFill>
              </a:rPr>
              <a:t>다시 실행할 때 세 종족이 모두 30을 가진다. 고친 곳은 데이터 파일의 숫자 하나이고, 코드는 그대로다.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4부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설계 결정</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디자인 결정</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1</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타입 객체를 숨길까, 드러낼까</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몬스터는 누가 만들게 할까?</a:t>
            </a:r>
            <a:endParaRPr lang="ko-KR" altLang="en-US" sz="1500" dirty="0"/>
          </a:p>
        </p:txBody>
      </p:sp>
      <p:sp>
        <p:nvSpPr>
          <p:cNvPr id="6" name="Text 3"/>
          <p:cNvSpPr txBox="1"/>
          <p:nvPr/>
        </p:nvSpPr>
        <p:spPr>
          <a:xfrm>
            <a:off x="548640" y="1645920"/>
            <a:ext cx="5440680" cy="411480"/>
          </a:xfrm>
          <a:prstGeom prst="rect">
            <a:avLst/>
          </a:prstGeom>
          <a:noFill/>
          <a:ln/>
        </p:spPr>
        <p:txBody>
          <a:bodyPr wrap="square" lIns="0" tIns="0" rIns="0" bIns="0" rtlCol="0" anchor="t"/>
          <a:lstStyle/>
          <a:p>
            <a:pPr indent="0" marL="0" eaLnBrk="0">
              <a:buNone/>
            </a:pPr>
            <a:r>
              <a:rPr lang="ko-KR" altLang="en-US" sz="1900" b="1" dirty="0">
                <a:solidFill>
                  <a:schemeClr val="accent2"/>
                </a:solidFill>
              </a:rPr>
              <a:t>숨긴다 (캡슐화)</a:t>
            </a:r>
            <a:endParaRPr lang="ko-KR" altLang="en-US" sz="1900" dirty="0"/>
          </a:p>
        </p:txBody>
      </p:sp>
      <p:sp>
        <p:nvSpPr>
          <p:cNvPr id="7" name="codePanel"/>
          <p:cNvSpPr/>
          <p:nvPr/>
        </p:nvSpPr>
        <p:spPr>
          <a:xfrm>
            <a:off x="548640" y="2148840"/>
            <a:ext cx="5440680" cy="1600200"/>
          </a:xfrm>
          <a:prstGeom prst="roundRect">
            <a:avLst>
              <a:gd name="adj" fmla="val 4571"/>
            </a:avLst>
          </a:prstGeom>
          <a:solidFill>
            <a:schemeClr val="tx1"/>
          </a:solidFill>
          <a:ln w="12700">
            <a:solidFill>
              <a:schemeClr val="tx1"/>
            </a:solidFill>
            <a:prstDash val="solid"/>
          </a:ln>
        </p:spPr>
      </p:sp>
      <p:sp>
        <p:nvSpPr>
          <p:cNvPr id="8" name="code"/>
          <p:cNvSpPr txBox="1"/>
          <p:nvPr/>
        </p:nvSpPr>
        <p:spPr>
          <a:xfrm>
            <a:off x="658368" y="2240280"/>
            <a:ext cx="5221224" cy="14173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string GetAttack()</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if (_health &lt; LowHealth)</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return "몬스터가 힘없이 허우적거린다.";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return _breed.GetAttack();</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9" name="card"/>
          <p:cNvSpPr/>
          <p:nvPr/>
        </p:nvSpPr>
        <p:spPr>
          <a:xfrm>
            <a:off x="548640" y="3931920"/>
            <a:ext cx="5440680" cy="868680"/>
          </a:xfrm>
          <a:prstGeom prst="roundRect">
            <a:avLst>
              <a:gd name="adj" fmla="val 10526"/>
            </a:avLst>
          </a:prstGeom>
          <a:solidFill>
            <a:schemeClr val="bg2"/>
          </a:solidFill>
          <a:ln w="12700">
            <a:solidFill>
              <a:schemeClr val="bg2"/>
            </a:solidFill>
            <a:prstDash val="solid"/>
          </a:ln>
        </p:spPr>
      </p:sp>
      <p:sp>
        <p:nvSpPr>
          <p:cNvPr id="10" name="Text 7"/>
          <p:cNvSpPr txBox="1"/>
          <p:nvPr/>
        </p:nvSpPr>
        <p:spPr>
          <a:xfrm>
            <a:off x="777240" y="4005072"/>
            <a:ext cx="4983480" cy="731520"/>
          </a:xfrm>
          <a:prstGeom prst="rect">
            <a:avLst/>
          </a:prstGeom>
          <a:noFill/>
          <a:ln/>
        </p:spPr>
        <p:txBody>
          <a:bodyPr wrap="square" lIns="0" tIns="0" rIns="0" bIns="0" rtlCol="0" anchor="ctr"/>
          <a:lstStyle/>
          <a:p>
            <a:pPr indent="0" marL="0" eaLnBrk="0">
              <a:buNone/>
            </a:pPr>
            <a:r>
              <a:rPr lang="ko-KR" altLang="en-US" sz="1400" b="1" dirty="0">
                <a:solidFill>
                  <a:schemeClr val="accent2"/>
                </a:solidFill>
              </a:rPr>
              <a:t>장점  </a:t>
            </a:r>
            <a:pPr indent="0" marL="0" eaLnBrk="0">
              <a:buNone/>
            </a:pPr>
            <a:r>
              <a:rPr lang="ko-KR" altLang="en-US" sz="1400" dirty="0">
                <a:solidFill>
                  <a:schemeClr val="tx2"/>
                </a:solidFill>
              </a:rPr>
              <a:t>종족을 몰라도 된다.</a:t>
            </a:r>
            <a:endParaRPr lang="ko-KR" altLang="en-US" sz="1400" dirty="0"/>
          </a:p>
          <a:p>
            <a:pPr indent="0" marL="0" eaLnBrk="0">
              <a:buNone/>
            </a:pPr>
            <a:r>
              <a:rPr lang="ko-KR" altLang="en-US" sz="1400" dirty="0">
                <a:solidFill>
                  <a:schemeClr val="tx2"/>
                </a:solidFill>
              </a:rPr>
              <a:t>몬스터가 종족의 행동을 덮어쓸 수 있다.</a:t>
            </a:r>
            <a:endParaRPr lang="ko-KR" altLang="en-US" sz="1400" dirty="0"/>
          </a:p>
        </p:txBody>
      </p:sp>
      <p:sp>
        <p:nvSpPr>
          <p:cNvPr id="11" name="card"/>
          <p:cNvSpPr/>
          <p:nvPr/>
        </p:nvSpPr>
        <p:spPr>
          <a:xfrm>
            <a:off x="548640" y="4892040"/>
            <a:ext cx="5440680" cy="868680"/>
          </a:xfrm>
          <a:prstGeom prst="roundRect">
            <a:avLst>
              <a:gd name="adj" fmla="val 10526"/>
            </a:avLst>
          </a:prstGeom>
          <a:solidFill>
            <a:schemeClr val="bg2"/>
          </a:solidFill>
          <a:ln w="12700">
            <a:solidFill>
              <a:schemeClr val="bg2"/>
            </a:solidFill>
            <a:prstDash val="solid"/>
          </a:ln>
        </p:spPr>
      </p:sp>
      <p:sp>
        <p:nvSpPr>
          <p:cNvPr id="12" name="Text 9"/>
          <p:cNvSpPr txBox="1"/>
          <p:nvPr/>
        </p:nvSpPr>
        <p:spPr>
          <a:xfrm>
            <a:off x="777240" y="4965192"/>
            <a:ext cx="4983480" cy="731520"/>
          </a:xfrm>
          <a:prstGeom prst="rect">
            <a:avLst/>
          </a:prstGeom>
          <a:noFill/>
          <a:ln/>
        </p:spPr>
        <p:txBody>
          <a:bodyPr wrap="square" lIns="0" tIns="0" rIns="0" bIns="0" rtlCol="0" anchor="ctr"/>
          <a:lstStyle/>
          <a:p>
            <a:pPr indent="0" marL="0" eaLnBrk="0">
              <a:buNone/>
            </a:pPr>
            <a:r>
              <a:rPr lang="ko-KR" altLang="en-US" sz="1400" b="1" dirty="0">
                <a:solidFill>
                  <a:schemeClr val="accent6"/>
                </a:solidFill>
              </a:rPr>
              <a:t>단점  </a:t>
            </a:r>
            <a:pPr indent="0" marL="0" eaLnBrk="0">
              <a:buNone/>
            </a:pPr>
            <a:r>
              <a:rPr lang="ko-KR" altLang="en-US" sz="1400" dirty="0">
                <a:solidFill>
                  <a:schemeClr val="tx2"/>
                </a:solidFill>
              </a:rPr>
              <a:t>종족의 기능마다 전달 메서드를 써야 한다.</a:t>
            </a:r>
            <a:endParaRPr lang="ko-KR" altLang="en-US" sz="1400" dirty="0"/>
          </a:p>
        </p:txBody>
      </p:sp>
      <p:sp>
        <p:nvSpPr>
          <p:cNvPr id="13" name="Text 10"/>
          <p:cNvSpPr txBox="1"/>
          <p:nvPr/>
        </p:nvSpPr>
        <p:spPr>
          <a:xfrm>
            <a:off x="6217920" y="1645920"/>
            <a:ext cx="5425135" cy="411480"/>
          </a:xfrm>
          <a:prstGeom prst="rect">
            <a:avLst/>
          </a:prstGeom>
          <a:noFill/>
          <a:ln/>
        </p:spPr>
        <p:txBody>
          <a:bodyPr wrap="square" lIns="0" tIns="0" rIns="0" bIns="0" rtlCol="0" anchor="t"/>
          <a:lstStyle/>
          <a:p>
            <a:pPr indent="0" marL="0" eaLnBrk="0">
              <a:buNone/>
            </a:pPr>
            <a:r>
              <a:rPr lang="ko-KR" altLang="en-US" sz="1900" b="1" dirty="0">
                <a:solidFill>
                  <a:schemeClr val="accent1"/>
                </a:solidFill>
              </a:rPr>
              <a:t>드러낸다 (노출)</a:t>
            </a:r>
            <a:endParaRPr lang="ko-KR" altLang="en-US" sz="1900" dirty="0"/>
          </a:p>
        </p:txBody>
      </p:sp>
      <p:sp>
        <p:nvSpPr>
          <p:cNvPr id="14" name="codePanel"/>
          <p:cNvSpPr/>
          <p:nvPr/>
        </p:nvSpPr>
        <p:spPr>
          <a:xfrm>
            <a:off x="6217920" y="2148840"/>
            <a:ext cx="5425135" cy="1600200"/>
          </a:xfrm>
          <a:prstGeom prst="roundRect">
            <a:avLst>
              <a:gd name="adj" fmla="val 4571"/>
            </a:avLst>
          </a:prstGeom>
          <a:solidFill>
            <a:schemeClr val="tx1"/>
          </a:solidFill>
          <a:ln w="12700">
            <a:solidFill>
              <a:schemeClr val="tx1"/>
            </a:solidFill>
            <a:prstDash val="solid"/>
          </a:ln>
        </p:spPr>
      </p:sp>
      <p:sp>
        <p:nvSpPr>
          <p:cNvPr id="15" name="code"/>
          <p:cNvSpPr txBox="1"/>
          <p:nvPr/>
        </p:nvSpPr>
        <p:spPr>
          <a:xfrm>
            <a:off x="6327648" y="2240280"/>
            <a:ext cx="5205679" cy="14173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Breed GetBreed() =&gt; _breed;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몬스터 없이 종족을 직접 쓴다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Monster m = troll.NewMonster();</a:t>
            </a:r>
            <a:endParaRPr lang="ko-KR" altLang="en-US" sz="1200" dirty="0"/>
          </a:p>
        </p:txBody>
      </p:sp>
      <p:sp>
        <p:nvSpPr>
          <p:cNvPr id="16" name="card"/>
          <p:cNvSpPr/>
          <p:nvPr/>
        </p:nvSpPr>
        <p:spPr>
          <a:xfrm>
            <a:off x="6217920" y="3931920"/>
            <a:ext cx="5425135" cy="868680"/>
          </a:xfrm>
          <a:prstGeom prst="roundRect">
            <a:avLst>
              <a:gd name="adj" fmla="val 10526"/>
            </a:avLst>
          </a:prstGeom>
          <a:solidFill>
            <a:schemeClr val="bg2"/>
          </a:solidFill>
          <a:ln w="12700">
            <a:solidFill>
              <a:schemeClr val="bg2"/>
            </a:solidFill>
            <a:prstDash val="solid"/>
          </a:ln>
        </p:spPr>
      </p:sp>
      <p:sp>
        <p:nvSpPr>
          <p:cNvPr id="17" name="Text 14"/>
          <p:cNvSpPr txBox="1"/>
          <p:nvPr/>
        </p:nvSpPr>
        <p:spPr>
          <a:xfrm>
            <a:off x="6446520" y="4005072"/>
            <a:ext cx="4967935" cy="731520"/>
          </a:xfrm>
          <a:prstGeom prst="rect">
            <a:avLst/>
          </a:prstGeom>
          <a:noFill/>
          <a:ln/>
        </p:spPr>
        <p:txBody>
          <a:bodyPr wrap="square" lIns="0" tIns="0" rIns="0" bIns="0" rtlCol="0" anchor="ctr"/>
          <a:lstStyle/>
          <a:p>
            <a:pPr indent="0" marL="0" eaLnBrk="0">
              <a:buNone/>
            </a:pPr>
            <a:r>
              <a:rPr lang="ko-KR" altLang="en-US" sz="1400" b="1" dirty="0">
                <a:solidFill>
                  <a:schemeClr val="accent2"/>
                </a:solidFill>
              </a:rPr>
              <a:t>장점  </a:t>
            </a:r>
            <a:pPr indent="0" marL="0" eaLnBrk="0">
              <a:buNone/>
            </a:pPr>
            <a:r>
              <a:rPr lang="ko-KR" altLang="en-US" sz="1400" dirty="0">
                <a:solidFill>
                  <a:schemeClr val="tx2"/>
                </a:solidFill>
              </a:rPr>
              <a:t>몬스터 없이 종족을 쓸 수 있다.</a:t>
            </a:r>
            <a:endParaRPr lang="ko-KR" altLang="en-US" sz="1400" dirty="0"/>
          </a:p>
          <a:p>
            <a:pPr indent="0" marL="0" eaLnBrk="0">
              <a:buNone/>
            </a:pPr>
            <a:r>
              <a:rPr lang="ko-KR" altLang="en-US" sz="1400" dirty="0">
                <a:solidFill>
                  <a:schemeClr val="tx2"/>
                </a:solidFill>
              </a:rPr>
              <a:t>NewMonster 방식이 가능하다.</a:t>
            </a:r>
            <a:endParaRPr lang="ko-KR" altLang="en-US" sz="1400" dirty="0"/>
          </a:p>
        </p:txBody>
      </p:sp>
      <p:sp>
        <p:nvSpPr>
          <p:cNvPr id="18" name="card"/>
          <p:cNvSpPr/>
          <p:nvPr/>
        </p:nvSpPr>
        <p:spPr>
          <a:xfrm>
            <a:off x="6217920" y="4892040"/>
            <a:ext cx="5425135" cy="868680"/>
          </a:xfrm>
          <a:prstGeom prst="roundRect">
            <a:avLst>
              <a:gd name="adj" fmla="val 10526"/>
            </a:avLst>
          </a:prstGeom>
          <a:solidFill>
            <a:schemeClr val="bg2"/>
          </a:solidFill>
          <a:ln w="12700">
            <a:solidFill>
              <a:schemeClr val="bg2"/>
            </a:solidFill>
            <a:prstDash val="solid"/>
          </a:ln>
        </p:spPr>
      </p:sp>
      <p:sp>
        <p:nvSpPr>
          <p:cNvPr id="19" name="Text 16"/>
          <p:cNvSpPr txBox="1"/>
          <p:nvPr/>
        </p:nvSpPr>
        <p:spPr>
          <a:xfrm>
            <a:off x="6446520" y="4965192"/>
            <a:ext cx="4967935" cy="731520"/>
          </a:xfrm>
          <a:prstGeom prst="rect">
            <a:avLst/>
          </a:prstGeom>
          <a:noFill/>
          <a:ln/>
        </p:spPr>
        <p:txBody>
          <a:bodyPr wrap="square" lIns="0" tIns="0" rIns="0" bIns="0" rtlCol="0" anchor="ctr"/>
          <a:lstStyle/>
          <a:p>
            <a:pPr indent="0" marL="0" eaLnBrk="0">
              <a:buNone/>
            </a:pPr>
            <a:r>
              <a:rPr lang="ko-KR" altLang="en-US" sz="1400" b="1" dirty="0">
                <a:solidFill>
                  <a:schemeClr val="accent6"/>
                </a:solidFill>
              </a:rPr>
              <a:t>단점  </a:t>
            </a:r>
            <a:pPr indent="0" marL="0" eaLnBrk="0">
              <a:buNone/>
            </a:pPr>
            <a:r>
              <a:rPr lang="ko-KR" altLang="en-US" sz="1400" dirty="0">
                <a:solidFill>
                  <a:schemeClr val="tx2"/>
                </a:solidFill>
              </a:rPr>
              <a:t>종족이 공개 API가 되어 유지할 범위가 넓어진다.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2</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몬스터는 누가 만들까</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한번 정한 종족을 나중에 바꿀 수 있게 할까?</a:t>
            </a:r>
            <a:endParaRPr lang="ko-KR" altLang="en-US" sz="1500" dirty="0"/>
          </a:p>
        </p:txBody>
      </p:sp>
      <p:sp>
        <p:nvSpPr>
          <p:cNvPr id="6" name="box"/>
          <p:cNvSpPr/>
          <p:nvPr/>
        </p:nvSpPr>
        <p:spPr>
          <a:xfrm>
            <a:off x="548640" y="4663440"/>
            <a:ext cx="11094415" cy="960120"/>
          </a:xfrm>
          <a:prstGeom prst="roundRect">
            <a:avLst>
              <a:gd name="adj" fmla="val 7619"/>
            </a:avLst>
          </a:prstGeom>
          <a:solidFill>
            <a:schemeClr val="tx2"/>
          </a:solidFill>
          <a:ln w="12700">
            <a:solidFill>
              <a:schemeClr val="tx2"/>
            </a:solidFill>
            <a:prstDash val="solid"/>
          </a:ln>
        </p:spPr>
      </p:sp>
      <p:sp>
        <p:nvSpPr>
          <p:cNvPr id="7" name="Text 4"/>
          <p:cNvSpPr txBox="1"/>
          <p:nvPr/>
        </p:nvSpPr>
        <p:spPr>
          <a:xfrm>
            <a:off x="548640" y="4663440"/>
            <a:ext cx="11094415" cy="960120"/>
          </a:xfrm>
          <a:prstGeom prst="rect">
            <a:avLst/>
          </a:prstGeom>
          <a:noFill/>
          <a:ln/>
        </p:spPr>
        <p:txBody>
          <a:bodyPr wrap="square" lIns="635" tIns="635" rIns="635" bIns="635" rtlCol="0" anchor="ctr"/>
          <a:lstStyle/>
          <a:p>
            <a:pPr algn="ctr" indent="0" marL="0" eaLnBrk="0">
              <a:buNone/>
            </a:pPr>
            <a:r>
              <a:rPr lang="ko-KR" altLang="en-US" sz="1600" dirty="0">
                <a:solidFill>
                  <a:schemeClr val="bg1"/>
                </a:solidFill>
              </a:rPr>
              <a:t>C#에서 이 결정은 주로 몬스터를 매번 새로 만들지, 미리 만들어 둔 객체 풀(12강)에서 꺼낼지의 문제가 된다.</a:t>
            </a:r>
            <a:endParaRPr lang="ko-KR" altLang="en-US" sz="1600" dirty="0"/>
          </a:p>
        </p:txBody>
      </p:sp>
      <p:sp>
        <p:nvSpPr>
          <p:cNvPr id="8" name="Shape 5"/>
          <p:cNvSpPr/>
          <p:nvPr/>
        </p:nvSpPr>
        <p:spPr>
          <a:xfrm>
            <a:off x="548640" y="1691640"/>
            <a:ext cx="5440680" cy="2697480"/>
          </a:xfrm>
          <a:prstGeom prst="roundRect">
            <a:avLst>
              <a:gd name="adj" fmla="val 3390"/>
            </a:avLst>
          </a:prstGeom>
          <a:solidFill>
            <a:schemeClr val="bg2"/>
          </a:solidFill>
          <a:ln w="12700">
            <a:solidFill>
              <a:schemeClr val="bg2"/>
            </a:solidFill>
            <a:prstDash val="solid"/>
          </a:ln>
        </p:spPr>
      </p:sp>
      <p:sp>
        <p:nvSpPr>
          <p:cNvPr id="9" name="Text 6"/>
          <p:cNvSpPr txBox="1"/>
          <p:nvPr/>
        </p:nvSpPr>
        <p:spPr>
          <a:xfrm>
            <a:off x="822960" y="1874520"/>
            <a:ext cx="4892040" cy="457200"/>
          </a:xfrm>
          <a:prstGeom prst="rect">
            <a:avLst/>
          </a:prstGeom>
          <a:noFill/>
          <a:ln/>
        </p:spPr>
        <p:txBody>
          <a:bodyPr wrap="square" lIns="0" tIns="0" rIns="0" bIns="0" rtlCol="0" anchor="t"/>
          <a:lstStyle/>
          <a:p>
            <a:pPr indent="0" marL="0" eaLnBrk="0">
              <a:buNone/>
            </a:pPr>
            <a:r>
              <a:rPr lang="ko-KR" altLang="en-US" sz="1900" b="1" dirty="0">
                <a:solidFill>
                  <a:schemeClr val="accent2"/>
                </a:solidFill>
              </a:rPr>
              <a:t>호출하는 쪽이 만든다</a:t>
            </a:r>
            <a:endParaRPr lang="ko-KR" altLang="en-US" sz="1900" dirty="0"/>
          </a:p>
        </p:txBody>
      </p:sp>
      <p:sp>
        <p:nvSpPr>
          <p:cNvPr id="10" name="codePanel"/>
          <p:cNvSpPr/>
          <p:nvPr/>
        </p:nvSpPr>
        <p:spPr>
          <a:xfrm>
            <a:off x="822960" y="2468880"/>
            <a:ext cx="4892040" cy="594360"/>
          </a:xfrm>
          <a:prstGeom prst="roundRect">
            <a:avLst>
              <a:gd name="adj" fmla="val 12308"/>
            </a:avLst>
          </a:prstGeom>
          <a:solidFill>
            <a:schemeClr val="tx1"/>
          </a:solidFill>
          <a:ln w="12700">
            <a:solidFill>
              <a:schemeClr val="tx1"/>
            </a:solidFill>
            <a:prstDash val="solid"/>
          </a:ln>
        </p:spPr>
      </p:sp>
      <p:sp>
        <p:nvSpPr>
          <p:cNvPr id="11" name="code"/>
          <p:cNvSpPr txBox="1"/>
          <p:nvPr/>
        </p:nvSpPr>
        <p:spPr>
          <a:xfrm>
            <a:off x="932688" y="2560320"/>
            <a:ext cx="4672584" cy="41148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var m = new Monster(troll);</a:t>
            </a:r>
            <a:endParaRPr lang="ko-KR" altLang="en-US" sz="1400" dirty="0"/>
          </a:p>
        </p:txBody>
      </p:sp>
      <p:sp>
        <p:nvSpPr>
          <p:cNvPr id="12" name="Text 9"/>
          <p:cNvSpPr txBox="1"/>
          <p:nvPr/>
        </p:nvSpPr>
        <p:spPr>
          <a:xfrm>
            <a:off x="822960" y="3291840"/>
            <a:ext cx="4892040" cy="960120"/>
          </a:xfrm>
          <a:prstGeom prst="rect">
            <a:avLst/>
          </a:prstGeom>
          <a:noFill/>
          <a:ln/>
        </p:spPr>
        <p:txBody>
          <a:bodyPr wrap="square" lIns="0" tIns="0" rIns="0" bIns="0" rtlCol="0" anchor="t"/>
          <a:lstStyle/>
          <a:p>
            <a:pPr indent="0" marL="0" eaLnBrk="0">
              <a:spcAft>
                <a:spcPts val="600"/>
              </a:spcAft>
              <a:buNone/>
            </a:pPr>
            <a:r>
              <a:rPr lang="ko-KR" altLang="en-US" sz="1500" dirty="0">
                <a:solidFill>
                  <a:schemeClr val="tx2"/>
                </a:solidFill>
              </a:rPr>
              <a:t>호출하는 쪽이 객체를 어떻게 얻을지 정한다.</a:t>
            </a:r>
            <a:endParaRPr lang="ko-KR" altLang="en-US" sz="1500" dirty="0"/>
          </a:p>
          <a:p>
            <a:pPr indent="0" marL="0" eaLnBrk="0">
              <a:spcAft>
                <a:spcPts val="600"/>
              </a:spcAft>
              <a:buNone/>
            </a:pPr>
            <a:r>
              <a:rPr lang="ko-KR" altLang="en-US" sz="1500" dirty="0">
                <a:solidFill>
                  <a:schemeClr val="tx2"/>
                </a:solidFill>
              </a:rPr>
              <a:t>여러 메모리 사용 방식에 맞추기 쉽다.</a:t>
            </a:r>
            <a:endParaRPr lang="ko-KR" altLang="en-US" sz="1500" dirty="0"/>
          </a:p>
        </p:txBody>
      </p:sp>
      <p:sp>
        <p:nvSpPr>
          <p:cNvPr id="13" name="Shape 10"/>
          <p:cNvSpPr/>
          <p:nvPr/>
        </p:nvSpPr>
        <p:spPr>
          <a:xfrm>
            <a:off x="6217920" y="1691640"/>
            <a:ext cx="5425135" cy="2697480"/>
          </a:xfrm>
          <a:prstGeom prst="roundRect">
            <a:avLst>
              <a:gd name="adj" fmla="val 3390"/>
            </a:avLst>
          </a:prstGeom>
          <a:solidFill>
            <a:schemeClr val="bg2"/>
          </a:solidFill>
          <a:ln w="12700">
            <a:solidFill>
              <a:schemeClr val="bg2"/>
            </a:solidFill>
            <a:prstDash val="solid"/>
          </a:ln>
        </p:spPr>
      </p:sp>
      <p:sp>
        <p:nvSpPr>
          <p:cNvPr id="14" name="Text 11"/>
          <p:cNvSpPr txBox="1"/>
          <p:nvPr/>
        </p:nvSpPr>
        <p:spPr>
          <a:xfrm>
            <a:off x="6492240" y="1874520"/>
            <a:ext cx="4876495" cy="457200"/>
          </a:xfrm>
          <a:prstGeom prst="rect">
            <a:avLst/>
          </a:prstGeom>
          <a:noFill/>
          <a:ln/>
        </p:spPr>
        <p:txBody>
          <a:bodyPr wrap="square" lIns="0" tIns="0" rIns="0" bIns="0" rtlCol="0" anchor="t"/>
          <a:lstStyle/>
          <a:p>
            <a:pPr indent="0" marL="0" eaLnBrk="0">
              <a:buNone/>
            </a:pPr>
            <a:r>
              <a:rPr lang="ko-KR" altLang="en-US" sz="1900" b="1" dirty="0">
                <a:solidFill>
                  <a:schemeClr val="accent1"/>
                </a:solidFill>
              </a:rPr>
              <a:t>종족이 만든다</a:t>
            </a:r>
            <a:endParaRPr lang="ko-KR" altLang="en-US" sz="1900" dirty="0"/>
          </a:p>
        </p:txBody>
      </p:sp>
      <p:sp>
        <p:nvSpPr>
          <p:cNvPr id="15" name="codePanel"/>
          <p:cNvSpPr/>
          <p:nvPr/>
        </p:nvSpPr>
        <p:spPr>
          <a:xfrm>
            <a:off x="6492240" y="2468880"/>
            <a:ext cx="4876495" cy="594360"/>
          </a:xfrm>
          <a:prstGeom prst="roundRect">
            <a:avLst>
              <a:gd name="adj" fmla="val 12308"/>
            </a:avLst>
          </a:prstGeom>
          <a:solidFill>
            <a:schemeClr val="tx1"/>
          </a:solidFill>
          <a:ln w="12700">
            <a:solidFill>
              <a:schemeClr val="tx1"/>
            </a:solidFill>
            <a:prstDash val="solid"/>
          </a:ln>
        </p:spPr>
      </p:sp>
      <p:sp>
        <p:nvSpPr>
          <p:cNvPr id="16" name="code"/>
          <p:cNvSpPr txBox="1"/>
          <p:nvPr/>
        </p:nvSpPr>
        <p:spPr>
          <a:xfrm>
            <a:off x="6601968" y="2560320"/>
            <a:ext cx="4657039" cy="41148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var m = troll.NewMonster();</a:t>
            </a:r>
            <a:endParaRPr lang="ko-KR" altLang="en-US" sz="1400" dirty="0"/>
          </a:p>
        </p:txBody>
      </p:sp>
      <p:sp>
        <p:nvSpPr>
          <p:cNvPr id="17" name="Text 14"/>
          <p:cNvSpPr txBox="1"/>
          <p:nvPr/>
        </p:nvSpPr>
        <p:spPr>
          <a:xfrm>
            <a:off x="6492240" y="3291840"/>
            <a:ext cx="4876495" cy="960120"/>
          </a:xfrm>
          <a:prstGeom prst="rect">
            <a:avLst/>
          </a:prstGeom>
          <a:noFill/>
          <a:ln/>
        </p:spPr>
        <p:txBody>
          <a:bodyPr wrap="square" lIns="0" tIns="0" rIns="0" bIns="0" rtlCol="0" anchor="t"/>
          <a:lstStyle/>
          <a:p>
            <a:pPr indent="0" marL="0" eaLnBrk="0">
              <a:spcAft>
                <a:spcPts val="600"/>
              </a:spcAft>
              <a:buNone/>
            </a:pPr>
            <a:r>
              <a:rPr lang="ko-KR" altLang="en-US" sz="1500" dirty="0">
                <a:solidFill>
                  <a:schemeClr val="tx2"/>
                </a:solidFill>
              </a:rPr>
              <a:t>종족이 객체를 어떻게 얻을지 정한다.</a:t>
            </a:r>
            <a:endParaRPr lang="ko-KR" altLang="en-US" sz="1500" dirty="0"/>
          </a:p>
          <a:p>
            <a:pPr indent="0" marL="0" eaLnBrk="0">
              <a:spcAft>
                <a:spcPts val="600"/>
              </a:spcAft>
              <a:buNone/>
            </a:pPr>
            <a:r>
              <a:rPr lang="ko-KR" altLang="en-US" sz="1500" dirty="0">
                <a:solidFill>
                  <a:schemeClr val="tx2"/>
                </a:solidFill>
              </a:rPr>
              <a:t>예: 모든 몬스터를 객체 풀에서 꺼내도록 보장한다.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3</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종족을 바꿀 수 있게 할까</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종족 상속은 어디까지 지원할까?</a:t>
            </a:r>
            <a:endParaRPr lang="ko-KR" altLang="en-US" sz="1500" dirty="0"/>
          </a:p>
        </p:txBody>
      </p:sp>
      <p:sp>
        <p:nvSpPr>
          <p:cNvPr id="6" name="box"/>
          <p:cNvSpPr/>
          <p:nvPr/>
        </p:nvSpPr>
        <p:spPr>
          <a:xfrm>
            <a:off x="548640" y="2606040"/>
            <a:ext cx="2194560" cy="914400"/>
          </a:xfrm>
          <a:prstGeom prst="roundRect">
            <a:avLst>
              <a:gd name="adj" fmla="val 8000"/>
            </a:avLst>
          </a:prstGeom>
          <a:solidFill>
            <a:schemeClr val="tx2"/>
          </a:solidFill>
          <a:ln w="12700">
            <a:solidFill>
              <a:schemeClr val="tx2"/>
            </a:solidFill>
            <a:prstDash val="solid"/>
          </a:ln>
        </p:spPr>
      </p:sp>
      <p:sp>
        <p:nvSpPr>
          <p:cNvPr id="7" name="Text 4"/>
          <p:cNvSpPr txBox="1"/>
          <p:nvPr/>
        </p:nvSpPr>
        <p:spPr>
          <a:xfrm>
            <a:off x="548640" y="2606040"/>
            <a:ext cx="2194560" cy="91440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몬스터</a:t>
            </a:r>
            <a:endParaRPr lang="ko-KR" altLang="en-US" sz="1500" dirty="0"/>
          </a:p>
          <a:p>
            <a:pPr algn="ctr" indent="0" marL="0" eaLnBrk="0">
              <a:buNone/>
            </a:pPr>
            <a:r>
              <a:rPr lang="ko-KR" altLang="en-US" sz="1500" b="1" dirty="0">
                <a:solidFill>
                  <a:schemeClr val="bg1"/>
                </a:solidFill>
              </a:rPr>
              <a:t>현재 체력 0</a:t>
            </a:r>
            <a:endParaRPr lang="ko-KR" altLang="en-US" sz="1500" dirty="0"/>
          </a:p>
        </p:txBody>
      </p:sp>
      <p:sp>
        <p:nvSpPr>
          <p:cNvPr id="8" name="box"/>
          <p:cNvSpPr/>
          <p:nvPr/>
        </p:nvSpPr>
        <p:spPr>
          <a:xfrm>
            <a:off x="3840480" y="1783080"/>
            <a:ext cx="2194560" cy="822960"/>
          </a:xfrm>
          <a:prstGeom prst="roundRect">
            <a:avLst>
              <a:gd name="adj" fmla="val 8889"/>
            </a:avLst>
          </a:prstGeom>
          <a:solidFill>
            <a:schemeClr val="bg1"/>
          </a:solidFill>
          <a:ln w="19050">
            <a:solidFill>
              <a:schemeClr val="accent6"/>
            </a:solidFill>
            <a:prstDash val="dash"/>
          </a:ln>
        </p:spPr>
      </p:sp>
      <p:sp>
        <p:nvSpPr>
          <p:cNvPr id="9" name="Text 6"/>
          <p:cNvSpPr txBox="1"/>
          <p:nvPr/>
        </p:nvSpPr>
        <p:spPr>
          <a:xfrm>
            <a:off x="3840480" y="1783080"/>
            <a:ext cx="2194560" cy="822960"/>
          </a:xfrm>
          <a:prstGeom prst="rect">
            <a:avLst/>
          </a:prstGeom>
          <a:noFill/>
          <a:ln/>
        </p:spPr>
        <p:txBody>
          <a:bodyPr wrap="square" lIns="635" tIns="635" rIns="635" bIns="635" rtlCol="0" anchor="ctr"/>
          <a:lstStyle/>
          <a:p>
            <a:pPr algn="ctr" indent="0" marL="0" eaLnBrk="0">
              <a:buNone/>
            </a:pPr>
            <a:r>
              <a:rPr lang="ko-KR" altLang="en-US" sz="1500" b="1" dirty="0">
                <a:solidFill>
                  <a:schemeClr val="accent3"/>
                </a:solidFill>
              </a:rPr>
              <a:t>트롤 종족</a:t>
            </a:r>
            <a:endParaRPr lang="ko-KR" altLang="en-US" sz="1500" dirty="0"/>
          </a:p>
        </p:txBody>
      </p:sp>
      <p:sp>
        <p:nvSpPr>
          <p:cNvPr id="10" name="box"/>
          <p:cNvSpPr/>
          <p:nvPr/>
        </p:nvSpPr>
        <p:spPr>
          <a:xfrm>
            <a:off x="3840480" y="3520440"/>
            <a:ext cx="2194560" cy="822960"/>
          </a:xfrm>
          <a:prstGeom prst="roundRect">
            <a:avLst>
              <a:gd name="adj" fmla="val 8889"/>
            </a:avLst>
          </a:prstGeom>
          <a:solidFill>
            <a:schemeClr val="accent1"/>
          </a:solidFill>
          <a:ln w="12700">
            <a:solidFill>
              <a:schemeClr val="accent1"/>
            </a:solidFill>
            <a:prstDash val="solid"/>
          </a:ln>
        </p:spPr>
      </p:sp>
      <p:sp>
        <p:nvSpPr>
          <p:cNvPr id="11" name="Text 8"/>
          <p:cNvSpPr txBox="1"/>
          <p:nvPr/>
        </p:nvSpPr>
        <p:spPr>
          <a:xfrm>
            <a:off x="3840480" y="3520440"/>
            <a:ext cx="2194560" cy="82296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좀비 종족</a:t>
            </a:r>
            <a:endParaRPr lang="ko-KR" altLang="en-US" sz="1500" dirty="0"/>
          </a:p>
        </p:txBody>
      </p:sp>
      <p:sp>
        <p:nvSpPr>
          <p:cNvPr id="12" name="Shape 9"/>
          <p:cNvSpPr/>
          <p:nvPr/>
        </p:nvSpPr>
        <p:spPr>
          <a:xfrm flipV="1">
            <a:off x="2788920" y="2194560"/>
            <a:ext cx="1005840" cy="731520"/>
          </a:xfrm>
          <a:prstGeom prst="line">
            <a:avLst/>
          </a:prstGeom>
          <a:noFill/>
          <a:ln w="22225">
            <a:solidFill>
              <a:schemeClr val="accent3"/>
            </a:solidFill>
            <a:prstDash val="dash"/>
            <a:tailEnd type="triangle"/>
          </a:ln>
        </p:spPr>
      </p:sp>
      <p:sp>
        <p:nvSpPr>
          <p:cNvPr id="13" name="Shape 10"/>
          <p:cNvSpPr/>
          <p:nvPr/>
        </p:nvSpPr>
        <p:spPr>
          <a:xfrm>
            <a:off x="2788920" y="3200400"/>
            <a:ext cx="1005840" cy="731520"/>
          </a:xfrm>
          <a:prstGeom prst="line">
            <a:avLst/>
          </a:prstGeom>
          <a:noFill/>
          <a:ln w="31750">
            <a:solidFill>
              <a:schemeClr val="accent1"/>
            </a:solidFill>
            <a:prstDash val="solid"/>
            <a:tailEnd type="triangle"/>
          </a:ln>
        </p:spPr>
      </p:sp>
      <p:sp>
        <p:nvSpPr>
          <p:cNvPr id="14" name="Text 11"/>
          <p:cNvSpPr txBox="1"/>
          <p:nvPr/>
        </p:nvSpPr>
        <p:spPr>
          <a:xfrm>
            <a:off x="548640" y="4572000"/>
            <a:ext cx="5486400" cy="548640"/>
          </a:xfrm>
          <a:prstGeom prst="rect">
            <a:avLst/>
          </a:prstGeom>
          <a:noFill/>
          <a:ln/>
        </p:spPr>
        <p:txBody>
          <a:bodyPr wrap="square" lIns="0" tIns="0" rIns="0" bIns="0" rtlCol="0" anchor="t"/>
          <a:lstStyle/>
          <a:p>
            <a:pPr indent="0" marL="0" eaLnBrk="0">
              <a:buNone/>
            </a:pPr>
            <a:r>
              <a:rPr lang="ko-KR" altLang="en-US" sz="1400" dirty="0">
                <a:solidFill>
                  <a:schemeClr val="tx2"/>
                </a:solidFill>
              </a:rPr>
              <a:t>죽은 트롤이 좀비로 되살아난다. 종족 참조만 바꾼다.</a:t>
            </a:r>
            <a:endParaRPr lang="ko-KR" altLang="en-US" sz="1400" dirty="0"/>
          </a:p>
        </p:txBody>
      </p:sp>
      <p:sp>
        <p:nvSpPr>
          <p:cNvPr id="15" name="card"/>
          <p:cNvSpPr/>
          <p:nvPr/>
        </p:nvSpPr>
        <p:spPr>
          <a:xfrm>
            <a:off x="6492240" y="1691640"/>
            <a:ext cx="5150815" cy="1325880"/>
          </a:xfrm>
          <a:prstGeom prst="roundRect">
            <a:avLst>
              <a:gd name="adj" fmla="val 6897"/>
            </a:avLst>
          </a:prstGeom>
          <a:solidFill>
            <a:schemeClr val="bg2"/>
          </a:solidFill>
          <a:ln w="12700">
            <a:solidFill>
              <a:schemeClr val="bg2"/>
            </a:solidFill>
            <a:prstDash val="solid"/>
          </a:ln>
        </p:spPr>
      </p:sp>
      <p:sp>
        <p:nvSpPr>
          <p:cNvPr id="16" name="Text 13"/>
          <p:cNvSpPr txBox="1"/>
          <p:nvPr/>
        </p:nvSpPr>
        <p:spPr>
          <a:xfrm>
            <a:off x="6720840" y="1911096"/>
            <a:ext cx="473933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고정한다</a:t>
            </a:r>
            <a:endParaRPr lang="ko-KR" altLang="en-US" sz="1700" dirty="0"/>
          </a:p>
        </p:txBody>
      </p:sp>
      <p:sp>
        <p:nvSpPr>
          <p:cNvPr id="17" name="Text 14"/>
          <p:cNvSpPr txBox="1"/>
          <p:nvPr/>
        </p:nvSpPr>
        <p:spPr>
          <a:xfrm>
            <a:off x="6720840" y="2423160"/>
            <a:ext cx="4693615" cy="457200"/>
          </a:xfrm>
          <a:prstGeom prst="rect">
            <a:avLst/>
          </a:prstGeom>
          <a:noFill/>
          <a:ln/>
        </p:spPr>
        <p:txBody>
          <a:bodyPr wrap="square" lIns="0" tIns="0" rIns="0" bIns="0" rtlCol="0" anchor="t"/>
          <a:lstStyle/>
          <a:p>
            <a:pPr indent="0" marL="0" eaLnBrk="0">
              <a:buNone/>
            </a:pPr>
            <a:r>
              <a:rPr lang="ko-KR" altLang="en-US" sz="1400" dirty="0">
                <a:solidFill>
                  <a:schemeClr val="tx2"/>
                </a:solidFill>
              </a:rPr>
              <a:t>코드가 단순하고, 종족이 바뀌지 않으니 디버깅이 쉽다.</a:t>
            </a:r>
            <a:endParaRPr lang="ko-KR" altLang="en-US" sz="1400" dirty="0"/>
          </a:p>
        </p:txBody>
      </p:sp>
      <p:sp>
        <p:nvSpPr>
          <p:cNvPr id="18" name="card"/>
          <p:cNvSpPr/>
          <p:nvPr/>
        </p:nvSpPr>
        <p:spPr>
          <a:xfrm>
            <a:off x="6492240" y="3154680"/>
            <a:ext cx="5150815" cy="1234440"/>
          </a:xfrm>
          <a:prstGeom prst="roundRect">
            <a:avLst>
              <a:gd name="adj" fmla="val 7407"/>
            </a:avLst>
          </a:prstGeom>
          <a:solidFill>
            <a:schemeClr val="bg2"/>
          </a:solidFill>
          <a:ln w="12700">
            <a:solidFill>
              <a:schemeClr val="bg2"/>
            </a:solidFill>
            <a:prstDash val="solid"/>
          </a:ln>
        </p:spPr>
      </p:sp>
      <p:sp>
        <p:nvSpPr>
          <p:cNvPr id="19" name="Text 16"/>
          <p:cNvSpPr txBox="1"/>
          <p:nvPr/>
        </p:nvSpPr>
        <p:spPr>
          <a:xfrm>
            <a:off x="6720840" y="3374136"/>
            <a:ext cx="4739335" cy="411480"/>
          </a:xfrm>
          <a:prstGeom prst="rect">
            <a:avLst/>
          </a:prstGeom>
          <a:noFill/>
          <a:ln/>
        </p:spPr>
        <p:txBody>
          <a:bodyPr wrap="square" lIns="0" tIns="0" rIns="0" bIns="0" rtlCol="0" anchor="ctr"/>
          <a:lstStyle/>
          <a:p>
            <a:pPr indent="0" marL="0" eaLnBrk="0">
              <a:buNone/>
            </a:pPr>
            <a:r>
              <a:rPr lang="ko-KR" altLang="en-US" sz="1700" b="1" dirty="0">
                <a:solidFill>
                  <a:schemeClr val="accent1"/>
                </a:solidFill>
              </a:rPr>
              <a:t>바꿀 수 있다</a:t>
            </a:r>
            <a:endParaRPr lang="ko-KR" altLang="en-US" sz="1700" dirty="0"/>
          </a:p>
        </p:txBody>
      </p:sp>
      <p:sp>
        <p:nvSpPr>
          <p:cNvPr id="20" name="Text 17"/>
          <p:cNvSpPr txBox="1"/>
          <p:nvPr/>
        </p:nvSpPr>
        <p:spPr>
          <a:xfrm>
            <a:off x="6720840" y="3886200"/>
            <a:ext cx="4693615" cy="365760"/>
          </a:xfrm>
          <a:prstGeom prst="rect">
            <a:avLst/>
          </a:prstGeom>
          <a:noFill/>
          <a:ln/>
        </p:spPr>
        <p:txBody>
          <a:bodyPr wrap="square" lIns="0" tIns="0" rIns="0" bIns="0" rtlCol="0" anchor="t"/>
          <a:lstStyle/>
          <a:p>
            <a:pPr indent="0" marL="0" eaLnBrk="0">
              <a:buNone/>
            </a:pPr>
            <a:r>
              <a:rPr lang="ko-KR" altLang="en-US" sz="1400" dirty="0">
                <a:solidFill>
                  <a:schemeClr val="tx2"/>
                </a:solidFill>
              </a:rPr>
              <a:t>새 객체를 만들고 값을 옮기는 일이 없어진다.</a:t>
            </a:r>
            <a:endParaRPr lang="ko-KR" altLang="en-US" sz="1400" dirty="0"/>
          </a:p>
        </p:txBody>
      </p:sp>
      <p:sp>
        <p:nvSpPr>
          <p:cNvPr id="21" name="card"/>
          <p:cNvSpPr/>
          <p:nvPr/>
        </p:nvSpPr>
        <p:spPr>
          <a:xfrm>
            <a:off x="6492240" y="4526280"/>
            <a:ext cx="5150815" cy="1188720"/>
          </a:xfrm>
          <a:prstGeom prst="roundRect">
            <a:avLst>
              <a:gd name="adj" fmla="val 7692"/>
            </a:avLst>
          </a:prstGeom>
          <a:solidFill>
            <a:schemeClr val="bg2"/>
          </a:solidFill>
          <a:ln w="12700">
            <a:solidFill>
              <a:schemeClr val="bg2"/>
            </a:solidFill>
            <a:prstDash val="solid"/>
          </a:ln>
        </p:spPr>
      </p:sp>
      <p:sp>
        <p:nvSpPr>
          <p:cNvPr id="22" name="Text 19"/>
          <p:cNvSpPr txBox="1"/>
          <p:nvPr/>
        </p:nvSpPr>
        <p:spPr>
          <a:xfrm>
            <a:off x="6720840" y="4745736"/>
            <a:ext cx="473933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바꿀 때 조심</a:t>
            </a:r>
            <a:endParaRPr lang="ko-KR" altLang="en-US" sz="1700" dirty="0"/>
          </a:p>
        </p:txBody>
      </p:sp>
      <p:sp>
        <p:nvSpPr>
          <p:cNvPr id="23" name="Text 20"/>
          <p:cNvSpPr txBox="1"/>
          <p:nvPr/>
        </p:nvSpPr>
        <p:spPr>
          <a:xfrm>
            <a:off x="6720840" y="5257800"/>
            <a:ext cx="4693615" cy="320040"/>
          </a:xfrm>
          <a:prstGeom prst="rect">
            <a:avLst/>
          </a:prstGeom>
          <a:noFill/>
          <a:ln/>
        </p:spPr>
        <p:txBody>
          <a:bodyPr wrap="square" lIns="0" tIns="0" rIns="0" bIns="0" rtlCol="0" anchor="t"/>
          <a:lstStyle/>
          <a:p>
            <a:pPr indent="0" marL="0" eaLnBrk="0">
              <a:buNone/>
            </a:pPr>
            <a:r>
              <a:rPr lang="ko-KR" altLang="en-US" sz="1400" dirty="0">
                <a:solidFill>
                  <a:schemeClr val="tx2"/>
                </a:solidFill>
              </a:rPr>
              <a:t>새 종족의 가정이 지켜지는지 바꾼 직후 확인한다.</a:t>
            </a:r>
            <a:endParaRPr lang="ko-KR" altLang="en-US" sz="1400" dirty="0"/>
          </a:p>
        </p:txBody>
      </p:sp>
      <p:sp>
        <p:nvSpPr>
          <p:cNvPr id="24" name="Text 21"/>
          <p:cNvSpPr txBox="1"/>
          <p:nvPr/>
        </p:nvSpPr>
        <p:spPr>
          <a:xfrm>
            <a:off x="548640" y="5166360"/>
            <a:ext cx="5486400" cy="548640"/>
          </a:xfrm>
          <a:prstGeom prst="rect">
            <a:avLst/>
          </a:prstGeom>
          <a:noFill/>
          <a:ln/>
        </p:spPr>
        <p:txBody>
          <a:bodyPr wrap="square" lIns="0" tIns="0" rIns="0" bIns="0" rtlCol="0" anchor="t"/>
          <a:lstStyle/>
          <a:p>
            <a:pPr indent="0" marL="0" eaLnBrk="0">
              <a:buNone/>
            </a:pPr>
            <a:r>
              <a:rPr lang="ko-KR" altLang="en-US" sz="1400" dirty="0">
                <a:solidFill>
                  <a:schemeClr val="accent5"/>
                </a:solidFill>
              </a:rPr>
              <a:t>예: 현재 체력이 새 종족의 시작 체력보다 크면 안 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4</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종족 상속을 어디까지 지원할까</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이 패턴은 언제 쓰고, 무엇을 조심해야 할까?</a:t>
            </a:r>
            <a:endParaRPr lang="ko-KR" alt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645920"/>
                <a:gridCol w="4206240"/>
                <a:gridCol w="5242255"/>
              </a:tblGrid>
              <a:tr h="457200">
                <a:tc>
                  <a:txBody>
                    <a:bodyPr/>
                    <a:lstStyle/>
                    <a:p>
                      <a:pPr indent="0" marL="0" eaLnBrk="0">
                        <a:buNone/>
                      </a:pPr>
                      <a:r>
                        <a:rPr lang="ko-KR" altLang="en-US" sz="1500" b="1" dirty="0">
                          <a:solidFill>
                            <a:schemeClr val="bg1"/>
                          </a:solidFill>
                        </a:rPr>
                        <a:t>방식</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장점</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단점</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822960">
                <a:tc>
                  <a:txBody>
                    <a:bodyPr/>
                    <a:lstStyle/>
                    <a:p>
                      <a:pPr indent="0" marL="0" eaLnBrk="0">
                        <a:buNone/>
                      </a:pPr>
                      <a:r>
                        <a:rPr lang="ko-KR" altLang="en-US" sz="1500" b="1" dirty="0">
                          <a:solidFill>
                            <a:schemeClr val="tx1"/>
                          </a:solidFill>
                        </a:rPr>
                        <a:t>상속 없음</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단순하다.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중복이 생긴다.</a:t>
                      </a:r>
                      <a:endParaRPr lang="ko-KR" altLang="en-US" sz="1500" dirty="0"/>
                    </a:p>
                    <a:p>
                      <a:pPr indent="0" marL="0" eaLnBrk="0">
                        <a:buNone/>
                      </a:pPr>
                      <a:r>
                        <a:rPr lang="ko-KR" altLang="en-US" sz="1500" dirty="0">
                          <a:solidFill>
                            <a:schemeClr val="tx2"/>
                          </a:solidFill>
                        </a:rPr>
                        <a:t>엘프 쉰 종류의 같은 값을 쉰 번 고친다.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822960">
                <a:tc>
                  <a:txBody>
                    <a:bodyPr/>
                    <a:lstStyle/>
                    <a:p>
                      <a:pPr indent="0" marL="0" eaLnBrk="0">
                        <a:buNone/>
                      </a:pPr>
                      <a:r>
                        <a:rPr lang="ko-KR" altLang="en-US" sz="1500" b="1" dirty="0">
                          <a:solidFill>
                            <a:schemeClr val="tx1"/>
                          </a:solidFill>
                        </a:rPr>
                        <a:t>단일 상속</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비교적 단순하다.</a:t>
                      </a:r>
                      <a:endParaRPr lang="ko-KR" altLang="en-US" sz="1500" dirty="0"/>
                    </a:p>
                    <a:p>
                      <a:pPr indent="0" marL="0" eaLnBrk="0">
                        <a:buNone/>
                      </a:pPr>
                      <a:r>
                        <a:rPr lang="ko-KR" altLang="en-US" sz="1500" dirty="0">
                          <a:solidFill>
                            <a:schemeClr val="tx2"/>
                          </a:solidFill>
                        </a:rPr>
                        <a:t>프로그래머가 아닌 사람도 이해하기 쉽다.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부모 사슬을 따라가며 값을 찾으면</a:t>
                      </a:r>
                      <a:endParaRPr lang="ko-KR" altLang="en-US" sz="1500" dirty="0"/>
                    </a:p>
                    <a:p>
                      <a:pPr indent="0" marL="0" eaLnBrk="0">
                        <a:buNone/>
                      </a:pPr>
                      <a:r>
                        <a:rPr lang="ko-KR" altLang="en-US" sz="1500" dirty="0">
                          <a:solidFill>
                            <a:schemeClr val="tx2"/>
                          </a:solidFill>
                        </a:rPr>
                        <a:t>느려질 수 있다.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822960">
                <a:tc>
                  <a:txBody>
                    <a:bodyPr/>
                    <a:lstStyle/>
                    <a:p>
                      <a:pPr indent="0" marL="0" eaLnBrk="0">
                        <a:buNone/>
                      </a:pPr>
                      <a:r>
                        <a:rPr lang="ko-KR" altLang="en-US" sz="1500" b="1" dirty="0">
                          <a:solidFill>
                            <a:schemeClr val="tx1"/>
                          </a:solidFill>
                        </a:rPr>
                        <a:t>다중 상속</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데이터 중복을 거의 없앨 수 있다.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복잡하다.</a:t>
                      </a:r>
                      <a:endParaRPr lang="ko-KR" altLang="en-US" sz="1500" dirty="0"/>
                    </a:p>
                    <a:p>
                      <a:pPr indent="0" marL="0" eaLnBrk="0">
                        <a:buNone/>
                      </a:pPr>
                      <a:r>
                        <a:rPr lang="ko-KR" altLang="en-US" sz="1500" dirty="0">
                          <a:solidFill>
                            <a:schemeClr val="tx2"/>
                          </a:solidFill>
                        </a:rPr>
                        <a:t>좀비 용의 각 값이 어느 부모에서 오는지 알아야 한다.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box"/>
          <p:cNvSpPr/>
          <p:nvPr/>
        </p:nvSpPr>
        <p:spPr>
          <a:xfrm>
            <a:off x="548640" y="4892040"/>
            <a:ext cx="11094415" cy="731520"/>
          </a:xfrm>
          <a:prstGeom prst="roundRect">
            <a:avLst>
              <a:gd name="adj" fmla="val 10000"/>
            </a:avLst>
          </a:prstGeom>
          <a:solidFill>
            <a:schemeClr val="tx2"/>
          </a:solidFill>
          <a:ln w="12700">
            <a:solidFill>
              <a:schemeClr val="tx2"/>
            </a:solidFill>
            <a:prstDash val="solid"/>
          </a:ln>
        </p:spPr>
      </p:sp>
      <p:sp>
        <p:nvSpPr>
          <p:cNvPr id="8" name="Text 4"/>
          <p:cNvSpPr txBox="1"/>
          <p:nvPr/>
        </p:nvSpPr>
        <p:spPr>
          <a:xfrm>
            <a:off x="548640" y="4892040"/>
            <a:ext cx="11094415" cy="731520"/>
          </a:xfrm>
          <a:prstGeom prst="rect">
            <a:avLst/>
          </a:prstGeom>
          <a:noFill/>
          <a:ln/>
        </p:spPr>
        <p:txBody>
          <a:bodyPr wrap="square" lIns="635" tIns="635" rIns="635" bIns="635" rtlCol="0" anchor="ctr"/>
          <a:lstStyle/>
          <a:p>
            <a:pPr algn="ctr" indent="0" marL="0" eaLnBrk="0">
              <a:buNone/>
            </a:pPr>
            <a:r>
              <a:rPr lang="ko-KR" altLang="en-US" sz="1600" dirty="0">
                <a:solidFill>
                  <a:schemeClr val="bg1"/>
                </a:solidFill>
              </a:rPr>
              <a:t>원서의 결론: 대부분은 단일 상속이면 충분하다. 다중 상속은 득보다 실이 크다.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5부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쓸 때와 주의점</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관련 패턴과 Unity 대응</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쓸 때와 주의점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종류가 많고 자주 바뀌며, 차이가 주로 데이터일 때 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조심할 점 두 가지를 조금 더 자세히 보자.</a:t>
            </a:r>
            <a:endParaRPr lang="ko-KR" altLang="en-US" sz="1500" dirty="0"/>
          </a:p>
        </p:txBody>
      </p:sp>
      <p:sp>
        <p:nvSpPr>
          <p:cNvPr id="6" name="Text 3"/>
          <p:cNvSpPr txBox="1"/>
          <p:nvPr/>
        </p:nvSpPr>
        <p:spPr>
          <a:xfrm>
            <a:off x="548640" y="169164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2"/>
                </a:solidFill>
              </a:rPr>
              <a:t>이럴 때 쓴다</a:t>
            </a:r>
            <a:endParaRPr lang="ko-KR" altLang="en-US" sz="2000" dirty="0"/>
          </a:p>
        </p:txBody>
      </p:sp>
      <p:sp>
        <p:nvSpPr>
          <p:cNvPr id="7" name="card"/>
          <p:cNvSpPr/>
          <p:nvPr/>
        </p:nvSpPr>
        <p:spPr>
          <a:xfrm>
            <a:off x="548640" y="2240280"/>
            <a:ext cx="5349240" cy="1051560"/>
          </a:xfrm>
          <a:prstGeom prst="roundRect">
            <a:avLst>
              <a:gd name="adj" fmla="val 8696"/>
            </a:avLst>
          </a:prstGeom>
          <a:solidFill>
            <a:schemeClr val="bg2"/>
          </a:solidFill>
          <a:ln w="12700">
            <a:solidFill>
              <a:schemeClr val="bg2"/>
            </a:solidFill>
            <a:prstDash val="solid"/>
          </a:ln>
        </p:spPr>
      </p:sp>
      <p:sp>
        <p:nvSpPr>
          <p:cNvPr id="8" name="Shape 5"/>
          <p:cNvSpPr/>
          <p:nvPr/>
        </p:nvSpPr>
        <p:spPr>
          <a:xfrm>
            <a:off x="777240" y="2441448"/>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77240" y="2441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0" name="card"/>
          <p:cNvSpPr/>
          <p:nvPr/>
        </p:nvSpPr>
        <p:spPr>
          <a:xfrm>
            <a:off x="548640" y="3429000"/>
            <a:ext cx="5349240" cy="1051560"/>
          </a:xfrm>
          <a:prstGeom prst="roundRect">
            <a:avLst>
              <a:gd name="adj" fmla="val 8696"/>
            </a:avLst>
          </a:prstGeom>
          <a:solidFill>
            <a:schemeClr val="bg2"/>
          </a:solidFill>
          <a:ln w="12700">
            <a:solidFill>
              <a:schemeClr val="bg2"/>
            </a:solidFill>
            <a:prstDash val="solid"/>
          </a:ln>
        </p:spPr>
      </p:sp>
      <p:sp>
        <p:nvSpPr>
          <p:cNvPr id="11" name="Shape 8"/>
          <p:cNvSpPr/>
          <p:nvPr/>
        </p:nvSpPr>
        <p:spPr>
          <a:xfrm>
            <a:off x="777240" y="3630168"/>
            <a:ext cx="420624" cy="420624"/>
          </a:xfrm>
          <a:prstGeom prst="ellipse">
            <a:avLst/>
          </a:prstGeom>
          <a:solidFill>
            <a:schemeClr val="accent1"/>
          </a:solidFill>
          <a:ln w="12700">
            <a:solidFill>
              <a:schemeClr val="accent1"/>
            </a:solidFill>
            <a:prstDash val="solid"/>
          </a:ln>
        </p:spPr>
      </p:sp>
      <p:sp>
        <p:nvSpPr>
          <p:cNvPr id="12" name="Text 9"/>
          <p:cNvSpPr txBox="1"/>
          <p:nvPr/>
        </p:nvSpPr>
        <p:spPr>
          <a:xfrm>
            <a:off x="777240" y="36301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3" name="card"/>
          <p:cNvSpPr/>
          <p:nvPr/>
        </p:nvSpPr>
        <p:spPr>
          <a:xfrm>
            <a:off x="548640" y="4617720"/>
            <a:ext cx="5349240" cy="1051560"/>
          </a:xfrm>
          <a:prstGeom prst="roundRect">
            <a:avLst>
              <a:gd name="adj" fmla="val 8696"/>
            </a:avLst>
          </a:prstGeom>
          <a:solidFill>
            <a:schemeClr val="bg2"/>
          </a:solidFill>
          <a:ln w="12700">
            <a:solidFill>
              <a:schemeClr val="bg2"/>
            </a:solidFill>
            <a:prstDash val="solid"/>
          </a:ln>
        </p:spPr>
      </p:sp>
      <p:sp>
        <p:nvSpPr>
          <p:cNvPr id="14" name="Shape 11"/>
          <p:cNvSpPr/>
          <p:nvPr/>
        </p:nvSpPr>
        <p:spPr>
          <a:xfrm>
            <a:off x="777240" y="4818888"/>
            <a:ext cx="420624" cy="420624"/>
          </a:xfrm>
          <a:prstGeom prst="ellipse">
            <a:avLst/>
          </a:prstGeom>
          <a:solidFill>
            <a:schemeClr val="accent1"/>
          </a:solidFill>
          <a:ln w="12700">
            <a:solidFill>
              <a:schemeClr val="accent1"/>
            </a:solidFill>
            <a:prstDash val="solid"/>
          </a:ln>
        </p:spPr>
      </p:sp>
      <p:sp>
        <p:nvSpPr>
          <p:cNvPr id="15" name="Text 12"/>
          <p:cNvSpPr txBox="1"/>
          <p:nvPr/>
        </p:nvSpPr>
        <p:spPr>
          <a:xfrm>
            <a:off x="777240" y="48188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6" name="Text 13"/>
          <p:cNvSpPr txBox="1"/>
          <p:nvPr/>
        </p:nvSpPr>
        <p:spPr>
          <a:xfrm>
            <a:off x="1371600" y="237744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어떤 타입이 필요할지 미리 모른다.</a:t>
            </a:r>
            <a:endParaRPr lang="ko-KR" altLang="en-US" sz="1400" dirty="0"/>
          </a:p>
          <a:p>
            <a:pPr indent="0" marL="0" eaLnBrk="0">
              <a:buNone/>
            </a:pPr>
            <a:r>
              <a:rPr lang="ko-KR" altLang="en-US" sz="1400" dirty="0">
                <a:solidFill>
                  <a:schemeClr val="tx2"/>
                </a:solidFill>
              </a:rPr>
              <a:t>(나중에 내려받는 콘텐츠)</a:t>
            </a:r>
            <a:endParaRPr lang="ko-KR" altLang="en-US" sz="1400" dirty="0"/>
          </a:p>
        </p:txBody>
      </p:sp>
      <p:sp>
        <p:nvSpPr>
          <p:cNvPr id="17" name="Text 14"/>
          <p:cNvSpPr txBox="1"/>
          <p:nvPr/>
        </p:nvSpPr>
        <p:spPr>
          <a:xfrm>
            <a:off x="1371600" y="356616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다시 컴파일하지 않고 타입을 더하거나 고치고 싶다.</a:t>
            </a:r>
            <a:endParaRPr lang="ko-KR" altLang="en-US" sz="1400" dirty="0"/>
          </a:p>
        </p:txBody>
      </p:sp>
      <p:sp>
        <p:nvSpPr>
          <p:cNvPr id="18" name="Text 15"/>
          <p:cNvSpPr txBox="1"/>
          <p:nvPr/>
        </p:nvSpPr>
        <p:spPr>
          <a:xfrm>
            <a:off x="1371600" y="475488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종류는 많은데 종류끼리의 차이가 주로 데이터다.</a:t>
            </a:r>
            <a:endParaRPr lang="ko-KR" altLang="en-US" sz="1400" dirty="0"/>
          </a:p>
        </p:txBody>
      </p:sp>
      <p:sp>
        <p:nvSpPr>
          <p:cNvPr id="19" name="Text 16"/>
          <p:cNvSpPr txBox="1"/>
          <p:nvPr/>
        </p:nvSpPr>
        <p:spPr>
          <a:xfrm>
            <a:off x="6263640" y="1691640"/>
            <a:ext cx="5349240" cy="457200"/>
          </a:xfrm>
          <a:prstGeom prst="rect">
            <a:avLst/>
          </a:prstGeom>
          <a:noFill/>
          <a:ln/>
        </p:spPr>
        <p:txBody>
          <a:bodyPr wrap="square" lIns="0" tIns="0" rIns="0" bIns="0" rtlCol="0" anchor="t"/>
          <a:lstStyle/>
          <a:p>
            <a:pPr indent="0" marL="0" eaLnBrk="0">
              <a:buNone/>
            </a:pPr>
            <a:r>
              <a:rPr lang="ko-KR" altLang="en-US" sz="2000" b="1" dirty="0">
                <a:solidFill>
                  <a:schemeClr val="accent6"/>
                </a:solidFill>
              </a:rPr>
              <a:t>이것을 조심한다</a:t>
            </a:r>
            <a:endParaRPr lang="ko-KR" altLang="en-US" sz="2000" dirty="0"/>
          </a:p>
        </p:txBody>
      </p:sp>
      <p:sp>
        <p:nvSpPr>
          <p:cNvPr id="20" name="card"/>
          <p:cNvSpPr/>
          <p:nvPr/>
        </p:nvSpPr>
        <p:spPr>
          <a:xfrm>
            <a:off x="6263640" y="2240280"/>
            <a:ext cx="5349240" cy="1051560"/>
          </a:xfrm>
          <a:prstGeom prst="roundRect">
            <a:avLst>
              <a:gd name="adj" fmla="val 8696"/>
            </a:avLst>
          </a:prstGeom>
          <a:solidFill>
            <a:schemeClr val="bg2"/>
          </a:solidFill>
          <a:ln w="12700">
            <a:solidFill>
              <a:schemeClr val="bg2"/>
            </a:solidFill>
            <a:prstDash val="solid"/>
          </a:ln>
        </p:spPr>
      </p:sp>
      <p:sp>
        <p:nvSpPr>
          <p:cNvPr id="21" name="Shape 18"/>
          <p:cNvSpPr/>
          <p:nvPr/>
        </p:nvSpPr>
        <p:spPr>
          <a:xfrm>
            <a:off x="6492240" y="2441448"/>
            <a:ext cx="420624" cy="420624"/>
          </a:xfrm>
          <a:prstGeom prst="ellipse">
            <a:avLst/>
          </a:prstGeom>
          <a:solidFill>
            <a:schemeClr val="accent1"/>
          </a:solidFill>
          <a:ln w="12700">
            <a:solidFill>
              <a:schemeClr val="accent1"/>
            </a:solidFill>
            <a:prstDash val="solid"/>
          </a:ln>
        </p:spPr>
      </p:sp>
      <p:sp>
        <p:nvSpPr>
          <p:cNvPr id="22" name="Text 19"/>
          <p:cNvSpPr txBox="1"/>
          <p:nvPr/>
        </p:nvSpPr>
        <p:spPr>
          <a:xfrm>
            <a:off x="6492240" y="2441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3" name="card"/>
          <p:cNvSpPr/>
          <p:nvPr/>
        </p:nvSpPr>
        <p:spPr>
          <a:xfrm>
            <a:off x="6263640" y="3429000"/>
            <a:ext cx="5349240" cy="1051560"/>
          </a:xfrm>
          <a:prstGeom prst="roundRect">
            <a:avLst>
              <a:gd name="adj" fmla="val 8696"/>
            </a:avLst>
          </a:prstGeom>
          <a:solidFill>
            <a:schemeClr val="bg2"/>
          </a:solidFill>
          <a:ln w="12700">
            <a:solidFill>
              <a:schemeClr val="bg2"/>
            </a:solidFill>
            <a:prstDash val="solid"/>
          </a:ln>
        </p:spPr>
      </p:sp>
      <p:sp>
        <p:nvSpPr>
          <p:cNvPr id="24" name="Shape 21"/>
          <p:cNvSpPr/>
          <p:nvPr/>
        </p:nvSpPr>
        <p:spPr>
          <a:xfrm>
            <a:off x="6492240" y="3630168"/>
            <a:ext cx="420624" cy="420624"/>
          </a:xfrm>
          <a:prstGeom prst="ellipse">
            <a:avLst/>
          </a:prstGeom>
          <a:solidFill>
            <a:schemeClr val="accent1"/>
          </a:solidFill>
          <a:ln w="12700">
            <a:solidFill>
              <a:schemeClr val="accent1"/>
            </a:solidFill>
            <a:prstDash val="solid"/>
          </a:ln>
        </p:spPr>
      </p:sp>
      <p:sp>
        <p:nvSpPr>
          <p:cNvPr id="25" name="Text 22"/>
          <p:cNvSpPr txBox="1"/>
          <p:nvPr/>
        </p:nvSpPr>
        <p:spPr>
          <a:xfrm>
            <a:off x="6492240" y="36301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6" name="card"/>
          <p:cNvSpPr/>
          <p:nvPr/>
        </p:nvSpPr>
        <p:spPr>
          <a:xfrm>
            <a:off x="6263640" y="4617720"/>
            <a:ext cx="5349240" cy="1051560"/>
          </a:xfrm>
          <a:prstGeom prst="roundRect">
            <a:avLst>
              <a:gd name="adj" fmla="val 8696"/>
            </a:avLst>
          </a:prstGeom>
          <a:solidFill>
            <a:schemeClr val="bg2"/>
          </a:solidFill>
          <a:ln w="12700">
            <a:solidFill>
              <a:schemeClr val="bg2"/>
            </a:solidFill>
            <a:prstDash val="solid"/>
          </a:ln>
        </p:spPr>
      </p:sp>
      <p:sp>
        <p:nvSpPr>
          <p:cNvPr id="27" name="Shape 24"/>
          <p:cNvSpPr/>
          <p:nvPr/>
        </p:nvSpPr>
        <p:spPr>
          <a:xfrm>
            <a:off x="6492240" y="4818888"/>
            <a:ext cx="420624" cy="420624"/>
          </a:xfrm>
          <a:prstGeom prst="ellipse">
            <a:avLst/>
          </a:prstGeom>
          <a:solidFill>
            <a:schemeClr val="accent1"/>
          </a:solidFill>
          <a:ln w="12700">
            <a:solidFill>
              <a:schemeClr val="accent1"/>
            </a:solidFill>
            <a:prstDash val="solid"/>
          </a:ln>
        </p:spPr>
      </p:sp>
      <p:sp>
        <p:nvSpPr>
          <p:cNvPr id="28" name="Text 25"/>
          <p:cNvSpPr txBox="1"/>
          <p:nvPr/>
        </p:nvSpPr>
        <p:spPr>
          <a:xfrm>
            <a:off x="6492240" y="48188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9" name="Text 26"/>
          <p:cNvSpPr txBox="1"/>
          <p:nvPr/>
        </p:nvSpPr>
        <p:spPr>
          <a:xfrm>
            <a:off x="7086600" y="237744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타입 객체를 직접 만들고, 살려 두고, 몬스터에 연결해야 한다.</a:t>
            </a:r>
            <a:endParaRPr lang="ko-KR" altLang="en-US" sz="1400" dirty="0"/>
          </a:p>
        </p:txBody>
      </p:sp>
      <p:sp>
        <p:nvSpPr>
          <p:cNvPr id="30" name="Text 27"/>
          <p:cNvSpPr txBox="1"/>
          <p:nvPr/>
        </p:nvSpPr>
        <p:spPr>
          <a:xfrm>
            <a:off x="7086600" y="356616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종족마다 다른 행동을 코드로 쓰기 어렵다.</a:t>
            </a:r>
            <a:endParaRPr lang="ko-KR" altLang="en-US" sz="1400" dirty="0"/>
          </a:p>
        </p:txBody>
      </p:sp>
      <p:sp>
        <p:nvSpPr>
          <p:cNvPr id="31" name="Text 28"/>
          <p:cNvSpPr txBox="1"/>
          <p:nvPr/>
        </p:nvSpPr>
        <p:spPr>
          <a:xfrm>
            <a:off x="7086600" y="4754880"/>
            <a:ext cx="4343400" cy="822960"/>
          </a:xfrm>
          <a:prstGeom prst="rect">
            <a:avLst/>
          </a:prstGeom>
          <a:noFill/>
          <a:ln/>
        </p:spPr>
        <p:txBody>
          <a:bodyPr wrap="square" lIns="0" tIns="0" rIns="0" bIns="0" rtlCol="0" anchor="ctr"/>
          <a:lstStyle/>
          <a:p>
            <a:pPr indent="0" marL="0" eaLnBrk="0">
              <a:buNone/>
            </a:pPr>
            <a:r>
              <a:rPr lang="ko-KR" altLang="en-US" sz="1400" dirty="0">
                <a:solidFill>
                  <a:schemeClr val="tx2"/>
                </a:solidFill>
              </a:rPr>
              <a:t>상속을 넣으면 값이 어디서 왔는지 따라가야 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주의점 자세히</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타입 관리와 행동 정의가 우리 몫이 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원서는 타입 객체와 함께 볼 패턴으로 무엇을 소개할까?</a:t>
            </a:r>
            <a:endParaRPr lang="ko-KR" altLang="en-US" sz="1500" dirty="0"/>
          </a:p>
        </p:txBody>
      </p:sp>
      <p:sp>
        <p:nvSpPr>
          <p:cNvPr id="6" name="Text 3"/>
          <p:cNvSpPr txBox="1"/>
          <p:nvPr/>
        </p:nvSpPr>
        <p:spPr>
          <a:xfrm>
            <a:off x="548640" y="1645920"/>
            <a:ext cx="5440680" cy="411480"/>
          </a:xfrm>
          <a:prstGeom prst="rect">
            <a:avLst/>
          </a:prstGeom>
          <a:noFill/>
          <a:ln/>
        </p:spPr>
        <p:txBody>
          <a:bodyPr wrap="square" lIns="0" tIns="0" rIns="0" bIns="0" rtlCol="0" anchor="t"/>
          <a:lstStyle/>
          <a:p>
            <a:pPr indent="0" marL="0" eaLnBrk="0">
              <a:buNone/>
            </a:pPr>
            <a:r>
              <a:rPr lang="ko-KR" altLang="en-US" sz="1800" b="1" dirty="0">
                <a:solidFill>
                  <a:schemeClr val="tx1"/>
                </a:solidFill>
              </a:rPr>
              <a:t>누가 타입을 관리하나</a:t>
            </a:r>
            <a:endParaRPr lang="ko-KR" altLang="en-US" sz="1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440680" cy="914400"/>
        </p:xfrm>
        <a:graphic>
          <a:graphicData uri="http://schemas.openxmlformats.org/drawingml/2006/table">
            <a:tbl>
              <a:tblPr/>
              <a:tblGrid>
                <a:gridCol w="1600200"/>
                <a:gridCol w="2011680"/>
                <a:gridCol w="1828800"/>
              </a:tblGrid>
              <a:tr h="457200">
                <a:tc>
                  <a:txBody>
                    <a:bodyPr/>
                    <a:lstStyle/>
                    <a:p>
                      <a:pPr indent="0" marL="0" eaLnBrk="0">
                        <a:buNone/>
                      </a:pP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클래스의 가상 메서드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타입 객체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457200">
                <a:tc>
                  <a:txBody>
                    <a:bodyPr/>
                    <a:lstStyle/>
                    <a:p>
                      <a:pPr indent="0" marL="0" eaLnBrk="0">
                        <a:buNone/>
                      </a:pPr>
                      <a:r>
                        <a:rPr lang="ko-KR" altLang="en-US" sz="1400" b="1" dirty="0">
                          <a:solidFill>
                            <a:schemeClr val="tx1"/>
                          </a:solidFill>
                        </a:rPr>
                        <a:t>타입 정보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가상 함수 테이블</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Breed 객체</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57200">
                <a:tc>
                  <a:txBody>
                    <a:bodyPr/>
                    <a:lstStyle/>
                    <a:p>
                      <a:pPr indent="0" marL="0" eaLnBrk="0">
                        <a:buNone/>
                      </a:pPr>
                      <a:r>
                        <a:rPr lang="ko-KR" altLang="en-US" sz="1400" b="1" dirty="0">
                          <a:solidFill>
                            <a:schemeClr val="tx1"/>
                          </a:solidFill>
                        </a:rPr>
                        <a:t>객체 → 타입</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테이블 참조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_breed 참조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457200">
                <a:tc>
                  <a:txBody>
                    <a:bodyPr/>
                    <a:lstStyle/>
                    <a:p>
                      <a:pPr indent="0" marL="0" eaLnBrk="0">
                        <a:buNone/>
                      </a:pPr>
                      <a:r>
                        <a:rPr lang="ko-KR" altLang="en-US" sz="1400" b="1" dirty="0">
                          <a:solidFill>
                            <a:schemeClr val="tx1"/>
                          </a:solidFill>
                        </a:rPr>
                        <a:t>관리하는 쪽</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컴파일러</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우리 코드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548640" y="4160520"/>
            <a:ext cx="5440680" cy="685800"/>
          </a:xfrm>
          <a:prstGeom prst="rect">
            <a:avLst/>
          </a:prstGeom>
          <a:noFill/>
          <a:ln/>
        </p:spPr>
        <p:txBody>
          <a:bodyPr wrap="square" lIns="0" tIns="0" rIns="0" bIns="0" rtlCol="0" anchor="t"/>
          <a:lstStyle/>
          <a:p>
            <a:pPr indent="0" marL="0" eaLnBrk="0">
              <a:buNone/>
            </a:pPr>
            <a:r>
              <a:rPr lang="ko-KR" altLang="en-US" sz="1400" dirty="0">
                <a:solidFill>
                  <a:schemeClr val="tx2"/>
                </a:solidFill>
              </a:rPr>
              <a:t>우리 코드가 종족을 만들고, 살려 두고,</a:t>
            </a:r>
            <a:endParaRPr lang="ko-KR" altLang="en-US" sz="1400" dirty="0"/>
          </a:p>
          <a:p>
            <a:pPr indent="0" marL="0" eaLnBrk="0">
              <a:buNone/>
            </a:pPr>
            <a:r>
              <a:rPr lang="ko-KR" altLang="en-US" sz="1400" dirty="0">
                <a:solidFill>
                  <a:schemeClr val="tx2"/>
                </a:solidFill>
              </a:rPr>
              <a:t>몬스터마다 올바른 종족을 연결한다.</a:t>
            </a:r>
            <a:endParaRPr lang="ko-KR" altLang="en-US" sz="1400" dirty="0"/>
          </a:p>
        </p:txBody>
      </p:sp>
      <p:sp>
        <p:nvSpPr>
          <p:cNvPr id="9" name="Text 5"/>
          <p:cNvSpPr txBox="1"/>
          <p:nvPr/>
        </p:nvSpPr>
        <p:spPr>
          <a:xfrm>
            <a:off x="6309360" y="1645920"/>
            <a:ext cx="5333695" cy="411480"/>
          </a:xfrm>
          <a:prstGeom prst="rect">
            <a:avLst/>
          </a:prstGeom>
          <a:noFill/>
          <a:ln/>
        </p:spPr>
        <p:txBody>
          <a:bodyPr wrap="square" lIns="0" tIns="0" rIns="0" bIns="0" rtlCol="0" anchor="t"/>
          <a:lstStyle/>
          <a:p>
            <a:pPr indent="0" marL="0" eaLnBrk="0">
              <a:buNone/>
            </a:pPr>
            <a:r>
              <a:rPr lang="ko-KR" altLang="en-US" sz="1800" b="1" dirty="0">
                <a:solidFill>
                  <a:schemeClr val="tx1"/>
                </a:solidFill>
              </a:rPr>
              <a:t>종족마다 다른 행동은</a:t>
            </a:r>
            <a:endParaRPr lang="ko-KR" altLang="en-US" sz="1800" dirty="0"/>
          </a:p>
        </p:txBody>
      </p:sp>
      <p:sp>
        <p:nvSpPr>
          <p:cNvPr id="10" name="card"/>
          <p:cNvSpPr/>
          <p:nvPr/>
        </p:nvSpPr>
        <p:spPr>
          <a:xfrm>
            <a:off x="6309360" y="2148840"/>
            <a:ext cx="5333695" cy="1600200"/>
          </a:xfrm>
          <a:prstGeom prst="roundRect">
            <a:avLst>
              <a:gd name="adj" fmla="val 5714"/>
            </a:avLst>
          </a:prstGeom>
          <a:solidFill>
            <a:schemeClr val="bg2"/>
          </a:solidFill>
          <a:ln w="12700">
            <a:solidFill>
              <a:schemeClr val="bg2"/>
            </a:solidFill>
            <a:prstDash val="solid"/>
          </a:ln>
        </p:spPr>
      </p:sp>
      <p:sp>
        <p:nvSpPr>
          <p:cNvPr id="11" name="Shape 7"/>
          <p:cNvSpPr/>
          <p:nvPr/>
        </p:nvSpPr>
        <p:spPr>
          <a:xfrm>
            <a:off x="6537960" y="2350008"/>
            <a:ext cx="420624" cy="420624"/>
          </a:xfrm>
          <a:prstGeom prst="ellipse">
            <a:avLst/>
          </a:prstGeom>
          <a:solidFill>
            <a:schemeClr val="accent1"/>
          </a:solidFill>
          <a:ln w="12700">
            <a:solidFill>
              <a:schemeClr val="accent1"/>
            </a:solidFill>
            <a:prstDash val="solid"/>
          </a:ln>
        </p:spPr>
      </p:sp>
      <p:sp>
        <p:nvSpPr>
          <p:cNvPr id="12" name="Text 8"/>
          <p:cNvSpPr txBox="1"/>
          <p:nvPr/>
        </p:nvSpPr>
        <p:spPr>
          <a:xfrm>
            <a:off x="6537960" y="23500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3" name="Text 9"/>
          <p:cNvSpPr txBox="1"/>
          <p:nvPr/>
        </p:nvSpPr>
        <p:spPr>
          <a:xfrm>
            <a:off x="7086600" y="2368296"/>
            <a:ext cx="43735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정해 둔 행동 중에서 고른다</a:t>
            </a:r>
            <a:endParaRPr lang="ko-KR" altLang="en-US" sz="1700" dirty="0"/>
          </a:p>
        </p:txBody>
      </p:sp>
      <p:sp>
        <p:nvSpPr>
          <p:cNvPr id="14" name="Text 10"/>
          <p:cNvSpPr txBox="1"/>
          <p:nvPr/>
        </p:nvSpPr>
        <p:spPr>
          <a:xfrm>
            <a:off x="7086600" y="2788920"/>
            <a:ext cx="4373575" cy="868680"/>
          </a:xfrm>
          <a:prstGeom prst="rect">
            <a:avLst/>
          </a:prstGeom>
          <a:noFill/>
          <a:ln/>
        </p:spPr>
        <p:txBody>
          <a:bodyPr wrap="square" lIns="0" tIns="0" rIns="0" bIns="0" rtlCol="0" anchor="t"/>
          <a:lstStyle/>
          <a:p>
            <a:pPr indent="0" marL="0" eaLnBrk="0">
              <a:buNone/>
            </a:pPr>
            <a:r>
              <a:rPr lang="ko-KR" altLang="en-US" sz="1400" dirty="0">
                <a:solidFill>
                  <a:schemeClr val="tx2"/>
                </a:solidFill>
              </a:rPr>
              <a:t>가만히 서 있기, 주인공 쫓기, 겁먹고 숨기 중에서 종족이 하나를 고른다.</a:t>
            </a:r>
            <a:endParaRPr lang="ko-KR" altLang="en-US" sz="1400" dirty="0"/>
          </a:p>
        </p:txBody>
      </p:sp>
      <p:sp>
        <p:nvSpPr>
          <p:cNvPr id="15" name="card"/>
          <p:cNvSpPr/>
          <p:nvPr/>
        </p:nvSpPr>
        <p:spPr>
          <a:xfrm>
            <a:off x="6309360" y="3931920"/>
            <a:ext cx="5333695" cy="1691640"/>
          </a:xfrm>
          <a:prstGeom prst="roundRect">
            <a:avLst>
              <a:gd name="adj" fmla="val 5405"/>
            </a:avLst>
          </a:prstGeom>
          <a:solidFill>
            <a:schemeClr val="bg2"/>
          </a:solidFill>
          <a:ln w="12700">
            <a:solidFill>
              <a:schemeClr val="bg2"/>
            </a:solidFill>
            <a:prstDash val="solid"/>
          </a:ln>
        </p:spPr>
      </p:sp>
      <p:sp>
        <p:nvSpPr>
          <p:cNvPr id="16" name="Shape 12"/>
          <p:cNvSpPr/>
          <p:nvPr/>
        </p:nvSpPr>
        <p:spPr>
          <a:xfrm>
            <a:off x="6537960" y="4133088"/>
            <a:ext cx="420624" cy="420624"/>
          </a:xfrm>
          <a:prstGeom prst="ellipse">
            <a:avLst/>
          </a:prstGeom>
          <a:solidFill>
            <a:schemeClr val="accent1"/>
          </a:solidFill>
          <a:ln w="12700">
            <a:solidFill>
              <a:schemeClr val="accent1"/>
            </a:solidFill>
            <a:prstDash val="solid"/>
          </a:ln>
        </p:spPr>
      </p:sp>
      <p:sp>
        <p:nvSpPr>
          <p:cNvPr id="17" name="Text 13"/>
          <p:cNvSpPr txBox="1"/>
          <p:nvPr/>
        </p:nvSpPr>
        <p:spPr>
          <a:xfrm>
            <a:off x="6537960" y="4133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8" name="Text 14"/>
          <p:cNvSpPr txBox="1"/>
          <p:nvPr/>
        </p:nvSpPr>
        <p:spPr>
          <a:xfrm>
            <a:off x="7086600" y="4151376"/>
            <a:ext cx="4373575"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행동도 데이터로 정의한다</a:t>
            </a:r>
            <a:endParaRPr lang="ko-KR" altLang="en-US" sz="1700" dirty="0"/>
          </a:p>
        </p:txBody>
      </p:sp>
      <p:sp>
        <p:nvSpPr>
          <p:cNvPr id="19" name="Text 15"/>
          <p:cNvSpPr txBox="1"/>
          <p:nvPr/>
        </p:nvSpPr>
        <p:spPr>
          <a:xfrm>
            <a:off x="7086600" y="4572000"/>
            <a:ext cx="4373575" cy="914400"/>
          </a:xfrm>
          <a:prstGeom prst="rect">
            <a:avLst/>
          </a:prstGeom>
          <a:noFill/>
          <a:ln/>
        </p:spPr>
        <p:txBody>
          <a:bodyPr wrap="square" lIns="0" tIns="0" rIns="0" bIns="0" rtlCol="0" anchor="t"/>
          <a:lstStyle/>
          <a:p>
            <a:pPr indent="0" marL="0" eaLnBrk="0">
              <a:buNone/>
            </a:pPr>
            <a:r>
              <a:rPr lang="ko-KR" altLang="en-US" sz="1400" dirty="0">
                <a:solidFill>
                  <a:schemeClr val="tx2"/>
                </a:solidFill>
              </a:rPr>
              <a:t>해석자 패턴이나 바이트코드(9강)로 행동 자체를 데이터에 적는다.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관련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원서가 함께 소개하는 패턴들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Unity에서는 이 생각이 어디에 쓰이고 있을까?</a:t>
            </a:r>
            <a:endParaRPr lang="ko-KR" altLang="en-US" sz="1500" dirty="0"/>
          </a:p>
        </p:txBody>
      </p:sp>
      <p:sp>
        <p:nvSpPr>
          <p:cNvPr id="6" name="Shape 3"/>
          <p:cNvSpPr/>
          <p:nvPr/>
        </p:nvSpPr>
        <p:spPr>
          <a:xfrm>
            <a:off x="548640" y="1691640"/>
            <a:ext cx="11094415" cy="1234440"/>
          </a:xfrm>
          <a:prstGeom prst="roundRect">
            <a:avLst>
              <a:gd name="adj" fmla="val 7407"/>
            </a:avLst>
          </a:prstGeom>
          <a:solidFill>
            <a:schemeClr val="bg2"/>
          </a:solidFill>
          <a:ln w="12700">
            <a:solidFill>
              <a:schemeClr val="bg2"/>
            </a:solidFill>
            <a:prstDash val="solid"/>
          </a:ln>
        </p:spPr>
      </p:sp>
      <p:sp>
        <p:nvSpPr>
          <p:cNvPr id="7" name="Text 4"/>
          <p:cNvSpPr txBox="1"/>
          <p:nvPr/>
        </p:nvSpPr>
        <p:spPr>
          <a:xfrm>
            <a:off x="822960" y="182880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프로토타입(Prototype)</a:t>
            </a:r>
            <a:endParaRPr lang="ko-KR" altLang="en-US" sz="1800" dirty="0"/>
          </a:p>
        </p:txBody>
      </p:sp>
      <p:sp>
        <p:nvSpPr>
          <p:cNvPr id="8" name="Text 5"/>
          <p:cNvSpPr txBox="1"/>
          <p:nvPr/>
        </p:nvSpPr>
        <p:spPr>
          <a:xfrm>
            <a:off x="4114800" y="1783080"/>
            <a:ext cx="7345375" cy="1051560"/>
          </a:xfrm>
          <a:prstGeom prst="rect">
            <a:avLst/>
          </a:prstGeom>
          <a:noFill/>
          <a:ln/>
        </p:spPr>
        <p:txBody>
          <a:bodyPr wrap="square" lIns="0" tIns="0" rIns="0" bIns="0" rtlCol="0" anchor="ctr"/>
          <a:lstStyle/>
          <a:p>
            <a:pPr indent="0" marL="0" eaLnBrk="0">
              <a:buNone/>
            </a:pPr>
            <a:r>
              <a:rPr lang="ko-KR" altLang="en-US" sz="1400" dirty="0">
                <a:solidFill>
                  <a:schemeClr val="tx2"/>
                </a:solidFill>
              </a:rPr>
              <a:t>원본 객체를 복제해 데이터와 행동을 나눠 갖는다.</a:t>
            </a:r>
            <a:endParaRPr lang="ko-KR" altLang="en-US" sz="1400" dirty="0"/>
          </a:p>
          <a:p>
            <a:pPr indent="0" marL="0" eaLnBrk="0">
              <a:buNone/>
            </a:pPr>
            <a:r>
              <a:rPr lang="ko-KR" altLang="en-US" sz="1400" dirty="0">
                <a:solidFill>
                  <a:schemeClr val="tx2"/>
                </a:solidFill>
              </a:rPr>
              <a:t>같은 문제를 푸는 다른 방법이다.</a:t>
            </a:r>
            <a:endParaRPr lang="ko-KR" altLang="en-US" sz="1400" dirty="0"/>
          </a:p>
        </p:txBody>
      </p:sp>
      <p:sp>
        <p:nvSpPr>
          <p:cNvPr id="9" name="Shape 6"/>
          <p:cNvSpPr/>
          <p:nvPr/>
        </p:nvSpPr>
        <p:spPr>
          <a:xfrm>
            <a:off x="548640" y="3063240"/>
            <a:ext cx="11094415" cy="1234440"/>
          </a:xfrm>
          <a:prstGeom prst="roundRect">
            <a:avLst>
              <a:gd name="adj" fmla="val 7407"/>
            </a:avLst>
          </a:prstGeom>
          <a:solidFill>
            <a:schemeClr val="bg2"/>
          </a:solidFill>
          <a:ln w="12700">
            <a:solidFill>
              <a:schemeClr val="bg2"/>
            </a:solidFill>
            <a:prstDash val="solid"/>
          </a:ln>
        </p:spPr>
      </p:sp>
      <p:sp>
        <p:nvSpPr>
          <p:cNvPr id="10" name="Text 7"/>
          <p:cNvSpPr txBox="1"/>
          <p:nvPr/>
        </p:nvSpPr>
        <p:spPr>
          <a:xfrm>
            <a:off x="822960" y="320040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경량(Flyweight)</a:t>
            </a:r>
            <a:endParaRPr lang="ko-KR" altLang="en-US" sz="1800" dirty="0"/>
          </a:p>
        </p:txBody>
      </p:sp>
      <p:sp>
        <p:nvSpPr>
          <p:cNvPr id="11" name="Shape 8"/>
          <p:cNvSpPr/>
          <p:nvPr/>
        </p:nvSpPr>
        <p:spPr>
          <a:xfrm>
            <a:off x="822960" y="3749040"/>
            <a:ext cx="822960" cy="347472"/>
          </a:xfrm>
          <a:prstGeom prst="roundRect">
            <a:avLst>
              <a:gd name="adj" fmla="val 21053"/>
            </a:avLst>
          </a:prstGeom>
          <a:solidFill>
            <a:schemeClr val="accent1"/>
          </a:solidFill>
          <a:ln w="12700">
            <a:solidFill>
              <a:schemeClr val="accent1"/>
            </a:solidFill>
            <a:prstDash val="solid"/>
          </a:ln>
        </p:spPr>
      </p:sp>
      <p:sp>
        <p:nvSpPr>
          <p:cNvPr id="12" name="Text 9"/>
          <p:cNvSpPr txBox="1"/>
          <p:nvPr/>
        </p:nvSpPr>
        <p:spPr>
          <a:xfrm>
            <a:off x="822960" y="3749040"/>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3강</a:t>
            </a:r>
            <a:endParaRPr lang="ko-KR" altLang="en-US" sz="1200" dirty="0"/>
          </a:p>
        </p:txBody>
      </p:sp>
      <p:sp>
        <p:nvSpPr>
          <p:cNvPr id="13" name="Text 10"/>
          <p:cNvSpPr txBox="1"/>
          <p:nvPr/>
        </p:nvSpPr>
        <p:spPr>
          <a:xfrm>
            <a:off x="4114800" y="3154680"/>
            <a:ext cx="7345375" cy="1051560"/>
          </a:xfrm>
          <a:prstGeom prst="rect">
            <a:avLst/>
          </a:prstGeom>
          <a:noFill/>
          <a:ln/>
        </p:spPr>
        <p:txBody>
          <a:bodyPr wrap="square" lIns="0" tIns="0" rIns="0" bIns="0" rtlCol="0" anchor="ctr"/>
          <a:lstStyle/>
          <a:p>
            <a:pPr indent="0" marL="0" eaLnBrk="0">
              <a:buNone/>
            </a:pPr>
            <a:r>
              <a:rPr lang="ko-KR" altLang="en-US" sz="1400" dirty="0">
                <a:solidFill>
                  <a:schemeClr val="tx2"/>
                </a:solidFill>
              </a:rPr>
              <a:t>여러 인스턴스가 데이터를 함께 쓴다는 점이 닮았다.</a:t>
            </a:r>
            <a:endParaRPr lang="ko-KR" altLang="en-US" sz="1400" dirty="0"/>
          </a:p>
          <a:p>
            <a:pPr indent="0" marL="0" eaLnBrk="0">
              <a:buNone/>
            </a:pPr>
            <a:r>
              <a:rPr lang="ko-KR" altLang="en-US" sz="1400" dirty="0">
                <a:solidFill>
                  <a:schemeClr val="tx2"/>
                </a:solidFill>
              </a:rPr>
              <a:t>경량은 메모리 절약이 목적이고, 공유 데이터가 타입이 아닐 수도 있다.</a:t>
            </a:r>
            <a:endParaRPr lang="ko-KR" altLang="en-US" sz="1400" dirty="0"/>
          </a:p>
          <a:p>
            <a:pPr indent="0" marL="0" eaLnBrk="0">
              <a:buNone/>
            </a:pPr>
            <a:r>
              <a:rPr lang="ko-KR" altLang="en-US" sz="1400" dirty="0">
                <a:solidFill>
                  <a:schemeClr val="tx2"/>
                </a:solidFill>
              </a:rPr>
              <a:t>타입 객체는 구성과 유연성이 목적이다.</a:t>
            </a:r>
            <a:endParaRPr lang="ko-KR" altLang="en-US" sz="1400" dirty="0"/>
          </a:p>
        </p:txBody>
      </p:sp>
      <p:sp>
        <p:nvSpPr>
          <p:cNvPr id="14" name="Shape 11"/>
          <p:cNvSpPr/>
          <p:nvPr/>
        </p:nvSpPr>
        <p:spPr>
          <a:xfrm>
            <a:off x="548640" y="4434840"/>
            <a:ext cx="11094415" cy="1234440"/>
          </a:xfrm>
          <a:prstGeom prst="roundRect">
            <a:avLst>
              <a:gd name="adj" fmla="val 7407"/>
            </a:avLst>
          </a:prstGeom>
          <a:solidFill>
            <a:schemeClr val="bg2"/>
          </a:solidFill>
          <a:ln w="12700">
            <a:solidFill>
              <a:schemeClr val="bg2"/>
            </a:solidFill>
            <a:prstDash val="solid"/>
          </a:ln>
        </p:spPr>
      </p:sp>
      <p:sp>
        <p:nvSpPr>
          <p:cNvPr id="15" name="Text 12"/>
          <p:cNvSpPr txBox="1"/>
          <p:nvPr/>
        </p:nvSpPr>
        <p:spPr>
          <a:xfrm>
            <a:off x="822960" y="4572000"/>
            <a:ext cx="3291840" cy="457200"/>
          </a:xfrm>
          <a:prstGeom prst="rect">
            <a:avLst/>
          </a:prstGeom>
          <a:noFill/>
          <a:ln/>
        </p:spPr>
        <p:txBody>
          <a:bodyPr wrap="square" lIns="0" tIns="0" rIns="0" bIns="0" rtlCol="0" anchor="t"/>
          <a:lstStyle/>
          <a:p>
            <a:pPr indent="0" marL="0" eaLnBrk="0">
              <a:buNone/>
            </a:pPr>
            <a:r>
              <a:rPr lang="ko-KR" altLang="en-US" sz="1800" b="1" dirty="0">
                <a:solidFill>
                  <a:schemeClr val="tx1"/>
                </a:solidFill>
              </a:rPr>
              <a:t>상태(State)</a:t>
            </a:r>
            <a:endParaRPr lang="ko-KR" altLang="en-US" sz="1800" dirty="0"/>
          </a:p>
        </p:txBody>
      </p:sp>
      <p:sp>
        <p:nvSpPr>
          <p:cNvPr id="16" name="Shape 13"/>
          <p:cNvSpPr/>
          <p:nvPr/>
        </p:nvSpPr>
        <p:spPr>
          <a:xfrm>
            <a:off x="822960" y="5120640"/>
            <a:ext cx="822960" cy="347472"/>
          </a:xfrm>
          <a:prstGeom prst="roundRect">
            <a:avLst>
              <a:gd name="adj" fmla="val 21053"/>
            </a:avLst>
          </a:prstGeom>
          <a:solidFill>
            <a:schemeClr val="accent1"/>
          </a:solidFill>
          <a:ln w="12700">
            <a:solidFill>
              <a:schemeClr val="accent1"/>
            </a:solidFill>
            <a:prstDash val="solid"/>
          </a:ln>
        </p:spPr>
      </p:sp>
      <p:sp>
        <p:nvSpPr>
          <p:cNvPr id="17" name="Text 14"/>
          <p:cNvSpPr txBox="1"/>
          <p:nvPr/>
        </p:nvSpPr>
        <p:spPr>
          <a:xfrm>
            <a:off x="822960" y="5120640"/>
            <a:ext cx="82296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4강</a:t>
            </a:r>
            <a:endParaRPr lang="ko-KR" altLang="en-US" sz="1200" dirty="0"/>
          </a:p>
        </p:txBody>
      </p:sp>
      <p:sp>
        <p:nvSpPr>
          <p:cNvPr id="18" name="Text 15"/>
          <p:cNvSpPr txBox="1"/>
          <p:nvPr/>
        </p:nvSpPr>
        <p:spPr>
          <a:xfrm>
            <a:off x="4114800" y="4526280"/>
            <a:ext cx="7345375" cy="1051560"/>
          </a:xfrm>
          <a:prstGeom prst="rect">
            <a:avLst/>
          </a:prstGeom>
          <a:noFill/>
          <a:ln/>
        </p:spPr>
        <p:txBody>
          <a:bodyPr wrap="square" lIns="0" tIns="0" rIns="0" bIns="0" rtlCol="0" anchor="ctr"/>
          <a:lstStyle/>
          <a:p>
            <a:pPr indent="0" marL="0" eaLnBrk="0">
              <a:buNone/>
            </a:pPr>
            <a:r>
              <a:rPr lang="ko-KR" altLang="en-US" sz="1400" dirty="0">
                <a:solidFill>
                  <a:schemeClr val="tx2"/>
                </a:solidFill>
              </a:rPr>
              <a:t>자기 정의의 일부를 다른 객체에 맡긴다는 점이 닮았다.</a:t>
            </a:r>
            <a:endParaRPr lang="ko-KR" altLang="en-US" sz="1400" dirty="0"/>
          </a:p>
          <a:p>
            <a:pPr indent="0" marL="0" eaLnBrk="0">
              <a:buNone/>
            </a:pPr>
            <a:r>
              <a:rPr lang="ko-KR" altLang="en-US" sz="1400" dirty="0">
                <a:solidFill>
                  <a:schemeClr val="tx2"/>
                </a:solidFill>
              </a:rPr>
              <a:t>타입 객체는 무엇인지를, 상태는 지금 어떤지를 맡긴다.</a:t>
            </a:r>
            <a:endParaRPr lang="ko-KR" altLang="en-US" sz="1400" dirty="0"/>
          </a:p>
          <a:p>
            <a:pPr indent="0" marL="0" eaLnBrk="0">
              <a:buNone/>
            </a:pPr>
            <a:r>
              <a:rPr lang="ko-KR" altLang="en-US" sz="1400" dirty="0">
                <a:solidFill>
                  <a:schemeClr val="tx2"/>
                </a:solidFill>
              </a:rPr>
              <a:t>종족을 바꿀 수 있으면 타입 객체가 상태 역할도 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Unity에서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Unity에서는 ScriptableObject 에셋이 타입 객체 역할을 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프리팹과 ScriptableObject를 함께 쓰면 역할이 어떻게 나뉠까?</a:t>
            </a:r>
            <a:endParaRPr lang="ko-KR" altLang="en-US" sz="15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926080"/>
                <a:gridCol w="8168335"/>
              </a:tblGrid>
              <a:tr h="384048">
                <a:tc>
                  <a:txBody>
                    <a:bodyPr/>
                    <a:lstStyle/>
                    <a:p>
                      <a:pPr indent="0" marL="0" eaLnBrk="0">
                        <a:buNone/>
                      </a:pPr>
                      <a:r>
                        <a:rPr lang="ko-KR" altLang="en-US" sz="1400" b="1" dirty="0">
                          <a:solidFill>
                            <a:schemeClr val="bg1"/>
                          </a:solidFill>
                        </a:rPr>
                        <a:t>Unity 기능</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타입 객체 패턴과의 관계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731520">
                <a:tc>
                  <a:txBody>
                    <a:bodyPr/>
                    <a:lstStyle/>
                    <a:p>
                      <a:pPr indent="0" marL="0" eaLnBrk="0">
                        <a:buNone/>
                      </a:pPr>
                      <a:r>
                        <a:rPr lang="ko-KR" altLang="en-US" sz="1400" b="1" dirty="0">
                          <a:solidFill>
                            <a:schemeClr val="tx1"/>
                          </a:solidFill>
                        </a:rPr>
                        <a:t>ScriptableObject 에셋</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여러 오브젝트가 같은 에셋을 참조해 공유 값을 읽는다. 종족 객체(Breed)에 해당한다.</a:t>
                      </a:r>
                      <a:endParaRPr lang="ko-KR" altLang="en-US" sz="1400" dirty="0"/>
                    </a:p>
                    <a:p>
                      <a:pPr indent="0" marL="0" eaLnBrk="0">
                        <a:buNone/>
                      </a:pPr>
                      <a:r>
                        <a:rPr lang="ko-KR" altLang="en-US" sz="1400" dirty="0">
                          <a:solidFill>
                            <a:schemeClr val="tx2"/>
                          </a:solidFill>
                        </a:rPr>
                        <a:t>코드를 다시 컴파일하지 않고 에디터에서 값을 고친다.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400" b="1" dirty="0">
                          <a:solidFill>
                            <a:schemeClr val="tx1"/>
                          </a:solidFill>
                        </a:rPr>
                        <a:t>[CreateAssetMenu]</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Assets &gt; Create 메뉴로 새 에셋을 만든다.</a:t>
                      </a:r>
                      <a:endParaRPr lang="ko-KR" altLang="en-US" sz="1400" dirty="0"/>
                    </a:p>
                    <a:p>
                      <a:pPr indent="0" marL="0" eaLnBrk="0">
                        <a:buNone/>
                      </a:pPr>
                      <a:r>
                        <a:rPr lang="ko-KR" altLang="en-US" sz="1400" dirty="0">
                          <a:solidFill>
                            <a:schemeClr val="tx2"/>
                          </a:solidFill>
                        </a:rPr>
                        <a:t>디자이너가 코드 없이 새 종족을 더한다. (데이터 파일과 같은 효과)</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400" b="1" dirty="0">
                          <a:solidFill>
                            <a:schemeClr val="tx1"/>
                          </a:solidFill>
                        </a:rPr>
                        <a:t>JsonUtility.FromJson</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JSON 텍스트를 [Serializable] 클래스의 객체로 읽는다.</a:t>
                      </a:r>
                      <a:endParaRPr lang="ko-KR" altLang="en-US" sz="1400" dirty="0"/>
                    </a:p>
                    <a:p>
                      <a:pPr indent="0" marL="0" eaLnBrk="0">
                        <a:buNone/>
                      </a:pPr>
                      <a:r>
                        <a:rPr lang="ko-KR" altLang="en-US" sz="1400" dirty="0">
                          <a:solidFill>
                            <a:schemeClr val="tx2"/>
                          </a:solidFill>
                        </a:rPr>
                        <a:t>원서처럼 종족 목록을 JSON 파일로 둘 때 쓸 수 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400" b="1" dirty="0">
                          <a:solidFill>
                            <a:schemeClr val="tx1"/>
                          </a:solidFill>
                        </a:rPr>
                        <a:t>프리팹과 Instantiate</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원본 오브젝트를 통째로 복제한다. 복제본은 값을 복사해 따로 가진다.</a:t>
                      </a:r>
                      <a:endParaRPr lang="ko-KR" altLang="en-US" sz="1400" dirty="0"/>
                    </a:p>
                    <a:p>
                      <a:pPr indent="0" marL="0" eaLnBrk="0">
                        <a:buNone/>
                      </a:pPr>
                      <a:r>
                        <a:rPr lang="ko-KR" altLang="en-US" sz="1400" dirty="0">
                          <a:solidFill>
                            <a:schemeClr val="tx2"/>
                          </a:solidFill>
                        </a:rPr>
                        <a:t>타입 객체보다 프로토타입에 가깝다.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400" b="1" dirty="0">
                          <a:solidFill>
                            <a:schemeClr val="tx1"/>
                          </a:solidFill>
                        </a:rPr>
                        <a:t>프리팹 변형(Prefab Variant)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바탕 프리팹의 값을 물려받고 일부만 덮어쓴다.</a:t>
                      </a:r>
                      <a:endParaRPr lang="ko-KR" altLang="en-US" sz="1400" dirty="0"/>
                    </a:p>
                    <a:p>
                      <a:pPr indent="0" marL="0" eaLnBrk="0">
                        <a:buNone/>
                      </a:pPr>
                      <a:r>
                        <a:rPr lang="ko-KR" altLang="en-US" sz="1400" dirty="0">
                          <a:solidFill>
                            <a:schemeClr val="tx2"/>
                          </a:solidFill>
                        </a:rPr>
                        <a:t>에디터에서 쓰는 종족 상속과 닮았다.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Unity에서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프리팹은 복제하고, ScriptableObject는 참조한다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마지막으로 오늘 내용을 질문으로 확인해 보자.</a:t>
            </a:r>
            <a:endParaRPr lang="ko-KR" altLang="en-US" sz="1500" dirty="0"/>
          </a:p>
        </p:txBody>
      </p:sp>
      <p:sp>
        <p:nvSpPr>
          <p:cNvPr id="6" name="Text 3"/>
          <p:cNvSpPr txBox="1"/>
          <p:nvPr/>
        </p:nvSpPr>
        <p:spPr>
          <a:xfrm>
            <a:off x="548640" y="1645920"/>
            <a:ext cx="5440680" cy="411480"/>
          </a:xfrm>
          <a:prstGeom prst="rect">
            <a:avLst/>
          </a:prstGeom>
          <a:noFill/>
          <a:ln/>
        </p:spPr>
        <p:txBody>
          <a:bodyPr wrap="square" lIns="0" tIns="0" rIns="0" bIns="0" rtlCol="0" anchor="t"/>
          <a:lstStyle/>
          <a:p>
            <a:pPr indent="0" marL="0" eaLnBrk="0">
              <a:buNone/>
            </a:pPr>
            <a:r>
              <a:rPr lang="ko-KR" altLang="en-US" sz="1600" b="1" dirty="0">
                <a:solidFill>
                  <a:schemeClr val="accent1"/>
                </a:solidFill>
              </a:rPr>
              <a:t>프리팹: 복제한다 (프로토타입에 가깝다)</a:t>
            </a:r>
            <a:endParaRPr lang="ko-KR" altLang="en-US" sz="1600" dirty="0"/>
          </a:p>
        </p:txBody>
      </p:sp>
      <p:sp>
        <p:nvSpPr>
          <p:cNvPr id="7" name="box"/>
          <p:cNvSpPr/>
          <p:nvPr/>
        </p:nvSpPr>
        <p:spPr>
          <a:xfrm>
            <a:off x="2080260" y="2194560"/>
            <a:ext cx="2377440" cy="685800"/>
          </a:xfrm>
          <a:prstGeom prst="roundRect">
            <a:avLst>
              <a:gd name="adj" fmla="val 10667"/>
            </a:avLst>
          </a:prstGeom>
          <a:solidFill>
            <a:schemeClr val="accent1"/>
          </a:solidFill>
          <a:ln w="12700">
            <a:solidFill>
              <a:schemeClr val="accent1"/>
            </a:solidFill>
            <a:prstDash val="solid"/>
          </a:ln>
        </p:spPr>
      </p:sp>
      <p:sp>
        <p:nvSpPr>
          <p:cNvPr id="8" name="Text 5"/>
          <p:cNvSpPr txBox="1"/>
          <p:nvPr/>
        </p:nvSpPr>
        <p:spPr>
          <a:xfrm>
            <a:off x="2080260" y="2194560"/>
            <a:ext cx="2377440" cy="68580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트롤 프리팹</a:t>
            </a:r>
            <a:endParaRPr lang="ko-KR" altLang="en-US" sz="1500" dirty="0"/>
          </a:p>
        </p:txBody>
      </p:sp>
      <p:sp>
        <p:nvSpPr>
          <p:cNvPr id="9" name="Shape 6"/>
          <p:cNvSpPr/>
          <p:nvPr/>
        </p:nvSpPr>
        <p:spPr>
          <a:xfrm flipH="1">
            <a:off x="1874520" y="2926080"/>
            <a:ext cx="1394460" cy="594360"/>
          </a:xfrm>
          <a:prstGeom prst="line">
            <a:avLst/>
          </a:prstGeom>
          <a:noFill/>
          <a:ln w="22225">
            <a:solidFill>
              <a:schemeClr val="accent3"/>
            </a:solidFill>
            <a:prstDash val="solid"/>
            <a:tailEnd type="triangle"/>
          </a:ln>
        </p:spPr>
      </p:sp>
      <p:sp>
        <p:nvSpPr>
          <p:cNvPr id="10" name="box"/>
          <p:cNvSpPr/>
          <p:nvPr/>
        </p:nvSpPr>
        <p:spPr>
          <a:xfrm>
            <a:off x="731520" y="3520440"/>
            <a:ext cx="2286000" cy="685800"/>
          </a:xfrm>
          <a:prstGeom prst="roundRect">
            <a:avLst>
              <a:gd name="adj" fmla="val 10667"/>
            </a:avLst>
          </a:prstGeom>
          <a:solidFill>
            <a:schemeClr val="bg2"/>
          </a:solidFill>
          <a:ln w="12700">
            <a:solidFill>
              <a:schemeClr val="bg2"/>
            </a:solidFill>
            <a:prstDash val="solid"/>
          </a:ln>
        </p:spPr>
      </p:sp>
      <p:sp>
        <p:nvSpPr>
          <p:cNvPr id="11" name="Text 8"/>
          <p:cNvSpPr txBox="1"/>
          <p:nvPr/>
        </p:nvSpPr>
        <p:spPr>
          <a:xfrm>
            <a:off x="731520" y="3520440"/>
            <a:ext cx="2286000"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트롤 (1)</a:t>
            </a:r>
            <a:endParaRPr lang="ko-KR" altLang="en-US" sz="1400" dirty="0"/>
          </a:p>
        </p:txBody>
      </p:sp>
      <p:sp>
        <p:nvSpPr>
          <p:cNvPr id="12" name="Shape 9"/>
          <p:cNvSpPr/>
          <p:nvPr/>
        </p:nvSpPr>
        <p:spPr>
          <a:xfrm>
            <a:off x="3268980" y="2926080"/>
            <a:ext cx="1303020" cy="594360"/>
          </a:xfrm>
          <a:prstGeom prst="line">
            <a:avLst/>
          </a:prstGeom>
          <a:noFill/>
          <a:ln w="22225">
            <a:solidFill>
              <a:schemeClr val="accent3"/>
            </a:solidFill>
            <a:prstDash val="solid"/>
            <a:tailEnd type="triangle"/>
          </a:ln>
        </p:spPr>
      </p:sp>
      <p:sp>
        <p:nvSpPr>
          <p:cNvPr id="13" name="box"/>
          <p:cNvSpPr/>
          <p:nvPr/>
        </p:nvSpPr>
        <p:spPr>
          <a:xfrm>
            <a:off x="3429000" y="3520440"/>
            <a:ext cx="2286000" cy="685800"/>
          </a:xfrm>
          <a:prstGeom prst="roundRect">
            <a:avLst>
              <a:gd name="adj" fmla="val 10667"/>
            </a:avLst>
          </a:prstGeom>
          <a:solidFill>
            <a:schemeClr val="bg2"/>
          </a:solidFill>
          <a:ln w="12700">
            <a:solidFill>
              <a:schemeClr val="bg2"/>
            </a:solidFill>
            <a:prstDash val="solid"/>
          </a:ln>
        </p:spPr>
      </p:sp>
      <p:sp>
        <p:nvSpPr>
          <p:cNvPr id="14" name="Text 11"/>
          <p:cNvSpPr txBox="1"/>
          <p:nvPr/>
        </p:nvSpPr>
        <p:spPr>
          <a:xfrm>
            <a:off x="3429000" y="3520440"/>
            <a:ext cx="2286000"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트롤 (2)</a:t>
            </a:r>
            <a:endParaRPr lang="ko-KR" altLang="en-US" sz="1400" dirty="0"/>
          </a:p>
        </p:txBody>
      </p:sp>
      <p:sp>
        <p:nvSpPr>
          <p:cNvPr id="15" name="Text 12"/>
          <p:cNvSpPr txBox="1"/>
          <p:nvPr/>
        </p:nvSpPr>
        <p:spPr>
          <a:xfrm>
            <a:off x="2674620" y="3200400"/>
            <a:ext cx="1188720" cy="274320"/>
          </a:xfrm>
          <a:prstGeom prst="rect">
            <a:avLst/>
          </a:prstGeom>
          <a:noFill/>
          <a:ln/>
        </p:spPr>
        <p:txBody>
          <a:bodyPr wrap="square" lIns="0" tIns="0" rIns="0" bIns="0" rtlCol="0" anchor="t"/>
          <a:lstStyle/>
          <a:p>
            <a:pPr algn="ctr" indent="0" marL="0" eaLnBrk="0">
              <a:buNone/>
            </a:pPr>
            <a:r>
              <a:rPr lang="ko-KR" altLang="en-US" sz="1100" b="1" dirty="0">
                <a:solidFill>
                  <a:schemeClr val="accent5"/>
                </a:solidFill>
              </a:rPr>
              <a:t>Instantiate</a:t>
            </a:r>
            <a:endParaRPr lang="ko-KR" altLang="en-US" sz="1100" dirty="0"/>
          </a:p>
        </p:txBody>
      </p:sp>
      <p:sp>
        <p:nvSpPr>
          <p:cNvPr id="16" name="Text 13"/>
          <p:cNvSpPr txBox="1"/>
          <p:nvPr/>
        </p:nvSpPr>
        <p:spPr>
          <a:xfrm>
            <a:off x="6309360" y="1645920"/>
            <a:ext cx="5333695" cy="411480"/>
          </a:xfrm>
          <a:prstGeom prst="rect">
            <a:avLst/>
          </a:prstGeom>
          <a:noFill/>
          <a:ln/>
        </p:spPr>
        <p:txBody>
          <a:bodyPr wrap="square" lIns="0" tIns="0" rIns="0" bIns="0" rtlCol="0" anchor="t"/>
          <a:lstStyle/>
          <a:p>
            <a:pPr indent="0" marL="0" eaLnBrk="0">
              <a:buNone/>
            </a:pPr>
            <a:r>
              <a:rPr lang="ko-KR" altLang="en-US" sz="1600" b="1" dirty="0">
                <a:solidFill>
                  <a:schemeClr val="accent2"/>
                </a:solidFill>
              </a:rPr>
              <a:t>ScriptableObject: 참조한다 (타입 객체)</a:t>
            </a:r>
            <a:endParaRPr lang="ko-KR" altLang="en-US" sz="1600" dirty="0"/>
          </a:p>
        </p:txBody>
      </p:sp>
      <p:sp>
        <p:nvSpPr>
          <p:cNvPr id="17" name="box"/>
          <p:cNvSpPr/>
          <p:nvPr/>
        </p:nvSpPr>
        <p:spPr>
          <a:xfrm>
            <a:off x="6355080" y="2194560"/>
            <a:ext cx="1686458" cy="685800"/>
          </a:xfrm>
          <a:prstGeom prst="roundRect">
            <a:avLst>
              <a:gd name="adj" fmla="val 10667"/>
            </a:avLst>
          </a:prstGeom>
          <a:solidFill>
            <a:schemeClr val="bg2"/>
          </a:solidFill>
          <a:ln w="12700">
            <a:solidFill>
              <a:schemeClr val="bg2"/>
            </a:solidFill>
            <a:prstDash val="solid"/>
          </a:ln>
        </p:spPr>
      </p:sp>
      <p:sp>
        <p:nvSpPr>
          <p:cNvPr id="18" name="Text 15"/>
          <p:cNvSpPr txBox="1"/>
          <p:nvPr/>
        </p:nvSpPr>
        <p:spPr>
          <a:xfrm>
            <a:off x="6355080" y="2194560"/>
            <a:ext cx="1686458"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트롤 (1)</a:t>
            </a:r>
            <a:endParaRPr lang="ko-KR" altLang="en-US" sz="1400" dirty="0"/>
          </a:p>
        </p:txBody>
      </p:sp>
      <p:sp>
        <p:nvSpPr>
          <p:cNvPr id="19" name="Shape 16"/>
          <p:cNvSpPr/>
          <p:nvPr/>
        </p:nvSpPr>
        <p:spPr>
          <a:xfrm>
            <a:off x="7198309" y="2926080"/>
            <a:ext cx="1777898" cy="594360"/>
          </a:xfrm>
          <a:prstGeom prst="line">
            <a:avLst/>
          </a:prstGeom>
          <a:noFill/>
          <a:ln w="22225">
            <a:solidFill>
              <a:schemeClr val="accent2"/>
            </a:solidFill>
            <a:prstDash val="solid"/>
            <a:tailEnd type="triangle"/>
          </a:ln>
        </p:spPr>
      </p:sp>
      <p:sp>
        <p:nvSpPr>
          <p:cNvPr id="20" name="box"/>
          <p:cNvSpPr/>
          <p:nvPr/>
        </p:nvSpPr>
        <p:spPr>
          <a:xfrm>
            <a:off x="8132978" y="2194560"/>
            <a:ext cx="1686458" cy="685800"/>
          </a:xfrm>
          <a:prstGeom prst="roundRect">
            <a:avLst>
              <a:gd name="adj" fmla="val 10667"/>
            </a:avLst>
          </a:prstGeom>
          <a:solidFill>
            <a:schemeClr val="bg2"/>
          </a:solidFill>
          <a:ln w="12700">
            <a:solidFill>
              <a:schemeClr val="bg2"/>
            </a:solidFill>
            <a:prstDash val="solid"/>
          </a:ln>
        </p:spPr>
      </p:sp>
      <p:sp>
        <p:nvSpPr>
          <p:cNvPr id="21" name="Text 18"/>
          <p:cNvSpPr txBox="1"/>
          <p:nvPr/>
        </p:nvSpPr>
        <p:spPr>
          <a:xfrm>
            <a:off x="8132978" y="2194560"/>
            <a:ext cx="1686458"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트롤 (2)</a:t>
            </a:r>
            <a:endParaRPr lang="ko-KR" altLang="en-US" sz="1400" dirty="0"/>
          </a:p>
        </p:txBody>
      </p:sp>
      <p:sp>
        <p:nvSpPr>
          <p:cNvPr id="22" name="Shape 19"/>
          <p:cNvSpPr/>
          <p:nvPr/>
        </p:nvSpPr>
        <p:spPr>
          <a:xfrm flipH="1">
            <a:off x="8976208" y="2926080"/>
            <a:ext cx="914" cy="594360"/>
          </a:xfrm>
          <a:prstGeom prst="line">
            <a:avLst/>
          </a:prstGeom>
          <a:noFill/>
          <a:ln w="22225">
            <a:solidFill>
              <a:schemeClr val="accent2"/>
            </a:solidFill>
            <a:prstDash val="solid"/>
            <a:tailEnd type="triangle"/>
          </a:ln>
        </p:spPr>
      </p:sp>
      <p:sp>
        <p:nvSpPr>
          <p:cNvPr id="23" name="box"/>
          <p:cNvSpPr/>
          <p:nvPr/>
        </p:nvSpPr>
        <p:spPr>
          <a:xfrm>
            <a:off x="9910877" y="2194560"/>
            <a:ext cx="1686458" cy="685800"/>
          </a:xfrm>
          <a:prstGeom prst="roundRect">
            <a:avLst>
              <a:gd name="adj" fmla="val 10667"/>
            </a:avLst>
          </a:prstGeom>
          <a:solidFill>
            <a:schemeClr val="bg2"/>
          </a:solidFill>
          <a:ln w="12700">
            <a:solidFill>
              <a:schemeClr val="bg2"/>
            </a:solidFill>
            <a:prstDash val="solid"/>
          </a:ln>
        </p:spPr>
      </p:sp>
      <p:sp>
        <p:nvSpPr>
          <p:cNvPr id="24" name="Text 21"/>
          <p:cNvSpPr txBox="1"/>
          <p:nvPr/>
        </p:nvSpPr>
        <p:spPr>
          <a:xfrm>
            <a:off x="9910877" y="2194560"/>
            <a:ext cx="1686458" cy="68580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트롤 (3)</a:t>
            </a:r>
            <a:endParaRPr lang="ko-KR" altLang="en-US" sz="1400" dirty="0"/>
          </a:p>
        </p:txBody>
      </p:sp>
      <p:sp>
        <p:nvSpPr>
          <p:cNvPr id="25" name="Shape 22"/>
          <p:cNvSpPr/>
          <p:nvPr/>
        </p:nvSpPr>
        <p:spPr>
          <a:xfrm flipH="1">
            <a:off x="8976208" y="2926080"/>
            <a:ext cx="1777898" cy="594360"/>
          </a:xfrm>
          <a:prstGeom prst="line">
            <a:avLst/>
          </a:prstGeom>
          <a:noFill/>
          <a:ln w="22225">
            <a:solidFill>
              <a:schemeClr val="accent2"/>
            </a:solidFill>
            <a:prstDash val="solid"/>
            <a:tailEnd type="triangle"/>
          </a:ln>
        </p:spPr>
      </p:sp>
      <p:sp>
        <p:nvSpPr>
          <p:cNvPr id="26" name="box"/>
          <p:cNvSpPr/>
          <p:nvPr/>
        </p:nvSpPr>
        <p:spPr>
          <a:xfrm>
            <a:off x="7513168" y="3520440"/>
            <a:ext cx="2926080" cy="685800"/>
          </a:xfrm>
          <a:prstGeom prst="roundRect">
            <a:avLst>
              <a:gd name="adj" fmla="val 10667"/>
            </a:avLst>
          </a:prstGeom>
          <a:solidFill>
            <a:schemeClr val="accent2"/>
          </a:solidFill>
          <a:ln w="12700">
            <a:solidFill>
              <a:schemeClr val="accent2"/>
            </a:solidFill>
            <a:prstDash val="solid"/>
          </a:ln>
        </p:spPr>
      </p:sp>
      <p:sp>
        <p:nvSpPr>
          <p:cNvPr id="27" name="Text 24"/>
          <p:cNvSpPr txBox="1"/>
          <p:nvPr/>
        </p:nvSpPr>
        <p:spPr>
          <a:xfrm>
            <a:off x="7513168" y="3520440"/>
            <a:ext cx="2926080" cy="68580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트롤 종족 에셋</a:t>
            </a:r>
            <a:endParaRPr lang="ko-KR" altLang="en-US" sz="1500" dirty="0"/>
          </a:p>
        </p:txBody>
      </p:sp>
      <p:sp>
        <p:nvSpPr>
          <p:cNvPr id="28" name="card"/>
          <p:cNvSpPr/>
          <p:nvPr/>
        </p:nvSpPr>
        <p:spPr>
          <a:xfrm>
            <a:off x="548640" y="4480560"/>
            <a:ext cx="11094415" cy="1188720"/>
          </a:xfrm>
          <a:prstGeom prst="roundRect">
            <a:avLst>
              <a:gd name="adj" fmla="val 7692"/>
            </a:avLst>
          </a:prstGeom>
          <a:solidFill>
            <a:schemeClr val="tx2"/>
          </a:solidFill>
          <a:ln w="12700">
            <a:solidFill>
              <a:schemeClr val="tx2"/>
            </a:solidFill>
            <a:prstDash val="solid"/>
          </a:ln>
        </p:spPr>
      </p:sp>
      <p:sp>
        <p:nvSpPr>
          <p:cNvPr id="29" name="Text 26"/>
          <p:cNvSpPr txBox="1"/>
          <p:nvPr/>
        </p:nvSpPr>
        <p:spPr>
          <a:xfrm>
            <a:off x="777240" y="470001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함께 쓰면</a:t>
            </a:r>
            <a:endParaRPr lang="ko-KR" altLang="en-US" sz="1700" dirty="0"/>
          </a:p>
        </p:txBody>
      </p:sp>
      <p:sp>
        <p:nvSpPr>
          <p:cNvPr id="30" name="Text 27"/>
          <p:cNvSpPr txBox="1"/>
          <p:nvPr/>
        </p:nvSpPr>
        <p:spPr>
          <a:xfrm>
            <a:off x="777240" y="5257800"/>
            <a:ext cx="10637215" cy="274320"/>
          </a:xfrm>
          <a:prstGeom prst="rect">
            <a:avLst/>
          </a:prstGeom>
          <a:noFill/>
          <a:ln/>
        </p:spPr>
        <p:txBody>
          <a:bodyPr wrap="square" lIns="0" tIns="0" rIns="0" bIns="0" rtlCol="0" anchor="t"/>
          <a:lstStyle/>
          <a:p>
            <a:pPr indent="0" marL="0" eaLnBrk="0">
              <a:buNone/>
            </a:pPr>
            <a:r>
              <a:rPr lang="ko-KR" altLang="en-US" sz="1400" dirty="0">
                <a:solidFill>
                  <a:schemeClr val="bg1"/>
                </a:solidFill>
              </a:rPr>
              <a:t>프리팹을 복제해도 종족 에셋 참조는 복사될 뿐이므로 모두 같은 에셋을 가리킨다. 현재 체력은 컴포넌트에, 시작 체력은 에셋에 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확인 질문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질문으로 다시 정리한다</a:t>
            </a:r>
            <a:endParaRPr lang="ko-KR" alt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120640"/>
                <a:gridCol w="5973775"/>
              </a:tblGrid>
              <a:tr h="457200">
                <a:tc>
                  <a:txBody>
                    <a:bodyPr/>
                    <a:lstStyle/>
                    <a:p>
                      <a:pPr indent="0" marL="0" eaLnBrk="0">
                        <a:buNone/>
                      </a:pPr>
                      <a:r>
                        <a:rPr lang="ko-KR" altLang="en-US" sz="1500" b="1" dirty="0">
                          <a:solidFill>
                            <a:schemeClr val="bg1"/>
                          </a:solidFill>
                        </a:rPr>
                        <a:t>질문</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답</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85800">
                <a:tc>
                  <a:txBody>
                    <a:bodyPr/>
                    <a:lstStyle/>
                    <a:p>
                      <a:pPr indent="0" marL="0" eaLnBrk="0">
                        <a:buNone/>
                      </a:pPr>
                      <a:r>
                        <a:rPr lang="ko-KR" altLang="en-US" sz="1500" b="1" dirty="0">
                          <a:solidFill>
                            <a:schemeClr val="tx1"/>
                          </a:solidFill>
                        </a:rPr>
                        <a:t>타입 객체 패턴을 한 문장으로 말하면?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클래스 하나의 인스턴스 하나하나가 서로 다른 타입을 나타내게 해, 새 클래스 없이 새 타입을 만든다.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몬스터의 현재 체력과 시작 체력은 각각 어디에 두나?</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현재 체력은 Monster에, 시작 체력은 Breed에 둔다.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트롤(체력 25)을 부모로 둔 궁수의 health가 0이면 GetHealth()는?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25. 부모 종족인 트롤에게서 물려받는다.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500" b="1" dirty="0">
                          <a:solidFill>
                            <a:schemeClr val="tx1"/>
                          </a:solidFill>
                        </a:rPr>
                        <a:t>생성 시 복사 방식의 장점과 전제는?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값 읽기가 빠르고 부모 참조가 필요 없다. 만든 뒤 종족 값이 바뀌지 않는다고 가정한다.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500" b="1" dirty="0">
                          <a:solidFill>
                            <a:schemeClr val="tx1"/>
                          </a:solidFill>
                        </a:rPr>
                        <a:t>Unity의 프리팹은 어느 패턴에 가깝고, 종족 데이터는 무엇에 두나?</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복제하므로 프로토타입에 가깝다. 공유하는 종족 데이터는 ScriptableObject 에셋에 둔다.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870448"/>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다음 강의  </a:t>
            </a:r>
            <a:pPr indent="0" marL="0" eaLnBrk="0">
              <a:buNone/>
            </a:pPr>
            <a:r>
              <a:rPr lang="ko-KR" altLang="en-US" sz="1500" dirty="0">
                <a:solidFill>
                  <a:schemeClr val="tx2"/>
                </a:solidFill>
              </a:rPr>
              <a:t>하위 클래스 샌드박스(Subclass Sandbox) 패턴: 부모 클래스가 준 기능으로 하위 클래스가 행동을 만든다.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32</a:t>
            </a:fld>
            <a:endParaRPr lang="ko-KR" altLang="en-US"/>
          </a:p>
        </p:txBody>
      </p:sp>
    </p:spTree>
  </p:cSld>
  <p:clrMapOvr>
    <a:masterClrMapping/>
  </p:clrMapOvr>
</p:sld>
</file>

<file path=ppt/theme/theme1.xml><?xml version="1.0" encoding="utf-8"?>
<a:theme xmlns:a="http://schemas.openxmlformats.org/drawingml/2006/main" name="Patterns Lecture">
  <a:themeElements>
    <a:clrScheme name="Patterns Lecture">
      <a:dk1>
        <a:srgbClr val="1F2430"/>
      </a:dk1>
      <a:lt1>
        <a:srgbClr val="FFFFFF"/>
      </a:lt1>
      <a:dk2>
        <a:srgbClr val="2B2D42"/>
      </a:dk2>
      <a:lt2>
        <a:srgbClr val="F1F3F6"/>
      </a:lt2>
      <a:accent1>
        <a:srgbClr val="E07A3F"/>
      </a:accent1>
      <a:accent2>
        <a:srgbClr val="2A9D8F"/>
      </a:accent2>
      <a:accent3>
        <a:srgbClr val="8D99AE"/>
      </a:accent3>
      <a:accent4>
        <a:srgbClr val="E9C46A"/>
      </a:accent4>
      <a:accent5>
        <a:srgbClr val="5C6577"/>
      </a:accent5>
      <a:accent6>
        <a:srgbClr val="C44536"/>
      </a:accent6>
      <a:hlink>
        <a:srgbClr val="2A9D8F"/>
      </a:hlink>
      <a:folHlink>
        <a:srgbClr val="5C6577"/>
      </a:folHlink>
    </a:clrScheme>
    <a:fontScheme name="Patterns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7강 타입 객체(Type Object) 패턴</dc:title>
  <dc:subject>PptxGenJS Presentation</dc:subject>
  <dc:creator>Mini Tactics 패턴 수업</dc:creator>
  <cp:lastModifiedBy>Mini Tactics 패턴 수업</cp:lastModifiedBy>
  <cp:revision>1</cp:revision>
  <dcterms:created xsi:type="dcterms:W3CDTF">2026-10-27T07:27:33Z</dcterms:created>
  <dcterms:modified xsi:type="dcterms:W3CDTF">2026-10-27T07:27:33Z</dcterms:modified>
</cp:coreProperties>
</file>