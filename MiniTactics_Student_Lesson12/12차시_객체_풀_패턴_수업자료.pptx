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ee0b0c64-f677-b4c9-9f04-3b4eb04b6bba}">
          <p14:sldIdLst>
            <p14:sldId id="256"/>
            <p14:sldId id="257"/>
            <p14:sldId id="258"/>
          </p14:sldIdLst>
        </p14:section>
        <p14:section name="1 · 잦은 생성과 삭제" id="{75efa15a-3d4f-6b56-8b49-76e567b358e2}">
          <p14:sldIdLst>
            <p14:sldId id="259"/>
            <p14:sldId id="260"/>
            <p14:sldId id="261"/>
            <p14:sldId id="262"/>
            <p14:sldId id="263"/>
          </p14:sldIdLst>
        </p14:section>
        <p14:section name="2 · 풀 만들기" id="{e410bb95-1ab2-9118-9a49-9a4ac6260455}">
          <p14:sldIdLst>
            <p14:sldId id="264"/>
            <p14:sldId id="265"/>
            <p14:sldId id="266"/>
            <p14:sldId id="267"/>
            <p14:sldId id="268"/>
            <p14:sldId id="269"/>
          </p14:sldIdLst>
        </p14:section>
        <p14:section name="3 · 빈칸 목록" id="{cc81bcbe-43e9-33a9-7f47-61df08a5490a}">
          <p14:sldIdLst>
            <p14:sldId id="270"/>
            <p14:sldId id="271"/>
            <p14:sldId id="272"/>
            <p14:sldId id="273"/>
            <p14:sldId id="274"/>
            <p14:sldId id="275"/>
            <p14:sldId id="276"/>
          </p14:sldIdLst>
        </p14:section>
        <p14:section name="4 · 설계 결정" id="{de342cec-633d-b28e-129e-22542f266abd}">
          <p14:sldIdLst>
            <p14:sldId id="277"/>
            <p14:sldId id="278"/>
            <p14:sldId id="279"/>
            <p14:sldId id="280"/>
            <p14:sldId id="281"/>
          </p14:sldIdLst>
        </p14:section>
        <p14:section name="5 · 쓸 때와 주의점" id="{f615d779-d995-8f53-4ed4-6b4430135460}">
          <p14:sldIdLst>
            <p14:sldId id="282"/>
            <p14:sldId id="283"/>
            <p14:sldId id="284"/>
            <p14:sldId id="285"/>
            <p14:sldId id="286"/>
          </p14:sldIdLst>
        </p14:section>
        <p14:section name="정리" id="{cae645eb-47ff-eed3-05c6-46b8b9656191}">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과정의 마지막 강의로, 원서 「객체 풀」 장의 순서를 그대로 따라갑니다. 마법 효과의 파티클을 매번 만들고 버리는 문제에서 출발해, 미리 만든 객체를 다시 쓰는 풀을 만들고, 빈 객체를 바로 찾는 빈칸 목록까지 확장합니다.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객체 풀 장은 파티클 시스템 하나로 끝까지 설명합니다. 먼저 객체를 자주 만들고 없애면 무엇이 문제인지 보고, 가장 단순한 풀을 만듭니다. 그다음 빈 객체를 찾는 비용을 빈칸 목록으로 줄이고, 풀을 설계할 때 정할 것들을 비교합니다.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원서가 밝히는 이 패턴의 의도는, 객체를 하나씩 할당하고 해제하는 대신 고정된 풀에 있는 객체를 다시 써서 성능과 메모리 사용을 개선하는 것입니다. 왼쪽은 필요할 때마다 새로 만들고 다 쓰면 버리는 방식입니다. 오른쪽은 풀에 미리 만들어 둔 객체를 꺼내 쓰고, 다 쓰면 풀로 돌려보내는 방식입니다.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마법 주문 하나에 파티클 수백 개가 생기고 곧 사라집니다. 이런 객체를 매번 만들고 버리면 어떤 일이 생기는지부터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가장 단순한 방법은 파티클이 필요할 때마다 new로 만들고, 수명이 끝나면 목록에서 빼서 버리는 것입니다. 이 코드는 원서에 있는 코드가 아니라 문제를 보여 주기 위한 비교용 코드입니다. 원서는 마법 주문 하나에 파티클이 수백 개 생긴다고 말합니다. 그러니 파티클을 빠르게 만들 수 있어야 하고, 만들고 없애는 일이 메모리를 망가뜨려서도 안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힙을 열 칸짜리 줄로 그려 봅니다. 두 칸짜리 객체 다섯 개를 할당하면 줄이 가득 찹니다. 그중 B와 D를 해제하면 빈 칸이 네 칸 생깁니다. 그런데 세 칸짜리 객체를 할당하려 하면 실패합니다. 빈 칸 네 칸이 두 칸씩 떨어져 있어서, 이어진 세 칸이 없기 때문입니다. 이렇게 빈 메모리가 작은 조각으로 흩어지는 것을 단편화라고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메모리를 할당하려면 메모리 관리자가 알맞은 빈 공간을 찾아야 하므로 할당 자체가 느립니다. 단편화는 조금씩 쌓이기 때문에 더 위험합니다. 원서는 콘솔 게임이 출시 전에 게임을 며칠 동안 켜 두는 시험을 통과해야 한다고 설명합니다. 그동안 단편화가 쌓이면 할당이 실패해 게임이 멈춥니다. C#에서는 가비지 컬렉터가 메모리를 회수하지만, 잦은 할당은 가비지 수집을 자주 일으켜 프레임이 멈칫하게 만듭니다. Unity의 가비지 컬렉터는 메모리를 압축하지 않으므로 단편화도 남습니다.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풀 클래스는 다시 쓸 객체들을 모아 둡니다. 각 객체는 지금 사용 중인지 알려 줄 수 있습니다. 풀은 처음에 객체를 모두 만들고 사용 중이 아니라고 표시합니다. 새 객체가 필요하면 풀이 사용 중이 아닌 객체를 찾아 사용 중으로 바꾸고 돌려줍니다. 다 쓴 객체는 다시 사용 중이 아닌 상태로 돌아갑니다. 메모리 관리자는 처음의 큰 할당 하나만 보게 되므로, 그 뒤로는 할당도 해제도 일어나지 않습니다.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화면에 파티클을 그리는 간단한 파티클 시스템으로 풀을 만듭니다. 파티클 클래스부터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파티클은 위치, 속도, 남은 프레임 수를 가집니다. Init은 파티클을 쓸 수 있게 값을 채웁니다. Animate는 한 프레임 동안 파티클을 움직이고 남은 프레임을 하나 줄입니다. 사용 중인지를 따로 저장하는 필드는 없습니다. 남은 프레임이 0보다 크면 사용 중입니다. C# int 필드의 기본값은 0이므로 처음 만든 파티클은 사용 중이 아닙니다. 원서의 inUse 함수는 C#의 InUse 속성으로 옮겼습니다.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풀은 파티클 100개짜리 배열을 가집니다. 원서의 C++ 배열은 파티클 객체 자체를 담지만, C#의 클래스 배열은 참조만 담습니다. 그래서 생성자에서 파티클 100개를 미리 만들어 둡니다. 풀의 Animate는 매 프레임 모든 파티클의 Animate를 부릅니다. 원서는 이것이 업데이트 메서드 패턴의 한 예라고 말합니다. 사용 중이 아닌 파티클은 Animate 첫 줄에서 바로 돌아갑니다.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새 파티클이 필요하면 Create가 배열을 처음부터 훑습니다. 사용 중이 아닌 파티클을 처음 만나면 Init으로 값을 채우고 끝냅니다. 끝까지 빈 파티클이 없으면 아무것도 만들지 않습니다. 파티클은 몇 개 빠져도 눈에 잘 띄지 않으므로 이렇게 해도 괜찮습니다.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칸 네 개짜리 풀로 따라갑니다. 칸의 숫자는 그 파티클의 남은 프레임 수이고, 0이면 쉬는 중입니다. A는 수명 2, B는 수명 3으로 만듭니다. Animate 두 번이 지나면 A의 수명이 끝나 칸 0이 비게 됩니다. 마지막 Create는 앞에서부터 훑다가 칸 0을 찾아 C를 넣습니다. 새로 할당하지 않고 A가 쓰던 파티클을 다시 쓴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지금의 Create는 빈 파티클을 찾을 때까지 배열을 처음부터 확인합니다. 풀이 거의 가득 차 있으면 매번 100칸을 거의 다 확인하게 됩니다. 원서는 이 버전도 출시해도 될 만큼 쓸 만하다고 말합니다. 하지만 풀이 크고 거의 차 있을 때가 많다면, 빈 파티클을 바로 찾는 방법이 필요합니다.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빈 파티클들을 따로 연결해 두면 찾을 필요가 없습니다. 이 연결을 어디에 저장할지가 이 절의 핵심입니다.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빈 파티클들을 연결 리스트로 이어 두면 맨 앞 하나만 꺼내면 됩니다. 이 목록을 빈칸 목록이라고 합니다. 빈 파티클을 가리키는 배열을 따로 두면 풀 크기만큼 메모리가 더 듭니다. 원서는 쉬는 파티클의 위치와 속도가 의미 없다는 점을 이용합니다. C++ 공용체로 위치·속도와 다음 파티클 포인터가 같은 메모리를 나눠 쓰게 합니다. C#에서는 참조를 다른 값과 같은 메모리에 겹쳐 둘 수 없습니다. 그래서 Next를 별도 필드로 두고, 쉬는 동안에만 의미가 있다고 약속합니다.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풀은 빈칸 목록의 맨 앞 파티클을 _firstAvailable에 기억합니다. 처음에는 모든 파티클이 쉬는 중이므로, 칸 0이 맨 앞이고 각 파티클의 Next가 다음 칸을 가리키게 잇습니다. 마지막 파티클의 Next는 null로 두어 목록이 끝났다는 것을 나타냅니다.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Create는 더 이상 배열을 훑지 않습니다. _firstAvailable이 가리키는 파티클을 꺼내고, 맨 앞을 그 파티클의 Next로 옮깁니다. 배열 크기와 상관없이 늘 같은 시간이 걸립니다. 풀이 가득 차면 _firstAvailable이 null이므로, 원서처럼 먼저 Assert로 확인합니다.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파티클의 Animate는 이제 수명이 끝난 바로 그 프레임에 true를 돌려줍니다. 풀의 Animate는 true를 받으면 그 파티클을 빈칸 목록의 맨 앞에 넣습니다. 반납된 파티클의 Next가 지금의 맨 앞을 가리키게 하고, 맨 앞을 반납된 파티클로 바꿉니다. 이제 생성과 반납 모두 늘 같은 시간이 걸립니다.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칸 네 개짜리 풀입니다. 처음에는 맨 앞이 칸 0이고 0, 1, 2, 3 순서로 이어져 있습니다. A와 B를 만들면 칸 0과 칸 1을 차례로 떼어 내므로 맨 앞이 칸 2가 됩니다. 수명 1인 A가 끝나 칸 0이 반납되면, 칸 0의 Next가 지금의 맨 앞인 칸 2를 가리키고, 맨 앞은 칸 0이 됩니다. 목록이 칸 1을 건너뛰는 것이 핵심입니다.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앞의 그림을 이어서 따라갑니다. head는 _firstAvailable이 가리키는 칸입니다. 생성하면 head가 그 칸의 Next로 옮겨 가고, 반납하면 반납된 칸이 head가 됩니다. 마지막 줄에서 B가 반납되면 칸 1의 Next가 칸 2를 가리키고 head가 칸 1이 됩니다. 어느 줄에서도 배열을 훑지 않았습니다.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같은 객체 풀이라도 몇 가지를 어떻게 정하느냐에 따라 모양이 달라집니다. 원서가 꼽은 세 가지 결정을 차례로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첫째 결정은 객체가 자기가 풀에 들어 있다는 것을 아느냐입니다. 결합하면 객체가 사용 중 표시를 직접 가지므로 구현이 단순합니다. 원서는 C++의 friend로 풀만 객체를 만들 수 있게 막습니다. C#에는 friend가 없으므로 생성자를 internal로 두어 다른 어셈블리에서 만들지 못하게 하는 정도로 비슷하게 막습니다. 화면 밖에 있는지처럼 이미 있는 상태로 사용 중을 판단하면 표시 필드도 필요 없습니다. 결합하지 않으면 어떤 타입이든 담을 수 있는 대신, 사용 중 표시를 풀이 따로 배열로 가져야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둘째 결정은 다시 쓰는 객체를 누가 초기화하느냐입니다. 풀 안에서 초기화하면 풀이 객체를 완전히 감쌉니다. 바깥 코드는 파티클 참조를 받지 않으므로, 이미 다른 용도로 재사용된 파티클을 붙잡고 있을 수 없습니다. 대신 파티클에 Init 방법이 여러 개라면 풀에도 같은 모양의 Create를 하나씩 만들어 전달해야 합니다. 풀이 객체의 초기화 방법에 묶이는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풀 밖에서 초기화하면 Create는 빈 파티클을 돌려주기만 합니다. 호출한 쪽이 필요한 Init을 골라 부릅니다. 풀의 인터페이스는 단순해집니다. 대가는 실패 처리입니다. 풀이 가득 차면 Create가 null을 돌려줄 수 있으므로, 호출한 쪽이 먼저 확인해야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풀은 동시에 쓸 수 있는 객체 수가 정해져 있으므로, 가득 찼을 때 어떻게 할지 정해야 합니다. 첫째, 크기를 넉넉히 맞춰 넘치지 않게 합니다. 적처럼 꼭 있어야 하는 객체에 맞습니다. 게임 상태마다 풀 크기를 다르게 둘 수도 있습니다. 둘째, 그냥 만들지 않습니다. 파티클처럼 몇 개 빠져도 티가 나지 않을 때 맞습니다. 셋째, 쓰고 있는 객체를 강제로 회수합니다. 원서는 새 소리를 내야 할 때 가장 작게 들리는 소리를 끊는 예를 듭니다. 넷째, 풀을 키웁니다. 메모리를 더 쓰게 되므로 나중에 줄일지도 정합니다.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패턴을 고를 때의 판단 기준과, 원서가 짚는 주의점, 관련 패턴을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원서가 꼽는 사용 시점은 네 가지입니다. 객체를 자주 만들고 없앨 때, 객체 크기가 비슷할 때, 힙 할당이 느리거나 단편화가 걱정될 때, 그리고 데이터베이스나 네트워크 연결처럼 얻기 비싼 자원을 객체마다 감싸고 있어 다시 쓸 수 있을 때입니다. 주의점도 있습니다. 풀이 너무 크면 쓰지 않는 객체가 메모리를 차지하고, 너무 작으면 앞에서 본 가득 찬 상황이 생깁니다. 나머지 두 주의점은 다음 장에서 자세히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새로 할당한 객체는 깨끗하게 시작하지만, 풀에서 꺼낸 객체에는 이전에 쓰던 값이 그대로 남아 있습니다. 원서는 디버그용 메모리 관리자가 새 메모리를 알아보기 쉬운 값으로 채워 주는데, 풀을 쓰면 이 도움을 받지 못한다고 지적합니다. 그래서 Init은 모든 필드를 빠짐없이 다시 채워야 합니다. 가비지 컬렉터가 있는 C#에서는 반대 문제도 있습니다. 쉬는 객체가 다른 객체를 계속 참조하면 그 객체는 수집되지 않습니다. 반납할 때 참조 필드를 비워야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관련 자료 절과 본문에서 언급한 패턴입니다. 경량 패턴은 3강에서 배웠습니다. 둘 다 객체를 다시 쓰지만 뜻이 다릅니다. 경량은 한 객체를 여러 곳이 동시에 함께 씁니다. 객체 풀은 한 객체를 앞사람이 다 쓴 뒤에 다음 사람이 씁니다. 데이터 지역성은 같은 종류의 객체를 메모리에 붙여 두어 CPU 캐시를 잘 쓰게 하는 패턴입니다. C#의 클래스 배열은 참조만 이어 붙이므로, 객체 자체를 붙여 두려면 구조체 배열이 필요합니다. 업데이트 메서드는 풀의 Animate가 매 프레임 모든 파티클을 움직이는 방식입니다.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Unity 2021부터 UnityEngine.Pool 네임스페이스에 ObjectPool&lt;T&gt;가 들어 있습니다. 생성자에 객체를 만드는 함수와, 꺼낼 때와 돌려줄 때 부를 함수를 넘깁니다. Get으로 꺼내고 Release로 돌려줍니다. 쉬는 객체가 없으면 Get이 createFunc로 새 객체를 만들므로 풀이 커지는 방식입니다. maxSize보다 많이 반납되면 보관하지 않고 actionOnDestroy로 넘깁니다. 게임 오브젝트를 풀에 넣을 때는 보통 actionOnGet에서 SetActive(true), actionOnRelease에서 SetActive(false)를 부릅니다. Instantiate와 Destroy를 반복하지 않고 켜고 끄기만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답을 가리고 먼저 학생에게 물어본 뒤 확인합니다. 오늘로 이 과정의 열두 강이 모두 끝났습니다. 마지막 줄은 1강부터 12강까지 배운 패턴의 순서입니다. 각 패턴이 어떤 문제를 풀었는지 한 번씩 떠올려 보게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lstStyle>
            <a:lvl1pPr algn="l" indent="0" marL="0" eaLnBrk="0">
              <a:buNone/>
              <a:defRPr lang="ko-KR" altLang="en-US" sz="4000" b="1" dirty="0">
                <a:solidFill>
                  <a:schemeClr val="bg1"/>
                </a:solidFill>
              </a:defRPr>
            </a:lvl1pPr>
          </a:lstStyle>
          <a:p>
            <a:pPr algn="l" indent="0" marL="0" eaLnBrk="0">
              <a:buNone/>
            </a:pP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97280"/>
          </a:xfrm>
          <a:prstGeom prst="rect">
            <a:avLst/>
          </a:prstGeom>
          <a:noFill/>
          <a:ln/>
        </p:spPr>
        <p:txBody>
          <a:bodyPr wrap="square" rtlCol="0"/>
          <a:lstStyle>
            <a:lvl1pPr algn="l" indent="0" marL="0" eaLnBrk="0">
              <a:buNone/>
              <a:defRPr lang="ko-KR" altLang="en-US" sz="3600" b="1" dirty="0">
                <a:solidFill>
                  <a:schemeClr val="bg1"/>
                </a:solidFill>
              </a:defRPr>
            </a:lvl1pPr>
          </a:lstStyle>
          <a:p>
            <a:pPr algn="l" indent="0" marL="0" eaLnBrk="0">
              <a:buNone/>
            </a:pPr>
            <a:endParaRPr lang="ko-KR" altLang="en-US" sz="3600" dirty="0"/>
          </a:p>
        </p:txBody>
      </p:sp>
      <p:sp>
        <p:nvSpPr>
          <p:cNvPr id="3" name="Text 0"/>
          <p:cNvSpPr/>
          <p:nvPr>
            <p:ph idx="101" type="body" hasCustomPrompt="1"/>
          </p:nvPr>
        </p:nvSpPr>
        <p:spPr>
          <a:xfrm>
            <a:off x="548640" y="3794760"/>
            <a:ext cx="11094415" cy="73152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eaLnBrk="0">
              <a:buNone/>
              <a:defRPr lang="ko-KR" altLang="en-US" sz="2600" b="1" dirty="0">
                <a:solidFill>
                  <a:schemeClr val="tx1"/>
                </a:solidFill>
              </a:defRPr>
            </a:lvl1pPr>
          </a:lstStyle>
          <a:p>
            <a:pPr algn="l" indent="0" marL="0" eaLnBrk="0">
              <a:buNone/>
            </a:pPr>
            <a:endParaRPr lang="ko-KR" alt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eaLnBrk="0">
              <a:buNone/>
            </a:pPr>
            <a:r>
              <a:rPr lang="ko-KR" altLang="en-US" sz="1000" dirty="0">
                <a:solidFill>
                  <a:schemeClr val="accent3"/>
                </a:solidFill>
              </a:rPr>
              <a:t>12강 · 객체 풀(Object Pool) 패턴</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eaLnBrk="0">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nchor="b"/>
          <a:lstStyle/>
          <a:p>
            <a:pPr algn="l" indent="0" marL="0" eaLnBrk="0">
              <a:buNone/>
            </a:pPr>
            <a:r>
              <a:rPr lang="ko-KR" altLang="en-US" sz="4000" b="1" dirty="0">
                <a:solidFill>
                  <a:schemeClr val="bg1"/>
                </a:solidFill>
              </a:rPr>
              <a:t>12강 · 객체 풀(Object Pool) 패턴</a:t>
            </a: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nchor="t"/>
          <a:lstStyle/>
          <a:p>
            <a:pPr indent="0" marL="0" eaLnBrk="0">
              <a:buNone/>
            </a:pPr>
            <a:r>
              <a:rPr lang="ko-KR" altLang="en-US" sz="1800" dirty="0">
                <a:solidFill>
                  <a:schemeClr val="accent3"/>
                </a:solidFill>
              </a:rPr>
              <a:t>객체를 미리 만들어 두고</a:t>
            </a:r>
            <a:endParaRPr lang="ko-KR" altLang="en-US" sz="1800" dirty="0"/>
          </a:p>
          <a:p>
            <a:pPr indent="0" marL="0" eaLnBrk="0">
              <a:buNone/>
            </a:pPr>
            <a:r>
              <a:rPr lang="ko-KR" altLang="en-US" sz="1800" dirty="0">
                <a:solidFill>
                  <a:schemeClr val="accent3"/>
                </a:solidFill>
              </a:rPr>
              <a:t>꺼내 쓰고 돌려받는다</a:t>
            </a:r>
            <a:endParaRPr lang="ko-KR" altLang="en-US" sz="1800" dirty="0"/>
          </a:p>
          <a:p>
            <a:pPr indent="0" marL="0" eaLnBrk="0">
              <a:buNone/>
            </a:pPr>
            <a:endParaRPr lang="ko-KR" altLang="en-US" sz="1800" dirty="0"/>
          </a:p>
          <a:p>
            <a:pPr indent="0" marL="0" eaLnBrk="0">
              <a:buNone/>
            </a:pPr>
            <a:r>
              <a:rPr lang="ko-KR" altLang="en-US" sz="1800" dirty="0">
                <a:solidFill>
                  <a:schemeClr val="accent3"/>
                </a:solidFill>
              </a:rPr>
              <a:t>교재: 로버트 나이스트롬, 『게임 프로그래밍 패턴』</a:t>
            </a:r>
            <a:endParaRPr lang="ko-KR" altLang="en-US" sz="1800" dirty="0"/>
          </a:p>
          <a:p>
            <a:pPr indent="0" marL="0" eaLnBrk="0">
              <a:buNone/>
            </a:pPr>
            <a:r>
              <a:rPr lang="ko-KR" altLang="en-US" sz="1800" dirty="0">
                <a:solidFill>
                  <a:schemeClr val="accent3"/>
                </a:solidFill>
              </a:rPr>
              <a:t>「객체 풀」 장</a:t>
            </a:r>
            <a:endParaRPr lang="ko-KR"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오늘의 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매번 만들고 버리던 파티클을 미리 만든 풀에서 다시 쓰기까지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먼저, 객체 풀 패턴은 한 문장으로 무엇일까?</a:t>
            </a:r>
            <a:endParaRPr lang="ko-KR" altLang="en-US" sz="1500" dirty="0"/>
          </a:p>
        </p:txBody>
      </p:sp>
      <p:sp>
        <p:nvSpPr>
          <p:cNvPr id="6" name="card"/>
          <p:cNvSpPr/>
          <p:nvPr/>
        </p:nvSpPr>
        <p:spPr>
          <a:xfrm>
            <a:off x="548640" y="1828800"/>
            <a:ext cx="2057400" cy="2103120"/>
          </a:xfrm>
          <a:prstGeom prst="roundRect">
            <a:avLst>
              <a:gd name="adj" fmla="val 4444"/>
            </a:avLst>
          </a:prstGeom>
          <a:solidFill>
            <a:schemeClr val="bg2"/>
          </a:solidFill>
          <a:ln w="12700">
            <a:solidFill>
              <a:schemeClr val="bg2"/>
            </a:solidFill>
            <a:prstDash val="solid"/>
          </a:ln>
        </p:spPr>
      </p:sp>
      <p:sp>
        <p:nvSpPr>
          <p:cNvPr id="7" name="Shape 4"/>
          <p:cNvSpPr/>
          <p:nvPr/>
        </p:nvSpPr>
        <p:spPr>
          <a:xfrm>
            <a:off x="777240" y="202996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777240"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잦은 생성과</a:t>
            </a:r>
            <a:endParaRPr lang="ko-KR" altLang="en-US" sz="1500" dirty="0"/>
          </a:p>
          <a:p>
            <a:pPr indent="0" marL="0" eaLnBrk="0">
              <a:buNone/>
            </a:pPr>
            <a:r>
              <a:rPr lang="ko-KR" altLang="en-US" sz="1500" b="1" dirty="0">
                <a:solidFill>
                  <a:schemeClr val="tx1"/>
                </a:solidFill>
              </a:rPr>
              <a:t>삭제</a:t>
            </a:r>
            <a:endParaRPr lang="ko-KR" altLang="en-US" sz="1500" dirty="0"/>
          </a:p>
        </p:txBody>
      </p:sp>
      <p:sp>
        <p:nvSpPr>
          <p:cNvPr id="10" name="Text 7"/>
          <p:cNvSpPr txBox="1"/>
          <p:nvPr/>
        </p:nvSpPr>
        <p:spPr>
          <a:xfrm>
            <a:off x="777240"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느린 할당과 단편화</a:t>
            </a:r>
            <a:endParaRPr lang="ko-KR" altLang="en-US" sz="1300" dirty="0"/>
          </a:p>
        </p:txBody>
      </p:sp>
      <p:sp>
        <p:nvSpPr>
          <p:cNvPr id="11" name="Shape 8"/>
          <p:cNvSpPr/>
          <p:nvPr/>
        </p:nvSpPr>
        <p:spPr>
          <a:xfrm>
            <a:off x="2651760" y="2880360"/>
            <a:ext cx="110414" cy="914"/>
          </a:xfrm>
          <a:prstGeom prst="line">
            <a:avLst/>
          </a:prstGeom>
          <a:noFill/>
          <a:ln w="22225">
            <a:solidFill>
              <a:schemeClr val="accent3"/>
            </a:solidFill>
            <a:prstDash val="solid"/>
            <a:tailEnd type="triangle"/>
          </a:ln>
        </p:spPr>
      </p:sp>
      <p:sp>
        <p:nvSpPr>
          <p:cNvPr id="12" name="card"/>
          <p:cNvSpPr/>
          <p:nvPr/>
        </p:nvSpPr>
        <p:spPr>
          <a:xfrm>
            <a:off x="2807894" y="1828800"/>
            <a:ext cx="2057400" cy="2103120"/>
          </a:xfrm>
          <a:prstGeom prst="roundRect">
            <a:avLst>
              <a:gd name="adj" fmla="val 4444"/>
            </a:avLst>
          </a:prstGeom>
          <a:solidFill>
            <a:schemeClr val="bg2"/>
          </a:solidFill>
          <a:ln w="12700">
            <a:solidFill>
              <a:schemeClr val="bg2"/>
            </a:solidFill>
            <a:prstDash val="solid"/>
          </a:ln>
        </p:spPr>
      </p:sp>
      <p:sp>
        <p:nvSpPr>
          <p:cNvPr id="13" name="Shape 10"/>
          <p:cNvSpPr/>
          <p:nvPr/>
        </p:nvSpPr>
        <p:spPr>
          <a:xfrm>
            <a:off x="3036494" y="202996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3036494"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3036494"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풀 만들기</a:t>
            </a:r>
            <a:endParaRPr lang="ko-KR" altLang="en-US" sz="1500" dirty="0"/>
          </a:p>
        </p:txBody>
      </p:sp>
      <p:sp>
        <p:nvSpPr>
          <p:cNvPr id="16" name="Text 13"/>
          <p:cNvSpPr txBox="1"/>
          <p:nvPr/>
        </p:nvSpPr>
        <p:spPr>
          <a:xfrm>
            <a:off x="3036494"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미리 만들고</a:t>
            </a:r>
            <a:endParaRPr lang="ko-KR" altLang="en-US" sz="1300" dirty="0"/>
          </a:p>
          <a:p>
            <a:pPr indent="0" marL="0" eaLnBrk="0">
              <a:buNone/>
            </a:pPr>
            <a:r>
              <a:rPr lang="ko-KR" altLang="en-US" sz="1300" dirty="0">
                <a:solidFill>
                  <a:schemeClr val="accent5"/>
                </a:solidFill>
              </a:rPr>
              <a:t>사용 중을 표시한다</a:t>
            </a:r>
            <a:endParaRPr lang="ko-KR" altLang="en-US" sz="1300" dirty="0"/>
          </a:p>
        </p:txBody>
      </p:sp>
      <p:sp>
        <p:nvSpPr>
          <p:cNvPr id="17" name="Shape 14"/>
          <p:cNvSpPr/>
          <p:nvPr/>
        </p:nvSpPr>
        <p:spPr>
          <a:xfrm>
            <a:off x="4911014" y="2880360"/>
            <a:ext cx="110414" cy="914"/>
          </a:xfrm>
          <a:prstGeom prst="line">
            <a:avLst/>
          </a:prstGeom>
          <a:noFill/>
          <a:ln w="22225">
            <a:solidFill>
              <a:schemeClr val="accent3"/>
            </a:solidFill>
            <a:prstDash val="solid"/>
            <a:tailEnd type="triangle"/>
          </a:ln>
        </p:spPr>
      </p:sp>
      <p:sp>
        <p:nvSpPr>
          <p:cNvPr id="18" name="card"/>
          <p:cNvSpPr/>
          <p:nvPr/>
        </p:nvSpPr>
        <p:spPr>
          <a:xfrm>
            <a:off x="5067148" y="1828800"/>
            <a:ext cx="2057400" cy="2103120"/>
          </a:xfrm>
          <a:prstGeom prst="roundRect">
            <a:avLst>
              <a:gd name="adj" fmla="val 4444"/>
            </a:avLst>
          </a:prstGeom>
          <a:solidFill>
            <a:schemeClr val="bg2"/>
          </a:solidFill>
          <a:ln w="12700">
            <a:solidFill>
              <a:schemeClr val="bg2"/>
            </a:solidFill>
            <a:prstDash val="solid"/>
          </a:ln>
        </p:spPr>
      </p:sp>
      <p:sp>
        <p:nvSpPr>
          <p:cNvPr id="19" name="Shape 16"/>
          <p:cNvSpPr/>
          <p:nvPr/>
        </p:nvSpPr>
        <p:spPr>
          <a:xfrm>
            <a:off x="5295748" y="202996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5295748"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1" name="Text 18"/>
          <p:cNvSpPr txBox="1"/>
          <p:nvPr/>
        </p:nvSpPr>
        <p:spPr>
          <a:xfrm>
            <a:off x="5295748"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빈칸 목록</a:t>
            </a:r>
            <a:endParaRPr lang="ko-KR" altLang="en-US" sz="1500" dirty="0"/>
          </a:p>
        </p:txBody>
      </p:sp>
      <p:sp>
        <p:nvSpPr>
          <p:cNvPr id="22" name="Text 19"/>
          <p:cNvSpPr txBox="1"/>
          <p:nvPr/>
        </p:nvSpPr>
        <p:spPr>
          <a:xfrm>
            <a:off x="5295748"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빈 객체를 바로 찾는다</a:t>
            </a:r>
            <a:endParaRPr lang="ko-KR" altLang="en-US" sz="1300" dirty="0"/>
          </a:p>
        </p:txBody>
      </p:sp>
      <p:sp>
        <p:nvSpPr>
          <p:cNvPr id="23" name="Shape 20"/>
          <p:cNvSpPr/>
          <p:nvPr/>
        </p:nvSpPr>
        <p:spPr>
          <a:xfrm>
            <a:off x="7170268" y="2880360"/>
            <a:ext cx="110414" cy="914"/>
          </a:xfrm>
          <a:prstGeom prst="line">
            <a:avLst/>
          </a:prstGeom>
          <a:noFill/>
          <a:ln w="22225">
            <a:solidFill>
              <a:schemeClr val="accent3"/>
            </a:solidFill>
            <a:prstDash val="solid"/>
            <a:tailEnd type="triangle"/>
          </a:ln>
        </p:spPr>
      </p:sp>
      <p:sp>
        <p:nvSpPr>
          <p:cNvPr id="24" name="card"/>
          <p:cNvSpPr/>
          <p:nvPr/>
        </p:nvSpPr>
        <p:spPr>
          <a:xfrm>
            <a:off x="7326401" y="1828800"/>
            <a:ext cx="2057400" cy="2103120"/>
          </a:xfrm>
          <a:prstGeom prst="roundRect">
            <a:avLst>
              <a:gd name="adj" fmla="val 4444"/>
            </a:avLst>
          </a:prstGeom>
          <a:solidFill>
            <a:schemeClr val="bg2"/>
          </a:solidFill>
          <a:ln w="12700">
            <a:solidFill>
              <a:schemeClr val="bg2"/>
            </a:solidFill>
            <a:prstDash val="solid"/>
          </a:ln>
        </p:spPr>
      </p:sp>
      <p:sp>
        <p:nvSpPr>
          <p:cNvPr id="25" name="Shape 22"/>
          <p:cNvSpPr/>
          <p:nvPr/>
        </p:nvSpPr>
        <p:spPr>
          <a:xfrm>
            <a:off x="7555001" y="202996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7555001"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7" name="Text 24"/>
          <p:cNvSpPr txBox="1"/>
          <p:nvPr/>
        </p:nvSpPr>
        <p:spPr>
          <a:xfrm>
            <a:off x="7555001"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설계 결정</a:t>
            </a:r>
            <a:endParaRPr lang="ko-KR" altLang="en-US" sz="1500" dirty="0"/>
          </a:p>
        </p:txBody>
      </p:sp>
      <p:sp>
        <p:nvSpPr>
          <p:cNvPr id="28" name="Text 25"/>
          <p:cNvSpPr txBox="1"/>
          <p:nvPr/>
        </p:nvSpPr>
        <p:spPr>
          <a:xfrm>
            <a:off x="7555001"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결합, 초기화,</a:t>
            </a:r>
            <a:endParaRPr lang="ko-KR" altLang="en-US" sz="1300" dirty="0"/>
          </a:p>
          <a:p>
            <a:pPr indent="0" marL="0" eaLnBrk="0">
              <a:buNone/>
            </a:pPr>
            <a:r>
              <a:rPr lang="ko-KR" altLang="en-US" sz="1300" dirty="0">
                <a:solidFill>
                  <a:schemeClr val="accent5"/>
                </a:solidFill>
              </a:rPr>
              <a:t>가득 찼을 때</a:t>
            </a:r>
            <a:endParaRPr lang="ko-KR" altLang="en-US" sz="1300" dirty="0"/>
          </a:p>
        </p:txBody>
      </p:sp>
      <p:sp>
        <p:nvSpPr>
          <p:cNvPr id="29" name="Shape 26"/>
          <p:cNvSpPr/>
          <p:nvPr/>
        </p:nvSpPr>
        <p:spPr>
          <a:xfrm>
            <a:off x="9429521" y="2880360"/>
            <a:ext cx="110414" cy="914"/>
          </a:xfrm>
          <a:prstGeom prst="line">
            <a:avLst/>
          </a:prstGeom>
          <a:noFill/>
          <a:ln w="22225">
            <a:solidFill>
              <a:schemeClr val="accent3"/>
            </a:solidFill>
            <a:prstDash val="solid"/>
            <a:tailEnd type="triangle"/>
          </a:ln>
        </p:spPr>
      </p:sp>
      <p:sp>
        <p:nvSpPr>
          <p:cNvPr id="30" name="card"/>
          <p:cNvSpPr/>
          <p:nvPr/>
        </p:nvSpPr>
        <p:spPr>
          <a:xfrm>
            <a:off x="9585655" y="1828800"/>
            <a:ext cx="2057400" cy="2103120"/>
          </a:xfrm>
          <a:prstGeom prst="roundRect">
            <a:avLst>
              <a:gd name="adj" fmla="val 4444"/>
            </a:avLst>
          </a:prstGeom>
          <a:solidFill>
            <a:schemeClr val="bg2"/>
          </a:solidFill>
          <a:ln w="12700">
            <a:solidFill>
              <a:schemeClr val="bg2"/>
            </a:solidFill>
            <a:prstDash val="solid"/>
          </a:ln>
        </p:spPr>
      </p:sp>
      <p:sp>
        <p:nvSpPr>
          <p:cNvPr id="31" name="Shape 28"/>
          <p:cNvSpPr/>
          <p:nvPr/>
        </p:nvSpPr>
        <p:spPr>
          <a:xfrm>
            <a:off x="9814255" y="202996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9814255"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5</a:t>
            </a:r>
            <a:endParaRPr lang="ko-KR" altLang="en-US" sz="1500" dirty="0"/>
          </a:p>
        </p:txBody>
      </p:sp>
      <p:sp>
        <p:nvSpPr>
          <p:cNvPr id="33" name="Text 30"/>
          <p:cNvSpPr txBox="1"/>
          <p:nvPr/>
        </p:nvSpPr>
        <p:spPr>
          <a:xfrm>
            <a:off x="9814255"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쓸 때와 주의점</a:t>
            </a:r>
            <a:endParaRPr lang="ko-KR" altLang="en-US" sz="1500" dirty="0"/>
          </a:p>
        </p:txBody>
      </p:sp>
      <p:sp>
        <p:nvSpPr>
          <p:cNvPr id="34" name="Text 31"/>
          <p:cNvSpPr txBox="1"/>
          <p:nvPr/>
        </p:nvSpPr>
        <p:spPr>
          <a:xfrm>
            <a:off x="9814255"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관련 패턴, Unity 대응</a:t>
            </a:r>
            <a:endParaRPr lang="ko-KR" altLang="en-US" sz="1300" dirty="0"/>
          </a:p>
        </p:txBody>
      </p:sp>
      <p:sp>
        <p:nvSpPr>
          <p:cNvPr id="35" name="Text 32"/>
          <p:cNvSpPr txBox="1"/>
          <p:nvPr/>
        </p:nvSpPr>
        <p:spPr>
          <a:xfrm>
            <a:off x="548640" y="4434840"/>
            <a:ext cx="11094415" cy="548640"/>
          </a:xfrm>
          <a:prstGeom prst="rect">
            <a:avLst/>
          </a:prstGeom>
          <a:noFill/>
          <a:ln/>
        </p:spPr>
        <p:txBody>
          <a:bodyPr wrap="square" lIns="0" tIns="0" rIns="0" bIns="0" rtlCol="0" anchor="t"/>
          <a:lstStyle/>
          <a:p>
            <a:pPr indent="0" marL="0" eaLnBrk="0">
              <a:buNone/>
            </a:pPr>
            <a:r>
              <a:rPr lang="ko-KR" altLang="en-US" sz="1600" dirty="0">
                <a:solidFill>
                  <a:schemeClr val="tx2"/>
                </a:solidFill>
              </a:rPr>
              <a:t>오늘 예제는 원서와 같다: 마법 효과를 그리는 파티클 시스템의 파티클과 파티클 풀.</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객체 풀은 미리 만든 객체를 꺼내 쓰고 돌려받는다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객체를 매번 만들고 버리면 무엇이 문제일까? 파티클부터 보자.</a:t>
            </a:r>
            <a:endParaRPr lang="ko-KR" altLang="en-US" sz="1500" dirty="0"/>
          </a:p>
        </p:txBody>
      </p:sp>
      <p:sp>
        <p:nvSpPr>
          <p:cNvPr id="6" name="Shape 3"/>
          <p:cNvSpPr/>
          <p:nvPr/>
        </p:nvSpPr>
        <p:spPr>
          <a:xfrm>
            <a:off x="548640" y="1783080"/>
            <a:ext cx="4572000" cy="2377440"/>
          </a:xfrm>
          <a:prstGeom prst="roundRect">
            <a:avLst>
              <a:gd name="adj" fmla="val 3846"/>
            </a:avLst>
          </a:prstGeom>
          <a:solidFill>
            <a:schemeClr val="bg2"/>
          </a:solidFill>
          <a:ln w="12700">
            <a:solidFill>
              <a:schemeClr val="bg2"/>
            </a:solidFill>
            <a:prstDash val="solid"/>
          </a:ln>
        </p:spPr>
      </p:sp>
      <p:sp>
        <p:nvSpPr>
          <p:cNvPr id="7" name="Text 4"/>
          <p:cNvSpPr txBox="1"/>
          <p:nvPr/>
        </p:nvSpPr>
        <p:spPr>
          <a:xfrm>
            <a:off x="822960" y="1965960"/>
            <a:ext cx="4023360" cy="411480"/>
          </a:xfrm>
          <a:prstGeom prst="rect">
            <a:avLst/>
          </a:prstGeom>
          <a:noFill/>
          <a:ln/>
        </p:spPr>
        <p:txBody>
          <a:bodyPr wrap="square" lIns="0" tIns="0" rIns="0" bIns="0" rtlCol="0" anchor="t"/>
          <a:lstStyle/>
          <a:p>
            <a:pPr indent="0" marL="0" eaLnBrk="0">
              <a:buNone/>
            </a:pPr>
            <a:r>
              <a:rPr lang="ko-KR" altLang="en-US" sz="1800" b="1" dirty="0">
                <a:solidFill>
                  <a:schemeClr val="accent6"/>
                </a:solidFill>
              </a:rPr>
              <a:t>매번 만들고 버린다</a:t>
            </a:r>
            <a:endParaRPr lang="ko-KR" altLang="en-US" sz="1800" dirty="0"/>
          </a:p>
        </p:txBody>
      </p:sp>
      <p:sp>
        <p:nvSpPr>
          <p:cNvPr id="8" name="codePanel"/>
          <p:cNvSpPr/>
          <p:nvPr/>
        </p:nvSpPr>
        <p:spPr>
          <a:xfrm>
            <a:off x="822960" y="2514600"/>
            <a:ext cx="4023360" cy="548640"/>
          </a:xfrm>
          <a:prstGeom prst="roundRect">
            <a:avLst>
              <a:gd name="adj" fmla="val 13333"/>
            </a:avLst>
          </a:prstGeom>
          <a:solidFill>
            <a:schemeClr val="tx1"/>
          </a:solidFill>
          <a:ln w="12700">
            <a:solidFill>
              <a:schemeClr val="tx1"/>
            </a:solidFill>
            <a:prstDash val="solid"/>
          </a:ln>
        </p:spPr>
      </p:sp>
      <p:sp>
        <p:nvSpPr>
          <p:cNvPr id="9" name="code"/>
          <p:cNvSpPr txBox="1"/>
          <p:nvPr/>
        </p:nvSpPr>
        <p:spPr>
          <a:xfrm>
            <a:off x="932688" y="2606040"/>
            <a:ext cx="3803904" cy="365760"/>
          </a:xfrm>
          <a:prstGeom prst="rect">
            <a:avLst/>
          </a:prstGeom>
          <a:noFill/>
          <a:ln/>
        </p:spPr>
        <p:txBody>
          <a:bodyPr wrap="square" lIns="635" tIns="635" rIns="635" bIns="635" rtlCol="0" anchor="t"/>
          <a:lstStyle/>
          <a:p>
            <a:pPr indent="0" marL="0" eaLnBrk="0">
              <a:buNone/>
            </a:pPr>
            <a:r>
              <a:rPr lang="ko-KR" altLang="en-US" sz="1600" dirty="0">
                <a:solidFill>
                  <a:schemeClr val="bg1"/>
                </a:solidFill>
                <a:latin typeface="Consolas" pitchFamily="34" charset="0"/>
                <a:ea typeface="Consolas" pitchFamily="34" charset="-122"/>
                <a:cs typeface="Consolas" pitchFamily="34" charset="-120"/>
              </a:rPr>
              <a:t>new Particle();</a:t>
            </a:r>
            <a:endParaRPr lang="ko-KR" altLang="en-US" sz="1600" dirty="0"/>
          </a:p>
        </p:txBody>
      </p:sp>
      <p:sp>
        <p:nvSpPr>
          <p:cNvPr id="10" name="Text 7"/>
          <p:cNvSpPr txBox="1"/>
          <p:nvPr/>
        </p:nvSpPr>
        <p:spPr>
          <a:xfrm>
            <a:off x="822960" y="3246120"/>
            <a:ext cx="4023360"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만들 때마다 메모리를 할당하고, 다 쓰면 해제한다.</a:t>
            </a:r>
            <a:endParaRPr lang="ko-KR" altLang="en-US" sz="1400" dirty="0"/>
          </a:p>
        </p:txBody>
      </p:sp>
      <p:sp>
        <p:nvSpPr>
          <p:cNvPr id="11" name="Shape 8"/>
          <p:cNvSpPr/>
          <p:nvPr/>
        </p:nvSpPr>
        <p:spPr>
          <a:xfrm>
            <a:off x="5257800" y="2971800"/>
            <a:ext cx="914400" cy="914"/>
          </a:xfrm>
          <a:prstGeom prst="line">
            <a:avLst/>
          </a:prstGeom>
          <a:noFill/>
          <a:ln w="31750">
            <a:solidFill>
              <a:schemeClr val="accent1"/>
            </a:solidFill>
            <a:prstDash val="solid"/>
            <a:tailEnd type="triangle"/>
          </a:ln>
        </p:spPr>
      </p:sp>
      <p:sp>
        <p:nvSpPr>
          <p:cNvPr id="12" name="Shape 9"/>
          <p:cNvSpPr/>
          <p:nvPr/>
        </p:nvSpPr>
        <p:spPr>
          <a:xfrm>
            <a:off x="6309360" y="1783080"/>
            <a:ext cx="5333695" cy="2377440"/>
          </a:xfrm>
          <a:prstGeom prst="roundRect">
            <a:avLst>
              <a:gd name="adj" fmla="val 3846"/>
            </a:avLst>
          </a:prstGeom>
          <a:solidFill>
            <a:schemeClr val="bg2"/>
          </a:solidFill>
          <a:ln w="12700">
            <a:solidFill>
              <a:schemeClr val="bg2"/>
            </a:solidFill>
            <a:prstDash val="solid"/>
          </a:ln>
        </p:spPr>
      </p:sp>
      <p:sp>
        <p:nvSpPr>
          <p:cNvPr id="13" name="Text 10"/>
          <p:cNvSpPr txBox="1"/>
          <p:nvPr/>
        </p:nvSpPr>
        <p:spPr>
          <a:xfrm>
            <a:off x="6583680" y="1965960"/>
            <a:ext cx="4785055" cy="411480"/>
          </a:xfrm>
          <a:prstGeom prst="rect">
            <a:avLst/>
          </a:prstGeom>
          <a:noFill/>
          <a:ln/>
        </p:spPr>
        <p:txBody>
          <a:bodyPr wrap="square" lIns="0" tIns="0" rIns="0" bIns="0" rtlCol="0" anchor="t"/>
          <a:lstStyle/>
          <a:p>
            <a:pPr indent="0" marL="0" eaLnBrk="0">
              <a:buNone/>
            </a:pPr>
            <a:r>
              <a:rPr lang="ko-KR" altLang="en-US" sz="1800" b="1" dirty="0">
                <a:solidFill>
                  <a:schemeClr val="accent2"/>
                </a:solidFill>
              </a:rPr>
              <a:t>풀에서 꺼내고 돌려준다</a:t>
            </a:r>
            <a:endParaRPr lang="ko-KR" altLang="en-US" sz="1800" dirty="0"/>
          </a:p>
        </p:txBody>
      </p:sp>
      <p:sp>
        <p:nvSpPr>
          <p:cNvPr id="14" name="codePanel"/>
          <p:cNvSpPr/>
          <p:nvPr/>
        </p:nvSpPr>
        <p:spPr>
          <a:xfrm>
            <a:off x="6583680" y="2514600"/>
            <a:ext cx="4785055" cy="548640"/>
          </a:xfrm>
          <a:prstGeom prst="roundRect">
            <a:avLst>
              <a:gd name="adj" fmla="val 13333"/>
            </a:avLst>
          </a:prstGeom>
          <a:solidFill>
            <a:schemeClr val="tx1"/>
          </a:solidFill>
          <a:ln w="12700">
            <a:solidFill>
              <a:schemeClr val="tx1"/>
            </a:solidFill>
            <a:prstDash val="solid"/>
          </a:ln>
        </p:spPr>
      </p:sp>
      <p:sp>
        <p:nvSpPr>
          <p:cNvPr id="15" name="code"/>
          <p:cNvSpPr txBox="1"/>
          <p:nvPr/>
        </p:nvSpPr>
        <p:spPr>
          <a:xfrm>
            <a:off x="6693408" y="2606040"/>
            <a:ext cx="4565599" cy="365760"/>
          </a:xfrm>
          <a:prstGeom prst="rect">
            <a:avLst/>
          </a:prstGeom>
          <a:noFill/>
          <a:ln/>
        </p:spPr>
        <p:txBody>
          <a:bodyPr wrap="square" lIns="635" tIns="635" rIns="635" bIns="635" rtlCol="0" anchor="t"/>
          <a:lstStyle/>
          <a:p>
            <a:pPr indent="0" marL="0" eaLnBrk="0">
              <a:buNone/>
            </a:pPr>
            <a:r>
              <a:rPr lang="ko-KR" altLang="en-US" sz="1600" dirty="0">
                <a:solidFill>
                  <a:schemeClr val="bg1"/>
                </a:solidFill>
                <a:latin typeface="Consolas" pitchFamily="34" charset="0"/>
                <a:ea typeface="Consolas" pitchFamily="34" charset="-122"/>
                <a:cs typeface="Consolas" pitchFamily="34" charset="-120"/>
              </a:rPr>
              <a:t>pool.Create(x, y, xVel, yVel, lifetime);</a:t>
            </a:r>
            <a:endParaRPr lang="ko-KR" altLang="en-US" sz="1600" dirty="0"/>
          </a:p>
        </p:txBody>
      </p:sp>
      <p:sp>
        <p:nvSpPr>
          <p:cNvPr id="16" name="Text 13"/>
          <p:cNvSpPr txBox="1"/>
          <p:nvPr/>
        </p:nvSpPr>
        <p:spPr>
          <a:xfrm>
            <a:off x="6583680" y="3246120"/>
            <a:ext cx="478505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시작할 때 한 번에 만들어 둔 객체 가운데 쉬고 있는 것을 다시 쓴다. 할당과 해제가 일어나지 않는다.</a:t>
            </a:r>
            <a:endParaRPr lang="ko-KR" altLang="en-US" sz="1400" dirty="0"/>
          </a:p>
        </p:txBody>
      </p:sp>
      <p:sp>
        <p:nvSpPr>
          <p:cNvPr id="17" name="box"/>
          <p:cNvSpPr/>
          <p:nvPr/>
        </p:nvSpPr>
        <p:spPr>
          <a:xfrm>
            <a:off x="548640" y="4480560"/>
            <a:ext cx="11094415" cy="1051560"/>
          </a:xfrm>
          <a:prstGeom prst="roundRect">
            <a:avLst>
              <a:gd name="adj" fmla="val 6957"/>
            </a:avLst>
          </a:prstGeom>
          <a:solidFill>
            <a:schemeClr val="tx2"/>
          </a:solidFill>
          <a:ln w="12700">
            <a:solidFill>
              <a:schemeClr val="tx2"/>
            </a:solidFill>
            <a:prstDash val="solid"/>
          </a:ln>
        </p:spPr>
      </p:sp>
      <p:sp>
        <p:nvSpPr>
          <p:cNvPr id="18" name="Text 15"/>
          <p:cNvSpPr txBox="1"/>
          <p:nvPr/>
        </p:nvSpPr>
        <p:spPr>
          <a:xfrm>
            <a:off x="548640" y="4480560"/>
            <a:ext cx="11094415" cy="105156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원서의 의도: 객체를 하나씩 할당하고 해제하지 않고, 고정된 풀의 객체를 다시 써서 성능과 메모리 사용을 개선한다.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1부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잦은 생성과 삭제</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동기, 패턴</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첫 시도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주문을 쓸 때마다 파티클을 새로 만들고, 끝나면 버린다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이렇게 만들고 버리기를 반복하면 메모리는 어떻게 될까?</a:t>
            </a:r>
            <a:endParaRPr lang="ko-KR" altLang="en-US" sz="1500" dirty="0"/>
          </a:p>
        </p:txBody>
      </p:sp>
      <p:sp>
        <p:nvSpPr>
          <p:cNvPr id="6" name="codePanel"/>
          <p:cNvSpPr/>
          <p:nvPr/>
        </p:nvSpPr>
        <p:spPr>
          <a:xfrm>
            <a:off x="548640" y="1691640"/>
            <a:ext cx="6949440" cy="2743200"/>
          </a:xfrm>
          <a:prstGeom prst="roundRect">
            <a:avLst>
              <a:gd name="adj" fmla="val 2667"/>
            </a:avLst>
          </a:prstGeom>
          <a:solidFill>
            <a:schemeClr val="tx1"/>
          </a:solidFill>
          <a:ln w="12700">
            <a:solidFill>
              <a:schemeClr val="tx1"/>
            </a:solidFill>
            <a:prstDash val="solid"/>
          </a:ln>
        </p:spPr>
      </p:sp>
      <p:sp>
        <p:nvSpPr>
          <p:cNvPr id="7" name="code"/>
          <p:cNvSpPr txBox="1"/>
          <p:nvPr/>
        </p:nvSpPr>
        <p:spPr>
          <a:xfrm>
            <a:off x="658368" y="1783080"/>
            <a:ext cx="6729984" cy="2560320"/>
          </a:xfrm>
          <a:prstGeom prst="rect">
            <a:avLst/>
          </a:prstGeom>
          <a:noFill/>
          <a:ln/>
        </p:spPr>
        <p:txBody>
          <a:bodyPr wrap="square" lIns="635" tIns="635" rIns="635" bIns="635" rtlCol="0" anchor="t"/>
          <a:lstStyle/>
          <a:p>
            <a:pPr indent="0" marL="0" eaLnBrk="0">
              <a:buNone/>
            </a:pPr>
            <a:r>
              <a:rPr lang="ko-KR" altLang="en-US" sz="1300" dirty="0">
                <a:solidFill>
                  <a:schemeClr val="accent3"/>
                </a:solidFill>
                <a:latin typeface="Consolas" pitchFamily="34" charset="0"/>
                <a:ea typeface="Consolas" pitchFamily="34" charset="-122"/>
                <a:cs typeface="Consolas" pitchFamily="34" charset="-120"/>
              </a:rPr>
              <a:t>// 주문 한 번: 파티클을 새로 만든다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for (int i = 0; i &lt; 300; i++)</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_particles.Add(new Particle(x, y, xVel, yVel, lifetime));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수명이 끝난 파티클은 목록에서 빼고 버린다</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_particles.RemoveAll(p =&gt; !p.InUse);</a:t>
            </a:r>
            <a:endParaRPr lang="ko-KR" altLang="en-US" sz="1300" dirty="0"/>
          </a:p>
        </p:txBody>
      </p:sp>
      <p:sp>
        <p:nvSpPr>
          <p:cNvPr id="8" name="Text 5"/>
          <p:cNvSpPr txBox="1"/>
          <p:nvPr/>
        </p:nvSpPr>
        <p:spPr>
          <a:xfrm>
            <a:off x="548640" y="4480560"/>
            <a:ext cx="6949440"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설계 비교용 가상 코드</a:t>
            </a:r>
            <a:endParaRPr lang="ko-KR" altLang="en-US" sz="1100" dirty="0"/>
          </a:p>
        </p:txBody>
      </p:sp>
      <p:sp>
        <p:nvSpPr>
          <p:cNvPr id="9" name="card"/>
          <p:cNvSpPr/>
          <p:nvPr/>
        </p:nvSpPr>
        <p:spPr>
          <a:xfrm>
            <a:off x="7863840" y="1691640"/>
            <a:ext cx="3779215" cy="1828800"/>
          </a:xfrm>
          <a:prstGeom prst="roundRect">
            <a:avLst>
              <a:gd name="adj" fmla="val 5000"/>
            </a:avLst>
          </a:prstGeom>
          <a:solidFill>
            <a:schemeClr val="bg2"/>
          </a:solidFill>
          <a:ln w="12700">
            <a:solidFill>
              <a:schemeClr val="bg2"/>
            </a:solidFill>
            <a:prstDash val="solid"/>
          </a:ln>
        </p:spPr>
      </p:sp>
      <p:sp>
        <p:nvSpPr>
          <p:cNvPr id="10" name="Text 7"/>
          <p:cNvSpPr txBox="1"/>
          <p:nvPr/>
        </p:nvSpPr>
        <p:spPr>
          <a:xfrm>
            <a:off x="8092440" y="19110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주문 한 번에 수백 개</a:t>
            </a:r>
            <a:endParaRPr lang="ko-KR" altLang="en-US" sz="1700" dirty="0"/>
          </a:p>
        </p:txBody>
      </p:sp>
      <p:sp>
        <p:nvSpPr>
          <p:cNvPr id="11" name="Text 8"/>
          <p:cNvSpPr txBox="1"/>
          <p:nvPr/>
        </p:nvSpPr>
        <p:spPr>
          <a:xfrm>
            <a:off x="8092440" y="2423160"/>
            <a:ext cx="3322015" cy="960120"/>
          </a:xfrm>
          <a:prstGeom prst="rect">
            <a:avLst/>
          </a:prstGeom>
          <a:noFill/>
          <a:ln/>
        </p:spPr>
        <p:txBody>
          <a:bodyPr wrap="square" lIns="0" tIns="0" rIns="0" bIns="0" rtlCol="0" anchor="t"/>
          <a:lstStyle/>
          <a:p>
            <a:pPr indent="0" marL="0" eaLnBrk="0">
              <a:buNone/>
            </a:pPr>
            <a:r>
              <a:rPr lang="ko-KR" altLang="en-US" sz="1400" dirty="0">
                <a:solidFill>
                  <a:schemeClr val="tx2"/>
                </a:solidFill>
              </a:rPr>
              <a:t>마법 효과 하나가 파티클 수백 개를 만들고, 곧 모두 사라진다.</a:t>
            </a:r>
            <a:endParaRPr lang="ko-KR" altLang="en-US" sz="1400" dirty="0"/>
          </a:p>
        </p:txBody>
      </p:sp>
      <p:sp>
        <p:nvSpPr>
          <p:cNvPr id="12" name="card"/>
          <p:cNvSpPr/>
          <p:nvPr/>
        </p:nvSpPr>
        <p:spPr>
          <a:xfrm>
            <a:off x="7863840" y="3703320"/>
            <a:ext cx="3779215" cy="1920240"/>
          </a:xfrm>
          <a:prstGeom prst="roundRect">
            <a:avLst>
              <a:gd name="adj" fmla="val 4762"/>
            </a:avLst>
          </a:prstGeom>
          <a:solidFill>
            <a:schemeClr val="bg2"/>
          </a:solidFill>
          <a:ln w="12700">
            <a:solidFill>
              <a:schemeClr val="bg2"/>
            </a:solidFill>
            <a:prstDash val="solid"/>
          </a:ln>
        </p:spPr>
      </p:sp>
      <p:sp>
        <p:nvSpPr>
          <p:cNvPr id="13" name="Text 10"/>
          <p:cNvSpPr txBox="1"/>
          <p:nvPr/>
        </p:nvSpPr>
        <p:spPr>
          <a:xfrm>
            <a:off x="8092440" y="39227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두 가지 요구</a:t>
            </a:r>
            <a:endParaRPr lang="ko-KR" altLang="en-US" sz="1700" dirty="0"/>
          </a:p>
        </p:txBody>
      </p:sp>
      <p:sp>
        <p:nvSpPr>
          <p:cNvPr id="14" name="Text 11"/>
          <p:cNvSpPr txBox="1"/>
          <p:nvPr/>
        </p:nvSpPr>
        <p:spPr>
          <a:xfrm>
            <a:off x="8092440" y="4434840"/>
            <a:ext cx="3322015" cy="1051560"/>
          </a:xfrm>
          <a:prstGeom prst="rect">
            <a:avLst/>
          </a:prstGeom>
          <a:noFill/>
          <a:ln/>
        </p:spPr>
        <p:txBody>
          <a:bodyPr wrap="square" lIns="0" tIns="0" rIns="0" bIns="0" rtlCol="0" anchor="t"/>
          <a:lstStyle/>
          <a:p>
            <a:pPr indent="0" marL="0" eaLnBrk="0">
              <a:buNone/>
            </a:pPr>
            <a:r>
              <a:rPr lang="ko-KR" altLang="en-US" sz="1400" dirty="0">
                <a:solidFill>
                  <a:schemeClr val="tx2"/>
                </a:solidFill>
              </a:rPr>
              <a:t>파티클을 빠르게 만들 수 있어야 한다. 만들고 없애는 일이 메모리를 조각내면 안 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메모리 단편화</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빈 메모리가 충분해도 이어진 덩어리가 없으면 할당할 수 없다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단편화는 게임에서 왜 특히 문제가 될까?</a:t>
            </a:r>
            <a:endParaRPr lang="ko-KR" altLang="en-US" sz="1500" dirty="0"/>
          </a:p>
        </p:txBody>
      </p:sp>
      <p:sp>
        <p:nvSpPr>
          <p:cNvPr id="6" name="Text 3"/>
          <p:cNvSpPr txBox="1"/>
          <p:nvPr/>
        </p:nvSpPr>
        <p:spPr>
          <a:xfrm>
            <a:off x="548640" y="1783080"/>
            <a:ext cx="2560320" cy="566928"/>
          </a:xfrm>
          <a:prstGeom prst="rect">
            <a:avLst/>
          </a:prstGeom>
          <a:noFill/>
          <a:ln/>
        </p:spPr>
        <p:txBody>
          <a:bodyPr wrap="square" lIns="0" tIns="0" rIns="0" bIns="0" rtlCol="0" anchor="ctr"/>
          <a:lstStyle/>
          <a:p>
            <a:pPr indent="0" marL="0" eaLnBrk="0">
              <a:buNone/>
            </a:pPr>
            <a:r>
              <a:rPr lang="ko-KR" altLang="en-US" sz="1500" b="1" dirty="0">
                <a:solidFill>
                  <a:schemeClr val="tx1"/>
                </a:solidFill>
              </a:rPr>
              <a:t>① 다섯 객체를 할당</a:t>
            </a:r>
            <a:endParaRPr lang="ko-KR" altLang="en-US" sz="1500" dirty="0"/>
          </a:p>
        </p:txBody>
      </p:sp>
      <p:sp>
        <p:nvSpPr>
          <p:cNvPr id="7" name="Shape 4"/>
          <p:cNvSpPr/>
          <p:nvPr/>
        </p:nvSpPr>
        <p:spPr>
          <a:xfrm>
            <a:off x="3200400" y="1783080"/>
            <a:ext cx="548640" cy="566928"/>
          </a:xfrm>
          <a:prstGeom prst="rect">
            <a:avLst/>
          </a:prstGeom>
          <a:solidFill>
            <a:schemeClr val="accent1"/>
          </a:solidFill>
          <a:ln w="19050">
            <a:solidFill>
              <a:srgbClr val="FFFFFF"/>
            </a:solidFill>
            <a:prstDash val="solid"/>
          </a:ln>
        </p:spPr>
      </p:sp>
      <p:sp>
        <p:nvSpPr>
          <p:cNvPr id="8" name="Text 5"/>
          <p:cNvSpPr txBox="1"/>
          <p:nvPr/>
        </p:nvSpPr>
        <p:spPr>
          <a:xfrm>
            <a:off x="3200400" y="178308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A</a:t>
            </a:r>
            <a:endParaRPr lang="ko-KR" altLang="en-US" sz="1400" dirty="0"/>
          </a:p>
        </p:txBody>
      </p:sp>
      <p:sp>
        <p:nvSpPr>
          <p:cNvPr id="9" name="Shape 6"/>
          <p:cNvSpPr/>
          <p:nvPr/>
        </p:nvSpPr>
        <p:spPr>
          <a:xfrm>
            <a:off x="3749040" y="1783080"/>
            <a:ext cx="548640" cy="566928"/>
          </a:xfrm>
          <a:prstGeom prst="rect">
            <a:avLst/>
          </a:prstGeom>
          <a:solidFill>
            <a:schemeClr val="accent1"/>
          </a:solidFill>
          <a:ln w="19050">
            <a:solidFill>
              <a:srgbClr val="FFFFFF"/>
            </a:solidFill>
            <a:prstDash val="solid"/>
          </a:ln>
        </p:spPr>
      </p:sp>
      <p:sp>
        <p:nvSpPr>
          <p:cNvPr id="10" name="Text 7"/>
          <p:cNvSpPr txBox="1"/>
          <p:nvPr/>
        </p:nvSpPr>
        <p:spPr>
          <a:xfrm>
            <a:off x="3749040" y="178308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A</a:t>
            </a:r>
            <a:endParaRPr lang="ko-KR" altLang="en-US" sz="1400" dirty="0"/>
          </a:p>
        </p:txBody>
      </p:sp>
      <p:sp>
        <p:nvSpPr>
          <p:cNvPr id="11" name="Shape 8"/>
          <p:cNvSpPr/>
          <p:nvPr/>
        </p:nvSpPr>
        <p:spPr>
          <a:xfrm>
            <a:off x="4297680" y="1783080"/>
            <a:ext cx="548640" cy="566928"/>
          </a:xfrm>
          <a:prstGeom prst="rect">
            <a:avLst/>
          </a:prstGeom>
          <a:solidFill>
            <a:schemeClr val="accent1"/>
          </a:solidFill>
          <a:ln w="19050">
            <a:solidFill>
              <a:srgbClr val="FFFFFF"/>
            </a:solidFill>
            <a:prstDash val="solid"/>
          </a:ln>
        </p:spPr>
      </p:sp>
      <p:sp>
        <p:nvSpPr>
          <p:cNvPr id="12" name="Text 9"/>
          <p:cNvSpPr txBox="1"/>
          <p:nvPr/>
        </p:nvSpPr>
        <p:spPr>
          <a:xfrm>
            <a:off x="4297680" y="178308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B</a:t>
            </a:r>
            <a:endParaRPr lang="ko-KR" altLang="en-US" sz="1400" dirty="0"/>
          </a:p>
        </p:txBody>
      </p:sp>
      <p:sp>
        <p:nvSpPr>
          <p:cNvPr id="13" name="Shape 10"/>
          <p:cNvSpPr/>
          <p:nvPr/>
        </p:nvSpPr>
        <p:spPr>
          <a:xfrm>
            <a:off x="4846320" y="1783080"/>
            <a:ext cx="548640" cy="566928"/>
          </a:xfrm>
          <a:prstGeom prst="rect">
            <a:avLst/>
          </a:prstGeom>
          <a:solidFill>
            <a:schemeClr val="accent1"/>
          </a:solidFill>
          <a:ln w="19050">
            <a:solidFill>
              <a:srgbClr val="FFFFFF"/>
            </a:solidFill>
            <a:prstDash val="solid"/>
          </a:ln>
        </p:spPr>
      </p:sp>
      <p:sp>
        <p:nvSpPr>
          <p:cNvPr id="14" name="Text 11"/>
          <p:cNvSpPr txBox="1"/>
          <p:nvPr/>
        </p:nvSpPr>
        <p:spPr>
          <a:xfrm>
            <a:off x="4846320" y="178308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B</a:t>
            </a:r>
            <a:endParaRPr lang="ko-KR" altLang="en-US" sz="1400" dirty="0"/>
          </a:p>
        </p:txBody>
      </p:sp>
      <p:sp>
        <p:nvSpPr>
          <p:cNvPr id="15" name="Shape 12"/>
          <p:cNvSpPr/>
          <p:nvPr/>
        </p:nvSpPr>
        <p:spPr>
          <a:xfrm>
            <a:off x="5394960" y="1783080"/>
            <a:ext cx="548640" cy="566928"/>
          </a:xfrm>
          <a:prstGeom prst="rect">
            <a:avLst/>
          </a:prstGeom>
          <a:solidFill>
            <a:schemeClr val="accent1"/>
          </a:solidFill>
          <a:ln w="19050">
            <a:solidFill>
              <a:srgbClr val="FFFFFF"/>
            </a:solidFill>
            <a:prstDash val="solid"/>
          </a:ln>
        </p:spPr>
      </p:sp>
      <p:sp>
        <p:nvSpPr>
          <p:cNvPr id="16" name="Text 13"/>
          <p:cNvSpPr txBox="1"/>
          <p:nvPr/>
        </p:nvSpPr>
        <p:spPr>
          <a:xfrm>
            <a:off x="5394960" y="178308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C</a:t>
            </a:r>
            <a:endParaRPr lang="ko-KR" altLang="en-US" sz="1400" dirty="0"/>
          </a:p>
        </p:txBody>
      </p:sp>
      <p:sp>
        <p:nvSpPr>
          <p:cNvPr id="17" name="Shape 14"/>
          <p:cNvSpPr/>
          <p:nvPr/>
        </p:nvSpPr>
        <p:spPr>
          <a:xfrm>
            <a:off x="5943600" y="1783080"/>
            <a:ext cx="548640" cy="566928"/>
          </a:xfrm>
          <a:prstGeom prst="rect">
            <a:avLst/>
          </a:prstGeom>
          <a:solidFill>
            <a:schemeClr val="accent1"/>
          </a:solidFill>
          <a:ln w="19050">
            <a:solidFill>
              <a:srgbClr val="FFFFFF"/>
            </a:solidFill>
            <a:prstDash val="solid"/>
          </a:ln>
        </p:spPr>
      </p:sp>
      <p:sp>
        <p:nvSpPr>
          <p:cNvPr id="18" name="Text 15"/>
          <p:cNvSpPr txBox="1"/>
          <p:nvPr/>
        </p:nvSpPr>
        <p:spPr>
          <a:xfrm>
            <a:off x="5943600" y="178308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C</a:t>
            </a:r>
            <a:endParaRPr lang="ko-KR" altLang="en-US" sz="1400" dirty="0"/>
          </a:p>
        </p:txBody>
      </p:sp>
      <p:sp>
        <p:nvSpPr>
          <p:cNvPr id="19" name="Shape 16"/>
          <p:cNvSpPr/>
          <p:nvPr/>
        </p:nvSpPr>
        <p:spPr>
          <a:xfrm>
            <a:off x="6492240" y="1783080"/>
            <a:ext cx="548640" cy="566928"/>
          </a:xfrm>
          <a:prstGeom prst="rect">
            <a:avLst/>
          </a:prstGeom>
          <a:solidFill>
            <a:schemeClr val="accent1"/>
          </a:solidFill>
          <a:ln w="19050">
            <a:solidFill>
              <a:srgbClr val="FFFFFF"/>
            </a:solidFill>
            <a:prstDash val="solid"/>
          </a:ln>
        </p:spPr>
      </p:sp>
      <p:sp>
        <p:nvSpPr>
          <p:cNvPr id="20" name="Text 17"/>
          <p:cNvSpPr txBox="1"/>
          <p:nvPr/>
        </p:nvSpPr>
        <p:spPr>
          <a:xfrm>
            <a:off x="6492240" y="178308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D</a:t>
            </a:r>
            <a:endParaRPr lang="ko-KR" altLang="en-US" sz="1400" dirty="0"/>
          </a:p>
        </p:txBody>
      </p:sp>
      <p:sp>
        <p:nvSpPr>
          <p:cNvPr id="21" name="Shape 18"/>
          <p:cNvSpPr/>
          <p:nvPr/>
        </p:nvSpPr>
        <p:spPr>
          <a:xfrm>
            <a:off x="7040880" y="1783080"/>
            <a:ext cx="548640" cy="566928"/>
          </a:xfrm>
          <a:prstGeom prst="rect">
            <a:avLst/>
          </a:prstGeom>
          <a:solidFill>
            <a:schemeClr val="accent1"/>
          </a:solidFill>
          <a:ln w="19050">
            <a:solidFill>
              <a:srgbClr val="FFFFFF"/>
            </a:solidFill>
            <a:prstDash val="solid"/>
          </a:ln>
        </p:spPr>
      </p:sp>
      <p:sp>
        <p:nvSpPr>
          <p:cNvPr id="22" name="Text 19"/>
          <p:cNvSpPr txBox="1"/>
          <p:nvPr/>
        </p:nvSpPr>
        <p:spPr>
          <a:xfrm>
            <a:off x="7040880" y="178308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D</a:t>
            </a:r>
            <a:endParaRPr lang="ko-KR" altLang="en-US" sz="1400" dirty="0"/>
          </a:p>
        </p:txBody>
      </p:sp>
      <p:sp>
        <p:nvSpPr>
          <p:cNvPr id="23" name="Shape 20"/>
          <p:cNvSpPr/>
          <p:nvPr/>
        </p:nvSpPr>
        <p:spPr>
          <a:xfrm>
            <a:off x="7589520" y="1783080"/>
            <a:ext cx="548640" cy="566928"/>
          </a:xfrm>
          <a:prstGeom prst="rect">
            <a:avLst/>
          </a:prstGeom>
          <a:solidFill>
            <a:schemeClr val="accent1"/>
          </a:solidFill>
          <a:ln w="19050">
            <a:solidFill>
              <a:srgbClr val="FFFFFF"/>
            </a:solidFill>
            <a:prstDash val="solid"/>
          </a:ln>
        </p:spPr>
      </p:sp>
      <p:sp>
        <p:nvSpPr>
          <p:cNvPr id="24" name="Text 21"/>
          <p:cNvSpPr txBox="1"/>
          <p:nvPr/>
        </p:nvSpPr>
        <p:spPr>
          <a:xfrm>
            <a:off x="7589520" y="178308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E</a:t>
            </a:r>
            <a:endParaRPr lang="ko-KR" altLang="en-US" sz="1400" dirty="0"/>
          </a:p>
        </p:txBody>
      </p:sp>
      <p:sp>
        <p:nvSpPr>
          <p:cNvPr id="25" name="Shape 22"/>
          <p:cNvSpPr/>
          <p:nvPr/>
        </p:nvSpPr>
        <p:spPr>
          <a:xfrm>
            <a:off x="8138160" y="1783080"/>
            <a:ext cx="548640" cy="566928"/>
          </a:xfrm>
          <a:prstGeom prst="rect">
            <a:avLst/>
          </a:prstGeom>
          <a:solidFill>
            <a:schemeClr val="accent1"/>
          </a:solidFill>
          <a:ln w="19050">
            <a:solidFill>
              <a:srgbClr val="FFFFFF"/>
            </a:solidFill>
            <a:prstDash val="solid"/>
          </a:ln>
        </p:spPr>
      </p:sp>
      <p:sp>
        <p:nvSpPr>
          <p:cNvPr id="26" name="Text 23"/>
          <p:cNvSpPr txBox="1"/>
          <p:nvPr/>
        </p:nvSpPr>
        <p:spPr>
          <a:xfrm>
            <a:off x="8138160" y="178308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E</a:t>
            </a:r>
            <a:endParaRPr lang="ko-KR" altLang="en-US" sz="1400" dirty="0"/>
          </a:p>
        </p:txBody>
      </p:sp>
      <p:sp>
        <p:nvSpPr>
          <p:cNvPr id="27" name="Text 24"/>
          <p:cNvSpPr txBox="1"/>
          <p:nvPr/>
        </p:nvSpPr>
        <p:spPr>
          <a:xfrm>
            <a:off x="548640" y="2743200"/>
            <a:ext cx="2560320" cy="566928"/>
          </a:xfrm>
          <a:prstGeom prst="rect">
            <a:avLst/>
          </a:prstGeom>
          <a:noFill/>
          <a:ln/>
        </p:spPr>
        <p:txBody>
          <a:bodyPr wrap="square" lIns="0" tIns="0" rIns="0" bIns="0" rtlCol="0" anchor="ctr"/>
          <a:lstStyle/>
          <a:p>
            <a:pPr indent="0" marL="0" eaLnBrk="0">
              <a:buNone/>
            </a:pPr>
            <a:r>
              <a:rPr lang="ko-KR" altLang="en-US" sz="1500" b="1" dirty="0">
                <a:solidFill>
                  <a:schemeClr val="tx1"/>
                </a:solidFill>
              </a:rPr>
              <a:t>② B와 D를 해제</a:t>
            </a:r>
            <a:endParaRPr lang="ko-KR" altLang="en-US" sz="1500" dirty="0"/>
          </a:p>
        </p:txBody>
      </p:sp>
      <p:sp>
        <p:nvSpPr>
          <p:cNvPr id="28" name="Shape 25"/>
          <p:cNvSpPr/>
          <p:nvPr/>
        </p:nvSpPr>
        <p:spPr>
          <a:xfrm>
            <a:off x="3200400" y="2743200"/>
            <a:ext cx="548640" cy="566928"/>
          </a:xfrm>
          <a:prstGeom prst="rect">
            <a:avLst/>
          </a:prstGeom>
          <a:solidFill>
            <a:schemeClr val="accent1"/>
          </a:solidFill>
          <a:ln w="19050">
            <a:solidFill>
              <a:srgbClr val="FFFFFF"/>
            </a:solidFill>
            <a:prstDash val="solid"/>
          </a:ln>
        </p:spPr>
      </p:sp>
      <p:sp>
        <p:nvSpPr>
          <p:cNvPr id="29" name="Text 26"/>
          <p:cNvSpPr txBox="1"/>
          <p:nvPr/>
        </p:nvSpPr>
        <p:spPr>
          <a:xfrm>
            <a:off x="3200400" y="274320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A</a:t>
            </a:r>
            <a:endParaRPr lang="ko-KR" altLang="en-US" sz="1400" dirty="0"/>
          </a:p>
        </p:txBody>
      </p:sp>
      <p:sp>
        <p:nvSpPr>
          <p:cNvPr id="30" name="Shape 27"/>
          <p:cNvSpPr/>
          <p:nvPr/>
        </p:nvSpPr>
        <p:spPr>
          <a:xfrm>
            <a:off x="3749040" y="2743200"/>
            <a:ext cx="548640" cy="566928"/>
          </a:xfrm>
          <a:prstGeom prst="rect">
            <a:avLst/>
          </a:prstGeom>
          <a:solidFill>
            <a:schemeClr val="accent1"/>
          </a:solidFill>
          <a:ln w="19050">
            <a:solidFill>
              <a:srgbClr val="FFFFFF"/>
            </a:solidFill>
            <a:prstDash val="solid"/>
          </a:ln>
        </p:spPr>
      </p:sp>
      <p:sp>
        <p:nvSpPr>
          <p:cNvPr id="31" name="Text 28"/>
          <p:cNvSpPr txBox="1"/>
          <p:nvPr/>
        </p:nvSpPr>
        <p:spPr>
          <a:xfrm>
            <a:off x="3749040" y="274320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A</a:t>
            </a:r>
            <a:endParaRPr lang="ko-KR" altLang="en-US" sz="1400" dirty="0"/>
          </a:p>
        </p:txBody>
      </p:sp>
      <p:sp>
        <p:nvSpPr>
          <p:cNvPr id="32" name="Shape 29"/>
          <p:cNvSpPr/>
          <p:nvPr/>
        </p:nvSpPr>
        <p:spPr>
          <a:xfrm>
            <a:off x="4297680" y="2743200"/>
            <a:ext cx="548640" cy="566928"/>
          </a:xfrm>
          <a:prstGeom prst="rect">
            <a:avLst/>
          </a:prstGeom>
          <a:solidFill>
            <a:schemeClr val="bg2"/>
          </a:solidFill>
          <a:ln w="19050">
            <a:solidFill>
              <a:srgbClr val="FFFFFF"/>
            </a:solidFill>
            <a:prstDash val="solid"/>
          </a:ln>
        </p:spPr>
      </p:sp>
      <p:sp>
        <p:nvSpPr>
          <p:cNvPr id="33" name="Shape 30"/>
          <p:cNvSpPr/>
          <p:nvPr/>
        </p:nvSpPr>
        <p:spPr>
          <a:xfrm>
            <a:off x="4846320" y="2743200"/>
            <a:ext cx="548640" cy="566928"/>
          </a:xfrm>
          <a:prstGeom prst="rect">
            <a:avLst/>
          </a:prstGeom>
          <a:solidFill>
            <a:schemeClr val="bg2"/>
          </a:solidFill>
          <a:ln w="19050">
            <a:solidFill>
              <a:srgbClr val="FFFFFF"/>
            </a:solidFill>
            <a:prstDash val="solid"/>
          </a:ln>
        </p:spPr>
      </p:sp>
      <p:sp>
        <p:nvSpPr>
          <p:cNvPr id="34" name="Shape 31"/>
          <p:cNvSpPr/>
          <p:nvPr/>
        </p:nvSpPr>
        <p:spPr>
          <a:xfrm>
            <a:off x="5394960" y="2743200"/>
            <a:ext cx="548640" cy="566928"/>
          </a:xfrm>
          <a:prstGeom prst="rect">
            <a:avLst/>
          </a:prstGeom>
          <a:solidFill>
            <a:schemeClr val="accent1"/>
          </a:solidFill>
          <a:ln w="19050">
            <a:solidFill>
              <a:srgbClr val="FFFFFF"/>
            </a:solidFill>
            <a:prstDash val="solid"/>
          </a:ln>
        </p:spPr>
      </p:sp>
      <p:sp>
        <p:nvSpPr>
          <p:cNvPr id="35" name="Text 32"/>
          <p:cNvSpPr txBox="1"/>
          <p:nvPr/>
        </p:nvSpPr>
        <p:spPr>
          <a:xfrm>
            <a:off x="5394960" y="274320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C</a:t>
            </a:r>
            <a:endParaRPr lang="ko-KR" altLang="en-US" sz="1400" dirty="0"/>
          </a:p>
        </p:txBody>
      </p:sp>
      <p:sp>
        <p:nvSpPr>
          <p:cNvPr id="36" name="Shape 33"/>
          <p:cNvSpPr/>
          <p:nvPr/>
        </p:nvSpPr>
        <p:spPr>
          <a:xfrm>
            <a:off x="5943600" y="2743200"/>
            <a:ext cx="548640" cy="566928"/>
          </a:xfrm>
          <a:prstGeom prst="rect">
            <a:avLst/>
          </a:prstGeom>
          <a:solidFill>
            <a:schemeClr val="accent1"/>
          </a:solidFill>
          <a:ln w="19050">
            <a:solidFill>
              <a:srgbClr val="FFFFFF"/>
            </a:solidFill>
            <a:prstDash val="solid"/>
          </a:ln>
        </p:spPr>
      </p:sp>
      <p:sp>
        <p:nvSpPr>
          <p:cNvPr id="37" name="Text 34"/>
          <p:cNvSpPr txBox="1"/>
          <p:nvPr/>
        </p:nvSpPr>
        <p:spPr>
          <a:xfrm>
            <a:off x="5943600" y="274320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C</a:t>
            </a:r>
            <a:endParaRPr lang="ko-KR" altLang="en-US" sz="1400" dirty="0"/>
          </a:p>
        </p:txBody>
      </p:sp>
      <p:sp>
        <p:nvSpPr>
          <p:cNvPr id="38" name="Shape 35"/>
          <p:cNvSpPr/>
          <p:nvPr/>
        </p:nvSpPr>
        <p:spPr>
          <a:xfrm>
            <a:off x="6492240" y="2743200"/>
            <a:ext cx="548640" cy="566928"/>
          </a:xfrm>
          <a:prstGeom prst="rect">
            <a:avLst/>
          </a:prstGeom>
          <a:solidFill>
            <a:schemeClr val="bg2"/>
          </a:solidFill>
          <a:ln w="19050">
            <a:solidFill>
              <a:srgbClr val="FFFFFF"/>
            </a:solidFill>
            <a:prstDash val="solid"/>
          </a:ln>
        </p:spPr>
      </p:sp>
      <p:sp>
        <p:nvSpPr>
          <p:cNvPr id="39" name="Shape 36"/>
          <p:cNvSpPr/>
          <p:nvPr/>
        </p:nvSpPr>
        <p:spPr>
          <a:xfrm>
            <a:off x="7040880" y="2743200"/>
            <a:ext cx="548640" cy="566928"/>
          </a:xfrm>
          <a:prstGeom prst="rect">
            <a:avLst/>
          </a:prstGeom>
          <a:solidFill>
            <a:schemeClr val="bg2"/>
          </a:solidFill>
          <a:ln w="19050">
            <a:solidFill>
              <a:srgbClr val="FFFFFF"/>
            </a:solidFill>
            <a:prstDash val="solid"/>
          </a:ln>
        </p:spPr>
      </p:sp>
      <p:sp>
        <p:nvSpPr>
          <p:cNvPr id="40" name="Shape 37"/>
          <p:cNvSpPr/>
          <p:nvPr/>
        </p:nvSpPr>
        <p:spPr>
          <a:xfrm>
            <a:off x="7589520" y="2743200"/>
            <a:ext cx="548640" cy="566928"/>
          </a:xfrm>
          <a:prstGeom prst="rect">
            <a:avLst/>
          </a:prstGeom>
          <a:solidFill>
            <a:schemeClr val="accent1"/>
          </a:solidFill>
          <a:ln w="19050">
            <a:solidFill>
              <a:srgbClr val="FFFFFF"/>
            </a:solidFill>
            <a:prstDash val="solid"/>
          </a:ln>
        </p:spPr>
      </p:sp>
      <p:sp>
        <p:nvSpPr>
          <p:cNvPr id="41" name="Text 38"/>
          <p:cNvSpPr txBox="1"/>
          <p:nvPr/>
        </p:nvSpPr>
        <p:spPr>
          <a:xfrm>
            <a:off x="7589520" y="274320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E</a:t>
            </a:r>
            <a:endParaRPr lang="ko-KR" altLang="en-US" sz="1400" dirty="0"/>
          </a:p>
        </p:txBody>
      </p:sp>
      <p:sp>
        <p:nvSpPr>
          <p:cNvPr id="42" name="Shape 39"/>
          <p:cNvSpPr/>
          <p:nvPr/>
        </p:nvSpPr>
        <p:spPr>
          <a:xfrm>
            <a:off x="8138160" y="2743200"/>
            <a:ext cx="548640" cy="566928"/>
          </a:xfrm>
          <a:prstGeom prst="rect">
            <a:avLst/>
          </a:prstGeom>
          <a:solidFill>
            <a:schemeClr val="accent1"/>
          </a:solidFill>
          <a:ln w="19050">
            <a:solidFill>
              <a:srgbClr val="FFFFFF"/>
            </a:solidFill>
            <a:prstDash val="solid"/>
          </a:ln>
        </p:spPr>
      </p:sp>
      <p:sp>
        <p:nvSpPr>
          <p:cNvPr id="43" name="Text 40"/>
          <p:cNvSpPr txBox="1"/>
          <p:nvPr/>
        </p:nvSpPr>
        <p:spPr>
          <a:xfrm>
            <a:off x="8138160" y="2743200"/>
            <a:ext cx="548640" cy="566928"/>
          </a:xfrm>
          <a:prstGeom prst="rect">
            <a:avLst/>
          </a:prstGeom>
          <a:noFill/>
          <a:ln/>
        </p:spPr>
        <p:txBody>
          <a:bodyPr wrap="square" lIns="0" tIns="0" rIns="0" bIns="0" rtlCol="0" anchor="ctr"/>
          <a:lstStyle/>
          <a:p>
            <a:pPr algn="ctr" indent="0" marL="0" eaLnBrk="0">
              <a:buNone/>
            </a:pPr>
            <a:r>
              <a:rPr lang="ko-KR" altLang="en-US" sz="1400" b="1" dirty="0">
                <a:solidFill>
                  <a:schemeClr val="bg1"/>
                </a:solidFill>
              </a:rPr>
              <a:t>E</a:t>
            </a:r>
            <a:endParaRPr lang="ko-KR" altLang="en-US" sz="1400" dirty="0"/>
          </a:p>
        </p:txBody>
      </p:sp>
      <p:sp>
        <p:nvSpPr>
          <p:cNvPr id="44" name="Text 41"/>
          <p:cNvSpPr txBox="1"/>
          <p:nvPr/>
        </p:nvSpPr>
        <p:spPr>
          <a:xfrm>
            <a:off x="548640" y="3703320"/>
            <a:ext cx="2560320" cy="566928"/>
          </a:xfrm>
          <a:prstGeom prst="rect">
            <a:avLst/>
          </a:prstGeom>
          <a:noFill/>
          <a:ln/>
        </p:spPr>
        <p:txBody>
          <a:bodyPr wrap="square" lIns="0" tIns="0" rIns="0" bIns="0" rtlCol="0" anchor="ctr"/>
          <a:lstStyle/>
          <a:p>
            <a:pPr indent="0" marL="0" eaLnBrk="0">
              <a:buNone/>
            </a:pPr>
            <a:r>
              <a:rPr lang="ko-KR" altLang="en-US" sz="1500" b="1" dirty="0">
                <a:solidFill>
                  <a:schemeClr val="tx1"/>
                </a:solidFill>
              </a:rPr>
              <a:t>③ 세 칸짜리 할당</a:t>
            </a:r>
            <a:endParaRPr lang="ko-KR" altLang="en-US" sz="1500" dirty="0"/>
          </a:p>
        </p:txBody>
      </p:sp>
      <p:sp>
        <p:nvSpPr>
          <p:cNvPr id="45" name="box"/>
          <p:cNvSpPr/>
          <p:nvPr/>
        </p:nvSpPr>
        <p:spPr>
          <a:xfrm>
            <a:off x="3200400" y="3703320"/>
            <a:ext cx="1645920" cy="566928"/>
          </a:xfrm>
          <a:prstGeom prst="roundRect">
            <a:avLst>
              <a:gd name="adj" fmla="val 12903"/>
            </a:avLst>
          </a:prstGeom>
          <a:solidFill>
            <a:schemeClr val="bg1"/>
          </a:solidFill>
          <a:ln w="19050">
            <a:solidFill>
              <a:schemeClr val="accent6"/>
            </a:solidFill>
            <a:prstDash val="dash"/>
          </a:ln>
        </p:spPr>
      </p:sp>
      <p:sp>
        <p:nvSpPr>
          <p:cNvPr id="46" name="Text 43"/>
          <p:cNvSpPr txBox="1"/>
          <p:nvPr/>
        </p:nvSpPr>
        <p:spPr>
          <a:xfrm>
            <a:off x="3200400" y="3703320"/>
            <a:ext cx="1645920" cy="566928"/>
          </a:xfrm>
          <a:prstGeom prst="rect">
            <a:avLst/>
          </a:prstGeom>
          <a:noFill/>
          <a:ln/>
        </p:spPr>
        <p:txBody>
          <a:bodyPr wrap="square" lIns="635" tIns="635" rIns="635" bIns="635" rtlCol="0" anchor="ctr"/>
          <a:lstStyle/>
          <a:p>
            <a:pPr algn="ctr" indent="0" marL="0" eaLnBrk="0">
              <a:buNone/>
            </a:pPr>
            <a:r>
              <a:rPr lang="ko-KR" altLang="en-US" sz="1400" b="1" dirty="0">
                <a:solidFill>
                  <a:schemeClr val="accent6"/>
                </a:solidFill>
              </a:rPr>
              <a:t>새 객체</a:t>
            </a:r>
            <a:endParaRPr lang="ko-KR" altLang="en-US" sz="1400" dirty="0"/>
          </a:p>
        </p:txBody>
      </p:sp>
      <p:sp>
        <p:nvSpPr>
          <p:cNvPr id="47" name="Text 44"/>
          <p:cNvSpPr txBox="1"/>
          <p:nvPr/>
        </p:nvSpPr>
        <p:spPr>
          <a:xfrm>
            <a:off x="5074920" y="3703320"/>
            <a:ext cx="2743200" cy="566928"/>
          </a:xfrm>
          <a:prstGeom prst="rect">
            <a:avLst/>
          </a:prstGeom>
          <a:noFill/>
          <a:ln/>
        </p:spPr>
        <p:txBody>
          <a:bodyPr wrap="square" lIns="0" tIns="0" rIns="0" bIns="0" rtlCol="0" anchor="ctr"/>
          <a:lstStyle/>
          <a:p>
            <a:pPr indent="0" marL="0" eaLnBrk="0">
              <a:buNone/>
            </a:pPr>
            <a:r>
              <a:rPr lang="ko-KR" altLang="en-US" sz="1500" b="1" dirty="0">
                <a:solidFill>
                  <a:schemeClr val="accent6"/>
                </a:solidFill>
              </a:rPr>
              <a:t>들어갈 자리가 없다</a:t>
            </a:r>
            <a:endParaRPr lang="ko-KR" altLang="en-US" sz="1500" dirty="0"/>
          </a:p>
        </p:txBody>
      </p:sp>
      <p:sp>
        <p:nvSpPr>
          <p:cNvPr id="48" name="card"/>
          <p:cNvSpPr/>
          <p:nvPr/>
        </p:nvSpPr>
        <p:spPr>
          <a:xfrm>
            <a:off x="9052560" y="1783080"/>
            <a:ext cx="2590495" cy="2514600"/>
          </a:xfrm>
          <a:prstGeom prst="roundRect">
            <a:avLst>
              <a:gd name="adj" fmla="val 3636"/>
            </a:avLst>
          </a:prstGeom>
          <a:solidFill>
            <a:schemeClr val="bg2"/>
          </a:solidFill>
          <a:ln w="12700">
            <a:solidFill>
              <a:schemeClr val="bg2"/>
            </a:solidFill>
            <a:prstDash val="solid"/>
          </a:ln>
        </p:spPr>
      </p:sp>
      <p:sp>
        <p:nvSpPr>
          <p:cNvPr id="49" name="Text 46"/>
          <p:cNvSpPr txBox="1"/>
          <p:nvPr/>
        </p:nvSpPr>
        <p:spPr>
          <a:xfrm>
            <a:off x="9281160" y="2002536"/>
            <a:ext cx="21790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단편화</a:t>
            </a:r>
            <a:endParaRPr lang="ko-KR" altLang="en-US" sz="1700" dirty="0"/>
          </a:p>
        </p:txBody>
      </p:sp>
      <p:sp>
        <p:nvSpPr>
          <p:cNvPr id="50" name="Text 47"/>
          <p:cNvSpPr txBox="1"/>
          <p:nvPr/>
        </p:nvSpPr>
        <p:spPr>
          <a:xfrm>
            <a:off x="9281160" y="2514600"/>
            <a:ext cx="2133295" cy="1645920"/>
          </a:xfrm>
          <a:prstGeom prst="rect">
            <a:avLst/>
          </a:prstGeom>
          <a:noFill/>
          <a:ln/>
        </p:spPr>
        <p:txBody>
          <a:bodyPr wrap="square" lIns="0" tIns="0" rIns="0" bIns="0" rtlCol="0" anchor="t"/>
          <a:lstStyle/>
          <a:p>
            <a:pPr indent="0" marL="0" eaLnBrk="0">
              <a:buNone/>
            </a:pPr>
            <a:r>
              <a:rPr lang="ko-KR" altLang="en-US" sz="1400" dirty="0">
                <a:solidFill>
                  <a:schemeClr val="tx2"/>
                </a:solidFill>
              </a:rPr>
              <a:t>빈 칸은 모두 네 칸이지만 두 칸씩 떨어져 있다. 이어진 세 칸이 없어서 할당이 실패한다.</a:t>
            </a:r>
            <a:endParaRPr lang="ko-KR" altLang="en-US" sz="1400" dirty="0"/>
          </a:p>
        </p:txBody>
      </p:sp>
      <p:sp>
        <p:nvSpPr>
          <p:cNvPr id="51" name="box"/>
          <p:cNvSpPr/>
          <p:nvPr/>
        </p:nvSpPr>
        <p:spPr>
          <a:xfrm>
            <a:off x="548640" y="4617720"/>
            <a:ext cx="11094415" cy="960120"/>
          </a:xfrm>
          <a:prstGeom prst="roundRect">
            <a:avLst>
              <a:gd name="adj" fmla="val 7619"/>
            </a:avLst>
          </a:prstGeom>
          <a:solidFill>
            <a:schemeClr val="tx2"/>
          </a:solidFill>
          <a:ln w="12700">
            <a:solidFill>
              <a:schemeClr val="tx2"/>
            </a:solidFill>
            <a:prstDash val="solid"/>
          </a:ln>
        </p:spPr>
      </p:sp>
      <p:sp>
        <p:nvSpPr>
          <p:cNvPr id="52" name="Text 49"/>
          <p:cNvSpPr txBox="1"/>
          <p:nvPr/>
        </p:nvSpPr>
        <p:spPr>
          <a:xfrm>
            <a:off x="548640" y="4617720"/>
            <a:ext cx="11094415" cy="96012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빈 메모리의 합이 아니라, 한 덩어리로 이어진 빈 공간의 크기가 할당의 성공을 정한다.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왜 문제인가</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할당은 느리고, 단편화는 오래 실행할수록 쌓인다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만들고 버리는 대신 무엇을 하면 될까?</a:t>
            </a:r>
            <a:endParaRPr lang="ko-KR" altLang="en-US" sz="1500" dirty="0"/>
          </a:p>
        </p:txBody>
      </p:sp>
      <p:sp>
        <p:nvSpPr>
          <p:cNvPr id="6" name="card"/>
          <p:cNvSpPr/>
          <p:nvPr/>
        </p:nvSpPr>
        <p:spPr>
          <a:xfrm>
            <a:off x="548640" y="1691640"/>
            <a:ext cx="5440680" cy="1783080"/>
          </a:xfrm>
          <a:prstGeom prst="roundRect">
            <a:avLst>
              <a:gd name="adj" fmla="val 5128"/>
            </a:avLst>
          </a:prstGeom>
          <a:solidFill>
            <a:schemeClr val="bg2"/>
          </a:solidFill>
          <a:ln w="12700">
            <a:solidFill>
              <a:schemeClr val="bg2"/>
            </a:solidFill>
            <a:prstDash val="solid"/>
          </a:ln>
        </p:spPr>
      </p:sp>
      <p:sp>
        <p:nvSpPr>
          <p:cNvPr id="7" name="Shape 4"/>
          <p:cNvSpPr/>
          <p:nvPr/>
        </p:nvSpPr>
        <p:spPr>
          <a:xfrm>
            <a:off x="777240" y="189280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911096"/>
            <a:ext cx="448056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할당은 느리다</a:t>
            </a:r>
            <a:endParaRPr lang="ko-KR" altLang="en-US" sz="1700" dirty="0"/>
          </a:p>
        </p:txBody>
      </p:sp>
      <p:sp>
        <p:nvSpPr>
          <p:cNvPr id="10" name="Text 7"/>
          <p:cNvSpPr txBox="1"/>
          <p:nvPr/>
        </p:nvSpPr>
        <p:spPr>
          <a:xfrm>
            <a:off x="1325880" y="2350008"/>
            <a:ext cx="4480560" cy="1005840"/>
          </a:xfrm>
          <a:prstGeom prst="rect">
            <a:avLst/>
          </a:prstGeom>
          <a:noFill/>
          <a:ln/>
        </p:spPr>
        <p:txBody>
          <a:bodyPr wrap="square" lIns="0" tIns="0" rIns="0" bIns="0" rtlCol="0" anchor="t"/>
          <a:lstStyle/>
          <a:p>
            <a:pPr indent="0" marL="0" eaLnBrk="0">
              <a:buNone/>
            </a:pPr>
            <a:r>
              <a:rPr lang="ko-KR" altLang="en-US" sz="1400" dirty="0">
                <a:solidFill>
                  <a:schemeClr val="tx2"/>
                </a:solidFill>
              </a:rPr>
              <a:t>메모리 관리자가 요청한 크기에 맞는 빈 공간을 찾아야 한다.</a:t>
            </a:r>
            <a:endParaRPr lang="ko-KR" altLang="en-US" sz="1400" dirty="0"/>
          </a:p>
        </p:txBody>
      </p:sp>
      <p:sp>
        <p:nvSpPr>
          <p:cNvPr id="11" name="card"/>
          <p:cNvSpPr/>
          <p:nvPr/>
        </p:nvSpPr>
        <p:spPr>
          <a:xfrm>
            <a:off x="548640" y="3703320"/>
            <a:ext cx="5440680" cy="1965960"/>
          </a:xfrm>
          <a:prstGeom prst="roundRect">
            <a:avLst>
              <a:gd name="adj" fmla="val 4651"/>
            </a:avLst>
          </a:prstGeom>
          <a:solidFill>
            <a:schemeClr val="bg2"/>
          </a:solidFill>
          <a:ln w="12700">
            <a:solidFill>
              <a:schemeClr val="bg2"/>
            </a:solidFill>
            <a:prstDash val="solid"/>
          </a:ln>
        </p:spPr>
      </p:sp>
      <p:sp>
        <p:nvSpPr>
          <p:cNvPr id="12" name="Shape 9"/>
          <p:cNvSpPr/>
          <p:nvPr/>
        </p:nvSpPr>
        <p:spPr>
          <a:xfrm>
            <a:off x="777240" y="390448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777240" y="39044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1325880" y="3922776"/>
            <a:ext cx="448056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단편화는 쌓인다</a:t>
            </a:r>
            <a:endParaRPr lang="ko-KR" altLang="en-US" sz="1700" dirty="0"/>
          </a:p>
        </p:txBody>
      </p:sp>
      <p:sp>
        <p:nvSpPr>
          <p:cNvPr id="15" name="Text 12"/>
          <p:cNvSpPr txBox="1"/>
          <p:nvPr/>
        </p:nvSpPr>
        <p:spPr>
          <a:xfrm>
            <a:off x="1325880" y="4361688"/>
            <a:ext cx="4480560" cy="1188720"/>
          </a:xfrm>
          <a:prstGeom prst="rect">
            <a:avLst/>
          </a:prstGeom>
          <a:noFill/>
          <a:ln/>
        </p:spPr>
        <p:txBody>
          <a:bodyPr wrap="square" lIns="0" tIns="0" rIns="0" bIns="0" rtlCol="0" anchor="t"/>
          <a:lstStyle/>
          <a:p>
            <a:pPr indent="0" marL="0" eaLnBrk="0">
              <a:buNone/>
            </a:pPr>
            <a:r>
              <a:rPr lang="ko-KR" altLang="en-US" sz="1400" dirty="0">
                <a:solidFill>
                  <a:schemeClr val="tx2"/>
                </a:solidFill>
              </a:rPr>
              <a:t>콘솔과 모바일은 메모리가 적다. 며칠씩 켜 두는 시험에서 결국 할당이 실패해 게임이 멈출 수 있다.</a:t>
            </a:r>
            <a:endParaRPr lang="ko-KR" altLang="en-US" sz="1400" dirty="0"/>
          </a:p>
        </p:txBody>
      </p:sp>
      <p:sp>
        <p:nvSpPr>
          <p:cNvPr id="16" name="card"/>
          <p:cNvSpPr/>
          <p:nvPr/>
        </p:nvSpPr>
        <p:spPr>
          <a:xfrm>
            <a:off x="6263640" y="1691640"/>
            <a:ext cx="5379415" cy="3977640"/>
          </a:xfrm>
          <a:prstGeom prst="roundRect">
            <a:avLst>
              <a:gd name="adj" fmla="val 2299"/>
            </a:avLst>
          </a:prstGeom>
          <a:solidFill>
            <a:schemeClr val="tx2"/>
          </a:solidFill>
          <a:ln w="12700">
            <a:solidFill>
              <a:schemeClr val="tx2"/>
            </a:solidFill>
            <a:prstDash val="solid"/>
          </a:ln>
        </p:spPr>
      </p:sp>
      <p:sp>
        <p:nvSpPr>
          <p:cNvPr id="17" name="Text 14"/>
          <p:cNvSpPr txBox="1"/>
          <p:nvPr/>
        </p:nvSpPr>
        <p:spPr>
          <a:xfrm>
            <a:off x="6492240" y="1911096"/>
            <a:ext cx="4967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C#과 Unity에서는</a:t>
            </a:r>
            <a:endParaRPr lang="ko-KR" altLang="en-US" sz="1700" dirty="0"/>
          </a:p>
        </p:txBody>
      </p:sp>
      <p:sp>
        <p:nvSpPr>
          <p:cNvPr id="18" name="Text 15"/>
          <p:cNvSpPr txBox="1"/>
          <p:nvPr/>
        </p:nvSpPr>
        <p:spPr>
          <a:xfrm>
            <a:off x="6492240" y="2468880"/>
            <a:ext cx="4922215" cy="3063240"/>
          </a:xfrm>
          <a:prstGeom prst="rect">
            <a:avLst/>
          </a:prstGeom>
          <a:noFill/>
          <a:ln/>
        </p:spPr>
        <p:txBody>
          <a:bodyPr wrap="square" lIns="0" tIns="0" rIns="0" bIns="0" rtlCol="0" anchor="t"/>
          <a:lstStyle/>
          <a:p>
            <a:pPr indent="0" marL="0" eaLnBrk="0">
              <a:buNone/>
            </a:pPr>
            <a:r>
              <a:rPr lang="ko-KR" altLang="en-US" sz="1400" dirty="0">
                <a:solidFill>
                  <a:schemeClr val="bg1"/>
                </a:solidFill>
              </a:rPr>
              <a:t>가비지 컬렉터가 해제를 대신해 준다. 하지만 짧게 쓰고 버리는 객체가 많으면 가비지 수집이 자주 일어나고, 그때마다 프레임이 멈칫할 수 있다.</a:t>
            </a:r>
            <a:endParaRPr lang="ko-KR" altLang="en-US" sz="1400" dirty="0"/>
          </a:p>
          <a:p>
            <a:pPr indent="0" marL="0" eaLnBrk="0">
              <a:buNone/>
            </a:pPr>
            <a:endParaRPr lang="ko-KR" altLang="en-US" sz="1400" dirty="0"/>
          </a:p>
          <a:p>
            <a:pPr indent="0" marL="0" eaLnBrk="0">
              <a:buNone/>
            </a:pPr>
            <a:r>
              <a:rPr lang="ko-KR" altLang="en-US" sz="1400" dirty="0">
                <a:solidFill>
                  <a:schemeClr val="bg1"/>
                </a:solidFill>
              </a:rPr>
              <a:t>Unity의 가비지 컬렉터는 살아 있는 객체를 옮겨 빈 공간을 모으지 않는다. 그래서 단편화도 그대로 남는다.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패턴의 생각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풀은 객체를 한 번에 만들어 두고, 사용 중인지 표시한다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생각을 파티클 코드로 옮기면 어떤 모습일까?</a:t>
            </a:r>
            <a:endParaRPr lang="ko-KR" altLang="en-US" sz="1500" dirty="0"/>
          </a:p>
        </p:txBody>
      </p:sp>
      <p:sp>
        <p:nvSpPr>
          <p:cNvPr id="6" name="Shape 3"/>
          <p:cNvSpPr/>
          <p:nvPr/>
        </p:nvSpPr>
        <p:spPr>
          <a:xfrm>
            <a:off x="548640" y="1691640"/>
            <a:ext cx="5760720" cy="2651760"/>
          </a:xfrm>
          <a:prstGeom prst="roundRect">
            <a:avLst>
              <a:gd name="adj" fmla="val 3448"/>
            </a:avLst>
          </a:prstGeom>
          <a:solidFill>
            <a:schemeClr val="bg2"/>
          </a:solidFill>
          <a:ln w="12700">
            <a:solidFill>
              <a:schemeClr val="accent3"/>
            </a:solidFill>
            <a:prstDash val="solid"/>
          </a:ln>
        </p:spPr>
      </p:sp>
      <p:sp>
        <p:nvSpPr>
          <p:cNvPr id="7" name="Text 4"/>
          <p:cNvSpPr txBox="1"/>
          <p:nvPr/>
        </p:nvSpPr>
        <p:spPr>
          <a:xfrm>
            <a:off x="822960" y="1828800"/>
            <a:ext cx="5212080" cy="365760"/>
          </a:xfrm>
          <a:prstGeom prst="rect">
            <a:avLst/>
          </a:prstGeom>
          <a:noFill/>
          <a:ln/>
        </p:spPr>
        <p:txBody>
          <a:bodyPr wrap="square" lIns="0" tIns="0" rIns="0" bIns="0" rtlCol="0" anchor="t"/>
          <a:lstStyle/>
          <a:p>
            <a:pPr indent="0" marL="0" eaLnBrk="0">
              <a:buNone/>
            </a:pPr>
            <a:r>
              <a:rPr lang="ko-KR" altLang="en-US" sz="1500" b="1" dirty="0">
                <a:solidFill>
                  <a:schemeClr val="tx1"/>
                </a:solidFill>
              </a:rPr>
              <a:t>풀: 시작할 때 한 번에 할당한 덩어리</a:t>
            </a:r>
            <a:endParaRPr lang="ko-KR" altLang="en-US" sz="1500" dirty="0"/>
          </a:p>
        </p:txBody>
      </p:sp>
      <p:sp>
        <p:nvSpPr>
          <p:cNvPr id="8" name="box"/>
          <p:cNvSpPr/>
          <p:nvPr/>
        </p:nvSpPr>
        <p:spPr>
          <a:xfrm>
            <a:off x="822960" y="2377440"/>
            <a:ext cx="1188720" cy="685800"/>
          </a:xfrm>
          <a:prstGeom prst="roundRect">
            <a:avLst>
              <a:gd name="adj" fmla="val 10667"/>
            </a:avLst>
          </a:prstGeom>
          <a:solidFill>
            <a:schemeClr val="accent1"/>
          </a:solidFill>
          <a:ln w="12700">
            <a:solidFill>
              <a:schemeClr val="accent1"/>
            </a:solidFill>
            <a:prstDash val="solid"/>
          </a:ln>
        </p:spPr>
      </p:sp>
      <p:sp>
        <p:nvSpPr>
          <p:cNvPr id="9" name="Text 6"/>
          <p:cNvSpPr txBox="1"/>
          <p:nvPr/>
        </p:nvSpPr>
        <p:spPr>
          <a:xfrm>
            <a:off x="822960" y="2377440"/>
            <a:ext cx="1188720" cy="68580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사용 중</a:t>
            </a:r>
            <a:endParaRPr lang="ko-KR" altLang="en-US" sz="1300" dirty="0"/>
          </a:p>
        </p:txBody>
      </p:sp>
      <p:sp>
        <p:nvSpPr>
          <p:cNvPr id="10" name="box"/>
          <p:cNvSpPr/>
          <p:nvPr/>
        </p:nvSpPr>
        <p:spPr>
          <a:xfrm>
            <a:off x="2148840" y="2377440"/>
            <a:ext cx="1188720" cy="685800"/>
          </a:xfrm>
          <a:prstGeom prst="roundRect">
            <a:avLst>
              <a:gd name="adj" fmla="val 10667"/>
            </a:avLst>
          </a:prstGeom>
          <a:solidFill>
            <a:srgbClr val="FFFFFF"/>
          </a:solidFill>
          <a:ln w="12700">
            <a:solidFill>
              <a:srgbClr val="FFFFFF"/>
            </a:solidFill>
            <a:prstDash val="solid"/>
          </a:ln>
        </p:spPr>
      </p:sp>
      <p:sp>
        <p:nvSpPr>
          <p:cNvPr id="11" name="Text 8"/>
          <p:cNvSpPr txBox="1"/>
          <p:nvPr/>
        </p:nvSpPr>
        <p:spPr>
          <a:xfrm>
            <a:off x="2148840" y="2377440"/>
            <a:ext cx="1188720" cy="685800"/>
          </a:xfrm>
          <a:prstGeom prst="rect">
            <a:avLst/>
          </a:prstGeom>
          <a:noFill/>
          <a:ln/>
        </p:spPr>
        <p:txBody>
          <a:bodyPr wrap="square" lIns="635" tIns="635" rIns="635" bIns="635" rtlCol="0" anchor="ctr"/>
          <a:lstStyle/>
          <a:p>
            <a:pPr algn="ctr" indent="0" marL="0" eaLnBrk="0">
              <a:buNone/>
            </a:pPr>
            <a:r>
              <a:rPr lang="ko-KR" altLang="en-US" sz="1300" b="1" dirty="0">
                <a:solidFill>
                  <a:schemeClr val="tx2"/>
                </a:solidFill>
              </a:rPr>
              <a:t>쉬는 중</a:t>
            </a:r>
            <a:endParaRPr lang="ko-KR" altLang="en-US" sz="1300" dirty="0"/>
          </a:p>
        </p:txBody>
      </p:sp>
      <p:sp>
        <p:nvSpPr>
          <p:cNvPr id="12" name="box"/>
          <p:cNvSpPr/>
          <p:nvPr/>
        </p:nvSpPr>
        <p:spPr>
          <a:xfrm>
            <a:off x="3474720" y="2377440"/>
            <a:ext cx="1188720" cy="685800"/>
          </a:xfrm>
          <a:prstGeom prst="roundRect">
            <a:avLst>
              <a:gd name="adj" fmla="val 10667"/>
            </a:avLst>
          </a:prstGeom>
          <a:solidFill>
            <a:schemeClr val="accent1"/>
          </a:solidFill>
          <a:ln w="12700">
            <a:solidFill>
              <a:schemeClr val="accent1"/>
            </a:solidFill>
            <a:prstDash val="solid"/>
          </a:ln>
        </p:spPr>
      </p:sp>
      <p:sp>
        <p:nvSpPr>
          <p:cNvPr id="13" name="Text 10"/>
          <p:cNvSpPr txBox="1"/>
          <p:nvPr/>
        </p:nvSpPr>
        <p:spPr>
          <a:xfrm>
            <a:off x="3474720" y="2377440"/>
            <a:ext cx="1188720" cy="68580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사용 중</a:t>
            </a:r>
            <a:endParaRPr lang="ko-KR" altLang="en-US" sz="1300" dirty="0"/>
          </a:p>
        </p:txBody>
      </p:sp>
      <p:sp>
        <p:nvSpPr>
          <p:cNvPr id="14" name="box"/>
          <p:cNvSpPr/>
          <p:nvPr/>
        </p:nvSpPr>
        <p:spPr>
          <a:xfrm>
            <a:off x="4800600" y="2377440"/>
            <a:ext cx="1188720" cy="685800"/>
          </a:xfrm>
          <a:prstGeom prst="roundRect">
            <a:avLst>
              <a:gd name="adj" fmla="val 10667"/>
            </a:avLst>
          </a:prstGeom>
          <a:solidFill>
            <a:schemeClr val="accent1"/>
          </a:solidFill>
          <a:ln w="12700">
            <a:solidFill>
              <a:schemeClr val="accent1"/>
            </a:solidFill>
            <a:prstDash val="solid"/>
          </a:ln>
        </p:spPr>
      </p:sp>
      <p:sp>
        <p:nvSpPr>
          <p:cNvPr id="15" name="Text 12"/>
          <p:cNvSpPr txBox="1"/>
          <p:nvPr/>
        </p:nvSpPr>
        <p:spPr>
          <a:xfrm>
            <a:off x="4800600" y="2377440"/>
            <a:ext cx="1188720" cy="68580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사용 중</a:t>
            </a:r>
            <a:endParaRPr lang="ko-KR" altLang="en-US" sz="1300" dirty="0"/>
          </a:p>
        </p:txBody>
      </p:sp>
      <p:sp>
        <p:nvSpPr>
          <p:cNvPr id="16" name="box"/>
          <p:cNvSpPr/>
          <p:nvPr/>
        </p:nvSpPr>
        <p:spPr>
          <a:xfrm>
            <a:off x="822960" y="3246120"/>
            <a:ext cx="1188720" cy="685800"/>
          </a:xfrm>
          <a:prstGeom prst="roundRect">
            <a:avLst>
              <a:gd name="adj" fmla="val 10667"/>
            </a:avLst>
          </a:prstGeom>
          <a:solidFill>
            <a:srgbClr val="FFFFFF"/>
          </a:solidFill>
          <a:ln w="12700">
            <a:solidFill>
              <a:srgbClr val="FFFFFF"/>
            </a:solidFill>
            <a:prstDash val="solid"/>
          </a:ln>
        </p:spPr>
      </p:sp>
      <p:sp>
        <p:nvSpPr>
          <p:cNvPr id="17" name="Text 14"/>
          <p:cNvSpPr txBox="1"/>
          <p:nvPr/>
        </p:nvSpPr>
        <p:spPr>
          <a:xfrm>
            <a:off x="822960" y="3246120"/>
            <a:ext cx="1188720" cy="685800"/>
          </a:xfrm>
          <a:prstGeom prst="rect">
            <a:avLst/>
          </a:prstGeom>
          <a:noFill/>
          <a:ln/>
        </p:spPr>
        <p:txBody>
          <a:bodyPr wrap="square" lIns="635" tIns="635" rIns="635" bIns="635" rtlCol="0" anchor="ctr"/>
          <a:lstStyle/>
          <a:p>
            <a:pPr algn="ctr" indent="0" marL="0" eaLnBrk="0">
              <a:buNone/>
            </a:pPr>
            <a:r>
              <a:rPr lang="ko-KR" altLang="en-US" sz="1300" b="1" dirty="0">
                <a:solidFill>
                  <a:schemeClr val="tx2"/>
                </a:solidFill>
              </a:rPr>
              <a:t>쉬는 중</a:t>
            </a:r>
            <a:endParaRPr lang="ko-KR" altLang="en-US" sz="1300" dirty="0"/>
          </a:p>
        </p:txBody>
      </p:sp>
      <p:sp>
        <p:nvSpPr>
          <p:cNvPr id="18" name="box"/>
          <p:cNvSpPr/>
          <p:nvPr/>
        </p:nvSpPr>
        <p:spPr>
          <a:xfrm>
            <a:off x="2148840" y="3246120"/>
            <a:ext cx="1188720" cy="685800"/>
          </a:xfrm>
          <a:prstGeom prst="roundRect">
            <a:avLst>
              <a:gd name="adj" fmla="val 10667"/>
            </a:avLst>
          </a:prstGeom>
          <a:solidFill>
            <a:srgbClr val="FFFFFF"/>
          </a:solidFill>
          <a:ln w="12700">
            <a:solidFill>
              <a:srgbClr val="FFFFFF"/>
            </a:solidFill>
            <a:prstDash val="solid"/>
          </a:ln>
        </p:spPr>
      </p:sp>
      <p:sp>
        <p:nvSpPr>
          <p:cNvPr id="19" name="Text 16"/>
          <p:cNvSpPr txBox="1"/>
          <p:nvPr/>
        </p:nvSpPr>
        <p:spPr>
          <a:xfrm>
            <a:off x="2148840" y="3246120"/>
            <a:ext cx="1188720" cy="685800"/>
          </a:xfrm>
          <a:prstGeom prst="rect">
            <a:avLst/>
          </a:prstGeom>
          <a:noFill/>
          <a:ln/>
        </p:spPr>
        <p:txBody>
          <a:bodyPr wrap="square" lIns="635" tIns="635" rIns="635" bIns="635" rtlCol="0" anchor="ctr"/>
          <a:lstStyle/>
          <a:p>
            <a:pPr algn="ctr" indent="0" marL="0" eaLnBrk="0">
              <a:buNone/>
            </a:pPr>
            <a:r>
              <a:rPr lang="ko-KR" altLang="en-US" sz="1300" b="1" dirty="0">
                <a:solidFill>
                  <a:schemeClr val="tx2"/>
                </a:solidFill>
              </a:rPr>
              <a:t>쉬는 중</a:t>
            </a:r>
            <a:endParaRPr lang="ko-KR" altLang="en-US" sz="1300" dirty="0"/>
          </a:p>
        </p:txBody>
      </p:sp>
      <p:sp>
        <p:nvSpPr>
          <p:cNvPr id="20" name="box"/>
          <p:cNvSpPr/>
          <p:nvPr/>
        </p:nvSpPr>
        <p:spPr>
          <a:xfrm>
            <a:off x="3474720" y="3246120"/>
            <a:ext cx="1188720" cy="685800"/>
          </a:xfrm>
          <a:prstGeom prst="roundRect">
            <a:avLst>
              <a:gd name="adj" fmla="val 10667"/>
            </a:avLst>
          </a:prstGeom>
          <a:solidFill>
            <a:schemeClr val="accent1"/>
          </a:solidFill>
          <a:ln w="12700">
            <a:solidFill>
              <a:schemeClr val="accent1"/>
            </a:solidFill>
            <a:prstDash val="solid"/>
          </a:ln>
        </p:spPr>
      </p:sp>
      <p:sp>
        <p:nvSpPr>
          <p:cNvPr id="21" name="Text 18"/>
          <p:cNvSpPr txBox="1"/>
          <p:nvPr/>
        </p:nvSpPr>
        <p:spPr>
          <a:xfrm>
            <a:off x="3474720" y="3246120"/>
            <a:ext cx="1188720" cy="68580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사용 중</a:t>
            </a:r>
            <a:endParaRPr lang="ko-KR" altLang="en-US" sz="1300" dirty="0"/>
          </a:p>
        </p:txBody>
      </p:sp>
      <p:sp>
        <p:nvSpPr>
          <p:cNvPr id="22" name="box"/>
          <p:cNvSpPr/>
          <p:nvPr/>
        </p:nvSpPr>
        <p:spPr>
          <a:xfrm>
            <a:off x="4800600" y="3246120"/>
            <a:ext cx="1188720" cy="685800"/>
          </a:xfrm>
          <a:prstGeom prst="roundRect">
            <a:avLst>
              <a:gd name="adj" fmla="val 10667"/>
            </a:avLst>
          </a:prstGeom>
          <a:solidFill>
            <a:srgbClr val="FFFFFF"/>
          </a:solidFill>
          <a:ln w="12700">
            <a:solidFill>
              <a:srgbClr val="FFFFFF"/>
            </a:solidFill>
            <a:prstDash val="solid"/>
          </a:ln>
        </p:spPr>
      </p:sp>
      <p:sp>
        <p:nvSpPr>
          <p:cNvPr id="23" name="Text 20"/>
          <p:cNvSpPr txBox="1"/>
          <p:nvPr/>
        </p:nvSpPr>
        <p:spPr>
          <a:xfrm>
            <a:off x="4800600" y="3246120"/>
            <a:ext cx="1188720" cy="685800"/>
          </a:xfrm>
          <a:prstGeom prst="rect">
            <a:avLst/>
          </a:prstGeom>
          <a:noFill/>
          <a:ln/>
        </p:spPr>
        <p:txBody>
          <a:bodyPr wrap="square" lIns="635" tIns="635" rIns="635" bIns="635" rtlCol="0" anchor="ctr"/>
          <a:lstStyle/>
          <a:p>
            <a:pPr algn="ctr" indent="0" marL="0" eaLnBrk="0">
              <a:buNone/>
            </a:pPr>
            <a:r>
              <a:rPr lang="ko-KR" altLang="en-US" sz="1300" b="1" dirty="0">
                <a:solidFill>
                  <a:schemeClr val="tx2"/>
                </a:solidFill>
              </a:rPr>
              <a:t>쉬는 중</a:t>
            </a:r>
            <a:endParaRPr lang="ko-KR" altLang="en-US" sz="1300" dirty="0"/>
          </a:p>
        </p:txBody>
      </p:sp>
      <p:sp>
        <p:nvSpPr>
          <p:cNvPr id="24" name="box"/>
          <p:cNvSpPr/>
          <p:nvPr/>
        </p:nvSpPr>
        <p:spPr>
          <a:xfrm>
            <a:off x="822960" y="4526280"/>
            <a:ext cx="1188720" cy="457200"/>
          </a:xfrm>
          <a:prstGeom prst="roundRect">
            <a:avLst>
              <a:gd name="adj" fmla="val 16000"/>
            </a:avLst>
          </a:prstGeom>
          <a:solidFill>
            <a:schemeClr val="accent1"/>
          </a:solidFill>
          <a:ln w="12700">
            <a:solidFill>
              <a:schemeClr val="accent1"/>
            </a:solidFill>
            <a:prstDash val="solid"/>
          </a:ln>
        </p:spPr>
      </p:sp>
      <p:sp>
        <p:nvSpPr>
          <p:cNvPr id="25" name="Text 22"/>
          <p:cNvSpPr txBox="1"/>
          <p:nvPr/>
        </p:nvSpPr>
        <p:spPr>
          <a:xfrm>
            <a:off x="822960" y="4526280"/>
            <a:ext cx="1188720" cy="45720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사용 중</a:t>
            </a:r>
            <a:endParaRPr lang="ko-KR" altLang="en-US" sz="1200" dirty="0"/>
          </a:p>
        </p:txBody>
      </p:sp>
      <p:sp>
        <p:nvSpPr>
          <p:cNvPr id="26" name="Text 23"/>
          <p:cNvSpPr txBox="1"/>
          <p:nvPr/>
        </p:nvSpPr>
        <p:spPr>
          <a:xfrm>
            <a:off x="2148840" y="4526280"/>
            <a:ext cx="2194560" cy="457200"/>
          </a:xfrm>
          <a:prstGeom prst="rect">
            <a:avLst/>
          </a:prstGeom>
          <a:noFill/>
          <a:ln/>
        </p:spPr>
        <p:txBody>
          <a:bodyPr wrap="square" lIns="0" tIns="0" rIns="0" bIns="0" rtlCol="0" anchor="ctr"/>
          <a:lstStyle/>
          <a:p>
            <a:pPr indent="0" marL="0" eaLnBrk="0">
              <a:buNone/>
            </a:pPr>
            <a:r>
              <a:rPr lang="ko-KR" altLang="en-US" sz="1300" dirty="0">
                <a:solidFill>
                  <a:schemeClr val="tx2"/>
                </a:solidFill>
              </a:rPr>
              <a:t>꺼내 쓰는 중인 객체</a:t>
            </a:r>
            <a:endParaRPr lang="ko-KR" altLang="en-US" sz="1300" dirty="0"/>
          </a:p>
        </p:txBody>
      </p:sp>
      <p:sp>
        <p:nvSpPr>
          <p:cNvPr id="27" name="box"/>
          <p:cNvSpPr/>
          <p:nvPr/>
        </p:nvSpPr>
        <p:spPr>
          <a:xfrm>
            <a:off x="822960" y="5120640"/>
            <a:ext cx="1188720" cy="457200"/>
          </a:xfrm>
          <a:prstGeom prst="roundRect">
            <a:avLst>
              <a:gd name="adj" fmla="val 16000"/>
            </a:avLst>
          </a:prstGeom>
          <a:solidFill>
            <a:schemeClr val="bg2"/>
          </a:solidFill>
          <a:ln w="12700">
            <a:solidFill>
              <a:schemeClr val="bg2"/>
            </a:solidFill>
            <a:prstDash val="solid"/>
          </a:ln>
        </p:spPr>
      </p:sp>
      <p:sp>
        <p:nvSpPr>
          <p:cNvPr id="28" name="Text 25"/>
          <p:cNvSpPr txBox="1"/>
          <p:nvPr/>
        </p:nvSpPr>
        <p:spPr>
          <a:xfrm>
            <a:off x="822960" y="5120640"/>
            <a:ext cx="1188720" cy="45720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쉬는 중</a:t>
            </a:r>
            <a:endParaRPr lang="ko-KR" altLang="en-US" sz="1200" dirty="0"/>
          </a:p>
        </p:txBody>
      </p:sp>
      <p:sp>
        <p:nvSpPr>
          <p:cNvPr id="29" name="Text 26"/>
          <p:cNvSpPr txBox="1"/>
          <p:nvPr/>
        </p:nvSpPr>
        <p:spPr>
          <a:xfrm>
            <a:off x="2148840" y="5120640"/>
            <a:ext cx="2194560" cy="457200"/>
          </a:xfrm>
          <a:prstGeom prst="rect">
            <a:avLst/>
          </a:prstGeom>
          <a:noFill/>
          <a:ln/>
        </p:spPr>
        <p:txBody>
          <a:bodyPr wrap="square" lIns="0" tIns="0" rIns="0" bIns="0" rtlCol="0" anchor="ctr"/>
          <a:lstStyle/>
          <a:p>
            <a:pPr indent="0" marL="0" eaLnBrk="0">
              <a:buNone/>
            </a:pPr>
            <a:r>
              <a:rPr lang="ko-KR" altLang="en-US" sz="1300" dirty="0">
                <a:solidFill>
                  <a:schemeClr val="tx2"/>
                </a:solidFill>
              </a:rPr>
              <a:t>다시 쓸 수 있는 객체</a:t>
            </a:r>
            <a:endParaRPr lang="ko-KR" altLang="en-US" sz="1300" dirty="0"/>
          </a:p>
        </p:txBody>
      </p:sp>
      <p:sp>
        <p:nvSpPr>
          <p:cNvPr id="30" name="card"/>
          <p:cNvSpPr/>
          <p:nvPr/>
        </p:nvSpPr>
        <p:spPr>
          <a:xfrm>
            <a:off x="6675120" y="1691640"/>
            <a:ext cx="4967935" cy="1234440"/>
          </a:xfrm>
          <a:prstGeom prst="roundRect">
            <a:avLst>
              <a:gd name="adj" fmla="val 7407"/>
            </a:avLst>
          </a:prstGeom>
          <a:solidFill>
            <a:schemeClr val="bg2"/>
          </a:solidFill>
          <a:ln w="12700">
            <a:solidFill>
              <a:schemeClr val="bg2"/>
            </a:solidFill>
            <a:prstDash val="solid"/>
          </a:ln>
        </p:spPr>
      </p:sp>
      <p:sp>
        <p:nvSpPr>
          <p:cNvPr id="31" name="Shape 28"/>
          <p:cNvSpPr/>
          <p:nvPr/>
        </p:nvSpPr>
        <p:spPr>
          <a:xfrm>
            <a:off x="6903720" y="189280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690372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33" name="Text 30"/>
          <p:cNvSpPr txBox="1"/>
          <p:nvPr/>
        </p:nvSpPr>
        <p:spPr>
          <a:xfrm>
            <a:off x="7452360" y="1911096"/>
            <a:ext cx="40078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시작할 때</a:t>
            </a:r>
            <a:endParaRPr lang="ko-KR" altLang="en-US" sz="1700" dirty="0"/>
          </a:p>
        </p:txBody>
      </p:sp>
      <p:sp>
        <p:nvSpPr>
          <p:cNvPr id="34" name="Text 31"/>
          <p:cNvSpPr txBox="1"/>
          <p:nvPr/>
        </p:nvSpPr>
        <p:spPr>
          <a:xfrm>
            <a:off x="7452360" y="2350008"/>
            <a:ext cx="400781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객체를 모두 만들고 쉬는 중으로 표시한다.</a:t>
            </a:r>
            <a:endParaRPr lang="ko-KR" altLang="en-US" sz="1400" dirty="0"/>
          </a:p>
        </p:txBody>
      </p:sp>
      <p:sp>
        <p:nvSpPr>
          <p:cNvPr id="35" name="card"/>
          <p:cNvSpPr/>
          <p:nvPr/>
        </p:nvSpPr>
        <p:spPr>
          <a:xfrm>
            <a:off x="6675120" y="3063240"/>
            <a:ext cx="4967935" cy="1234440"/>
          </a:xfrm>
          <a:prstGeom prst="roundRect">
            <a:avLst>
              <a:gd name="adj" fmla="val 7407"/>
            </a:avLst>
          </a:prstGeom>
          <a:solidFill>
            <a:schemeClr val="bg2"/>
          </a:solidFill>
          <a:ln w="12700">
            <a:solidFill>
              <a:schemeClr val="bg2"/>
            </a:solidFill>
            <a:prstDash val="solid"/>
          </a:ln>
        </p:spPr>
      </p:sp>
      <p:sp>
        <p:nvSpPr>
          <p:cNvPr id="36" name="Shape 33"/>
          <p:cNvSpPr/>
          <p:nvPr/>
        </p:nvSpPr>
        <p:spPr>
          <a:xfrm>
            <a:off x="6903720" y="3264408"/>
            <a:ext cx="420624" cy="420624"/>
          </a:xfrm>
          <a:prstGeom prst="ellipse">
            <a:avLst/>
          </a:prstGeom>
          <a:solidFill>
            <a:schemeClr val="accent1"/>
          </a:solidFill>
          <a:ln w="12700">
            <a:solidFill>
              <a:schemeClr val="accent1"/>
            </a:solidFill>
            <a:prstDash val="solid"/>
          </a:ln>
        </p:spPr>
      </p:sp>
      <p:sp>
        <p:nvSpPr>
          <p:cNvPr id="37" name="Text 34"/>
          <p:cNvSpPr txBox="1"/>
          <p:nvPr/>
        </p:nvSpPr>
        <p:spPr>
          <a:xfrm>
            <a:off x="6903720" y="32644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38" name="Text 35"/>
          <p:cNvSpPr txBox="1"/>
          <p:nvPr/>
        </p:nvSpPr>
        <p:spPr>
          <a:xfrm>
            <a:off x="7452360" y="3282696"/>
            <a:ext cx="40078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필요할 때</a:t>
            </a:r>
            <a:endParaRPr lang="ko-KR" altLang="en-US" sz="1700" dirty="0"/>
          </a:p>
        </p:txBody>
      </p:sp>
      <p:sp>
        <p:nvSpPr>
          <p:cNvPr id="39" name="Text 36"/>
          <p:cNvSpPr txBox="1"/>
          <p:nvPr/>
        </p:nvSpPr>
        <p:spPr>
          <a:xfrm>
            <a:off x="7452360" y="3721608"/>
            <a:ext cx="400781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쉬는 객체를 찾아 사용 중으로 바꾸고 넘긴다.</a:t>
            </a:r>
            <a:endParaRPr lang="ko-KR" altLang="en-US" sz="1400" dirty="0"/>
          </a:p>
        </p:txBody>
      </p:sp>
      <p:sp>
        <p:nvSpPr>
          <p:cNvPr id="40" name="card"/>
          <p:cNvSpPr/>
          <p:nvPr/>
        </p:nvSpPr>
        <p:spPr>
          <a:xfrm>
            <a:off x="6675120" y="4434840"/>
            <a:ext cx="4967935" cy="1234440"/>
          </a:xfrm>
          <a:prstGeom prst="roundRect">
            <a:avLst>
              <a:gd name="adj" fmla="val 7407"/>
            </a:avLst>
          </a:prstGeom>
          <a:solidFill>
            <a:schemeClr val="bg2"/>
          </a:solidFill>
          <a:ln w="12700">
            <a:solidFill>
              <a:schemeClr val="bg2"/>
            </a:solidFill>
            <a:prstDash val="solid"/>
          </a:ln>
        </p:spPr>
      </p:sp>
      <p:sp>
        <p:nvSpPr>
          <p:cNvPr id="41" name="Shape 38"/>
          <p:cNvSpPr/>
          <p:nvPr/>
        </p:nvSpPr>
        <p:spPr>
          <a:xfrm>
            <a:off x="6903720" y="4636008"/>
            <a:ext cx="420624" cy="420624"/>
          </a:xfrm>
          <a:prstGeom prst="ellipse">
            <a:avLst/>
          </a:prstGeom>
          <a:solidFill>
            <a:schemeClr val="accent1"/>
          </a:solidFill>
          <a:ln w="12700">
            <a:solidFill>
              <a:schemeClr val="accent1"/>
            </a:solidFill>
            <a:prstDash val="solid"/>
          </a:ln>
        </p:spPr>
      </p:sp>
      <p:sp>
        <p:nvSpPr>
          <p:cNvPr id="42" name="Text 39"/>
          <p:cNvSpPr txBox="1"/>
          <p:nvPr/>
        </p:nvSpPr>
        <p:spPr>
          <a:xfrm>
            <a:off x="6903720" y="46360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43" name="Text 40"/>
          <p:cNvSpPr txBox="1"/>
          <p:nvPr/>
        </p:nvSpPr>
        <p:spPr>
          <a:xfrm>
            <a:off x="7452360" y="4654296"/>
            <a:ext cx="40078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다 쓰면</a:t>
            </a:r>
            <a:endParaRPr lang="ko-KR" altLang="en-US" sz="1700" dirty="0"/>
          </a:p>
        </p:txBody>
      </p:sp>
      <p:sp>
        <p:nvSpPr>
          <p:cNvPr id="44" name="Text 41"/>
          <p:cNvSpPr txBox="1"/>
          <p:nvPr/>
        </p:nvSpPr>
        <p:spPr>
          <a:xfrm>
            <a:off x="7452360" y="5093208"/>
            <a:ext cx="400781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객체는 다시 쉬는 중으로 돌아간다.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2부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풀 만들기</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예제 코드</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파티클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Particle은 남은 프레임 수로 사용 중인지 판단한다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파티클들을 담아 둘 풀은 어떻게 만들까?</a:t>
            </a:r>
            <a:endParaRPr lang="ko-KR" altLang="en-US" sz="1500" dirty="0"/>
          </a:p>
        </p:txBody>
      </p:sp>
      <p:sp>
        <p:nvSpPr>
          <p:cNvPr id="6" name="codePanel"/>
          <p:cNvSpPr/>
          <p:nvPr/>
        </p:nvSpPr>
        <p:spPr>
          <a:xfrm>
            <a:off x="548640" y="1600200"/>
            <a:ext cx="694944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729984" cy="393192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class Particle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int _framesLeft;   // 처음 값은 0: 사용 중이 아니다</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double _x, _y;</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double _xVel, _yVel;</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public bool InUse =&gt; _framesLeft &gt; 0;</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Init(double x, double y, double xVel, double yVel, int lifetime)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_x = x; _y = y;</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_xVel = xVel; _yVel = yVel;</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_framesLeft = lifetime;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Animate()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if (!InUse) return;</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_framesLeft--;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_x += _xVel;</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_y += _yVel;</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8" name="codeCaption"/>
          <p:cNvSpPr txBox="1"/>
          <p:nvPr/>
        </p:nvSpPr>
        <p:spPr>
          <a:xfrm>
            <a:off x="438912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863840" y="1600200"/>
            <a:ext cx="3779215" cy="1325880"/>
          </a:xfrm>
          <a:prstGeom prst="roundRect">
            <a:avLst>
              <a:gd name="adj" fmla="val 6897"/>
            </a:avLst>
          </a:prstGeom>
          <a:solidFill>
            <a:schemeClr val="bg2"/>
          </a:solidFill>
          <a:ln w="12700">
            <a:solidFill>
              <a:schemeClr val="bg2"/>
            </a:solidFill>
            <a:prstDash val="solid"/>
          </a:ln>
        </p:spPr>
      </p:sp>
      <p:sp>
        <p:nvSpPr>
          <p:cNvPr id="10" name="Text 7"/>
          <p:cNvSpPr txBox="1"/>
          <p:nvPr/>
        </p:nvSpPr>
        <p:spPr>
          <a:xfrm>
            <a:off x="8092440" y="181965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Init</a:t>
            </a:r>
            <a:endParaRPr lang="ko-KR" altLang="en-US" sz="1700" dirty="0"/>
          </a:p>
        </p:txBody>
      </p:sp>
      <p:sp>
        <p:nvSpPr>
          <p:cNvPr id="11" name="Text 8"/>
          <p:cNvSpPr txBox="1"/>
          <p:nvPr/>
        </p:nvSpPr>
        <p:spPr>
          <a:xfrm>
            <a:off x="8092440" y="2331720"/>
            <a:ext cx="332201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쓸 때마다 위치, 속도, 수명을 채운다.</a:t>
            </a:r>
            <a:endParaRPr lang="ko-KR" altLang="en-US" sz="1400" dirty="0"/>
          </a:p>
        </p:txBody>
      </p:sp>
      <p:sp>
        <p:nvSpPr>
          <p:cNvPr id="12" name="card"/>
          <p:cNvSpPr/>
          <p:nvPr/>
        </p:nvSpPr>
        <p:spPr>
          <a:xfrm>
            <a:off x="7863840" y="3063240"/>
            <a:ext cx="3779215" cy="1325880"/>
          </a:xfrm>
          <a:prstGeom prst="roundRect">
            <a:avLst>
              <a:gd name="adj" fmla="val 6897"/>
            </a:avLst>
          </a:prstGeom>
          <a:solidFill>
            <a:schemeClr val="bg2"/>
          </a:solidFill>
          <a:ln w="12700">
            <a:solidFill>
              <a:schemeClr val="bg2"/>
            </a:solidFill>
            <a:prstDash val="solid"/>
          </a:ln>
        </p:spPr>
      </p:sp>
      <p:sp>
        <p:nvSpPr>
          <p:cNvPr id="13" name="Text 10"/>
          <p:cNvSpPr txBox="1"/>
          <p:nvPr/>
        </p:nvSpPr>
        <p:spPr>
          <a:xfrm>
            <a:off x="8092440" y="32826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Animate</a:t>
            </a:r>
            <a:endParaRPr lang="ko-KR" altLang="en-US" sz="1700" dirty="0"/>
          </a:p>
        </p:txBody>
      </p:sp>
      <p:sp>
        <p:nvSpPr>
          <p:cNvPr id="14" name="Text 11"/>
          <p:cNvSpPr txBox="1"/>
          <p:nvPr/>
        </p:nvSpPr>
        <p:spPr>
          <a:xfrm>
            <a:off x="8092440" y="3794760"/>
            <a:ext cx="332201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한 프레임 움직이고 수명을 줄인다.</a:t>
            </a:r>
            <a:endParaRPr lang="ko-KR" altLang="en-US" sz="1400" dirty="0"/>
          </a:p>
        </p:txBody>
      </p:sp>
      <p:sp>
        <p:nvSpPr>
          <p:cNvPr id="15" name="card"/>
          <p:cNvSpPr/>
          <p:nvPr/>
        </p:nvSpPr>
        <p:spPr>
          <a:xfrm>
            <a:off x="7863840" y="4526280"/>
            <a:ext cx="3779215" cy="1188720"/>
          </a:xfrm>
          <a:prstGeom prst="roundRect">
            <a:avLst>
              <a:gd name="adj" fmla="val 7692"/>
            </a:avLst>
          </a:prstGeom>
          <a:solidFill>
            <a:schemeClr val="bg2"/>
          </a:solidFill>
          <a:ln w="12700">
            <a:solidFill>
              <a:schemeClr val="bg2"/>
            </a:solidFill>
            <a:prstDash val="solid"/>
          </a:ln>
        </p:spPr>
      </p:sp>
      <p:sp>
        <p:nvSpPr>
          <p:cNvPr id="16" name="Text 13"/>
          <p:cNvSpPr txBox="1"/>
          <p:nvPr/>
        </p:nvSpPr>
        <p:spPr>
          <a:xfrm>
            <a:off x="8092440" y="474573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InUse</a:t>
            </a:r>
            <a:endParaRPr lang="ko-KR" altLang="en-US" sz="1700" dirty="0"/>
          </a:p>
        </p:txBody>
      </p:sp>
      <p:sp>
        <p:nvSpPr>
          <p:cNvPr id="17" name="Text 14"/>
          <p:cNvSpPr txBox="1"/>
          <p:nvPr/>
        </p:nvSpPr>
        <p:spPr>
          <a:xfrm>
            <a:off x="8092440" y="5257800"/>
            <a:ext cx="3322015" cy="320040"/>
          </a:xfrm>
          <a:prstGeom prst="rect">
            <a:avLst/>
          </a:prstGeom>
          <a:noFill/>
          <a:ln/>
        </p:spPr>
        <p:txBody>
          <a:bodyPr wrap="square" lIns="0" tIns="0" rIns="0" bIns="0" rtlCol="0" anchor="t"/>
          <a:lstStyle/>
          <a:p>
            <a:pPr indent="0" marL="0" eaLnBrk="0">
              <a:buNone/>
            </a:pPr>
            <a:r>
              <a:rPr lang="ko-KR" altLang="en-US" sz="1400" dirty="0">
                <a:solidFill>
                  <a:schemeClr val="tx2"/>
                </a:solidFill>
              </a:rPr>
              <a:t>남은 프레임이 있으면 사용 중이다.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파티클 풀</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ParticlePool은 파티클 100개를 미리 만들어 배열에 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새 파티클이 필요하면 풀은 어느 파티클을 내줄까?</a:t>
            </a:r>
            <a:endParaRPr lang="ko-KR" altLang="en-US" sz="1500" dirty="0"/>
          </a:p>
        </p:txBody>
      </p:sp>
      <p:sp>
        <p:nvSpPr>
          <p:cNvPr id="6" name="codePanel"/>
          <p:cNvSpPr/>
          <p:nvPr/>
        </p:nvSpPr>
        <p:spPr>
          <a:xfrm>
            <a:off x="548640" y="1645920"/>
            <a:ext cx="6949440" cy="4023360"/>
          </a:xfrm>
          <a:prstGeom prst="roundRect">
            <a:avLst>
              <a:gd name="adj" fmla="val 1818"/>
            </a:avLst>
          </a:prstGeom>
          <a:solidFill>
            <a:schemeClr val="tx1"/>
          </a:solidFill>
          <a:ln w="12700">
            <a:solidFill>
              <a:schemeClr val="tx1"/>
            </a:solidFill>
            <a:prstDash val="solid"/>
          </a:ln>
        </p:spPr>
      </p:sp>
      <p:sp>
        <p:nvSpPr>
          <p:cNvPr id="7" name="code"/>
          <p:cNvSpPr txBox="1"/>
          <p:nvPr/>
        </p:nvSpPr>
        <p:spPr>
          <a:xfrm>
            <a:off x="658368" y="1737360"/>
            <a:ext cx="6729984" cy="384048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ParticlePool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const int PoolSize = 100;</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readonly Particle[] _particles = new Particle[PoolSize];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ParticlePool()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C#의 클래스 배열은 참조만 담는다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for (int i = 0; i &lt; PoolSize; i++)</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_particles[i] = new Particle();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void Animate()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for (int i = 0; i &lt; PoolSize; i++)</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_particles[i].Animate();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3891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863840" y="1645920"/>
            <a:ext cx="3779215" cy="1828800"/>
          </a:xfrm>
          <a:prstGeom prst="roundRect">
            <a:avLst>
              <a:gd name="adj" fmla="val 5000"/>
            </a:avLst>
          </a:prstGeom>
          <a:solidFill>
            <a:schemeClr val="bg2"/>
          </a:solidFill>
          <a:ln w="12700">
            <a:solidFill>
              <a:schemeClr val="bg2"/>
            </a:solidFill>
            <a:prstDash val="solid"/>
          </a:ln>
        </p:spPr>
      </p:sp>
      <p:sp>
        <p:nvSpPr>
          <p:cNvPr id="10" name="Text 7"/>
          <p:cNvSpPr txBox="1"/>
          <p:nvPr/>
        </p:nvSpPr>
        <p:spPr>
          <a:xfrm>
            <a:off x="8092440" y="18653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미리 만든다</a:t>
            </a:r>
            <a:endParaRPr lang="ko-KR" altLang="en-US" sz="1700" dirty="0"/>
          </a:p>
        </p:txBody>
      </p:sp>
      <p:sp>
        <p:nvSpPr>
          <p:cNvPr id="11" name="Text 8"/>
          <p:cNvSpPr txBox="1"/>
          <p:nvPr/>
        </p:nvSpPr>
        <p:spPr>
          <a:xfrm>
            <a:off x="8092440" y="2377440"/>
            <a:ext cx="3322015" cy="960120"/>
          </a:xfrm>
          <a:prstGeom prst="rect">
            <a:avLst/>
          </a:prstGeom>
          <a:noFill/>
          <a:ln/>
        </p:spPr>
        <p:txBody>
          <a:bodyPr wrap="square" lIns="0" tIns="0" rIns="0" bIns="0" rtlCol="0" anchor="t"/>
          <a:lstStyle/>
          <a:p>
            <a:pPr indent="0" marL="0" eaLnBrk="0">
              <a:buNone/>
            </a:pPr>
            <a:r>
              <a:rPr lang="ko-KR" altLang="en-US" sz="1400" dirty="0">
                <a:solidFill>
                  <a:schemeClr val="tx2"/>
                </a:solidFill>
              </a:rPr>
              <a:t>시작할 때 100개를 만든다. 그 뒤로 파티클을 새로 만들지 않는다.</a:t>
            </a:r>
            <a:endParaRPr lang="ko-KR" altLang="en-US" sz="1400" dirty="0"/>
          </a:p>
        </p:txBody>
      </p:sp>
      <p:sp>
        <p:nvSpPr>
          <p:cNvPr id="12" name="card"/>
          <p:cNvSpPr/>
          <p:nvPr/>
        </p:nvSpPr>
        <p:spPr>
          <a:xfrm>
            <a:off x="7863840" y="3657600"/>
            <a:ext cx="3779215" cy="2011680"/>
          </a:xfrm>
          <a:prstGeom prst="roundRect">
            <a:avLst>
              <a:gd name="adj" fmla="val 4545"/>
            </a:avLst>
          </a:prstGeom>
          <a:solidFill>
            <a:schemeClr val="bg2"/>
          </a:solidFill>
          <a:ln w="12700">
            <a:solidFill>
              <a:schemeClr val="bg2"/>
            </a:solidFill>
            <a:prstDash val="solid"/>
          </a:ln>
        </p:spPr>
      </p:sp>
      <p:sp>
        <p:nvSpPr>
          <p:cNvPr id="13" name="Text 10"/>
          <p:cNvSpPr txBox="1"/>
          <p:nvPr/>
        </p:nvSpPr>
        <p:spPr>
          <a:xfrm>
            <a:off x="8092440" y="387705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모두 움직인다</a:t>
            </a:r>
            <a:endParaRPr lang="ko-KR" altLang="en-US" sz="1700" dirty="0"/>
          </a:p>
        </p:txBody>
      </p:sp>
      <p:sp>
        <p:nvSpPr>
          <p:cNvPr id="14" name="Text 11"/>
          <p:cNvSpPr txBox="1"/>
          <p:nvPr/>
        </p:nvSpPr>
        <p:spPr>
          <a:xfrm>
            <a:off x="8092440" y="4389120"/>
            <a:ext cx="3322015" cy="1143000"/>
          </a:xfrm>
          <a:prstGeom prst="rect">
            <a:avLst/>
          </a:prstGeom>
          <a:noFill/>
          <a:ln/>
        </p:spPr>
        <p:txBody>
          <a:bodyPr wrap="square" lIns="0" tIns="0" rIns="0" bIns="0" rtlCol="0" anchor="t"/>
          <a:lstStyle/>
          <a:p>
            <a:pPr indent="0" marL="0" eaLnBrk="0">
              <a:buNone/>
            </a:pPr>
            <a:r>
              <a:rPr lang="ko-KR" altLang="en-US" sz="1400" dirty="0">
                <a:solidFill>
                  <a:schemeClr val="tx2"/>
                </a:solidFill>
              </a:rPr>
              <a:t>매 프레임 100개 모두의 Animate를 부른다. 쉬는 파티클은 바로 돌아간다.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첫 번째 Create</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Create는 앞에서부터 훑어 처음 만난 빈 파티클을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작은 풀로 생성과 재사용을 따라가 보자.</a:t>
            </a:r>
            <a:endParaRPr lang="ko-KR" altLang="en-US" sz="1500" dirty="0"/>
          </a:p>
        </p:txBody>
      </p:sp>
      <p:sp>
        <p:nvSpPr>
          <p:cNvPr id="6" name="codePanel"/>
          <p:cNvSpPr/>
          <p:nvPr/>
        </p:nvSpPr>
        <p:spPr>
          <a:xfrm>
            <a:off x="548640" y="1645920"/>
            <a:ext cx="6949440" cy="3474720"/>
          </a:xfrm>
          <a:prstGeom prst="roundRect">
            <a:avLst>
              <a:gd name="adj" fmla="val 2105"/>
            </a:avLst>
          </a:prstGeom>
          <a:solidFill>
            <a:schemeClr val="tx1"/>
          </a:solidFill>
          <a:ln w="12700">
            <a:solidFill>
              <a:schemeClr val="tx1"/>
            </a:solidFill>
            <a:prstDash val="solid"/>
          </a:ln>
        </p:spPr>
      </p:sp>
      <p:sp>
        <p:nvSpPr>
          <p:cNvPr id="7" name="code"/>
          <p:cNvSpPr txBox="1"/>
          <p:nvPr/>
        </p:nvSpPr>
        <p:spPr>
          <a:xfrm>
            <a:off x="658368" y="1737360"/>
            <a:ext cx="6729984" cy="329184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void Create(double x, double y,</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double xVel, double yVel, int lifetime)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사용 중이 아닌 파티클을 찾는다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for (int i = 0; i &lt; PoolSize; i++)</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if (!_particles[i].InUse)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_particles[i].Init(x, y, xVel, yVel, lifetime);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return;</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빈 파티클이 없으면 아무것도 만들지 않는다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3891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863840" y="1645920"/>
            <a:ext cx="3779215" cy="1691640"/>
          </a:xfrm>
          <a:prstGeom prst="roundRect">
            <a:avLst>
              <a:gd name="adj" fmla="val 5405"/>
            </a:avLst>
          </a:prstGeom>
          <a:solidFill>
            <a:schemeClr val="bg2"/>
          </a:solidFill>
          <a:ln w="12700">
            <a:solidFill>
              <a:schemeClr val="bg2"/>
            </a:solidFill>
            <a:prstDash val="solid"/>
          </a:ln>
        </p:spPr>
      </p:sp>
      <p:sp>
        <p:nvSpPr>
          <p:cNvPr id="10" name="Text 7"/>
          <p:cNvSpPr txBox="1"/>
          <p:nvPr/>
        </p:nvSpPr>
        <p:spPr>
          <a:xfrm>
            <a:off x="8092440" y="18653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찾으면</a:t>
            </a:r>
            <a:endParaRPr lang="ko-KR" altLang="en-US" sz="1700" dirty="0"/>
          </a:p>
        </p:txBody>
      </p:sp>
      <p:sp>
        <p:nvSpPr>
          <p:cNvPr id="11" name="Text 8"/>
          <p:cNvSpPr txBox="1"/>
          <p:nvPr/>
        </p:nvSpPr>
        <p:spPr>
          <a:xfrm>
            <a:off x="8092440" y="2377440"/>
            <a:ext cx="3322015" cy="822960"/>
          </a:xfrm>
          <a:prstGeom prst="rect">
            <a:avLst/>
          </a:prstGeom>
          <a:noFill/>
          <a:ln/>
        </p:spPr>
        <p:txBody>
          <a:bodyPr wrap="square" lIns="0" tIns="0" rIns="0" bIns="0" rtlCol="0" anchor="t"/>
          <a:lstStyle/>
          <a:p>
            <a:pPr indent="0" marL="0" eaLnBrk="0">
              <a:buNone/>
            </a:pPr>
            <a:r>
              <a:rPr lang="ko-KR" altLang="en-US" sz="1400" dirty="0">
                <a:solidFill>
                  <a:schemeClr val="tx2"/>
                </a:solidFill>
              </a:rPr>
              <a:t>Init으로 값을 채운다. 쉬던 파티클이 다시 사용 중이 된다.</a:t>
            </a:r>
            <a:endParaRPr lang="ko-KR" altLang="en-US" sz="1400" dirty="0"/>
          </a:p>
        </p:txBody>
      </p:sp>
      <p:sp>
        <p:nvSpPr>
          <p:cNvPr id="12" name="card"/>
          <p:cNvSpPr/>
          <p:nvPr/>
        </p:nvSpPr>
        <p:spPr>
          <a:xfrm>
            <a:off x="7863840" y="3520440"/>
            <a:ext cx="3779215" cy="1600200"/>
          </a:xfrm>
          <a:prstGeom prst="roundRect">
            <a:avLst>
              <a:gd name="adj" fmla="val 5714"/>
            </a:avLst>
          </a:prstGeom>
          <a:solidFill>
            <a:schemeClr val="bg2"/>
          </a:solidFill>
          <a:ln w="12700">
            <a:solidFill>
              <a:schemeClr val="bg2"/>
            </a:solidFill>
            <a:prstDash val="solid"/>
          </a:ln>
        </p:spPr>
      </p:sp>
      <p:sp>
        <p:nvSpPr>
          <p:cNvPr id="13" name="Text 10"/>
          <p:cNvSpPr txBox="1"/>
          <p:nvPr/>
        </p:nvSpPr>
        <p:spPr>
          <a:xfrm>
            <a:off x="8092440" y="37398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못 찾으면</a:t>
            </a:r>
            <a:endParaRPr lang="ko-KR" altLang="en-US" sz="1700" dirty="0"/>
          </a:p>
        </p:txBody>
      </p:sp>
      <p:sp>
        <p:nvSpPr>
          <p:cNvPr id="14" name="Text 11"/>
          <p:cNvSpPr txBox="1"/>
          <p:nvPr/>
        </p:nvSpPr>
        <p:spPr>
          <a:xfrm>
            <a:off x="8092440" y="4251960"/>
            <a:ext cx="332201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그냥 돌아간다. 풀이 가득 찬 것이다.</a:t>
            </a:r>
            <a:endParaRPr lang="ko-KR" altLang="en-US" sz="1400" dirty="0"/>
          </a:p>
        </p:txBody>
      </p:sp>
      <p:sp>
        <p:nvSpPr>
          <p:cNvPr id="15" name="Text 12"/>
          <p:cNvSpPr txBox="1"/>
          <p:nvPr/>
        </p:nvSpPr>
        <p:spPr>
          <a:xfrm>
            <a:off x="548640" y="5257800"/>
            <a:ext cx="11094415" cy="502920"/>
          </a:xfrm>
          <a:prstGeom prst="rect">
            <a:avLst/>
          </a:prstGeom>
          <a:noFill/>
          <a:ln/>
        </p:spPr>
        <p:txBody>
          <a:bodyPr wrap="square" lIns="0" tIns="0" rIns="0" bIns="0" rtlCol="0" anchor="t"/>
          <a:lstStyle/>
          <a:p>
            <a:pPr indent="0" marL="0" eaLnBrk="0">
              <a:buNone/>
            </a:pPr>
            <a:r>
              <a:rPr lang="ko-KR" altLang="en-US" sz="1500" dirty="0">
                <a:solidFill>
                  <a:schemeClr val="tx2"/>
                </a:solidFill>
              </a:rPr>
              <a:t>ParticlePool의 메서드이다. 다 쓴 파티클을 돌려주는 코드는 따로 없다. 수명이 0이 되면 저절로 빈 파티클이 된다.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칸 네 개짜리 풀에서 생성과 재사용을 따라간다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풀이 거의 가득 차 있으면 Create는 얼마나 걸릴까?</a:t>
            </a:r>
            <a:endParaRPr lang="ko-KR" alt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377440"/>
                <a:gridCol w="1051560"/>
                <a:gridCol w="1051560"/>
                <a:gridCol w="1051560"/>
                <a:gridCol w="1051560"/>
                <a:gridCol w="4510735"/>
              </a:tblGrid>
              <a:tr h="502920">
                <a:tc>
                  <a:txBody>
                    <a:bodyPr/>
                    <a:lstStyle/>
                    <a:p>
                      <a:pPr indent="0" marL="0" eaLnBrk="0">
                        <a:buNone/>
                      </a:pPr>
                      <a:r>
                        <a:rPr lang="ko-KR" altLang="en-US" sz="1400" b="1" dirty="0">
                          <a:solidFill>
                            <a:schemeClr val="bg1"/>
                          </a:solidFill>
                        </a:rPr>
                        <a:t>동작</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칸 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칸 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칸 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칸 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설명</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02920">
                <a:tc>
                  <a:txBody>
                    <a:bodyPr/>
                    <a:lstStyle/>
                    <a:p>
                      <a:pPr indent="0" marL="0" eaLnBrk="0">
                        <a:buNone/>
                      </a:pPr>
                      <a:r>
                        <a:rPr lang="ko-KR" altLang="en-US" sz="1400" b="1" dirty="0">
                          <a:solidFill>
                            <a:schemeClr val="tx1"/>
                          </a:solidFill>
                        </a:rPr>
                        <a:t>시작</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모두 쉬는 중이다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Create A (수명 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A 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칸 0이 처음 만난 빈 칸이다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Create B (수명 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A 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B 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칸 0을 지나 칸 1에 넣는다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Animate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A 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B 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사용 중인 파티클만 줄어든다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Animate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B 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A의 수명이 끝나 칸 0이 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Create C (수명 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C 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B 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칸 0의 파티클을 다시 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한계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빈 파티클을 찾으려고 배열을 처음부터 훑어야 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빈 파티클을 훑지 않고 바로 찾을 수는 없을까?</a:t>
            </a:r>
            <a:endParaRPr lang="ko-KR" altLang="en-US" sz="1500" dirty="0"/>
          </a:p>
        </p:txBody>
      </p:sp>
      <p:sp>
        <p:nvSpPr>
          <p:cNvPr id="6" name="box"/>
          <p:cNvSpPr/>
          <p:nvPr/>
        </p:nvSpPr>
        <p:spPr>
          <a:xfrm>
            <a:off x="731520" y="2011680"/>
            <a:ext cx="960120" cy="685800"/>
          </a:xfrm>
          <a:prstGeom prst="roundRect">
            <a:avLst>
              <a:gd name="adj" fmla="val 10667"/>
            </a:avLst>
          </a:prstGeom>
          <a:solidFill>
            <a:schemeClr val="accent1"/>
          </a:solidFill>
          <a:ln w="12700">
            <a:solidFill>
              <a:schemeClr val="accent1"/>
            </a:solidFill>
            <a:prstDash val="solid"/>
          </a:ln>
        </p:spPr>
      </p:sp>
      <p:sp>
        <p:nvSpPr>
          <p:cNvPr id="7" name="Text 4"/>
          <p:cNvSpPr txBox="1"/>
          <p:nvPr/>
        </p:nvSpPr>
        <p:spPr>
          <a:xfrm>
            <a:off x="731520" y="2011680"/>
            <a:ext cx="960120" cy="68580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사용 중</a:t>
            </a:r>
            <a:endParaRPr lang="ko-KR" altLang="en-US" sz="1200" dirty="0"/>
          </a:p>
        </p:txBody>
      </p:sp>
      <p:sp>
        <p:nvSpPr>
          <p:cNvPr id="8" name="box"/>
          <p:cNvSpPr/>
          <p:nvPr/>
        </p:nvSpPr>
        <p:spPr>
          <a:xfrm>
            <a:off x="1801368" y="2011680"/>
            <a:ext cx="960120" cy="685800"/>
          </a:xfrm>
          <a:prstGeom prst="roundRect">
            <a:avLst>
              <a:gd name="adj" fmla="val 10667"/>
            </a:avLst>
          </a:prstGeom>
          <a:solidFill>
            <a:schemeClr val="accent1"/>
          </a:solidFill>
          <a:ln w="12700">
            <a:solidFill>
              <a:schemeClr val="accent1"/>
            </a:solidFill>
            <a:prstDash val="solid"/>
          </a:ln>
        </p:spPr>
      </p:sp>
      <p:sp>
        <p:nvSpPr>
          <p:cNvPr id="9" name="Text 6"/>
          <p:cNvSpPr txBox="1"/>
          <p:nvPr/>
        </p:nvSpPr>
        <p:spPr>
          <a:xfrm>
            <a:off x="1801368" y="2011680"/>
            <a:ext cx="960120" cy="68580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사용 중</a:t>
            </a:r>
            <a:endParaRPr lang="ko-KR" altLang="en-US" sz="1200" dirty="0"/>
          </a:p>
        </p:txBody>
      </p:sp>
      <p:sp>
        <p:nvSpPr>
          <p:cNvPr id="10" name="box"/>
          <p:cNvSpPr/>
          <p:nvPr/>
        </p:nvSpPr>
        <p:spPr>
          <a:xfrm>
            <a:off x="2871216" y="2011680"/>
            <a:ext cx="960120" cy="685800"/>
          </a:xfrm>
          <a:prstGeom prst="roundRect">
            <a:avLst>
              <a:gd name="adj" fmla="val 10667"/>
            </a:avLst>
          </a:prstGeom>
          <a:solidFill>
            <a:schemeClr val="accent1"/>
          </a:solidFill>
          <a:ln w="12700">
            <a:solidFill>
              <a:schemeClr val="accent1"/>
            </a:solidFill>
            <a:prstDash val="solid"/>
          </a:ln>
        </p:spPr>
      </p:sp>
      <p:sp>
        <p:nvSpPr>
          <p:cNvPr id="11" name="Text 8"/>
          <p:cNvSpPr txBox="1"/>
          <p:nvPr/>
        </p:nvSpPr>
        <p:spPr>
          <a:xfrm>
            <a:off x="2871216" y="2011680"/>
            <a:ext cx="960120" cy="68580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사용 중</a:t>
            </a:r>
            <a:endParaRPr lang="ko-KR" altLang="en-US" sz="1200" dirty="0"/>
          </a:p>
        </p:txBody>
      </p:sp>
      <p:sp>
        <p:nvSpPr>
          <p:cNvPr id="12" name="box"/>
          <p:cNvSpPr/>
          <p:nvPr/>
        </p:nvSpPr>
        <p:spPr>
          <a:xfrm>
            <a:off x="3941064" y="2011680"/>
            <a:ext cx="960120" cy="685800"/>
          </a:xfrm>
          <a:prstGeom prst="roundRect">
            <a:avLst>
              <a:gd name="adj" fmla="val 10667"/>
            </a:avLst>
          </a:prstGeom>
          <a:solidFill>
            <a:schemeClr val="accent1"/>
          </a:solidFill>
          <a:ln w="12700">
            <a:solidFill>
              <a:schemeClr val="accent1"/>
            </a:solidFill>
            <a:prstDash val="solid"/>
          </a:ln>
        </p:spPr>
      </p:sp>
      <p:sp>
        <p:nvSpPr>
          <p:cNvPr id="13" name="Text 10"/>
          <p:cNvSpPr txBox="1"/>
          <p:nvPr/>
        </p:nvSpPr>
        <p:spPr>
          <a:xfrm>
            <a:off x="3941064" y="2011680"/>
            <a:ext cx="960120" cy="68580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사용 중</a:t>
            </a:r>
            <a:endParaRPr lang="ko-KR" altLang="en-US" sz="1200" dirty="0"/>
          </a:p>
        </p:txBody>
      </p:sp>
      <p:sp>
        <p:nvSpPr>
          <p:cNvPr id="14" name="box"/>
          <p:cNvSpPr/>
          <p:nvPr/>
        </p:nvSpPr>
        <p:spPr>
          <a:xfrm>
            <a:off x="5010912" y="2011680"/>
            <a:ext cx="960120" cy="685800"/>
          </a:xfrm>
          <a:prstGeom prst="roundRect">
            <a:avLst>
              <a:gd name="adj" fmla="val 10667"/>
            </a:avLst>
          </a:prstGeom>
          <a:solidFill>
            <a:schemeClr val="accent1"/>
          </a:solidFill>
          <a:ln w="12700">
            <a:solidFill>
              <a:schemeClr val="accent1"/>
            </a:solidFill>
            <a:prstDash val="solid"/>
          </a:ln>
        </p:spPr>
      </p:sp>
      <p:sp>
        <p:nvSpPr>
          <p:cNvPr id="15" name="Text 12"/>
          <p:cNvSpPr txBox="1"/>
          <p:nvPr/>
        </p:nvSpPr>
        <p:spPr>
          <a:xfrm>
            <a:off x="5010912" y="2011680"/>
            <a:ext cx="960120" cy="68580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사용 중</a:t>
            </a:r>
            <a:endParaRPr lang="ko-KR" altLang="en-US" sz="1200" dirty="0"/>
          </a:p>
        </p:txBody>
      </p:sp>
      <p:sp>
        <p:nvSpPr>
          <p:cNvPr id="16" name="box"/>
          <p:cNvSpPr/>
          <p:nvPr/>
        </p:nvSpPr>
        <p:spPr>
          <a:xfrm>
            <a:off x="6080760" y="2011680"/>
            <a:ext cx="960120" cy="685800"/>
          </a:xfrm>
          <a:prstGeom prst="roundRect">
            <a:avLst>
              <a:gd name="adj" fmla="val 10667"/>
            </a:avLst>
          </a:prstGeom>
          <a:solidFill>
            <a:schemeClr val="accent1"/>
          </a:solidFill>
          <a:ln w="12700">
            <a:solidFill>
              <a:schemeClr val="accent1"/>
            </a:solidFill>
            <a:prstDash val="solid"/>
          </a:ln>
        </p:spPr>
      </p:sp>
      <p:sp>
        <p:nvSpPr>
          <p:cNvPr id="17" name="Text 14"/>
          <p:cNvSpPr txBox="1"/>
          <p:nvPr/>
        </p:nvSpPr>
        <p:spPr>
          <a:xfrm>
            <a:off x="6080760" y="2011680"/>
            <a:ext cx="960120" cy="68580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사용 중</a:t>
            </a:r>
            <a:endParaRPr lang="ko-KR" altLang="en-US" sz="1200" dirty="0"/>
          </a:p>
        </p:txBody>
      </p:sp>
      <p:sp>
        <p:nvSpPr>
          <p:cNvPr id="18" name="box"/>
          <p:cNvSpPr/>
          <p:nvPr/>
        </p:nvSpPr>
        <p:spPr>
          <a:xfrm>
            <a:off x="7150608" y="2011680"/>
            <a:ext cx="960120" cy="685800"/>
          </a:xfrm>
          <a:prstGeom prst="roundRect">
            <a:avLst>
              <a:gd name="adj" fmla="val 10667"/>
            </a:avLst>
          </a:prstGeom>
          <a:solidFill>
            <a:schemeClr val="accent1"/>
          </a:solidFill>
          <a:ln w="12700">
            <a:solidFill>
              <a:schemeClr val="accent1"/>
            </a:solidFill>
            <a:prstDash val="solid"/>
          </a:ln>
        </p:spPr>
      </p:sp>
      <p:sp>
        <p:nvSpPr>
          <p:cNvPr id="19" name="Text 16"/>
          <p:cNvSpPr txBox="1"/>
          <p:nvPr/>
        </p:nvSpPr>
        <p:spPr>
          <a:xfrm>
            <a:off x="7150608" y="2011680"/>
            <a:ext cx="960120" cy="68580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사용 중</a:t>
            </a:r>
            <a:endParaRPr lang="ko-KR" altLang="en-US" sz="1200" dirty="0"/>
          </a:p>
        </p:txBody>
      </p:sp>
      <p:sp>
        <p:nvSpPr>
          <p:cNvPr id="20" name="box"/>
          <p:cNvSpPr/>
          <p:nvPr/>
        </p:nvSpPr>
        <p:spPr>
          <a:xfrm>
            <a:off x="8220456" y="2011680"/>
            <a:ext cx="960120" cy="685800"/>
          </a:xfrm>
          <a:prstGeom prst="roundRect">
            <a:avLst>
              <a:gd name="adj" fmla="val 10667"/>
            </a:avLst>
          </a:prstGeom>
          <a:solidFill>
            <a:schemeClr val="accent1"/>
          </a:solidFill>
          <a:ln w="12700">
            <a:solidFill>
              <a:schemeClr val="accent1"/>
            </a:solidFill>
            <a:prstDash val="solid"/>
          </a:ln>
        </p:spPr>
      </p:sp>
      <p:sp>
        <p:nvSpPr>
          <p:cNvPr id="21" name="Text 18"/>
          <p:cNvSpPr txBox="1"/>
          <p:nvPr/>
        </p:nvSpPr>
        <p:spPr>
          <a:xfrm>
            <a:off x="8220456" y="2011680"/>
            <a:ext cx="960120" cy="68580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사용 중</a:t>
            </a:r>
            <a:endParaRPr lang="ko-KR" altLang="en-US" sz="1200" dirty="0"/>
          </a:p>
        </p:txBody>
      </p:sp>
      <p:sp>
        <p:nvSpPr>
          <p:cNvPr id="22" name="box"/>
          <p:cNvSpPr/>
          <p:nvPr/>
        </p:nvSpPr>
        <p:spPr>
          <a:xfrm>
            <a:off x="9290304" y="2011680"/>
            <a:ext cx="960120" cy="685800"/>
          </a:xfrm>
          <a:prstGeom prst="roundRect">
            <a:avLst>
              <a:gd name="adj" fmla="val 10667"/>
            </a:avLst>
          </a:prstGeom>
          <a:solidFill>
            <a:schemeClr val="accent1"/>
          </a:solidFill>
          <a:ln w="12700">
            <a:solidFill>
              <a:schemeClr val="accent1"/>
            </a:solidFill>
            <a:prstDash val="solid"/>
          </a:ln>
        </p:spPr>
      </p:sp>
      <p:sp>
        <p:nvSpPr>
          <p:cNvPr id="23" name="Text 20"/>
          <p:cNvSpPr txBox="1"/>
          <p:nvPr/>
        </p:nvSpPr>
        <p:spPr>
          <a:xfrm>
            <a:off x="9290304" y="2011680"/>
            <a:ext cx="960120" cy="68580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사용 중</a:t>
            </a:r>
            <a:endParaRPr lang="ko-KR" altLang="en-US" sz="1200" dirty="0"/>
          </a:p>
        </p:txBody>
      </p:sp>
      <p:sp>
        <p:nvSpPr>
          <p:cNvPr id="24" name="box"/>
          <p:cNvSpPr/>
          <p:nvPr/>
        </p:nvSpPr>
        <p:spPr>
          <a:xfrm>
            <a:off x="10360152" y="2011680"/>
            <a:ext cx="960120" cy="685800"/>
          </a:xfrm>
          <a:prstGeom prst="roundRect">
            <a:avLst>
              <a:gd name="adj" fmla="val 10667"/>
            </a:avLst>
          </a:prstGeom>
          <a:solidFill>
            <a:schemeClr val="bg2"/>
          </a:solidFill>
          <a:ln w="12700">
            <a:solidFill>
              <a:schemeClr val="bg2"/>
            </a:solidFill>
            <a:prstDash val="solid"/>
          </a:ln>
        </p:spPr>
      </p:sp>
      <p:sp>
        <p:nvSpPr>
          <p:cNvPr id="25" name="Text 22"/>
          <p:cNvSpPr txBox="1"/>
          <p:nvPr/>
        </p:nvSpPr>
        <p:spPr>
          <a:xfrm>
            <a:off x="10360152" y="2011680"/>
            <a:ext cx="960120" cy="68580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빈 칸</a:t>
            </a:r>
            <a:endParaRPr lang="ko-KR" altLang="en-US" sz="1200" dirty="0"/>
          </a:p>
        </p:txBody>
      </p:sp>
      <p:sp>
        <p:nvSpPr>
          <p:cNvPr id="26" name="Shape 23"/>
          <p:cNvSpPr/>
          <p:nvPr/>
        </p:nvSpPr>
        <p:spPr>
          <a:xfrm>
            <a:off x="731520" y="2971800"/>
            <a:ext cx="10108692" cy="914"/>
          </a:xfrm>
          <a:prstGeom prst="line">
            <a:avLst/>
          </a:prstGeom>
          <a:noFill/>
          <a:ln w="31750">
            <a:solidFill>
              <a:schemeClr val="accent6"/>
            </a:solidFill>
            <a:prstDash val="solid"/>
            <a:tailEnd type="triangle"/>
          </a:ln>
        </p:spPr>
      </p:sp>
      <p:sp>
        <p:nvSpPr>
          <p:cNvPr id="27" name="Text 24"/>
          <p:cNvSpPr txBox="1"/>
          <p:nvPr/>
        </p:nvSpPr>
        <p:spPr>
          <a:xfrm>
            <a:off x="731520" y="3108960"/>
            <a:ext cx="5486400" cy="365760"/>
          </a:xfrm>
          <a:prstGeom prst="rect">
            <a:avLst/>
          </a:prstGeom>
          <a:noFill/>
          <a:ln/>
        </p:spPr>
        <p:txBody>
          <a:bodyPr wrap="square" lIns="0" tIns="0" rIns="0" bIns="0" rtlCol="0" anchor="t"/>
          <a:lstStyle/>
          <a:p>
            <a:pPr indent="0" marL="0" eaLnBrk="0">
              <a:buNone/>
            </a:pPr>
            <a:r>
              <a:rPr lang="ko-KR" altLang="en-US" sz="1400" b="1" dirty="0">
                <a:solidFill>
                  <a:schemeClr val="accent6"/>
                </a:solidFill>
              </a:rPr>
              <a:t>Create는 칸 0부터 확인하며 지나간다</a:t>
            </a:r>
            <a:endParaRPr lang="ko-KR" altLang="en-US" sz="1400" dirty="0"/>
          </a:p>
        </p:txBody>
      </p:sp>
      <p:sp>
        <p:nvSpPr>
          <p:cNvPr id="28" name="card"/>
          <p:cNvSpPr/>
          <p:nvPr/>
        </p:nvSpPr>
        <p:spPr>
          <a:xfrm>
            <a:off x="548640" y="3749040"/>
            <a:ext cx="5440680" cy="1920240"/>
          </a:xfrm>
          <a:prstGeom prst="roundRect">
            <a:avLst>
              <a:gd name="adj" fmla="val 4762"/>
            </a:avLst>
          </a:prstGeom>
          <a:solidFill>
            <a:schemeClr val="bg2"/>
          </a:solidFill>
          <a:ln w="12700">
            <a:solidFill>
              <a:schemeClr val="bg2"/>
            </a:solidFill>
            <a:prstDash val="solid"/>
          </a:ln>
        </p:spPr>
      </p:sp>
      <p:sp>
        <p:nvSpPr>
          <p:cNvPr id="29" name="Shape 26"/>
          <p:cNvSpPr/>
          <p:nvPr/>
        </p:nvSpPr>
        <p:spPr>
          <a:xfrm>
            <a:off x="777240" y="3950208"/>
            <a:ext cx="420624" cy="420624"/>
          </a:xfrm>
          <a:prstGeom prst="ellipse">
            <a:avLst/>
          </a:prstGeom>
          <a:solidFill>
            <a:schemeClr val="accent1"/>
          </a:solidFill>
          <a:ln w="12700">
            <a:solidFill>
              <a:schemeClr val="accent1"/>
            </a:solidFill>
            <a:prstDash val="solid"/>
          </a:ln>
        </p:spPr>
      </p:sp>
      <p:sp>
        <p:nvSpPr>
          <p:cNvPr id="30" name="Text 27"/>
          <p:cNvSpPr txBox="1"/>
          <p:nvPr/>
        </p:nvSpPr>
        <p:spPr>
          <a:xfrm>
            <a:off x="777240" y="39502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31" name="Text 28"/>
          <p:cNvSpPr txBox="1"/>
          <p:nvPr/>
        </p:nvSpPr>
        <p:spPr>
          <a:xfrm>
            <a:off x="1325880" y="3968496"/>
            <a:ext cx="448056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풀이 거의 찼을 때</a:t>
            </a:r>
            <a:endParaRPr lang="ko-KR" altLang="en-US" sz="1700" dirty="0"/>
          </a:p>
        </p:txBody>
      </p:sp>
      <p:sp>
        <p:nvSpPr>
          <p:cNvPr id="32" name="Text 29"/>
          <p:cNvSpPr txBox="1"/>
          <p:nvPr/>
        </p:nvSpPr>
        <p:spPr>
          <a:xfrm>
            <a:off x="1325880" y="4407408"/>
            <a:ext cx="4480560" cy="1143000"/>
          </a:xfrm>
          <a:prstGeom prst="rect">
            <a:avLst/>
          </a:prstGeom>
          <a:noFill/>
          <a:ln/>
        </p:spPr>
        <p:txBody>
          <a:bodyPr wrap="square" lIns="0" tIns="0" rIns="0" bIns="0" rtlCol="0" anchor="t"/>
          <a:lstStyle/>
          <a:p>
            <a:pPr indent="0" marL="0" eaLnBrk="0">
              <a:buNone/>
            </a:pPr>
            <a:r>
              <a:rPr lang="ko-KR" altLang="en-US" sz="1400" dirty="0">
                <a:solidFill>
                  <a:schemeClr val="tx2"/>
                </a:solidFill>
              </a:rPr>
              <a:t>빈 칸이 맨 뒤에 하나뿐이면 Create 한 번에 칸 100개를 거의 다 확인한다.</a:t>
            </a:r>
            <a:endParaRPr lang="ko-KR" altLang="en-US" sz="1400" dirty="0"/>
          </a:p>
        </p:txBody>
      </p:sp>
      <p:sp>
        <p:nvSpPr>
          <p:cNvPr id="33" name="card"/>
          <p:cNvSpPr/>
          <p:nvPr/>
        </p:nvSpPr>
        <p:spPr>
          <a:xfrm>
            <a:off x="6263640" y="3749040"/>
            <a:ext cx="5379415" cy="1920240"/>
          </a:xfrm>
          <a:prstGeom prst="roundRect">
            <a:avLst>
              <a:gd name="adj" fmla="val 4762"/>
            </a:avLst>
          </a:prstGeom>
          <a:solidFill>
            <a:schemeClr val="bg2"/>
          </a:solidFill>
          <a:ln w="12700">
            <a:solidFill>
              <a:schemeClr val="bg2"/>
            </a:solidFill>
            <a:prstDash val="solid"/>
          </a:ln>
        </p:spPr>
      </p:sp>
      <p:sp>
        <p:nvSpPr>
          <p:cNvPr id="34" name="Shape 31"/>
          <p:cNvSpPr/>
          <p:nvPr/>
        </p:nvSpPr>
        <p:spPr>
          <a:xfrm>
            <a:off x="6492240" y="3950208"/>
            <a:ext cx="420624" cy="420624"/>
          </a:xfrm>
          <a:prstGeom prst="ellipse">
            <a:avLst/>
          </a:prstGeom>
          <a:solidFill>
            <a:schemeClr val="accent1"/>
          </a:solidFill>
          <a:ln w="12700">
            <a:solidFill>
              <a:schemeClr val="accent1"/>
            </a:solidFill>
            <a:prstDash val="solid"/>
          </a:ln>
        </p:spPr>
      </p:sp>
      <p:sp>
        <p:nvSpPr>
          <p:cNvPr id="35" name="Text 32"/>
          <p:cNvSpPr txBox="1"/>
          <p:nvPr/>
        </p:nvSpPr>
        <p:spPr>
          <a:xfrm>
            <a:off x="6492240" y="39502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36" name="Text 33"/>
          <p:cNvSpPr txBox="1"/>
          <p:nvPr/>
        </p:nvSpPr>
        <p:spPr>
          <a:xfrm>
            <a:off x="7040880" y="3968496"/>
            <a:ext cx="44192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원서의 판단</a:t>
            </a:r>
            <a:endParaRPr lang="ko-KR" altLang="en-US" sz="1700" dirty="0"/>
          </a:p>
        </p:txBody>
      </p:sp>
      <p:sp>
        <p:nvSpPr>
          <p:cNvPr id="37" name="Text 34"/>
          <p:cNvSpPr txBox="1"/>
          <p:nvPr/>
        </p:nvSpPr>
        <p:spPr>
          <a:xfrm>
            <a:off x="7040880" y="4407408"/>
            <a:ext cx="4419295" cy="1143000"/>
          </a:xfrm>
          <a:prstGeom prst="rect">
            <a:avLst/>
          </a:prstGeom>
          <a:noFill/>
          <a:ln/>
        </p:spPr>
        <p:txBody>
          <a:bodyPr wrap="square" lIns="0" tIns="0" rIns="0" bIns="0" rtlCol="0" anchor="t"/>
          <a:lstStyle/>
          <a:p>
            <a:pPr indent="0" marL="0" eaLnBrk="0">
              <a:buNone/>
            </a:pPr>
            <a:r>
              <a:rPr lang="ko-KR" altLang="en-US" sz="1400" dirty="0">
                <a:solidFill>
                  <a:schemeClr val="tx2"/>
                </a:solidFill>
              </a:rPr>
              <a:t>이 버전도 출시할 만하다. 하지만 빈 칸을 바로 알 수 있다면 더 좋다.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3부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빈칸 목록</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빈칸 목록</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빈칸 목록</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쉬는 파티클이 다음 쉬는 파티클을 가리킨다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처음에는 이 목록을 어떻게 연결해 둘까?</a:t>
            </a:r>
            <a:endParaRPr lang="ko-KR" altLang="en-US" sz="1500" dirty="0"/>
          </a:p>
        </p:txBody>
      </p:sp>
      <p:sp>
        <p:nvSpPr>
          <p:cNvPr id="6" name="codePanel"/>
          <p:cNvSpPr/>
          <p:nvPr/>
        </p:nvSpPr>
        <p:spPr>
          <a:xfrm>
            <a:off x="548640" y="1645920"/>
            <a:ext cx="5852160" cy="3291840"/>
          </a:xfrm>
          <a:prstGeom prst="roundRect">
            <a:avLst>
              <a:gd name="adj" fmla="val 2222"/>
            </a:avLst>
          </a:prstGeom>
          <a:solidFill>
            <a:schemeClr val="tx1"/>
          </a:solidFill>
          <a:ln w="12700">
            <a:solidFill>
              <a:schemeClr val="tx1"/>
            </a:solidFill>
            <a:prstDash val="solid"/>
          </a:ln>
        </p:spPr>
      </p:sp>
      <p:sp>
        <p:nvSpPr>
          <p:cNvPr id="7" name="code"/>
          <p:cNvSpPr txBox="1"/>
          <p:nvPr/>
        </p:nvSpPr>
        <p:spPr>
          <a:xfrm>
            <a:off x="658368" y="1737360"/>
            <a:ext cx="5632704" cy="310896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Particle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int _framesLeft;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사용 중일 때만 의미가 있다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double _x, _y;</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double _xVel, _yVel;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사용 중이 아닐 때만 의미가 있다:</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다음 빈 파티클</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public Particle Next;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Init, InUse는 앞과 같다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329184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6766560" y="1645920"/>
            <a:ext cx="4876495" cy="1828800"/>
          </a:xfrm>
          <a:prstGeom prst="roundRect">
            <a:avLst>
              <a:gd name="adj" fmla="val 5000"/>
            </a:avLst>
          </a:prstGeom>
          <a:solidFill>
            <a:schemeClr val="bg2"/>
          </a:solidFill>
          <a:ln w="12700">
            <a:solidFill>
              <a:schemeClr val="bg2"/>
            </a:solidFill>
            <a:prstDash val="solid"/>
          </a:ln>
        </p:spPr>
      </p:sp>
      <p:sp>
        <p:nvSpPr>
          <p:cNvPr id="10" name="Text 7"/>
          <p:cNvSpPr txBox="1"/>
          <p:nvPr/>
        </p:nvSpPr>
        <p:spPr>
          <a:xfrm>
            <a:off x="6995160" y="1865376"/>
            <a:ext cx="44650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원서(C++): 공용체(union)</a:t>
            </a:r>
            <a:endParaRPr lang="ko-KR" altLang="en-US" sz="1700" dirty="0"/>
          </a:p>
        </p:txBody>
      </p:sp>
      <p:sp>
        <p:nvSpPr>
          <p:cNvPr id="11" name="Text 8"/>
          <p:cNvSpPr txBox="1"/>
          <p:nvPr/>
        </p:nvSpPr>
        <p:spPr>
          <a:xfrm>
            <a:off x="6995160" y="2377440"/>
            <a:ext cx="4419295" cy="960120"/>
          </a:xfrm>
          <a:prstGeom prst="rect">
            <a:avLst/>
          </a:prstGeom>
          <a:noFill/>
          <a:ln/>
        </p:spPr>
        <p:txBody>
          <a:bodyPr wrap="square" lIns="0" tIns="0" rIns="0" bIns="0" rtlCol="0" anchor="t"/>
          <a:lstStyle/>
          <a:p>
            <a:pPr indent="0" marL="0" eaLnBrk="0">
              <a:buNone/>
            </a:pPr>
            <a:r>
              <a:rPr lang="ko-KR" altLang="en-US" sz="1400" dirty="0">
                <a:solidFill>
                  <a:schemeClr val="tx2"/>
                </a:solidFill>
              </a:rPr>
              <a:t>위치·속도와 다음 파티클 포인터가 같은 메모리를 번갈아 쓴다. 목록에 메모리가 더 들지 않는다.</a:t>
            </a:r>
            <a:endParaRPr lang="ko-KR" altLang="en-US" sz="1400" dirty="0"/>
          </a:p>
        </p:txBody>
      </p:sp>
      <p:sp>
        <p:nvSpPr>
          <p:cNvPr id="12" name="card"/>
          <p:cNvSpPr/>
          <p:nvPr/>
        </p:nvSpPr>
        <p:spPr>
          <a:xfrm>
            <a:off x="6766560" y="3657600"/>
            <a:ext cx="4876495" cy="2011680"/>
          </a:xfrm>
          <a:prstGeom prst="roundRect">
            <a:avLst>
              <a:gd name="adj" fmla="val 4545"/>
            </a:avLst>
          </a:prstGeom>
          <a:solidFill>
            <a:schemeClr val="bg2"/>
          </a:solidFill>
          <a:ln w="12700">
            <a:solidFill>
              <a:schemeClr val="bg2"/>
            </a:solidFill>
            <a:prstDash val="solid"/>
          </a:ln>
        </p:spPr>
      </p:sp>
      <p:sp>
        <p:nvSpPr>
          <p:cNvPr id="13" name="Text 10"/>
          <p:cNvSpPr txBox="1"/>
          <p:nvPr/>
        </p:nvSpPr>
        <p:spPr>
          <a:xfrm>
            <a:off x="6995160" y="3877056"/>
            <a:ext cx="4465015" cy="411480"/>
          </a:xfrm>
          <a:prstGeom prst="rect">
            <a:avLst/>
          </a:prstGeom>
          <a:noFill/>
          <a:ln/>
        </p:spPr>
        <p:txBody>
          <a:bodyPr wrap="square" lIns="0" tIns="0" rIns="0" bIns="0" rtlCol="0" anchor="ctr"/>
          <a:lstStyle/>
          <a:p>
            <a:pPr indent="0" marL="0" eaLnBrk="0">
              <a:buNone/>
            </a:pPr>
            <a:r>
              <a:rPr lang="ko-KR" altLang="en-US" sz="1700" b="1" dirty="0">
                <a:solidFill>
                  <a:schemeClr val="accent1"/>
                </a:solidFill>
              </a:rPr>
              <a:t>C#으로 옮긴 코드: Next 필드</a:t>
            </a:r>
            <a:endParaRPr lang="ko-KR" altLang="en-US" sz="1700" dirty="0"/>
          </a:p>
        </p:txBody>
      </p:sp>
      <p:sp>
        <p:nvSpPr>
          <p:cNvPr id="14" name="Text 11"/>
          <p:cNvSpPr txBox="1"/>
          <p:nvPr/>
        </p:nvSpPr>
        <p:spPr>
          <a:xfrm>
            <a:off x="6995160" y="4389120"/>
            <a:ext cx="4419295" cy="1143000"/>
          </a:xfrm>
          <a:prstGeom prst="rect">
            <a:avLst/>
          </a:prstGeom>
          <a:noFill/>
          <a:ln/>
        </p:spPr>
        <p:txBody>
          <a:bodyPr wrap="square" lIns="0" tIns="0" rIns="0" bIns="0" rtlCol="0" anchor="t"/>
          <a:lstStyle/>
          <a:p>
            <a:pPr indent="0" marL="0" eaLnBrk="0">
              <a:buNone/>
            </a:pPr>
            <a:r>
              <a:rPr lang="ko-KR" altLang="en-US" sz="1400" dirty="0">
                <a:solidFill>
                  <a:schemeClr val="tx2"/>
                </a:solidFill>
              </a:rPr>
              <a:t>C#은 참조를 다른 값과 겹쳐 둘 수 없다. Next를 따로 두므로 파티클마다 참조 하나만큼 커진다.</a:t>
            </a:r>
            <a:endParaRPr lang="ko-KR" altLang="en-US" sz="1400" dirty="0"/>
          </a:p>
        </p:txBody>
      </p:sp>
      <p:sp>
        <p:nvSpPr>
          <p:cNvPr id="15" name="Text 12"/>
          <p:cNvSpPr txBox="1"/>
          <p:nvPr/>
        </p:nvSpPr>
        <p:spPr>
          <a:xfrm>
            <a:off x="548640" y="5120640"/>
            <a:ext cx="5852160" cy="594360"/>
          </a:xfrm>
          <a:prstGeom prst="rect">
            <a:avLst/>
          </a:prstGeom>
          <a:noFill/>
          <a:ln/>
        </p:spPr>
        <p:txBody>
          <a:bodyPr wrap="square" lIns="0" tIns="0" rIns="0" bIns="0" rtlCol="0" anchor="t"/>
          <a:lstStyle/>
          <a:p>
            <a:pPr indent="0" marL="0" eaLnBrk="0">
              <a:buNone/>
            </a:pPr>
            <a:r>
              <a:rPr lang="ko-KR" altLang="en-US" sz="1400" dirty="0">
                <a:solidFill>
                  <a:schemeClr val="tx2"/>
                </a:solidFill>
              </a:rPr>
              <a:t>빈 파티클을 가리키는 배열을 따로 두지 않는다. 쉬는 파티클 자신이 목록이 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목록 만들기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처음에는 모든 파티클이 비어 있으므로 차례로 잇는다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이제 Create는 빈 파티클을 어떻게 꺼낼까?</a:t>
            </a:r>
            <a:endParaRPr lang="ko-KR" altLang="en-US" sz="1500" dirty="0"/>
          </a:p>
        </p:txBody>
      </p:sp>
      <p:sp>
        <p:nvSpPr>
          <p:cNvPr id="6" name="codePanel"/>
          <p:cNvSpPr/>
          <p:nvPr/>
        </p:nvSpPr>
        <p:spPr>
          <a:xfrm>
            <a:off x="548640" y="1645920"/>
            <a:ext cx="6949440" cy="3657600"/>
          </a:xfrm>
          <a:prstGeom prst="roundRect">
            <a:avLst>
              <a:gd name="adj" fmla="val 2000"/>
            </a:avLst>
          </a:prstGeom>
          <a:solidFill>
            <a:schemeClr val="tx1"/>
          </a:solidFill>
          <a:ln w="12700">
            <a:solidFill>
              <a:schemeClr val="tx1"/>
            </a:solidFill>
            <a:prstDash val="solid"/>
          </a:ln>
        </p:spPr>
      </p:sp>
      <p:sp>
        <p:nvSpPr>
          <p:cNvPr id="7" name="code"/>
          <p:cNvSpPr txBox="1"/>
          <p:nvPr/>
        </p:nvSpPr>
        <p:spPr>
          <a:xfrm>
            <a:off x="658368" y="1737360"/>
            <a:ext cx="6729984" cy="347472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Particle _firstAvailable;   // 빈칸 목록의 맨 앞</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ParticlePool()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for (int i = 0; i &lt; PoolSize; i++)</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_particles[i] = new Particle();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첫 파티클이 맨 앞이다</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_firstAvailable = _particles[0];</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파티클마다 다음 파티클을 가리킨다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for (int i = 0; i &lt; PoolSize - 1; i++)</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_particles[i].Next = _particles[i + 1];</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마지막 파티클이 목록을 끝낸다</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_particles[PoolSize - 1].Next = null;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3891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Text 6"/>
          <p:cNvSpPr txBox="1"/>
          <p:nvPr/>
        </p:nvSpPr>
        <p:spPr>
          <a:xfrm>
            <a:off x="7863840" y="1645920"/>
            <a:ext cx="3657600" cy="365760"/>
          </a:xfrm>
          <a:prstGeom prst="rect">
            <a:avLst/>
          </a:prstGeom>
          <a:noFill/>
          <a:ln/>
        </p:spPr>
        <p:txBody>
          <a:bodyPr wrap="square" lIns="0" tIns="0" rIns="0" bIns="0" rtlCol="0" anchor="t"/>
          <a:lstStyle/>
          <a:p>
            <a:pPr indent="0" marL="0" eaLnBrk="0">
              <a:buNone/>
            </a:pPr>
            <a:r>
              <a:rPr lang="ko-KR" altLang="en-US" sz="1500" b="1" dirty="0">
                <a:solidFill>
                  <a:schemeClr val="tx1"/>
                </a:solidFill>
              </a:rPr>
              <a:t>처음 상태</a:t>
            </a:r>
            <a:endParaRPr lang="ko-KR" altLang="en-US" sz="1500" dirty="0"/>
          </a:p>
        </p:txBody>
      </p:sp>
      <p:sp>
        <p:nvSpPr>
          <p:cNvPr id="10" name="box"/>
          <p:cNvSpPr/>
          <p:nvPr/>
        </p:nvSpPr>
        <p:spPr>
          <a:xfrm>
            <a:off x="7863840" y="2148840"/>
            <a:ext cx="1737360" cy="548640"/>
          </a:xfrm>
          <a:prstGeom prst="roundRect">
            <a:avLst>
              <a:gd name="adj" fmla="val 13333"/>
            </a:avLst>
          </a:prstGeom>
          <a:solidFill>
            <a:schemeClr val="accent2"/>
          </a:solidFill>
          <a:ln w="12700">
            <a:solidFill>
              <a:schemeClr val="accent2"/>
            </a:solidFill>
            <a:prstDash val="solid"/>
          </a:ln>
        </p:spPr>
      </p:sp>
      <p:sp>
        <p:nvSpPr>
          <p:cNvPr id="11" name="Text 8"/>
          <p:cNvSpPr txBox="1"/>
          <p:nvPr/>
        </p:nvSpPr>
        <p:spPr>
          <a:xfrm>
            <a:off x="7863840" y="2148840"/>
            <a:ext cx="1737360" cy="54864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_firstAvailable</a:t>
            </a:r>
            <a:endParaRPr lang="ko-KR" altLang="en-US" sz="1200" dirty="0"/>
          </a:p>
        </p:txBody>
      </p:sp>
      <p:sp>
        <p:nvSpPr>
          <p:cNvPr id="12" name="box"/>
          <p:cNvSpPr/>
          <p:nvPr/>
        </p:nvSpPr>
        <p:spPr>
          <a:xfrm>
            <a:off x="8321040" y="2926080"/>
            <a:ext cx="822960" cy="347472"/>
          </a:xfrm>
          <a:prstGeom prst="roundRect">
            <a:avLst>
              <a:gd name="adj" fmla="val 21053"/>
            </a:avLst>
          </a:prstGeom>
          <a:solidFill>
            <a:schemeClr val="bg2"/>
          </a:solidFill>
          <a:ln w="12700">
            <a:solidFill>
              <a:schemeClr val="bg2"/>
            </a:solidFill>
            <a:prstDash val="solid"/>
          </a:ln>
        </p:spPr>
      </p:sp>
      <p:sp>
        <p:nvSpPr>
          <p:cNvPr id="13" name="Text 10"/>
          <p:cNvSpPr txBox="1"/>
          <p:nvPr/>
        </p:nvSpPr>
        <p:spPr>
          <a:xfrm>
            <a:off x="8321040" y="2926080"/>
            <a:ext cx="822960" cy="347472"/>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[0]</a:t>
            </a:r>
            <a:endParaRPr lang="ko-KR" altLang="en-US" sz="1200" dirty="0"/>
          </a:p>
        </p:txBody>
      </p:sp>
      <p:sp>
        <p:nvSpPr>
          <p:cNvPr id="14" name="box"/>
          <p:cNvSpPr/>
          <p:nvPr/>
        </p:nvSpPr>
        <p:spPr>
          <a:xfrm>
            <a:off x="8321040" y="3383280"/>
            <a:ext cx="822960" cy="347472"/>
          </a:xfrm>
          <a:prstGeom prst="roundRect">
            <a:avLst>
              <a:gd name="adj" fmla="val 21053"/>
            </a:avLst>
          </a:prstGeom>
          <a:solidFill>
            <a:schemeClr val="bg2"/>
          </a:solidFill>
          <a:ln w="12700">
            <a:solidFill>
              <a:schemeClr val="bg2"/>
            </a:solidFill>
            <a:prstDash val="solid"/>
          </a:ln>
        </p:spPr>
      </p:sp>
      <p:sp>
        <p:nvSpPr>
          <p:cNvPr id="15" name="Text 12"/>
          <p:cNvSpPr txBox="1"/>
          <p:nvPr/>
        </p:nvSpPr>
        <p:spPr>
          <a:xfrm>
            <a:off x="8321040" y="3383280"/>
            <a:ext cx="822960" cy="347472"/>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[1]</a:t>
            </a:r>
            <a:endParaRPr lang="ko-KR" altLang="en-US" sz="1200" dirty="0"/>
          </a:p>
        </p:txBody>
      </p:sp>
      <p:sp>
        <p:nvSpPr>
          <p:cNvPr id="16" name="box"/>
          <p:cNvSpPr/>
          <p:nvPr/>
        </p:nvSpPr>
        <p:spPr>
          <a:xfrm>
            <a:off x="8321040" y="3840480"/>
            <a:ext cx="822960" cy="347472"/>
          </a:xfrm>
          <a:prstGeom prst="roundRect">
            <a:avLst>
              <a:gd name="adj" fmla="val 21053"/>
            </a:avLst>
          </a:prstGeom>
          <a:solidFill>
            <a:schemeClr val="bg2"/>
          </a:solidFill>
          <a:ln w="12700">
            <a:solidFill>
              <a:schemeClr val="bg2"/>
            </a:solidFill>
            <a:prstDash val="solid"/>
          </a:ln>
        </p:spPr>
      </p:sp>
      <p:sp>
        <p:nvSpPr>
          <p:cNvPr id="17" name="Text 14"/>
          <p:cNvSpPr txBox="1"/>
          <p:nvPr/>
        </p:nvSpPr>
        <p:spPr>
          <a:xfrm>
            <a:off x="8321040" y="3840480"/>
            <a:ext cx="822960" cy="347472"/>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[2]</a:t>
            </a:r>
            <a:endParaRPr lang="ko-KR" altLang="en-US" sz="1200" dirty="0"/>
          </a:p>
        </p:txBody>
      </p:sp>
      <p:sp>
        <p:nvSpPr>
          <p:cNvPr id="18" name="Text 15"/>
          <p:cNvSpPr txBox="1"/>
          <p:nvPr/>
        </p:nvSpPr>
        <p:spPr>
          <a:xfrm>
            <a:off x="8321040" y="4297680"/>
            <a:ext cx="822960" cy="365760"/>
          </a:xfrm>
          <a:prstGeom prst="rect">
            <a:avLst/>
          </a:prstGeom>
          <a:noFill/>
          <a:ln/>
        </p:spPr>
        <p:txBody>
          <a:bodyPr wrap="square" lIns="0" tIns="0" rIns="0" bIns="0" rtlCol="0" anchor="t"/>
          <a:lstStyle/>
          <a:p>
            <a:pPr algn="ctr" indent="0" marL="0" eaLnBrk="0">
              <a:buNone/>
            </a:pPr>
            <a:r>
              <a:rPr lang="ko-KR" altLang="en-US" sz="1500" dirty="0">
                <a:solidFill>
                  <a:schemeClr val="accent5"/>
                </a:solidFill>
              </a:rPr>
              <a:t>⋮</a:t>
            </a:r>
            <a:endParaRPr lang="ko-KR" altLang="en-US" sz="1500" dirty="0"/>
          </a:p>
        </p:txBody>
      </p:sp>
      <p:sp>
        <p:nvSpPr>
          <p:cNvPr id="19" name="box"/>
          <p:cNvSpPr/>
          <p:nvPr/>
        </p:nvSpPr>
        <p:spPr>
          <a:xfrm>
            <a:off x="8321040" y="4754880"/>
            <a:ext cx="822960" cy="347472"/>
          </a:xfrm>
          <a:prstGeom prst="roundRect">
            <a:avLst>
              <a:gd name="adj" fmla="val 21053"/>
            </a:avLst>
          </a:prstGeom>
          <a:solidFill>
            <a:schemeClr val="bg2"/>
          </a:solidFill>
          <a:ln w="12700">
            <a:solidFill>
              <a:schemeClr val="bg2"/>
            </a:solidFill>
            <a:prstDash val="solid"/>
          </a:ln>
        </p:spPr>
      </p:sp>
      <p:sp>
        <p:nvSpPr>
          <p:cNvPr id="20" name="Text 17"/>
          <p:cNvSpPr txBox="1"/>
          <p:nvPr/>
        </p:nvSpPr>
        <p:spPr>
          <a:xfrm>
            <a:off x="8321040" y="4754880"/>
            <a:ext cx="822960" cy="347472"/>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[99]</a:t>
            </a:r>
            <a:endParaRPr lang="ko-KR" altLang="en-US" sz="1200" dirty="0"/>
          </a:p>
        </p:txBody>
      </p:sp>
      <p:sp>
        <p:nvSpPr>
          <p:cNvPr id="21" name="box"/>
          <p:cNvSpPr/>
          <p:nvPr/>
        </p:nvSpPr>
        <p:spPr>
          <a:xfrm>
            <a:off x="8321040" y="5212080"/>
            <a:ext cx="822960" cy="347472"/>
          </a:xfrm>
          <a:prstGeom prst="roundRect">
            <a:avLst>
              <a:gd name="adj" fmla="val 21053"/>
            </a:avLst>
          </a:prstGeom>
          <a:solidFill>
            <a:schemeClr val="bg1"/>
          </a:solidFill>
          <a:ln w="12700">
            <a:solidFill>
              <a:schemeClr val="bg1"/>
            </a:solidFill>
            <a:prstDash val="solid"/>
          </a:ln>
        </p:spPr>
      </p:sp>
      <p:sp>
        <p:nvSpPr>
          <p:cNvPr id="22" name="Text 19"/>
          <p:cNvSpPr txBox="1"/>
          <p:nvPr/>
        </p:nvSpPr>
        <p:spPr>
          <a:xfrm>
            <a:off x="8321040" y="5212080"/>
            <a:ext cx="822960" cy="347472"/>
          </a:xfrm>
          <a:prstGeom prst="rect">
            <a:avLst/>
          </a:prstGeom>
          <a:noFill/>
          <a:ln/>
        </p:spPr>
        <p:txBody>
          <a:bodyPr wrap="square" lIns="635" tIns="635" rIns="635" bIns="635" rtlCol="0" anchor="ctr"/>
          <a:lstStyle/>
          <a:p>
            <a:pPr algn="ctr" indent="0" marL="0" eaLnBrk="0">
              <a:buNone/>
            </a:pPr>
            <a:r>
              <a:rPr lang="ko-KR" altLang="en-US" sz="1200" b="1" dirty="0">
                <a:solidFill>
                  <a:schemeClr val="accent3"/>
                </a:solidFill>
              </a:rPr>
              <a:t>null</a:t>
            </a:r>
            <a:endParaRPr lang="ko-KR" altLang="en-US" sz="1200" dirty="0"/>
          </a:p>
        </p:txBody>
      </p:sp>
      <p:sp>
        <p:nvSpPr>
          <p:cNvPr id="23" name="Shape 20"/>
          <p:cNvSpPr/>
          <p:nvPr/>
        </p:nvSpPr>
        <p:spPr>
          <a:xfrm>
            <a:off x="8732520" y="2697480"/>
            <a:ext cx="914" cy="228600"/>
          </a:xfrm>
          <a:prstGeom prst="line">
            <a:avLst/>
          </a:prstGeom>
          <a:noFill/>
          <a:ln w="22225">
            <a:solidFill>
              <a:schemeClr val="accent2"/>
            </a:solidFill>
            <a:prstDash val="solid"/>
            <a:tailEnd type="triangle"/>
          </a:ln>
        </p:spPr>
      </p:sp>
      <p:sp>
        <p:nvSpPr>
          <p:cNvPr id="24" name="Text 21"/>
          <p:cNvSpPr txBox="1"/>
          <p:nvPr/>
        </p:nvSpPr>
        <p:spPr>
          <a:xfrm>
            <a:off x="9326880" y="3291840"/>
            <a:ext cx="2316175" cy="914400"/>
          </a:xfrm>
          <a:prstGeom prst="rect">
            <a:avLst/>
          </a:prstGeom>
          <a:noFill/>
          <a:ln/>
        </p:spPr>
        <p:txBody>
          <a:bodyPr wrap="square" lIns="0" tIns="0" rIns="0" bIns="0" rtlCol="0" anchor="t"/>
          <a:lstStyle/>
          <a:p>
            <a:pPr indent="0" marL="0" eaLnBrk="0">
              <a:buNone/>
            </a:pPr>
            <a:r>
              <a:rPr lang="ko-KR" altLang="en-US" sz="1300" dirty="0">
                <a:solidFill>
                  <a:schemeClr val="tx2"/>
                </a:solidFill>
              </a:rPr>
              <a:t>각 칸의 Next가 아래 칸을 가리킨다</a:t>
            </a:r>
            <a:endParaRPr lang="ko-KR" altLang="en-US" sz="1300" dirty="0"/>
          </a:p>
        </p:txBody>
      </p:sp>
      <p:sp>
        <p:nvSpPr>
          <p:cNvPr id="25" name="Text 22"/>
          <p:cNvSpPr txBox="1"/>
          <p:nvPr/>
        </p:nvSpPr>
        <p:spPr>
          <a:xfrm>
            <a:off x="548640" y="5394960"/>
            <a:ext cx="6949440" cy="365760"/>
          </a:xfrm>
          <a:prstGeom prst="rect">
            <a:avLst/>
          </a:prstGeom>
          <a:noFill/>
          <a:ln/>
        </p:spPr>
        <p:txBody>
          <a:bodyPr wrap="square" lIns="0" tIns="0" rIns="0" bIns="0" rtlCol="0" anchor="t"/>
          <a:lstStyle/>
          <a:p>
            <a:pPr indent="0" marL="0" eaLnBrk="0">
              <a:buNone/>
            </a:pPr>
            <a:r>
              <a:rPr lang="ko-KR" altLang="en-US" sz="1400" dirty="0">
                <a:solidFill>
                  <a:schemeClr val="tx2"/>
                </a:solidFill>
              </a:rPr>
              <a:t>ParticlePool에 필드 하나와 생성자의 연결 코드가 더해진다.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빈칸 목록의 Create</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Create는 목록의 맨 앞 파티클을 떼어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다 쓴 파티클은 어떻게 목록으로 돌아올까?</a:t>
            </a:r>
            <a:endParaRPr lang="ko-KR" altLang="en-US" sz="1500" dirty="0"/>
          </a:p>
        </p:txBody>
      </p:sp>
      <p:sp>
        <p:nvSpPr>
          <p:cNvPr id="6" name="codePanel"/>
          <p:cNvSpPr/>
          <p:nvPr/>
        </p:nvSpPr>
        <p:spPr>
          <a:xfrm>
            <a:off x="548640" y="1645920"/>
            <a:ext cx="6949440" cy="3200400"/>
          </a:xfrm>
          <a:prstGeom prst="roundRect">
            <a:avLst>
              <a:gd name="adj" fmla="val 2286"/>
            </a:avLst>
          </a:prstGeom>
          <a:solidFill>
            <a:schemeClr val="tx1"/>
          </a:solidFill>
          <a:ln w="12700">
            <a:solidFill>
              <a:schemeClr val="tx1"/>
            </a:solidFill>
            <a:prstDash val="solid"/>
          </a:ln>
        </p:spPr>
      </p:sp>
      <p:sp>
        <p:nvSpPr>
          <p:cNvPr id="7" name="code"/>
          <p:cNvSpPr txBox="1"/>
          <p:nvPr/>
        </p:nvSpPr>
        <p:spPr>
          <a:xfrm>
            <a:off x="658368" y="1737360"/>
            <a:ext cx="6729984" cy="301752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void Create(double x, double y,</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double xVel, double yVel, int lifetime)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풀이 가득 차 있지 않은지 확인한다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Debug.Assert(_firstAvailable != null);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빈칸 목록에서 맨 앞 파티클을 뗀다</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Particle newParticle = _firstAvailable;</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_firstAvailable = newParticle.Next;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newParticle.Init(x, y, xVel, yVel, lifetime);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3891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863840" y="1645920"/>
            <a:ext cx="3779215" cy="1600200"/>
          </a:xfrm>
          <a:prstGeom prst="roundRect">
            <a:avLst>
              <a:gd name="adj" fmla="val 5714"/>
            </a:avLst>
          </a:prstGeom>
          <a:solidFill>
            <a:schemeClr val="bg2"/>
          </a:solidFill>
          <a:ln w="12700">
            <a:solidFill>
              <a:schemeClr val="bg2"/>
            </a:solidFill>
            <a:prstDash val="solid"/>
          </a:ln>
        </p:spPr>
      </p:sp>
      <p:sp>
        <p:nvSpPr>
          <p:cNvPr id="10" name="Text 7"/>
          <p:cNvSpPr txBox="1"/>
          <p:nvPr/>
        </p:nvSpPr>
        <p:spPr>
          <a:xfrm>
            <a:off x="8092440" y="18653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훑지 않는다</a:t>
            </a:r>
            <a:endParaRPr lang="ko-KR" altLang="en-US" sz="1700" dirty="0"/>
          </a:p>
        </p:txBody>
      </p:sp>
      <p:sp>
        <p:nvSpPr>
          <p:cNvPr id="11" name="Text 8"/>
          <p:cNvSpPr txBox="1"/>
          <p:nvPr/>
        </p:nvSpPr>
        <p:spPr>
          <a:xfrm>
            <a:off x="8092440" y="2377440"/>
            <a:ext cx="332201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맨 앞 하나를 꺼내므로 늘 같은 시간이 걸린다.</a:t>
            </a:r>
            <a:endParaRPr lang="ko-KR" altLang="en-US" sz="1400" dirty="0"/>
          </a:p>
        </p:txBody>
      </p:sp>
      <p:sp>
        <p:nvSpPr>
          <p:cNvPr id="12" name="card"/>
          <p:cNvSpPr/>
          <p:nvPr/>
        </p:nvSpPr>
        <p:spPr>
          <a:xfrm>
            <a:off x="7863840" y="3429000"/>
            <a:ext cx="3779215" cy="1417320"/>
          </a:xfrm>
          <a:prstGeom prst="roundRect">
            <a:avLst>
              <a:gd name="adj" fmla="val 6452"/>
            </a:avLst>
          </a:prstGeom>
          <a:solidFill>
            <a:schemeClr val="bg2"/>
          </a:solidFill>
          <a:ln w="12700">
            <a:solidFill>
              <a:schemeClr val="bg2"/>
            </a:solidFill>
            <a:prstDash val="solid"/>
          </a:ln>
        </p:spPr>
      </p:sp>
      <p:sp>
        <p:nvSpPr>
          <p:cNvPr id="13" name="Text 10"/>
          <p:cNvSpPr txBox="1"/>
          <p:nvPr/>
        </p:nvSpPr>
        <p:spPr>
          <a:xfrm>
            <a:off x="8092440" y="364845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가득 차면</a:t>
            </a:r>
            <a:endParaRPr lang="ko-KR" altLang="en-US" sz="1700" dirty="0"/>
          </a:p>
        </p:txBody>
      </p:sp>
      <p:sp>
        <p:nvSpPr>
          <p:cNvPr id="14" name="Text 11"/>
          <p:cNvSpPr txBox="1"/>
          <p:nvPr/>
        </p:nvSpPr>
        <p:spPr>
          <a:xfrm>
            <a:off x="8092440" y="4160520"/>
            <a:ext cx="3322015"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_firstAvailable이 null이다.</a:t>
            </a:r>
            <a:endParaRPr lang="ko-KR" altLang="en-US" sz="1400" dirty="0"/>
          </a:p>
        </p:txBody>
      </p:sp>
      <p:sp>
        <p:nvSpPr>
          <p:cNvPr id="15" name="Text 12"/>
          <p:cNvSpPr txBox="1"/>
          <p:nvPr/>
        </p:nvSpPr>
        <p:spPr>
          <a:xfrm>
            <a:off x="548640" y="5074920"/>
            <a:ext cx="1109441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앞의 Create를 대신한다. Debug.Assert는 System.Diagnostics의 확인 메서드이다.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반납</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수명이 끝난 파티클을 목록의 맨 앞에 다시 넣는다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생성과 반납이 섞이면 목록의 맨 앞은 어떻게 바뀔까?</a:t>
            </a:r>
            <a:endParaRPr lang="ko-KR" altLang="en-US" sz="1500" dirty="0"/>
          </a:p>
        </p:txBody>
      </p:sp>
      <p:sp>
        <p:nvSpPr>
          <p:cNvPr id="6" name="codePanel"/>
          <p:cNvSpPr/>
          <p:nvPr/>
        </p:nvSpPr>
        <p:spPr>
          <a:xfrm>
            <a:off x="548640" y="1645920"/>
            <a:ext cx="5120640" cy="3291840"/>
          </a:xfrm>
          <a:prstGeom prst="roundRect">
            <a:avLst>
              <a:gd name="adj" fmla="val 2222"/>
            </a:avLst>
          </a:prstGeom>
          <a:solidFill>
            <a:schemeClr val="tx1"/>
          </a:solidFill>
          <a:ln w="12700">
            <a:solidFill>
              <a:schemeClr val="tx1"/>
            </a:solidFill>
            <a:prstDash val="solid"/>
          </a:ln>
        </p:spPr>
      </p:sp>
      <p:sp>
        <p:nvSpPr>
          <p:cNvPr id="7" name="code"/>
          <p:cNvSpPr txBox="1"/>
          <p:nvPr/>
        </p:nvSpPr>
        <p:spPr>
          <a:xfrm>
            <a:off x="658368" y="1737360"/>
            <a:ext cx="4901184" cy="3108960"/>
          </a:xfrm>
          <a:prstGeom prst="rect">
            <a:avLst/>
          </a:prstGeom>
          <a:noFill/>
          <a:ln/>
        </p:spPr>
        <p:txBody>
          <a:bodyPr wrap="square" lIns="635" tIns="635" rIns="635" bIns="635" rtlCol="0" anchor="t"/>
          <a:lstStyle/>
          <a:p>
            <a:pPr indent="0" marL="0" eaLnBrk="0">
              <a:buNone/>
            </a:pPr>
            <a:r>
              <a:rPr lang="ko-KR" altLang="en-US" sz="1250" dirty="0">
                <a:solidFill>
                  <a:schemeClr val="accent3"/>
                </a:solidFill>
                <a:latin typeface="Consolas" pitchFamily="34" charset="0"/>
                <a:ea typeface="Consolas" pitchFamily="34" charset="-122"/>
                <a:cs typeface="Consolas" pitchFamily="34" charset="-120"/>
              </a:rPr>
              <a:t>// Particle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bool Animate()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if (!InUse) return false;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_framesLeft--;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_x += _xVel;</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_y += _yVel;</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accent3"/>
                </a:solidFill>
                <a:latin typeface="Consolas" pitchFamily="34" charset="0"/>
                <a:ea typeface="Consolas" pitchFamily="34" charset="-122"/>
                <a:cs typeface="Consolas" pitchFamily="34" charset="-120"/>
              </a:rPr>
              <a:t>    // 이번 프레임에 수명이 끝났다</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return _framesLeft == 0;</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8" name="codePanel"/>
          <p:cNvSpPr/>
          <p:nvPr/>
        </p:nvSpPr>
        <p:spPr>
          <a:xfrm>
            <a:off x="5897880" y="1645920"/>
            <a:ext cx="5745175" cy="3291840"/>
          </a:xfrm>
          <a:prstGeom prst="roundRect">
            <a:avLst>
              <a:gd name="adj" fmla="val 2222"/>
            </a:avLst>
          </a:prstGeom>
          <a:solidFill>
            <a:schemeClr val="tx1"/>
          </a:solidFill>
          <a:ln w="12700">
            <a:solidFill>
              <a:schemeClr val="tx1"/>
            </a:solidFill>
            <a:prstDash val="solid"/>
          </a:ln>
        </p:spPr>
      </p:sp>
      <p:sp>
        <p:nvSpPr>
          <p:cNvPr id="9" name="code"/>
          <p:cNvSpPr txBox="1"/>
          <p:nvPr/>
        </p:nvSpPr>
        <p:spPr>
          <a:xfrm>
            <a:off x="6007608" y="1737360"/>
            <a:ext cx="5525719" cy="3108960"/>
          </a:xfrm>
          <a:prstGeom prst="rect">
            <a:avLst/>
          </a:prstGeom>
          <a:noFill/>
          <a:ln/>
        </p:spPr>
        <p:txBody>
          <a:bodyPr wrap="square" lIns="635" tIns="635" rIns="635" bIns="635" rtlCol="0" anchor="t"/>
          <a:lstStyle/>
          <a:p>
            <a:pPr indent="0" marL="0" eaLnBrk="0">
              <a:buNone/>
            </a:pPr>
            <a:r>
              <a:rPr lang="ko-KR" altLang="en-US" sz="1250" dirty="0">
                <a:solidFill>
                  <a:schemeClr val="accent3"/>
                </a:solidFill>
                <a:latin typeface="Consolas" pitchFamily="34" charset="0"/>
                <a:ea typeface="Consolas" pitchFamily="34" charset="-122"/>
                <a:cs typeface="Consolas" pitchFamily="34" charset="-120"/>
              </a:rPr>
              <a:t>// ParticlePool</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void Animate()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for (int i = 0; i &lt; PoolSize; i++)</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if (_particles[i].Animate())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accent3"/>
                </a:solidFill>
                <a:latin typeface="Consolas" pitchFamily="34" charset="0"/>
                <a:ea typeface="Consolas" pitchFamily="34" charset="-122"/>
                <a:cs typeface="Consolas" pitchFamily="34" charset="-120"/>
              </a:rPr>
              <a:t>            // 목록의 맨 앞에 넣는다</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_particles[i].Next = _firstAvailable;</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_firstAvailable = _particles[i];</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10" name="Text 7"/>
          <p:cNvSpPr txBox="1"/>
          <p:nvPr/>
        </p:nvSpPr>
        <p:spPr>
          <a:xfrm>
            <a:off x="548640" y="4983480"/>
            <a:ext cx="11094415"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11" name="Text 8"/>
          <p:cNvSpPr txBox="1"/>
          <p:nvPr/>
        </p:nvSpPr>
        <p:spPr>
          <a:xfrm>
            <a:off x="548640" y="5303520"/>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반납은 맨 앞에 넣기, 생성은 맨 앞에서 꺼내기이다. 둘 다 배열을 훑지 않는다.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그림으로 보기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생성하면 맨 앞이 뒤로, 반납하면 반납된 파티클이 맨 앞이 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생성과 반납을 몇 번 더 섞으면 맨 앞은 어디로 갈까?</a:t>
            </a:r>
            <a:endParaRPr lang="ko-KR" altLang="en-US" sz="1500" dirty="0"/>
          </a:p>
        </p:txBody>
      </p:sp>
      <p:sp>
        <p:nvSpPr>
          <p:cNvPr id="6" name="Text 3"/>
          <p:cNvSpPr txBox="1"/>
          <p:nvPr/>
        </p:nvSpPr>
        <p:spPr>
          <a:xfrm>
            <a:off x="2560320" y="1600200"/>
            <a:ext cx="5376672" cy="320040"/>
          </a:xfrm>
          <a:prstGeom prst="rect">
            <a:avLst/>
          </a:prstGeom>
          <a:noFill/>
          <a:ln/>
        </p:spPr>
        <p:txBody>
          <a:bodyPr wrap="square" lIns="0" tIns="0" rIns="0" bIns="0" rtlCol="0" anchor="t"/>
          <a:lstStyle/>
          <a:p>
            <a:pPr indent="0" marL="0" eaLnBrk="0">
              <a:buNone/>
            </a:pPr>
            <a:r>
              <a:rPr lang="ko-KR" altLang="en-US" sz="1300" b="1" dirty="0">
                <a:solidFill>
                  <a:schemeClr val="accent5"/>
                </a:solidFill>
              </a:rPr>
              <a:t>칸과 Next</a:t>
            </a:r>
            <a:endParaRPr lang="ko-KR" altLang="en-US" sz="1300" dirty="0"/>
          </a:p>
        </p:txBody>
      </p:sp>
      <p:sp>
        <p:nvSpPr>
          <p:cNvPr id="7" name="Text 4"/>
          <p:cNvSpPr txBox="1"/>
          <p:nvPr/>
        </p:nvSpPr>
        <p:spPr>
          <a:xfrm>
            <a:off x="7955280" y="1600200"/>
            <a:ext cx="914400" cy="320040"/>
          </a:xfrm>
          <a:prstGeom prst="rect">
            <a:avLst/>
          </a:prstGeom>
          <a:noFill/>
          <a:ln/>
        </p:spPr>
        <p:txBody>
          <a:bodyPr wrap="square" lIns="0" tIns="0" rIns="0" bIns="0" rtlCol="0" anchor="t"/>
          <a:lstStyle/>
          <a:p>
            <a:pPr indent="0" marL="0" eaLnBrk="0">
              <a:buNone/>
            </a:pPr>
            <a:r>
              <a:rPr lang="ko-KR" altLang="en-US" sz="1300" b="1" dirty="0">
                <a:solidFill>
                  <a:schemeClr val="accent5"/>
                </a:solidFill>
              </a:rPr>
              <a:t>맨 앞</a:t>
            </a:r>
            <a:endParaRPr lang="ko-KR" altLang="en-US" sz="1300" dirty="0"/>
          </a:p>
        </p:txBody>
      </p:sp>
      <p:sp>
        <p:nvSpPr>
          <p:cNvPr id="8" name="Text 5"/>
          <p:cNvSpPr txBox="1"/>
          <p:nvPr/>
        </p:nvSpPr>
        <p:spPr>
          <a:xfrm>
            <a:off x="8961120" y="1600200"/>
            <a:ext cx="2651760" cy="320040"/>
          </a:xfrm>
          <a:prstGeom prst="rect">
            <a:avLst/>
          </a:prstGeom>
          <a:noFill/>
          <a:ln/>
        </p:spPr>
        <p:txBody>
          <a:bodyPr wrap="square" lIns="0" tIns="0" rIns="0" bIns="0" rtlCol="0" anchor="t"/>
          <a:lstStyle/>
          <a:p>
            <a:pPr indent="0" marL="0" eaLnBrk="0">
              <a:buNone/>
            </a:pPr>
            <a:r>
              <a:rPr lang="ko-KR" altLang="en-US" sz="1300" b="1" dirty="0">
                <a:solidFill>
                  <a:schemeClr val="accent5"/>
                </a:solidFill>
              </a:rPr>
              <a:t>빈칸 목록</a:t>
            </a:r>
            <a:endParaRPr lang="ko-KR" altLang="en-US" sz="1300" dirty="0"/>
          </a:p>
        </p:txBody>
      </p:sp>
      <p:sp>
        <p:nvSpPr>
          <p:cNvPr id="9" name="Text 6"/>
          <p:cNvSpPr txBox="1"/>
          <p:nvPr/>
        </p:nvSpPr>
        <p:spPr>
          <a:xfrm>
            <a:off x="548640" y="2011680"/>
            <a:ext cx="1920240" cy="868680"/>
          </a:xfrm>
          <a:prstGeom prst="rect">
            <a:avLst/>
          </a:prstGeom>
          <a:noFill/>
          <a:ln/>
        </p:spPr>
        <p:txBody>
          <a:bodyPr wrap="square" lIns="0" tIns="0" rIns="0" bIns="0" rtlCol="0" anchor="ctr"/>
          <a:lstStyle/>
          <a:p>
            <a:pPr indent="0" marL="0" eaLnBrk="0">
              <a:buNone/>
            </a:pPr>
            <a:r>
              <a:rPr lang="ko-KR" altLang="en-US" sz="1500" b="1" dirty="0">
                <a:solidFill>
                  <a:schemeClr val="tx1"/>
                </a:solidFill>
              </a:rPr>
              <a:t>처음</a:t>
            </a:r>
            <a:endParaRPr lang="ko-KR" altLang="en-US" sz="1500" dirty="0"/>
          </a:p>
        </p:txBody>
      </p:sp>
      <p:sp>
        <p:nvSpPr>
          <p:cNvPr id="10" name="box"/>
          <p:cNvSpPr/>
          <p:nvPr/>
        </p:nvSpPr>
        <p:spPr>
          <a:xfrm>
            <a:off x="2560320" y="2011680"/>
            <a:ext cx="1234440" cy="868680"/>
          </a:xfrm>
          <a:prstGeom prst="roundRect">
            <a:avLst>
              <a:gd name="adj" fmla="val 8421"/>
            </a:avLst>
          </a:prstGeom>
          <a:solidFill>
            <a:schemeClr val="bg2"/>
          </a:solidFill>
          <a:ln w="12700">
            <a:solidFill>
              <a:schemeClr val="bg2"/>
            </a:solidFill>
            <a:prstDash val="solid"/>
          </a:ln>
        </p:spPr>
      </p:sp>
      <p:sp>
        <p:nvSpPr>
          <p:cNvPr id="11" name="Text 8"/>
          <p:cNvSpPr txBox="1"/>
          <p:nvPr/>
        </p:nvSpPr>
        <p:spPr>
          <a:xfrm>
            <a:off x="2560320" y="201168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[0]</a:t>
            </a:r>
            <a:endParaRPr lang="ko-KR" altLang="en-US" sz="1200" dirty="0"/>
          </a:p>
          <a:p>
            <a:pPr algn="ctr" indent="0" marL="0" eaLnBrk="0">
              <a:buNone/>
            </a:pPr>
            <a:r>
              <a:rPr lang="ko-KR" altLang="en-US" sz="1200" b="1" dirty="0">
                <a:solidFill>
                  <a:schemeClr val="tx2"/>
                </a:solidFill>
              </a:rPr>
              <a:t>Next → [1]</a:t>
            </a:r>
            <a:endParaRPr lang="ko-KR" altLang="en-US" sz="1200" dirty="0"/>
          </a:p>
        </p:txBody>
      </p:sp>
      <p:sp>
        <p:nvSpPr>
          <p:cNvPr id="12" name="box"/>
          <p:cNvSpPr/>
          <p:nvPr/>
        </p:nvSpPr>
        <p:spPr>
          <a:xfrm>
            <a:off x="3904488" y="2011680"/>
            <a:ext cx="1234440" cy="868680"/>
          </a:xfrm>
          <a:prstGeom prst="roundRect">
            <a:avLst>
              <a:gd name="adj" fmla="val 8421"/>
            </a:avLst>
          </a:prstGeom>
          <a:solidFill>
            <a:schemeClr val="bg2"/>
          </a:solidFill>
          <a:ln w="12700">
            <a:solidFill>
              <a:schemeClr val="bg2"/>
            </a:solidFill>
            <a:prstDash val="solid"/>
          </a:ln>
        </p:spPr>
      </p:sp>
      <p:sp>
        <p:nvSpPr>
          <p:cNvPr id="13" name="Text 10"/>
          <p:cNvSpPr txBox="1"/>
          <p:nvPr/>
        </p:nvSpPr>
        <p:spPr>
          <a:xfrm>
            <a:off x="3904488" y="201168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[1]</a:t>
            </a:r>
            <a:endParaRPr lang="ko-KR" altLang="en-US" sz="1200" dirty="0"/>
          </a:p>
          <a:p>
            <a:pPr algn="ctr" indent="0" marL="0" eaLnBrk="0">
              <a:buNone/>
            </a:pPr>
            <a:r>
              <a:rPr lang="ko-KR" altLang="en-US" sz="1200" b="1" dirty="0">
                <a:solidFill>
                  <a:schemeClr val="tx2"/>
                </a:solidFill>
              </a:rPr>
              <a:t>Next → [2]</a:t>
            </a:r>
            <a:endParaRPr lang="ko-KR" altLang="en-US" sz="1200" dirty="0"/>
          </a:p>
        </p:txBody>
      </p:sp>
      <p:sp>
        <p:nvSpPr>
          <p:cNvPr id="14" name="box"/>
          <p:cNvSpPr/>
          <p:nvPr/>
        </p:nvSpPr>
        <p:spPr>
          <a:xfrm>
            <a:off x="5248656" y="2011680"/>
            <a:ext cx="1234440" cy="868680"/>
          </a:xfrm>
          <a:prstGeom prst="roundRect">
            <a:avLst>
              <a:gd name="adj" fmla="val 8421"/>
            </a:avLst>
          </a:prstGeom>
          <a:solidFill>
            <a:schemeClr val="bg2"/>
          </a:solidFill>
          <a:ln w="12700">
            <a:solidFill>
              <a:schemeClr val="bg2"/>
            </a:solidFill>
            <a:prstDash val="solid"/>
          </a:ln>
        </p:spPr>
      </p:sp>
      <p:sp>
        <p:nvSpPr>
          <p:cNvPr id="15" name="Text 12"/>
          <p:cNvSpPr txBox="1"/>
          <p:nvPr/>
        </p:nvSpPr>
        <p:spPr>
          <a:xfrm>
            <a:off x="5248656" y="201168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[2]</a:t>
            </a:r>
            <a:endParaRPr lang="ko-KR" altLang="en-US" sz="1200" dirty="0"/>
          </a:p>
          <a:p>
            <a:pPr algn="ctr" indent="0" marL="0" eaLnBrk="0">
              <a:buNone/>
            </a:pPr>
            <a:r>
              <a:rPr lang="ko-KR" altLang="en-US" sz="1200" b="1" dirty="0">
                <a:solidFill>
                  <a:schemeClr val="tx2"/>
                </a:solidFill>
              </a:rPr>
              <a:t>Next → [3]</a:t>
            </a:r>
            <a:endParaRPr lang="ko-KR" altLang="en-US" sz="1200" dirty="0"/>
          </a:p>
        </p:txBody>
      </p:sp>
      <p:sp>
        <p:nvSpPr>
          <p:cNvPr id="16" name="box"/>
          <p:cNvSpPr/>
          <p:nvPr/>
        </p:nvSpPr>
        <p:spPr>
          <a:xfrm>
            <a:off x="6592824" y="2011680"/>
            <a:ext cx="1234440" cy="868680"/>
          </a:xfrm>
          <a:prstGeom prst="roundRect">
            <a:avLst>
              <a:gd name="adj" fmla="val 8421"/>
            </a:avLst>
          </a:prstGeom>
          <a:solidFill>
            <a:schemeClr val="bg2"/>
          </a:solidFill>
          <a:ln w="12700">
            <a:solidFill>
              <a:schemeClr val="bg2"/>
            </a:solidFill>
            <a:prstDash val="solid"/>
          </a:ln>
        </p:spPr>
      </p:sp>
      <p:sp>
        <p:nvSpPr>
          <p:cNvPr id="17" name="Text 14"/>
          <p:cNvSpPr txBox="1"/>
          <p:nvPr/>
        </p:nvSpPr>
        <p:spPr>
          <a:xfrm>
            <a:off x="6592824" y="201168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[3]</a:t>
            </a:r>
            <a:endParaRPr lang="ko-KR" altLang="en-US" sz="1200" dirty="0"/>
          </a:p>
          <a:p>
            <a:pPr algn="ctr" indent="0" marL="0" eaLnBrk="0">
              <a:buNone/>
            </a:pPr>
            <a:r>
              <a:rPr lang="ko-KR" altLang="en-US" sz="1200" b="1" dirty="0">
                <a:solidFill>
                  <a:schemeClr val="tx2"/>
                </a:solidFill>
              </a:rPr>
              <a:t>Next → null</a:t>
            </a:r>
            <a:endParaRPr lang="ko-KR" altLang="en-US" sz="1200" dirty="0"/>
          </a:p>
        </p:txBody>
      </p:sp>
      <p:sp>
        <p:nvSpPr>
          <p:cNvPr id="18" name="box"/>
          <p:cNvSpPr/>
          <p:nvPr/>
        </p:nvSpPr>
        <p:spPr>
          <a:xfrm>
            <a:off x="7955280" y="2167128"/>
            <a:ext cx="822960" cy="548640"/>
          </a:xfrm>
          <a:prstGeom prst="roundRect">
            <a:avLst>
              <a:gd name="adj" fmla="val 13333"/>
            </a:avLst>
          </a:prstGeom>
          <a:solidFill>
            <a:schemeClr val="accent2"/>
          </a:solidFill>
          <a:ln w="12700">
            <a:solidFill>
              <a:schemeClr val="accent2"/>
            </a:solidFill>
            <a:prstDash val="solid"/>
          </a:ln>
        </p:spPr>
      </p:sp>
      <p:sp>
        <p:nvSpPr>
          <p:cNvPr id="19" name="Text 16"/>
          <p:cNvSpPr txBox="1"/>
          <p:nvPr/>
        </p:nvSpPr>
        <p:spPr>
          <a:xfrm>
            <a:off x="7955280" y="2167128"/>
            <a:ext cx="822960" cy="54864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[0]</a:t>
            </a:r>
            <a:endParaRPr lang="ko-KR" altLang="en-US" sz="1400" dirty="0"/>
          </a:p>
        </p:txBody>
      </p:sp>
      <p:sp>
        <p:nvSpPr>
          <p:cNvPr id="20" name="Text 17"/>
          <p:cNvSpPr txBox="1"/>
          <p:nvPr/>
        </p:nvSpPr>
        <p:spPr>
          <a:xfrm>
            <a:off x="8961120" y="2011680"/>
            <a:ext cx="2681935" cy="868680"/>
          </a:xfrm>
          <a:prstGeom prst="rect">
            <a:avLst/>
          </a:prstGeom>
          <a:noFill/>
          <a:ln/>
        </p:spPr>
        <p:txBody>
          <a:bodyPr wrap="square" lIns="0" tIns="0" rIns="0" bIns="0" rtlCol="0" anchor="ctr"/>
          <a:lstStyle/>
          <a:p>
            <a:pPr indent="0" marL="0" eaLnBrk="0">
              <a:buNone/>
            </a:pPr>
            <a:r>
              <a:rPr lang="ko-KR" altLang="en-US" sz="1300" dirty="0">
                <a:solidFill>
                  <a:schemeClr val="tx2"/>
                </a:solidFill>
              </a:rPr>
              <a:t>[0] → [1] → [2] → [3] → null</a:t>
            </a:r>
            <a:endParaRPr lang="ko-KR" altLang="en-US" sz="1300" dirty="0"/>
          </a:p>
        </p:txBody>
      </p:sp>
      <p:sp>
        <p:nvSpPr>
          <p:cNvPr id="21" name="Text 18"/>
          <p:cNvSpPr txBox="1"/>
          <p:nvPr/>
        </p:nvSpPr>
        <p:spPr>
          <a:xfrm>
            <a:off x="548640" y="3200400"/>
            <a:ext cx="1920240" cy="868680"/>
          </a:xfrm>
          <a:prstGeom prst="rect">
            <a:avLst/>
          </a:prstGeom>
          <a:noFill/>
          <a:ln/>
        </p:spPr>
        <p:txBody>
          <a:bodyPr wrap="square" lIns="0" tIns="0" rIns="0" bIns="0" rtlCol="0" anchor="ctr"/>
          <a:lstStyle/>
          <a:p>
            <a:pPr indent="0" marL="0" eaLnBrk="0">
              <a:buNone/>
            </a:pPr>
            <a:r>
              <a:rPr lang="ko-KR" altLang="en-US" sz="1500" b="1" dirty="0">
                <a:solidFill>
                  <a:schemeClr val="tx1"/>
                </a:solidFill>
              </a:rPr>
              <a:t>A, B를 생성</a:t>
            </a:r>
            <a:endParaRPr lang="ko-KR" altLang="en-US" sz="1500" dirty="0"/>
          </a:p>
        </p:txBody>
      </p:sp>
      <p:sp>
        <p:nvSpPr>
          <p:cNvPr id="22" name="box"/>
          <p:cNvSpPr/>
          <p:nvPr/>
        </p:nvSpPr>
        <p:spPr>
          <a:xfrm>
            <a:off x="2560320" y="3200400"/>
            <a:ext cx="1234440" cy="868680"/>
          </a:xfrm>
          <a:prstGeom prst="roundRect">
            <a:avLst>
              <a:gd name="adj" fmla="val 8421"/>
            </a:avLst>
          </a:prstGeom>
          <a:solidFill>
            <a:schemeClr val="accent1"/>
          </a:solidFill>
          <a:ln w="12700">
            <a:solidFill>
              <a:schemeClr val="accent1"/>
            </a:solidFill>
            <a:prstDash val="solid"/>
          </a:ln>
        </p:spPr>
      </p:sp>
      <p:sp>
        <p:nvSpPr>
          <p:cNvPr id="23" name="Text 20"/>
          <p:cNvSpPr txBox="1"/>
          <p:nvPr/>
        </p:nvSpPr>
        <p:spPr>
          <a:xfrm>
            <a:off x="2560320" y="320040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[0]</a:t>
            </a:r>
            <a:endParaRPr lang="ko-KR" altLang="en-US" sz="1200" dirty="0"/>
          </a:p>
          <a:p>
            <a:pPr algn="ctr" indent="0" marL="0" eaLnBrk="0">
              <a:buNone/>
            </a:pPr>
            <a:r>
              <a:rPr lang="ko-KR" altLang="en-US" sz="1200" b="1" dirty="0">
                <a:solidFill>
                  <a:schemeClr val="bg1"/>
                </a:solidFill>
              </a:rPr>
              <a:t>A 사용 중</a:t>
            </a:r>
            <a:endParaRPr lang="ko-KR" altLang="en-US" sz="1200" dirty="0"/>
          </a:p>
        </p:txBody>
      </p:sp>
      <p:sp>
        <p:nvSpPr>
          <p:cNvPr id="24" name="box"/>
          <p:cNvSpPr/>
          <p:nvPr/>
        </p:nvSpPr>
        <p:spPr>
          <a:xfrm>
            <a:off x="3904488" y="3200400"/>
            <a:ext cx="1234440" cy="868680"/>
          </a:xfrm>
          <a:prstGeom prst="roundRect">
            <a:avLst>
              <a:gd name="adj" fmla="val 8421"/>
            </a:avLst>
          </a:prstGeom>
          <a:solidFill>
            <a:schemeClr val="accent1"/>
          </a:solidFill>
          <a:ln w="12700">
            <a:solidFill>
              <a:schemeClr val="accent1"/>
            </a:solidFill>
            <a:prstDash val="solid"/>
          </a:ln>
        </p:spPr>
      </p:sp>
      <p:sp>
        <p:nvSpPr>
          <p:cNvPr id="25" name="Text 22"/>
          <p:cNvSpPr txBox="1"/>
          <p:nvPr/>
        </p:nvSpPr>
        <p:spPr>
          <a:xfrm>
            <a:off x="3904488" y="320040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[1]</a:t>
            </a:r>
            <a:endParaRPr lang="ko-KR" altLang="en-US" sz="1200" dirty="0"/>
          </a:p>
          <a:p>
            <a:pPr algn="ctr" indent="0" marL="0" eaLnBrk="0">
              <a:buNone/>
            </a:pPr>
            <a:r>
              <a:rPr lang="ko-KR" altLang="en-US" sz="1200" b="1" dirty="0">
                <a:solidFill>
                  <a:schemeClr val="bg1"/>
                </a:solidFill>
              </a:rPr>
              <a:t>B 사용 중</a:t>
            </a:r>
            <a:endParaRPr lang="ko-KR" altLang="en-US" sz="1200" dirty="0"/>
          </a:p>
        </p:txBody>
      </p:sp>
      <p:sp>
        <p:nvSpPr>
          <p:cNvPr id="26" name="box"/>
          <p:cNvSpPr/>
          <p:nvPr/>
        </p:nvSpPr>
        <p:spPr>
          <a:xfrm>
            <a:off x="5248656" y="3200400"/>
            <a:ext cx="1234440" cy="868680"/>
          </a:xfrm>
          <a:prstGeom prst="roundRect">
            <a:avLst>
              <a:gd name="adj" fmla="val 8421"/>
            </a:avLst>
          </a:prstGeom>
          <a:solidFill>
            <a:schemeClr val="bg2"/>
          </a:solidFill>
          <a:ln w="12700">
            <a:solidFill>
              <a:schemeClr val="bg2"/>
            </a:solidFill>
            <a:prstDash val="solid"/>
          </a:ln>
        </p:spPr>
      </p:sp>
      <p:sp>
        <p:nvSpPr>
          <p:cNvPr id="27" name="Text 24"/>
          <p:cNvSpPr txBox="1"/>
          <p:nvPr/>
        </p:nvSpPr>
        <p:spPr>
          <a:xfrm>
            <a:off x="5248656" y="320040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[2]</a:t>
            </a:r>
            <a:endParaRPr lang="ko-KR" altLang="en-US" sz="1200" dirty="0"/>
          </a:p>
          <a:p>
            <a:pPr algn="ctr" indent="0" marL="0" eaLnBrk="0">
              <a:buNone/>
            </a:pPr>
            <a:r>
              <a:rPr lang="ko-KR" altLang="en-US" sz="1200" b="1" dirty="0">
                <a:solidFill>
                  <a:schemeClr val="tx2"/>
                </a:solidFill>
              </a:rPr>
              <a:t>Next → [3]</a:t>
            </a:r>
            <a:endParaRPr lang="ko-KR" altLang="en-US" sz="1200" dirty="0"/>
          </a:p>
        </p:txBody>
      </p:sp>
      <p:sp>
        <p:nvSpPr>
          <p:cNvPr id="28" name="box"/>
          <p:cNvSpPr/>
          <p:nvPr/>
        </p:nvSpPr>
        <p:spPr>
          <a:xfrm>
            <a:off x="6592824" y="3200400"/>
            <a:ext cx="1234440" cy="868680"/>
          </a:xfrm>
          <a:prstGeom prst="roundRect">
            <a:avLst>
              <a:gd name="adj" fmla="val 8421"/>
            </a:avLst>
          </a:prstGeom>
          <a:solidFill>
            <a:schemeClr val="bg2"/>
          </a:solidFill>
          <a:ln w="12700">
            <a:solidFill>
              <a:schemeClr val="bg2"/>
            </a:solidFill>
            <a:prstDash val="solid"/>
          </a:ln>
        </p:spPr>
      </p:sp>
      <p:sp>
        <p:nvSpPr>
          <p:cNvPr id="29" name="Text 26"/>
          <p:cNvSpPr txBox="1"/>
          <p:nvPr/>
        </p:nvSpPr>
        <p:spPr>
          <a:xfrm>
            <a:off x="6592824" y="320040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[3]</a:t>
            </a:r>
            <a:endParaRPr lang="ko-KR" altLang="en-US" sz="1200" dirty="0"/>
          </a:p>
          <a:p>
            <a:pPr algn="ctr" indent="0" marL="0" eaLnBrk="0">
              <a:buNone/>
            </a:pPr>
            <a:r>
              <a:rPr lang="ko-KR" altLang="en-US" sz="1200" b="1" dirty="0">
                <a:solidFill>
                  <a:schemeClr val="tx2"/>
                </a:solidFill>
              </a:rPr>
              <a:t>Next → null</a:t>
            </a:r>
            <a:endParaRPr lang="ko-KR" altLang="en-US" sz="1200" dirty="0"/>
          </a:p>
        </p:txBody>
      </p:sp>
      <p:sp>
        <p:nvSpPr>
          <p:cNvPr id="30" name="box"/>
          <p:cNvSpPr/>
          <p:nvPr/>
        </p:nvSpPr>
        <p:spPr>
          <a:xfrm>
            <a:off x="7955280" y="3355848"/>
            <a:ext cx="822960" cy="548640"/>
          </a:xfrm>
          <a:prstGeom prst="roundRect">
            <a:avLst>
              <a:gd name="adj" fmla="val 13333"/>
            </a:avLst>
          </a:prstGeom>
          <a:solidFill>
            <a:schemeClr val="accent2"/>
          </a:solidFill>
          <a:ln w="12700">
            <a:solidFill>
              <a:schemeClr val="accent2"/>
            </a:solidFill>
            <a:prstDash val="solid"/>
          </a:ln>
        </p:spPr>
      </p:sp>
      <p:sp>
        <p:nvSpPr>
          <p:cNvPr id="31" name="Text 28"/>
          <p:cNvSpPr txBox="1"/>
          <p:nvPr/>
        </p:nvSpPr>
        <p:spPr>
          <a:xfrm>
            <a:off x="7955280" y="3355848"/>
            <a:ext cx="822960" cy="54864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[2]</a:t>
            </a:r>
            <a:endParaRPr lang="ko-KR" altLang="en-US" sz="1400" dirty="0"/>
          </a:p>
        </p:txBody>
      </p:sp>
      <p:sp>
        <p:nvSpPr>
          <p:cNvPr id="32" name="Text 29"/>
          <p:cNvSpPr txBox="1"/>
          <p:nvPr/>
        </p:nvSpPr>
        <p:spPr>
          <a:xfrm>
            <a:off x="8961120" y="3200400"/>
            <a:ext cx="2681935" cy="868680"/>
          </a:xfrm>
          <a:prstGeom prst="rect">
            <a:avLst/>
          </a:prstGeom>
          <a:noFill/>
          <a:ln/>
        </p:spPr>
        <p:txBody>
          <a:bodyPr wrap="square" lIns="0" tIns="0" rIns="0" bIns="0" rtlCol="0" anchor="ctr"/>
          <a:lstStyle/>
          <a:p>
            <a:pPr indent="0" marL="0" eaLnBrk="0">
              <a:buNone/>
            </a:pPr>
            <a:r>
              <a:rPr lang="ko-KR" altLang="en-US" sz="1300" dirty="0">
                <a:solidFill>
                  <a:schemeClr val="tx2"/>
                </a:solidFill>
              </a:rPr>
              <a:t>[2] → [3] → null</a:t>
            </a:r>
            <a:endParaRPr lang="ko-KR" altLang="en-US" sz="1300" dirty="0"/>
          </a:p>
        </p:txBody>
      </p:sp>
      <p:sp>
        <p:nvSpPr>
          <p:cNvPr id="33" name="Text 30"/>
          <p:cNvSpPr txBox="1"/>
          <p:nvPr/>
        </p:nvSpPr>
        <p:spPr>
          <a:xfrm>
            <a:off x="548640" y="4389120"/>
            <a:ext cx="1920240" cy="868680"/>
          </a:xfrm>
          <a:prstGeom prst="rect">
            <a:avLst/>
          </a:prstGeom>
          <a:noFill/>
          <a:ln/>
        </p:spPr>
        <p:txBody>
          <a:bodyPr wrap="square" lIns="0" tIns="0" rIns="0" bIns="0" rtlCol="0" anchor="ctr"/>
          <a:lstStyle/>
          <a:p>
            <a:pPr indent="0" marL="0" eaLnBrk="0">
              <a:buNone/>
            </a:pPr>
            <a:r>
              <a:rPr lang="ko-KR" altLang="en-US" sz="1500" b="1" dirty="0">
                <a:solidFill>
                  <a:schemeClr val="tx1"/>
                </a:solidFill>
              </a:rPr>
              <a:t>A를 반납</a:t>
            </a:r>
            <a:endParaRPr lang="ko-KR" altLang="en-US" sz="1500" dirty="0"/>
          </a:p>
        </p:txBody>
      </p:sp>
      <p:sp>
        <p:nvSpPr>
          <p:cNvPr id="34" name="box"/>
          <p:cNvSpPr/>
          <p:nvPr/>
        </p:nvSpPr>
        <p:spPr>
          <a:xfrm>
            <a:off x="2560320" y="4389120"/>
            <a:ext cx="1234440" cy="868680"/>
          </a:xfrm>
          <a:prstGeom prst="roundRect">
            <a:avLst>
              <a:gd name="adj" fmla="val 8421"/>
            </a:avLst>
          </a:prstGeom>
          <a:solidFill>
            <a:schemeClr val="bg2"/>
          </a:solidFill>
          <a:ln w="12700">
            <a:solidFill>
              <a:schemeClr val="bg2"/>
            </a:solidFill>
            <a:prstDash val="solid"/>
          </a:ln>
        </p:spPr>
      </p:sp>
      <p:sp>
        <p:nvSpPr>
          <p:cNvPr id="35" name="Text 32"/>
          <p:cNvSpPr txBox="1"/>
          <p:nvPr/>
        </p:nvSpPr>
        <p:spPr>
          <a:xfrm>
            <a:off x="2560320" y="438912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[0]</a:t>
            </a:r>
            <a:endParaRPr lang="ko-KR" altLang="en-US" sz="1200" dirty="0"/>
          </a:p>
          <a:p>
            <a:pPr algn="ctr" indent="0" marL="0" eaLnBrk="0">
              <a:buNone/>
            </a:pPr>
            <a:r>
              <a:rPr lang="ko-KR" altLang="en-US" sz="1200" b="1" dirty="0">
                <a:solidFill>
                  <a:schemeClr val="tx2"/>
                </a:solidFill>
              </a:rPr>
              <a:t>Next → [2]</a:t>
            </a:r>
            <a:endParaRPr lang="ko-KR" altLang="en-US" sz="1200" dirty="0"/>
          </a:p>
        </p:txBody>
      </p:sp>
      <p:sp>
        <p:nvSpPr>
          <p:cNvPr id="36" name="box"/>
          <p:cNvSpPr/>
          <p:nvPr/>
        </p:nvSpPr>
        <p:spPr>
          <a:xfrm>
            <a:off x="3904488" y="4389120"/>
            <a:ext cx="1234440" cy="868680"/>
          </a:xfrm>
          <a:prstGeom prst="roundRect">
            <a:avLst>
              <a:gd name="adj" fmla="val 8421"/>
            </a:avLst>
          </a:prstGeom>
          <a:solidFill>
            <a:schemeClr val="accent1"/>
          </a:solidFill>
          <a:ln w="12700">
            <a:solidFill>
              <a:schemeClr val="accent1"/>
            </a:solidFill>
            <a:prstDash val="solid"/>
          </a:ln>
        </p:spPr>
      </p:sp>
      <p:sp>
        <p:nvSpPr>
          <p:cNvPr id="37" name="Text 34"/>
          <p:cNvSpPr txBox="1"/>
          <p:nvPr/>
        </p:nvSpPr>
        <p:spPr>
          <a:xfrm>
            <a:off x="3904488" y="438912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[1]</a:t>
            </a:r>
            <a:endParaRPr lang="ko-KR" altLang="en-US" sz="1200" dirty="0"/>
          </a:p>
          <a:p>
            <a:pPr algn="ctr" indent="0" marL="0" eaLnBrk="0">
              <a:buNone/>
            </a:pPr>
            <a:r>
              <a:rPr lang="ko-KR" altLang="en-US" sz="1200" b="1" dirty="0">
                <a:solidFill>
                  <a:schemeClr val="bg1"/>
                </a:solidFill>
              </a:rPr>
              <a:t>B 사용 중</a:t>
            </a:r>
            <a:endParaRPr lang="ko-KR" altLang="en-US" sz="1200" dirty="0"/>
          </a:p>
        </p:txBody>
      </p:sp>
      <p:sp>
        <p:nvSpPr>
          <p:cNvPr id="38" name="box"/>
          <p:cNvSpPr/>
          <p:nvPr/>
        </p:nvSpPr>
        <p:spPr>
          <a:xfrm>
            <a:off x="5248656" y="4389120"/>
            <a:ext cx="1234440" cy="868680"/>
          </a:xfrm>
          <a:prstGeom prst="roundRect">
            <a:avLst>
              <a:gd name="adj" fmla="val 8421"/>
            </a:avLst>
          </a:prstGeom>
          <a:solidFill>
            <a:schemeClr val="bg2"/>
          </a:solidFill>
          <a:ln w="12700">
            <a:solidFill>
              <a:schemeClr val="bg2"/>
            </a:solidFill>
            <a:prstDash val="solid"/>
          </a:ln>
        </p:spPr>
      </p:sp>
      <p:sp>
        <p:nvSpPr>
          <p:cNvPr id="39" name="Text 36"/>
          <p:cNvSpPr txBox="1"/>
          <p:nvPr/>
        </p:nvSpPr>
        <p:spPr>
          <a:xfrm>
            <a:off x="5248656" y="438912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[2]</a:t>
            </a:r>
            <a:endParaRPr lang="ko-KR" altLang="en-US" sz="1200" dirty="0"/>
          </a:p>
          <a:p>
            <a:pPr algn="ctr" indent="0" marL="0" eaLnBrk="0">
              <a:buNone/>
            </a:pPr>
            <a:r>
              <a:rPr lang="ko-KR" altLang="en-US" sz="1200" b="1" dirty="0">
                <a:solidFill>
                  <a:schemeClr val="tx2"/>
                </a:solidFill>
              </a:rPr>
              <a:t>Next → [3]</a:t>
            </a:r>
            <a:endParaRPr lang="ko-KR" altLang="en-US" sz="1200" dirty="0"/>
          </a:p>
        </p:txBody>
      </p:sp>
      <p:sp>
        <p:nvSpPr>
          <p:cNvPr id="40" name="box"/>
          <p:cNvSpPr/>
          <p:nvPr/>
        </p:nvSpPr>
        <p:spPr>
          <a:xfrm>
            <a:off x="6592824" y="4389120"/>
            <a:ext cx="1234440" cy="868680"/>
          </a:xfrm>
          <a:prstGeom prst="roundRect">
            <a:avLst>
              <a:gd name="adj" fmla="val 8421"/>
            </a:avLst>
          </a:prstGeom>
          <a:solidFill>
            <a:schemeClr val="bg2"/>
          </a:solidFill>
          <a:ln w="12700">
            <a:solidFill>
              <a:schemeClr val="bg2"/>
            </a:solidFill>
            <a:prstDash val="solid"/>
          </a:ln>
        </p:spPr>
      </p:sp>
      <p:sp>
        <p:nvSpPr>
          <p:cNvPr id="41" name="Text 38"/>
          <p:cNvSpPr txBox="1"/>
          <p:nvPr/>
        </p:nvSpPr>
        <p:spPr>
          <a:xfrm>
            <a:off x="6592824" y="4389120"/>
            <a:ext cx="1234440" cy="868680"/>
          </a:xfrm>
          <a:prstGeom prst="rect">
            <a:avLst/>
          </a:prstGeom>
          <a:noFill/>
          <a:ln/>
        </p:spPr>
        <p:txBody>
          <a:bodyPr wrap="square" lIns="635" tIns="635" rIns="635" bIns="635" rtlCol="0" anchor="ctr"/>
          <a:lstStyle/>
          <a:p>
            <a:pPr algn="ctr" indent="0" marL="0" eaLnBrk="0">
              <a:buNone/>
            </a:pPr>
            <a:r>
              <a:rPr lang="ko-KR" altLang="en-US" sz="1200" b="1" dirty="0">
                <a:solidFill>
                  <a:schemeClr val="tx2"/>
                </a:solidFill>
              </a:rPr>
              <a:t>[3]</a:t>
            </a:r>
            <a:endParaRPr lang="ko-KR" altLang="en-US" sz="1200" dirty="0"/>
          </a:p>
          <a:p>
            <a:pPr algn="ctr" indent="0" marL="0" eaLnBrk="0">
              <a:buNone/>
            </a:pPr>
            <a:r>
              <a:rPr lang="ko-KR" altLang="en-US" sz="1200" b="1" dirty="0">
                <a:solidFill>
                  <a:schemeClr val="tx2"/>
                </a:solidFill>
              </a:rPr>
              <a:t>Next → null</a:t>
            </a:r>
            <a:endParaRPr lang="ko-KR" altLang="en-US" sz="1200" dirty="0"/>
          </a:p>
        </p:txBody>
      </p:sp>
      <p:sp>
        <p:nvSpPr>
          <p:cNvPr id="42" name="box"/>
          <p:cNvSpPr/>
          <p:nvPr/>
        </p:nvSpPr>
        <p:spPr>
          <a:xfrm>
            <a:off x="7955280" y="4544568"/>
            <a:ext cx="822960" cy="548640"/>
          </a:xfrm>
          <a:prstGeom prst="roundRect">
            <a:avLst>
              <a:gd name="adj" fmla="val 13333"/>
            </a:avLst>
          </a:prstGeom>
          <a:solidFill>
            <a:schemeClr val="accent2"/>
          </a:solidFill>
          <a:ln w="12700">
            <a:solidFill>
              <a:schemeClr val="accent2"/>
            </a:solidFill>
            <a:prstDash val="solid"/>
          </a:ln>
        </p:spPr>
      </p:sp>
      <p:sp>
        <p:nvSpPr>
          <p:cNvPr id="43" name="Text 40"/>
          <p:cNvSpPr txBox="1"/>
          <p:nvPr/>
        </p:nvSpPr>
        <p:spPr>
          <a:xfrm>
            <a:off x="7955280" y="4544568"/>
            <a:ext cx="822960" cy="54864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[0]</a:t>
            </a:r>
            <a:endParaRPr lang="ko-KR" altLang="en-US" sz="1400" dirty="0"/>
          </a:p>
        </p:txBody>
      </p:sp>
      <p:sp>
        <p:nvSpPr>
          <p:cNvPr id="44" name="Text 41"/>
          <p:cNvSpPr txBox="1"/>
          <p:nvPr/>
        </p:nvSpPr>
        <p:spPr>
          <a:xfrm>
            <a:off x="8961120" y="4389120"/>
            <a:ext cx="2681935" cy="868680"/>
          </a:xfrm>
          <a:prstGeom prst="rect">
            <a:avLst/>
          </a:prstGeom>
          <a:noFill/>
          <a:ln/>
        </p:spPr>
        <p:txBody>
          <a:bodyPr wrap="square" lIns="0" tIns="0" rIns="0" bIns="0" rtlCol="0" anchor="ctr"/>
          <a:lstStyle/>
          <a:p>
            <a:pPr indent="0" marL="0" eaLnBrk="0">
              <a:buNone/>
            </a:pPr>
            <a:r>
              <a:rPr lang="ko-KR" altLang="en-US" sz="1300" dirty="0">
                <a:solidFill>
                  <a:schemeClr val="tx2"/>
                </a:solidFill>
              </a:rPr>
              <a:t>[0] → [2] → [3] → null</a:t>
            </a:r>
            <a:endParaRPr lang="ko-KR" altLang="en-US" sz="1300" dirty="0"/>
          </a:p>
        </p:txBody>
      </p:sp>
      <p:sp>
        <p:nvSpPr>
          <p:cNvPr id="45" name="Text 42"/>
          <p:cNvSpPr txBox="1"/>
          <p:nvPr/>
        </p:nvSpPr>
        <p:spPr>
          <a:xfrm>
            <a:off x="548640" y="5486400"/>
            <a:ext cx="11094415" cy="365760"/>
          </a:xfrm>
          <a:prstGeom prst="rect">
            <a:avLst/>
          </a:prstGeom>
          <a:noFill/>
          <a:ln/>
        </p:spPr>
        <p:txBody>
          <a:bodyPr wrap="square" lIns="0" tIns="0" rIns="0" bIns="0" rtlCol="0" anchor="t"/>
          <a:lstStyle/>
          <a:p>
            <a:pPr indent="0" marL="0" eaLnBrk="0">
              <a:buNone/>
            </a:pPr>
            <a:r>
              <a:rPr lang="ko-KR" altLang="en-US" sz="1400" b="1" dirty="0">
                <a:solidFill>
                  <a:schemeClr val="accent1"/>
                </a:solidFill>
              </a:rPr>
              <a:t>A를 반납한 뒤의 목록은 칸 1을 건너뛴다. 칸 0의 Next가 칸 2를 가리키기 때문이다.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생성과 반납을 섞으며 맨 앞(head)을 따라간다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풀을 설계할 때는 무엇을 더 정해야 할까?</a:t>
            </a:r>
            <a:endParaRPr lang="ko-KR" alt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331720"/>
                <a:gridCol w="868680"/>
                <a:gridCol w="2331720"/>
                <a:gridCol w="1828800"/>
                <a:gridCol w="3733495"/>
              </a:tblGrid>
              <a:tr h="502920">
                <a:tc>
                  <a:txBody>
                    <a:bodyPr/>
                    <a:lstStyle/>
                    <a:p>
                      <a:pPr indent="0" marL="0" eaLnBrk="0">
                        <a:buNone/>
                      </a:pPr>
                      <a:r>
                        <a:rPr lang="ko-KR" altLang="en-US" sz="1400" b="1" dirty="0">
                          <a:solidFill>
                            <a:schemeClr val="bg1"/>
                          </a:solidFill>
                        </a:rPr>
                        <a:t>동작</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head</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빈칸 목록</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사용 중</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설명</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02920">
                <a:tc>
                  <a:txBody>
                    <a:bodyPr/>
                    <a:lstStyle/>
                    <a:p>
                      <a:pPr indent="0" marL="0" eaLnBrk="0">
                        <a:buNone/>
                      </a:pPr>
                      <a:r>
                        <a:rPr lang="ko-KR" altLang="en-US" sz="1400" b="1" dirty="0">
                          <a:solidFill>
                            <a:schemeClr val="tx1"/>
                          </a:solidFill>
                        </a:rPr>
                        <a:t>시작</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[0]→[1]→[2]→[3]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없음</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모든 칸이 차례로 이어져 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Create A (수명 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[1]→[2]→[3]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 A</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맨 앞 [0]을 떼어 A에 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Create B (수명 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[2]→[3]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 A, [1] B</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맨 앞 [1]을 떼어 B에 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Animate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[0]→[2]→[3]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[1] B</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A가 끝났다. [0].Next = [2]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Create C (수명 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[2]→[3]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 C, [1] B</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반납된 [0]을 바로 다시 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Animate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[1]→[2]→[3]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[0] C</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B가 끝났다. [1].Next = [2]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4부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설계 결정</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설계 결정</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1</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객체가 풀과 결합되는가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다시 쓰는 객체의 초기화는 누가 맡아야 할까?</a:t>
            </a:r>
            <a:endParaRPr lang="ko-KR" altLang="en-US" sz="1500" dirty="0"/>
          </a:p>
        </p:txBody>
      </p:sp>
      <p:sp>
        <p:nvSpPr>
          <p:cNvPr id="6" name="codePanel"/>
          <p:cNvSpPr/>
          <p:nvPr/>
        </p:nvSpPr>
        <p:spPr>
          <a:xfrm>
            <a:off x="548640" y="1645920"/>
            <a:ext cx="5440680" cy="2514600"/>
          </a:xfrm>
          <a:prstGeom prst="roundRect">
            <a:avLst>
              <a:gd name="adj" fmla="val 2909"/>
            </a:avLst>
          </a:prstGeom>
          <a:solidFill>
            <a:schemeClr val="tx1"/>
          </a:solidFill>
          <a:ln w="12700">
            <a:solidFill>
              <a:schemeClr val="tx1"/>
            </a:solidFill>
            <a:prstDash val="solid"/>
          </a:ln>
        </p:spPr>
      </p:sp>
      <p:sp>
        <p:nvSpPr>
          <p:cNvPr id="7" name="code"/>
          <p:cNvSpPr txBox="1"/>
          <p:nvPr/>
        </p:nvSpPr>
        <p:spPr>
          <a:xfrm>
            <a:off x="658368" y="1737360"/>
            <a:ext cx="5221224" cy="2331720"/>
          </a:xfrm>
          <a:prstGeom prst="rect">
            <a:avLst/>
          </a:prstGeom>
          <a:noFill/>
          <a:ln/>
        </p:spPr>
        <p:txBody>
          <a:bodyPr wrap="square" lIns="635" tIns="635" rIns="635" bIns="635" rtlCol="0" anchor="t"/>
          <a:lstStyle/>
          <a:p>
            <a:pPr indent="0" marL="0" eaLnBrk="0">
              <a:buNone/>
            </a:pPr>
            <a:r>
              <a:rPr lang="ko-KR" altLang="en-US" sz="1200" dirty="0">
                <a:solidFill>
                  <a:schemeClr val="accent3"/>
                </a:solidFill>
                <a:latin typeface="Consolas" pitchFamily="34" charset="0"/>
                <a:ea typeface="Consolas" pitchFamily="34" charset="-122"/>
                <a:cs typeface="Consolas" pitchFamily="34" charset="-120"/>
              </a:rPr>
              <a:t>// 풀과 결합된 객체</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Particle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사용 중 표시를 객체가 가진다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bool _inUse;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C#에는 friend가 없다.</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internal로 다른 어셈블리의 생성을 막는다.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internal Particle() { _inUse = false;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Panel"/>
          <p:cNvSpPr/>
          <p:nvPr/>
        </p:nvSpPr>
        <p:spPr>
          <a:xfrm>
            <a:off x="6217920" y="1645920"/>
            <a:ext cx="5425135" cy="2514600"/>
          </a:xfrm>
          <a:prstGeom prst="roundRect">
            <a:avLst>
              <a:gd name="adj" fmla="val 2909"/>
            </a:avLst>
          </a:prstGeom>
          <a:solidFill>
            <a:schemeClr val="tx1"/>
          </a:solidFill>
          <a:ln w="12700">
            <a:solidFill>
              <a:schemeClr val="tx1"/>
            </a:solidFill>
            <a:prstDash val="solid"/>
          </a:ln>
        </p:spPr>
      </p:sp>
      <p:sp>
        <p:nvSpPr>
          <p:cNvPr id="9" name="code"/>
          <p:cNvSpPr txBox="1"/>
          <p:nvPr/>
        </p:nvSpPr>
        <p:spPr>
          <a:xfrm>
            <a:off x="6327648" y="1737360"/>
            <a:ext cx="5205679" cy="2331720"/>
          </a:xfrm>
          <a:prstGeom prst="rect">
            <a:avLst/>
          </a:prstGeom>
          <a:noFill/>
          <a:ln/>
        </p:spPr>
        <p:txBody>
          <a:bodyPr wrap="square" lIns="635" tIns="635" rIns="635" bIns="635" rtlCol="0" anchor="t"/>
          <a:lstStyle/>
          <a:p>
            <a:pPr indent="0" marL="0" eaLnBrk="0">
              <a:buNone/>
            </a:pPr>
            <a:r>
              <a:rPr lang="ko-KR" altLang="en-US" sz="1200" dirty="0">
                <a:solidFill>
                  <a:schemeClr val="accent3"/>
                </a:solidFill>
                <a:latin typeface="Consolas" pitchFamily="34" charset="0"/>
                <a:ea typeface="Consolas" pitchFamily="34" charset="-122"/>
                <a:cs typeface="Consolas" pitchFamily="34" charset="-120"/>
              </a:rPr>
              <a:t>// 어떤 타입이든 담는 풀</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GenericPool&lt;T&gt;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const int PoolSize = 100;</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T[] _pool = new T[PoolSize];</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사용 중 표시를 풀이 따로 가진다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bool[] _inUse = new bool[PoolSize];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10" name="Text 7"/>
          <p:cNvSpPr txBox="1"/>
          <p:nvPr/>
        </p:nvSpPr>
        <p:spPr>
          <a:xfrm>
            <a:off x="548640" y="4206240"/>
            <a:ext cx="11094415"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11" name="card"/>
          <p:cNvSpPr/>
          <p:nvPr/>
        </p:nvSpPr>
        <p:spPr>
          <a:xfrm>
            <a:off x="548640" y="4572000"/>
            <a:ext cx="5440680" cy="1143000"/>
          </a:xfrm>
          <a:prstGeom prst="roundRect">
            <a:avLst>
              <a:gd name="adj" fmla="val 8000"/>
            </a:avLst>
          </a:prstGeom>
          <a:solidFill>
            <a:schemeClr val="bg2"/>
          </a:solidFill>
          <a:ln w="12700">
            <a:solidFill>
              <a:schemeClr val="bg2"/>
            </a:solidFill>
            <a:prstDash val="solid"/>
          </a:ln>
        </p:spPr>
      </p:sp>
      <p:sp>
        <p:nvSpPr>
          <p:cNvPr id="12" name="Text 9"/>
          <p:cNvSpPr txBox="1"/>
          <p:nvPr/>
        </p:nvSpPr>
        <p:spPr>
          <a:xfrm>
            <a:off x="777240" y="4791456"/>
            <a:ext cx="5029200"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결합하면</a:t>
            </a:r>
            <a:endParaRPr lang="ko-KR" altLang="en-US" sz="1700" dirty="0"/>
          </a:p>
        </p:txBody>
      </p:sp>
      <p:sp>
        <p:nvSpPr>
          <p:cNvPr id="13" name="Text 10"/>
          <p:cNvSpPr txBox="1"/>
          <p:nvPr/>
        </p:nvSpPr>
        <p:spPr>
          <a:xfrm>
            <a:off x="777240" y="5303520"/>
            <a:ext cx="4983480" cy="274320"/>
          </a:xfrm>
          <a:prstGeom prst="rect">
            <a:avLst/>
          </a:prstGeom>
          <a:noFill/>
          <a:ln/>
        </p:spPr>
        <p:txBody>
          <a:bodyPr wrap="square" lIns="0" tIns="0" rIns="0" bIns="0" rtlCol="0" anchor="t"/>
          <a:lstStyle/>
          <a:p>
            <a:pPr indent="0" marL="0" eaLnBrk="0">
              <a:buNone/>
            </a:pPr>
            <a:r>
              <a:rPr lang="ko-KR" altLang="en-US" sz="1400" dirty="0">
                <a:solidFill>
                  <a:schemeClr val="tx2"/>
                </a:solidFill>
              </a:rPr>
              <a:t>구현이 단순하다. 풀만 만들게 막을 수 있다.</a:t>
            </a:r>
            <a:endParaRPr lang="ko-KR" altLang="en-US" sz="1400" dirty="0"/>
          </a:p>
        </p:txBody>
      </p:sp>
      <p:sp>
        <p:nvSpPr>
          <p:cNvPr id="14" name="card"/>
          <p:cNvSpPr/>
          <p:nvPr/>
        </p:nvSpPr>
        <p:spPr>
          <a:xfrm>
            <a:off x="6217920" y="4572000"/>
            <a:ext cx="5425135" cy="1143000"/>
          </a:xfrm>
          <a:prstGeom prst="roundRect">
            <a:avLst>
              <a:gd name="adj" fmla="val 8000"/>
            </a:avLst>
          </a:prstGeom>
          <a:solidFill>
            <a:schemeClr val="bg2"/>
          </a:solidFill>
          <a:ln w="12700">
            <a:solidFill>
              <a:schemeClr val="bg2"/>
            </a:solidFill>
            <a:prstDash val="solid"/>
          </a:ln>
        </p:spPr>
      </p:sp>
      <p:sp>
        <p:nvSpPr>
          <p:cNvPr id="15" name="Text 12"/>
          <p:cNvSpPr txBox="1"/>
          <p:nvPr/>
        </p:nvSpPr>
        <p:spPr>
          <a:xfrm>
            <a:off x="6446520" y="4791456"/>
            <a:ext cx="5013655" cy="411480"/>
          </a:xfrm>
          <a:prstGeom prst="rect">
            <a:avLst/>
          </a:prstGeom>
          <a:noFill/>
          <a:ln/>
        </p:spPr>
        <p:txBody>
          <a:bodyPr wrap="square" lIns="0" tIns="0" rIns="0" bIns="0" rtlCol="0" anchor="ctr"/>
          <a:lstStyle/>
          <a:p>
            <a:pPr indent="0" marL="0" eaLnBrk="0">
              <a:buNone/>
            </a:pPr>
            <a:r>
              <a:rPr lang="ko-KR" altLang="en-US" sz="1700" b="1" dirty="0">
                <a:solidFill>
                  <a:schemeClr val="accent1"/>
                </a:solidFill>
              </a:rPr>
              <a:t>결합하지 않으면</a:t>
            </a:r>
            <a:endParaRPr lang="ko-KR" altLang="en-US" sz="1700" dirty="0"/>
          </a:p>
        </p:txBody>
      </p:sp>
      <p:sp>
        <p:nvSpPr>
          <p:cNvPr id="16" name="Text 13"/>
          <p:cNvSpPr txBox="1"/>
          <p:nvPr/>
        </p:nvSpPr>
        <p:spPr>
          <a:xfrm>
            <a:off x="6446520" y="5303520"/>
            <a:ext cx="4967935" cy="274320"/>
          </a:xfrm>
          <a:prstGeom prst="rect">
            <a:avLst/>
          </a:prstGeom>
          <a:noFill/>
          <a:ln/>
        </p:spPr>
        <p:txBody>
          <a:bodyPr wrap="square" lIns="0" tIns="0" rIns="0" bIns="0" rtlCol="0" anchor="t"/>
          <a:lstStyle/>
          <a:p>
            <a:pPr indent="0" marL="0" eaLnBrk="0">
              <a:buNone/>
            </a:pPr>
            <a:r>
              <a:rPr lang="ko-KR" altLang="en-US" sz="1400" dirty="0">
                <a:solidFill>
                  <a:schemeClr val="tx2"/>
                </a:solidFill>
              </a:rPr>
              <a:t>아무 타입이나 담는다. 표시는 풀이 가진다.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2-1</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풀 안에서 초기화하면 풀이 Init의 모양을 따라간다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초기화를 풀 밖에 맡기면 무엇이 달라질까?</a:t>
            </a:r>
            <a:endParaRPr lang="ko-KR" altLang="en-US" sz="1500" dirty="0"/>
          </a:p>
        </p:txBody>
      </p:sp>
      <p:sp>
        <p:nvSpPr>
          <p:cNvPr id="6" name="codePanel"/>
          <p:cNvSpPr/>
          <p:nvPr/>
        </p:nvSpPr>
        <p:spPr>
          <a:xfrm>
            <a:off x="548640" y="1645920"/>
            <a:ext cx="11094415" cy="3017520"/>
          </a:xfrm>
          <a:prstGeom prst="roundRect">
            <a:avLst>
              <a:gd name="adj" fmla="val 2424"/>
            </a:avLst>
          </a:prstGeom>
          <a:solidFill>
            <a:schemeClr val="tx1"/>
          </a:solidFill>
          <a:ln w="12700">
            <a:solidFill>
              <a:schemeClr val="tx1"/>
            </a:solidFill>
            <a:prstDash val="solid"/>
          </a:ln>
        </p:spPr>
      </p:sp>
      <p:sp>
        <p:nvSpPr>
          <p:cNvPr id="7" name="code"/>
          <p:cNvSpPr txBox="1"/>
          <p:nvPr/>
        </p:nvSpPr>
        <p:spPr>
          <a:xfrm>
            <a:off x="658368" y="1737360"/>
            <a:ext cx="10874959" cy="283464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Particle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초기화 방법이 여러 개다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void Init(double x, double y) { /* ... */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void Init(double x, double y, double angle) { /* ... */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void Init(double x, double y, double xVel, double yVel) { /* ... */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ParticlePool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Init마다 같은 모양의 Create가 필요하다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void Create(double x, double y) { /* Init으로 전달 */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void Create(double x, double y, double angle) { /* Init으로 전달 */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void Create(double x, double y, double xVel, double yVel) { /* Init으로 전달 */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8534095"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548640" y="4846320"/>
            <a:ext cx="5440680" cy="914400"/>
          </a:xfrm>
          <a:prstGeom prst="roundRect">
            <a:avLst>
              <a:gd name="adj" fmla="val 10000"/>
            </a:avLst>
          </a:prstGeom>
          <a:solidFill>
            <a:schemeClr val="bg2"/>
          </a:solidFill>
          <a:ln w="12700">
            <a:solidFill>
              <a:schemeClr val="bg2"/>
            </a:solidFill>
            <a:prstDash val="solid"/>
          </a:ln>
        </p:spPr>
      </p:sp>
      <p:sp>
        <p:nvSpPr>
          <p:cNvPr id="10" name="Text 7"/>
          <p:cNvSpPr txBox="1"/>
          <p:nvPr/>
        </p:nvSpPr>
        <p:spPr>
          <a:xfrm>
            <a:off x="777240" y="5065776"/>
            <a:ext cx="5029200"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좋은 점</a:t>
            </a:r>
            <a:endParaRPr lang="ko-KR" altLang="en-US" sz="1700" dirty="0"/>
          </a:p>
        </p:txBody>
      </p:sp>
      <p:sp>
        <p:nvSpPr>
          <p:cNvPr id="11" name="Text 8"/>
          <p:cNvSpPr txBox="1"/>
          <p:nvPr/>
        </p:nvSpPr>
        <p:spPr>
          <a:xfrm>
            <a:off x="777240" y="5577840"/>
            <a:ext cx="4983480" cy="45720"/>
          </a:xfrm>
          <a:prstGeom prst="rect">
            <a:avLst/>
          </a:prstGeom>
          <a:noFill/>
          <a:ln/>
        </p:spPr>
        <p:txBody>
          <a:bodyPr wrap="square" lIns="0" tIns="0" rIns="0" bIns="0" rtlCol="0" anchor="t"/>
          <a:lstStyle/>
          <a:p>
            <a:pPr indent="0" marL="0" eaLnBrk="0">
              <a:buNone/>
            </a:pPr>
            <a:endParaRPr lang="ko-KR" altLang="en-US" sz="1400" dirty="0"/>
          </a:p>
        </p:txBody>
      </p:sp>
      <p:sp>
        <p:nvSpPr>
          <p:cNvPr id="12" name="Text 9"/>
          <p:cNvSpPr txBox="1"/>
          <p:nvPr/>
        </p:nvSpPr>
        <p:spPr>
          <a:xfrm>
            <a:off x="2194560" y="4956048"/>
            <a:ext cx="3657600" cy="685800"/>
          </a:xfrm>
          <a:prstGeom prst="rect">
            <a:avLst/>
          </a:prstGeom>
          <a:noFill/>
          <a:ln/>
        </p:spPr>
        <p:txBody>
          <a:bodyPr wrap="square" lIns="0" tIns="0" rIns="0" bIns="0" rtlCol="0" anchor="ctr"/>
          <a:lstStyle/>
          <a:p>
            <a:pPr indent="0" marL="0" eaLnBrk="0">
              <a:buNone/>
            </a:pPr>
            <a:r>
              <a:rPr lang="ko-KR" altLang="en-US" sz="1400" dirty="0">
                <a:solidFill>
                  <a:schemeClr val="tx2"/>
                </a:solidFill>
              </a:rPr>
              <a:t>바깥 코드가 파티클 참조를 쥐지 않는다.</a:t>
            </a:r>
            <a:endParaRPr lang="ko-KR" altLang="en-US" sz="1400" dirty="0"/>
          </a:p>
        </p:txBody>
      </p:sp>
      <p:sp>
        <p:nvSpPr>
          <p:cNvPr id="13" name="card"/>
          <p:cNvSpPr/>
          <p:nvPr/>
        </p:nvSpPr>
        <p:spPr>
          <a:xfrm>
            <a:off x="6217920" y="4846320"/>
            <a:ext cx="5425135" cy="914400"/>
          </a:xfrm>
          <a:prstGeom prst="roundRect">
            <a:avLst>
              <a:gd name="adj" fmla="val 10000"/>
            </a:avLst>
          </a:prstGeom>
          <a:solidFill>
            <a:schemeClr val="bg2"/>
          </a:solidFill>
          <a:ln w="12700">
            <a:solidFill>
              <a:schemeClr val="bg2"/>
            </a:solidFill>
            <a:prstDash val="solid"/>
          </a:ln>
        </p:spPr>
      </p:sp>
      <p:sp>
        <p:nvSpPr>
          <p:cNvPr id="14" name="Text 11"/>
          <p:cNvSpPr txBox="1"/>
          <p:nvPr/>
        </p:nvSpPr>
        <p:spPr>
          <a:xfrm>
            <a:off x="6446520" y="5065776"/>
            <a:ext cx="501365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대가</a:t>
            </a:r>
            <a:endParaRPr lang="ko-KR" altLang="en-US" sz="1700" dirty="0"/>
          </a:p>
        </p:txBody>
      </p:sp>
      <p:sp>
        <p:nvSpPr>
          <p:cNvPr id="15" name="Text 12"/>
          <p:cNvSpPr txBox="1"/>
          <p:nvPr/>
        </p:nvSpPr>
        <p:spPr>
          <a:xfrm>
            <a:off x="6446520" y="5577840"/>
            <a:ext cx="4967935" cy="45720"/>
          </a:xfrm>
          <a:prstGeom prst="rect">
            <a:avLst/>
          </a:prstGeom>
          <a:noFill/>
          <a:ln/>
        </p:spPr>
        <p:txBody>
          <a:bodyPr wrap="square" lIns="0" tIns="0" rIns="0" bIns="0" rtlCol="0" anchor="t"/>
          <a:lstStyle/>
          <a:p>
            <a:pPr indent="0" marL="0" eaLnBrk="0">
              <a:buNone/>
            </a:pPr>
            <a:endParaRPr lang="ko-KR" altLang="en-US" sz="1400" dirty="0"/>
          </a:p>
        </p:txBody>
      </p:sp>
      <p:sp>
        <p:nvSpPr>
          <p:cNvPr id="16" name="Text 13"/>
          <p:cNvSpPr txBox="1"/>
          <p:nvPr/>
        </p:nvSpPr>
        <p:spPr>
          <a:xfrm>
            <a:off x="7406640" y="4956048"/>
            <a:ext cx="4144975" cy="685800"/>
          </a:xfrm>
          <a:prstGeom prst="rect">
            <a:avLst/>
          </a:prstGeom>
          <a:noFill/>
          <a:ln/>
        </p:spPr>
        <p:txBody>
          <a:bodyPr wrap="square" lIns="0" tIns="0" rIns="0" bIns="0" rtlCol="0" anchor="ctr"/>
          <a:lstStyle/>
          <a:p>
            <a:pPr indent="0" marL="0" eaLnBrk="0">
              <a:buNone/>
            </a:pPr>
            <a:r>
              <a:rPr lang="ko-KR" altLang="en-US" sz="1400" dirty="0">
                <a:solidFill>
                  <a:schemeClr val="tx2"/>
                </a:solidFill>
              </a:rPr>
              <a:t>Init이 늘면 Create도 함께 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2-2</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풀 밖에서 초기화하면 풀은 빈 객체만 돌려준다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풀이 가득 차서 빈 객체가 없으면 어떻게 할까?</a:t>
            </a:r>
            <a:endParaRPr lang="ko-KR" altLang="en-US" sz="1500" dirty="0"/>
          </a:p>
        </p:txBody>
      </p:sp>
      <p:sp>
        <p:nvSpPr>
          <p:cNvPr id="6" name="codePanel"/>
          <p:cNvSpPr/>
          <p:nvPr/>
        </p:nvSpPr>
        <p:spPr>
          <a:xfrm>
            <a:off x="548640" y="1645920"/>
            <a:ext cx="6949440" cy="2606040"/>
          </a:xfrm>
          <a:prstGeom prst="roundRect">
            <a:avLst>
              <a:gd name="adj" fmla="val 2807"/>
            </a:avLst>
          </a:prstGeom>
          <a:solidFill>
            <a:schemeClr val="tx1"/>
          </a:solidFill>
          <a:ln w="12700">
            <a:solidFill>
              <a:schemeClr val="tx1"/>
            </a:solidFill>
            <a:prstDash val="solid"/>
          </a:ln>
        </p:spPr>
      </p:sp>
      <p:sp>
        <p:nvSpPr>
          <p:cNvPr id="7" name="code"/>
          <p:cNvSpPr txBox="1"/>
          <p:nvPr/>
        </p:nvSpPr>
        <p:spPr>
          <a:xfrm>
            <a:off x="658368" y="1737360"/>
            <a:ext cx="6729984" cy="242316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ParticlePool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빈 파티클을 돌려준다. 없으면 null</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public Particle Create() { /* ... */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ParticlePool pool = new ParticlePool();</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pool.Create().Init(1, 2);</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pool.Create().Init(1, 2, 0.3);</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pool.Create().Init(1, 2, 3.3, 4.4);</a:t>
            </a:r>
            <a:endParaRPr lang="ko-KR" altLang="en-US" sz="1300" dirty="0"/>
          </a:p>
        </p:txBody>
      </p:sp>
      <p:sp>
        <p:nvSpPr>
          <p:cNvPr id="8" name="codeCaption"/>
          <p:cNvSpPr txBox="1"/>
          <p:nvPr/>
        </p:nvSpPr>
        <p:spPr>
          <a:xfrm>
            <a:off x="43891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548640" y="4434840"/>
            <a:ext cx="6949440" cy="1188720"/>
          </a:xfrm>
          <a:prstGeom prst="roundRect">
            <a:avLst>
              <a:gd name="adj" fmla="val 6154"/>
            </a:avLst>
          </a:prstGeom>
          <a:solidFill>
            <a:schemeClr val="tx1"/>
          </a:solidFill>
          <a:ln w="12700">
            <a:solidFill>
              <a:schemeClr val="tx1"/>
            </a:solidFill>
            <a:prstDash val="solid"/>
          </a:ln>
        </p:spPr>
      </p:sp>
      <p:sp>
        <p:nvSpPr>
          <p:cNvPr id="10" name="code"/>
          <p:cNvSpPr txBox="1"/>
          <p:nvPr/>
        </p:nvSpPr>
        <p:spPr>
          <a:xfrm>
            <a:off x="658368" y="4526280"/>
            <a:ext cx="6729984" cy="1005840"/>
          </a:xfrm>
          <a:prstGeom prst="rect">
            <a:avLst/>
          </a:prstGeom>
          <a:noFill/>
          <a:ln/>
        </p:spPr>
        <p:txBody>
          <a:bodyPr wrap="square" lIns="635" tIns="635" rIns="635" bIns="635" rtlCol="0" anchor="t"/>
          <a:lstStyle/>
          <a:p>
            <a:pPr indent="0" marL="0" eaLnBrk="0">
              <a:buNone/>
            </a:pPr>
            <a:r>
              <a:rPr lang="ko-KR" altLang="en-US" sz="1300" dirty="0">
                <a:solidFill>
                  <a:schemeClr val="accent3"/>
                </a:solidFill>
                <a:latin typeface="Consolas" pitchFamily="34" charset="0"/>
                <a:ea typeface="Consolas" pitchFamily="34" charset="-122"/>
                <a:cs typeface="Consolas" pitchFamily="34" charset="-120"/>
              </a:rPr>
              <a:t>// 가득 차면 null이 오므로 확인한다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Particle particle = pool.Create();</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if (particle != null) particle.Init(1, 2);</a:t>
            </a:r>
            <a:endParaRPr lang="ko-KR" altLang="en-US" sz="1300" dirty="0"/>
          </a:p>
        </p:txBody>
      </p:sp>
      <p:sp>
        <p:nvSpPr>
          <p:cNvPr id="11" name="card"/>
          <p:cNvSpPr/>
          <p:nvPr/>
        </p:nvSpPr>
        <p:spPr>
          <a:xfrm>
            <a:off x="7863840" y="1645920"/>
            <a:ext cx="3779215" cy="1828800"/>
          </a:xfrm>
          <a:prstGeom prst="roundRect">
            <a:avLst>
              <a:gd name="adj" fmla="val 5000"/>
            </a:avLst>
          </a:prstGeom>
          <a:solidFill>
            <a:schemeClr val="bg2"/>
          </a:solidFill>
          <a:ln w="12700">
            <a:solidFill>
              <a:schemeClr val="bg2"/>
            </a:solidFill>
            <a:prstDash val="solid"/>
          </a:ln>
        </p:spPr>
      </p:sp>
      <p:sp>
        <p:nvSpPr>
          <p:cNvPr id="12" name="Text 9"/>
          <p:cNvSpPr txBox="1"/>
          <p:nvPr/>
        </p:nvSpPr>
        <p:spPr>
          <a:xfrm>
            <a:off x="8092440" y="18653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좋은 점</a:t>
            </a:r>
            <a:endParaRPr lang="ko-KR" altLang="en-US" sz="1700" dirty="0"/>
          </a:p>
        </p:txBody>
      </p:sp>
      <p:sp>
        <p:nvSpPr>
          <p:cNvPr id="13" name="Text 10"/>
          <p:cNvSpPr txBox="1"/>
          <p:nvPr/>
        </p:nvSpPr>
        <p:spPr>
          <a:xfrm>
            <a:off x="8092440" y="2377440"/>
            <a:ext cx="3322015" cy="960120"/>
          </a:xfrm>
          <a:prstGeom prst="rect">
            <a:avLst/>
          </a:prstGeom>
          <a:noFill/>
          <a:ln/>
        </p:spPr>
        <p:txBody>
          <a:bodyPr wrap="square" lIns="0" tIns="0" rIns="0" bIns="0" rtlCol="0" anchor="t"/>
          <a:lstStyle/>
          <a:p>
            <a:pPr indent="0" marL="0" eaLnBrk="0">
              <a:buNone/>
            </a:pPr>
            <a:r>
              <a:rPr lang="ko-KR" altLang="en-US" sz="1400" dirty="0">
                <a:solidFill>
                  <a:schemeClr val="tx2"/>
                </a:solidFill>
              </a:rPr>
              <a:t>풀은 Create 하나면 된다. 초기화 방법은 호출한 쪽이 고른다.</a:t>
            </a:r>
            <a:endParaRPr lang="ko-KR" altLang="en-US" sz="1400" dirty="0"/>
          </a:p>
        </p:txBody>
      </p:sp>
      <p:sp>
        <p:nvSpPr>
          <p:cNvPr id="14" name="card"/>
          <p:cNvSpPr/>
          <p:nvPr/>
        </p:nvSpPr>
        <p:spPr>
          <a:xfrm>
            <a:off x="7863840" y="3657600"/>
            <a:ext cx="3779215" cy="1965960"/>
          </a:xfrm>
          <a:prstGeom prst="roundRect">
            <a:avLst>
              <a:gd name="adj" fmla="val 4651"/>
            </a:avLst>
          </a:prstGeom>
          <a:solidFill>
            <a:schemeClr val="bg2"/>
          </a:solidFill>
          <a:ln w="12700">
            <a:solidFill>
              <a:schemeClr val="bg2"/>
            </a:solidFill>
            <a:prstDash val="solid"/>
          </a:ln>
        </p:spPr>
      </p:sp>
      <p:sp>
        <p:nvSpPr>
          <p:cNvPr id="15" name="Text 12"/>
          <p:cNvSpPr txBox="1"/>
          <p:nvPr/>
        </p:nvSpPr>
        <p:spPr>
          <a:xfrm>
            <a:off x="8092440" y="387705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대가</a:t>
            </a:r>
            <a:endParaRPr lang="ko-KR" altLang="en-US" sz="1700" dirty="0"/>
          </a:p>
        </p:txBody>
      </p:sp>
      <p:sp>
        <p:nvSpPr>
          <p:cNvPr id="16" name="Text 13"/>
          <p:cNvSpPr txBox="1"/>
          <p:nvPr/>
        </p:nvSpPr>
        <p:spPr>
          <a:xfrm>
            <a:off x="8092440" y="4389120"/>
            <a:ext cx="3322015"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Create가 실패할 수 있다. 호출한 쪽이 null을 확인해야 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3</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풀이 가득 찼을 때의 네 가지 방법</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정리하면, 이 패턴은 언제 쓰고 무엇을 조심해야 할까?</a:t>
            </a:r>
            <a:endParaRPr lang="ko-KR" altLang="en-US" sz="1500" dirty="0"/>
          </a:p>
        </p:txBody>
      </p:sp>
      <p:sp>
        <p:nvSpPr>
          <p:cNvPr id="6" name="card"/>
          <p:cNvSpPr/>
          <p:nvPr/>
        </p:nvSpPr>
        <p:spPr>
          <a:xfrm>
            <a:off x="548640" y="1645920"/>
            <a:ext cx="5432908" cy="1874520"/>
          </a:xfrm>
          <a:prstGeom prst="roundRect">
            <a:avLst>
              <a:gd name="adj" fmla="val 4878"/>
            </a:avLst>
          </a:prstGeom>
          <a:solidFill>
            <a:schemeClr val="bg2"/>
          </a:solidFill>
          <a:ln w="12700">
            <a:solidFill>
              <a:schemeClr val="bg2"/>
            </a:solidFill>
            <a:prstDash val="solid"/>
          </a:ln>
        </p:spPr>
      </p:sp>
      <p:sp>
        <p:nvSpPr>
          <p:cNvPr id="7" name="Shape 4"/>
          <p:cNvSpPr/>
          <p:nvPr/>
        </p:nvSpPr>
        <p:spPr>
          <a:xfrm>
            <a:off x="777240" y="184708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47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865376"/>
            <a:ext cx="447278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넘치지 않게 막는다</a:t>
            </a:r>
            <a:endParaRPr lang="ko-KR" altLang="en-US" sz="1700" dirty="0"/>
          </a:p>
        </p:txBody>
      </p:sp>
      <p:sp>
        <p:nvSpPr>
          <p:cNvPr id="10" name="Text 7"/>
          <p:cNvSpPr txBox="1"/>
          <p:nvPr/>
        </p:nvSpPr>
        <p:spPr>
          <a:xfrm>
            <a:off x="1325880" y="2304288"/>
            <a:ext cx="4472788"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크기를 넉넉히 맞춘다. 적처럼 꼭 있어야 하는 객체에 맞다. 게임 상태마다 크기를 달리할 수 있다.</a:t>
            </a:r>
            <a:endParaRPr lang="ko-KR" altLang="en-US" sz="1400" dirty="0"/>
          </a:p>
        </p:txBody>
      </p:sp>
      <p:sp>
        <p:nvSpPr>
          <p:cNvPr id="11" name="card"/>
          <p:cNvSpPr/>
          <p:nvPr/>
        </p:nvSpPr>
        <p:spPr>
          <a:xfrm>
            <a:off x="6210148" y="1645920"/>
            <a:ext cx="5432908" cy="1874520"/>
          </a:xfrm>
          <a:prstGeom prst="roundRect">
            <a:avLst>
              <a:gd name="adj" fmla="val 4878"/>
            </a:avLst>
          </a:prstGeom>
          <a:solidFill>
            <a:schemeClr val="bg2"/>
          </a:solidFill>
          <a:ln w="12700">
            <a:solidFill>
              <a:schemeClr val="bg2"/>
            </a:solidFill>
            <a:prstDash val="solid"/>
          </a:ln>
        </p:spPr>
      </p:sp>
      <p:sp>
        <p:nvSpPr>
          <p:cNvPr id="12" name="Shape 9"/>
          <p:cNvSpPr/>
          <p:nvPr/>
        </p:nvSpPr>
        <p:spPr>
          <a:xfrm>
            <a:off x="6438748" y="184708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6438748" y="1847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6987388" y="1865376"/>
            <a:ext cx="447278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만들지 않는다</a:t>
            </a:r>
            <a:endParaRPr lang="ko-KR" altLang="en-US" sz="1700" dirty="0"/>
          </a:p>
        </p:txBody>
      </p:sp>
      <p:sp>
        <p:nvSpPr>
          <p:cNvPr id="15" name="Text 12"/>
          <p:cNvSpPr txBox="1"/>
          <p:nvPr/>
        </p:nvSpPr>
        <p:spPr>
          <a:xfrm>
            <a:off x="6987388" y="2304288"/>
            <a:ext cx="4472788"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Create가 실패하고 넘어간다. 파티클처럼 몇 개 빠져도 티가 나지 않는 객체에 맞다.</a:t>
            </a:r>
            <a:endParaRPr lang="ko-KR" altLang="en-US" sz="1400" dirty="0"/>
          </a:p>
        </p:txBody>
      </p:sp>
      <p:sp>
        <p:nvSpPr>
          <p:cNvPr id="16" name="card"/>
          <p:cNvSpPr/>
          <p:nvPr/>
        </p:nvSpPr>
        <p:spPr>
          <a:xfrm>
            <a:off x="548640" y="3703320"/>
            <a:ext cx="5432908" cy="1874520"/>
          </a:xfrm>
          <a:prstGeom prst="roundRect">
            <a:avLst>
              <a:gd name="adj" fmla="val 4878"/>
            </a:avLst>
          </a:prstGeom>
          <a:solidFill>
            <a:schemeClr val="bg2"/>
          </a:solidFill>
          <a:ln w="12700">
            <a:solidFill>
              <a:schemeClr val="bg2"/>
            </a:solidFill>
            <a:prstDash val="solid"/>
          </a:ln>
        </p:spPr>
      </p:sp>
      <p:sp>
        <p:nvSpPr>
          <p:cNvPr id="17" name="Shape 14"/>
          <p:cNvSpPr/>
          <p:nvPr/>
        </p:nvSpPr>
        <p:spPr>
          <a:xfrm>
            <a:off x="777240" y="390448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777240" y="39044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1325880" y="3922776"/>
            <a:ext cx="447278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기존 객체를 회수한다</a:t>
            </a:r>
            <a:endParaRPr lang="ko-KR" altLang="en-US" sz="1700" dirty="0"/>
          </a:p>
        </p:txBody>
      </p:sp>
      <p:sp>
        <p:nvSpPr>
          <p:cNvPr id="20" name="Text 17"/>
          <p:cNvSpPr txBox="1"/>
          <p:nvPr/>
        </p:nvSpPr>
        <p:spPr>
          <a:xfrm>
            <a:off x="1325880" y="4361688"/>
            <a:ext cx="4472788"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쓰고 있는 객체를 끊고 다시 쓴다. 새 소리를 내려고 가장 작은 소리를 끊는 경우이다.</a:t>
            </a:r>
            <a:endParaRPr lang="ko-KR" altLang="en-US" sz="1400" dirty="0"/>
          </a:p>
        </p:txBody>
      </p:sp>
      <p:sp>
        <p:nvSpPr>
          <p:cNvPr id="21" name="card"/>
          <p:cNvSpPr/>
          <p:nvPr/>
        </p:nvSpPr>
        <p:spPr>
          <a:xfrm>
            <a:off x="6210148" y="3703320"/>
            <a:ext cx="5432908" cy="1874520"/>
          </a:xfrm>
          <a:prstGeom prst="roundRect">
            <a:avLst>
              <a:gd name="adj" fmla="val 4878"/>
            </a:avLst>
          </a:prstGeom>
          <a:solidFill>
            <a:schemeClr val="bg2"/>
          </a:solidFill>
          <a:ln w="12700">
            <a:solidFill>
              <a:schemeClr val="bg2"/>
            </a:solidFill>
            <a:prstDash val="solid"/>
          </a:ln>
        </p:spPr>
      </p:sp>
      <p:sp>
        <p:nvSpPr>
          <p:cNvPr id="22" name="Shape 19"/>
          <p:cNvSpPr/>
          <p:nvPr/>
        </p:nvSpPr>
        <p:spPr>
          <a:xfrm>
            <a:off x="6438748" y="3904488"/>
            <a:ext cx="420624" cy="420624"/>
          </a:xfrm>
          <a:prstGeom prst="ellipse">
            <a:avLst/>
          </a:prstGeom>
          <a:solidFill>
            <a:schemeClr val="accent1"/>
          </a:solidFill>
          <a:ln w="12700">
            <a:solidFill>
              <a:schemeClr val="accent1"/>
            </a:solidFill>
            <a:prstDash val="solid"/>
          </a:ln>
        </p:spPr>
      </p:sp>
      <p:sp>
        <p:nvSpPr>
          <p:cNvPr id="23" name="Text 20"/>
          <p:cNvSpPr txBox="1"/>
          <p:nvPr/>
        </p:nvSpPr>
        <p:spPr>
          <a:xfrm>
            <a:off x="6438748" y="39044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4" name="Text 21"/>
          <p:cNvSpPr txBox="1"/>
          <p:nvPr/>
        </p:nvSpPr>
        <p:spPr>
          <a:xfrm>
            <a:off x="6987388" y="3922776"/>
            <a:ext cx="447278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풀을 키운다</a:t>
            </a:r>
            <a:endParaRPr lang="ko-KR" altLang="en-US" sz="1700" dirty="0"/>
          </a:p>
        </p:txBody>
      </p:sp>
      <p:sp>
        <p:nvSpPr>
          <p:cNvPr id="25" name="Text 22"/>
          <p:cNvSpPr txBox="1"/>
          <p:nvPr/>
        </p:nvSpPr>
        <p:spPr>
          <a:xfrm>
            <a:off x="6987388" y="4361688"/>
            <a:ext cx="4472788"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실행 중에 크기를 늘리거나 보조 풀을 둔다. 메모리를 더 쓰므로 나중에 줄일지도 정한다.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5부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쓸 때와 주의점</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관련 패턴과 Unity 대응</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쓸 때와 주의점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자주 만들고 없애는 비슷한 객체가 있을 때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남은 값과 남은 참조는 왜 조심해야 할까?</a:t>
            </a:r>
            <a:endParaRPr lang="ko-KR" altLang="en-US" sz="1500" dirty="0"/>
          </a:p>
        </p:txBody>
      </p:sp>
      <p:sp>
        <p:nvSpPr>
          <p:cNvPr id="6" name="Text 3"/>
          <p:cNvSpPr txBox="1"/>
          <p:nvPr/>
        </p:nvSpPr>
        <p:spPr>
          <a:xfrm>
            <a:off x="548640" y="164592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2"/>
                </a:solidFill>
              </a:rPr>
              <a:t>이럴 때 쓴다</a:t>
            </a:r>
            <a:endParaRPr lang="ko-KR" altLang="en-US" sz="2000" dirty="0"/>
          </a:p>
        </p:txBody>
      </p:sp>
      <p:sp>
        <p:nvSpPr>
          <p:cNvPr id="7" name="card"/>
          <p:cNvSpPr/>
          <p:nvPr/>
        </p:nvSpPr>
        <p:spPr>
          <a:xfrm>
            <a:off x="548640" y="2194560"/>
            <a:ext cx="5349240" cy="804672"/>
          </a:xfrm>
          <a:prstGeom prst="roundRect">
            <a:avLst>
              <a:gd name="adj" fmla="val 11364"/>
            </a:avLst>
          </a:prstGeom>
          <a:solidFill>
            <a:schemeClr val="bg2"/>
          </a:solidFill>
          <a:ln w="12700">
            <a:solidFill>
              <a:schemeClr val="bg2"/>
            </a:solidFill>
            <a:prstDash val="solid"/>
          </a:ln>
        </p:spPr>
      </p:sp>
      <p:sp>
        <p:nvSpPr>
          <p:cNvPr id="8" name="Shape 5"/>
          <p:cNvSpPr/>
          <p:nvPr/>
        </p:nvSpPr>
        <p:spPr>
          <a:xfrm>
            <a:off x="777240" y="2395728"/>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77240" y="239572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0" name="Text 7"/>
          <p:cNvSpPr txBox="1"/>
          <p:nvPr/>
        </p:nvSpPr>
        <p:spPr>
          <a:xfrm>
            <a:off x="1371600" y="2249424"/>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객체를 자주 만들고 자주 없앤다.</a:t>
            </a:r>
            <a:endParaRPr lang="ko-KR" altLang="en-US" sz="1350" dirty="0"/>
          </a:p>
        </p:txBody>
      </p:sp>
      <p:sp>
        <p:nvSpPr>
          <p:cNvPr id="11" name="card"/>
          <p:cNvSpPr/>
          <p:nvPr/>
        </p:nvSpPr>
        <p:spPr>
          <a:xfrm>
            <a:off x="548640" y="3090672"/>
            <a:ext cx="5349240" cy="804672"/>
          </a:xfrm>
          <a:prstGeom prst="roundRect">
            <a:avLst>
              <a:gd name="adj" fmla="val 11364"/>
            </a:avLst>
          </a:prstGeom>
          <a:solidFill>
            <a:schemeClr val="bg2"/>
          </a:solidFill>
          <a:ln w="12700">
            <a:solidFill>
              <a:schemeClr val="bg2"/>
            </a:solidFill>
            <a:prstDash val="solid"/>
          </a:ln>
        </p:spPr>
      </p:sp>
      <p:sp>
        <p:nvSpPr>
          <p:cNvPr id="12" name="Shape 9"/>
          <p:cNvSpPr/>
          <p:nvPr/>
        </p:nvSpPr>
        <p:spPr>
          <a:xfrm>
            <a:off x="777240" y="3291840"/>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777240" y="329184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1371600" y="3145536"/>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객체들의 크기가 비슷하다.</a:t>
            </a:r>
            <a:endParaRPr lang="ko-KR" altLang="en-US" sz="1350" dirty="0"/>
          </a:p>
        </p:txBody>
      </p:sp>
      <p:sp>
        <p:nvSpPr>
          <p:cNvPr id="15" name="card"/>
          <p:cNvSpPr/>
          <p:nvPr/>
        </p:nvSpPr>
        <p:spPr>
          <a:xfrm>
            <a:off x="548640" y="3986784"/>
            <a:ext cx="5349240" cy="804672"/>
          </a:xfrm>
          <a:prstGeom prst="roundRect">
            <a:avLst>
              <a:gd name="adj" fmla="val 11364"/>
            </a:avLst>
          </a:prstGeom>
          <a:solidFill>
            <a:schemeClr val="bg2"/>
          </a:solidFill>
          <a:ln w="12700">
            <a:solidFill>
              <a:schemeClr val="bg2"/>
            </a:solidFill>
            <a:prstDash val="solid"/>
          </a:ln>
        </p:spPr>
      </p:sp>
      <p:sp>
        <p:nvSpPr>
          <p:cNvPr id="16" name="Shape 13"/>
          <p:cNvSpPr/>
          <p:nvPr/>
        </p:nvSpPr>
        <p:spPr>
          <a:xfrm>
            <a:off x="777240" y="4187952"/>
            <a:ext cx="420624" cy="420624"/>
          </a:xfrm>
          <a:prstGeom prst="ellipse">
            <a:avLst/>
          </a:prstGeom>
          <a:solidFill>
            <a:schemeClr val="accent1"/>
          </a:solidFill>
          <a:ln w="12700">
            <a:solidFill>
              <a:schemeClr val="accent1"/>
            </a:solidFill>
            <a:prstDash val="solid"/>
          </a:ln>
        </p:spPr>
      </p:sp>
      <p:sp>
        <p:nvSpPr>
          <p:cNvPr id="17" name="Text 14"/>
          <p:cNvSpPr txBox="1"/>
          <p:nvPr/>
        </p:nvSpPr>
        <p:spPr>
          <a:xfrm>
            <a:off x="777240" y="4187952"/>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8" name="Text 15"/>
          <p:cNvSpPr txBox="1"/>
          <p:nvPr/>
        </p:nvSpPr>
        <p:spPr>
          <a:xfrm>
            <a:off x="1371600" y="4041648"/>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힙 할당이 느리거나 단편화가 걱정된다.</a:t>
            </a:r>
            <a:endParaRPr lang="ko-KR" altLang="en-US" sz="1350" dirty="0"/>
          </a:p>
        </p:txBody>
      </p:sp>
      <p:sp>
        <p:nvSpPr>
          <p:cNvPr id="19" name="card"/>
          <p:cNvSpPr/>
          <p:nvPr/>
        </p:nvSpPr>
        <p:spPr>
          <a:xfrm>
            <a:off x="548640" y="4882896"/>
            <a:ext cx="5349240" cy="804672"/>
          </a:xfrm>
          <a:prstGeom prst="roundRect">
            <a:avLst>
              <a:gd name="adj" fmla="val 11364"/>
            </a:avLst>
          </a:prstGeom>
          <a:solidFill>
            <a:schemeClr val="bg2"/>
          </a:solidFill>
          <a:ln w="12700">
            <a:solidFill>
              <a:schemeClr val="bg2"/>
            </a:solidFill>
            <a:prstDash val="solid"/>
          </a:ln>
        </p:spPr>
      </p:sp>
      <p:sp>
        <p:nvSpPr>
          <p:cNvPr id="20" name="Shape 17"/>
          <p:cNvSpPr/>
          <p:nvPr/>
        </p:nvSpPr>
        <p:spPr>
          <a:xfrm>
            <a:off x="777240" y="5084064"/>
            <a:ext cx="420624" cy="420624"/>
          </a:xfrm>
          <a:prstGeom prst="ellipse">
            <a:avLst/>
          </a:prstGeom>
          <a:solidFill>
            <a:schemeClr val="accent1"/>
          </a:solidFill>
          <a:ln w="12700">
            <a:solidFill>
              <a:schemeClr val="accent1"/>
            </a:solidFill>
            <a:prstDash val="solid"/>
          </a:ln>
        </p:spPr>
      </p:sp>
      <p:sp>
        <p:nvSpPr>
          <p:cNvPr id="21" name="Text 18"/>
          <p:cNvSpPr txBox="1"/>
          <p:nvPr/>
        </p:nvSpPr>
        <p:spPr>
          <a:xfrm>
            <a:off x="777240" y="5084064"/>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2" name="Text 19"/>
          <p:cNvSpPr txBox="1"/>
          <p:nvPr/>
        </p:nvSpPr>
        <p:spPr>
          <a:xfrm>
            <a:off x="1371600" y="4937760"/>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객체마다 얻기 비싼 자원을 감싸고 있어 다시 쓸 수 있다.</a:t>
            </a:r>
            <a:endParaRPr lang="ko-KR" altLang="en-US" sz="1350" dirty="0"/>
          </a:p>
        </p:txBody>
      </p:sp>
      <p:sp>
        <p:nvSpPr>
          <p:cNvPr id="23" name="Text 20"/>
          <p:cNvSpPr txBox="1"/>
          <p:nvPr/>
        </p:nvSpPr>
        <p:spPr>
          <a:xfrm>
            <a:off x="6263640" y="164592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6"/>
                </a:solidFill>
              </a:rPr>
              <a:t>이것을 조심한다</a:t>
            </a:r>
            <a:endParaRPr lang="ko-KR" altLang="en-US" sz="2000" dirty="0"/>
          </a:p>
        </p:txBody>
      </p:sp>
      <p:sp>
        <p:nvSpPr>
          <p:cNvPr id="24" name="card"/>
          <p:cNvSpPr/>
          <p:nvPr/>
        </p:nvSpPr>
        <p:spPr>
          <a:xfrm>
            <a:off x="6263640" y="2194560"/>
            <a:ext cx="5349240" cy="804672"/>
          </a:xfrm>
          <a:prstGeom prst="roundRect">
            <a:avLst>
              <a:gd name="adj" fmla="val 11364"/>
            </a:avLst>
          </a:prstGeom>
          <a:solidFill>
            <a:schemeClr val="bg2"/>
          </a:solidFill>
          <a:ln w="12700">
            <a:solidFill>
              <a:schemeClr val="bg2"/>
            </a:solidFill>
            <a:prstDash val="solid"/>
          </a:ln>
        </p:spPr>
      </p:sp>
      <p:sp>
        <p:nvSpPr>
          <p:cNvPr id="25" name="Shape 22"/>
          <p:cNvSpPr/>
          <p:nvPr/>
        </p:nvSpPr>
        <p:spPr>
          <a:xfrm>
            <a:off x="6492240" y="239572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6492240" y="239572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7" name="Text 24"/>
          <p:cNvSpPr txBox="1"/>
          <p:nvPr/>
        </p:nvSpPr>
        <p:spPr>
          <a:xfrm>
            <a:off x="7086600" y="2249424"/>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풀이 크면 메모리를 낭비하고, 작으면 가득 찬다.</a:t>
            </a:r>
            <a:endParaRPr lang="ko-KR" altLang="en-US" sz="1350" dirty="0"/>
          </a:p>
        </p:txBody>
      </p:sp>
      <p:sp>
        <p:nvSpPr>
          <p:cNvPr id="28" name="card"/>
          <p:cNvSpPr/>
          <p:nvPr/>
        </p:nvSpPr>
        <p:spPr>
          <a:xfrm>
            <a:off x="6263640" y="3090672"/>
            <a:ext cx="5349240" cy="804672"/>
          </a:xfrm>
          <a:prstGeom prst="roundRect">
            <a:avLst>
              <a:gd name="adj" fmla="val 11364"/>
            </a:avLst>
          </a:prstGeom>
          <a:solidFill>
            <a:schemeClr val="bg2"/>
          </a:solidFill>
          <a:ln w="12700">
            <a:solidFill>
              <a:schemeClr val="bg2"/>
            </a:solidFill>
            <a:prstDash val="solid"/>
          </a:ln>
        </p:spPr>
      </p:sp>
      <p:sp>
        <p:nvSpPr>
          <p:cNvPr id="29" name="Shape 26"/>
          <p:cNvSpPr/>
          <p:nvPr/>
        </p:nvSpPr>
        <p:spPr>
          <a:xfrm>
            <a:off x="6492240" y="3291840"/>
            <a:ext cx="420624" cy="420624"/>
          </a:xfrm>
          <a:prstGeom prst="ellipse">
            <a:avLst/>
          </a:prstGeom>
          <a:solidFill>
            <a:schemeClr val="accent1"/>
          </a:solidFill>
          <a:ln w="12700">
            <a:solidFill>
              <a:schemeClr val="accent1"/>
            </a:solidFill>
            <a:prstDash val="solid"/>
          </a:ln>
        </p:spPr>
      </p:sp>
      <p:sp>
        <p:nvSpPr>
          <p:cNvPr id="30" name="Text 27"/>
          <p:cNvSpPr txBox="1"/>
          <p:nvPr/>
        </p:nvSpPr>
        <p:spPr>
          <a:xfrm>
            <a:off x="6492240" y="329184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31" name="Text 28"/>
          <p:cNvSpPr txBox="1"/>
          <p:nvPr/>
        </p:nvSpPr>
        <p:spPr>
          <a:xfrm>
            <a:off x="7086600" y="3145536"/>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한 칸의 크기는 정해져 있다. 크기가 다르면 풀을 나눈다.</a:t>
            </a:r>
            <a:endParaRPr lang="ko-KR" altLang="en-US" sz="1350" dirty="0"/>
          </a:p>
        </p:txBody>
      </p:sp>
      <p:sp>
        <p:nvSpPr>
          <p:cNvPr id="32" name="card"/>
          <p:cNvSpPr/>
          <p:nvPr/>
        </p:nvSpPr>
        <p:spPr>
          <a:xfrm>
            <a:off x="6263640" y="3986784"/>
            <a:ext cx="5349240" cy="804672"/>
          </a:xfrm>
          <a:prstGeom prst="roundRect">
            <a:avLst>
              <a:gd name="adj" fmla="val 11364"/>
            </a:avLst>
          </a:prstGeom>
          <a:solidFill>
            <a:schemeClr val="bg2"/>
          </a:solidFill>
          <a:ln w="12700">
            <a:solidFill>
              <a:schemeClr val="bg2"/>
            </a:solidFill>
            <a:prstDash val="solid"/>
          </a:ln>
        </p:spPr>
      </p:sp>
      <p:sp>
        <p:nvSpPr>
          <p:cNvPr id="33" name="Shape 30"/>
          <p:cNvSpPr/>
          <p:nvPr/>
        </p:nvSpPr>
        <p:spPr>
          <a:xfrm>
            <a:off x="6492240" y="4187952"/>
            <a:ext cx="420624" cy="420624"/>
          </a:xfrm>
          <a:prstGeom prst="ellipse">
            <a:avLst/>
          </a:prstGeom>
          <a:solidFill>
            <a:schemeClr val="accent1"/>
          </a:solidFill>
          <a:ln w="12700">
            <a:solidFill>
              <a:schemeClr val="accent1"/>
            </a:solidFill>
            <a:prstDash val="solid"/>
          </a:ln>
        </p:spPr>
      </p:sp>
      <p:sp>
        <p:nvSpPr>
          <p:cNvPr id="34" name="Text 31"/>
          <p:cNvSpPr txBox="1"/>
          <p:nvPr/>
        </p:nvSpPr>
        <p:spPr>
          <a:xfrm>
            <a:off x="6492240" y="4187952"/>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35" name="Text 32"/>
          <p:cNvSpPr txBox="1"/>
          <p:nvPr/>
        </p:nvSpPr>
        <p:spPr>
          <a:xfrm>
            <a:off x="7086600" y="4041648"/>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다시 쓰는 객체에는 이전 값이 남아 있다.</a:t>
            </a:r>
            <a:endParaRPr lang="ko-KR" altLang="en-US" sz="1350" dirty="0"/>
          </a:p>
        </p:txBody>
      </p:sp>
      <p:sp>
        <p:nvSpPr>
          <p:cNvPr id="36" name="card"/>
          <p:cNvSpPr/>
          <p:nvPr/>
        </p:nvSpPr>
        <p:spPr>
          <a:xfrm>
            <a:off x="6263640" y="4882896"/>
            <a:ext cx="5349240" cy="804672"/>
          </a:xfrm>
          <a:prstGeom prst="roundRect">
            <a:avLst>
              <a:gd name="adj" fmla="val 11364"/>
            </a:avLst>
          </a:prstGeom>
          <a:solidFill>
            <a:schemeClr val="bg2"/>
          </a:solidFill>
          <a:ln w="12700">
            <a:solidFill>
              <a:schemeClr val="bg2"/>
            </a:solidFill>
            <a:prstDash val="solid"/>
          </a:ln>
        </p:spPr>
      </p:sp>
      <p:sp>
        <p:nvSpPr>
          <p:cNvPr id="37" name="Shape 34"/>
          <p:cNvSpPr/>
          <p:nvPr/>
        </p:nvSpPr>
        <p:spPr>
          <a:xfrm>
            <a:off x="6492240" y="5084064"/>
            <a:ext cx="420624" cy="420624"/>
          </a:xfrm>
          <a:prstGeom prst="ellipse">
            <a:avLst/>
          </a:prstGeom>
          <a:solidFill>
            <a:schemeClr val="accent1"/>
          </a:solidFill>
          <a:ln w="12700">
            <a:solidFill>
              <a:schemeClr val="accent1"/>
            </a:solidFill>
            <a:prstDash val="solid"/>
          </a:ln>
        </p:spPr>
      </p:sp>
      <p:sp>
        <p:nvSpPr>
          <p:cNvPr id="38" name="Text 35"/>
          <p:cNvSpPr txBox="1"/>
          <p:nvPr/>
        </p:nvSpPr>
        <p:spPr>
          <a:xfrm>
            <a:off x="6492240" y="5084064"/>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39" name="Text 36"/>
          <p:cNvSpPr txBox="1"/>
          <p:nvPr/>
        </p:nvSpPr>
        <p:spPr>
          <a:xfrm>
            <a:off x="7086600" y="4937760"/>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쉬는 객체도 메모리에 남아 참조를 붙잡는다.</a:t>
            </a:r>
            <a:endParaRPr lang="ko-KR" altLang="en-US" sz="13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주의점 자세히</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다시 쓰는 객체는 저절로 깨끗해지지 않는다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원서는 객체 풀과 함께 볼 패턴으로 무엇을 소개할까?</a:t>
            </a:r>
            <a:endParaRPr lang="ko-KR" altLang="en-US" sz="1500" dirty="0"/>
          </a:p>
        </p:txBody>
      </p:sp>
      <p:sp>
        <p:nvSpPr>
          <p:cNvPr id="6" name="card"/>
          <p:cNvSpPr/>
          <p:nvPr/>
        </p:nvSpPr>
        <p:spPr>
          <a:xfrm>
            <a:off x="548640" y="1645920"/>
            <a:ext cx="3520440" cy="2880360"/>
          </a:xfrm>
          <a:prstGeom prst="roundRect">
            <a:avLst>
              <a:gd name="adj" fmla="val 3175"/>
            </a:avLst>
          </a:prstGeom>
          <a:solidFill>
            <a:schemeClr val="tx2"/>
          </a:solidFill>
          <a:ln w="12700">
            <a:solidFill>
              <a:schemeClr val="tx2"/>
            </a:solidFill>
            <a:prstDash val="solid"/>
          </a:ln>
        </p:spPr>
      </p:sp>
      <p:sp>
        <p:nvSpPr>
          <p:cNvPr id="7" name="Text 4"/>
          <p:cNvSpPr txBox="1"/>
          <p:nvPr/>
        </p:nvSpPr>
        <p:spPr>
          <a:xfrm>
            <a:off x="777240" y="1865376"/>
            <a:ext cx="3108960"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칸의 크기</a:t>
            </a:r>
            <a:endParaRPr lang="ko-KR" altLang="en-US" sz="1700" dirty="0"/>
          </a:p>
        </p:txBody>
      </p:sp>
      <p:sp>
        <p:nvSpPr>
          <p:cNvPr id="8" name="Text 5"/>
          <p:cNvSpPr txBox="1"/>
          <p:nvPr/>
        </p:nvSpPr>
        <p:spPr>
          <a:xfrm>
            <a:off x="777240" y="2423160"/>
            <a:ext cx="3063240" cy="1965960"/>
          </a:xfrm>
          <a:prstGeom prst="rect">
            <a:avLst/>
          </a:prstGeom>
          <a:noFill/>
          <a:ln/>
        </p:spPr>
        <p:txBody>
          <a:bodyPr wrap="square" lIns="0" tIns="0" rIns="0" bIns="0" rtlCol="0" anchor="t"/>
          <a:lstStyle/>
          <a:p>
            <a:pPr indent="0" marL="0" eaLnBrk="0">
              <a:buNone/>
            </a:pPr>
            <a:r>
              <a:rPr lang="ko-KR" altLang="en-US" sz="1400" dirty="0">
                <a:solidFill>
                  <a:schemeClr val="bg1"/>
                </a:solidFill>
              </a:rPr>
              <a:t>원서의 C++ 풀은 칸마다 크기가 정해져 있다. 더 큰 객체를 넣으면 옆 칸을 덮어쓴다.</a:t>
            </a:r>
            <a:endParaRPr lang="ko-KR" altLang="en-US" sz="1400" dirty="0"/>
          </a:p>
          <a:p>
            <a:pPr indent="0" marL="0" eaLnBrk="0">
              <a:buNone/>
            </a:pPr>
            <a:endParaRPr lang="ko-KR" altLang="en-US" sz="1400" dirty="0"/>
          </a:p>
          <a:p>
            <a:pPr indent="0" marL="0" eaLnBrk="0">
              <a:buNone/>
            </a:pPr>
            <a:r>
              <a:rPr lang="ko-KR" altLang="en-US" sz="1400" dirty="0">
                <a:solidFill>
                  <a:schemeClr val="bg1"/>
                </a:solidFill>
              </a:rPr>
              <a:t>크기가 다른 객체가 섞이면 크기별로 풀을 나눈다.</a:t>
            </a:r>
            <a:endParaRPr lang="ko-KR" altLang="en-US" sz="1400" dirty="0"/>
          </a:p>
        </p:txBody>
      </p:sp>
      <p:sp>
        <p:nvSpPr>
          <p:cNvPr id="9" name="card"/>
          <p:cNvSpPr/>
          <p:nvPr/>
        </p:nvSpPr>
        <p:spPr>
          <a:xfrm>
            <a:off x="4315968" y="1645920"/>
            <a:ext cx="3520440" cy="2880360"/>
          </a:xfrm>
          <a:prstGeom prst="roundRect">
            <a:avLst>
              <a:gd name="adj" fmla="val 3175"/>
            </a:avLst>
          </a:prstGeom>
          <a:solidFill>
            <a:schemeClr val="tx2"/>
          </a:solidFill>
          <a:ln w="12700">
            <a:solidFill>
              <a:schemeClr val="tx2"/>
            </a:solidFill>
            <a:prstDash val="solid"/>
          </a:ln>
        </p:spPr>
      </p:sp>
      <p:sp>
        <p:nvSpPr>
          <p:cNvPr id="10" name="Text 7"/>
          <p:cNvSpPr txBox="1"/>
          <p:nvPr/>
        </p:nvSpPr>
        <p:spPr>
          <a:xfrm>
            <a:off x="4544568" y="1865376"/>
            <a:ext cx="3108960"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남은 값</a:t>
            </a:r>
            <a:endParaRPr lang="ko-KR" altLang="en-US" sz="1700" dirty="0"/>
          </a:p>
        </p:txBody>
      </p:sp>
      <p:sp>
        <p:nvSpPr>
          <p:cNvPr id="11" name="Text 8"/>
          <p:cNvSpPr txBox="1"/>
          <p:nvPr/>
        </p:nvSpPr>
        <p:spPr>
          <a:xfrm>
            <a:off x="4544568" y="2423160"/>
            <a:ext cx="3063240" cy="1965960"/>
          </a:xfrm>
          <a:prstGeom prst="rect">
            <a:avLst/>
          </a:prstGeom>
          <a:noFill/>
          <a:ln/>
        </p:spPr>
        <p:txBody>
          <a:bodyPr wrap="square" lIns="0" tIns="0" rIns="0" bIns="0" rtlCol="0" anchor="t"/>
          <a:lstStyle/>
          <a:p>
            <a:pPr indent="0" marL="0" eaLnBrk="0">
              <a:buNone/>
            </a:pPr>
            <a:r>
              <a:rPr lang="ko-KR" altLang="en-US" sz="1400" dirty="0">
                <a:solidFill>
                  <a:schemeClr val="bg1"/>
                </a:solidFill>
              </a:rPr>
              <a:t>꺼낸 객체에는 전에 쓰던 값이 남아 있다. 새것처럼 보여서 찾기 어려운 버그가 된다.</a:t>
            </a:r>
            <a:endParaRPr lang="ko-KR" altLang="en-US" sz="1400" dirty="0"/>
          </a:p>
          <a:p>
            <a:pPr indent="0" marL="0" eaLnBrk="0">
              <a:buNone/>
            </a:pPr>
            <a:endParaRPr lang="ko-KR" altLang="en-US" sz="1400" dirty="0"/>
          </a:p>
          <a:p>
            <a:pPr indent="0" marL="0" eaLnBrk="0">
              <a:buNone/>
            </a:pPr>
            <a:r>
              <a:rPr lang="ko-KR" altLang="en-US" sz="1400" dirty="0">
                <a:solidFill>
                  <a:schemeClr val="bg1"/>
                </a:solidFill>
              </a:rPr>
              <a:t>Init에서 모든 필드를 다시 채운다. 디버그할 때는 반납 때 값을 지워 둔다.</a:t>
            </a:r>
            <a:endParaRPr lang="ko-KR" altLang="en-US" sz="1400" dirty="0"/>
          </a:p>
        </p:txBody>
      </p:sp>
      <p:sp>
        <p:nvSpPr>
          <p:cNvPr id="12" name="card"/>
          <p:cNvSpPr/>
          <p:nvPr/>
        </p:nvSpPr>
        <p:spPr>
          <a:xfrm>
            <a:off x="8083296" y="1645920"/>
            <a:ext cx="3559759" cy="2880360"/>
          </a:xfrm>
          <a:prstGeom prst="roundRect">
            <a:avLst>
              <a:gd name="adj" fmla="val 3175"/>
            </a:avLst>
          </a:prstGeom>
          <a:solidFill>
            <a:schemeClr val="tx2"/>
          </a:solidFill>
          <a:ln w="12700">
            <a:solidFill>
              <a:schemeClr val="tx2"/>
            </a:solidFill>
            <a:prstDash val="solid"/>
          </a:ln>
        </p:spPr>
      </p:sp>
      <p:sp>
        <p:nvSpPr>
          <p:cNvPr id="13" name="Text 10"/>
          <p:cNvSpPr txBox="1"/>
          <p:nvPr/>
        </p:nvSpPr>
        <p:spPr>
          <a:xfrm>
            <a:off x="8311896" y="1865376"/>
            <a:ext cx="3148279"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남은 참조</a:t>
            </a:r>
            <a:endParaRPr lang="ko-KR" altLang="en-US" sz="1700" dirty="0"/>
          </a:p>
        </p:txBody>
      </p:sp>
      <p:sp>
        <p:nvSpPr>
          <p:cNvPr id="14" name="Text 11"/>
          <p:cNvSpPr txBox="1"/>
          <p:nvPr/>
        </p:nvSpPr>
        <p:spPr>
          <a:xfrm>
            <a:off x="8311896" y="2423160"/>
            <a:ext cx="3102559" cy="1965960"/>
          </a:xfrm>
          <a:prstGeom prst="rect">
            <a:avLst/>
          </a:prstGeom>
          <a:noFill/>
          <a:ln/>
        </p:spPr>
        <p:txBody>
          <a:bodyPr wrap="square" lIns="0" tIns="0" rIns="0" bIns="0" rtlCol="0" anchor="t"/>
          <a:lstStyle/>
          <a:p>
            <a:pPr indent="0" marL="0" eaLnBrk="0">
              <a:buNone/>
            </a:pPr>
            <a:r>
              <a:rPr lang="ko-KR" altLang="en-US" sz="1400" dirty="0">
                <a:solidFill>
                  <a:schemeClr val="bg1"/>
                </a:solidFill>
              </a:rPr>
              <a:t>쉬는 객체가 다른 객체를 참조하면 가비지 컬렉터가 그 객체를 회수하지 못한다.</a:t>
            </a:r>
            <a:endParaRPr lang="ko-KR" altLang="en-US" sz="1400" dirty="0"/>
          </a:p>
          <a:p>
            <a:pPr indent="0" marL="0" eaLnBrk="0">
              <a:buNone/>
            </a:pPr>
            <a:endParaRPr lang="ko-KR" altLang="en-US" sz="1400" dirty="0"/>
          </a:p>
          <a:p>
            <a:pPr indent="0" marL="0" eaLnBrk="0">
              <a:buNone/>
            </a:pPr>
            <a:r>
              <a:rPr lang="ko-KR" altLang="en-US" sz="1400" dirty="0">
                <a:solidFill>
                  <a:schemeClr val="bg1"/>
                </a:solidFill>
              </a:rPr>
              <a:t>반납할 때 참조 필드를 null로 비운다.</a:t>
            </a:r>
            <a:endParaRPr lang="ko-KR" altLang="en-US" sz="1400" dirty="0"/>
          </a:p>
        </p:txBody>
      </p:sp>
      <p:sp>
        <p:nvSpPr>
          <p:cNvPr id="15" name="box"/>
          <p:cNvSpPr/>
          <p:nvPr/>
        </p:nvSpPr>
        <p:spPr>
          <a:xfrm>
            <a:off x="548640" y="4754880"/>
            <a:ext cx="11094415" cy="868680"/>
          </a:xfrm>
          <a:prstGeom prst="roundRect">
            <a:avLst>
              <a:gd name="adj" fmla="val 8421"/>
            </a:avLst>
          </a:prstGeom>
          <a:solidFill>
            <a:schemeClr val="bg2"/>
          </a:solidFill>
          <a:ln w="12700">
            <a:solidFill>
              <a:schemeClr val="bg2"/>
            </a:solidFill>
            <a:prstDash val="solid"/>
          </a:ln>
        </p:spPr>
      </p:sp>
      <p:sp>
        <p:nvSpPr>
          <p:cNvPr id="16" name="Text 13"/>
          <p:cNvSpPr txBox="1"/>
          <p:nvPr/>
        </p:nvSpPr>
        <p:spPr>
          <a:xfrm>
            <a:off x="548640" y="4754880"/>
            <a:ext cx="11094415" cy="868680"/>
          </a:xfrm>
          <a:prstGeom prst="rect">
            <a:avLst/>
          </a:prstGeom>
          <a:noFill/>
          <a:ln/>
        </p:spPr>
        <p:txBody>
          <a:bodyPr wrap="square" lIns="635" tIns="635" rIns="635" bIns="635" rtlCol="0" anchor="ctr"/>
          <a:lstStyle/>
          <a:p>
            <a:pPr algn="ctr" indent="0" marL="0" eaLnBrk="0">
              <a:buNone/>
            </a:pPr>
            <a:r>
              <a:rPr lang="ko-KR" altLang="en-US" sz="1700" b="1" dirty="0">
                <a:solidFill>
                  <a:schemeClr val="tx1"/>
                </a:solidFill>
              </a:rPr>
              <a:t>꺼낼 때는 모든 필드를 다시 채우고, 반납할 때는 참조를 비운다.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관련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원서가 함께 소개하는 패턴들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Unity에서는 이 생각이 어디에 쓰이고 있을까?</a:t>
            </a:r>
            <a:endParaRPr lang="ko-KR" altLang="en-US" sz="1500" dirty="0"/>
          </a:p>
        </p:txBody>
      </p:sp>
      <p:sp>
        <p:nvSpPr>
          <p:cNvPr id="6" name="Shape 3"/>
          <p:cNvSpPr/>
          <p:nvPr/>
        </p:nvSpPr>
        <p:spPr>
          <a:xfrm>
            <a:off x="548640" y="1737360"/>
            <a:ext cx="11094415" cy="1143000"/>
          </a:xfrm>
          <a:prstGeom prst="roundRect">
            <a:avLst>
              <a:gd name="adj" fmla="val 8000"/>
            </a:avLst>
          </a:prstGeom>
          <a:solidFill>
            <a:schemeClr val="bg2"/>
          </a:solidFill>
          <a:ln w="12700">
            <a:solidFill>
              <a:schemeClr val="bg2"/>
            </a:solidFill>
            <a:prstDash val="solid"/>
          </a:ln>
        </p:spPr>
      </p:sp>
      <p:sp>
        <p:nvSpPr>
          <p:cNvPr id="7" name="Text 4"/>
          <p:cNvSpPr txBox="1"/>
          <p:nvPr/>
        </p:nvSpPr>
        <p:spPr>
          <a:xfrm>
            <a:off x="822960" y="187452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경량(Flyweight)</a:t>
            </a:r>
            <a:endParaRPr lang="ko-KR" altLang="en-US" sz="1800" dirty="0"/>
          </a:p>
        </p:txBody>
      </p:sp>
      <p:sp>
        <p:nvSpPr>
          <p:cNvPr id="8" name="Shape 5"/>
          <p:cNvSpPr/>
          <p:nvPr/>
        </p:nvSpPr>
        <p:spPr>
          <a:xfrm>
            <a:off x="822960" y="2377440"/>
            <a:ext cx="822960" cy="347472"/>
          </a:xfrm>
          <a:prstGeom prst="roundRect">
            <a:avLst>
              <a:gd name="adj" fmla="val 21053"/>
            </a:avLst>
          </a:prstGeom>
          <a:solidFill>
            <a:schemeClr val="accent1"/>
          </a:solidFill>
          <a:ln w="12700">
            <a:solidFill>
              <a:schemeClr val="accent1"/>
            </a:solidFill>
            <a:prstDash val="solid"/>
          </a:ln>
        </p:spPr>
      </p:sp>
      <p:sp>
        <p:nvSpPr>
          <p:cNvPr id="9" name="Text 6"/>
          <p:cNvSpPr txBox="1"/>
          <p:nvPr/>
        </p:nvSpPr>
        <p:spPr>
          <a:xfrm>
            <a:off x="822960" y="2377440"/>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3강</a:t>
            </a:r>
            <a:endParaRPr lang="ko-KR" altLang="en-US" sz="1200" dirty="0"/>
          </a:p>
        </p:txBody>
      </p:sp>
      <p:sp>
        <p:nvSpPr>
          <p:cNvPr id="10" name="Text 7"/>
          <p:cNvSpPr txBox="1"/>
          <p:nvPr/>
        </p:nvSpPr>
        <p:spPr>
          <a:xfrm>
            <a:off x="4297680" y="1874520"/>
            <a:ext cx="7071055" cy="868680"/>
          </a:xfrm>
          <a:prstGeom prst="rect">
            <a:avLst/>
          </a:prstGeom>
          <a:noFill/>
          <a:ln/>
        </p:spPr>
        <p:txBody>
          <a:bodyPr wrap="square" lIns="0" tIns="0" rIns="0" bIns="0" rtlCol="0" anchor="ctr"/>
          <a:lstStyle/>
          <a:p>
            <a:pPr indent="0" marL="0" eaLnBrk="0">
              <a:buNone/>
            </a:pPr>
            <a:r>
              <a:rPr lang="ko-KR" altLang="en-US" sz="1500" dirty="0">
                <a:solidFill>
                  <a:schemeClr val="tx2"/>
                </a:solidFill>
              </a:rPr>
              <a:t>둘 다 객체를 다시 쓴다. 경량은 한 객체를 여러 곳이 동시에 함께 쓰고, 객체 풀은 앞사람이 다 쓴 객체를 다음 사람이 쓴다.</a:t>
            </a:r>
            <a:endParaRPr lang="ko-KR" altLang="en-US" sz="1500" dirty="0"/>
          </a:p>
        </p:txBody>
      </p:sp>
      <p:sp>
        <p:nvSpPr>
          <p:cNvPr id="11" name="Shape 8"/>
          <p:cNvSpPr/>
          <p:nvPr/>
        </p:nvSpPr>
        <p:spPr>
          <a:xfrm>
            <a:off x="548640" y="3063240"/>
            <a:ext cx="11094415" cy="1143000"/>
          </a:xfrm>
          <a:prstGeom prst="roundRect">
            <a:avLst>
              <a:gd name="adj" fmla="val 8000"/>
            </a:avLst>
          </a:prstGeom>
          <a:solidFill>
            <a:schemeClr val="bg2"/>
          </a:solidFill>
          <a:ln w="12700">
            <a:solidFill>
              <a:schemeClr val="bg2"/>
            </a:solidFill>
            <a:prstDash val="solid"/>
          </a:ln>
        </p:spPr>
      </p:sp>
      <p:sp>
        <p:nvSpPr>
          <p:cNvPr id="12" name="Text 9"/>
          <p:cNvSpPr txBox="1"/>
          <p:nvPr/>
        </p:nvSpPr>
        <p:spPr>
          <a:xfrm>
            <a:off x="822960" y="320040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데이터 지역성</a:t>
            </a:r>
            <a:endParaRPr lang="ko-KR" altLang="en-US" sz="1800" dirty="0"/>
          </a:p>
        </p:txBody>
      </p:sp>
      <p:sp>
        <p:nvSpPr>
          <p:cNvPr id="13" name="Text 10"/>
          <p:cNvSpPr txBox="1"/>
          <p:nvPr/>
        </p:nvSpPr>
        <p:spPr>
          <a:xfrm>
            <a:off x="4297680" y="3200400"/>
            <a:ext cx="7071055" cy="868680"/>
          </a:xfrm>
          <a:prstGeom prst="rect">
            <a:avLst/>
          </a:prstGeom>
          <a:noFill/>
          <a:ln/>
        </p:spPr>
        <p:txBody>
          <a:bodyPr wrap="square" lIns="0" tIns="0" rIns="0" bIns="0" rtlCol="0" anchor="ctr"/>
          <a:lstStyle/>
          <a:p>
            <a:pPr indent="0" marL="0" eaLnBrk="0">
              <a:buNone/>
            </a:pPr>
            <a:r>
              <a:rPr lang="ko-KR" altLang="en-US" sz="1500" dirty="0">
                <a:solidFill>
                  <a:schemeClr val="tx2"/>
                </a:solidFill>
              </a:rPr>
              <a:t>같은 종류의 객체를 메모리에 붙여 두면 순회할 때 CPU 캐시를 잘 쓴다. C#에서 객체 자체를 붙이려면 구조체 배열이 필요하다.</a:t>
            </a:r>
            <a:endParaRPr lang="ko-KR" altLang="en-US" sz="1500" dirty="0"/>
          </a:p>
        </p:txBody>
      </p:sp>
      <p:sp>
        <p:nvSpPr>
          <p:cNvPr id="14" name="Shape 11"/>
          <p:cNvSpPr/>
          <p:nvPr/>
        </p:nvSpPr>
        <p:spPr>
          <a:xfrm>
            <a:off x="548640" y="4389120"/>
            <a:ext cx="11094415" cy="1143000"/>
          </a:xfrm>
          <a:prstGeom prst="roundRect">
            <a:avLst>
              <a:gd name="adj" fmla="val 8000"/>
            </a:avLst>
          </a:prstGeom>
          <a:solidFill>
            <a:schemeClr val="bg2"/>
          </a:solidFill>
          <a:ln w="12700">
            <a:solidFill>
              <a:schemeClr val="bg2"/>
            </a:solidFill>
            <a:prstDash val="solid"/>
          </a:ln>
        </p:spPr>
      </p:sp>
      <p:sp>
        <p:nvSpPr>
          <p:cNvPr id="15" name="Text 12"/>
          <p:cNvSpPr txBox="1"/>
          <p:nvPr/>
        </p:nvSpPr>
        <p:spPr>
          <a:xfrm>
            <a:off x="822960" y="452628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업데이트 메서드</a:t>
            </a:r>
            <a:endParaRPr lang="ko-KR" altLang="en-US" sz="1800" dirty="0"/>
          </a:p>
        </p:txBody>
      </p:sp>
      <p:sp>
        <p:nvSpPr>
          <p:cNvPr id="16" name="Text 13"/>
          <p:cNvSpPr txBox="1"/>
          <p:nvPr/>
        </p:nvSpPr>
        <p:spPr>
          <a:xfrm>
            <a:off x="4297680" y="4526280"/>
            <a:ext cx="7071055" cy="868680"/>
          </a:xfrm>
          <a:prstGeom prst="rect">
            <a:avLst/>
          </a:prstGeom>
          <a:noFill/>
          <a:ln/>
        </p:spPr>
        <p:txBody>
          <a:bodyPr wrap="square" lIns="0" tIns="0" rIns="0" bIns="0" rtlCol="0" anchor="ctr"/>
          <a:lstStyle/>
          <a:p>
            <a:pPr indent="0" marL="0" eaLnBrk="0">
              <a:buNone/>
            </a:pPr>
            <a:r>
              <a:rPr lang="ko-KR" altLang="en-US" sz="1500" dirty="0">
                <a:solidFill>
                  <a:schemeClr val="tx2"/>
                </a:solidFill>
              </a:rPr>
              <a:t>풀의 Animate가 매 프레임 모든 파티클의 Animate를 부르는 방식이다.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Unity에서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Unity에는 UnityEngine.Pool.ObjectPool&lt;T&gt;가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마지막으로 오늘 내용을 질문으로 확인해 보자.</a:t>
            </a:r>
            <a:endParaRPr lang="ko-KR" altLang="en-US" sz="15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8960"/>
                <a:gridCol w="7985455"/>
              </a:tblGrid>
              <a:tr h="411480">
                <a:tc>
                  <a:txBody>
                    <a:bodyPr/>
                    <a:lstStyle/>
                    <a:p>
                      <a:pPr indent="0" marL="0" eaLnBrk="0">
                        <a:buNone/>
                      </a:pPr>
                      <a:r>
                        <a:rPr lang="ko-KR" altLang="en-US" sz="1300" b="1" dirty="0">
                          <a:solidFill>
                            <a:schemeClr val="bg1"/>
                          </a:solidFill>
                        </a:rPr>
                        <a:t>Unity API</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300" b="1" dirty="0">
                          <a:solidFill>
                            <a:schemeClr val="bg1"/>
                          </a:solidFill>
                        </a:rPr>
                        <a:t>객체 풀 패턴과의 관계</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58368">
                <a:tc>
                  <a:txBody>
                    <a:bodyPr/>
                    <a:lstStyle/>
                    <a:p>
                      <a:pPr indent="0" marL="0" eaLnBrk="0">
                        <a:buNone/>
                      </a:pPr>
                      <a:r>
                        <a:rPr lang="ko-KR" altLang="en-US" sz="1300" b="1" dirty="0">
                          <a:solidFill>
                            <a:schemeClr val="tx1"/>
                          </a:solidFill>
                        </a:rPr>
                        <a:t>ObjectPool&lt;T&gt; 생성자</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풀 자체이다. createFunc, actionOnGet, actionOnRelease, actionOnDestroy, collectionCheck, defaultCapacity, maxSize를 받는다.</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300" b="1" dirty="0">
                          <a:solidFill>
                            <a:schemeClr val="tx1"/>
                          </a:solidFill>
                        </a:rPr>
                        <a:t>Get(), Release(T)</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꺼내기와 반납하기이다. 쉬는 객체가 없으면 Get이 createFunc로 새로 만든다. (풀을 키운다)</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300" b="1" dirty="0">
                          <a:solidFill>
                            <a:schemeClr val="tx1"/>
                          </a:solidFill>
                        </a:rPr>
                        <a:t>actionOnGet, actionOnRelease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꺼낼 때와 반납할 때 풀이 부르는 함수이다. 재사용 객체의 초기화를 풀 밖의 코드가 정한다.</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300" b="1" dirty="0">
                          <a:solidFill>
                            <a:schemeClr val="tx1"/>
                          </a:solidFill>
                        </a:rPr>
                        <a:t>maxSize, actionOnDestroy</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보관할 최대 개수이다. 넘치게 반납된 객체는 보관하지 않고 actionOnDestroy로 넘긴다.</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300" b="1" dirty="0">
                          <a:solidFill>
                            <a:schemeClr val="tx1"/>
                          </a:solidFill>
                        </a:rPr>
                        <a:t>GameObject.SetActive(bool)</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Instantiate와 Destroy 대신 켜고 끈다. 꺼진 오브젝트가 쉬는 객체이다.</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300" b="1" dirty="0">
                          <a:solidFill>
                            <a:schemeClr val="tx1"/>
                          </a:solidFill>
                        </a:rPr>
                        <a:t>LinkedPool&lt;T&gt;</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쉬는 객체를 연결 리스트로 관리하는 풀이다. (3부의 빈칸 목록)</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확인 질문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질문으로 다시 정리한다</a:t>
            </a:r>
            <a:endParaRPr lang="ko-KR" alt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120640"/>
                <a:gridCol w="5973775"/>
              </a:tblGrid>
              <a:tr h="457200">
                <a:tc>
                  <a:txBody>
                    <a:bodyPr/>
                    <a:lstStyle/>
                    <a:p>
                      <a:pPr indent="0" marL="0" eaLnBrk="0">
                        <a:buNone/>
                      </a:pPr>
                      <a:r>
                        <a:rPr lang="ko-KR" altLang="en-US" sz="1500" b="1" dirty="0">
                          <a:solidFill>
                            <a:schemeClr val="bg1"/>
                          </a:solidFill>
                        </a:rPr>
                        <a:t>질문</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답</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58368">
                <a:tc>
                  <a:txBody>
                    <a:bodyPr/>
                    <a:lstStyle/>
                    <a:p>
                      <a:pPr indent="0" marL="0" eaLnBrk="0">
                        <a:buNone/>
                      </a:pPr>
                      <a:r>
                        <a:rPr lang="ko-KR" altLang="en-US" sz="1500" b="1" dirty="0">
                          <a:solidFill>
                            <a:schemeClr val="tx1"/>
                          </a:solidFill>
                        </a:rPr>
                        <a:t>객체 풀 패턴을 한 문장으로 말하면?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미리 만든 객체를 꺼내 쓰고 돌려받아, 할당과 해제를 반복하지 않는다.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빈 메모리가 충분한데 할당이 실패하는 까닭은?</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단편화. 빈 공간이 작은 조각으로 흩어져 이어진 덩어리가 없다.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첫 번째 Create가 느려질 수 있는 까닭은?</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빈 파티클을 찾으려고 배열을 처음부터 훑기 때문이다.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빈칸 목록에서 파티클이 반납되면 head는?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반납된 파티클이 head가 되고, 그 Next가 이전 head를 가리킨다.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ObjectPool&lt;T&gt;에서 꺼낼 때와 반납할 때 부르는 함수는?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actionOnGet과 actionOnRelease. 보통 SetActive(true)와 SetActive(false)를 부른다.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870448"/>
            <a:ext cx="11094415" cy="411480"/>
          </a:xfrm>
          <a:prstGeom prst="rect">
            <a:avLst/>
          </a:prstGeom>
          <a:noFill/>
          <a:ln/>
        </p:spPr>
        <p:txBody>
          <a:bodyPr wrap="square" lIns="0" tIns="0" rIns="0" bIns="0" rtlCol="0" anchor="t"/>
          <a:lstStyle/>
          <a:p>
            <a:pPr indent="0" marL="0" eaLnBrk="0">
              <a:buNone/>
            </a:pPr>
            <a:r>
              <a:rPr lang="ko-KR" altLang="en-US" sz="1300" b="1" dirty="0">
                <a:solidFill>
                  <a:schemeClr val="accent1"/>
                </a:solidFill>
              </a:rPr>
              <a:t>과정 정리  </a:t>
            </a:r>
            <a:pPr indent="0" marL="0" eaLnBrk="0">
              <a:buNone/>
            </a:pPr>
            <a:r>
              <a:rPr lang="ko-KR" altLang="en-US" sz="1300" dirty="0">
                <a:solidFill>
                  <a:schemeClr val="tx2"/>
                </a:solidFill>
              </a:rPr>
              <a:t>객체지향·컴포넌트, 명령, 경량, 상태, 싱글턴, 관찰자, 타입 객체, 하위 클래스 샌드박스, 바이트코드, 이벤트 큐, 서비스 중개자, 객체 풀</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32</a:t>
            </a:fld>
            <a:endParaRPr lang="ko-KR" altLang="en-US"/>
          </a:p>
        </p:txBody>
      </p:sp>
    </p:spTree>
  </p:cSld>
  <p:clrMapOvr>
    <a:masterClrMapping/>
  </p:clrMapOvr>
</p:sld>
</file>

<file path=ppt/theme/theme1.xml><?xml version="1.0" encoding="utf-8"?>
<a:theme xmlns:a="http://schemas.openxmlformats.org/drawingml/2006/main" name="Patterns Lecture">
  <a:themeElements>
    <a:clrScheme name="Patterns Lecture">
      <a:dk1>
        <a:srgbClr val="1F2430"/>
      </a:dk1>
      <a:lt1>
        <a:srgbClr val="FFFFFF"/>
      </a:lt1>
      <a:dk2>
        <a:srgbClr val="2B2D42"/>
      </a:dk2>
      <a:lt2>
        <a:srgbClr val="F1F3F6"/>
      </a:lt2>
      <a:accent1>
        <a:srgbClr val="E07A3F"/>
      </a:accent1>
      <a:accent2>
        <a:srgbClr val="2A9D8F"/>
      </a:accent2>
      <a:accent3>
        <a:srgbClr val="8D99AE"/>
      </a:accent3>
      <a:accent4>
        <a:srgbClr val="E9C46A"/>
      </a:accent4>
      <a:accent5>
        <a:srgbClr val="5C6577"/>
      </a:accent5>
      <a:accent6>
        <a:srgbClr val="C44536"/>
      </a:accent6>
      <a:hlink>
        <a:srgbClr val="2A9D8F"/>
      </a:hlink>
      <a:folHlink>
        <a:srgbClr val="5C6577"/>
      </a:folHlink>
    </a:clrScheme>
    <a:fontScheme name="Patterns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12강 객체 풀(Object Pool) 패턴</dc:title>
  <dc:subject>PptxGenJS Presentation</dc:subject>
  <dc:creator>Mini Tactics 패턴 수업</dc:creator>
  <cp:lastModifiedBy>Mini Tactics 패턴 수업</cp:lastModifiedBy>
  <cp:revision>1</cp:revision>
  <dcterms:created xsi:type="dcterms:W3CDTF">2026-10-27T07:30:11Z</dcterms:created>
  <dcterms:modified xsi:type="dcterms:W3CDTF">2026-10-27T07:30:11Z</dcterms:modified>
</cp:coreProperties>
</file>