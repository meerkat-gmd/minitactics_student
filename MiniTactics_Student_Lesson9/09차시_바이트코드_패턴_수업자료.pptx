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시작" id="{dbbf2a14-5d50-06d5-0005-eb59fe9c20a9}">
          <p14:sldIdLst>
            <p14:sldId id="256"/>
            <p14:sldId id="257"/>
            <p14:sldId id="258"/>
          </p14:sldIdLst>
        </p14:section>
        <p14:section name="1 · 주문을 데이터로" id="{5a04d5c5-40fe-e926-2ca7-02aad5ff6b50}">
          <p14:sldIdLst>
            <p14:sldId id="259"/>
            <p14:sldId id="260"/>
            <p14:sldId id="261"/>
            <p14:sldId id="262"/>
            <p14:sldId id="263"/>
            <p14:sldId id="264"/>
            <p14:sldId id="265"/>
          </p14:sldIdLst>
        </p14:section>
        <p14:section name="2 · 명령 집합과 가상 기계" id="{7ad20cf3-10a4-ab88-0b04-132d1c86aa5e}">
          <p14:sldIdLst>
            <p14:sldId id="266"/>
            <p14:sldId id="267"/>
            <p14:sldId id="268"/>
          </p14:sldIdLst>
        </p14:section>
        <p14:section name="3 · 스택 기계" id="{314cbafa-ef8e-6fed-48fd-0e938fa84b8a}">
          <p14:sldIdLst>
            <p14:sldId id="269"/>
            <p14:sldId id="270"/>
            <p14:sldId id="271"/>
            <p14:sldId id="272"/>
            <p14:sldId id="273"/>
          </p14:sldIdLst>
        </p14:section>
        <p14:section name="4 · 행동을 조합하기" id="{15f857e8-aaa4-84e6-5bcc-19806bb21178}">
          <p14:sldIdLst>
            <p14:sldId id="274"/>
            <p14:sldId id="275"/>
            <p14:sldId id="276"/>
            <p14:sldId id="277"/>
            <p14:sldId id="278"/>
            <p14:sldId id="279"/>
          </p14:sldIdLst>
        </p14:section>
        <p14:section name="5 · 설계 결정과 주의점" id="{9850d3ce-cf60-6d0d-1978-364b9dde3d93}">
          <p14:sldIdLst>
            <p14:sldId id="280"/>
            <p14:sldId id="281"/>
            <p14:sldId id="282"/>
            <p14:sldId id="283"/>
            <p14:sldId id="284"/>
            <p14:sldId id="285"/>
            <p14:sldId id="286"/>
            <p14:sldId id="287"/>
            <p14:sldId id="288"/>
          </p14:sldIdLst>
        </p14:section>
        <p14:section name="정리" id="{f268559a-8c44-0dfe-e07a-d40ee643d61a}">
          <p14:sldIdLst>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오늘은 원서 「바이트코드」 장의 순서를 그대로 따라갑니다. 마법 대결 게임의 주문을 코드가 아닌 데이터로 정의하려는 동기에서 출발해, 작은 가상 기계와 스택 기계를 직접 만들고, 하나의 식을 명령 목록으로 바꾸어 실행합니다. 원서에서 가장 복잡한 패턴이지만, 기능을 작게 유지하면 생각보다 만들기 쉽다는 것이 오늘의 메시지입니다.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원서의 바이트코드 장은 마법 대결 게임 하나로 끝까지 설명합니다. 먼저 주문을 데이터로 만들고 싶은 이유와, 인터프리터 패턴으로 만든 첫 시도의 비용을 봅니다. 그다음 명령 집합과 가상 기계를 만들고, 스택으로 값을 전달하고, 명령을 조합해 식 하나를 실행합니다. 끝으로 설계 결정과 주의점, Unity 대응을 정리합니다.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바이트코드 패턴은 행동을 게임 코드에 직접 적지 않고, 게임 안의 작은 가상 기계가 실행할 명령 목록으로 적습니다. 명령 하나가 바이트 하나이므로 이 목록을 바이트코드라고 부릅니다. 행동이 데이터가 되므로 파일로 저장하고, 다시 빌드하지 않고 고치고, 게임이 허락한 일만 하도록 가둘 수 있습니다.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게임 코드는 크고 무겁습니다. 그런데 재미를 맞추려면 수치를 계속 바꿔 봐야 합니다. 이 충돌에서 출발합니다.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게임 코드는 수백만 줄에 이르고, 안정성과 성능 때문에 C++ 같은 무거운 언어로 만들며, 빌드에 오랜 시간이 걸립니다. 두 마법사가 서로 주문을 던지는 마법 대결 게임을 만든다고 합시다. 주문을 게임 코드에 적으면, 디자이너가 수치 몇 개를 바꿔 보고 싶을 때마다 엔지니어가 코드를 고치고, 게임 전체를 다시 컴파일하고, 다시 실행해 대결에 들어가야 합니다. 출시 뒤 주문을 고치려면 실행 파일을 패치해야 하고, 사용자가 주문을 직접 만드는 모드를 지원하려면 문제가 더 커집니다. 그래서 주문을 게임 본체와 격리하고, 쉽게 고쳐 다시 불러오고, 실행 파일과 따로 두고 싶습니다. 이것은 데이터의 성질입니다. 남은 문제는 데이터를 실행한다는 것이 무슨 뜻인지입니다. 원서는 이를 설명하기 위해 먼저 인터프리터 패턴과 비교합니다.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인터프리터 패턴은 언어의 문법 규칙 하나하나를 객체로 만듭니다. 산술식 괄호 1 더하기 2, 곱하기, 괄호 3 빼기 4를 예로 들면, 숫자는 값을 감싼 작은 객체가 되고, 연산자는 피연산자 객체를 참조하는 객체가 됩니다. 문자열을 이런 객체 트리로 바꾸는 일을 파싱이라고 합니다. 인터프리터 패턴의 관심은 트리를 만드는 것이 아니라 실행하는 것입니다. 모든 식이 Evaluate 메서드를 가지고 스스로 값을 계산합니다.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덧셈과 곱셈은 하위 식을 가지고 있으므로, 자신을 계산하기 전에 하위 식을 재귀로 계산해야 합니다. 곱셈도 같은 모양입니다. 클래스 몇 개만으로 아무리 복잡한 산술식도 나타내고 계산할 수 있습니다. 객체를 올바르게 만들어 연결하기만 하면 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그림을 다시 보면 작은 상자와 화살표가 가득합니다. 코드를 작은 객체의 트리로 나타내면 세 가지 비용이 생깁니다. 불러올 때 작은 객체를 많이 만들고 연결해야 합니다. 객체와 참조가 메모리를 많이 써서, 32비트 기계에서 앞의 작은 식 하나가 적어도 68바이트를 차지합니다. 참조를 따라가면 데이터 캐시가, 가상 메서드 호출은 명령 캐시가 손해를 봅니다. 그래서 널리 쓰이는 언어 대부분은 이 방식으로 만들지 않습니다.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게임 자체는 문법 트리를 따라가며 실행되지 않습니다. 미리 기계어로 컴파일되어 CPU가 실행합니다. 기계어는 조밀하고, 선형이고, 저수준이고, 빠릅니다. 하지만 사용자가 만든 기계어를 그대로 실행하면 보안 문제가 생깁니다. 많은 게임 콘솔과 iOS는 실행 중에 불러오거나 만든 기계어를 아예 실행하지 못하게 합니다. 그래서 기계어를 닮은 우리만의 명령을 정의하고, 게임 안에 그것을 실행하는 작은 에뮬레이터를 둡니다. 이 에뮬레이터가 가상 기계이고, 가상 기계가 실행하는 바이너리 코드가 바이트코드입니다.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원서의 패턴 설명을 그림으로 옮겼습니다. 명령 집합은 할 수 있는 저수준 연산을 정합니다. 명령들은 바이트의 열로 적힙니다. 가상 기계는 이 명령을 하나씩 실행하고, 명령 사이에 값을 넘길 때는 스택을 씁니다. 저수준 명령을 조합하면 복잡한 고수준 행동을 만들 수 있습니다.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바이트코드를 생각하기 전에, 먼저 주문이 부를 기능을 API처럼 정리합니다.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주문을 C# 코드로 적는다면 어떤 게임 기능을 불러야 할지부터 정합니다. 대부분의 주문은 마법사의 능력치 하나를 바꾸므로 체력, 지혜, 민첩을 정하는 메서드를 둡니다. 첫 매개변수는 어느 마법사인지를 나타내며, 0은 플레이어, 1은 상대입니다. 소리와 파티클은 게임 결과에는 영향이 없지만 손맛을 줍니다. 처음에는 매개변수를 모두 버리고, 명령마다 번호만 붙입니다. 종류가 다섯 개뿐이니 한 바이트에 들어가고, 주문은 바이트의 목록, 즉 바이트코드가 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명령 하나를 실행하려면 어떤 명령인지 보고 맞는 API 메서드를 부르면 됩니다. 이 switch가 코드 세계와 데이터 세계를 잇는 다리입니다. 이것을 반복문으로 감싸면 주문 전체를 실행하는 가상 기계가 됩니다. 원서는 C++ 배열의 크기를 따로 넘기지만, C#의 배열은 Length를 알고 있습니다. 매개변수를 버렸으므로 능력치는 언제나 플레이어 마법사의 것을 최대로 올리고, 소리와 파티클도 하나씩만 씁니다.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명령에 매개변수를 넘기는 방법입니다. CPU가 하는 것처럼 스택을 씁니다.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중첩된 식을 계산할 때는 가장 안쪽 하위 식부터 계산하고, 그 결과가 바깥 식의 인수로 흘러갑니다. 인터프리터 패턴은 이 흐름을 객체 트리로 나타냈습니다. 우리는 평평한 명령 목록을 원하므로, 명령의 순서와 스택으로 같은 흐름을 만듭니다. 이 구조를 스택 기계라고 부릅니다. 지금은 값이 정수뿐이므로 int 배열 하나면 됩니다. Push는 위에 넣고, Pop은 맨 위의 값을 꺼냅니다. 원서의 assert는 C#의 Debug.Assert로 옮겼습니다.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매개변수가 필요한 명령은 스택에서 값을 꺼냅니다. SetHealth는 두 값이 필요합니다. 스택은 나중에 넣은 값이 먼저 나오므로, 마법사 번호를 먼저 넣고 양을 나중에 넣었다면 양을 먼저 꺼내야 합니다. 지혜와 민첩도 같은 모양입니다. 원서는 C++의 case 흘러내림으로 이를 표시했지만, C#에서는 빈 case가 다음 case의 본문으로 이어지므로 주석으로 대신했습니다.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스택에 값을 넣으려면 명령이 하나 더 필요합니다. 정수 값 하나를 나타내는 리터럴 명령입니다. 그 값은 어디서 오는지가 문제인데, 바이트코드가 바이트의 열이라는 점을 이용합니다. 숫자를 명령 바로 다음 바이트에 그대로 넣습니다. Literal 명령은 다음 바이트를 읽어 스택에 넣고, 반복문의 i를 한 칸 더 옮깁니다. 원서는 간단하게 한 바이트만 읽지만, 실제로는 여러 바이트로 된 정수를 읽어야 합니다. C#의 byte는 0부터 255까지이므로 음수도 넣을 수 없습니다.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빈 스택에서 시작합니다. 첫 Literal은 다음 바이트 0을 읽어 넣습니다. 두 번째 Literal은 10을 넣습니다. SetHealth는 10을 꺼내 amount에, 0을 꺼내 wizard에 담고 SetHealth를 부릅니다. 플레이어 마법사의 체력을 10으로 정하는 주문입니다. 이제 어느 마법사의 어떤 능력치든 원하는 값으로 정할 수 있고, 소리와 파티클도 골라 쓸 수 있습니다.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지금의 가상 기계는 내장 함수 몇 개와 상수 인수만 가진 언어입니다. 행동처럼 느껴지려면 조합이 필요합니다.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능력치를 얼마로 정하는 것이 아니라 얼마만큼 바꾸려면 현재 값을 알아야 합니다. 그래서 능력치를 읽는 명령을 더합니다. GetHealth는 스택을 양방향으로 씁니다. 마법사 번호를 꺼내고, 그 마법사의 체력을 다시 넣습니다. 다음은 산술입니다. Add는 두 값을 꺼내 더한 결과를 넣습니다. 지금까지는 명령마다 조금씩 나아졌지만, 이 명령으로 큰 도약을 합니다. 이제 아무리 깊게 중첩된 산술식도 표현할 수 있습니다.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원서의 예는 플레이어 마법사의 체력을 민첩과 지혜의 평균만큼 올리는 주문입니다. 괄호로 묶은 부분을 따로 처리하는 명령이 있어야 할 것 같지만, 스택이 그 묶음을 저절로 처리합니다. 손으로 계산하는 순서를 적어 보면 기억하고 다시 꺼내는 일이 반복됩니다. 기억하는 일이 Push, 꺼내는 일이 Pop입니다. 그래서 각 단계를 명령으로 기계적으로 옮길 수 있습니다. 예를 들어 첫 단계인 현재 체력 읽기는 Literal 0, GetHealth 두 명령입니다.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원서의 실행 예입니다. 마법사의 현재 능력치는 체력 45, 민첩 7, 지혜 11입니다. 각 줄의 스택은 그 명령을 실행한 뒤의 모습입니다. 처음에 넣은 마법사 번호 0이 스택 바닥에 계속 머물다가, 마지막 SetHealth에서야 꺼내 쓰이는 점을 보세요. 민첩과 지혜를 더한 18을 2로 나누면 9이고, 체력 45에 더하면 54입니다. 마지막 SetHealth가 54와 0을 꺼내 체력을 54로 정하므로 스택은 비게 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추적표의 명령 목록을 그대로 C# 바이트 배열로 적었습니다. 열거형 값을 byte로 바꾸는 형 변환이 붙을 뿐, 명령 열두 개와 값 다섯 개, 모두 17바이트의 한 덩어리입니다. 바이트코드와 가상 기계라는 말은 어렵게 들리지만, 실제로는 스택 하나, 반복문 하나, switch 하나입니다. 처음 목표였던 격리도 이루었습니다. 바이트코드는 우리가 정의한 몇 개의 명령으로만 게임에 닿을 수 있습니다. 스택 크기로 메모리를 제한하고, 실행한 명령 수를 세어 시간도 제한할 수 있습니다. 반복 명령이 없으므로 이 바이트코드는 튜링 완전하지 않습니다.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지금까지는 의사 코드를 손으로 바이트코드로 옮겼습니다. 실제로는 그럴 수 없습니다. 게다가 우리는 C++보다 더 저수준인 것을 만들어 버렸습니다. 성능과 안전은 얻었지만 디자이너가 쓰기 쉬운 점은 하나도 없습니다. 그래서 주문의 고수준 행동을 정의하게 하고 바이트코드를 만들어 주는 도구가 필요합니다. 텍스트 언어의 컴파일러일 필요는 없습니다. 원서는 기술자가 아닌 사용자를 위해 상자를 끌어 놓고 메뉴를 고르는 그래픽 도구를 권합니다. 화면이 잘못된 프로그램을 처음부터 만들지 못하게 막을 수 있기 때문입니다.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바이트코드를 만든다는 것은 사실 작은 언어를 만드는 일입니다. 정할 것이 많습니다. 원서의 네 가지 질문을 차례로 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바이트코드 가상 기계는 크게 스택 기반과 레지스터 기반으로 나뉩니다. 스택 기계의 명령은 언제나 스택 맨 위에서만 일합니다. 오늘의 Add가 그렇습니다. 레지스터 기계도 스택을 가지지만, 명령이 스택의 더 깊은 곳에서 값을 읽을 수 있습니다. 그 위치를 바이트코드 안에 적습니다. 예를 들어 a = b + c를 스택 기계는 b와 c를 위로 옮기고, 더하고, 결과를 a로 옮기는 여러 명령으로 적습니다. 레지스터 기계는 위치 세 개를 가진 명령 하나로 적습니다. Lua가 대표적인 레지스터 기계로, 명령 하나가 32비트이고 그중 6비트가 명령 종류입니다. 원서는 구현과 코드 생성이 훨씬 쉬운 스택 기계를 권합니다.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명령 집합은 바이트코드로 무엇을 표현할 수 있고 없는지의 경계이며, 성능에도 큰 영향을 줍니다. 외부 기본 명령은 가상 기계 밖의 게임 엔진에 닿아 눈에 보이는 일을 합니다. 이것이 없으면 가상 기계는 CPU만 쓸 뿐 아무것도 하지 못합니다. 내부 기본 명령은 리터럴, 산술, 비교, 스택 정리처럼 기계 안의 값을 다룹니다. 제어 흐름은 오늘 예제에는 없지만, 조건과 반복이 필요하면 점프로 만듭니다. 점프는 반복문의 i를 바꾸는 것뿐입니다. 추상화는 바이트코드를 다시 쓰고 싶을 때 필요한 호출 가능한 프로시저입니다. 호출할 때 현재 위치를 반환 스택에 넣고, 반환할 때 꺼내 돌아옵니다.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오늘 예제는 정수 하나만 다루므로 스택이 int 배열이었습니다. 문자열, 객체, 목록을 다루려면 값을 어떻게 저장할지 정해야 합니다. 왼쪽은 태그 붙은 값입니다. 값의 종류를 나타내는 열거형과 실제 값을 함께 가집니다. 원서는 C++ union으로 값 칸을 겹쳐 놓지만 C#에는 union이 없어 필드를 나란히 두었습니다. 겹쳐 놓으려면 StructLayout의 Explicit 배치를 쓸 수 있지만 string 같은 참조는 값 필드와 겹칠 수 없습니다. 이름은 System.ValueType과 겹치지 않게 ValueKind로 바꾸었습니다. 오른쪽은 인터페이스 방식입니다. 종류마다 클래스를 만들고, 원서의 assert는 예외로 옮겼습니다.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네 가지 표현을 비교합니다. 단일 타입은 가장 단순하지만 다른 종류의 값을 다룰 수 없습니다. 태그 붙은 값은 실행 중에 종류를 확인할 수 있지만 값마다 태그만큼 메모리를 더 씁니다. 태그 없는 공용체는 가장 작고 빠르지만 안전하지 않습니다. 컴파일러를 거치지 않고 악의적으로 만든 바이트코드가 숫자를 참조처럼 읽게 만들 수 있기 때문에, 자바 가상 기계는 프로그램을 불러올 때 바이트코드를 검증합니다. 인터페이스 방식은 확장하기 쉽지만 장황하고, 작은 값까지 힙에 만들고 가상 호출을 해야 하므로 인터프리터 패턴을 피한 이유가 값에서 다시 생깁니다. 원서의 권장은 단일 타입으로 버틸 수 있으면 그렇게 하고, 아니면 태그 붙은 값입니다.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원서가 가장 중요하다고 남겨 둔 질문입니다. 텍스트 언어를 정의하면 문법을 설계해야 하는데, 파서가 좋아하는 문법은 쉽지만 사용자가 좋아하는 문법은 어렵습니다. 파서 자체는 생각보다 쉽습니다. 문법 오류를 친절하게 안내하는 일은 가장 중요하면서 가장 어렵습니다. 그리고 텍스트 파일은 프로그래머가 아닌 사람에게 거부감을 줄 수 있습니다. 그래픽 저작 도구는 화면을 만들어야 하지만, 사용자가 한 단계씩 만들어 가므로 실수를 그때그때 막을 수 있습니다. 대신 화면 프레임워크가 운영체제마다 달라서 이식이 어렵습니다.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원서는 이 패턴이 책에서 가장 복잡하므로 가볍게 넣지 말라고 합니다. 정의할 행동이 많은데 구현 언어가 너무 저수준이거나, 컴파일이 느려 반복이 오래 걸리거나, 행동을 믿을 수 없어 게임과 격리해야 할 때 씁니다. 대신 바이트코드는 네이티브 코드보다 느리므로 성능이 중요한 부분에는 맞지 않습니다. 작은 언어는 덩굴처럼 자라기 쉬우므로 범위를 일부러 좁게 잡아야 합니다. 바이트코드를 만들 저작 도구가 필요하고, 기존 디버거를 쓸 수 없으므로 바이트코드가 무엇을 하는지 보여 주는 도구에도 시간을 써야 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원서의 관련 자료 절과 행동 패턴 소개를 정리했습니다. 인터프리터 패턴은 바이트코드의 가까운 자매입니다. 바이트코드를 만드는 도구는 안에 객체 트리를 가지고, 그 트리를 재귀로 돌면서 바로 실행하는 대신 명령을 내보냅니다. 타입 객체는 7강, 하위 클래스 샌드박스는 8강에서 배웠습니다. 세 패턴은 원서에서 행동 패턴으로 함께 묶이고, 그중 행동을 코드 밖 데이터로 완전히 옮기는 것이 바이트코드입니다.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Unity와 C#에서 바이트코드의 생각이 쓰이는 곳입니다. 우리가 쓰는 C# 코드는 먼저 IL이라는 바이트코드로 컴파일되고, IL은 값을 스택에 넣고 꺼내는 스택 기계 명령입니다. iOS와 콘솔처럼 실행 중에 만든 기계어를 허용하지 않는 플랫폼을 위해, Unity의 IL2CPP는 IL을 미리 C++로 바꾸어 컴파일합니다. 원서가 말한 JIT 제한과 같은 이야기입니다. Unity Visual Scripting은 노드를 끌어 놓아 행동을 만드는 그래픽 도구이지만, 그래프를 실행 중에 따라가며 실행하므로 바이트코드보다 인터프리터 패턴에 가깝습니다. ScriptableObject는 수치를 데이터로 빼 주지만 행동은 여전히 C# 코드입니다.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답을 가리고 먼저 학생에게 물어본 뒤 확인합니다. 네 번째 질문은 추적표를 다시 보지 않고 스택을 머릿속으로 따라가 보게 하세요. 다음 강의는 이벤트 큐(Event Queue) 패턴입니다.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737360"/>
          </a:xfrm>
          <a:prstGeom prst="rect">
            <a:avLst/>
          </a:prstGeom>
          <a:noFill/>
          <a:ln/>
        </p:spPr>
        <p:txBody>
          <a:bodyPr wrap="square" rtlCol="0"/>
          <a:lstStyle>
            <a:lvl1pPr algn="l" indent="0" marL="0" eaLnBrk="0">
              <a:buNone/>
              <a:defRPr lang="ko-KR" altLang="en-US" sz="4000" b="1" dirty="0">
                <a:solidFill>
                  <a:schemeClr val="bg1"/>
                </a:solidFill>
              </a:defRPr>
            </a:lvl1pPr>
          </a:lstStyle>
          <a:p>
            <a:pPr algn="l" indent="0" marL="0" eaLnBrk="0">
              <a:buNone/>
            </a:pPr>
            <a:endParaRPr lang="ko-KR" altLang="en-US" sz="4000" dirty="0"/>
          </a:p>
        </p:txBody>
      </p:sp>
      <p:sp>
        <p:nvSpPr>
          <p:cNvPr id="3" name="Text 0"/>
          <p:cNvSpPr/>
          <p:nvPr>
            <p:ph idx="101" type="body" hasCustomPrompt="1"/>
          </p:nvPr>
        </p:nvSpPr>
        <p:spPr>
          <a:xfrm>
            <a:off x="548640" y="3931920"/>
            <a:ext cx="11094415" cy="1280160"/>
          </a:xfrm>
          <a:prstGeom prst="rect">
            <a:avLst/>
          </a:prstGeom>
          <a:noFill/>
          <a:ln/>
        </p:spPr>
        <p:txBody>
          <a:bodyPr wrap="square" rtlCol="0"/>
          <a:lstStyle>
            <a:lvl1pPr indent="0" marL="0" eaLnBrk="0">
              <a:buNone/>
              <a:defRPr lang="ko-KR" altLang="en-US" sz="1800" dirty="0">
                <a:solidFill>
                  <a:schemeClr val="accent3"/>
                </a:solidFill>
              </a:defRPr>
            </a:lvl1pPr>
          </a:lstStyle>
          <a:p>
            <a:pPr indent="0" marL="0" eaLnBrk="0">
              <a:buNone/>
            </a:pPr>
            <a:endParaRPr lang="ko-KR" alt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11094415" cy="1097280"/>
          </a:xfrm>
          <a:prstGeom prst="rect">
            <a:avLst/>
          </a:prstGeom>
          <a:noFill/>
          <a:ln/>
        </p:spPr>
        <p:txBody>
          <a:bodyPr wrap="square" rtlCol="0"/>
          <a:lstStyle>
            <a:lvl1pPr algn="l" indent="0" marL="0" eaLnBrk="0">
              <a:buNone/>
              <a:defRPr lang="ko-KR" altLang="en-US" sz="3600" b="1" dirty="0">
                <a:solidFill>
                  <a:schemeClr val="bg1"/>
                </a:solidFill>
              </a:defRPr>
            </a:lvl1pPr>
          </a:lstStyle>
          <a:p>
            <a:pPr algn="l" indent="0" marL="0" eaLnBrk="0">
              <a:buNone/>
            </a:pPr>
            <a:endParaRPr lang="ko-KR" altLang="en-US" sz="3600" dirty="0"/>
          </a:p>
        </p:txBody>
      </p:sp>
      <p:sp>
        <p:nvSpPr>
          <p:cNvPr id="3" name="Text 0"/>
          <p:cNvSpPr/>
          <p:nvPr>
            <p:ph idx="101" type="body" hasCustomPrompt="1"/>
          </p:nvPr>
        </p:nvSpPr>
        <p:spPr>
          <a:xfrm>
            <a:off x="548640" y="3794760"/>
            <a:ext cx="11094415" cy="731520"/>
          </a:xfrm>
          <a:prstGeom prst="rect">
            <a:avLst/>
          </a:prstGeom>
          <a:noFill/>
          <a:ln/>
        </p:spPr>
        <p:txBody>
          <a:bodyPr wrap="square" rtlCol="0"/>
          <a:lstStyle>
            <a:lvl1pPr indent="0" marL="0" eaLnBrk="0">
              <a:buNone/>
              <a:defRPr lang="ko-KR" altLang="en-US" sz="1800" dirty="0">
                <a:solidFill>
                  <a:schemeClr val="accent3"/>
                </a:solidFill>
              </a:defRPr>
            </a:lvl1pPr>
          </a:lstStyle>
          <a:p>
            <a:pPr indent="0" marL="0" eaLnBrk="0">
              <a:buNone/>
            </a:pP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1003</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731520"/>
          </a:xfrm>
          <a:prstGeom prst="rect">
            <a:avLst/>
          </a:prstGeom>
          <a:noFill/>
          <a:ln/>
        </p:spPr>
        <p:txBody>
          <a:bodyPr wrap="square" rtlCol="0"/>
          <a:lstStyle>
            <a:lvl1pPr algn="l" indent="0" marL="0" eaLnBrk="0">
              <a:buNone/>
              <a:defRPr lang="ko-KR" altLang="en-US" sz="2600" b="1" dirty="0">
                <a:solidFill>
                  <a:schemeClr val="tx1"/>
                </a:solidFill>
              </a:defRPr>
            </a:lvl1pPr>
          </a:lstStyle>
          <a:p>
            <a:pPr algn="l" indent="0" marL="0" eaLnBrk="0">
              <a:buNone/>
            </a:pPr>
            <a:endParaRPr lang="ko-KR" altLang="en-US" sz="2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eaLnBrk="0">
              <a:buNone/>
            </a:pPr>
            <a:r>
              <a:rPr lang="ko-KR" altLang="en-US" sz="1000" dirty="0">
                <a:solidFill>
                  <a:schemeClr val="accent3"/>
                </a:solidFill>
              </a:rPr>
              <a:t>9강 · 바이트코드(Bytecode) 패턴</a:t>
            </a:r>
            <a:endParaRPr lang="ko-KR" altLang="en-US" sz="1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1004</a:t>
            </a:fld>
            <a:endParaRPr lang="ko-KR"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null</a:t>
            </a:fld>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eaLnBrk="0">
        <a:defRPr lang="ko-KR" alt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737360"/>
          </a:xfrm>
          <a:prstGeom prst="rect">
            <a:avLst/>
          </a:prstGeom>
          <a:noFill/>
          <a:ln/>
        </p:spPr>
        <p:txBody>
          <a:bodyPr wrap="square" rtlCol="0" anchor="b"/>
          <a:lstStyle/>
          <a:p>
            <a:pPr algn="l" indent="0" marL="0" eaLnBrk="0">
              <a:buNone/>
            </a:pPr>
            <a:r>
              <a:rPr lang="ko-KR" altLang="en-US" sz="4000" b="1" dirty="0">
                <a:solidFill>
                  <a:schemeClr val="bg1"/>
                </a:solidFill>
              </a:rPr>
              <a:t>9강 · 바이트코드(Bytecode) 패턴</a:t>
            </a:r>
            <a:endParaRPr lang="ko-KR" altLang="en-US" sz="4000" dirty="0"/>
          </a:p>
        </p:txBody>
      </p:sp>
      <p:sp>
        <p:nvSpPr>
          <p:cNvPr id="3" name="Text 0"/>
          <p:cNvSpPr/>
          <p:nvPr>
            <p:ph idx="101" type="body" hasCustomPrompt="1"/>
          </p:nvPr>
        </p:nvSpPr>
        <p:spPr>
          <a:xfrm>
            <a:off x="548640" y="3931920"/>
            <a:ext cx="11094415" cy="1280160"/>
          </a:xfrm>
          <a:prstGeom prst="rect">
            <a:avLst/>
          </a:prstGeom>
          <a:noFill/>
          <a:ln/>
        </p:spPr>
        <p:txBody>
          <a:bodyPr wrap="square" rtlCol="0" anchor="t"/>
          <a:lstStyle/>
          <a:p>
            <a:pPr indent="0" marL="0" eaLnBrk="0">
              <a:buNone/>
            </a:pPr>
            <a:r>
              <a:rPr lang="ko-KR" altLang="en-US" sz="1800" dirty="0">
                <a:solidFill>
                  <a:schemeClr val="accent3"/>
                </a:solidFill>
              </a:rPr>
              <a:t>행동을 가상 기계의 명령으로 적어</a:t>
            </a:r>
            <a:endParaRPr lang="ko-KR" altLang="en-US" sz="1800" dirty="0"/>
          </a:p>
          <a:p>
            <a:pPr indent="0" marL="0" eaLnBrk="0">
              <a:buNone/>
            </a:pPr>
            <a:r>
              <a:rPr lang="ko-KR" altLang="en-US" sz="1800" dirty="0">
                <a:solidFill>
                  <a:schemeClr val="accent3"/>
                </a:solidFill>
              </a:rPr>
              <a:t>코드 대신 데이터로 바꾸고 안전하게 실행한다</a:t>
            </a:r>
            <a:endParaRPr lang="ko-KR" altLang="en-US" sz="1800" dirty="0"/>
          </a:p>
          <a:p>
            <a:pPr indent="0" marL="0" eaLnBrk="0">
              <a:buNone/>
            </a:pPr>
            <a:endParaRPr lang="ko-KR" altLang="en-US" sz="1800" dirty="0"/>
          </a:p>
          <a:p>
            <a:pPr indent="0" marL="0" eaLnBrk="0">
              <a:buNone/>
            </a:pPr>
            <a:r>
              <a:rPr lang="ko-KR" altLang="en-US" sz="1800" dirty="0">
                <a:solidFill>
                  <a:schemeClr val="accent3"/>
                </a:solidFill>
              </a:rPr>
              <a:t>교재: 로버트 나이스트롬, 『게임 프로그래밍 패턴』</a:t>
            </a:r>
            <a:endParaRPr lang="ko-KR" altLang="en-US" sz="1800" dirty="0"/>
          </a:p>
          <a:p>
            <a:pPr indent="0" marL="0" eaLnBrk="0">
              <a:buNone/>
            </a:pPr>
            <a:r>
              <a:rPr lang="ko-KR" altLang="en-US" sz="1800" dirty="0">
                <a:solidFill>
                  <a:schemeClr val="accent3"/>
                </a:solidFill>
              </a:rPr>
              <a:t>「바이트코드」 장</a:t>
            </a:r>
            <a:endParaRPr lang="ko-KR" alt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오늘의 길</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코드에 적은 주문이 바이트 배열 하나가 되기까지</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먼저, 바이트코드 패턴은 한 문장으로 무엇일까?</a:t>
            </a:r>
            <a:endParaRPr lang="ko-KR" altLang="en-US" sz="1500" dirty="0"/>
          </a:p>
        </p:txBody>
      </p:sp>
      <p:sp>
        <p:nvSpPr>
          <p:cNvPr id="6" name="card"/>
          <p:cNvSpPr/>
          <p:nvPr/>
        </p:nvSpPr>
        <p:spPr>
          <a:xfrm>
            <a:off x="548640" y="1828800"/>
            <a:ext cx="2057400" cy="2103120"/>
          </a:xfrm>
          <a:prstGeom prst="roundRect">
            <a:avLst>
              <a:gd name="adj" fmla="val 4444"/>
            </a:avLst>
          </a:prstGeom>
          <a:solidFill>
            <a:schemeClr val="bg2"/>
          </a:solidFill>
          <a:ln w="12700">
            <a:solidFill>
              <a:schemeClr val="bg2"/>
            </a:solidFill>
            <a:prstDash val="solid"/>
          </a:ln>
        </p:spPr>
      </p:sp>
      <p:sp>
        <p:nvSpPr>
          <p:cNvPr id="7" name="Shape 4"/>
          <p:cNvSpPr/>
          <p:nvPr/>
        </p:nvSpPr>
        <p:spPr>
          <a:xfrm>
            <a:off x="777240" y="2029968"/>
            <a:ext cx="420624" cy="420624"/>
          </a:xfrm>
          <a:prstGeom prst="ellipse">
            <a:avLst/>
          </a:prstGeom>
          <a:solidFill>
            <a:schemeClr val="accent1"/>
          </a:solidFill>
          <a:ln w="12700">
            <a:solidFill>
              <a:schemeClr val="accent1"/>
            </a:solidFill>
            <a:prstDash val="solid"/>
          </a:ln>
        </p:spPr>
      </p:sp>
      <p:sp>
        <p:nvSpPr>
          <p:cNvPr id="8" name="Text 5"/>
          <p:cNvSpPr txBox="1"/>
          <p:nvPr/>
        </p:nvSpPr>
        <p:spPr>
          <a:xfrm>
            <a:off x="777240"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9" name="Text 6"/>
          <p:cNvSpPr txBox="1"/>
          <p:nvPr/>
        </p:nvSpPr>
        <p:spPr>
          <a:xfrm>
            <a:off x="777240"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주문을 데이터로</a:t>
            </a:r>
            <a:endParaRPr lang="ko-KR" altLang="en-US" sz="1500" dirty="0"/>
          </a:p>
        </p:txBody>
      </p:sp>
      <p:sp>
        <p:nvSpPr>
          <p:cNvPr id="10" name="Text 7"/>
          <p:cNvSpPr txBox="1"/>
          <p:nvPr/>
        </p:nvSpPr>
        <p:spPr>
          <a:xfrm>
            <a:off x="777240" y="3291840"/>
            <a:ext cx="1691640" cy="548640"/>
          </a:xfrm>
          <a:prstGeom prst="rect">
            <a:avLst/>
          </a:prstGeom>
          <a:noFill/>
          <a:ln/>
        </p:spPr>
        <p:txBody>
          <a:bodyPr wrap="square" lIns="0" tIns="0" rIns="0" bIns="0" rtlCol="0" anchor="t"/>
          <a:lstStyle/>
          <a:p>
            <a:pPr indent="0" marL="0" eaLnBrk="0">
              <a:buNone/>
            </a:pPr>
            <a:r>
              <a:rPr lang="ko-KR" altLang="en-US" sz="1300" dirty="0">
                <a:solidFill>
                  <a:schemeClr val="accent5"/>
                </a:solidFill>
              </a:rPr>
              <a:t>인터프리터 패턴과 비교한다</a:t>
            </a:r>
            <a:endParaRPr lang="ko-KR" altLang="en-US" sz="1300" dirty="0"/>
          </a:p>
        </p:txBody>
      </p:sp>
      <p:sp>
        <p:nvSpPr>
          <p:cNvPr id="11" name="Shape 8"/>
          <p:cNvSpPr/>
          <p:nvPr/>
        </p:nvSpPr>
        <p:spPr>
          <a:xfrm>
            <a:off x="2651760" y="2880360"/>
            <a:ext cx="110414" cy="914"/>
          </a:xfrm>
          <a:prstGeom prst="line">
            <a:avLst/>
          </a:prstGeom>
          <a:noFill/>
          <a:ln w="22225">
            <a:solidFill>
              <a:schemeClr val="accent3"/>
            </a:solidFill>
            <a:prstDash val="solid"/>
            <a:tailEnd type="triangle"/>
          </a:ln>
        </p:spPr>
      </p:sp>
      <p:sp>
        <p:nvSpPr>
          <p:cNvPr id="12" name="card"/>
          <p:cNvSpPr/>
          <p:nvPr/>
        </p:nvSpPr>
        <p:spPr>
          <a:xfrm>
            <a:off x="2807894" y="1828800"/>
            <a:ext cx="2057400" cy="2103120"/>
          </a:xfrm>
          <a:prstGeom prst="roundRect">
            <a:avLst>
              <a:gd name="adj" fmla="val 4444"/>
            </a:avLst>
          </a:prstGeom>
          <a:solidFill>
            <a:schemeClr val="bg2"/>
          </a:solidFill>
          <a:ln w="12700">
            <a:solidFill>
              <a:schemeClr val="bg2"/>
            </a:solidFill>
            <a:prstDash val="solid"/>
          </a:ln>
        </p:spPr>
      </p:sp>
      <p:sp>
        <p:nvSpPr>
          <p:cNvPr id="13" name="Shape 10"/>
          <p:cNvSpPr/>
          <p:nvPr/>
        </p:nvSpPr>
        <p:spPr>
          <a:xfrm>
            <a:off x="3036494" y="2029968"/>
            <a:ext cx="420624" cy="420624"/>
          </a:xfrm>
          <a:prstGeom prst="ellipse">
            <a:avLst/>
          </a:prstGeom>
          <a:solidFill>
            <a:schemeClr val="accent1"/>
          </a:solidFill>
          <a:ln w="12700">
            <a:solidFill>
              <a:schemeClr val="accent1"/>
            </a:solidFill>
            <a:prstDash val="solid"/>
          </a:ln>
        </p:spPr>
      </p:sp>
      <p:sp>
        <p:nvSpPr>
          <p:cNvPr id="14" name="Text 11"/>
          <p:cNvSpPr txBox="1"/>
          <p:nvPr/>
        </p:nvSpPr>
        <p:spPr>
          <a:xfrm>
            <a:off x="3036494"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5" name="Text 12"/>
          <p:cNvSpPr txBox="1"/>
          <p:nvPr/>
        </p:nvSpPr>
        <p:spPr>
          <a:xfrm>
            <a:off x="3036494"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명령 집합과</a:t>
            </a:r>
            <a:endParaRPr lang="ko-KR" altLang="en-US" sz="1500" dirty="0"/>
          </a:p>
          <a:p>
            <a:pPr indent="0" marL="0" eaLnBrk="0">
              <a:buNone/>
            </a:pPr>
            <a:r>
              <a:rPr lang="ko-KR" altLang="en-US" sz="1500" b="1" dirty="0">
                <a:solidFill>
                  <a:schemeClr val="tx1"/>
                </a:solidFill>
              </a:rPr>
              <a:t>가상 기계</a:t>
            </a:r>
            <a:endParaRPr lang="ko-KR" altLang="en-US" sz="1500" dirty="0"/>
          </a:p>
        </p:txBody>
      </p:sp>
      <p:sp>
        <p:nvSpPr>
          <p:cNvPr id="16" name="Text 13"/>
          <p:cNvSpPr txBox="1"/>
          <p:nvPr/>
        </p:nvSpPr>
        <p:spPr>
          <a:xfrm>
            <a:off x="3036494" y="3291840"/>
            <a:ext cx="1691640" cy="548640"/>
          </a:xfrm>
          <a:prstGeom prst="rect">
            <a:avLst/>
          </a:prstGeom>
          <a:noFill/>
          <a:ln/>
        </p:spPr>
        <p:txBody>
          <a:bodyPr wrap="square" lIns="0" tIns="0" rIns="0" bIns="0" rtlCol="0" anchor="t"/>
          <a:lstStyle/>
          <a:p>
            <a:pPr indent="0" marL="0" eaLnBrk="0">
              <a:buNone/>
            </a:pPr>
            <a:r>
              <a:rPr lang="ko-KR" altLang="en-US" sz="1300" dirty="0">
                <a:solidFill>
                  <a:schemeClr val="accent5"/>
                </a:solidFill>
              </a:rPr>
              <a:t>바이트 하나가 명령 하나</a:t>
            </a:r>
            <a:endParaRPr lang="ko-KR" altLang="en-US" sz="1300" dirty="0"/>
          </a:p>
        </p:txBody>
      </p:sp>
      <p:sp>
        <p:nvSpPr>
          <p:cNvPr id="17" name="Shape 14"/>
          <p:cNvSpPr/>
          <p:nvPr/>
        </p:nvSpPr>
        <p:spPr>
          <a:xfrm>
            <a:off x="4911014" y="2880360"/>
            <a:ext cx="110414" cy="914"/>
          </a:xfrm>
          <a:prstGeom prst="line">
            <a:avLst/>
          </a:prstGeom>
          <a:noFill/>
          <a:ln w="22225">
            <a:solidFill>
              <a:schemeClr val="accent3"/>
            </a:solidFill>
            <a:prstDash val="solid"/>
            <a:tailEnd type="triangle"/>
          </a:ln>
        </p:spPr>
      </p:sp>
      <p:sp>
        <p:nvSpPr>
          <p:cNvPr id="18" name="card"/>
          <p:cNvSpPr/>
          <p:nvPr/>
        </p:nvSpPr>
        <p:spPr>
          <a:xfrm>
            <a:off x="5067148" y="1828800"/>
            <a:ext cx="2057400" cy="2103120"/>
          </a:xfrm>
          <a:prstGeom prst="roundRect">
            <a:avLst>
              <a:gd name="adj" fmla="val 4444"/>
            </a:avLst>
          </a:prstGeom>
          <a:solidFill>
            <a:schemeClr val="bg2"/>
          </a:solidFill>
          <a:ln w="12700">
            <a:solidFill>
              <a:schemeClr val="bg2"/>
            </a:solidFill>
            <a:prstDash val="solid"/>
          </a:ln>
        </p:spPr>
      </p:sp>
      <p:sp>
        <p:nvSpPr>
          <p:cNvPr id="19" name="Shape 16"/>
          <p:cNvSpPr/>
          <p:nvPr/>
        </p:nvSpPr>
        <p:spPr>
          <a:xfrm>
            <a:off x="5295748" y="2029968"/>
            <a:ext cx="420624" cy="420624"/>
          </a:xfrm>
          <a:prstGeom prst="ellipse">
            <a:avLst/>
          </a:prstGeom>
          <a:solidFill>
            <a:schemeClr val="accent1"/>
          </a:solidFill>
          <a:ln w="12700">
            <a:solidFill>
              <a:schemeClr val="accent1"/>
            </a:solidFill>
            <a:prstDash val="solid"/>
          </a:ln>
        </p:spPr>
      </p:sp>
      <p:sp>
        <p:nvSpPr>
          <p:cNvPr id="20" name="Text 17"/>
          <p:cNvSpPr txBox="1"/>
          <p:nvPr/>
        </p:nvSpPr>
        <p:spPr>
          <a:xfrm>
            <a:off x="5295748"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21" name="Text 18"/>
          <p:cNvSpPr txBox="1"/>
          <p:nvPr/>
        </p:nvSpPr>
        <p:spPr>
          <a:xfrm>
            <a:off x="5295748"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스택 기계</a:t>
            </a:r>
            <a:endParaRPr lang="ko-KR" altLang="en-US" sz="1500" dirty="0"/>
          </a:p>
        </p:txBody>
      </p:sp>
      <p:sp>
        <p:nvSpPr>
          <p:cNvPr id="22" name="Text 19"/>
          <p:cNvSpPr txBox="1"/>
          <p:nvPr/>
        </p:nvSpPr>
        <p:spPr>
          <a:xfrm>
            <a:off x="5295748" y="3291840"/>
            <a:ext cx="1691640" cy="548640"/>
          </a:xfrm>
          <a:prstGeom prst="rect">
            <a:avLst/>
          </a:prstGeom>
          <a:noFill/>
          <a:ln/>
        </p:spPr>
        <p:txBody>
          <a:bodyPr wrap="square" lIns="0" tIns="0" rIns="0" bIns="0" rtlCol="0" anchor="t"/>
          <a:lstStyle/>
          <a:p>
            <a:pPr indent="0" marL="0" eaLnBrk="0">
              <a:buNone/>
            </a:pPr>
            <a:r>
              <a:rPr lang="ko-KR" altLang="en-US" sz="1300" dirty="0">
                <a:solidFill>
                  <a:schemeClr val="accent5"/>
                </a:solidFill>
              </a:rPr>
              <a:t>값을 넣고 꺼내 전달한다</a:t>
            </a:r>
            <a:endParaRPr lang="ko-KR" altLang="en-US" sz="1300" dirty="0"/>
          </a:p>
        </p:txBody>
      </p:sp>
      <p:sp>
        <p:nvSpPr>
          <p:cNvPr id="23" name="Shape 20"/>
          <p:cNvSpPr/>
          <p:nvPr/>
        </p:nvSpPr>
        <p:spPr>
          <a:xfrm>
            <a:off x="7170268" y="2880360"/>
            <a:ext cx="110414" cy="914"/>
          </a:xfrm>
          <a:prstGeom prst="line">
            <a:avLst/>
          </a:prstGeom>
          <a:noFill/>
          <a:ln w="22225">
            <a:solidFill>
              <a:schemeClr val="accent3"/>
            </a:solidFill>
            <a:prstDash val="solid"/>
            <a:tailEnd type="triangle"/>
          </a:ln>
        </p:spPr>
      </p:sp>
      <p:sp>
        <p:nvSpPr>
          <p:cNvPr id="24" name="card"/>
          <p:cNvSpPr/>
          <p:nvPr/>
        </p:nvSpPr>
        <p:spPr>
          <a:xfrm>
            <a:off x="7326401" y="1828800"/>
            <a:ext cx="2057400" cy="2103120"/>
          </a:xfrm>
          <a:prstGeom prst="roundRect">
            <a:avLst>
              <a:gd name="adj" fmla="val 4444"/>
            </a:avLst>
          </a:prstGeom>
          <a:solidFill>
            <a:schemeClr val="bg2"/>
          </a:solidFill>
          <a:ln w="12700">
            <a:solidFill>
              <a:schemeClr val="bg2"/>
            </a:solidFill>
            <a:prstDash val="solid"/>
          </a:ln>
        </p:spPr>
      </p:sp>
      <p:sp>
        <p:nvSpPr>
          <p:cNvPr id="25" name="Shape 22"/>
          <p:cNvSpPr/>
          <p:nvPr/>
        </p:nvSpPr>
        <p:spPr>
          <a:xfrm>
            <a:off x="7555001" y="2029968"/>
            <a:ext cx="420624" cy="420624"/>
          </a:xfrm>
          <a:prstGeom prst="ellipse">
            <a:avLst/>
          </a:prstGeom>
          <a:solidFill>
            <a:schemeClr val="accent1"/>
          </a:solidFill>
          <a:ln w="12700">
            <a:solidFill>
              <a:schemeClr val="accent1"/>
            </a:solidFill>
            <a:prstDash val="solid"/>
          </a:ln>
        </p:spPr>
      </p:sp>
      <p:sp>
        <p:nvSpPr>
          <p:cNvPr id="26" name="Text 23"/>
          <p:cNvSpPr txBox="1"/>
          <p:nvPr/>
        </p:nvSpPr>
        <p:spPr>
          <a:xfrm>
            <a:off x="7555001"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4</a:t>
            </a:r>
            <a:endParaRPr lang="ko-KR" altLang="en-US" sz="1500" dirty="0"/>
          </a:p>
        </p:txBody>
      </p:sp>
      <p:sp>
        <p:nvSpPr>
          <p:cNvPr id="27" name="Text 24"/>
          <p:cNvSpPr txBox="1"/>
          <p:nvPr/>
        </p:nvSpPr>
        <p:spPr>
          <a:xfrm>
            <a:off x="7555001"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행동을 조합하기</a:t>
            </a:r>
            <a:endParaRPr lang="ko-KR" altLang="en-US" sz="1500" dirty="0"/>
          </a:p>
        </p:txBody>
      </p:sp>
      <p:sp>
        <p:nvSpPr>
          <p:cNvPr id="28" name="Text 25"/>
          <p:cNvSpPr txBox="1"/>
          <p:nvPr/>
        </p:nvSpPr>
        <p:spPr>
          <a:xfrm>
            <a:off x="7555001" y="3291840"/>
            <a:ext cx="1691640" cy="548640"/>
          </a:xfrm>
          <a:prstGeom prst="rect">
            <a:avLst/>
          </a:prstGeom>
          <a:noFill/>
          <a:ln/>
        </p:spPr>
        <p:txBody>
          <a:bodyPr wrap="square" lIns="0" tIns="0" rIns="0" bIns="0" rtlCol="0" anchor="t"/>
          <a:lstStyle/>
          <a:p>
            <a:pPr indent="0" marL="0" eaLnBrk="0">
              <a:buNone/>
            </a:pPr>
            <a:r>
              <a:rPr lang="ko-KR" altLang="en-US" sz="1300" dirty="0">
                <a:solidFill>
                  <a:schemeClr val="accent5"/>
                </a:solidFill>
              </a:rPr>
              <a:t>식을 명령 목록으로 바꾼다</a:t>
            </a:r>
            <a:endParaRPr lang="ko-KR" altLang="en-US" sz="1300" dirty="0"/>
          </a:p>
        </p:txBody>
      </p:sp>
      <p:sp>
        <p:nvSpPr>
          <p:cNvPr id="29" name="Shape 26"/>
          <p:cNvSpPr/>
          <p:nvPr/>
        </p:nvSpPr>
        <p:spPr>
          <a:xfrm>
            <a:off x="9429521" y="2880360"/>
            <a:ext cx="110414" cy="914"/>
          </a:xfrm>
          <a:prstGeom prst="line">
            <a:avLst/>
          </a:prstGeom>
          <a:noFill/>
          <a:ln w="22225">
            <a:solidFill>
              <a:schemeClr val="accent3"/>
            </a:solidFill>
            <a:prstDash val="solid"/>
            <a:tailEnd type="triangle"/>
          </a:ln>
        </p:spPr>
      </p:sp>
      <p:sp>
        <p:nvSpPr>
          <p:cNvPr id="30" name="card"/>
          <p:cNvSpPr/>
          <p:nvPr/>
        </p:nvSpPr>
        <p:spPr>
          <a:xfrm>
            <a:off x="9585655" y="1828800"/>
            <a:ext cx="2057400" cy="2103120"/>
          </a:xfrm>
          <a:prstGeom prst="roundRect">
            <a:avLst>
              <a:gd name="adj" fmla="val 4444"/>
            </a:avLst>
          </a:prstGeom>
          <a:solidFill>
            <a:schemeClr val="bg2"/>
          </a:solidFill>
          <a:ln w="12700">
            <a:solidFill>
              <a:schemeClr val="bg2"/>
            </a:solidFill>
            <a:prstDash val="solid"/>
          </a:ln>
        </p:spPr>
      </p:sp>
      <p:sp>
        <p:nvSpPr>
          <p:cNvPr id="31" name="Shape 28"/>
          <p:cNvSpPr/>
          <p:nvPr/>
        </p:nvSpPr>
        <p:spPr>
          <a:xfrm>
            <a:off x="9814255" y="2029968"/>
            <a:ext cx="420624" cy="420624"/>
          </a:xfrm>
          <a:prstGeom prst="ellipse">
            <a:avLst/>
          </a:prstGeom>
          <a:solidFill>
            <a:schemeClr val="accent1"/>
          </a:solidFill>
          <a:ln w="12700">
            <a:solidFill>
              <a:schemeClr val="accent1"/>
            </a:solidFill>
            <a:prstDash val="solid"/>
          </a:ln>
        </p:spPr>
      </p:sp>
      <p:sp>
        <p:nvSpPr>
          <p:cNvPr id="32" name="Text 29"/>
          <p:cNvSpPr txBox="1"/>
          <p:nvPr/>
        </p:nvSpPr>
        <p:spPr>
          <a:xfrm>
            <a:off x="9814255"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5</a:t>
            </a:r>
            <a:endParaRPr lang="ko-KR" altLang="en-US" sz="1500" dirty="0"/>
          </a:p>
        </p:txBody>
      </p:sp>
      <p:sp>
        <p:nvSpPr>
          <p:cNvPr id="33" name="Text 30"/>
          <p:cNvSpPr txBox="1"/>
          <p:nvPr/>
        </p:nvSpPr>
        <p:spPr>
          <a:xfrm>
            <a:off x="9814255"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설계 결정과</a:t>
            </a:r>
            <a:endParaRPr lang="ko-KR" altLang="en-US" sz="1500" dirty="0"/>
          </a:p>
          <a:p>
            <a:pPr indent="0" marL="0" eaLnBrk="0">
              <a:buNone/>
            </a:pPr>
            <a:r>
              <a:rPr lang="ko-KR" altLang="en-US" sz="1500" b="1" dirty="0">
                <a:solidFill>
                  <a:schemeClr val="tx1"/>
                </a:solidFill>
              </a:rPr>
              <a:t>주의점</a:t>
            </a:r>
            <a:endParaRPr lang="ko-KR" altLang="en-US" sz="1500" dirty="0"/>
          </a:p>
        </p:txBody>
      </p:sp>
      <p:sp>
        <p:nvSpPr>
          <p:cNvPr id="34" name="Text 31"/>
          <p:cNvSpPr txBox="1"/>
          <p:nvPr/>
        </p:nvSpPr>
        <p:spPr>
          <a:xfrm>
            <a:off x="9814255" y="3291840"/>
            <a:ext cx="1691640" cy="548640"/>
          </a:xfrm>
          <a:prstGeom prst="rect">
            <a:avLst/>
          </a:prstGeom>
          <a:noFill/>
          <a:ln/>
        </p:spPr>
        <p:txBody>
          <a:bodyPr wrap="square" lIns="0" tIns="0" rIns="0" bIns="0" rtlCol="0" anchor="t"/>
          <a:lstStyle/>
          <a:p>
            <a:pPr indent="0" marL="0" eaLnBrk="0">
              <a:buNone/>
            </a:pPr>
            <a:r>
              <a:rPr lang="ko-KR" altLang="en-US" sz="1300" dirty="0">
                <a:solidFill>
                  <a:schemeClr val="accent5"/>
                </a:solidFill>
              </a:rPr>
              <a:t>관련 패턴, Unity 대응</a:t>
            </a:r>
            <a:endParaRPr lang="ko-KR" altLang="en-US" sz="1300" dirty="0"/>
          </a:p>
        </p:txBody>
      </p:sp>
      <p:sp>
        <p:nvSpPr>
          <p:cNvPr id="35" name="Text 32"/>
          <p:cNvSpPr txBox="1"/>
          <p:nvPr/>
        </p:nvSpPr>
        <p:spPr>
          <a:xfrm>
            <a:off x="548640" y="4434840"/>
            <a:ext cx="11094415" cy="548640"/>
          </a:xfrm>
          <a:prstGeom prst="rect">
            <a:avLst/>
          </a:prstGeom>
          <a:noFill/>
          <a:ln/>
        </p:spPr>
        <p:txBody>
          <a:bodyPr wrap="square" lIns="0" tIns="0" rIns="0" bIns="0" rtlCol="0" anchor="t"/>
          <a:lstStyle/>
          <a:p>
            <a:pPr indent="0" marL="0" eaLnBrk="0">
              <a:buNone/>
            </a:pPr>
            <a:r>
              <a:rPr lang="ko-KR" altLang="en-US" sz="1600" dirty="0">
                <a:solidFill>
                  <a:schemeClr val="tx2"/>
                </a:solidFill>
              </a:rPr>
              <a:t>오늘 예제는 원서와 같다: 두 마법사가 주문을 주고받는 마법 대결 게임, 그리고 그 주문을 실행하는 작은 가상 기계.</a:t>
            </a:r>
            <a:endParaRPr lang="ko-KR" alt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a:t>
            </a:fld>
            <a:endParaRPr lang="ko-KR"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정의</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바이트코드는 행동을 가상 기계의 명령으로 적은 데이터이다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왜 주문을 코드가 아닌 데이터로 적고 싶을까? 마법 대결 게임부터 보자.</a:t>
            </a:r>
            <a:endParaRPr lang="ko-KR" altLang="en-US" sz="1500" dirty="0"/>
          </a:p>
        </p:txBody>
      </p:sp>
      <p:sp>
        <p:nvSpPr>
          <p:cNvPr id="6" name="Shape 3"/>
          <p:cNvSpPr/>
          <p:nvPr/>
        </p:nvSpPr>
        <p:spPr>
          <a:xfrm>
            <a:off x="548640" y="1783080"/>
            <a:ext cx="4572000" cy="2377440"/>
          </a:xfrm>
          <a:prstGeom prst="roundRect">
            <a:avLst>
              <a:gd name="adj" fmla="val 3846"/>
            </a:avLst>
          </a:prstGeom>
          <a:solidFill>
            <a:schemeClr val="bg2"/>
          </a:solidFill>
          <a:ln w="12700">
            <a:solidFill>
              <a:schemeClr val="bg2"/>
            </a:solidFill>
            <a:prstDash val="solid"/>
          </a:ln>
        </p:spPr>
      </p:sp>
      <p:sp>
        <p:nvSpPr>
          <p:cNvPr id="7" name="Text 4"/>
          <p:cNvSpPr txBox="1"/>
          <p:nvPr/>
        </p:nvSpPr>
        <p:spPr>
          <a:xfrm>
            <a:off x="822960" y="1965960"/>
            <a:ext cx="4023360" cy="411480"/>
          </a:xfrm>
          <a:prstGeom prst="rect">
            <a:avLst/>
          </a:prstGeom>
          <a:noFill/>
          <a:ln/>
        </p:spPr>
        <p:txBody>
          <a:bodyPr wrap="square" lIns="0" tIns="0" rIns="0" bIns="0" rtlCol="0" anchor="t"/>
          <a:lstStyle/>
          <a:p>
            <a:pPr indent="0" marL="0" eaLnBrk="0">
              <a:buNone/>
            </a:pPr>
            <a:r>
              <a:rPr lang="ko-KR" altLang="en-US" sz="1800" b="1" dirty="0">
                <a:solidFill>
                  <a:schemeClr val="accent6"/>
                </a:solidFill>
              </a:rPr>
              <a:t>코드로 적은 주문</a:t>
            </a:r>
            <a:endParaRPr lang="ko-KR" altLang="en-US" sz="1800" dirty="0"/>
          </a:p>
        </p:txBody>
      </p:sp>
      <p:sp>
        <p:nvSpPr>
          <p:cNvPr id="8" name="codePanel"/>
          <p:cNvSpPr/>
          <p:nvPr/>
        </p:nvSpPr>
        <p:spPr>
          <a:xfrm>
            <a:off x="822960" y="2514600"/>
            <a:ext cx="4023360" cy="548640"/>
          </a:xfrm>
          <a:prstGeom prst="roundRect">
            <a:avLst>
              <a:gd name="adj" fmla="val 13333"/>
            </a:avLst>
          </a:prstGeom>
          <a:solidFill>
            <a:schemeClr val="tx1"/>
          </a:solidFill>
          <a:ln w="12700">
            <a:solidFill>
              <a:schemeClr val="tx1"/>
            </a:solidFill>
            <a:prstDash val="solid"/>
          </a:ln>
        </p:spPr>
      </p:sp>
      <p:sp>
        <p:nvSpPr>
          <p:cNvPr id="9" name="code"/>
          <p:cNvSpPr txBox="1"/>
          <p:nvPr/>
        </p:nvSpPr>
        <p:spPr>
          <a:xfrm>
            <a:off x="932688" y="2606040"/>
            <a:ext cx="3803904" cy="365760"/>
          </a:xfrm>
          <a:prstGeom prst="rect">
            <a:avLst/>
          </a:prstGeom>
          <a:noFill/>
          <a:ln/>
        </p:spPr>
        <p:txBody>
          <a:bodyPr wrap="square" lIns="635" tIns="635" rIns="635" bIns="635" rtlCol="0" anchor="t"/>
          <a:lstStyle/>
          <a:p>
            <a:pPr indent="0" marL="0" eaLnBrk="0">
              <a:buNone/>
            </a:pPr>
            <a:r>
              <a:rPr lang="ko-KR" altLang="en-US" sz="1600" dirty="0">
                <a:solidFill>
                  <a:schemeClr val="bg1"/>
                </a:solidFill>
                <a:latin typeface="Consolas" pitchFamily="34" charset="0"/>
                <a:ea typeface="Consolas" pitchFamily="34" charset="-122"/>
                <a:cs typeface="Consolas" pitchFamily="34" charset="-120"/>
              </a:rPr>
              <a:t>SetHealth(0, 10);</a:t>
            </a:r>
            <a:endParaRPr lang="ko-KR" altLang="en-US" sz="1600" dirty="0"/>
          </a:p>
        </p:txBody>
      </p:sp>
      <p:sp>
        <p:nvSpPr>
          <p:cNvPr id="10" name="Text 7"/>
          <p:cNvSpPr txBox="1"/>
          <p:nvPr/>
        </p:nvSpPr>
        <p:spPr>
          <a:xfrm>
            <a:off x="822960" y="3246120"/>
            <a:ext cx="4023360" cy="731520"/>
          </a:xfrm>
          <a:prstGeom prst="rect">
            <a:avLst/>
          </a:prstGeom>
          <a:noFill/>
          <a:ln/>
        </p:spPr>
        <p:txBody>
          <a:bodyPr wrap="square" lIns="0" tIns="0" rIns="0" bIns="0" rtlCol="0" anchor="t"/>
          <a:lstStyle/>
          <a:p>
            <a:pPr indent="0" marL="0" eaLnBrk="0">
              <a:buNone/>
            </a:pPr>
            <a:r>
              <a:rPr lang="ko-KR" altLang="en-US" sz="1400" dirty="0">
                <a:solidFill>
                  <a:schemeClr val="tx2"/>
                </a:solidFill>
              </a:rPr>
              <a:t>게임과 함께 컴파일된다. 고치려면 코드를 바꾸고 다시 빌드한다.</a:t>
            </a:r>
            <a:endParaRPr lang="ko-KR" altLang="en-US" sz="1400" dirty="0"/>
          </a:p>
        </p:txBody>
      </p:sp>
      <p:sp>
        <p:nvSpPr>
          <p:cNvPr id="11" name="Shape 8"/>
          <p:cNvSpPr/>
          <p:nvPr/>
        </p:nvSpPr>
        <p:spPr>
          <a:xfrm>
            <a:off x="5257800" y="2971800"/>
            <a:ext cx="914400" cy="914"/>
          </a:xfrm>
          <a:prstGeom prst="line">
            <a:avLst/>
          </a:prstGeom>
          <a:noFill/>
          <a:ln w="31750">
            <a:solidFill>
              <a:schemeClr val="accent1"/>
            </a:solidFill>
            <a:prstDash val="solid"/>
            <a:tailEnd type="triangle"/>
          </a:ln>
        </p:spPr>
      </p:sp>
      <p:sp>
        <p:nvSpPr>
          <p:cNvPr id="12" name="Shape 9"/>
          <p:cNvSpPr/>
          <p:nvPr/>
        </p:nvSpPr>
        <p:spPr>
          <a:xfrm>
            <a:off x="6309360" y="1783080"/>
            <a:ext cx="5333695" cy="2377440"/>
          </a:xfrm>
          <a:prstGeom prst="roundRect">
            <a:avLst>
              <a:gd name="adj" fmla="val 3846"/>
            </a:avLst>
          </a:prstGeom>
          <a:solidFill>
            <a:schemeClr val="bg2"/>
          </a:solidFill>
          <a:ln w="12700">
            <a:solidFill>
              <a:schemeClr val="bg2"/>
            </a:solidFill>
            <a:prstDash val="solid"/>
          </a:ln>
        </p:spPr>
      </p:sp>
      <p:sp>
        <p:nvSpPr>
          <p:cNvPr id="13" name="Text 10"/>
          <p:cNvSpPr txBox="1"/>
          <p:nvPr/>
        </p:nvSpPr>
        <p:spPr>
          <a:xfrm>
            <a:off x="6583680" y="1965960"/>
            <a:ext cx="4785055" cy="411480"/>
          </a:xfrm>
          <a:prstGeom prst="rect">
            <a:avLst/>
          </a:prstGeom>
          <a:noFill/>
          <a:ln/>
        </p:spPr>
        <p:txBody>
          <a:bodyPr wrap="square" lIns="0" tIns="0" rIns="0" bIns="0" rtlCol="0" anchor="t"/>
          <a:lstStyle/>
          <a:p>
            <a:pPr indent="0" marL="0" eaLnBrk="0">
              <a:buNone/>
            </a:pPr>
            <a:r>
              <a:rPr lang="ko-KR" altLang="en-US" sz="1800" b="1" dirty="0">
                <a:solidFill>
                  <a:schemeClr val="accent2"/>
                </a:solidFill>
              </a:rPr>
              <a:t>바이트코드로 적은 주문</a:t>
            </a:r>
            <a:endParaRPr lang="ko-KR" altLang="en-US" sz="1800" dirty="0"/>
          </a:p>
        </p:txBody>
      </p:sp>
      <p:sp>
        <p:nvSpPr>
          <p:cNvPr id="14" name="box"/>
          <p:cNvSpPr/>
          <p:nvPr/>
        </p:nvSpPr>
        <p:spPr>
          <a:xfrm>
            <a:off x="6583680" y="2514600"/>
            <a:ext cx="896112" cy="548640"/>
          </a:xfrm>
          <a:prstGeom prst="roundRect">
            <a:avLst>
              <a:gd name="adj" fmla="val 13333"/>
            </a:avLst>
          </a:prstGeom>
          <a:solidFill>
            <a:schemeClr val="accent1"/>
          </a:solidFill>
          <a:ln w="12700">
            <a:solidFill>
              <a:schemeClr val="accent1"/>
            </a:solidFill>
            <a:prstDash val="solid"/>
          </a:ln>
        </p:spPr>
      </p:sp>
      <p:sp>
        <p:nvSpPr>
          <p:cNvPr id="15" name="Text 12"/>
          <p:cNvSpPr txBox="1"/>
          <p:nvPr/>
        </p:nvSpPr>
        <p:spPr>
          <a:xfrm>
            <a:off x="6583680" y="2514600"/>
            <a:ext cx="896112" cy="548640"/>
          </a:xfrm>
          <a:prstGeom prst="rect">
            <a:avLst/>
          </a:prstGeom>
          <a:noFill/>
          <a:ln/>
        </p:spPr>
        <p:txBody>
          <a:bodyPr wrap="square" lIns="635" tIns="635" rIns="635" bIns="635" rtlCol="0" anchor="ctr"/>
          <a:lstStyle/>
          <a:p>
            <a:pPr algn="ctr" indent="0" marL="0" eaLnBrk="0">
              <a:buNone/>
            </a:pPr>
            <a:r>
              <a:rPr lang="ko-KR" altLang="en-US" sz="1200" b="1" dirty="0">
                <a:solidFill>
                  <a:schemeClr val="bg1"/>
                </a:solidFill>
              </a:rPr>
              <a:t>Literal</a:t>
            </a:r>
            <a:endParaRPr lang="ko-KR" altLang="en-US" sz="1200" dirty="0"/>
          </a:p>
        </p:txBody>
      </p:sp>
      <p:sp>
        <p:nvSpPr>
          <p:cNvPr id="16" name="box"/>
          <p:cNvSpPr/>
          <p:nvPr/>
        </p:nvSpPr>
        <p:spPr>
          <a:xfrm>
            <a:off x="7552944" y="2514600"/>
            <a:ext cx="896112" cy="548640"/>
          </a:xfrm>
          <a:prstGeom prst="roundRect">
            <a:avLst>
              <a:gd name="adj" fmla="val 13333"/>
            </a:avLst>
          </a:prstGeom>
          <a:solidFill>
            <a:schemeClr val="bg2"/>
          </a:solidFill>
          <a:ln w="12700">
            <a:solidFill>
              <a:schemeClr val="bg2"/>
            </a:solidFill>
            <a:prstDash val="solid"/>
          </a:ln>
        </p:spPr>
      </p:sp>
      <p:sp>
        <p:nvSpPr>
          <p:cNvPr id="17" name="Text 14"/>
          <p:cNvSpPr txBox="1"/>
          <p:nvPr/>
        </p:nvSpPr>
        <p:spPr>
          <a:xfrm>
            <a:off x="7552944" y="2514600"/>
            <a:ext cx="896112" cy="548640"/>
          </a:xfrm>
          <a:prstGeom prst="rect">
            <a:avLst/>
          </a:prstGeom>
          <a:noFill/>
          <a:ln/>
        </p:spPr>
        <p:txBody>
          <a:bodyPr wrap="square" lIns="635" tIns="635" rIns="635" bIns="635" rtlCol="0" anchor="ctr"/>
          <a:lstStyle/>
          <a:p>
            <a:pPr algn="ctr" indent="0" marL="0" eaLnBrk="0">
              <a:buNone/>
            </a:pPr>
            <a:r>
              <a:rPr lang="ko-KR" altLang="en-US" sz="1200" b="1" dirty="0">
                <a:solidFill>
                  <a:schemeClr val="tx1"/>
                </a:solidFill>
              </a:rPr>
              <a:t>0</a:t>
            </a:r>
            <a:endParaRPr lang="ko-KR" altLang="en-US" sz="1200" dirty="0"/>
          </a:p>
        </p:txBody>
      </p:sp>
      <p:sp>
        <p:nvSpPr>
          <p:cNvPr id="18" name="box"/>
          <p:cNvSpPr/>
          <p:nvPr/>
        </p:nvSpPr>
        <p:spPr>
          <a:xfrm>
            <a:off x="8522208" y="2514600"/>
            <a:ext cx="896112" cy="548640"/>
          </a:xfrm>
          <a:prstGeom prst="roundRect">
            <a:avLst>
              <a:gd name="adj" fmla="val 13333"/>
            </a:avLst>
          </a:prstGeom>
          <a:solidFill>
            <a:schemeClr val="accent1"/>
          </a:solidFill>
          <a:ln w="12700">
            <a:solidFill>
              <a:schemeClr val="accent1"/>
            </a:solidFill>
            <a:prstDash val="solid"/>
          </a:ln>
        </p:spPr>
      </p:sp>
      <p:sp>
        <p:nvSpPr>
          <p:cNvPr id="19" name="Text 16"/>
          <p:cNvSpPr txBox="1"/>
          <p:nvPr/>
        </p:nvSpPr>
        <p:spPr>
          <a:xfrm>
            <a:off x="8522208" y="2514600"/>
            <a:ext cx="896112" cy="548640"/>
          </a:xfrm>
          <a:prstGeom prst="rect">
            <a:avLst/>
          </a:prstGeom>
          <a:noFill/>
          <a:ln/>
        </p:spPr>
        <p:txBody>
          <a:bodyPr wrap="square" lIns="635" tIns="635" rIns="635" bIns="635" rtlCol="0" anchor="ctr"/>
          <a:lstStyle/>
          <a:p>
            <a:pPr algn="ctr" indent="0" marL="0" eaLnBrk="0">
              <a:buNone/>
            </a:pPr>
            <a:r>
              <a:rPr lang="ko-KR" altLang="en-US" sz="1200" b="1" dirty="0">
                <a:solidFill>
                  <a:schemeClr val="bg1"/>
                </a:solidFill>
              </a:rPr>
              <a:t>Literal</a:t>
            </a:r>
            <a:endParaRPr lang="ko-KR" altLang="en-US" sz="1200" dirty="0"/>
          </a:p>
        </p:txBody>
      </p:sp>
      <p:sp>
        <p:nvSpPr>
          <p:cNvPr id="20" name="box"/>
          <p:cNvSpPr/>
          <p:nvPr/>
        </p:nvSpPr>
        <p:spPr>
          <a:xfrm>
            <a:off x="9491472" y="2514600"/>
            <a:ext cx="896112" cy="548640"/>
          </a:xfrm>
          <a:prstGeom prst="roundRect">
            <a:avLst>
              <a:gd name="adj" fmla="val 13333"/>
            </a:avLst>
          </a:prstGeom>
          <a:solidFill>
            <a:schemeClr val="bg2"/>
          </a:solidFill>
          <a:ln w="12700">
            <a:solidFill>
              <a:schemeClr val="bg2"/>
            </a:solidFill>
            <a:prstDash val="solid"/>
          </a:ln>
        </p:spPr>
      </p:sp>
      <p:sp>
        <p:nvSpPr>
          <p:cNvPr id="21" name="Text 18"/>
          <p:cNvSpPr txBox="1"/>
          <p:nvPr/>
        </p:nvSpPr>
        <p:spPr>
          <a:xfrm>
            <a:off x="9491472" y="2514600"/>
            <a:ext cx="896112" cy="548640"/>
          </a:xfrm>
          <a:prstGeom prst="rect">
            <a:avLst/>
          </a:prstGeom>
          <a:noFill/>
          <a:ln/>
        </p:spPr>
        <p:txBody>
          <a:bodyPr wrap="square" lIns="635" tIns="635" rIns="635" bIns="635" rtlCol="0" anchor="ctr"/>
          <a:lstStyle/>
          <a:p>
            <a:pPr algn="ctr" indent="0" marL="0" eaLnBrk="0">
              <a:buNone/>
            </a:pPr>
            <a:r>
              <a:rPr lang="ko-KR" altLang="en-US" sz="1200" b="1" dirty="0">
                <a:solidFill>
                  <a:schemeClr val="tx1"/>
                </a:solidFill>
              </a:rPr>
              <a:t>10</a:t>
            </a:r>
            <a:endParaRPr lang="ko-KR" altLang="en-US" sz="1200" dirty="0"/>
          </a:p>
        </p:txBody>
      </p:sp>
      <p:sp>
        <p:nvSpPr>
          <p:cNvPr id="22" name="box"/>
          <p:cNvSpPr/>
          <p:nvPr/>
        </p:nvSpPr>
        <p:spPr>
          <a:xfrm>
            <a:off x="10460736" y="2514600"/>
            <a:ext cx="896112" cy="548640"/>
          </a:xfrm>
          <a:prstGeom prst="roundRect">
            <a:avLst>
              <a:gd name="adj" fmla="val 13333"/>
            </a:avLst>
          </a:prstGeom>
          <a:solidFill>
            <a:schemeClr val="accent1"/>
          </a:solidFill>
          <a:ln w="12700">
            <a:solidFill>
              <a:schemeClr val="accent1"/>
            </a:solidFill>
            <a:prstDash val="solid"/>
          </a:ln>
        </p:spPr>
      </p:sp>
      <p:sp>
        <p:nvSpPr>
          <p:cNvPr id="23" name="Text 20"/>
          <p:cNvSpPr txBox="1"/>
          <p:nvPr/>
        </p:nvSpPr>
        <p:spPr>
          <a:xfrm>
            <a:off x="10460736" y="2514600"/>
            <a:ext cx="896112" cy="548640"/>
          </a:xfrm>
          <a:prstGeom prst="rect">
            <a:avLst/>
          </a:prstGeom>
          <a:noFill/>
          <a:ln/>
        </p:spPr>
        <p:txBody>
          <a:bodyPr wrap="square" lIns="635" tIns="635" rIns="635" bIns="635" rtlCol="0" anchor="ctr"/>
          <a:lstStyle/>
          <a:p>
            <a:pPr algn="ctr" indent="0" marL="0" eaLnBrk="0">
              <a:buNone/>
            </a:pPr>
            <a:r>
              <a:rPr lang="ko-KR" altLang="en-US" sz="1200" b="1" dirty="0">
                <a:solidFill>
                  <a:schemeClr val="bg1"/>
                </a:solidFill>
              </a:rPr>
              <a:t>SetHealth</a:t>
            </a:r>
            <a:endParaRPr lang="ko-KR" altLang="en-US" sz="1200" dirty="0"/>
          </a:p>
        </p:txBody>
      </p:sp>
      <p:sp>
        <p:nvSpPr>
          <p:cNvPr id="24" name="Text 21"/>
          <p:cNvSpPr txBox="1"/>
          <p:nvPr/>
        </p:nvSpPr>
        <p:spPr>
          <a:xfrm>
            <a:off x="6583680" y="3246120"/>
            <a:ext cx="4785055" cy="731520"/>
          </a:xfrm>
          <a:prstGeom prst="rect">
            <a:avLst/>
          </a:prstGeom>
          <a:noFill/>
          <a:ln/>
        </p:spPr>
        <p:txBody>
          <a:bodyPr wrap="square" lIns="0" tIns="0" rIns="0" bIns="0" rtlCol="0" anchor="t"/>
          <a:lstStyle/>
          <a:p>
            <a:pPr indent="0" marL="0" eaLnBrk="0">
              <a:buNone/>
            </a:pPr>
            <a:r>
              <a:rPr lang="ko-KR" altLang="en-US" sz="1400" dirty="0">
                <a:solidFill>
                  <a:schemeClr val="tx2"/>
                </a:solidFill>
              </a:rPr>
              <a:t>파일에서 읽은 바이트를 게임 안의 가상 기계가 하나씩 실행한다. 고치려면 데이터만 바꾼다.</a:t>
            </a:r>
            <a:endParaRPr lang="ko-KR" altLang="en-US" sz="1400" dirty="0"/>
          </a:p>
        </p:txBody>
      </p:sp>
      <p:sp>
        <p:nvSpPr>
          <p:cNvPr id="25" name="box"/>
          <p:cNvSpPr/>
          <p:nvPr/>
        </p:nvSpPr>
        <p:spPr>
          <a:xfrm>
            <a:off x="548640" y="4480560"/>
            <a:ext cx="11094415" cy="1051560"/>
          </a:xfrm>
          <a:prstGeom prst="roundRect">
            <a:avLst>
              <a:gd name="adj" fmla="val 6957"/>
            </a:avLst>
          </a:prstGeom>
          <a:solidFill>
            <a:schemeClr val="tx2"/>
          </a:solidFill>
          <a:ln w="12700">
            <a:solidFill>
              <a:schemeClr val="tx2"/>
            </a:solidFill>
            <a:prstDash val="solid"/>
          </a:ln>
        </p:spPr>
      </p:sp>
      <p:sp>
        <p:nvSpPr>
          <p:cNvPr id="26" name="Text 23"/>
          <p:cNvSpPr txBox="1"/>
          <p:nvPr/>
        </p:nvSpPr>
        <p:spPr>
          <a:xfrm>
            <a:off x="548640" y="4480560"/>
            <a:ext cx="11094415" cy="1051560"/>
          </a:xfrm>
          <a:prstGeom prst="rect">
            <a:avLst/>
          </a:prstGeom>
          <a:noFill/>
          <a:ln/>
        </p:spPr>
        <p:txBody>
          <a:bodyPr wrap="square" lIns="635" tIns="635" rIns="635" bIns="635" rtlCol="0" anchor="ctr"/>
          <a:lstStyle/>
          <a:p>
            <a:pPr algn="ctr" indent="0" marL="0" eaLnBrk="0">
              <a:buNone/>
            </a:pPr>
            <a:r>
              <a:rPr lang="ko-KR" altLang="en-US" sz="1700" dirty="0">
                <a:solidFill>
                  <a:schemeClr val="bg1"/>
                </a:solidFill>
              </a:rPr>
              <a:t>핵심: 행동을 가상 기계가 실행할 명령으로 적으면, 행동도 데이터처럼 바꾸고 불러오고 안전하게 실행할 수 있다.</a:t>
            </a:r>
            <a:endParaRPr lang="ko-KR" altLang="en-US"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a:t>
            </a:fld>
            <a:endParaRPr lang="ko-KR"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1부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주문을 데이터로</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동기 · 인터프리터 패턴 · 가상의 기계어</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4</a:t>
            </a:fld>
            <a:endParaRPr lang="ko-KR"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문제</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주문을 코드로 적으면 고칠 때마다 엔지니어와 빌드가 필요하다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그런데 데이터를 ‘실행’한다는 것은 무슨 뜻일까? 인터프리터 패턴부터 보자.</a:t>
            </a:r>
            <a:endParaRPr lang="ko-KR" altLang="en-US" sz="1500" dirty="0"/>
          </a:p>
        </p:txBody>
      </p:sp>
      <p:sp>
        <p:nvSpPr>
          <p:cNvPr id="6" name="codePanel"/>
          <p:cNvSpPr/>
          <p:nvPr/>
        </p:nvSpPr>
        <p:spPr>
          <a:xfrm>
            <a:off x="548640" y="1691640"/>
            <a:ext cx="5669280" cy="2011680"/>
          </a:xfrm>
          <a:prstGeom prst="roundRect">
            <a:avLst>
              <a:gd name="adj" fmla="val 3636"/>
            </a:avLst>
          </a:prstGeom>
          <a:solidFill>
            <a:schemeClr val="tx1"/>
          </a:solidFill>
          <a:ln w="12700">
            <a:solidFill>
              <a:schemeClr val="tx1"/>
            </a:solidFill>
            <a:prstDash val="solid"/>
          </a:ln>
        </p:spPr>
      </p:sp>
      <p:sp>
        <p:nvSpPr>
          <p:cNvPr id="7" name="code"/>
          <p:cNvSpPr txBox="1"/>
          <p:nvPr/>
        </p:nvSpPr>
        <p:spPr>
          <a:xfrm>
            <a:off x="658368" y="1783080"/>
            <a:ext cx="5449824" cy="1828800"/>
          </a:xfrm>
          <a:prstGeom prst="rect">
            <a:avLst/>
          </a:prstGeom>
          <a:noFill/>
          <a:ln/>
        </p:spPr>
        <p:txBody>
          <a:bodyPr wrap="square" lIns="635" tIns="635" rIns="635" bIns="635" rtlCol="0" anchor="t"/>
          <a:lstStyle/>
          <a:p>
            <a:pPr indent="0" marL="0" eaLnBrk="0">
              <a:buNone/>
            </a:pPr>
            <a:r>
              <a:rPr lang="ko-KR" altLang="en-US" sz="1500" dirty="0">
                <a:solidFill>
                  <a:schemeClr val="accent3"/>
                </a:solidFill>
                <a:latin typeface="Consolas" pitchFamily="34" charset="0"/>
                <a:ea typeface="Consolas" pitchFamily="34" charset="-122"/>
                <a:cs typeface="Consolas" pitchFamily="34" charset="-120"/>
              </a:rPr>
              <a:t>// 주문을 게임 코드 안에 적는다</a:t>
            </a:r>
            <a:endParaRPr lang="ko-KR" altLang="en-US" sz="1500" dirty="0"/>
          </a:p>
          <a:p>
            <a:pPr indent="0" marL="0" eaLnBrk="0">
              <a:buNone/>
            </a:pPr>
            <a:r>
              <a:rPr lang="ko-KR" altLang="en-US" sz="1500" dirty="0">
                <a:solidFill>
                  <a:schemeClr val="bg1"/>
                </a:solidFill>
                <a:latin typeface="Consolas" pitchFamily="34" charset="0"/>
                <a:ea typeface="Consolas" pitchFamily="34" charset="-122"/>
                <a:cs typeface="Consolas" pitchFamily="34" charset="-120"/>
              </a:rPr>
              <a:t>void CastSpell()</a:t>
            </a:r>
            <a:endParaRPr lang="ko-KR" altLang="en-US" sz="1500" dirty="0"/>
          </a:p>
          <a:p>
            <a:pPr indent="0" marL="0" eaLnBrk="0">
              <a:buNone/>
            </a:pPr>
            <a:r>
              <a:rPr lang="ko-KR" altLang="en-US" sz="1500" dirty="0">
                <a:solidFill>
                  <a:schemeClr val="bg1"/>
                </a:solidFill>
                <a:latin typeface="Consolas" pitchFamily="34" charset="0"/>
                <a:ea typeface="Consolas" pitchFamily="34" charset="-122"/>
                <a:cs typeface="Consolas" pitchFamily="34" charset="-120"/>
              </a:rPr>
              <a:t>{</a:t>
            </a:r>
            <a:endParaRPr lang="ko-KR" altLang="en-US" sz="1500" dirty="0"/>
          </a:p>
          <a:p>
            <a:pPr indent="0" marL="0" eaLnBrk="0">
              <a:buNone/>
            </a:pPr>
            <a:r>
              <a:rPr lang="ko-KR" altLang="en-US" sz="1500" dirty="0">
                <a:solidFill>
                  <a:schemeClr val="bg1"/>
                </a:solidFill>
                <a:latin typeface="Consolas" pitchFamily="34" charset="0"/>
                <a:ea typeface="Consolas" pitchFamily="34" charset="-122"/>
                <a:cs typeface="Consolas" pitchFamily="34" charset="-120"/>
              </a:rPr>
              <a:t>    SetHealth(0, 100);</a:t>
            </a:r>
            <a:endParaRPr lang="ko-KR" altLang="en-US" sz="1500" dirty="0"/>
          </a:p>
          <a:p>
            <a:pPr indent="0" marL="0" eaLnBrk="0">
              <a:buNone/>
            </a:pPr>
            <a:r>
              <a:rPr lang="ko-KR" altLang="en-US" sz="1500" dirty="0">
                <a:solidFill>
                  <a:schemeClr val="bg1"/>
                </a:solidFill>
                <a:latin typeface="Consolas" pitchFamily="34" charset="0"/>
                <a:ea typeface="Consolas" pitchFamily="34" charset="-122"/>
                <a:cs typeface="Consolas" pitchFamily="34" charset="-120"/>
              </a:rPr>
              <a:t>    PlaySound(SoundBang);</a:t>
            </a:r>
            <a:endParaRPr lang="ko-KR" altLang="en-US" sz="1500" dirty="0"/>
          </a:p>
          <a:p>
            <a:pPr indent="0" marL="0" eaLnBrk="0">
              <a:buNone/>
            </a:pPr>
            <a:r>
              <a:rPr lang="ko-KR" altLang="en-US" sz="1500" dirty="0">
                <a:solidFill>
                  <a:schemeClr val="bg1"/>
                </a:solidFill>
                <a:latin typeface="Consolas" pitchFamily="34" charset="0"/>
                <a:ea typeface="Consolas" pitchFamily="34" charset="-122"/>
                <a:cs typeface="Consolas" pitchFamily="34" charset="-120"/>
              </a:rPr>
              <a:t>    SpawnParticles(ParticleFlame);</a:t>
            </a:r>
            <a:endParaRPr lang="ko-KR" altLang="en-US" sz="1500" dirty="0"/>
          </a:p>
          <a:p>
            <a:pPr indent="0" marL="0" eaLnBrk="0">
              <a:buNone/>
            </a:pPr>
            <a:r>
              <a:rPr lang="ko-KR" altLang="en-US" sz="1500" dirty="0">
                <a:solidFill>
                  <a:schemeClr val="bg1"/>
                </a:solidFill>
                <a:latin typeface="Consolas" pitchFamily="34" charset="0"/>
                <a:ea typeface="Consolas" pitchFamily="34" charset="-122"/>
                <a:cs typeface="Consolas" pitchFamily="34" charset="-120"/>
              </a:rPr>
              <a:t>}</a:t>
            </a:r>
            <a:endParaRPr lang="ko-KR" altLang="en-US" sz="1500" dirty="0"/>
          </a:p>
        </p:txBody>
      </p:sp>
      <p:sp>
        <p:nvSpPr>
          <p:cNvPr id="8" name="Text 5"/>
          <p:cNvSpPr txBox="1"/>
          <p:nvPr/>
        </p:nvSpPr>
        <p:spPr>
          <a:xfrm>
            <a:off x="548640" y="3749040"/>
            <a:ext cx="5669280" cy="256032"/>
          </a:xfrm>
          <a:prstGeom prst="rect">
            <a:avLst/>
          </a:prstGeom>
          <a:noFill/>
          <a:ln/>
        </p:spPr>
        <p:txBody>
          <a:bodyPr wrap="square" lIns="0" tIns="0" rIns="0" bIns="0" rtlCol="0" anchor="t"/>
          <a:lstStyle/>
          <a:p>
            <a:pPr indent="0" marL="0" eaLnBrk="0">
              <a:buNone/>
            </a:pPr>
            <a:r>
              <a:rPr lang="ko-KR" altLang="en-US" sz="1100" dirty="0">
                <a:solidFill>
                  <a:schemeClr val="accent5"/>
                </a:solidFill>
              </a:rPr>
              <a:t>원서의 API로 적은 설명용 코드</a:t>
            </a:r>
            <a:endParaRPr lang="ko-KR" altLang="en-US" sz="1100" dirty="0"/>
          </a:p>
        </p:txBody>
      </p:sp>
      <p:sp>
        <p:nvSpPr>
          <p:cNvPr id="9" name="card"/>
          <p:cNvSpPr/>
          <p:nvPr/>
        </p:nvSpPr>
        <p:spPr>
          <a:xfrm>
            <a:off x="548640" y="4160520"/>
            <a:ext cx="5669280" cy="1508760"/>
          </a:xfrm>
          <a:prstGeom prst="roundRect">
            <a:avLst>
              <a:gd name="adj" fmla="val 6061"/>
            </a:avLst>
          </a:prstGeom>
          <a:solidFill>
            <a:schemeClr val="tx2"/>
          </a:solidFill>
          <a:ln w="12700">
            <a:solidFill>
              <a:schemeClr val="tx2"/>
            </a:solidFill>
            <a:prstDash val="solid"/>
          </a:ln>
        </p:spPr>
      </p:sp>
      <p:sp>
        <p:nvSpPr>
          <p:cNvPr id="10" name="Text 7"/>
          <p:cNvSpPr txBox="1"/>
          <p:nvPr/>
        </p:nvSpPr>
        <p:spPr>
          <a:xfrm>
            <a:off x="777240" y="4379976"/>
            <a:ext cx="5257800" cy="411480"/>
          </a:xfrm>
          <a:prstGeom prst="rect">
            <a:avLst/>
          </a:prstGeom>
          <a:noFill/>
          <a:ln/>
        </p:spPr>
        <p:txBody>
          <a:bodyPr wrap="square" lIns="0" tIns="0" rIns="0" bIns="0" rtlCol="0" anchor="ctr"/>
          <a:lstStyle/>
          <a:p>
            <a:pPr indent="0" marL="0" eaLnBrk="0">
              <a:buNone/>
            </a:pPr>
            <a:r>
              <a:rPr lang="ko-KR" altLang="en-US" sz="1700" b="1" dirty="0">
                <a:solidFill>
                  <a:schemeClr val="accent4"/>
                </a:solidFill>
              </a:rPr>
              <a:t>그래서 원하는 것: 데이터 &gt; 코드</a:t>
            </a:r>
            <a:endParaRPr lang="ko-KR" altLang="en-US" sz="1700" dirty="0"/>
          </a:p>
        </p:txBody>
      </p:sp>
      <p:sp>
        <p:nvSpPr>
          <p:cNvPr id="11" name="Text 8"/>
          <p:cNvSpPr txBox="1"/>
          <p:nvPr/>
        </p:nvSpPr>
        <p:spPr>
          <a:xfrm>
            <a:off x="777240" y="4937760"/>
            <a:ext cx="5212080" cy="594360"/>
          </a:xfrm>
          <a:prstGeom prst="rect">
            <a:avLst/>
          </a:prstGeom>
          <a:noFill/>
          <a:ln/>
        </p:spPr>
        <p:txBody>
          <a:bodyPr wrap="square" lIns="0" tIns="0" rIns="0" bIns="0" rtlCol="0" anchor="t"/>
          <a:lstStyle/>
          <a:p>
            <a:pPr indent="0" marL="0" eaLnBrk="0">
              <a:buNone/>
            </a:pPr>
            <a:r>
              <a:rPr lang="ko-KR" altLang="en-US" sz="1400" dirty="0">
                <a:solidFill>
                  <a:schemeClr val="bg1"/>
                </a:solidFill>
              </a:rPr>
              <a:t>주문을 게임과 격리하고, 다시 빌드하지 않고 고치고, 실행 파일과 따로 배포한다. 곧 데이터 파일이다.</a:t>
            </a:r>
            <a:endParaRPr lang="ko-KR" altLang="en-US" sz="1400" dirty="0"/>
          </a:p>
        </p:txBody>
      </p:sp>
      <p:sp>
        <p:nvSpPr>
          <p:cNvPr id="12" name="card"/>
          <p:cNvSpPr/>
          <p:nvPr/>
        </p:nvSpPr>
        <p:spPr>
          <a:xfrm>
            <a:off x="6583680" y="1691640"/>
            <a:ext cx="5059375" cy="1234440"/>
          </a:xfrm>
          <a:prstGeom prst="roundRect">
            <a:avLst>
              <a:gd name="adj" fmla="val 7407"/>
            </a:avLst>
          </a:prstGeom>
          <a:solidFill>
            <a:schemeClr val="bg2"/>
          </a:solidFill>
          <a:ln w="12700">
            <a:solidFill>
              <a:schemeClr val="bg2"/>
            </a:solidFill>
            <a:prstDash val="solid"/>
          </a:ln>
        </p:spPr>
      </p:sp>
      <p:sp>
        <p:nvSpPr>
          <p:cNvPr id="13" name="Shape 10"/>
          <p:cNvSpPr/>
          <p:nvPr/>
        </p:nvSpPr>
        <p:spPr>
          <a:xfrm>
            <a:off x="6812280" y="1892808"/>
            <a:ext cx="420624" cy="420624"/>
          </a:xfrm>
          <a:prstGeom prst="ellipse">
            <a:avLst/>
          </a:prstGeom>
          <a:solidFill>
            <a:schemeClr val="accent1"/>
          </a:solidFill>
          <a:ln w="12700">
            <a:solidFill>
              <a:schemeClr val="accent1"/>
            </a:solidFill>
            <a:prstDash val="solid"/>
          </a:ln>
        </p:spPr>
      </p:sp>
      <p:sp>
        <p:nvSpPr>
          <p:cNvPr id="14" name="Text 11"/>
          <p:cNvSpPr txBox="1"/>
          <p:nvPr/>
        </p:nvSpPr>
        <p:spPr>
          <a:xfrm>
            <a:off x="6812280" y="18928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15" name="Text 12"/>
          <p:cNvSpPr txBox="1"/>
          <p:nvPr/>
        </p:nvSpPr>
        <p:spPr>
          <a:xfrm>
            <a:off x="7360920" y="1911096"/>
            <a:ext cx="409925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디자이너의 수치 조정</a:t>
            </a:r>
            <a:endParaRPr lang="ko-KR" altLang="en-US" sz="1700" dirty="0"/>
          </a:p>
        </p:txBody>
      </p:sp>
      <p:sp>
        <p:nvSpPr>
          <p:cNvPr id="16" name="Text 13"/>
          <p:cNvSpPr txBox="1"/>
          <p:nvPr/>
        </p:nvSpPr>
        <p:spPr>
          <a:xfrm>
            <a:off x="7360920" y="2313432"/>
            <a:ext cx="4099255" cy="566928"/>
          </a:xfrm>
          <a:prstGeom prst="rect">
            <a:avLst/>
          </a:prstGeom>
          <a:noFill/>
          <a:ln/>
        </p:spPr>
        <p:txBody>
          <a:bodyPr wrap="square" lIns="0" tIns="0" rIns="0" bIns="0" rtlCol="0" anchor="t"/>
          <a:lstStyle/>
          <a:p>
            <a:pPr indent="0" marL="0" eaLnBrk="0">
              <a:buNone/>
            </a:pPr>
            <a:r>
              <a:rPr lang="ko-KR" altLang="en-US" sz="1300" dirty="0">
                <a:solidFill>
                  <a:schemeClr val="tx2"/>
                </a:solidFill>
              </a:rPr>
              <a:t>엔지니어가 고치고, 전체를 다시 컴파일하고, 다시 실행해 대결에 들어가야 한다.</a:t>
            </a:r>
            <a:endParaRPr lang="ko-KR" altLang="en-US" sz="1300" dirty="0"/>
          </a:p>
        </p:txBody>
      </p:sp>
      <p:sp>
        <p:nvSpPr>
          <p:cNvPr id="17" name="card"/>
          <p:cNvSpPr/>
          <p:nvPr/>
        </p:nvSpPr>
        <p:spPr>
          <a:xfrm>
            <a:off x="6583680" y="3035808"/>
            <a:ext cx="5059375" cy="1234440"/>
          </a:xfrm>
          <a:prstGeom prst="roundRect">
            <a:avLst>
              <a:gd name="adj" fmla="val 7407"/>
            </a:avLst>
          </a:prstGeom>
          <a:solidFill>
            <a:schemeClr val="bg2"/>
          </a:solidFill>
          <a:ln w="12700">
            <a:solidFill>
              <a:schemeClr val="bg2"/>
            </a:solidFill>
            <a:prstDash val="solid"/>
          </a:ln>
        </p:spPr>
      </p:sp>
      <p:sp>
        <p:nvSpPr>
          <p:cNvPr id="18" name="Shape 15"/>
          <p:cNvSpPr/>
          <p:nvPr/>
        </p:nvSpPr>
        <p:spPr>
          <a:xfrm>
            <a:off x="6812280" y="3236976"/>
            <a:ext cx="420624" cy="420624"/>
          </a:xfrm>
          <a:prstGeom prst="ellipse">
            <a:avLst/>
          </a:prstGeom>
          <a:solidFill>
            <a:schemeClr val="accent1"/>
          </a:solidFill>
          <a:ln w="12700">
            <a:solidFill>
              <a:schemeClr val="accent1"/>
            </a:solidFill>
            <a:prstDash val="solid"/>
          </a:ln>
        </p:spPr>
      </p:sp>
      <p:sp>
        <p:nvSpPr>
          <p:cNvPr id="19" name="Text 16"/>
          <p:cNvSpPr txBox="1"/>
          <p:nvPr/>
        </p:nvSpPr>
        <p:spPr>
          <a:xfrm>
            <a:off x="6812280" y="3236976"/>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20" name="Text 17"/>
          <p:cNvSpPr txBox="1"/>
          <p:nvPr/>
        </p:nvSpPr>
        <p:spPr>
          <a:xfrm>
            <a:off x="7360920" y="3255264"/>
            <a:ext cx="409925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출시 뒤 수정</a:t>
            </a:r>
            <a:endParaRPr lang="ko-KR" altLang="en-US" sz="1700" dirty="0"/>
          </a:p>
        </p:txBody>
      </p:sp>
      <p:sp>
        <p:nvSpPr>
          <p:cNvPr id="21" name="Text 18"/>
          <p:cNvSpPr txBox="1"/>
          <p:nvPr/>
        </p:nvSpPr>
        <p:spPr>
          <a:xfrm>
            <a:off x="7360920" y="3657600"/>
            <a:ext cx="4099255" cy="566928"/>
          </a:xfrm>
          <a:prstGeom prst="rect">
            <a:avLst/>
          </a:prstGeom>
          <a:noFill/>
          <a:ln/>
        </p:spPr>
        <p:txBody>
          <a:bodyPr wrap="square" lIns="0" tIns="0" rIns="0" bIns="0" rtlCol="0" anchor="t"/>
          <a:lstStyle/>
          <a:p>
            <a:pPr indent="0" marL="0" eaLnBrk="0">
              <a:buNone/>
            </a:pPr>
            <a:r>
              <a:rPr lang="ko-KR" altLang="en-US" sz="1300" dirty="0">
                <a:solidFill>
                  <a:schemeClr val="tx2"/>
                </a:solidFill>
              </a:rPr>
              <a:t>버그 수정과 새 주문마다 게임 실행 파일을 패치해야 한다.</a:t>
            </a:r>
            <a:endParaRPr lang="ko-KR" altLang="en-US" sz="1300" dirty="0"/>
          </a:p>
        </p:txBody>
      </p:sp>
      <p:sp>
        <p:nvSpPr>
          <p:cNvPr id="22" name="card"/>
          <p:cNvSpPr/>
          <p:nvPr/>
        </p:nvSpPr>
        <p:spPr>
          <a:xfrm>
            <a:off x="6583680" y="4379976"/>
            <a:ext cx="5059375" cy="1234440"/>
          </a:xfrm>
          <a:prstGeom prst="roundRect">
            <a:avLst>
              <a:gd name="adj" fmla="val 7407"/>
            </a:avLst>
          </a:prstGeom>
          <a:solidFill>
            <a:schemeClr val="bg2"/>
          </a:solidFill>
          <a:ln w="12700">
            <a:solidFill>
              <a:schemeClr val="bg2"/>
            </a:solidFill>
            <a:prstDash val="solid"/>
          </a:ln>
        </p:spPr>
      </p:sp>
      <p:sp>
        <p:nvSpPr>
          <p:cNvPr id="23" name="Shape 20"/>
          <p:cNvSpPr/>
          <p:nvPr/>
        </p:nvSpPr>
        <p:spPr>
          <a:xfrm>
            <a:off x="6812280" y="4581144"/>
            <a:ext cx="420624" cy="420624"/>
          </a:xfrm>
          <a:prstGeom prst="ellipse">
            <a:avLst/>
          </a:prstGeom>
          <a:solidFill>
            <a:schemeClr val="accent1"/>
          </a:solidFill>
          <a:ln w="12700">
            <a:solidFill>
              <a:schemeClr val="accent1"/>
            </a:solidFill>
            <a:prstDash val="solid"/>
          </a:ln>
        </p:spPr>
      </p:sp>
      <p:sp>
        <p:nvSpPr>
          <p:cNvPr id="24" name="Text 21"/>
          <p:cNvSpPr txBox="1"/>
          <p:nvPr/>
        </p:nvSpPr>
        <p:spPr>
          <a:xfrm>
            <a:off x="6812280" y="4581144"/>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25" name="Text 22"/>
          <p:cNvSpPr txBox="1"/>
          <p:nvPr/>
        </p:nvSpPr>
        <p:spPr>
          <a:xfrm>
            <a:off x="7360920" y="4599432"/>
            <a:ext cx="409925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사용자 제작 주문(모드)</a:t>
            </a:r>
            <a:endParaRPr lang="ko-KR" altLang="en-US" sz="1700" dirty="0"/>
          </a:p>
        </p:txBody>
      </p:sp>
      <p:sp>
        <p:nvSpPr>
          <p:cNvPr id="26" name="Text 23"/>
          <p:cNvSpPr txBox="1"/>
          <p:nvPr/>
        </p:nvSpPr>
        <p:spPr>
          <a:xfrm>
            <a:off x="7360920" y="5001768"/>
            <a:ext cx="4099255" cy="566928"/>
          </a:xfrm>
          <a:prstGeom prst="rect">
            <a:avLst/>
          </a:prstGeom>
          <a:noFill/>
          <a:ln/>
        </p:spPr>
        <p:txBody>
          <a:bodyPr wrap="square" lIns="0" tIns="0" rIns="0" bIns="0" rtlCol="0" anchor="t"/>
          <a:lstStyle/>
          <a:p>
            <a:pPr indent="0" marL="0" eaLnBrk="0">
              <a:buNone/>
            </a:pPr>
            <a:r>
              <a:rPr lang="ko-KR" altLang="en-US" sz="1300" dirty="0">
                <a:solidFill>
                  <a:schemeClr val="tx2"/>
                </a:solidFill>
              </a:rPr>
              <a:t>모두에게 컴파일러와 소스가 필요하다. 주문의 버그가 다른 플레이어의 게임을 멈출 수 있다.</a:t>
            </a:r>
            <a:endParaRPr lang="ko-KR" alt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5</a:t>
            </a:fld>
            <a:endParaRPr lang="ko-KR"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첫 시도: 인터프리터 패턴</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식의 각 부분을 객체로 만들고, 객체가 스스로 계산한다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덧셈처럼 하위 식을 가진 객체는 어떻게 계산할까?</a:t>
            </a:r>
            <a:endParaRPr lang="ko-KR" altLang="en-US" sz="1500" dirty="0"/>
          </a:p>
        </p:txBody>
      </p:sp>
      <p:sp>
        <p:nvSpPr>
          <p:cNvPr id="6" name="Text 3"/>
          <p:cNvSpPr txBox="1"/>
          <p:nvPr/>
        </p:nvSpPr>
        <p:spPr>
          <a:xfrm>
            <a:off x="548640" y="1645920"/>
            <a:ext cx="5120640" cy="457200"/>
          </a:xfrm>
          <a:prstGeom prst="rect">
            <a:avLst/>
          </a:prstGeom>
          <a:noFill/>
          <a:ln/>
        </p:spPr>
        <p:txBody>
          <a:bodyPr wrap="square" lIns="0" tIns="0" rIns="0" bIns="0" rtlCol="0" anchor="t"/>
          <a:lstStyle/>
          <a:p>
            <a:pPr algn="ctr" indent="0" marL="0" eaLnBrk="0">
              <a:buNone/>
            </a:pPr>
            <a:r>
              <a:rPr lang="ko-KR" altLang="en-US" sz="2000" b="1" dirty="0">
                <a:solidFill>
                  <a:schemeClr val="tx1"/>
                </a:solidFill>
                <a:latin typeface="Consolas" pitchFamily="34" charset="0"/>
                <a:ea typeface="Consolas" pitchFamily="34" charset="-122"/>
                <a:cs typeface="Consolas" pitchFamily="34" charset="-120"/>
              </a:rPr>
              <a:t>(1 + 2) * (3 - 4)</a:t>
            </a:r>
            <a:endParaRPr lang="ko-KR" altLang="en-US" sz="2000" dirty="0"/>
          </a:p>
        </p:txBody>
      </p:sp>
      <p:sp>
        <p:nvSpPr>
          <p:cNvPr id="7" name="box"/>
          <p:cNvSpPr/>
          <p:nvPr/>
        </p:nvSpPr>
        <p:spPr>
          <a:xfrm>
            <a:off x="2697480" y="2286000"/>
            <a:ext cx="822960" cy="548640"/>
          </a:xfrm>
          <a:prstGeom prst="roundRect">
            <a:avLst>
              <a:gd name="adj" fmla="val 13333"/>
            </a:avLst>
          </a:prstGeom>
          <a:solidFill>
            <a:schemeClr val="accent1"/>
          </a:solidFill>
          <a:ln w="12700">
            <a:solidFill>
              <a:schemeClr val="accent1"/>
            </a:solidFill>
            <a:prstDash val="solid"/>
          </a:ln>
        </p:spPr>
      </p:sp>
      <p:sp>
        <p:nvSpPr>
          <p:cNvPr id="8" name="Text 5"/>
          <p:cNvSpPr txBox="1"/>
          <p:nvPr/>
        </p:nvSpPr>
        <p:spPr>
          <a:xfrm>
            <a:off x="2697480" y="2286000"/>
            <a:ext cx="822960" cy="548640"/>
          </a:xfrm>
          <a:prstGeom prst="rect">
            <a:avLst/>
          </a:prstGeom>
          <a:noFill/>
          <a:ln/>
        </p:spPr>
        <p:txBody>
          <a:bodyPr wrap="square" lIns="635" tIns="635" rIns="635" bIns="635" rtlCol="0" anchor="ctr"/>
          <a:lstStyle/>
          <a:p>
            <a:pPr algn="ctr" indent="0" marL="0" eaLnBrk="0">
              <a:buNone/>
            </a:pPr>
            <a:r>
              <a:rPr lang="ko-KR" altLang="en-US" sz="1700" b="1" dirty="0">
                <a:solidFill>
                  <a:schemeClr val="bg1"/>
                </a:solidFill>
              </a:rPr>
              <a:t>×</a:t>
            </a:r>
            <a:endParaRPr lang="ko-KR" altLang="en-US" sz="1700" dirty="0"/>
          </a:p>
        </p:txBody>
      </p:sp>
      <p:sp>
        <p:nvSpPr>
          <p:cNvPr id="9" name="box"/>
          <p:cNvSpPr/>
          <p:nvPr/>
        </p:nvSpPr>
        <p:spPr>
          <a:xfrm>
            <a:off x="1417320" y="3246120"/>
            <a:ext cx="822960" cy="548640"/>
          </a:xfrm>
          <a:prstGeom prst="roundRect">
            <a:avLst>
              <a:gd name="adj" fmla="val 13333"/>
            </a:avLst>
          </a:prstGeom>
          <a:solidFill>
            <a:schemeClr val="accent1"/>
          </a:solidFill>
          <a:ln w="12700">
            <a:solidFill>
              <a:schemeClr val="accent1"/>
            </a:solidFill>
            <a:prstDash val="solid"/>
          </a:ln>
        </p:spPr>
      </p:sp>
      <p:sp>
        <p:nvSpPr>
          <p:cNvPr id="10" name="Text 7"/>
          <p:cNvSpPr txBox="1"/>
          <p:nvPr/>
        </p:nvSpPr>
        <p:spPr>
          <a:xfrm>
            <a:off x="1417320" y="3246120"/>
            <a:ext cx="822960" cy="548640"/>
          </a:xfrm>
          <a:prstGeom prst="rect">
            <a:avLst/>
          </a:prstGeom>
          <a:noFill/>
          <a:ln/>
        </p:spPr>
        <p:txBody>
          <a:bodyPr wrap="square" lIns="635" tIns="635" rIns="635" bIns="635" rtlCol="0" anchor="ctr"/>
          <a:lstStyle/>
          <a:p>
            <a:pPr algn="ctr" indent="0" marL="0" eaLnBrk="0">
              <a:buNone/>
            </a:pPr>
            <a:r>
              <a:rPr lang="ko-KR" altLang="en-US" sz="1700" b="1" dirty="0">
                <a:solidFill>
                  <a:schemeClr val="bg1"/>
                </a:solidFill>
              </a:rPr>
              <a:t>+</a:t>
            </a:r>
            <a:endParaRPr lang="ko-KR" altLang="en-US" sz="1700" dirty="0"/>
          </a:p>
        </p:txBody>
      </p:sp>
      <p:sp>
        <p:nvSpPr>
          <p:cNvPr id="11" name="box"/>
          <p:cNvSpPr/>
          <p:nvPr/>
        </p:nvSpPr>
        <p:spPr>
          <a:xfrm>
            <a:off x="3977640" y="3246120"/>
            <a:ext cx="822960" cy="548640"/>
          </a:xfrm>
          <a:prstGeom prst="roundRect">
            <a:avLst>
              <a:gd name="adj" fmla="val 13333"/>
            </a:avLst>
          </a:prstGeom>
          <a:solidFill>
            <a:schemeClr val="accent1"/>
          </a:solidFill>
          <a:ln w="12700">
            <a:solidFill>
              <a:schemeClr val="accent1"/>
            </a:solidFill>
            <a:prstDash val="solid"/>
          </a:ln>
        </p:spPr>
      </p:sp>
      <p:sp>
        <p:nvSpPr>
          <p:cNvPr id="12" name="Text 9"/>
          <p:cNvSpPr txBox="1"/>
          <p:nvPr/>
        </p:nvSpPr>
        <p:spPr>
          <a:xfrm>
            <a:off x="3977640" y="3246120"/>
            <a:ext cx="822960" cy="548640"/>
          </a:xfrm>
          <a:prstGeom prst="rect">
            <a:avLst/>
          </a:prstGeom>
          <a:noFill/>
          <a:ln/>
        </p:spPr>
        <p:txBody>
          <a:bodyPr wrap="square" lIns="635" tIns="635" rIns="635" bIns="635" rtlCol="0" anchor="ctr"/>
          <a:lstStyle/>
          <a:p>
            <a:pPr algn="ctr" indent="0" marL="0" eaLnBrk="0">
              <a:buNone/>
            </a:pPr>
            <a:r>
              <a:rPr lang="ko-KR" altLang="en-US" sz="1700" b="1" dirty="0">
                <a:solidFill>
                  <a:schemeClr val="bg1"/>
                </a:solidFill>
              </a:rPr>
              <a:t>−</a:t>
            </a:r>
            <a:endParaRPr lang="ko-KR" altLang="en-US" sz="1700" dirty="0"/>
          </a:p>
        </p:txBody>
      </p:sp>
      <p:sp>
        <p:nvSpPr>
          <p:cNvPr id="13" name="box"/>
          <p:cNvSpPr/>
          <p:nvPr/>
        </p:nvSpPr>
        <p:spPr>
          <a:xfrm>
            <a:off x="777240" y="4206240"/>
            <a:ext cx="822960" cy="548640"/>
          </a:xfrm>
          <a:prstGeom prst="roundRect">
            <a:avLst>
              <a:gd name="adj" fmla="val 13333"/>
            </a:avLst>
          </a:prstGeom>
          <a:solidFill>
            <a:schemeClr val="bg2"/>
          </a:solidFill>
          <a:ln w="12700">
            <a:solidFill>
              <a:schemeClr val="bg2"/>
            </a:solidFill>
            <a:prstDash val="solid"/>
          </a:ln>
        </p:spPr>
      </p:sp>
      <p:sp>
        <p:nvSpPr>
          <p:cNvPr id="14" name="Text 11"/>
          <p:cNvSpPr txBox="1"/>
          <p:nvPr/>
        </p:nvSpPr>
        <p:spPr>
          <a:xfrm>
            <a:off x="777240" y="4206240"/>
            <a:ext cx="822960" cy="548640"/>
          </a:xfrm>
          <a:prstGeom prst="rect">
            <a:avLst/>
          </a:prstGeom>
          <a:noFill/>
          <a:ln/>
        </p:spPr>
        <p:txBody>
          <a:bodyPr wrap="square" lIns="635" tIns="635" rIns="635" bIns="635" rtlCol="0" anchor="ctr"/>
          <a:lstStyle/>
          <a:p>
            <a:pPr algn="ctr" indent="0" marL="0" eaLnBrk="0">
              <a:buNone/>
            </a:pPr>
            <a:r>
              <a:rPr lang="ko-KR" altLang="en-US" sz="1700" b="1" dirty="0">
                <a:solidFill>
                  <a:schemeClr val="tx1"/>
                </a:solidFill>
              </a:rPr>
              <a:t>1</a:t>
            </a:r>
            <a:endParaRPr lang="ko-KR" altLang="en-US" sz="1700" dirty="0"/>
          </a:p>
        </p:txBody>
      </p:sp>
      <p:sp>
        <p:nvSpPr>
          <p:cNvPr id="15" name="box"/>
          <p:cNvSpPr/>
          <p:nvPr/>
        </p:nvSpPr>
        <p:spPr>
          <a:xfrm>
            <a:off x="2057400" y="4206240"/>
            <a:ext cx="822960" cy="548640"/>
          </a:xfrm>
          <a:prstGeom prst="roundRect">
            <a:avLst>
              <a:gd name="adj" fmla="val 13333"/>
            </a:avLst>
          </a:prstGeom>
          <a:solidFill>
            <a:schemeClr val="bg2"/>
          </a:solidFill>
          <a:ln w="12700">
            <a:solidFill>
              <a:schemeClr val="bg2"/>
            </a:solidFill>
            <a:prstDash val="solid"/>
          </a:ln>
        </p:spPr>
      </p:sp>
      <p:sp>
        <p:nvSpPr>
          <p:cNvPr id="16" name="Text 13"/>
          <p:cNvSpPr txBox="1"/>
          <p:nvPr/>
        </p:nvSpPr>
        <p:spPr>
          <a:xfrm>
            <a:off x="2057400" y="4206240"/>
            <a:ext cx="822960" cy="548640"/>
          </a:xfrm>
          <a:prstGeom prst="rect">
            <a:avLst/>
          </a:prstGeom>
          <a:noFill/>
          <a:ln/>
        </p:spPr>
        <p:txBody>
          <a:bodyPr wrap="square" lIns="635" tIns="635" rIns="635" bIns="635" rtlCol="0" anchor="ctr"/>
          <a:lstStyle/>
          <a:p>
            <a:pPr algn="ctr" indent="0" marL="0" eaLnBrk="0">
              <a:buNone/>
            </a:pPr>
            <a:r>
              <a:rPr lang="ko-KR" altLang="en-US" sz="1700" b="1" dirty="0">
                <a:solidFill>
                  <a:schemeClr val="tx1"/>
                </a:solidFill>
              </a:rPr>
              <a:t>2</a:t>
            </a:r>
            <a:endParaRPr lang="ko-KR" altLang="en-US" sz="1700" dirty="0"/>
          </a:p>
        </p:txBody>
      </p:sp>
      <p:sp>
        <p:nvSpPr>
          <p:cNvPr id="17" name="box"/>
          <p:cNvSpPr/>
          <p:nvPr/>
        </p:nvSpPr>
        <p:spPr>
          <a:xfrm>
            <a:off x="3337560" y="4206240"/>
            <a:ext cx="822960" cy="548640"/>
          </a:xfrm>
          <a:prstGeom prst="roundRect">
            <a:avLst>
              <a:gd name="adj" fmla="val 13333"/>
            </a:avLst>
          </a:prstGeom>
          <a:solidFill>
            <a:schemeClr val="bg2"/>
          </a:solidFill>
          <a:ln w="12700">
            <a:solidFill>
              <a:schemeClr val="bg2"/>
            </a:solidFill>
            <a:prstDash val="solid"/>
          </a:ln>
        </p:spPr>
      </p:sp>
      <p:sp>
        <p:nvSpPr>
          <p:cNvPr id="18" name="Text 15"/>
          <p:cNvSpPr txBox="1"/>
          <p:nvPr/>
        </p:nvSpPr>
        <p:spPr>
          <a:xfrm>
            <a:off x="3337560" y="4206240"/>
            <a:ext cx="822960" cy="548640"/>
          </a:xfrm>
          <a:prstGeom prst="rect">
            <a:avLst/>
          </a:prstGeom>
          <a:noFill/>
          <a:ln/>
        </p:spPr>
        <p:txBody>
          <a:bodyPr wrap="square" lIns="635" tIns="635" rIns="635" bIns="635" rtlCol="0" anchor="ctr"/>
          <a:lstStyle/>
          <a:p>
            <a:pPr algn="ctr" indent="0" marL="0" eaLnBrk="0">
              <a:buNone/>
            </a:pPr>
            <a:r>
              <a:rPr lang="ko-KR" altLang="en-US" sz="1700" b="1" dirty="0">
                <a:solidFill>
                  <a:schemeClr val="tx1"/>
                </a:solidFill>
              </a:rPr>
              <a:t>3</a:t>
            </a:r>
            <a:endParaRPr lang="ko-KR" altLang="en-US" sz="1700" dirty="0"/>
          </a:p>
        </p:txBody>
      </p:sp>
      <p:sp>
        <p:nvSpPr>
          <p:cNvPr id="19" name="box"/>
          <p:cNvSpPr/>
          <p:nvPr/>
        </p:nvSpPr>
        <p:spPr>
          <a:xfrm>
            <a:off x="4617720" y="4206240"/>
            <a:ext cx="822960" cy="548640"/>
          </a:xfrm>
          <a:prstGeom prst="roundRect">
            <a:avLst>
              <a:gd name="adj" fmla="val 13333"/>
            </a:avLst>
          </a:prstGeom>
          <a:solidFill>
            <a:schemeClr val="bg2"/>
          </a:solidFill>
          <a:ln w="12700">
            <a:solidFill>
              <a:schemeClr val="bg2"/>
            </a:solidFill>
            <a:prstDash val="solid"/>
          </a:ln>
        </p:spPr>
      </p:sp>
      <p:sp>
        <p:nvSpPr>
          <p:cNvPr id="20" name="Text 17"/>
          <p:cNvSpPr txBox="1"/>
          <p:nvPr/>
        </p:nvSpPr>
        <p:spPr>
          <a:xfrm>
            <a:off x="4617720" y="4206240"/>
            <a:ext cx="822960" cy="548640"/>
          </a:xfrm>
          <a:prstGeom prst="rect">
            <a:avLst/>
          </a:prstGeom>
          <a:noFill/>
          <a:ln/>
        </p:spPr>
        <p:txBody>
          <a:bodyPr wrap="square" lIns="635" tIns="635" rIns="635" bIns="635" rtlCol="0" anchor="ctr"/>
          <a:lstStyle/>
          <a:p>
            <a:pPr algn="ctr" indent="0" marL="0" eaLnBrk="0">
              <a:buNone/>
            </a:pPr>
            <a:r>
              <a:rPr lang="ko-KR" altLang="en-US" sz="1700" b="1" dirty="0">
                <a:solidFill>
                  <a:schemeClr val="tx1"/>
                </a:solidFill>
              </a:rPr>
              <a:t>4</a:t>
            </a:r>
            <a:endParaRPr lang="ko-KR" altLang="en-US" sz="1700" dirty="0"/>
          </a:p>
        </p:txBody>
      </p:sp>
      <p:sp>
        <p:nvSpPr>
          <p:cNvPr id="21" name="Shape 18"/>
          <p:cNvSpPr/>
          <p:nvPr/>
        </p:nvSpPr>
        <p:spPr>
          <a:xfrm flipH="1">
            <a:off x="1920240" y="2834640"/>
            <a:ext cx="1005840" cy="411480"/>
          </a:xfrm>
          <a:prstGeom prst="line">
            <a:avLst/>
          </a:prstGeom>
          <a:noFill/>
          <a:ln w="22225">
            <a:solidFill>
              <a:schemeClr val="accent3"/>
            </a:solidFill>
            <a:prstDash val="solid"/>
            <a:tailEnd type="triangle"/>
          </a:ln>
        </p:spPr>
      </p:sp>
      <p:sp>
        <p:nvSpPr>
          <p:cNvPr id="22" name="Shape 19"/>
          <p:cNvSpPr/>
          <p:nvPr/>
        </p:nvSpPr>
        <p:spPr>
          <a:xfrm>
            <a:off x="3291840" y="2834640"/>
            <a:ext cx="1005840" cy="411480"/>
          </a:xfrm>
          <a:prstGeom prst="line">
            <a:avLst/>
          </a:prstGeom>
          <a:noFill/>
          <a:ln w="22225">
            <a:solidFill>
              <a:schemeClr val="accent3"/>
            </a:solidFill>
            <a:prstDash val="solid"/>
            <a:tailEnd type="triangle"/>
          </a:ln>
        </p:spPr>
      </p:sp>
      <p:sp>
        <p:nvSpPr>
          <p:cNvPr id="23" name="Shape 20"/>
          <p:cNvSpPr/>
          <p:nvPr/>
        </p:nvSpPr>
        <p:spPr>
          <a:xfrm flipH="1">
            <a:off x="1280160" y="3794760"/>
            <a:ext cx="411480" cy="411480"/>
          </a:xfrm>
          <a:prstGeom prst="line">
            <a:avLst/>
          </a:prstGeom>
          <a:noFill/>
          <a:ln w="22225">
            <a:solidFill>
              <a:schemeClr val="accent3"/>
            </a:solidFill>
            <a:prstDash val="solid"/>
            <a:tailEnd type="triangle"/>
          </a:ln>
        </p:spPr>
      </p:sp>
      <p:sp>
        <p:nvSpPr>
          <p:cNvPr id="24" name="Shape 21"/>
          <p:cNvSpPr/>
          <p:nvPr/>
        </p:nvSpPr>
        <p:spPr>
          <a:xfrm>
            <a:off x="1965960" y="3794760"/>
            <a:ext cx="411480" cy="411480"/>
          </a:xfrm>
          <a:prstGeom prst="line">
            <a:avLst/>
          </a:prstGeom>
          <a:noFill/>
          <a:ln w="22225">
            <a:solidFill>
              <a:schemeClr val="accent3"/>
            </a:solidFill>
            <a:prstDash val="solid"/>
            <a:tailEnd type="triangle"/>
          </a:ln>
        </p:spPr>
      </p:sp>
      <p:sp>
        <p:nvSpPr>
          <p:cNvPr id="25" name="Shape 22"/>
          <p:cNvSpPr/>
          <p:nvPr/>
        </p:nvSpPr>
        <p:spPr>
          <a:xfrm flipH="1">
            <a:off x="3840480" y="3794760"/>
            <a:ext cx="411480" cy="411480"/>
          </a:xfrm>
          <a:prstGeom prst="line">
            <a:avLst/>
          </a:prstGeom>
          <a:noFill/>
          <a:ln w="22225">
            <a:solidFill>
              <a:schemeClr val="accent3"/>
            </a:solidFill>
            <a:prstDash val="solid"/>
            <a:tailEnd type="triangle"/>
          </a:ln>
        </p:spPr>
      </p:sp>
      <p:sp>
        <p:nvSpPr>
          <p:cNvPr id="26" name="Shape 23"/>
          <p:cNvSpPr/>
          <p:nvPr/>
        </p:nvSpPr>
        <p:spPr>
          <a:xfrm>
            <a:off x="4526280" y="3794760"/>
            <a:ext cx="411480" cy="411480"/>
          </a:xfrm>
          <a:prstGeom prst="line">
            <a:avLst/>
          </a:prstGeom>
          <a:noFill/>
          <a:ln w="22225">
            <a:solidFill>
              <a:schemeClr val="accent3"/>
            </a:solidFill>
            <a:prstDash val="solid"/>
            <a:tailEnd type="triangle"/>
          </a:ln>
        </p:spPr>
      </p:sp>
      <p:sp>
        <p:nvSpPr>
          <p:cNvPr id="27" name="Text 24"/>
          <p:cNvSpPr txBox="1"/>
          <p:nvPr/>
        </p:nvSpPr>
        <p:spPr>
          <a:xfrm>
            <a:off x="548640" y="4937760"/>
            <a:ext cx="5120640" cy="548640"/>
          </a:xfrm>
          <a:prstGeom prst="rect">
            <a:avLst/>
          </a:prstGeom>
          <a:noFill/>
          <a:ln/>
        </p:spPr>
        <p:txBody>
          <a:bodyPr wrap="square" lIns="0" tIns="0" rIns="0" bIns="0" rtlCol="0" anchor="t"/>
          <a:lstStyle/>
          <a:p>
            <a:pPr algn="ctr" indent="0" marL="0" eaLnBrk="0">
              <a:buNone/>
            </a:pPr>
            <a:r>
              <a:rPr lang="ko-KR" altLang="en-US" sz="1400" dirty="0">
                <a:solidFill>
                  <a:schemeClr val="tx2"/>
                </a:solidFill>
              </a:rPr>
              <a:t>숫자 4개와 연산자 3개, 객체 7개가 참조로 연결된 트리</a:t>
            </a:r>
            <a:endParaRPr lang="ko-KR" altLang="en-US" sz="1400" dirty="0"/>
          </a:p>
        </p:txBody>
      </p:sp>
      <p:sp>
        <p:nvSpPr>
          <p:cNvPr id="28" name="codePanel"/>
          <p:cNvSpPr/>
          <p:nvPr/>
        </p:nvSpPr>
        <p:spPr>
          <a:xfrm>
            <a:off x="6035040" y="1645920"/>
            <a:ext cx="5608015" cy="3794760"/>
          </a:xfrm>
          <a:prstGeom prst="roundRect">
            <a:avLst>
              <a:gd name="adj" fmla="val 1928"/>
            </a:avLst>
          </a:prstGeom>
          <a:solidFill>
            <a:schemeClr val="tx1"/>
          </a:solidFill>
          <a:ln w="12700">
            <a:solidFill>
              <a:schemeClr val="tx1"/>
            </a:solidFill>
            <a:prstDash val="solid"/>
          </a:ln>
        </p:spPr>
      </p:sp>
      <p:sp>
        <p:nvSpPr>
          <p:cNvPr id="29" name="code"/>
          <p:cNvSpPr txBox="1"/>
          <p:nvPr/>
        </p:nvSpPr>
        <p:spPr>
          <a:xfrm>
            <a:off x="6144768" y="1737360"/>
            <a:ext cx="5388559" cy="3611880"/>
          </a:xfrm>
          <a:prstGeom prst="rect">
            <a:avLst/>
          </a:prstGeom>
          <a:noFill/>
          <a:ln/>
        </p:spPr>
        <p:txBody>
          <a:bodyPr wrap="square" lIns="635" tIns="635" rIns="635" bIns="635" rtlCol="0" anchor="t"/>
          <a:lstStyle/>
          <a:p>
            <a:pPr indent="0" marL="0" eaLnBrk="0">
              <a:buNone/>
            </a:pPr>
            <a:r>
              <a:rPr lang="ko-KR" altLang="en-US" sz="1250" dirty="0">
                <a:solidFill>
                  <a:schemeClr val="bg1"/>
                </a:solidFill>
                <a:latin typeface="Consolas" pitchFamily="34" charset="0"/>
                <a:ea typeface="Consolas" pitchFamily="34" charset="-122"/>
                <a:cs typeface="Consolas" pitchFamily="34" charset="-120"/>
              </a:rPr>
              <a:t>public abstract class Expression</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a:t>
            </a:r>
            <a:endParaRPr lang="ko-KR" altLang="en-US" sz="1250" dirty="0"/>
          </a:p>
          <a:p>
            <a:pPr indent="0" marL="0" eaLnBrk="0">
              <a:buNone/>
            </a:pPr>
            <a:r>
              <a:rPr lang="ko-KR" altLang="en-US" sz="1250" b="1" dirty="0">
                <a:solidFill>
                  <a:schemeClr val="accent4"/>
                </a:solidFill>
                <a:latin typeface="Consolas" pitchFamily="34" charset="0"/>
                <a:ea typeface="Consolas" pitchFamily="34" charset="-122"/>
                <a:cs typeface="Consolas" pitchFamily="34" charset="-120"/>
              </a:rPr>
              <a:t>    public abstract double Evaluate();</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public class NumberExpression : Expression</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readonly double _value;</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public NumberExpression(double value)</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_value = value;</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public override double Evaluate()</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b="1" dirty="0">
                <a:solidFill>
                  <a:schemeClr val="accent4"/>
                </a:solidFill>
                <a:latin typeface="Consolas" pitchFamily="34" charset="0"/>
                <a:ea typeface="Consolas" pitchFamily="34" charset="-122"/>
                <a:cs typeface="Consolas" pitchFamily="34" charset="-120"/>
              </a:rPr>
              <a:t>        return _value;</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a:t>
            </a:r>
            <a:endParaRPr lang="ko-KR" altLang="en-US" sz="1250" dirty="0"/>
          </a:p>
        </p:txBody>
      </p:sp>
      <p:sp>
        <p:nvSpPr>
          <p:cNvPr id="30" name="Text 27"/>
          <p:cNvSpPr txBox="1"/>
          <p:nvPr/>
        </p:nvSpPr>
        <p:spPr>
          <a:xfrm>
            <a:off x="6035040" y="5486400"/>
            <a:ext cx="5608015" cy="256032"/>
          </a:xfrm>
          <a:prstGeom prst="rect">
            <a:avLst/>
          </a:prstGeom>
          <a:noFill/>
          <a:ln/>
        </p:spPr>
        <p:txBody>
          <a:bodyPr wrap="square" lIns="0" tIns="0" rIns="0" bIns="0" rtlCol="0" anchor="t"/>
          <a:lstStyle/>
          <a:p>
            <a:pPr algn="r" indent="0" marL="0" eaLnBrk="0">
              <a:buNone/>
            </a:pPr>
            <a:r>
              <a:rPr lang="ko-KR" altLang="en-US" sz="1100" dirty="0">
                <a:solidFill>
                  <a:schemeClr val="accent5"/>
                </a:solidFill>
              </a:rPr>
              <a:t>원서 예제를 C#으로 옮긴 코드</a:t>
            </a:r>
            <a:endParaRPr lang="ko-KR" alt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6</a:t>
            </a:fld>
            <a:endParaRPr lang="ko-KR"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하위 식</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덧셈 객체는 두 하위 식을 먼저 계산한 뒤 더한다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이 방식은 아름답고 간단하다. 그런데 무엇이 문제일까?</a:t>
            </a:r>
            <a:endParaRPr lang="ko-KR" altLang="en-US" sz="1500" dirty="0"/>
          </a:p>
        </p:txBody>
      </p:sp>
      <p:sp>
        <p:nvSpPr>
          <p:cNvPr id="6" name="codePanel"/>
          <p:cNvSpPr/>
          <p:nvPr/>
        </p:nvSpPr>
        <p:spPr>
          <a:xfrm>
            <a:off x="548640" y="1645920"/>
            <a:ext cx="6949440" cy="3931920"/>
          </a:xfrm>
          <a:prstGeom prst="roundRect">
            <a:avLst>
              <a:gd name="adj" fmla="val 1860"/>
            </a:avLst>
          </a:prstGeom>
          <a:solidFill>
            <a:schemeClr val="tx1"/>
          </a:solidFill>
          <a:ln w="12700">
            <a:solidFill>
              <a:schemeClr val="tx1"/>
            </a:solidFill>
            <a:prstDash val="solid"/>
          </a:ln>
        </p:spPr>
      </p:sp>
      <p:sp>
        <p:nvSpPr>
          <p:cNvPr id="7" name="code"/>
          <p:cNvSpPr txBox="1"/>
          <p:nvPr/>
        </p:nvSpPr>
        <p:spPr>
          <a:xfrm>
            <a:off x="658368" y="1737360"/>
            <a:ext cx="6729984" cy="3749040"/>
          </a:xfrm>
          <a:prstGeom prst="rect">
            <a:avLst/>
          </a:prstGeom>
          <a:noFill/>
          <a:ln/>
        </p:spPr>
        <p:txBody>
          <a:bodyPr wrap="square" lIns="635" tIns="635" rIns="635" bIns="635" rtlCol="0" anchor="t"/>
          <a:lstStyle/>
          <a:p>
            <a:pPr indent="0" marL="0" eaLnBrk="0">
              <a:buNone/>
            </a:pPr>
            <a:r>
              <a:rPr lang="ko-KR" altLang="en-US" sz="1250" dirty="0">
                <a:solidFill>
                  <a:schemeClr val="bg1"/>
                </a:solidFill>
                <a:latin typeface="Consolas" pitchFamily="34" charset="0"/>
                <a:ea typeface="Consolas" pitchFamily="34" charset="-122"/>
                <a:cs typeface="Consolas" pitchFamily="34" charset="-120"/>
              </a:rPr>
              <a:t>public class AdditionExpression : Expression</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readonly Expression _left;</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readonly Expression _right;</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public AdditionExpression(Expression left, Expression right)</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_left = left;</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_right = right;</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public override double Evaluate()</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accent3"/>
                </a:solidFill>
                <a:latin typeface="Consolas" pitchFamily="34" charset="0"/>
                <a:ea typeface="Consolas" pitchFamily="34" charset="-122"/>
                <a:cs typeface="Consolas" pitchFamily="34" charset="-120"/>
              </a:rPr>
              <a:t>        // 피연산자를 먼저 계산한다</a:t>
            </a:r>
            <a:endParaRPr lang="ko-KR" altLang="en-US" sz="1250" dirty="0"/>
          </a:p>
          <a:p>
            <a:pPr indent="0" marL="0" eaLnBrk="0">
              <a:buNone/>
            </a:pPr>
            <a:r>
              <a:rPr lang="ko-KR" altLang="en-US" sz="1250" b="1" dirty="0">
                <a:solidFill>
                  <a:schemeClr val="accent4"/>
                </a:solidFill>
                <a:latin typeface="Consolas" pitchFamily="34" charset="0"/>
                <a:ea typeface="Consolas" pitchFamily="34" charset="-122"/>
                <a:cs typeface="Consolas" pitchFamily="34" charset="-120"/>
              </a:rPr>
              <a:t>        double left = _left.Evaluate();</a:t>
            </a:r>
            <a:endParaRPr lang="ko-KR" altLang="en-US" sz="1250" dirty="0"/>
          </a:p>
          <a:p>
            <a:pPr indent="0" marL="0" eaLnBrk="0">
              <a:buNone/>
            </a:pPr>
            <a:r>
              <a:rPr lang="ko-KR" altLang="en-US" sz="1250" b="1" dirty="0">
                <a:solidFill>
                  <a:schemeClr val="accent4"/>
                </a:solidFill>
                <a:latin typeface="Consolas" pitchFamily="34" charset="0"/>
                <a:ea typeface="Consolas" pitchFamily="34" charset="-122"/>
                <a:cs typeface="Consolas" pitchFamily="34" charset="-120"/>
              </a:rPr>
              <a:t>        double right = _right.Evaluate();</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accent3"/>
                </a:solidFill>
                <a:latin typeface="Consolas" pitchFamily="34" charset="0"/>
                <a:ea typeface="Consolas" pitchFamily="34" charset="-122"/>
                <a:cs typeface="Consolas" pitchFamily="34" charset="-120"/>
              </a:rPr>
              <a:t>        // 그리고 더한다</a:t>
            </a:r>
            <a:endParaRPr lang="ko-KR" altLang="en-US" sz="1250" dirty="0"/>
          </a:p>
          <a:p>
            <a:pPr indent="0" marL="0" eaLnBrk="0">
              <a:buNone/>
            </a:pPr>
            <a:r>
              <a:rPr lang="ko-KR" altLang="en-US" sz="1250" b="1" dirty="0">
                <a:solidFill>
                  <a:schemeClr val="accent4"/>
                </a:solidFill>
                <a:latin typeface="Consolas" pitchFamily="34" charset="0"/>
                <a:ea typeface="Consolas" pitchFamily="34" charset="-122"/>
                <a:cs typeface="Consolas" pitchFamily="34" charset="-120"/>
              </a:rPr>
              <a:t>        return left + right;</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a:t>
            </a:r>
            <a:endParaRPr lang="ko-KR" altLang="en-US" sz="1250" dirty="0"/>
          </a:p>
        </p:txBody>
      </p:sp>
      <p:sp>
        <p:nvSpPr>
          <p:cNvPr id="8" name="Text 5"/>
          <p:cNvSpPr txBox="1"/>
          <p:nvPr/>
        </p:nvSpPr>
        <p:spPr>
          <a:xfrm>
            <a:off x="548640" y="5596128"/>
            <a:ext cx="6949440" cy="256032"/>
          </a:xfrm>
          <a:prstGeom prst="rect">
            <a:avLst/>
          </a:prstGeom>
          <a:noFill/>
          <a:ln/>
        </p:spPr>
        <p:txBody>
          <a:bodyPr wrap="square" lIns="0" tIns="0" rIns="0" bIns="0" rtlCol="0" anchor="t"/>
          <a:lstStyle/>
          <a:p>
            <a:pPr algn="r" indent="0" marL="0" eaLnBrk="0">
              <a:buNone/>
            </a:pPr>
            <a:r>
              <a:rPr lang="ko-KR" altLang="en-US" sz="1100" dirty="0">
                <a:solidFill>
                  <a:schemeClr val="accent5"/>
                </a:solidFill>
              </a:rPr>
              <a:t>원서 예제를 C#으로 옮긴 코드</a:t>
            </a:r>
            <a:endParaRPr lang="ko-KR" altLang="en-US" sz="1100" dirty="0"/>
          </a:p>
        </p:txBody>
      </p:sp>
      <p:sp>
        <p:nvSpPr>
          <p:cNvPr id="9" name="card"/>
          <p:cNvSpPr/>
          <p:nvPr/>
        </p:nvSpPr>
        <p:spPr>
          <a:xfrm>
            <a:off x="7863840" y="1645920"/>
            <a:ext cx="3779215" cy="1874520"/>
          </a:xfrm>
          <a:prstGeom prst="roundRect">
            <a:avLst>
              <a:gd name="adj" fmla="val 4878"/>
            </a:avLst>
          </a:prstGeom>
          <a:solidFill>
            <a:schemeClr val="bg2"/>
          </a:solidFill>
          <a:ln w="12700">
            <a:solidFill>
              <a:schemeClr val="bg2"/>
            </a:solidFill>
            <a:prstDash val="solid"/>
          </a:ln>
        </p:spPr>
      </p:sp>
      <p:sp>
        <p:nvSpPr>
          <p:cNvPr id="10" name="Text 7"/>
          <p:cNvSpPr txBox="1"/>
          <p:nvPr/>
        </p:nvSpPr>
        <p:spPr>
          <a:xfrm>
            <a:off x="8092440" y="186537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재귀로 계산한다</a:t>
            </a:r>
            <a:endParaRPr lang="ko-KR" altLang="en-US" sz="1700" dirty="0"/>
          </a:p>
        </p:txBody>
      </p:sp>
      <p:sp>
        <p:nvSpPr>
          <p:cNvPr id="11" name="Text 8"/>
          <p:cNvSpPr txBox="1"/>
          <p:nvPr/>
        </p:nvSpPr>
        <p:spPr>
          <a:xfrm>
            <a:off x="8092440" y="2377440"/>
            <a:ext cx="3322015" cy="1005840"/>
          </a:xfrm>
          <a:prstGeom prst="rect">
            <a:avLst/>
          </a:prstGeom>
          <a:noFill/>
          <a:ln/>
        </p:spPr>
        <p:txBody>
          <a:bodyPr wrap="square" lIns="0" tIns="0" rIns="0" bIns="0" rtlCol="0" anchor="t"/>
          <a:lstStyle/>
          <a:p>
            <a:pPr indent="0" marL="0" eaLnBrk="0">
              <a:buNone/>
            </a:pPr>
            <a:r>
              <a:rPr lang="ko-KR" altLang="en-US" sz="1400" dirty="0">
                <a:solidFill>
                  <a:schemeClr val="tx2"/>
                </a:solidFill>
              </a:rPr>
              <a:t>곱셈 객체가 + 객체와 − 객체에 차례로 Evaluate를 부르고, 두 결과 3과 -1을 곱해 -3을 얻는다.</a:t>
            </a:r>
            <a:endParaRPr lang="ko-KR" altLang="en-US" sz="1400" dirty="0"/>
          </a:p>
        </p:txBody>
      </p:sp>
      <p:sp>
        <p:nvSpPr>
          <p:cNvPr id="12" name="card"/>
          <p:cNvSpPr/>
          <p:nvPr/>
        </p:nvSpPr>
        <p:spPr>
          <a:xfrm>
            <a:off x="7863840" y="3703320"/>
            <a:ext cx="3779215" cy="1874520"/>
          </a:xfrm>
          <a:prstGeom prst="roundRect">
            <a:avLst>
              <a:gd name="adj" fmla="val 4878"/>
            </a:avLst>
          </a:prstGeom>
          <a:solidFill>
            <a:schemeClr val="bg2"/>
          </a:solidFill>
          <a:ln w="12700">
            <a:solidFill>
              <a:schemeClr val="bg2"/>
            </a:solidFill>
            <a:prstDash val="solid"/>
          </a:ln>
        </p:spPr>
      </p:sp>
      <p:sp>
        <p:nvSpPr>
          <p:cNvPr id="13" name="Text 10"/>
          <p:cNvSpPr txBox="1"/>
          <p:nvPr/>
        </p:nvSpPr>
        <p:spPr>
          <a:xfrm>
            <a:off x="8092440" y="392277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장점</a:t>
            </a:r>
            <a:endParaRPr lang="ko-KR" altLang="en-US" sz="1700" dirty="0"/>
          </a:p>
        </p:txBody>
      </p:sp>
      <p:sp>
        <p:nvSpPr>
          <p:cNvPr id="14" name="Text 11"/>
          <p:cNvSpPr txBox="1"/>
          <p:nvPr/>
        </p:nvSpPr>
        <p:spPr>
          <a:xfrm>
            <a:off x="8092440" y="4434840"/>
            <a:ext cx="3322015" cy="1005840"/>
          </a:xfrm>
          <a:prstGeom prst="rect">
            <a:avLst/>
          </a:prstGeom>
          <a:noFill/>
          <a:ln/>
        </p:spPr>
        <p:txBody>
          <a:bodyPr wrap="square" lIns="0" tIns="0" rIns="0" bIns="0" rtlCol="0" anchor="t"/>
          <a:lstStyle/>
          <a:p>
            <a:pPr indent="0" marL="0" eaLnBrk="0">
              <a:buNone/>
            </a:pPr>
            <a:r>
              <a:rPr lang="ko-KR" altLang="en-US" sz="1400" dirty="0">
                <a:solidFill>
                  <a:schemeClr val="tx2"/>
                </a:solidFill>
              </a:rPr>
              <a:t>클래스 몇 개로 어떤 산술식이든 나타낼 수 있다. 문법 규칙 하나가 클래스 하나이다.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7</a:t>
            </a:fld>
            <a:endParaRPr lang="ko-KR"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비용</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작은 객체가 흩어진 트리는 느리고 메모리를 많이 쓴다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기계어는 어떻게 이 문제를 피할까?</a:t>
            </a:r>
            <a:endParaRPr lang="ko-KR" altLang="en-US" sz="1500" dirty="0"/>
          </a:p>
        </p:txBody>
      </p:sp>
      <p:sp>
        <p:nvSpPr>
          <p:cNvPr id="6" name="card"/>
          <p:cNvSpPr/>
          <p:nvPr/>
        </p:nvSpPr>
        <p:spPr>
          <a:xfrm>
            <a:off x="548640" y="1691640"/>
            <a:ext cx="6766560" cy="1051560"/>
          </a:xfrm>
          <a:prstGeom prst="roundRect">
            <a:avLst>
              <a:gd name="adj" fmla="val 8696"/>
            </a:avLst>
          </a:prstGeom>
          <a:solidFill>
            <a:schemeClr val="bg2"/>
          </a:solidFill>
          <a:ln w="12700">
            <a:solidFill>
              <a:schemeClr val="bg2"/>
            </a:solidFill>
            <a:prstDash val="solid"/>
          </a:ln>
        </p:spPr>
      </p:sp>
      <p:sp>
        <p:nvSpPr>
          <p:cNvPr id="7" name="Shape 4"/>
          <p:cNvSpPr/>
          <p:nvPr/>
        </p:nvSpPr>
        <p:spPr>
          <a:xfrm>
            <a:off x="777240" y="1892808"/>
            <a:ext cx="420624" cy="420624"/>
          </a:xfrm>
          <a:prstGeom prst="ellipse">
            <a:avLst/>
          </a:prstGeom>
          <a:solidFill>
            <a:schemeClr val="accent1"/>
          </a:solidFill>
          <a:ln w="12700">
            <a:solidFill>
              <a:schemeClr val="accent1"/>
            </a:solidFill>
            <a:prstDash val="solid"/>
          </a:ln>
        </p:spPr>
      </p:sp>
      <p:sp>
        <p:nvSpPr>
          <p:cNvPr id="8" name="Text 5"/>
          <p:cNvSpPr txBox="1"/>
          <p:nvPr/>
        </p:nvSpPr>
        <p:spPr>
          <a:xfrm>
            <a:off x="777240" y="18928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9" name="Text 6"/>
          <p:cNvSpPr txBox="1"/>
          <p:nvPr/>
        </p:nvSpPr>
        <p:spPr>
          <a:xfrm>
            <a:off x="1325880" y="1801368"/>
            <a:ext cx="1280160" cy="822960"/>
          </a:xfrm>
          <a:prstGeom prst="rect">
            <a:avLst/>
          </a:prstGeom>
          <a:noFill/>
          <a:ln/>
        </p:spPr>
        <p:txBody>
          <a:bodyPr wrap="square" lIns="0" tIns="0" rIns="0" bIns="0" rtlCol="0" anchor="ctr"/>
          <a:lstStyle/>
          <a:p>
            <a:pPr indent="0" marL="0" eaLnBrk="0">
              <a:buNone/>
            </a:pPr>
            <a:r>
              <a:rPr lang="ko-KR" altLang="en-US" sz="1600" b="1" dirty="0">
                <a:solidFill>
                  <a:schemeClr val="tx1"/>
                </a:solidFill>
              </a:rPr>
              <a:t>불러오기</a:t>
            </a:r>
            <a:endParaRPr lang="ko-KR" altLang="en-US" sz="1600" dirty="0"/>
          </a:p>
        </p:txBody>
      </p:sp>
      <p:sp>
        <p:nvSpPr>
          <p:cNvPr id="10" name="Text 7"/>
          <p:cNvSpPr txBox="1"/>
          <p:nvPr/>
        </p:nvSpPr>
        <p:spPr>
          <a:xfrm>
            <a:off x="2651760" y="1801368"/>
            <a:ext cx="4480560" cy="822960"/>
          </a:xfrm>
          <a:prstGeom prst="rect">
            <a:avLst/>
          </a:prstGeom>
          <a:noFill/>
          <a:ln/>
        </p:spPr>
        <p:txBody>
          <a:bodyPr wrap="square" lIns="0" tIns="0" rIns="0" bIns="0" rtlCol="0" anchor="ctr"/>
          <a:lstStyle/>
          <a:p>
            <a:pPr indent="0" marL="0" eaLnBrk="0">
              <a:buNone/>
            </a:pPr>
            <a:r>
              <a:rPr lang="ko-KR" altLang="en-US" sz="1400" dirty="0">
                <a:solidFill>
                  <a:schemeClr val="tx2"/>
                </a:solidFill>
              </a:rPr>
              <a:t>파일을 읽을 때 작은 객체를 많이 만들고 서로 연결한다.</a:t>
            </a:r>
            <a:endParaRPr lang="ko-KR" altLang="en-US" sz="1400" dirty="0"/>
          </a:p>
        </p:txBody>
      </p:sp>
      <p:sp>
        <p:nvSpPr>
          <p:cNvPr id="11" name="card"/>
          <p:cNvSpPr/>
          <p:nvPr/>
        </p:nvSpPr>
        <p:spPr>
          <a:xfrm>
            <a:off x="548640" y="2880360"/>
            <a:ext cx="6766560" cy="1051560"/>
          </a:xfrm>
          <a:prstGeom prst="roundRect">
            <a:avLst>
              <a:gd name="adj" fmla="val 8696"/>
            </a:avLst>
          </a:prstGeom>
          <a:solidFill>
            <a:schemeClr val="bg2"/>
          </a:solidFill>
          <a:ln w="12700">
            <a:solidFill>
              <a:schemeClr val="bg2"/>
            </a:solidFill>
            <a:prstDash val="solid"/>
          </a:ln>
        </p:spPr>
      </p:sp>
      <p:sp>
        <p:nvSpPr>
          <p:cNvPr id="12" name="Shape 9"/>
          <p:cNvSpPr/>
          <p:nvPr/>
        </p:nvSpPr>
        <p:spPr>
          <a:xfrm>
            <a:off x="777240" y="3081528"/>
            <a:ext cx="420624" cy="420624"/>
          </a:xfrm>
          <a:prstGeom prst="ellipse">
            <a:avLst/>
          </a:prstGeom>
          <a:solidFill>
            <a:schemeClr val="accent1"/>
          </a:solidFill>
          <a:ln w="12700">
            <a:solidFill>
              <a:schemeClr val="accent1"/>
            </a:solidFill>
            <a:prstDash val="solid"/>
          </a:ln>
        </p:spPr>
      </p:sp>
      <p:sp>
        <p:nvSpPr>
          <p:cNvPr id="13" name="Text 10"/>
          <p:cNvSpPr txBox="1"/>
          <p:nvPr/>
        </p:nvSpPr>
        <p:spPr>
          <a:xfrm>
            <a:off x="777240" y="308152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4" name="Text 11"/>
          <p:cNvSpPr txBox="1"/>
          <p:nvPr/>
        </p:nvSpPr>
        <p:spPr>
          <a:xfrm>
            <a:off x="1325880" y="2990088"/>
            <a:ext cx="1280160" cy="822960"/>
          </a:xfrm>
          <a:prstGeom prst="rect">
            <a:avLst/>
          </a:prstGeom>
          <a:noFill/>
          <a:ln/>
        </p:spPr>
        <p:txBody>
          <a:bodyPr wrap="square" lIns="0" tIns="0" rIns="0" bIns="0" rtlCol="0" anchor="ctr"/>
          <a:lstStyle/>
          <a:p>
            <a:pPr indent="0" marL="0" eaLnBrk="0">
              <a:buNone/>
            </a:pPr>
            <a:r>
              <a:rPr lang="ko-KR" altLang="en-US" sz="1600" b="1" dirty="0">
                <a:solidFill>
                  <a:schemeClr val="tx1"/>
                </a:solidFill>
              </a:rPr>
              <a:t>메모리</a:t>
            </a:r>
            <a:endParaRPr lang="ko-KR" altLang="en-US" sz="1600" dirty="0"/>
          </a:p>
        </p:txBody>
      </p:sp>
      <p:sp>
        <p:nvSpPr>
          <p:cNvPr id="15" name="Text 12"/>
          <p:cNvSpPr txBox="1"/>
          <p:nvPr/>
        </p:nvSpPr>
        <p:spPr>
          <a:xfrm>
            <a:off x="2651760" y="2990088"/>
            <a:ext cx="4480560" cy="822960"/>
          </a:xfrm>
          <a:prstGeom prst="rect">
            <a:avLst/>
          </a:prstGeom>
          <a:noFill/>
          <a:ln/>
        </p:spPr>
        <p:txBody>
          <a:bodyPr wrap="square" lIns="0" tIns="0" rIns="0" bIns="0" rtlCol="0" anchor="ctr"/>
          <a:lstStyle/>
          <a:p>
            <a:pPr indent="0" marL="0" eaLnBrk="0">
              <a:buNone/>
            </a:pPr>
            <a:r>
              <a:rPr lang="ko-KR" altLang="en-US" sz="1400" dirty="0">
                <a:solidFill>
                  <a:schemeClr val="tx2"/>
                </a:solidFill>
              </a:rPr>
              <a:t>객체와 참조가 메모리를 많이 쓴다. 32비트 기계에서 앞의 식 하나가 적어도 68바이트를 차지한다.</a:t>
            </a:r>
            <a:endParaRPr lang="ko-KR" altLang="en-US" sz="1400" dirty="0"/>
          </a:p>
        </p:txBody>
      </p:sp>
      <p:sp>
        <p:nvSpPr>
          <p:cNvPr id="16" name="card"/>
          <p:cNvSpPr/>
          <p:nvPr/>
        </p:nvSpPr>
        <p:spPr>
          <a:xfrm>
            <a:off x="548640" y="4069080"/>
            <a:ext cx="6766560" cy="1051560"/>
          </a:xfrm>
          <a:prstGeom prst="roundRect">
            <a:avLst>
              <a:gd name="adj" fmla="val 8696"/>
            </a:avLst>
          </a:prstGeom>
          <a:solidFill>
            <a:schemeClr val="bg2"/>
          </a:solidFill>
          <a:ln w="12700">
            <a:solidFill>
              <a:schemeClr val="bg2"/>
            </a:solidFill>
            <a:prstDash val="solid"/>
          </a:ln>
        </p:spPr>
      </p:sp>
      <p:sp>
        <p:nvSpPr>
          <p:cNvPr id="17" name="Shape 14"/>
          <p:cNvSpPr/>
          <p:nvPr/>
        </p:nvSpPr>
        <p:spPr>
          <a:xfrm>
            <a:off x="777240" y="4270248"/>
            <a:ext cx="420624" cy="420624"/>
          </a:xfrm>
          <a:prstGeom prst="ellipse">
            <a:avLst/>
          </a:prstGeom>
          <a:solidFill>
            <a:schemeClr val="accent1"/>
          </a:solidFill>
          <a:ln w="12700">
            <a:solidFill>
              <a:schemeClr val="accent1"/>
            </a:solidFill>
            <a:prstDash val="solid"/>
          </a:ln>
        </p:spPr>
      </p:sp>
      <p:sp>
        <p:nvSpPr>
          <p:cNvPr id="18" name="Text 15"/>
          <p:cNvSpPr txBox="1"/>
          <p:nvPr/>
        </p:nvSpPr>
        <p:spPr>
          <a:xfrm>
            <a:off x="777240" y="427024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19" name="Text 16"/>
          <p:cNvSpPr txBox="1"/>
          <p:nvPr/>
        </p:nvSpPr>
        <p:spPr>
          <a:xfrm>
            <a:off x="1325880" y="4178808"/>
            <a:ext cx="1280160" cy="822960"/>
          </a:xfrm>
          <a:prstGeom prst="rect">
            <a:avLst/>
          </a:prstGeom>
          <a:noFill/>
          <a:ln/>
        </p:spPr>
        <p:txBody>
          <a:bodyPr wrap="square" lIns="0" tIns="0" rIns="0" bIns="0" rtlCol="0" anchor="ctr"/>
          <a:lstStyle/>
          <a:p>
            <a:pPr indent="0" marL="0" eaLnBrk="0">
              <a:buNone/>
            </a:pPr>
            <a:r>
              <a:rPr lang="ko-KR" altLang="en-US" sz="1600" b="1" dirty="0">
                <a:solidFill>
                  <a:schemeClr val="tx1"/>
                </a:solidFill>
              </a:rPr>
              <a:t>캐시</a:t>
            </a:r>
            <a:endParaRPr lang="ko-KR" altLang="en-US" sz="1600" dirty="0"/>
          </a:p>
        </p:txBody>
      </p:sp>
      <p:sp>
        <p:nvSpPr>
          <p:cNvPr id="20" name="Text 17"/>
          <p:cNvSpPr txBox="1"/>
          <p:nvPr/>
        </p:nvSpPr>
        <p:spPr>
          <a:xfrm>
            <a:off x="2651760" y="4178808"/>
            <a:ext cx="4480560" cy="822960"/>
          </a:xfrm>
          <a:prstGeom prst="rect">
            <a:avLst/>
          </a:prstGeom>
          <a:noFill/>
          <a:ln/>
        </p:spPr>
        <p:txBody>
          <a:bodyPr wrap="square" lIns="0" tIns="0" rIns="0" bIns="0" rtlCol="0" anchor="ctr"/>
          <a:lstStyle/>
          <a:p>
            <a:pPr indent="0" marL="0" eaLnBrk="0">
              <a:buNone/>
            </a:pPr>
            <a:r>
              <a:rPr lang="ko-KR" altLang="en-US" sz="1400" dirty="0">
                <a:solidFill>
                  <a:schemeClr val="tx2"/>
                </a:solidFill>
              </a:rPr>
              <a:t>하위 식의 참조를 따라가면 데이터 캐시가, 가상 메서드 호출이 이어지면 명령 캐시가 손해를 본다.</a:t>
            </a:r>
            <a:endParaRPr lang="ko-KR" altLang="en-US" sz="1400" dirty="0"/>
          </a:p>
        </p:txBody>
      </p:sp>
      <p:sp>
        <p:nvSpPr>
          <p:cNvPr id="21" name="card"/>
          <p:cNvSpPr/>
          <p:nvPr/>
        </p:nvSpPr>
        <p:spPr>
          <a:xfrm>
            <a:off x="7680960" y="1691640"/>
            <a:ext cx="3962095" cy="1874520"/>
          </a:xfrm>
          <a:prstGeom prst="roundRect">
            <a:avLst>
              <a:gd name="adj" fmla="val 4878"/>
            </a:avLst>
          </a:prstGeom>
          <a:solidFill>
            <a:schemeClr val="tx2"/>
          </a:solidFill>
          <a:ln w="12700">
            <a:solidFill>
              <a:schemeClr val="tx2"/>
            </a:solidFill>
            <a:prstDash val="solid"/>
          </a:ln>
        </p:spPr>
      </p:sp>
      <p:sp>
        <p:nvSpPr>
          <p:cNvPr id="22" name="Text 19"/>
          <p:cNvSpPr txBox="1"/>
          <p:nvPr/>
        </p:nvSpPr>
        <p:spPr>
          <a:xfrm>
            <a:off x="7909560" y="1911096"/>
            <a:ext cx="3550615" cy="411480"/>
          </a:xfrm>
          <a:prstGeom prst="rect">
            <a:avLst/>
          </a:prstGeom>
          <a:noFill/>
          <a:ln/>
        </p:spPr>
        <p:txBody>
          <a:bodyPr wrap="square" lIns="0" tIns="0" rIns="0" bIns="0" rtlCol="0" anchor="ctr"/>
          <a:lstStyle/>
          <a:p>
            <a:pPr indent="0" marL="0" eaLnBrk="0">
              <a:buNone/>
            </a:pPr>
            <a:r>
              <a:rPr lang="ko-KR" altLang="en-US" sz="1700" b="1" dirty="0">
                <a:solidFill>
                  <a:schemeClr val="accent4"/>
                </a:solidFill>
              </a:rPr>
              <a:t>결과</a:t>
            </a:r>
            <a:endParaRPr lang="ko-KR" altLang="en-US" sz="1700" dirty="0"/>
          </a:p>
        </p:txBody>
      </p:sp>
      <p:sp>
        <p:nvSpPr>
          <p:cNvPr id="23" name="Text 20"/>
          <p:cNvSpPr txBox="1"/>
          <p:nvPr/>
        </p:nvSpPr>
        <p:spPr>
          <a:xfrm>
            <a:off x="7909560" y="2468880"/>
            <a:ext cx="3504895" cy="960120"/>
          </a:xfrm>
          <a:prstGeom prst="rect">
            <a:avLst/>
          </a:prstGeom>
          <a:noFill/>
          <a:ln/>
        </p:spPr>
        <p:txBody>
          <a:bodyPr wrap="square" lIns="0" tIns="0" rIns="0" bIns="0" rtlCol="0" anchor="t"/>
          <a:lstStyle/>
          <a:p>
            <a:pPr indent="0" marL="0" eaLnBrk="0">
              <a:buNone/>
            </a:pPr>
            <a:r>
              <a:rPr lang="ko-KR" altLang="en-US" sz="1400" dirty="0">
                <a:solidFill>
                  <a:schemeClr val="bg1"/>
                </a:solidFill>
              </a:rPr>
              <a:t>느리고, 메모리를 많이 쓴다. 널리 쓰이는 프로그래밍 언어 대부분이 이 방식으로 만들어지지 않는 이유이다.</a:t>
            </a:r>
            <a:endParaRPr lang="ko-KR" altLang="en-US" sz="1400" dirty="0"/>
          </a:p>
        </p:txBody>
      </p:sp>
      <p:sp>
        <p:nvSpPr>
          <p:cNvPr id="24" name="card"/>
          <p:cNvSpPr/>
          <p:nvPr/>
        </p:nvSpPr>
        <p:spPr>
          <a:xfrm>
            <a:off x="7680960" y="3749040"/>
            <a:ext cx="3962095" cy="1463040"/>
          </a:xfrm>
          <a:prstGeom prst="roundRect">
            <a:avLst>
              <a:gd name="adj" fmla="val 6250"/>
            </a:avLst>
          </a:prstGeom>
          <a:solidFill>
            <a:schemeClr val="bg2"/>
          </a:solidFill>
          <a:ln w="12700">
            <a:solidFill>
              <a:schemeClr val="bg2"/>
            </a:solidFill>
            <a:prstDash val="solid"/>
          </a:ln>
        </p:spPr>
      </p:sp>
      <p:sp>
        <p:nvSpPr>
          <p:cNvPr id="25" name="Text 22"/>
          <p:cNvSpPr txBox="1"/>
          <p:nvPr/>
        </p:nvSpPr>
        <p:spPr>
          <a:xfrm>
            <a:off x="7909560" y="3968496"/>
            <a:ext cx="355061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더 읽기</a:t>
            </a:r>
            <a:endParaRPr lang="ko-KR" altLang="en-US" sz="1700" dirty="0"/>
          </a:p>
        </p:txBody>
      </p:sp>
      <p:sp>
        <p:nvSpPr>
          <p:cNvPr id="26" name="Text 23"/>
          <p:cNvSpPr txBox="1"/>
          <p:nvPr/>
        </p:nvSpPr>
        <p:spPr>
          <a:xfrm>
            <a:off x="7909560" y="4480560"/>
            <a:ext cx="3504895" cy="594360"/>
          </a:xfrm>
          <a:prstGeom prst="rect">
            <a:avLst/>
          </a:prstGeom>
          <a:noFill/>
          <a:ln/>
        </p:spPr>
        <p:txBody>
          <a:bodyPr wrap="square" lIns="0" tIns="0" rIns="0" bIns="0" rtlCol="0" anchor="t"/>
          <a:lstStyle/>
          <a:p>
            <a:pPr indent="0" marL="0" eaLnBrk="0">
              <a:buNone/>
            </a:pPr>
            <a:r>
              <a:rPr lang="ko-KR" altLang="en-US" sz="1400" dirty="0">
                <a:solidFill>
                  <a:schemeClr val="tx2"/>
                </a:solidFill>
              </a:rPr>
              <a:t>캐시는 원서 「데이터 지역성」 장에서 다룬다.</a:t>
            </a:r>
            <a:endParaRPr lang="ko-KR" altLang="en-US" sz="1400" dirty="0"/>
          </a:p>
        </p:txBody>
      </p:sp>
      <p:sp>
        <p:nvSpPr>
          <p:cNvPr id="27" name="Text 24"/>
          <p:cNvSpPr txBox="1"/>
          <p:nvPr/>
        </p:nvSpPr>
        <p:spPr>
          <a:xfrm>
            <a:off x="548640" y="5349240"/>
            <a:ext cx="6766560" cy="411480"/>
          </a:xfrm>
          <a:prstGeom prst="rect">
            <a:avLst/>
          </a:prstGeom>
          <a:noFill/>
          <a:ln/>
        </p:spPr>
        <p:txBody>
          <a:bodyPr wrap="square" lIns="0" tIns="0" rIns="0" bIns="0" rtlCol="0" anchor="t"/>
          <a:lstStyle/>
          <a:p>
            <a:pPr indent="0" marL="0" eaLnBrk="0">
              <a:buNone/>
            </a:pPr>
            <a:r>
              <a:rPr lang="ko-KR" altLang="en-US" sz="1500" b="1" dirty="0">
                <a:solidFill>
                  <a:schemeClr val="accent1"/>
                </a:solidFill>
              </a:rPr>
              <a:t>인터프리터 패턴: 안전하지만 느리다.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8</a:t>
            </a:fld>
            <a:endParaRPr lang="ko-KR"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가상의 기계어</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기계어처럼 조밀하고 선형인 명령을, 게임이 직접 실행한다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이 가상 기계는 어떤 부품으로 이루어질까?</a:t>
            </a:r>
            <a:endParaRPr lang="ko-KR" altLang="en-US" sz="1500" dirty="0"/>
          </a:p>
        </p:txBody>
      </p:sp>
      <p:sp>
        <p:nvSpPr>
          <p:cNvPr id="6" name="Text 3"/>
          <p:cNvSpPr txBox="1"/>
          <p:nvPr/>
        </p:nvSpPr>
        <p:spPr>
          <a:xfrm>
            <a:off x="548640" y="1645920"/>
            <a:ext cx="5120640" cy="365760"/>
          </a:xfrm>
          <a:prstGeom prst="rect">
            <a:avLst/>
          </a:prstGeom>
          <a:noFill/>
          <a:ln/>
        </p:spPr>
        <p:txBody>
          <a:bodyPr wrap="square" lIns="0" tIns="0" rIns="0" bIns="0" rtlCol="0" anchor="t"/>
          <a:lstStyle/>
          <a:p>
            <a:pPr indent="0" marL="0" eaLnBrk="0">
              <a:buNone/>
            </a:pPr>
            <a:r>
              <a:rPr lang="ko-KR" altLang="en-US" sz="1700" b="1" dirty="0">
                <a:solidFill>
                  <a:schemeClr val="tx1"/>
                </a:solidFill>
              </a:rPr>
              <a:t>기계어의 장점</a:t>
            </a:r>
            <a:endParaRPr lang="ko-KR" altLang="en-US" sz="1700" dirty="0"/>
          </a:p>
        </p:txBody>
      </p:sp>
      <p:sp>
        <p:nvSpPr>
          <p:cNvPr id="7" name="Shape 4"/>
          <p:cNvSpPr/>
          <p:nvPr/>
        </p:nvSpPr>
        <p:spPr>
          <a:xfrm>
            <a:off x="548640" y="2103120"/>
            <a:ext cx="5120640" cy="658368"/>
          </a:xfrm>
          <a:prstGeom prst="roundRect">
            <a:avLst>
              <a:gd name="adj" fmla="val 11111"/>
            </a:avLst>
          </a:prstGeom>
          <a:solidFill>
            <a:schemeClr val="bg2"/>
          </a:solidFill>
          <a:ln w="12700">
            <a:solidFill>
              <a:schemeClr val="bg2"/>
            </a:solidFill>
            <a:prstDash val="solid"/>
          </a:ln>
        </p:spPr>
      </p:sp>
      <p:sp>
        <p:nvSpPr>
          <p:cNvPr id="8" name="Text 5"/>
          <p:cNvSpPr txBox="1"/>
          <p:nvPr/>
        </p:nvSpPr>
        <p:spPr>
          <a:xfrm>
            <a:off x="777240" y="2103120"/>
            <a:ext cx="1280160" cy="658368"/>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조밀하다</a:t>
            </a:r>
            <a:endParaRPr lang="ko-KR" altLang="en-US" sz="1500" dirty="0"/>
          </a:p>
        </p:txBody>
      </p:sp>
      <p:sp>
        <p:nvSpPr>
          <p:cNvPr id="9" name="Text 6"/>
          <p:cNvSpPr txBox="1"/>
          <p:nvPr/>
        </p:nvSpPr>
        <p:spPr>
          <a:xfrm>
            <a:off x="2103120" y="2103120"/>
            <a:ext cx="3474720" cy="658368"/>
          </a:xfrm>
          <a:prstGeom prst="rect">
            <a:avLst/>
          </a:prstGeom>
          <a:noFill/>
          <a:ln/>
        </p:spPr>
        <p:txBody>
          <a:bodyPr wrap="square" lIns="0" tIns="0" rIns="0" bIns="0" rtlCol="0" anchor="ctr"/>
          <a:lstStyle/>
          <a:p>
            <a:pPr indent="0" marL="0" eaLnBrk="0">
              <a:buNone/>
            </a:pPr>
            <a:r>
              <a:rPr lang="ko-KR" altLang="en-US" sz="1300" dirty="0">
                <a:solidFill>
                  <a:schemeClr val="tx2"/>
                </a:solidFill>
              </a:rPr>
              <a:t>빈틈없이 붙은 바이너리 데이터</a:t>
            </a:r>
            <a:endParaRPr lang="ko-KR" altLang="en-US" sz="1300" dirty="0"/>
          </a:p>
        </p:txBody>
      </p:sp>
      <p:sp>
        <p:nvSpPr>
          <p:cNvPr id="10" name="Shape 7"/>
          <p:cNvSpPr/>
          <p:nvPr/>
        </p:nvSpPr>
        <p:spPr>
          <a:xfrm>
            <a:off x="548640" y="2880360"/>
            <a:ext cx="5120640" cy="658368"/>
          </a:xfrm>
          <a:prstGeom prst="roundRect">
            <a:avLst>
              <a:gd name="adj" fmla="val 11111"/>
            </a:avLst>
          </a:prstGeom>
          <a:solidFill>
            <a:schemeClr val="bg2"/>
          </a:solidFill>
          <a:ln w="12700">
            <a:solidFill>
              <a:schemeClr val="bg2"/>
            </a:solidFill>
            <a:prstDash val="solid"/>
          </a:ln>
        </p:spPr>
      </p:sp>
      <p:sp>
        <p:nvSpPr>
          <p:cNvPr id="11" name="Text 8"/>
          <p:cNvSpPr txBox="1"/>
          <p:nvPr/>
        </p:nvSpPr>
        <p:spPr>
          <a:xfrm>
            <a:off x="777240" y="2880360"/>
            <a:ext cx="1280160" cy="658368"/>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선형이다</a:t>
            </a:r>
            <a:endParaRPr lang="ko-KR" altLang="en-US" sz="1500" dirty="0"/>
          </a:p>
        </p:txBody>
      </p:sp>
      <p:sp>
        <p:nvSpPr>
          <p:cNvPr id="12" name="Text 9"/>
          <p:cNvSpPr txBox="1"/>
          <p:nvPr/>
        </p:nvSpPr>
        <p:spPr>
          <a:xfrm>
            <a:off x="2103120" y="2880360"/>
            <a:ext cx="3474720" cy="658368"/>
          </a:xfrm>
          <a:prstGeom prst="rect">
            <a:avLst/>
          </a:prstGeom>
          <a:noFill/>
          <a:ln/>
        </p:spPr>
        <p:txBody>
          <a:bodyPr wrap="square" lIns="0" tIns="0" rIns="0" bIns="0" rtlCol="0" anchor="ctr"/>
          <a:lstStyle/>
          <a:p>
            <a:pPr indent="0" marL="0" eaLnBrk="0">
              <a:buNone/>
            </a:pPr>
            <a:r>
              <a:rPr lang="ko-KR" altLang="en-US" sz="1300" dirty="0">
                <a:solidFill>
                  <a:schemeClr val="tx2"/>
                </a:solidFill>
              </a:rPr>
              <a:t>명령이 차례로 붙어 있고 차례로 실행된다</a:t>
            </a:r>
            <a:endParaRPr lang="ko-KR" altLang="en-US" sz="1300" dirty="0"/>
          </a:p>
        </p:txBody>
      </p:sp>
      <p:sp>
        <p:nvSpPr>
          <p:cNvPr id="13" name="Shape 10"/>
          <p:cNvSpPr/>
          <p:nvPr/>
        </p:nvSpPr>
        <p:spPr>
          <a:xfrm>
            <a:off x="548640" y="3657600"/>
            <a:ext cx="5120640" cy="658368"/>
          </a:xfrm>
          <a:prstGeom prst="roundRect">
            <a:avLst>
              <a:gd name="adj" fmla="val 11111"/>
            </a:avLst>
          </a:prstGeom>
          <a:solidFill>
            <a:schemeClr val="bg2"/>
          </a:solidFill>
          <a:ln w="12700">
            <a:solidFill>
              <a:schemeClr val="bg2"/>
            </a:solidFill>
            <a:prstDash val="solid"/>
          </a:ln>
        </p:spPr>
      </p:sp>
      <p:sp>
        <p:nvSpPr>
          <p:cNvPr id="14" name="Text 11"/>
          <p:cNvSpPr txBox="1"/>
          <p:nvPr/>
        </p:nvSpPr>
        <p:spPr>
          <a:xfrm>
            <a:off x="777240" y="3657600"/>
            <a:ext cx="1280160" cy="658368"/>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저수준이다</a:t>
            </a:r>
            <a:endParaRPr lang="ko-KR" altLang="en-US" sz="1500" dirty="0"/>
          </a:p>
        </p:txBody>
      </p:sp>
      <p:sp>
        <p:nvSpPr>
          <p:cNvPr id="15" name="Text 12"/>
          <p:cNvSpPr txBox="1"/>
          <p:nvPr/>
        </p:nvSpPr>
        <p:spPr>
          <a:xfrm>
            <a:off x="2103120" y="3657600"/>
            <a:ext cx="3474720" cy="658368"/>
          </a:xfrm>
          <a:prstGeom prst="rect">
            <a:avLst/>
          </a:prstGeom>
          <a:noFill/>
          <a:ln/>
        </p:spPr>
        <p:txBody>
          <a:bodyPr wrap="square" lIns="0" tIns="0" rIns="0" bIns="0" rtlCol="0" anchor="ctr"/>
          <a:lstStyle/>
          <a:p>
            <a:pPr indent="0" marL="0" eaLnBrk="0">
              <a:buNone/>
            </a:pPr>
            <a:r>
              <a:rPr lang="ko-KR" altLang="en-US" sz="1300" dirty="0">
                <a:solidFill>
                  <a:schemeClr val="tx2"/>
                </a:solidFill>
              </a:rPr>
              <a:t>명령 하나는 작은 일만 하고, 조합해서 행동을 만든다</a:t>
            </a:r>
            <a:endParaRPr lang="ko-KR" altLang="en-US" sz="1300" dirty="0"/>
          </a:p>
        </p:txBody>
      </p:sp>
      <p:sp>
        <p:nvSpPr>
          <p:cNvPr id="16" name="Shape 13"/>
          <p:cNvSpPr/>
          <p:nvPr/>
        </p:nvSpPr>
        <p:spPr>
          <a:xfrm>
            <a:off x="548640" y="4434840"/>
            <a:ext cx="5120640" cy="658368"/>
          </a:xfrm>
          <a:prstGeom prst="roundRect">
            <a:avLst>
              <a:gd name="adj" fmla="val 11111"/>
            </a:avLst>
          </a:prstGeom>
          <a:solidFill>
            <a:schemeClr val="bg2"/>
          </a:solidFill>
          <a:ln w="12700">
            <a:solidFill>
              <a:schemeClr val="bg2"/>
            </a:solidFill>
            <a:prstDash val="solid"/>
          </a:ln>
        </p:spPr>
      </p:sp>
      <p:sp>
        <p:nvSpPr>
          <p:cNvPr id="17" name="Text 14"/>
          <p:cNvSpPr txBox="1"/>
          <p:nvPr/>
        </p:nvSpPr>
        <p:spPr>
          <a:xfrm>
            <a:off x="777240" y="4434840"/>
            <a:ext cx="1280160" cy="658368"/>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빠르다</a:t>
            </a:r>
            <a:endParaRPr lang="ko-KR" altLang="en-US" sz="1500" dirty="0"/>
          </a:p>
        </p:txBody>
      </p:sp>
      <p:sp>
        <p:nvSpPr>
          <p:cNvPr id="18" name="Text 15"/>
          <p:cNvSpPr txBox="1"/>
          <p:nvPr/>
        </p:nvSpPr>
        <p:spPr>
          <a:xfrm>
            <a:off x="2103120" y="4434840"/>
            <a:ext cx="3474720" cy="658368"/>
          </a:xfrm>
          <a:prstGeom prst="rect">
            <a:avLst/>
          </a:prstGeom>
          <a:noFill/>
          <a:ln/>
        </p:spPr>
        <p:txBody>
          <a:bodyPr wrap="square" lIns="0" tIns="0" rIns="0" bIns="0" rtlCol="0" anchor="ctr"/>
          <a:lstStyle/>
          <a:p>
            <a:pPr indent="0" marL="0" eaLnBrk="0">
              <a:buNone/>
            </a:pPr>
            <a:r>
              <a:rPr lang="ko-KR" altLang="en-US" sz="1300" dirty="0">
                <a:solidFill>
                  <a:schemeClr val="tx2"/>
                </a:solidFill>
              </a:rPr>
              <a:t>위 성질 덕분에 빠르게 실행된다</a:t>
            </a:r>
            <a:endParaRPr lang="ko-KR" altLang="en-US" sz="1300" dirty="0"/>
          </a:p>
        </p:txBody>
      </p:sp>
      <p:sp>
        <p:nvSpPr>
          <p:cNvPr id="19" name="box"/>
          <p:cNvSpPr/>
          <p:nvPr/>
        </p:nvSpPr>
        <p:spPr>
          <a:xfrm>
            <a:off x="6035040" y="1645920"/>
            <a:ext cx="1777898" cy="868680"/>
          </a:xfrm>
          <a:prstGeom prst="roundRect">
            <a:avLst>
              <a:gd name="adj" fmla="val 8421"/>
            </a:avLst>
          </a:prstGeom>
          <a:solidFill>
            <a:schemeClr val="bg2"/>
          </a:solidFill>
          <a:ln w="12700">
            <a:solidFill>
              <a:schemeClr val="bg2"/>
            </a:solidFill>
            <a:prstDash val="solid"/>
          </a:ln>
        </p:spPr>
      </p:sp>
      <p:sp>
        <p:nvSpPr>
          <p:cNvPr id="20" name="Text 17"/>
          <p:cNvSpPr txBox="1"/>
          <p:nvPr/>
        </p:nvSpPr>
        <p:spPr>
          <a:xfrm>
            <a:off x="6035040" y="1645920"/>
            <a:ext cx="1777898" cy="86868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인터프리터 패턴</a:t>
            </a:r>
            <a:endParaRPr lang="ko-KR" altLang="en-US" sz="1400" dirty="0"/>
          </a:p>
          <a:p>
            <a:pPr algn="ctr" indent="0" marL="0" eaLnBrk="0">
              <a:buNone/>
            </a:pPr>
            <a:r>
              <a:rPr lang="ko-KR" altLang="en-US" sz="1400" b="1" dirty="0">
                <a:solidFill>
                  <a:schemeClr val="tx1"/>
                </a:solidFill>
              </a:rPr>
              <a:t>객체 트리</a:t>
            </a:r>
            <a:endParaRPr lang="ko-KR" altLang="en-US" sz="1400" dirty="0"/>
          </a:p>
        </p:txBody>
      </p:sp>
      <p:sp>
        <p:nvSpPr>
          <p:cNvPr id="21" name="Text 18"/>
          <p:cNvSpPr txBox="1"/>
          <p:nvPr/>
        </p:nvSpPr>
        <p:spPr>
          <a:xfrm>
            <a:off x="6080760" y="2651760"/>
            <a:ext cx="1686458" cy="1188720"/>
          </a:xfrm>
          <a:prstGeom prst="rect">
            <a:avLst/>
          </a:prstGeom>
          <a:noFill/>
          <a:ln/>
        </p:spPr>
        <p:txBody>
          <a:bodyPr wrap="square" lIns="0" tIns="0" rIns="0" bIns="0" rtlCol="0" anchor="t"/>
          <a:lstStyle/>
          <a:p>
            <a:pPr algn="ctr" indent="0" marL="0" eaLnBrk="0">
              <a:buNone/>
            </a:pPr>
            <a:r>
              <a:rPr lang="ko-KR" altLang="en-US" sz="1300" dirty="0">
                <a:solidFill>
                  <a:schemeClr val="tx2"/>
                </a:solidFill>
              </a:rPr>
              <a:t>안전하지만</a:t>
            </a:r>
            <a:endParaRPr lang="ko-KR" altLang="en-US" sz="1300" dirty="0"/>
          </a:p>
          <a:p>
            <a:pPr algn="ctr" indent="0" marL="0" eaLnBrk="0">
              <a:buNone/>
            </a:pPr>
            <a:r>
              <a:rPr lang="ko-KR" altLang="en-US" sz="1300" dirty="0">
                <a:solidFill>
                  <a:schemeClr val="tx2"/>
                </a:solidFill>
              </a:rPr>
              <a:t>느리고 무겁다</a:t>
            </a:r>
            <a:endParaRPr lang="ko-KR" altLang="en-US" sz="1300" dirty="0"/>
          </a:p>
        </p:txBody>
      </p:sp>
      <p:sp>
        <p:nvSpPr>
          <p:cNvPr id="22" name="box"/>
          <p:cNvSpPr/>
          <p:nvPr/>
        </p:nvSpPr>
        <p:spPr>
          <a:xfrm>
            <a:off x="7950098" y="1645920"/>
            <a:ext cx="1777898" cy="868680"/>
          </a:xfrm>
          <a:prstGeom prst="roundRect">
            <a:avLst>
              <a:gd name="adj" fmla="val 8421"/>
            </a:avLst>
          </a:prstGeom>
          <a:solidFill>
            <a:schemeClr val="accent2"/>
          </a:solidFill>
          <a:ln w="12700">
            <a:solidFill>
              <a:schemeClr val="accent2"/>
            </a:solidFill>
            <a:prstDash val="solid"/>
          </a:ln>
        </p:spPr>
      </p:sp>
      <p:sp>
        <p:nvSpPr>
          <p:cNvPr id="23" name="Text 20"/>
          <p:cNvSpPr txBox="1"/>
          <p:nvPr/>
        </p:nvSpPr>
        <p:spPr>
          <a:xfrm>
            <a:off x="7950098" y="1645920"/>
            <a:ext cx="1777898" cy="868680"/>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바이트코드</a:t>
            </a:r>
            <a:endParaRPr lang="ko-KR" altLang="en-US" sz="1400" dirty="0"/>
          </a:p>
          <a:p>
            <a:pPr algn="ctr" indent="0" marL="0" eaLnBrk="0">
              <a:buNone/>
            </a:pPr>
            <a:r>
              <a:rPr lang="ko-KR" altLang="en-US" sz="1400" b="1" dirty="0">
                <a:solidFill>
                  <a:schemeClr val="bg1"/>
                </a:solidFill>
              </a:rPr>
              <a:t>가상의 기계어</a:t>
            </a:r>
            <a:endParaRPr lang="ko-KR" altLang="en-US" sz="1400" dirty="0"/>
          </a:p>
        </p:txBody>
      </p:sp>
      <p:sp>
        <p:nvSpPr>
          <p:cNvPr id="24" name="Text 21"/>
          <p:cNvSpPr txBox="1"/>
          <p:nvPr/>
        </p:nvSpPr>
        <p:spPr>
          <a:xfrm>
            <a:off x="7995818" y="2651760"/>
            <a:ext cx="1686458" cy="1188720"/>
          </a:xfrm>
          <a:prstGeom prst="rect">
            <a:avLst/>
          </a:prstGeom>
          <a:noFill/>
          <a:ln/>
        </p:spPr>
        <p:txBody>
          <a:bodyPr wrap="square" lIns="0" tIns="0" rIns="0" bIns="0" rtlCol="0" anchor="t"/>
          <a:lstStyle/>
          <a:p>
            <a:pPr algn="ctr" indent="0" marL="0" eaLnBrk="0">
              <a:buNone/>
            </a:pPr>
            <a:r>
              <a:rPr lang="ko-KR" altLang="en-US" sz="1300" dirty="0">
                <a:solidFill>
                  <a:schemeClr val="tx2"/>
                </a:solidFill>
              </a:rPr>
              <a:t>게임이 실행하므로</a:t>
            </a:r>
            <a:endParaRPr lang="ko-KR" altLang="en-US" sz="1300" dirty="0"/>
          </a:p>
          <a:p>
            <a:pPr algn="ctr" indent="0" marL="0" eaLnBrk="0">
              <a:buNone/>
            </a:pPr>
            <a:r>
              <a:rPr lang="ko-KR" altLang="en-US" sz="1300" dirty="0">
                <a:solidFill>
                  <a:schemeClr val="tx2"/>
                </a:solidFill>
              </a:rPr>
              <a:t>가둘 수 있고,</a:t>
            </a:r>
            <a:endParaRPr lang="ko-KR" altLang="en-US" sz="1300" dirty="0"/>
          </a:p>
          <a:p>
            <a:pPr algn="ctr" indent="0" marL="0" eaLnBrk="0">
              <a:buNone/>
            </a:pPr>
            <a:r>
              <a:rPr lang="ko-KR" altLang="en-US" sz="1300" dirty="0">
                <a:solidFill>
                  <a:schemeClr val="tx2"/>
                </a:solidFill>
              </a:rPr>
              <a:t>조밀하고 선형이다</a:t>
            </a:r>
            <a:endParaRPr lang="ko-KR" altLang="en-US" sz="1300" dirty="0"/>
          </a:p>
        </p:txBody>
      </p:sp>
      <p:sp>
        <p:nvSpPr>
          <p:cNvPr id="25" name="box"/>
          <p:cNvSpPr/>
          <p:nvPr/>
        </p:nvSpPr>
        <p:spPr>
          <a:xfrm>
            <a:off x="9865157" y="1645920"/>
            <a:ext cx="1777898" cy="868680"/>
          </a:xfrm>
          <a:prstGeom prst="roundRect">
            <a:avLst>
              <a:gd name="adj" fmla="val 8421"/>
            </a:avLst>
          </a:prstGeom>
          <a:solidFill>
            <a:schemeClr val="bg2"/>
          </a:solidFill>
          <a:ln w="12700">
            <a:solidFill>
              <a:schemeClr val="bg2"/>
            </a:solidFill>
            <a:prstDash val="solid"/>
          </a:ln>
        </p:spPr>
      </p:sp>
      <p:sp>
        <p:nvSpPr>
          <p:cNvPr id="26" name="Text 23"/>
          <p:cNvSpPr txBox="1"/>
          <p:nvPr/>
        </p:nvSpPr>
        <p:spPr>
          <a:xfrm>
            <a:off x="9865157" y="1645920"/>
            <a:ext cx="1777898" cy="86868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기계어</a:t>
            </a:r>
            <a:endParaRPr lang="ko-KR" altLang="en-US" sz="1400" dirty="0"/>
          </a:p>
          <a:p>
            <a:pPr algn="ctr" indent="0" marL="0" eaLnBrk="0">
              <a:buNone/>
            </a:pPr>
            <a:r>
              <a:rPr lang="ko-KR" altLang="en-US" sz="1400" b="1" dirty="0">
                <a:solidFill>
                  <a:schemeClr val="tx1"/>
                </a:solidFill>
              </a:rPr>
              <a:t>CPU가 실행</a:t>
            </a:r>
            <a:endParaRPr lang="ko-KR" altLang="en-US" sz="1400" dirty="0"/>
          </a:p>
        </p:txBody>
      </p:sp>
      <p:sp>
        <p:nvSpPr>
          <p:cNvPr id="27" name="Text 24"/>
          <p:cNvSpPr txBox="1"/>
          <p:nvPr/>
        </p:nvSpPr>
        <p:spPr>
          <a:xfrm>
            <a:off x="9910877" y="2651760"/>
            <a:ext cx="1686458" cy="1188720"/>
          </a:xfrm>
          <a:prstGeom prst="rect">
            <a:avLst/>
          </a:prstGeom>
          <a:noFill/>
          <a:ln/>
        </p:spPr>
        <p:txBody>
          <a:bodyPr wrap="square" lIns="0" tIns="0" rIns="0" bIns="0" rtlCol="0" anchor="t"/>
          <a:lstStyle/>
          <a:p>
            <a:pPr algn="ctr" indent="0" marL="0" eaLnBrk="0">
              <a:buNone/>
            </a:pPr>
            <a:r>
              <a:rPr lang="ko-KR" altLang="en-US" sz="1300" dirty="0">
                <a:solidFill>
                  <a:schemeClr val="tx2"/>
                </a:solidFill>
              </a:rPr>
              <a:t>가장 빠르지만</a:t>
            </a:r>
            <a:endParaRPr lang="ko-KR" altLang="en-US" sz="1300" dirty="0"/>
          </a:p>
          <a:p>
            <a:pPr algn="ctr" indent="0" marL="0" eaLnBrk="0">
              <a:buNone/>
            </a:pPr>
            <a:r>
              <a:rPr lang="ko-KR" altLang="en-US" sz="1300" dirty="0">
                <a:solidFill>
                  <a:schemeClr val="tx2"/>
                </a:solidFill>
              </a:rPr>
              <a:t>사용자 코드를</a:t>
            </a:r>
            <a:endParaRPr lang="ko-KR" altLang="en-US" sz="1300" dirty="0"/>
          </a:p>
          <a:p>
            <a:pPr algn="ctr" indent="0" marL="0" eaLnBrk="0">
              <a:buNone/>
            </a:pPr>
            <a:r>
              <a:rPr lang="ko-KR" altLang="en-US" sz="1300" dirty="0">
                <a:solidFill>
                  <a:schemeClr val="tx2"/>
                </a:solidFill>
              </a:rPr>
              <a:t>실행하면 위험하다</a:t>
            </a:r>
            <a:endParaRPr lang="ko-KR" altLang="en-US" sz="1300" dirty="0"/>
          </a:p>
        </p:txBody>
      </p:sp>
      <p:sp>
        <p:nvSpPr>
          <p:cNvPr id="28" name="card"/>
          <p:cNvSpPr/>
          <p:nvPr/>
        </p:nvSpPr>
        <p:spPr>
          <a:xfrm>
            <a:off x="6035040" y="3977640"/>
            <a:ext cx="5608015" cy="1691640"/>
          </a:xfrm>
          <a:prstGeom prst="roundRect">
            <a:avLst>
              <a:gd name="adj" fmla="val 5405"/>
            </a:avLst>
          </a:prstGeom>
          <a:solidFill>
            <a:schemeClr val="bg2"/>
          </a:solidFill>
          <a:ln w="12700">
            <a:solidFill>
              <a:schemeClr val="bg2"/>
            </a:solidFill>
            <a:prstDash val="solid"/>
          </a:ln>
        </p:spPr>
      </p:sp>
      <p:sp>
        <p:nvSpPr>
          <p:cNvPr id="29" name="Text 26"/>
          <p:cNvSpPr txBox="1"/>
          <p:nvPr/>
        </p:nvSpPr>
        <p:spPr>
          <a:xfrm>
            <a:off x="6263640" y="4197096"/>
            <a:ext cx="51965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실행 중에 만든 기계어를 막는 플랫폼</a:t>
            </a:r>
            <a:endParaRPr lang="ko-KR" altLang="en-US" sz="1700" dirty="0"/>
          </a:p>
        </p:txBody>
      </p:sp>
      <p:sp>
        <p:nvSpPr>
          <p:cNvPr id="30" name="Text 27"/>
          <p:cNvSpPr txBox="1"/>
          <p:nvPr/>
        </p:nvSpPr>
        <p:spPr>
          <a:xfrm>
            <a:off x="6263640" y="4572000"/>
            <a:ext cx="5150815" cy="1005840"/>
          </a:xfrm>
          <a:prstGeom prst="rect">
            <a:avLst/>
          </a:prstGeom>
          <a:noFill/>
          <a:ln/>
        </p:spPr>
        <p:txBody>
          <a:bodyPr wrap="square" lIns="0" tIns="0" rIns="0" bIns="0" rtlCol="0" anchor="t"/>
          <a:lstStyle/>
          <a:p>
            <a:pPr indent="0" marL="0" eaLnBrk="0">
              <a:buNone/>
            </a:pPr>
            <a:r>
              <a:rPr lang="ko-KR" altLang="en-US" sz="1400" dirty="0">
                <a:solidFill>
                  <a:schemeClr val="tx2"/>
                </a:solidFill>
              </a:rPr>
              <a:t>많은 게임 콘솔과 iOS는 실행 중에 불러오거나 만든 기계어를 실행하지 못하게 한다. 그래서 JIT 컴파일러도 쓸 수 없다.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9</a:t>
            </a:fld>
            <a:endParaRPr lang="ko-KR"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패턴의 구조</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명령 집합, 바이트 열, 가상 기계, 스택</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이제 마법 대결 게임에 쓸 명령 집합부터 정해 보자.</a:t>
            </a:r>
            <a:endParaRPr lang="ko-KR" altLang="en-US" sz="1500" dirty="0"/>
          </a:p>
        </p:txBody>
      </p:sp>
      <p:sp>
        <p:nvSpPr>
          <p:cNvPr id="6" name="card"/>
          <p:cNvSpPr/>
          <p:nvPr/>
        </p:nvSpPr>
        <p:spPr>
          <a:xfrm>
            <a:off x="548640" y="1691640"/>
            <a:ext cx="4937760" cy="868680"/>
          </a:xfrm>
          <a:prstGeom prst="roundRect">
            <a:avLst>
              <a:gd name="adj" fmla="val 10526"/>
            </a:avLst>
          </a:prstGeom>
          <a:solidFill>
            <a:schemeClr val="bg2"/>
          </a:solidFill>
          <a:ln w="12700">
            <a:solidFill>
              <a:schemeClr val="bg2"/>
            </a:solidFill>
            <a:prstDash val="solid"/>
          </a:ln>
        </p:spPr>
      </p:sp>
      <p:sp>
        <p:nvSpPr>
          <p:cNvPr id="7" name="Shape 4"/>
          <p:cNvSpPr/>
          <p:nvPr/>
        </p:nvSpPr>
        <p:spPr>
          <a:xfrm>
            <a:off x="777240" y="1892808"/>
            <a:ext cx="420624" cy="420624"/>
          </a:xfrm>
          <a:prstGeom prst="ellipse">
            <a:avLst/>
          </a:prstGeom>
          <a:solidFill>
            <a:schemeClr val="accent1"/>
          </a:solidFill>
          <a:ln w="12700">
            <a:solidFill>
              <a:schemeClr val="accent1"/>
            </a:solidFill>
            <a:prstDash val="solid"/>
          </a:ln>
        </p:spPr>
      </p:sp>
      <p:sp>
        <p:nvSpPr>
          <p:cNvPr id="8" name="Text 5"/>
          <p:cNvSpPr txBox="1"/>
          <p:nvPr/>
        </p:nvSpPr>
        <p:spPr>
          <a:xfrm>
            <a:off x="777240" y="18928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9" name="Text 6"/>
          <p:cNvSpPr txBox="1"/>
          <p:nvPr/>
        </p:nvSpPr>
        <p:spPr>
          <a:xfrm>
            <a:off x="1325880" y="1783080"/>
            <a:ext cx="1280160" cy="685800"/>
          </a:xfrm>
          <a:prstGeom prst="rect">
            <a:avLst/>
          </a:prstGeom>
          <a:noFill/>
          <a:ln/>
        </p:spPr>
        <p:txBody>
          <a:bodyPr wrap="square" lIns="0" tIns="0" rIns="0" bIns="0" rtlCol="0" anchor="ctr"/>
          <a:lstStyle/>
          <a:p>
            <a:pPr indent="0" marL="0" eaLnBrk="0">
              <a:buNone/>
            </a:pPr>
            <a:r>
              <a:rPr lang="ko-KR" altLang="en-US" sz="1500" b="1" dirty="0">
                <a:solidFill>
                  <a:schemeClr val="tx1"/>
                </a:solidFill>
              </a:rPr>
              <a:t>명령 집합</a:t>
            </a:r>
            <a:endParaRPr lang="ko-KR" altLang="en-US" sz="1500" dirty="0"/>
          </a:p>
        </p:txBody>
      </p:sp>
      <p:sp>
        <p:nvSpPr>
          <p:cNvPr id="10" name="Text 7"/>
          <p:cNvSpPr txBox="1"/>
          <p:nvPr/>
        </p:nvSpPr>
        <p:spPr>
          <a:xfrm>
            <a:off x="2606040" y="1783080"/>
            <a:ext cx="2743200" cy="685800"/>
          </a:xfrm>
          <a:prstGeom prst="rect">
            <a:avLst/>
          </a:prstGeom>
          <a:noFill/>
          <a:ln/>
        </p:spPr>
        <p:txBody>
          <a:bodyPr wrap="square" lIns="0" tIns="0" rIns="0" bIns="0" rtlCol="0" anchor="ctr"/>
          <a:lstStyle/>
          <a:p>
            <a:pPr indent="0" marL="0" eaLnBrk="0">
              <a:buNone/>
            </a:pPr>
            <a:r>
              <a:rPr lang="ko-KR" altLang="en-US" sz="1250" dirty="0">
                <a:solidFill>
                  <a:schemeClr val="tx2"/>
                </a:solidFill>
              </a:rPr>
              <a:t>할 수 있는 저수준 연산을 정한다. C#에서는 열거형 하나이다.</a:t>
            </a:r>
            <a:endParaRPr lang="ko-KR" altLang="en-US" sz="1250" dirty="0"/>
          </a:p>
        </p:txBody>
      </p:sp>
      <p:sp>
        <p:nvSpPr>
          <p:cNvPr id="11" name="card"/>
          <p:cNvSpPr/>
          <p:nvPr/>
        </p:nvSpPr>
        <p:spPr>
          <a:xfrm>
            <a:off x="548640" y="2679192"/>
            <a:ext cx="4937760" cy="868680"/>
          </a:xfrm>
          <a:prstGeom prst="roundRect">
            <a:avLst>
              <a:gd name="adj" fmla="val 10526"/>
            </a:avLst>
          </a:prstGeom>
          <a:solidFill>
            <a:schemeClr val="bg2"/>
          </a:solidFill>
          <a:ln w="12700">
            <a:solidFill>
              <a:schemeClr val="bg2"/>
            </a:solidFill>
            <a:prstDash val="solid"/>
          </a:ln>
        </p:spPr>
      </p:sp>
      <p:sp>
        <p:nvSpPr>
          <p:cNvPr id="12" name="Shape 9"/>
          <p:cNvSpPr/>
          <p:nvPr/>
        </p:nvSpPr>
        <p:spPr>
          <a:xfrm>
            <a:off x="777240" y="2880360"/>
            <a:ext cx="420624" cy="420624"/>
          </a:xfrm>
          <a:prstGeom prst="ellipse">
            <a:avLst/>
          </a:prstGeom>
          <a:solidFill>
            <a:schemeClr val="accent1"/>
          </a:solidFill>
          <a:ln w="12700">
            <a:solidFill>
              <a:schemeClr val="accent1"/>
            </a:solidFill>
            <a:prstDash val="solid"/>
          </a:ln>
        </p:spPr>
      </p:sp>
      <p:sp>
        <p:nvSpPr>
          <p:cNvPr id="13" name="Text 10"/>
          <p:cNvSpPr txBox="1"/>
          <p:nvPr/>
        </p:nvSpPr>
        <p:spPr>
          <a:xfrm>
            <a:off x="777240" y="2880360"/>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4" name="Text 11"/>
          <p:cNvSpPr txBox="1"/>
          <p:nvPr/>
        </p:nvSpPr>
        <p:spPr>
          <a:xfrm>
            <a:off x="1325880" y="2770632"/>
            <a:ext cx="1280160" cy="685800"/>
          </a:xfrm>
          <a:prstGeom prst="rect">
            <a:avLst/>
          </a:prstGeom>
          <a:noFill/>
          <a:ln/>
        </p:spPr>
        <p:txBody>
          <a:bodyPr wrap="square" lIns="0" tIns="0" rIns="0" bIns="0" rtlCol="0" anchor="ctr"/>
          <a:lstStyle/>
          <a:p>
            <a:pPr indent="0" marL="0" eaLnBrk="0">
              <a:buNone/>
            </a:pPr>
            <a:r>
              <a:rPr lang="ko-KR" altLang="en-US" sz="1500" b="1" dirty="0">
                <a:solidFill>
                  <a:schemeClr val="tx1"/>
                </a:solidFill>
              </a:rPr>
              <a:t>바이트 열</a:t>
            </a:r>
            <a:endParaRPr lang="ko-KR" altLang="en-US" sz="1500" dirty="0"/>
          </a:p>
        </p:txBody>
      </p:sp>
      <p:sp>
        <p:nvSpPr>
          <p:cNvPr id="15" name="Text 12"/>
          <p:cNvSpPr txBox="1"/>
          <p:nvPr/>
        </p:nvSpPr>
        <p:spPr>
          <a:xfrm>
            <a:off x="2606040" y="2770632"/>
            <a:ext cx="2743200" cy="685800"/>
          </a:xfrm>
          <a:prstGeom prst="rect">
            <a:avLst/>
          </a:prstGeom>
          <a:noFill/>
          <a:ln/>
        </p:spPr>
        <p:txBody>
          <a:bodyPr wrap="square" lIns="0" tIns="0" rIns="0" bIns="0" rtlCol="0" anchor="ctr"/>
          <a:lstStyle/>
          <a:p>
            <a:pPr indent="0" marL="0" eaLnBrk="0">
              <a:buNone/>
            </a:pPr>
            <a:r>
              <a:rPr lang="ko-KR" altLang="en-US" sz="1250" dirty="0">
                <a:solidFill>
                  <a:schemeClr val="tx2"/>
                </a:solidFill>
              </a:rPr>
              <a:t>명령들을 바이트의 배열로 적는다. 이것이 바이트코드이다.</a:t>
            </a:r>
            <a:endParaRPr lang="ko-KR" altLang="en-US" sz="1250" dirty="0"/>
          </a:p>
        </p:txBody>
      </p:sp>
      <p:sp>
        <p:nvSpPr>
          <p:cNvPr id="16" name="card"/>
          <p:cNvSpPr/>
          <p:nvPr/>
        </p:nvSpPr>
        <p:spPr>
          <a:xfrm>
            <a:off x="548640" y="3666744"/>
            <a:ext cx="4937760" cy="868680"/>
          </a:xfrm>
          <a:prstGeom prst="roundRect">
            <a:avLst>
              <a:gd name="adj" fmla="val 10526"/>
            </a:avLst>
          </a:prstGeom>
          <a:solidFill>
            <a:schemeClr val="bg2"/>
          </a:solidFill>
          <a:ln w="12700">
            <a:solidFill>
              <a:schemeClr val="bg2"/>
            </a:solidFill>
            <a:prstDash val="solid"/>
          </a:ln>
        </p:spPr>
      </p:sp>
      <p:sp>
        <p:nvSpPr>
          <p:cNvPr id="17" name="Shape 14"/>
          <p:cNvSpPr/>
          <p:nvPr/>
        </p:nvSpPr>
        <p:spPr>
          <a:xfrm>
            <a:off x="777240" y="3867912"/>
            <a:ext cx="420624" cy="420624"/>
          </a:xfrm>
          <a:prstGeom prst="ellipse">
            <a:avLst/>
          </a:prstGeom>
          <a:solidFill>
            <a:schemeClr val="accent1"/>
          </a:solidFill>
          <a:ln w="12700">
            <a:solidFill>
              <a:schemeClr val="accent1"/>
            </a:solidFill>
            <a:prstDash val="solid"/>
          </a:ln>
        </p:spPr>
      </p:sp>
      <p:sp>
        <p:nvSpPr>
          <p:cNvPr id="18" name="Text 15"/>
          <p:cNvSpPr txBox="1"/>
          <p:nvPr/>
        </p:nvSpPr>
        <p:spPr>
          <a:xfrm>
            <a:off x="777240" y="3867912"/>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19" name="Text 16"/>
          <p:cNvSpPr txBox="1"/>
          <p:nvPr/>
        </p:nvSpPr>
        <p:spPr>
          <a:xfrm>
            <a:off x="1325880" y="3758184"/>
            <a:ext cx="1280160" cy="685800"/>
          </a:xfrm>
          <a:prstGeom prst="rect">
            <a:avLst/>
          </a:prstGeom>
          <a:noFill/>
          <a:ln/>
        </p:spPr>
        <p:txBody>
          <a:bodyPr wrap="square" lIns="0" tIns="0" rIns="0" bIns="0" rtlCol="0" anchor="ctr"/>
          <a:lstStyle/>
          <a:p>
            <a:pPr indent="0" marL="0" eaLnBrk="0">
              <a:buNone/>
            </a:pPr>
            <a:r>
              <a:rPr lang="ko-KR" altLang="en-US" sz="1500" b="1" dirty="0">
                <a:solidFill>
                  <a:schemeClr val="tx1"/>
                </a:solidFill>
              </a:rPr>
              <a:t>가상 기계</a:t>
            </a:r>
            <a:endParaRPr lang="ko-KR" altLang="en-US" sz="1500" dirty="0"/>
          </a:p>
        </p:txBody>
      </p:sp>
      <p:sp>
        <p:nvSpPr>
          <p:cNvPr id="20" name="Text 17"/>
          <p:cNvSpPr txBox="1"/>
          <p:nvPr/>
        </p:nvSpPr>
        <p:spPr>
          <a:xfrm>
            <a:off x="2606040" y="3758184"/>
            <a:ext cx="2743200" cy="685800"/>
          </a:xfrm>
          <a:prstGeom prst="rect">
            <a:avLst/>
          </a:prstGeom>
          <a:noFill/>
          <a:ln/>
        </p:spPr>
        <p:txBody>
          <a:bodyPr wrap="square" lIns="0" tIns="0" rIns="0" bIns="0" rtlCol="0" anchor="ctr"/>
          <a:lstStyle/>
          <a:p>
            <a:pPr indent="0" marL="0" eaLnBrk="0">
              <a:buNone/>
            </a:pPr>
            <a:r>
              <a:rPr lang="ko-KR" altLang="en-US" sz="1250" dirty="0">
                <a:solidFill>
                  <a:schemeClr val="tx2"/>
                </a:solidFill>
              </a:rPr>
              <a:t>명령을 하나씩 읽어 실행한다. 반복문과 switch로 만든다.</a:t>
            </a:r>
            <a:endParaRPr lang="ko-KR" altLang="en-US" sz="1250" dirty="0"/>
          </a:p>
        </p:txBody>
      </p:sp>
      <p:sp>
        <p:nvSpPr>
          <p:cNvPr id="21" name="card"/>
          <p:cNvSpPr/>
          <p:nvPr/>
        </p:nvSpPr>
        <p:spPr>
          <a:xfrm>
            <a:off x="548640" y="4654296"/>
            <a:ext cx="4937760" cy="868680"/>
          </a:xfrm>
          <a:prstGeom prst="roundRect">
            <a:avLst>
              <a:gd name="adj" fmla="val 10526"/>
            </a:avLst>
          </a:prstGeom>
          <a:solidFill>
            <a:schemeClr val="bg2"/>
          </a:solidFill>
          <a:ln w="12700">
            <a:solidFill>
              <a:schemeClr val="bg2"/>
            </a:solidFill>
            <a:prstDash val="solid"/>
          </a:ln>
        </p:spPr>
      </p:sp>
      <p:sp>
        <p:nvSpPr>
          <p:cNvPr id="22" name="Shape 19"/>
          <p:cNvSpPr/>
          <p:nvPr/>
        </p:nvSpPr>
        <p:spPr>
          <a:xfrm>
            <a:off x="777240" y="4855464"/>
            <a:ext cx="420624" cy="420624"/>
          </a:xfrm>
          <a:prstGeom prst="ellipse">
            <a:avLst/>
          </a:prstGeom>
          <a:solidFill>
            <a:schemeClr val="accent1"/>
          </a:solidFill>
          <a:ln w="12700">
            <a:solidFill>
              <a:schemeClr val="accent1"/>
            </a:solidFill>
            <a:prstDash val="solid"/>
          </a:ln>
        </p:spPr>
      </p:sp>
      <p:sp>
        <p:nvSpPr>
          <p:cNvPr id="23" name="Text 20"/>
          <p:cNvSpPr txBox="1"/>
          <p:nvPr/>
        </p:nvSpPr>
        <p:spPr>
          <a:xfrm>
            <a:off x="777240" y="4855464"/>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4</a:t>
            </a:r>
            <a:endParaRPr lang="ko-KR" altLang="en-US" sz="1500" dirty="0"/>
          </a:p>
        </p:txBody>
      </p:sp>
      <p:sp>
        <p:nvSpPr>
          <p:cNvPr id="24" name="Text 21"/>
          <p:cNvSpPr txBox="1"/>
          <p:nvPr/>
        </p:nvSpPr>
        <p:spPr>
          <a:xfrm>
            <a:off x="1325880" y="4745736"/>
            <a:ext cx="1280160" cy="685800"/>
          </a:xfrm>
          <a:prstGeom prst="rect">
            <a:avLst/>
          </a:prstGeom>
          <a:noFill/>
          <a:ln/>
        </p:spPr>
        <p:txBody>
          <a:bodyPr wrap="square" lIns="0" tIns="0" rIns="0" bIns="0" rtlCol="0" anchor="ctr"/>
          <a:lstStyle/>
          <a:p>
            <a:pPr indent="0" marL="0" eaLnBrk="0">
              <a:buNone/>
            </a:pPr>
            <a:r>
              <a:rPr lang="ko-KR" altLang="en-US" sz="1500" b="1" dirty="0">
                <a:solidFill>
                  <a:schemeClr val="tx1"/>
                </a:solidFill>
              </a:rPr>
              <a:t>스택</a:t>
            </a:r>
            <a:endParaRPr lang="ko-KR" altLang="en-US" sz="1500" dirty="0"/>
          </a:p>
        </p:txBody>
      </p:sp>
      <p:sp>
        <p:nvSpPr>
          <p:cNvPr id="25" name="Text 22"/>
          <p:cNvSpPr txBox="1"/>
          <p:nvPr/>
        </p:nvSpPr>
        <p:spPr>
          <a:xfrm>
            <a:off x="2606040" y="4745736"/>
            <a:ext cx="2743200" cy="685800"/>
          </a:xfrm>
          <a:prstGeom prst="rect">
            <a:avLst/>
          </a:prstGeom>
          <a:noFill/>
          <a:ln/>
        </p:spPr>
        <p:txBody>
          <a:bodyPr wrap="square" lIns="0" tIns="0" rIns="0" bIns="0" rtlCol="0" anchor="ctr"/>
          <a:lstStyle/>
          <a:p>
            <a:pPr indent="0" marL="0" eaLnBrk="0">
              <a:buNone/>
            </a:pPr>
            <a:r>
              <a:rPr lang="ko-KR" altLang="en-US" sz="1250" dirty="0">
                <a:solidFill>
                  <a:schemeClr val="tx2"/>
                </a:solidFill>
              </a:rPr>
              <a:t>명령 사이에 오가는 중간 값을 쌓아 둔다.</a:t>
            </a:r>
            <a:endParaRPr lang="ko-KR" altLang="en-US" sz="1250" dirty="0"/>
          </a:p>
        </p:txBody>
      </p:sp>
      <p:sp>
        <p:nvSpPr>
          <p:cNvPr id="26" name="Text 23"/>
          <p:cNvSpPr txBox="1"/>
          <p:nvPr/>
        </p:nvSpPr>
        <p:spPr>
          <a:xfrm>
            <a:off x="5943600" y="1691640"/>
            <a:ext cx="2743200" cy="320040"/>
          </a:xfrm>
          <a:prstGeom prst="rect">
            <a:avLst/>
          </a:prstGeom>
          <a:noFill/>
          <a:ln/>
        </p:spPr>
        <p:txBody>
          <a:bodyPr wrap="square" lIns="0" tIns="0" rIns="0" bIns="0" rtlCol="0" anchor="t"/>
          <a:lstStyle/>
          <a:p>
            <a:pPr indent="0" marL="0" eaLnBrk="0">
              <a:buNone/>
            </a:pPr>
            <a:r>
              <a:rPr lang="ko-KR" altLang="en-US" sz="1300" b="1" dirty="0">
                <a:solidFill>
                  <a:schemeClr val="accent5"/>
                </a:solidFill>
              </a:rPr>
              <a:t>바이트코드</a:t>
            </a:r>
            <a:endParaRPr lang="ko-KR" altLang="en-US" sz="1300" dirty="0"/>
          </a:p>
        </p:txBody>
      </p:sp>
      <p:sp>
        <p:nvSpPr>
          <p:cNvPr id="27" name="box"/>
          <p:cNvSpPr/>
          <p:nvPr/>
        </p:nvSpPr>
        <p:spPr>
          <a:xfrm>
            <a:off x="5943600" y="2057400"/>
            <a:ext cx="1024128" cy="502920"/>
          </a:xfrm>
          <a:prstGeom prst="roundRect">
            <a:avLst>
              <a:gd name="adj" fmla="val 14545"/>
            </a:avLst>
          </a:prstGeom>
          <a:solidFill>
            <a:schemeClr val="accent1"/>
          </a:solidFill>
          <a:ln w="12700">
            <a:solidFill>
              <a:schemeClr val="accent1"/>
            </a:solidFill>
            <a:prstDash val="solid"/>
          </a:ln>
        </p:spPr>
      </p:sp>
      <p:sp>
        <p:nvSpPr>
          <p:cNvPr id="28" name="Text 25"/>
          <p:cNvSpPr txBox="1"/>
          <p:nvPr/>
        </p:nvSpPr>
        <p:spPr>
          <a:xfrm>
            <a:off x="5943600" y="2057400"/>
            <a:ext cx="1024128" cy="502920"/>
          </a:xfrm>
          <a:prstGeom prst="rect">
            <a:avLst/>
          </a:prstGeom>
          <a:noFill/>
          <a:ln/>
        </p:spPr>
        <p:txBody>
          <a:bodyPr wrap="square" lIns="635" tIns="635" rIns="635" bIns="635" rtlCol="0" anchor="ctr"/>
          <a:lstStyle/>
          <a:p>
            <a:pPr algn="ctr" indent="0" marL="0" eaLnBrk="0">
              <a:buNone/>
            </a:pPr>
            <a:r>
              <a:rPr lang="ko-KR" altLang="en-US" sz="1200" b="1" dirty="0">
                <a:solidFill>
                  <a:schemeClr val="bg1"/>
                </a:solidFill>
              </a:rPr>
              <a:t>Literal</a:t>
            </a:r>
            <a:endParaRPr lang="ko-KR" altLang="en-US" sz="1200" dirty="0"/>
          </a:p>
        </p:txBody>
      </p:sp>
      <p:sp>
        <p:nvSpPr>
          <p:cNvPr id="29" name="box"/>
          <p:cNvSpPr/>
          <p:nvPr/>
        </p:nvSpPr>
        <p:spPr>
          <a:xfrm>
            <a:off x="7040880" y="2057400"/>
            <a:ext cx="1024128" cy="502920"/>
          </a:xfrm>
          <a:prstGeom prst="roundRect">
            <a:avLst>
              <a:gd name="adj" fmla="val 14545"/>
            </a:avLst>
          </a:prstGeom>
          <a:solidFill>
            <a:schemeClr val="bg2"/>
          </a:solidFill>
          <a:ln w="12700">
            <a:solidFill>
              <a:schemeClr val="bg2"/>
            </a:solidFill>
            <a:prstDash val="solid"/>
          </a:ln>
        </p:spPr>
      </p:sp>
      <p:sp>
        <p:nvSpPr>
          <p:cNvPr id="30" name="Text 27"/>
          <p:cNvSpPr txBox="1"/>
          <p:nvPr/>
        </p:nvSpPr>
        <p:spPr>
          <a:xfrm>
            <a:off x="7040880" y="2057400"/>
            <a:ext cx="1024128" cy="502920"/>
          </a:xfrm>
          <a:prstGeom prst="rect">
            <a:avLst/>
          </a:prstGeom>
          <a:noFill/>
          <a:ln/>
        </p:spPr>
        <p:txBody>
          <a:bodyPr wrap="square" lIns="635" tIns="635" rIns="635" bIns="635" rtlCol="0" anchor="ctr"/>
          <a:lstStyle/>
          <a:p>
            <a:pPr algn="ctr" indent="0" marL="0" eaLnBrk="0">
              <a:buNone/>
            </a:pPr>
            <a:r>
              <a:rPr lang="ko-KR" altLang="en-US" sz="1200" b="1" dirty="0">
                <a:solidFill>
                  <a:schemeClr val="tx1"/>
                </a:solidFill>
              </a:rPr>
              <a:t>0</a:t>
            </a:r>
            <a:endParaRPr lang="ko-KR" altLang="en-US" sz="1200" dirty="0"/>
          </a:p>
        </p:txBody>
      </p:sp>
      <p:sp>
        <p:nvSpPr>
          <p:cNvPr id="31" name="box"/>
          <p:cNvSpPr/>
          <p:nvPr/>
        </p:nvSpPr>
        <p:spPr>
          <a:xfrm>
            <a:off x="8138160" y="2057400"/>
            <a:ext cx="1024128" cy="502920"/>
          </a:xfrm>
          <a:prstGeom prst="roundRect">
            <a:avLst>
              <a:gd name="adj" fmla="val 14545"/>
            </a:avLst>
          </a:prstGeom>
          <a:solidFill>
            <a:schemeClr val="accent1"/>
          </a:solidFill>
          <a:ln w="12700">
            <a:solidFill>
              <a:schemeClr val="accent1"/>
            </a:solidFill>
            <a:prstDash val="solid"/>
          </a:ln>
        </p:spPr>
      </p:sp>
      <p:sp>
        <p:nvSpPr>
          <p:cNvPr id="32" name="Text 29"/>
          <p:cNvSpPr txBox="1"/>
          <p:nvPr/>
        </p:nvSpPr>
        <p:spPr>
          <a:xfrm>
            <a:off x="8138160" y="2057400"/>
            <a:ext cx="1024128" cy="502920"/>
          </a:xfrm>
          <a:prstGeom prst="rect">
            <a:avLst/>
          </a:prstGeom>
          <a:noFill/>
          <a:ln/>
        </p:spPr>
        <p:txBody>
          <a:bodyPr wrap="square" lIns="635" tIns="635" rIns="635" bIns="635" rtlCol="0" anchor="ctr"/>
          <a:lstStyle/>
          <a:p>
            <a:pPr algn="ctr" indent="0" marL="0" eaLnBrk="0">
              <a:buNone/>
            </a:pPr>
            <a:r>
              <a:rPr lang="ko-KR" altLang="en-US" sz="1200" b="1" dirty="0">
                <a:solidFill>
                  <a:schemeClr val="bg1"/>
                </a:solidFill>
              </a:rPr>
              <a:t>Literal</a:t>
            </a:r>
            <a:endParaRPr lang="ko-KR" altLang="en-US" sz="1200" dirty="0"/>
          </a:p>
        </p:txBody>
      </p:sp>
      <p:sp>
        <p:nvSpPr>
          <p:cNvPr id="33" name="box"/>
          <p:cNvSpPr/>
          <p:nvPr/>
        </p:nvSpPr>
        <p:spPr>
          <a:xfrm>
            <a:off x="9235440" y="2057400"/>
            <a:ext cx="1024128" cy="502920"/>
          </a:xfrm>
          <a:prstGeom prst="roundRect">
            <a:avLst>
              <a:gd name="adj" fmla="val 14545"/>
            </a:avLst>
          </a:prstGeom>
          <a:solidFill>
            <a:schemeClr val="bg2"/>
          </a:solidFill>
          <a:ln w="12700">
            <a:solidFill>
              <a:schemeClr val="bg2"/>
            </a:solidFill>
            <a:prstDash val="solid"/>
          </a:ln>
        </p:spPr>
      </p:sp>
      <p:sp>
        <p:nvSpPr>
          <p:cNvPr id="34" name="Text 31"/>
          <p:cNvSpPr txBox="1"/>
          <p:nvPr/>
        </p:nvSpPr>
        <p:spPr>
          <a:xfrm>
            <a:off x="9235440" y="2057400"/>
            <a:ext cx="1024128" cy="502920"/>
          </a:xfrm>
          <a:prstGeom prst="rect">
            <a:avLst/>
          </a:prstGeom>
          <a:noFill/>
          <a:ln/>
        </p:spPr>
        <p:txBody>
          <a:bodyPr wrap="square" lIns="635" tIns="635" rIns="635" bIns="635" rtlCol="0" anchor="ctr"/>
          <a:lstStyle/>
          <a:p>
            <a:pPr algn="ctr" indent="0" marL="0" eaLnBrk="0">
              <a:buNone/>
            </a:pPr>
            <a:r>
              <a:rPr lang="ko-KR" altLang="en-US" sz="1200" b="1" dirty="0">
                <a:solidFill>
                  <a:schemeClr val="tx1"/>
                </a:solidFill>
              </a:rPr>
              <a:t>10</a:t>
            </a:r>
            <a:endParaRPr lang="ko-KR" altLang="en-US" sz="1200" dirty="0"/>
          </a:p>
        </p:txBody>
      </p:sp>
      <p:sp>
        <p:nvSpPr>
          <p:cNvPr id="35" name="box"/>
          <p:cNvSpPr/>
          <p:nvPr/>
        </p:nvSpPr>
        <p:spPr>
          <a:xfrm>
            <a:off x="10332720" y="2057400"/>
            <a:ext cx="1024128" cy="502920"/>
          </a:xfrm>
          <a:prstGeom prst="roundRect">
            <a:avLst>
              <a:gd name="adj" fmla="val 14545"/>
            </a:avLst>
          </a:prstGeom>
          <a:solidFill>
            <a:schemeClr val="accent1"/>
          </a:solidFill>
          <a:ln w="12700">
            <a:solidFill>
              <a:schemeClr val="accent1"/>
            </a:solidFill>
            <a:prstDash val="solid"/>
          </a:ln>
        </p:spPr>
      </p:sp>
      <p:sp>
        <p:nvSpPr>
          <p:cNvPr id="36" name="Text 33"/>
          <p:cNvSpPr txBox="1"/>
          <p:nvPr/>
        </p:nvSpPr>
        <p:spPr>
          <a:xfrm>
            <a:off x="10332720" y="2057400"/>
            <a:ext cx="1024128" cy="502920"/>
          </a:xfrm>
          <a:prstGeom prst="rect">
            <a:avLst/>
          </a:prstGeom>
          <a:noFill/>
          <a:ln/>
        </p:spPr>
        <p:txBody>
          <a:bodyPr wrap="square" lIns="635" tIns="635" rIns="635" bIns="635" rtlCol="0" anchor="ctr"/>
          <a:lstStyle/>
          <a:p>
            <a:pPr algn="ctr" indent="0" marL="0" eaLnBrk="0">
              <a:buNone/>
            </a:pPr>
            <a:r>
              <a:rPr lang="ko-KR" altLang="en-US" sz="1200" b="1" dirty="0">
                <a:solidFill>
                  <a:schemeClr val="bg1"/>
                </a:solidFill>
              </a:rPr>
              <a:t>SetHealth</a:t>
            </a:r>
            <a:endParaRPr lang="ko-KR" altLang="en-US" sz="1200" dirty="0"/>
          </a:p>
        </p:txBody>
      </p:sp>
      <p:sp>
        <p:nvSpPr>
          <p:cNvPr id="37" name="Shape 34"/>
          <p:cNvSpPr/>
          <p:nvPr/>
        </p:nvSpPr>
        <p:spPr>
          <a:xfrm>
            <a:off x="8686800" y="2606040"/>
            <a:ext cx="914" cy="548640"/>
          </a:xfrm>
          <a:prstGeom prst="line">
            <a:avLst/>
          </a:prstGeom>
          <a:noFill/>
          <a:ln w="22225">
            <a:solidFill>
              <a:schemeClr val="accent3"/>
            </a:solidFill>
            <a:prstDash val="solid"/>
            <a:tailEnd type="triangle"/>
          </a:ln>
        </p:spPr>
      </p:sp>
      <p:sp>
        <p:nvSpPr>
          <p:cNvPr id="38" name="box"/>
          <p:cNvSpPr/>
          <p:nvPr/>
        </p:nvSpPr>
        <p:spPr>
          <a:xfrm>
            <a:off x="6858000" y="3154680"/>
            <a:ext cx="3657600" cy="914400"/>
          </a:xfrm>
          <a:prstGeom prst="roundRect">
            <a:avLst>
              <a:gd name="adj" fmla="val 8000"/>
            </a:avLst>
          </a:prstGeom>
          <a:solidFill>
            <a:schemeClr val="accent1"/>
          </a:solidFill>
          <a:ln w="12700">
            <a:solidFill>
              <a:schemeClr val="accent1"/>
            </a:solidFill>
            <a:prstDash val="solid"/>
          </a:ln>
        </p:spPr>
      </p:sp>
      <p:sp>
        <p:nvSpPr>
          <p:cNvPr id="39" name="Text 36"/>
          <p:cNvSpPr txBox="1"/>
          <p:nvPr/>
        </p:nvSpPr>
        <p:spPr>
          <a:xfrm>
            <a:off x="6858000" y="3154680"/>
            <a:ext cx="3657600" cy="914400"/>
          </a:xfrm>
          <a:prstGeom prst="rect">
            <a:avLst/>
          </a:prstGeom>
          <a:noFill/>
          <a:ln/>
        </p:spPr>
        <p:txBody>
          <a:bodyPr wrap="square" lIns="635" tIns="635" rIns="635" bIns="635" rtlCol="0" anchor="ctr"/>
          <a:lstStyle/>
          <a:p>
            <a:pPr algn="ctr" indent="0" marL="0" eaLnBrk="0">
              <a:buNone/>
            </a:pPr>
            <a:r>
              <a:rPr lang="ko-KR" altLang="en-US" sz="1500" b="1" dirty="0">
                <a:solidFill>
                  <a:schemeClr val="bg1"/>
                </a:solidFill>
              </a:rPr>
              <a:t>가상 기계</a:t>
            </a:r>
            <a:endParaRPr lang="ko-KR" altLang="en-US" sz="1500" dirty="0"/>
          </a:p>
          <a:p>
            <a:pPr algn="ctr" indent="0" marL="0" eaLnBrk="0">
              <a:buNone/>
            </a:pPr>
            <a:r>
              <a:rPr lang="ko-KR" altLang="en-US" sz="1500" b="1" dirty="0">
                <a:solidFill>
                  <a:schemeClr val="bg1"/>
                </a:solidFill>
              </a:rPr>
              <a:t>for 반복문 + switch</a:t>
            </a:r>
            <a:endParaRPr lang="ko-KR" altLang="en-US" sz="1500" dirty="0"/>
          </a:p>
        </p:txBody>
      </p:sp>
      <p:sp>
        <p:nvSpPr>
          <p:cNvPr id="40" name="box"/>
          <p:cNvSpPr/>
          <p:nvPr/>
        </p:nvSpPr>
        <p:spPr>
          <a:xfrm>
            <a:off x="6858000" y="4617720"/>
            <a:ext cx="3657600" cy="777240"/>
          </a:xfrm>
          <a:prstGeom prst="roundRect">
            <a:avLst>
              <a:gd name="adj" fmla="val 9412"/>
            </a:avLst>
          </a:prstGeom>
          <a:solidFill>
            <a:schemeClr val="bg2"/>
          </a:solidFill>
          <a:ln w="12700">
            <a:solidFill>
              <a:schemeClr val="bg2"/>
            </a:solidFill>
            <a:prstDash val="solid"/>
          </a:ln>
        </p:spPr>
      </p:sp>
      <p:sp>
        <p:nvSpPr>
          <p:cNvPr id="41" name="Text 38"/>
          <p:cNvSpPr txBox="1"/>
          <p:nvPr/>
        </p:nvSpPr>
        <p:spPr>
          <a:xfrm>
            <a:off x="6858000" y="4617720"/>
            <a:ext cx="3657600" cy="77724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게임 기능</a:t>
            </a:r>
            <a:endParaRPr lang="ko-KR" altLang="en-US" sz="1400" dirty="0"/>
          </a:p>
          <a:p>
            <a:pPr algn="ctr" indent="0" marL="0" eaLnBrk="0">
              <a:buNone/>
            </a:pPr>
            <a:r>
              <a:rPr lang="ko-KR" altLang="en-US" sz="1400" b="1" dirty="0">
                <a:solidFill>
                  <a:schemeClr val="tx1"/>
                </a:solidFill>
              </a:rPr>
              <a:t>SetHealth, PlaySound …</a:t>
            </a:r>
            <a:endParaRPr lang="ko-KR" altLang="en-US" sz="1400" dirty="0"/>
          </a:p>
        </p:txBody>
      </p:sp>
      <p:sp>
        <p:nvSpPr>
          <p:cNvPr id="42" name="Shape 39"/>
          <p:cNvSpPr/>
          <p:nvPr/>
        </p:nvSpPr>
        <p:spPr>
          <a:xfrm>
            <a:off x="8686800" y="4069080"/>
            <a:ext cx="914" cy="548640"/>
          </a:xfrm>
          <a:prstGeom prst="line">
            <a:avLst/>
          </a:prstGeom>
          <a:noFill/>
          <a:ln w="22225">
            <a:solidFill>
              <a:schemeClr val="accent3"/>
            </a:solidFill>
            <a:prstDash val="solid"/>
            <a:tailEnd type="triangle"/>
          </a:ln>
        </p:spPr>
      </p:sp>
      <p:sp>
        <p:nvSpPr>
          <p:cNvPr id="43" name="Shape 40"/>
          <p:cNvSpPr/>
          <p:nvPr/>
        </p:nvSpPr>
        <p:spPr>
          <a:xfrm>
            <a:off x="10881360" y="2926080"/>
            <a:ext cx="731520" cy="1371600"/>
          </a:xfrm>
          <a:prstGeom prst="rect">
            <a:avLst/>
          </a:prstGeom>
          <a:solidFill>
            <a:schemeClr val="bg1"/>
          </a:solidFill>
          <a:ln w="15875">
            <a:solidFill>
              <a:schemeClr val="accent3"/>
            </a:solidFill>
            <a:prstDash val="solid"/>
          </a:ln>
        </p:spPr>
      </p:sp>
      <p:sp>
        <p:nvSpPr>
          <p:cNvPr id="44" name="box"/>
          <p:cNvSpPr/>
          <p:nvPr/>
        </p:nvSpPr>
        <p:spPr>
          <a:xfrm>
            <a:off x="10972800" y="3794760"/>
            <a:ext cx="548640" cy="411480"/>
          </a:xfrm>
          <a:prstGeom prst="roundRect">
            <a:avLst>
              <a:gd name="adj" fmla="val 17778"/>
            </a:avLst>
          </a:prstGeom>
          <a:solidFill>
            <a:schemeClr val="bg2"/>
          </a:solidFill>
          <a:ln w="12700">
            <a:solidFill>
              <a:schemeClr val="bg2"/>
            </a:solidFill>
            <a:prstDash val="solid"/>
          </a:ln>
        </p:spPr>
      </p:sp>
      <p:sp>
        <p:nvSpPr>
          <p:cNvPr id="45" name="Text 42"/>
          <p:cNvSpPr txBox="1"/>
          <p:nvPr/>
        </p:nvSpPr>
        <p:spPr>
          <a:xfrm>
            <a:off x="10972800" y="3794760"/>
            <a:ext cx="548640" cy="411480"/>
          </a:xfrm>
          <a:prstGeom prst="rect">
            <a:avLst/>
          </a:prstGeom>
          <a:noFill/>
          <a:ln/>
        </p:spPr>
        <p:txBody>
          <a:bodyPr wrap="square" lIns="635" tIns="635" rIns="635" bIns="635" rtlCol="0" anchor="ctr"/>
          <a:lstStyle/>
          <a:p>
            <a:pPr algn="ctr" indent="0" marL="0" eaLnBrk="0">
              <a:buNone/>
            </a:pPr>
            <a:r>
              <a:rPr lang="ko-KR" altLang="en-US" sz="1300" b="1" dirty="0">
                <a:solidFill>
                  <a:schemeClr val="tx1"/>
                </a:solidFill>
              </a:rPr>
              <a:t>0</a:t>
            </a:r>
            <a:endParaRPr lang="ko-KR" altLang="en-US" sz="1300" dirty="0"/>
          </a:p>
        </p:txBody>
      </p:sp>
      <p:sp>
        <p:nvSpPr>
          <p:cNvPr id="46" name="box"/>
          <p:cNvSpPr/>
          <p:nvPr/>
        </p:nvSpPr>
        <p:spPr>
          <a:xfrm>
            <a:off x="10972800" y="3337560"/>
            <a:ext cx="548640" cy="411480"/>
          </a:xfrm>
          <a:prstGeom prst="roundRect">
            <a:avLst>
              <a:gd name="adj" fmla="val 17778"/>
            </a:avLst>
          </a:prstGeom>
          <a:solidFill>
            <a:schemeClr val="accent2"/>
          </a:solidFill>
          <a:ln w="12700">
            <a:solidFill>
              <a:schemeClr val="accent2"/>
            </a:solidFill>
            <a:prstDash val="solid"/>
          </a:ln>
        </p:spPr>
      </p:sp>
      <p:sp>
        <p:nvSpPr>
          <p:cNvPr id="47" name="Text 44"/>
          <p:cNvSpPr txBox="1"/>
          <p:nvPr/>
        </p:nvSpPr>
        <p:spPr>
          <a:xfrm>
            <a:off x="10972800" y="3337560"/>
            <a:ext cx="548640" cy="41148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10</a:t>
            </a:r>
            <a:endParaRPr lang="ko-KR" altLang="en-US" sz="1300" dirty="0"/>
          </a:p>
        </p:txBody>
      </p:sp>
      <p:sp>
        <p:nvSpPr>
          <p:cNvPr id="48" name="Text 45"/>
          <p:cNvSpPr txBox="1"/>
          <p:nvPr/>
        </p:nvSpPr>
        <p:spPr>
          <a:xfrm>
            <a:off x="10789920" y="4343400"/>
            <a:ext cx="914400" cy="274320"/>
          </a:xfrm>
          <a:prstGeom prst="rect">
            <a:avLst/>
          </a:prstGeom>
          <a:noFill/>
          <a:ln/>
        </p:spPr>
        <p:txBody>
          <a:bodyPr wrap="square" lIns="0" tIns="0" rIns="0" bIns="0" rtlCol="0" anchor="t"/>
          <a:lstStyle/>
          <a:p>
            <a:pPr algn="ctr" indent="0" marL="0" eaLnBrk="0">
              <a:buNone/>
            </a:pPr>
            <a:r>
              <a:rPr lang="ko-KR" altLang="en-US" sz="1200" b="1" dirty="0">
                <a:solidFill>
                  <a:schemeClr val="accent5"/>
                </a:solidFill>
              </a:rPr>
              <a:t>스택</a:t>
            </a:r>
            <a:endParaRPr lang="ko-KR" altLang="en-US" sz="1200" dirty="0"/>
          </a:p>
        </p:txBody>
      </p:sp>
      <p:sp>
        <p:nvSpPr>
          <p:cNvPr id="49" name="Shape 46"/>
          <p:cNvSpPr/>
          <p:nvPr/>
        </p:nvSpPr>
        <p:spPr>
          <a:xfrm>
            <a:off x="10515600" y="3611880"/>
            <a:ext cx="365760" cy="914"/>
          </a:xfrm>
          <a:prstGeom prst="line">
            <a:avLst/>
          </a:prstGeom>
          <a:noFill/>
          <a:ln w="22225">
            <a:solidFill>
              <a:schemeClr val="accent3"/>
            </a:solidFill>
            <a:prstDash val="solid"/>
            <a:tailEnd type="triangle"/>
          </a:ln>
        </p:spPr>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10</a:t>
            </a:fld>
            <a:endParaRPr lang="ko-KR"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2부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명령 집합과 가상 기계</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마법의 API · 마법의 명령 집합</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11</a:t>
            </a:fld>
            <a:endParaRPr lang="ko-KR"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API에서 명령으로</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주문이 부를 게임 기능마다 명령 번호를 하나씩 붙인다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바이트 배열을 받아 이 명령들을 실행하려면 무엇이 필요할까?</a:t>
            </a:r>
            <a:endParaRPr lang="ko-KR" altLang="en-US" sz="1500" dirty="0"/>
          </a:p>
        </p:txBody>
      </p:sp>
      <p:sp>
        <p:nvSpPr>
          <p:cNvPr id="6" name="codePanel"/>
          <p:cNvSpPr/>
          <p:nvPr/>
        </p:nvSpPr>
        <p:spPr>
          <a:xfrm>
            <a:off x="548640" y="1645920"/>
            <a:ext cx="5669280" cy="2103120"/>
          </a:xfrm>
          <a:prstGeom prst="roundRect">
            <a:avLst>
              <a:gd name="adj" fmla="val 3478"/>
            </a:avLst>
          </a:prstGeom>
          <a:solidFill>
            <a:schemeClr val="tx1"/>
          </a:solidFill>
          <a:ln w="12700">
            <a:solidFill>
              <a:schemeClr val="tx1"/>
            </a:solidFill>
            <a:prstDash val="solid"/>
          </a:ln>
        </p:spPr>
      </p:sp>
      <p:sp>
        <p:nvSpPr>
          <p:cNvPr id="7" name="code"/>
          <p:cNvSpPr txBox="1"/>
          <p:nvPr/>
        </p:nvSpPr>
        <p:spPr>
          <a:xfrm>
            <a:off x="658368" y="1737360"/>
            <a:ext cx="5449824" cy="1920240"/>
          </a:xfrm>
          <a:prstGeom prst="rect">
            <a:avLst/>
          </a:prstGeom>
          <a:noFill/>
          <a:ln/>
        </p:spPr>
        <p:txBody>
          <a:bodyPr wrap="square" lIns="635" tIns="635" rIns="635" bIns="635" rtlCol="0" anchor="t"/>
          <a:lstStyle/>
          <a:p>
            <a:pPr indent="0" marL="0" eaLnBrk="0">
              <a:buNone/>
            </a:pPr>
            <a:r>
              <a:rPr lang="ko-KR" altLang="en-US" sz="1300" dirty="0">
                <a:solidFill>
                  <a:schemeClr val="accent3"/>
                </a:solidFill>
                <a:latin typeface="Consolas" pitchFamily="34" charset="0"/>
                <a:ea typeface="Consolas" pitchFamily="34" charset="-122"/>
                <a:cs typeface="Consolas" pitchFamily="34" charset="-120"/>
              </a:rPr>
              <a:t>// 주문이 부를 게임 기능</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void SetHealth(int wizard, int amount);</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void SetWisdom(int wizard, int amount);</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void SetAgility(int wizard, int amount);</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void PlaySound(int soundId);</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void SpawnParticles(int particleType);</a:t>
            </a:r>
            <a:endParaRPr lang="ko-KR" altLang="en-US" sz="1300" dirty="0"/>
          </a:p>
        </p:txBody>
      </p:sp>
      <p:sp>
        <p:nvSpPr>
          <p:cNvPr id="8" name="codePanel"/>
          <p:cNvSpPr/>
          <p:nvPr/>
        </p:nvSpPr>
        <p:spPr>
          <a:xfrm>
            <a:off x="6492240" y="1645920"/>
            <a:ext cx="5150815" cy="2103120"/>
          </a:xfrm>
          <a:prstGeom prst="roundRect">
            <a:avLst>
              <a:gd name="adj" fmla="val 3478"/>
            </a:avLst>
          </a:prstGeom>
          <a:solidFill>
            <a:schemeClr val="tx1"/>
          </a:solidFill>
          <a:ln w="12700">
            <a:solidFill>
              <a:schemeClr val="tx1"/>
            </a:solidFill>
            <a:prstDash val="solid"/>
          </a:ln>
        </p:spPr>
      </p:sp>
      <p:sp>
        <p:nvSpPr>
          <p:cNvPr id="9" name="code"/>
          <p:cNvSpPr txBox="1"/>
          <p:nvPr/>
        </p:nvSpPr>
        <p:spPr>
          <a:xfrm>
            <a:off x="6601968" y="1737360"/>
            <a:ext cx="4931359" cy="1920240"/>
          </a:xfrm>
          <a:prstGeom prst="rect">
            <a:avLst/>
          </a:prstGeom>
          <a:noFill/>
          <a:ln/>
        </p:spPr>
        <p:txBody>
          <a:bodyPr wrap="square" lIns="635" tIns="635" rIns="635" bIns="635" rtlCol="0" anchor="t"/>
          <a:lstStyle/>
          <a:p>
            <a:pPr indent="0" marL="0" eaLnBrk="0">
              <a:buNone/>
            </a:pPr>
            <a:r>
              <a:rPr lang="ko-KR" altLang="en-US" sz="1300" dirty="0">
                <a:solidFill>
                  <a:schemeClr val="bg1"/>
                </a:solidFill>
                <a:latin typeface="Consolas" pitchFamily="34" charset="0"/>
                <a:ea typeface="Consolas" pitchFamily="34" charset="-122"/>
                <a:cs typeface="Consolas" pitchFamily="34" charset="-120"/>
              </a:rPr>
              <a:t>public enum Instruction : byte</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SetHealth      = 0x00,</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SetWisdom      = 0x01,</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SetAgility     = 0x02,</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PlaySound      = 0x03,</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SpawnParticles = 0x04</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p:txBody>
      </p:sp>
      <p:sp>
        <p:nvSpPr>
          <p:cNvPr id="10" name="Text 7"/>
          <p:cNvSpPr txBox="1"/>
          <p:nvPr/>
        </p:nvSpPr>
        <p:spPr>
          <a:xfrm>
            <a:off x="548640" y="3794760"/>
            <a:ext cx="11094415" cy="256032"/>
          </a:xfrm>
          <a:prstGeom prst="rect">
            <a:avLst/>
          </a:prstGeom>
          <a:noFill/>
          <a:ln/>
        </p:spPr>
        <p:txBody>
          <a:bodyPr wrap="square" lIns="0" tIns="0" rIns="0" bIns="0" rtlCol="0" anchor="t"/>
          <a:lstStyle/>
          <a:p>
            <a:pPr algn="r" indent="0" marL="0" eaLnBrk="0">
              <a:buNone/>
            </a:pPr>
            <a:r>
              <a:rPr lang="ko-KR" altLang="en-US" sz="1100" dirty="0">
                <a:solidFill>
                  <a:schemeClr val="accent5"/>
                </a:solidFill>
              </a:rPr>
              <a:t>원서 예제를 C#으로 옮긴 코드</a:t>
            </a:r>
            <a:endParaRPr lang="ko-KR" altLang="en-US" sz="1100" dirty="0"/>
          </a:p>
        </p:txBody>
      </p:sp>
      <p:sp>
        <p:nvSpPr>
          <p:cNvPr id="11" name="card"/>
          <p:cNvSpPr/>
          <p:nvPr/>
        </p:nvSpPr>
        <p:spPr>
          <a:xfrm>
            <a:off x="548640" y="4160520"/>
            <a:ext cx="3576218" cy="1508760"/>
          </a:xfrm>
          <a:prstGeom prst="roundRect">
            <a:avLst>
              <a:gd name="adj" fmla="val 6061"/>
            </a:avLst>
          </a:prstGeom>
          <a:solidFill>
            <a:schemeClr val="bg2"/>
          </a:solidFill>
          <a:ln w="12700">
            <a:solidFill>
              <a:schemeClr val="bg2"/>
            </a:solidFill>
            <a:prstDash val="solid"/>
          </a:ln>
        </p:spPr>
      </p:sp>
      <p:sp>
        <p:nvSpPr>
          <p:cNvPr id="12" name="Text 9"/>
          <p:cNvSpPr txBox="1"/>
          <p:nvPr/>
        </p:nvSpPr>
        <p:spPr>
          <a:xfrm>
            <a:off x="777240" y="4379976"/>
            <a:ext cx="3164738"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wizard 매개변수</a:t>
            </a:r>
            <a:endParaRPr lang="ko-KR" altLang="en-US" sz="1700" dirty="0"/>
          </a:p>
        </p:txBody>
      </p:sp>
      <p:sp>
        <p:nvSpPr>
          <p:cNvPr id="13" name="Text 10"/>
          <p:cNvSpPr txBox="1"/>
          <p:nvPr/>
        </p:nvSpPr>
        <p:spPr>
          <a:xfrm>
            <a:off x="777240" y="4892040"/>
            <a:ext cx="3119018" cy="640080"/>
          </a:xfrm>
          <a:prstGeom prst="rect">
            <a:avLst/>
          </a:prstGeom>
          <a:noFill/>
          <a:ln/>
        </p:spPr>
        <p:txBody>
          <a:bodyPr wrap="square" lIns="0" tIns="0" rIns="0" bIns="0" rtlCol="0" anchor="t"/>
          <a:lstStyle/>
          <a:p>
            <a:pPr indent="0" marL="0" eaLnBrk="0">
              <a:buNone/>
            </a:pPr>
            <a:r>
              <a:rPr lang="ko-KR" altLang="en-US" sz="1400" dirty="0">
                <a:solidFill>
                  <a:schemeClr val="tx2"/>
                </a:solidFill>
              </a:rPr>
              <a:t>0은 플레이어의 마법사, 1은 상대 마법사이다.</a:t>
            </a:r>
            <a:endParaRPr lang="ko-KR" altLang="en-US" sz="1400" dirty="0"/>
          </a:p>
        </p:txBody>
      </p:sp>
      <p:sp>
        <p:nvSpPr>
          <p:cNvPr id="14" name="card"/>
          <p:cNvSpPr/>
          <p:nvPr/>
        </p:nvSpPr>
        <p:spPr>
          <a:xfrm>
            <a:off x="4307738" y="4160520"/>
            <a:ext cx="3576218" cy="1508760"/>
          </a:xfrm>
          <a:prstGeom prst="roundRect">
            <a:avLst>
              <a:gd name="adj" fmla="val 6061"/>
            </a:avLst>
          </a:prstGeom>
          <a:solidFill>
            <a:schemeClr val="bg2"/>
          </a:solidFill>
          <a:ln w="12700">
            <a:solidFill>
              <a:schemeClr val="bg2"/>
            </a:solidFill>
            <a:prstDash val="solid"/>
          </a:ln>
        </p:spPr>
      </p:sp>
      <p:sp>
        <p:nvSpPr>
          <p:cNvPr id="15" name="Text 12"/>
          <p:cNvSpPr txBox="1"/>
          <p:nvPr/>
        </p:nvSpPr>
        <p:spPr>
          <a:xfrm>
            <a:off x="4536338" y="4379976"/>
            <a:ext cx="3164738"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한 바이트 명령</a:t>
            </a:r>
            <a:endParaRPr lang="ko-KR" altLang="en-US" sz="1700" dirty="0"/>
          </a:p>
        </p:txBody>
      </p:sp>
      <p:sp>
        <p:nvSpPr>
          <p:cNvPr id="16" name="Text 13"/>
          <p:cNvSpPr txBox="1"/>
          <p:nvPr/>
        </p:nvSpPr>
        <p:spPr>
          <a:xfrm>
            <a:off x="4536338" y="4892040"/>
            <a:ext cx="3119018" cy="640080"/>
          </a:xfrm>
          <a:prstGeom prst="rect">
            <a:avLst/>
          </a:prstGeom>
          <a:noFill/>
          <a:ln/>
        </p:spPr>
        <p:txBody>
          <a:bodyPr wrap="square" lIns="0" tIns="0" rIns="0" bIns="0" rtlCol="0" anchor="t"/>
          <a:lstStyle/>
          <a:p>
            <a:pPr indent="0" marL="0" eaLnBrk="0">
              <a:buNone/>
            </a:pPr>
            <a:r>
              <a:rPr lang="ko-KR" altLang="en-US" sz="1400" dirty="0">
                <a:solidFill>
                  <a:schemeClr val="tx2"/>
                </a:solidFill>
              </a:rPr>
              <a:t>명령이 다섯 가지뿐이라 byte 하나에 들어간다.</a:t>
            </a:r>
            <a:endParaRPr lang="ko-KR" altLang="en-US" sz="1400" dirty="0"/>
          </a:p>
        </p:txBody>
      </p:sp>
      <p:sp>
        <p:nvSpPr>
          <p:cNvPr id="17" name="card"/>
          <p:cNvSpPr/>
          <p:nvPr/>
        </p:nvSpPr>
        <p:spPr>
          <a:xfrm>
            <a:off x="8066837" y="4160520"/>
            <a:ext cx="3576218" cy="1508760"/>
          </a:xfrm>
          <a:prstGeom prst="roundRect">
            <a:avLst>
              <a:gd name="adj" fmla="val 6061"/>
            </a:avLst>
          </a:prstGeom>
          <a:solidFill>
            <a:schemeClr val="bg2"/>
          </a:solidFill>
          <a:ln w="12700">
            <a:solidFill>
              <a:schemeClr val="bg2"/>
            </a:solidFill>
            <a:prstDash val="solid"/>
          </a:ln>
        </p:spPr>
      </p:sp>
      <p:sp>
        <p:nvSpPr>
          <p:cNvPr id="18" name="Text 15"/>
          <p:cNvSpPr txBox="1"/>
          <p:nvPr/>
        </p:nvSpPr>
        <p:spPr>
          <a:xfrm>
            <a:off x="8295437" y="4379976"/>
            <a:ext cx="3164738"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C#의 IL도 같다</a:t>
            </a:r>
            <a:endParaRPr lang="ko-KR" altLang="en-US" sz="1700" dirty="0"/>
          </a:p>
        </p:txBody>
      </p:sp>
      <p:sp>
        <p:nvSpPr>
          <p:cNvPr id="19" name="Text 16"/>
          <p:cNvSpPr txBox="1"/>
          <p:nvPr/>
        </p:nvSpPr>
        <p:spPr>
          <a:xfrm>
            <a:off x="8295437" y="4892040"/>
            <a:ext cx="3119018" cy="640080"/>
          </a:xfrm>
          <a:prstGeom prst="rect">
            <a:avLst/>
          </a:prstGeom>
          <a:noFill/>
          <a:ln/>
        </p:spPr>
        <p:txBody>
          <a:bodyPr wrap="square" lIns="0" tIns="0" rIns="0" bIns="0" rtlCol="0" anchor="t"/>
          <a:lstStyle/>
          <a:p>
            <a:pPr indent="0" marL="0" eaLnBrk="0">
              <a:buNone/>
            </a:pPr>
            <a:r>
              <a:rPr lang="ko-KR" altLang="en-US" sz="1400" dirty="0">
                <a:solidFill>
                  <a:schemeClr val="tx2"/>
                </a:solidFill>
              </a:rPr>
              <a:t>.NET의 공용 언어 런타임도 대부분 한 바이트 명령을 쓴다.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12</a:t>
            </a:fld>
            <a:endParaRPr lang="ko-KR"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첫 가상 기계</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반복문으로 바이트를 하나씩 읽고, switch로 API를 부른다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고정된 값만 쓰는 이 기계로는 무엇을 할 수 없을까?</a:t>
            </a:r>
            <a:endParaRPr lang="ko-KR" altLang="en-US" sz="1500" dirty="0"/>
          </a:p>
        </p:txBody>
      </p:sp>
      <p:sp>
        <p:nvSpPr>
          <p:cNvPr id="6" name="codePanel"/>
          <p:cNvSpPr/>
          <p:nvPr/>
        </p:nvSpPr>
        <p:spPr>
          <a:xfrm>
            <a:off x="548640" y="1572768"/>
            <a:ext cx="6766560" cy="4206240"/>
          </a:xfrm>
          <a:prstGeom prst="roundRect">
            <a:avLst>
              <a:gd name="adj" fmla="val 1739"/>
            </a:avLst>
          </a:prstGeom>
          <a:solidFill>
            <a:schemeClr val="tx1"/>
          </a:solidFill>
          <a:ln w="12700">
            <a:solidFill>
              <a:schemeClr val="tx1"/>
            </a:solidFill>
            <a:prstDash val="solid"/>
          </a:ln>
        </p:spPr>
      </p:sp>
      <p:sp>
        <p:nvSpPr>
          <p:cNvPr id="7" name="code"/>
          <p:cNvSpPr txBox="1"/>
          <p:nvPr/>
        </p:nvSpPr>
        <p:spPr>
          <a:xfrm>
            <a:off x="658368" y="1664208"/>
            <a:ext cx="6547104" cy="4023360"/>
          </a:xfrm>
          <a:prstGeom prst="rect">
            <a:avLst/>
          </a:prstGeom>
          <a:noFill/>
          <a:ln/>
        </p:spPr>
        <p:txBody>
          <a:bodyPr wrap="square" lIns="635" tIns="635" rIns="635" bIns="635" rtlCol="0" anchor="t"/>
          <a:lstStyle/>
          <a:p>
            <a:pPr indent="0" marL="0" eaLnBrk="0">
              <a:buNone/>
            </a:pPr>
            <a:r>
              <a:rPr lang="ko-KR" altLang="en-US" sz="1150" dirty="0">
                <a:solidFill>
                  <a:schemeClr val="bg1"/>
                </a:solidFill>
                <a:latin typeface="Consolas" pitchFamily="34" charset="0"/>
                <a:ea typeface="Consolas" pitchFamily="34" charset="-122"/>
                <a:cs typeface="Consolas" pitchFamily="34" charset="-120"/>
              </a:rPr>
              <a:t>public class VM</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public void Interpret(byte[] bytecode)</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b="1" dirty="0">
                <a:solidFill>
                  <a:schemeClr val="accent4"/>
                </a:solidFill>
                <a:latin typeface="Consolas" pitchFamily="34" charset="0"/>
                <a:ea typeface="Consolas" pitchFamily="34" charset="-122"/>
                <a:cs typeface="Consolas" pitchFamily="34" charset="-120"/>
              </a:rPr>
              <a:t>        for (int i = 0; i &lt; bytecode.Length; i++)</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b="1" dirty="0">
                <a:solidFill>
                  <a:schemeClr val="accent4"/>
                </a:solidFill>
                <a:latin typeface="Consolas" pitchFamily="34" charset="0"/>
                <a:ea typeface="Consolas" pitchFamily="34" charset="-122"/>
                <a:cs typeface="Consolas" pitchFamily="34" charset="-120"/>
              </a:rPr>
              <a:t>            var instruction = (Instruction)bytecode[i];</a:t>
            </a:r>
            <a:endParaRPr lang="ko-KR" altLang="en-US" sz="1150" dirty="0"/>
          </a:p>
          <a:p>
            <a:pPr indent="0" marL="0" eaLnBrk="0">
              <a:buNone/>
            </a:pPr>
            <a:r>
              <a:rPr lang="ko-KR" altLang="en-US" sz="1150" b="1" dirty="0">
                <a:solidFill>
                  <a:schemeClr val="accent4"/>
                </a:solidFill>
                <a:latin typeface="Consolas" pitchFamily="34" charset="0"/>
                <a:ea typeface="Consolas" pitchFamily="34" charset="-122"/>
                <a:cs typeface="Consolas" pitchFamily="34" charset="-120"/>
              </a:rPr>
              <a:t>            switch (instruction)</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case Instruction.SetHealth:</a:t>
            </a:r>
            <a:endParaRPr lang="ko-KR" altLang="en-US" sz="1150" dirty="0"/>
          </a:p>
          <a:p>
            <a:pPr indent="0" marL="0" eaLnBrk="0">
              <a:buNone/>
            </a:pPr>
            <a:r>
              <a:rPr lang="ko-KR" altLang="en-US" sz="1150" b="1" dirty="0">
                <a:solidFill>
                  <a:schemeClr val="accent4"/>
                </a:solidFill>
                <a:latin typeface="Consolas" pitchFamily="34" charset="0"/>
                <a:ea typeface="Consolas" pitchFamily="34" charset="-122"/>
                <a:cs typeface="Consolas" pitchFamily="34" charset="-120"/>
              </a:rPr>
              <a:t>                    SetHealth(0, 100);</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break;</a:t>
            </a:r>
            <a:endParaRPr lang="ko-KR" altLang="en-US" sz="1150" dirty="0"/>
          </a:p>
          <a:p>
            <a:pPr indent="0" marL="0" eaLnBrk="0">
              <a:buNone/>
            </a:pPr>
            <a:r>
              <a:rPr lang="ko-KR" altLang="en-US" sz="1150" dirty="0">
                <a:solidFill>
                  <a:schemeClr val="accent3"/>
                </a:solidFill>
                <a:latin typeface="Consolas" pitchFamily="34" charset="0"/>
                <a:ea typeface="Consolas" pitchFamily="34" charset="-122"/>
                <a:cs typeface="Consolas" pitchFamily="34" charset="-120"/>
              </a:rPr>
              <a:t>                // SetWisdom, SetAgility도 같은 모양이다</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case Instruction.PlaySound:</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PlaySound(SoundBang);</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break;</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case Instruction.SpawnParticles:</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SpawnParticles(ParticleFlame);</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break;</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a:t>
            </a:r>
            <a:endParaRPr lang="ko-KR" altLang="en-US" sz="1150" dirty="0"/>
          </a:p>
        </p:txBody>
      </p:sp>
      <p:sp>
        <p:nvSpPr>
          <p:cNvPr id="8" name="codeCaption"/>
          <p:cNvSpPr txBox="1"/>
          <p:nvPr/>
        </p:nvSpPr>
        <p:spPr>
          <a:xfrm>
            <a:off x="4206240" y="1664208"/>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ard"/>
          <p:cNvSpPr/>
          <p:nvPr/>
        </p:nvSpPr>
        <p:spPr>
          <a:xfrm>
            <a:off x="7680960" y="1572768"/>
            <a:ext cx="3962095" cy="1600200"/>
          </a:xfrm>
          <a:prstGeom prst="roundRect">
            <a:avLst>
              <a:gd name="adj" fmla="val 5714"/>
            </a:avLst>
          </a:prstGeom>
          <a:solidFill>
            <a:schemeClr val="bg2"/>
          </a:solidFill>
          <a:ln w="12700">
            <a:solidFill>
              <a:schemeClr val="bg2"/>
            </a:solidFill>
            <a:prstDash val="solid"/>
          </a:ln>
        </p:spPr>
      </p:sp>
      <p:sp>
        <p:nvSpPr>
          <p:cNvPr id="10" name="Text 7"/>
          <p:cNvSpPr txBox="1"/>
          <p:nvPr/>
        </p:nvSpPr>
        <p:spPr>
          <a:xfrm>
            <a:off x="7909560" y="1792224"/>
            <a:ext cx="3550615" cy="411480"/>
          </a:xfrm>
          <a:prstGeom prst="rect">
            <a:avLst/>
          </a:prstGeom>
          <a:noFill/>
          <a:ln/>
        </p:spPr>
        <p:txBody>
          <a:bodyPr wrap="square" lIns="0" tIns="0" rIns="0" bIns="0" rtlCol="0" anchor="ctr"/>
          <a:lstStyle/>
          <a:p>
            <a:pPr indent="0" marL="0" eaLnBrk="0">
              <a:buNone/>
            </a:pPr>
            <a:r>
              <a:rPr lang="ko-KR" altLang="en-US" sz="1700" b="1" dirty="0">
                <a:solidFill>
                  <a:schemeClr val="accent2"/>
                </a:solidFill>
              </a:rPr>
              <a:t>첫 가상 기계 완성</a:t>
            </a:r>
            <a:endParaRPr lang="ko-KR" altLang="en-US" sz="1700" dirty="0"/>
          </a:p>
        </p:txBody>
      </p:sp>
      <p:sp>
        <p:nvSpPr>
          <p:cNvPr id="11" name="Text 8"/>
          <p:cNvSpPr txBox="1"/>
          <p:nvPr/>
        </p:nvSpPr>
        <p:spPr>
          <a:xfrm>
            <a:off x="7909560" y="2304288"/>
            <a:ext cx="3504895" cy="731520"/>
          </a:xfrm>
          <a:prstGeom prst="rect">
            <a:avLst/>
          </a:prstGeom>
          <a:noFill/>
          <a:ln/>
        </p:spPr>
        <p:txBody>
          <a:bodyPr wrap="square" lIns="0" tIns="0" rIns="0" bIns="0" rtlCol="0" anchor="t"/>
          <a:lstStyle/>
          <a:p>
            <a:pPr indent="0" marL="0" eaLnBrk="0">
              <a:buNone/>
            </a:pPr>
            <a:r>
              <a:rPr lang="ko-KR" altLang="en-US" sz="1400" dirty="0">
                <a:solidFill>
                  <a:schemeClr val="tx2"/>
                </a:solidFill>
              </a:rPr>
              <a:t>반복문 하나와 switch 하나로 바이트를 게임 기능 호출로 바꾼다.</a:t>
            </a:r>
            <a:endParaRPr lang="ko-KR" altLang="en-US" sz="1400" dirty="0"/>
          </a:p>
        </p:txBody>
      </p:sp>
      <p:sp>
        <p:nvSpPr>
          <p:cNvPr id="12" name="card"/>
          <p:cNvSpPr/>
          <p:nvPr/>
        </p:nvSpPr>
        <p:spPr>
          <a:xfrm>
            <a:off x="7680960" y="3337560"/>
            <a:ext cx="3962095" cy="2441448"/>
          </a:xfrm>
          <a:prstGeom prst="roundRect">
            <a:avLst>
              <a:gd name="adj" fmla="val 3745"/>
            </a:avLst>
          </a:prstGeom>
          <a:solidFill>
            <a:schemeClr val="bg2"/>
          </a:solidFill>
          <a:ln w="12700">
            <a:solidFill>
              <a:schemeClr val="bg2"/>
            </a:solidFill>
            <a:prstDash val="solid"/>
          </a:ln>
        </p:spPr>
      </p:sp>
      <p:sp>
        <p:nvSpPr>
          <p:cNvPr id="13" name="Text 10"/>
          <p:cNvSpPr txBox="1"/>
          <p:nvPr/>
        </p:nvSpPr>
        <p:spPr>
          <a:xfrm>
            <a:off x="7909560" y="3557016"/>
            <a:ext cx="3550615" cy="411480"/>
          </a:xfrm>
          <a:prstGeom prst="rect">
            <a:avLst/>
          </a:prstGeom>
          <a:noFill/>
          <a:ln/>
        </p:spPr>
        <p:txBody>
          <a:bodyPr wrap="square" lIns="0" tIns="0" rIns="0" bIns="0" rtlCol="0" anchor="ctr"/>
          <a:lstStyle/>
          <a:p>
            <a:pPr indent="0" marL="0" eaLnBrk="0">
              <a:buNone/>
            </a:pPr>
            <a:r>
              <a:rPr lang="ko-KR" altLang="en-US" sz="1700" b="1" dirty="0">
                <a:solidFill>
                  <a:schemeClr val="accent6"/>
                </a:solidFill>
              </a:rPr>
              <a:t>한계: 매개변수가 없다</a:t>
            </a:r>
            <a:endParaRPr lang="ko-KR" altLang="en-US" sz="1700" dirty="0"/>
          </a:p>
        </p:txBody>
      </p:sp>
      <p:sp>
        <p:nvSpPr>
          <p:cNvPr id="14" name="Text 11"/>
          <p:cNvSpPr txBox="1"/>
          <p:nvPr/>
        </p:nvSpPr>
        <p:spPr>
          <a:xfrm>
            <a:off x="7909560" y="3931920"/>
            <a:ext cx="3504895" cy="1737360"/>
          </a:xfrm>
          <a:prstGeom prst="rect">
            <a:avLst/>
          </a:prstGeom>
          <a:noFill/>
          <a:ln/>
        </p:spPr>
        <p:txBody>
          <a:bodyPr wrap="square" lIns="0" tIns="0" rIns="0" bIns="0" rtlCol="0" anchor="t"/>
          <a:lstStyle/>
          <a:p>
            <a:pPr indent="0" marL="0" eaLnBrk="0">
              <a:spcAft>
                <a:spcPts val="600"/>
              </a:spcAft>
              <a:buNone/>
            </a:pPr>
            <a:r>
              <a:rPr lang="ko-KR" altLang="en-US" sz="1400" dirty="0">
                <a:solidFill>
                  <a:schemeClr val="tx2"/>
                </a:solidFill>
              </a:rPr>
              <a:t>• 상대 마법사를 건드릴 수 없다.</a:t>
            </a:r>
            <a:endParaRPr lang="ko-KR" altLang="en-US" sz="1400" dirty="0"/>
          </a:p>
          <a:p>
            <a:pPr indent="0" marL="0" eaLnBrk="0">
              <a:spcAft>
                <a:spcPts val="600"/>
              </a:spcAft>
              <a:buNone/>
            </a:pPr>
            <a:r>
              <a:rPr lang="ko-KR" altLang="en-US" sz="1400" dirty="0">
                <a:solidFill>
                  <a:schemeClr val="tx2"/>
                </a:solidFill>
              </a:rPr>
              <a:t>• 능력치를 낮출 수 없다. 언제나 100이다.</a:t>
            </a:r>
            <a:endParaRPr lang="ko-KR" altLang="en-US" sz="1400" dirty="0"/>
          </a:p>
          <a:p>
            <a:pPr indent="0" marL="0" eaLnBrk="0">
              <a:spcAft>
                <a:spcPts val="600"/>
              </a:spcAft>
              <a:buNone/>
            </a:pPr>
            <a:r>
              <a:rPr lang="ko-KR" altLang="en-US" sz="1400" dirty="0">
                <a:solidFill>
                  <a:schemeClr val="tx2"/>
                </a:solidFill>
              </a:rPr>
              <a:t>• 소리도 파티클도 하나뿐이다.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13</a:t>
            </a:fld>
            <a:endParaRPr lang="ko-KR"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3부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스택 기계</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스택 기계</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14</a:t>
            </a:fld>
            <a:endParaRPr lang="ko-KR"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스택</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가상 기계가 값을 쌓아 두는 스택을 가진다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명령은 스택에서 매개변수를 어떻게 꺼내 쓸까?</a:t>
            </a:r>
            <a:endParaRPr lang="ko-KR" altLang="en-US" sz="1500" dirty="0"/>
          </a:p>
        </p:txBody>
      </p:sp>
      <p:sp>
        <p:nvSpPr>
          <p:cNvPr id="6" name="codePanel"/>
          <p:cNvSpPr/>
          <p:nvPr/>
        </p:nvSpPr>
        <p:spPr>
          <a:xfrm>
            <a:off x="548640" y="1600200"/>
            <a:ext cx="6583680" cy="4114800"/>
          </a:xfrm>
          <a:prstGeom prst="roundRect">
            <a:avLst>
              <a:gd name="adj" fmla="val 1778"/>
            </a:avLst>
          </a:prstGeom>
          <a:solidFill>
            <a:schemeClr val="tx1"/>
          </a:solidFill>
          <a:ln w="12700">
            <a:solidFill>
              <a:schemeClr val="tx1"/>
            </a:solidFill>
            <a:prstDash val="solid"/>
          </a:ln>
        </p:spPr>
      </p:sp>
      <p:sp>
        <p:nvSpPr>
          <p:cNvPr id="7" name="code"/>
          <p:cNvSpPr txBox="1"/>
          <p:nvPr/>
        </p:nvSpPr>
        <p:spPr>
          <a:xfrm>
            <a:off x="658368" y="1691640"/>
            <a:ext cx="6364224" cy="3931920"/>
          </a:xfrm>
          <a:prstGeom prst="rect">
            <a:avLst/>
          </a:prstGeom>
          <a:noFill/>
          <a:ln/>
        </p:spPr>
        <p:txBody>
          <a:bodyPr wrap="square" lIns="635" tIns="635" rIns="635" bIns="635" rtlCol="0" anchor="t"/>
          <a:lstStyle/>
          <a:p>
            <a:pPr indent="0" marL="0" eaLnBrk="0">
              <a:buNone/>
            </a:pPr>
            <a:r>
              <a:rPr lang="ko-KR" altLang="en-US" sz="1250" dirty="0">
                <a:solidFill>
                  <a:schemeClr val="bg1"/>
                </a:solidFill>
                <a:latin typeface="Consolas" pitchFamily="34" charset="0"/>
                <a:ea typeface="Consolas" pitchFamily="34" charset="-122"/>
                <a:cs typeface="Consolas" pitchFamily="34" charset="-120"/>
              </a:rPr>
              <a:t>public class VM</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a:t>
            </a:r>
            <a:endParaRPr lang="ko-KR" altLang="en-US" sz="1250" dirty="0"/>
          </a:p>
          <a:p>
            <a:pPr indent="0" marL="0" eaLnBrk="0">
              <a:buNone/>
            </a:pPr>
            <a:r>
              <a:rPr lang="ko-KR" altLang="en-US" sz="1250" b="1" dirty="0">
                <a:solidFill>
                  <a:schemeClr val="accent4"/>
                </a:solidFill>
                <a:latin typeface="Consolas" pitchFamily="34" charset="0"/>
                <a:ea typeface="Consolas" pitchFamily="34" charset="-122"/>
                <a:cs typeface="Consolas" pitchFamily="34" charset="-120"/>
              </a:rPr>
              <a:t>    const int MaxStack = 128;</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int _stackSize = 0;</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readonly int[] _stack = new int[MaxStack];</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void Push(int value)</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accent3"/>
                </a:solidFill>
                <a:latin typeface="Consolas" pitchFamily="34" charset="0"/>
                <a:ea typeface="Consolas" pitchFamily="34" charset="-122"/>
                <a:cs typeface="Consolas" pitchFamily="34" charset="-120"/>
              </a:rPr>
              <a:t>        // 스택이 넘치지 않는지 확인한다</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Debug.Assert(_stackSize &lt; MaxStack);</a:t>
            </a:r>
            <a:endParaRPr lang="ko-KR" altLang="en-US" sz="1250" dirty="0"/>
          </a:p>
          <a:p>
            <a:pPr indent="0" marL="0" eaLnBrk="0">
              <a:buNone/>
            </a:pPr>
            <a:r>
              <a:rPr lang="ko-KR" altLang="en-US" sz="1250" b="1" dirty="0">
                <a:solidFill>
                  <a:schemeClr val="accent4"/>
                </a:solidFill>
                <a:latin typeface="Consolas" pitchFamily="34" charset="0"/>
                <a:ea typeface="Consolas" pitchFamily="34" charset="-122"/>
                <a:cs typeface="Consolas" pitchFamily="34" charset="-120"/>
              </a:rPr>
              <a:t>        _stack[_stackSize++] = value;</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int Pop()</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accent3"/>
                </a:solidFill>
                <a:latin typeface="Consolas" pitchFamily="34" charset="0"/>
                <a:ea typeface="Consolas" pitchFamily="34" charset="-122"/>
                <a:cs typeface="Consolas" pitchFamily="34" charset="-120"/>
              </a:rPr>
              <a:t>        // 스택이 비어 있지 않은지 확인한다</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Debug.Assert(_stackSize &gt; 0);</a:t>
            </a:r>
            <a:endParaRPr lang="ko-KR" altLang="en-US" sz="1250" dirty="0"/>
          </a:p>
          <a:p>
            <a:pPr indent="0" marL="0" eaLnBrk="0">
              <a:buNone/>
            </a:pPr>
            <a:r>
              <a:rPr lang="ko-KR" altLang="en-US" sz="1250" b="1" dirty="0">
                <a:solidFill>
                  <a:schemeClr val="accent4"/>
                </a:solidFill>
                <a:latin typeface="Consolas" pitchFamily="34" charset="0"/>
                <a:ea typeface="Consolas" pitchFamily="34" charset="-122"/>
                <a:cs typeface="Consolas" pitchFamily="34" charset="-120"/>
              </a:rPr>
              <a:t>        return _stack[--_stackSize];</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a:t>
            </a:r>
            <a:endParaRPr lang="ko-KR" altLang="en-US" sz="1250" dirty="0"/>
          </a:p>
        </p:txBody>
      </p:sp>
      <p:sp>
        <p:nvSpPr>
          <p:cNvPr id="8" name="codeCaption"/>
          <p:cNvSpPr txBox="1"/>
          <p:nvPr/>
        </p:nvSpPr>
        <p:spPr>
          <a:xfrm>
            <a:off x="4023360" y="169164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ard"/>
          <p:cNvSpPr/>
          <p:nvPr/>
        </p:nvSpPr>
        <p:spPr>
          <a:xfrm>
            <a:off x="7498080" y="1600200"/>
            <a:ext cx="4144975" cy="1600200"/>
          </a:xfrm>
          <a:prstGeom prst="roundRect">
            <a:avLst>
              <a:gd name="adj" fmla="val 5714"/>
            </a:avLst>
          </a:prstGeom>
          <a:solidFill>
            <a:schemeClr val="bg2"/>
          </a:solidFill>
          <a:ln w="12700">
            <a:solidFill>
              <a:schemeClr val="bg2"/>
            </a:solidFill>
            <a:prstDash val="solid"/>
          </a:ln>
        </p:spPr>
      </p:sp>
      <p:sp>
        <p:nvSpPr>
          <p:cNvPr id="10" name="Text 7"/>
          <p:cNvSpPr txBox="1"/>
          <p:nvPr/>
        </p:nvSpPr>
        <p:spPr>
          <a:xfrm>
            <a:off x="7726680" y="1819656"/>
            <a:ext cx="373349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왜 스택인가</a:t>
            </a:r>
            <a:endParaRPr lang="ko-KR" altLang="en-US" sz="1700" dirty="0"/>
          </a:p>
        </p:txBody>
      </p:sp>
      <p:sp>
        <p:nvSpPr>
          <p:cNvPr id="11" name="Text 8"/>
          <p:cNvSpPr txBox="1"/>
          <p:nvPr/>
        </p:nvSpPr>
        <p:spPr>
          <a:xfrm>
            <a:off x="7726680" y="2331720"/>
            <a:ext cx="3687775" cy="731520"/>
          </a:xfrm>
          <a:prstGeom prst="rect">
            <a:avLst/>
          </a:prstGeom>
          <a:noFill/>
          <a:ln/>
        </p:spPr>
        <p:txBody>
          <a:bodyPr wrap="square" lIns="0" tIns="0" rIns="0" bIns="0" rtlCol="0" anchor="t"/>
          <a:lstStyle/>
          <a:p>
            <a:pPr indent="0" marL="0" eaLnBrk="0">
              <a:buNone/>
            </a:pPr>
            <a:r>
              <a:rPr lang="ko-KR" altLang="en-US" sz="1400" dirty="0">
                <a:solidFill>
                  <a:schemeClr val="tx2"/>
                </a:solidFill>
              </a:rPr>
              <a:t>안쪽 식의 결과가 바깥 식으로 흐르는 순서를, 평평한 명령 목록에서는 스택이 맡는다.</a:t>
            </a:r>
            <a:endParaRPr lang="ko-KR" altLang="en-US" sz="1400" dirty="0"/>
          </a:p>
        </p:txBody>
      </p:sp>
      <p:sp>
        <p:nvSpPr>
          <p:cNvPr id="12" name="card"/>
          <p:cNvSpPr/>
          <p:nvPr/>
        </p:nvSpPr>
        <p:spPr>
          <a:xfrm>
            <a:off x="7498080" y="3337560"/>
            <a:ext cx="4144975" cy="1143000"/>
          </a:xfrm>
          <a:prstGeom prst="roundRect">
            <a:avLst>
              <a:gd name="adj" fmla="val 8000"/>
            </a:avLst>
          </a:prstGeom>
          <a:solidFill>
            <a:schemeClr val="bg2"/>
          </a:solidFill>
          <a:ln w="12700">
            <a:solidFill>
              <a:schemeClr val="bg2"/>
            </a:solidFill>
            <a:prstDash val="solid"/>
          </a:ln>
        </p:spPr>
      </p:sp>
      <p:sp>
        <p:nvSpPr>
          <p:cNvPr id="13" name="Text 10"/>
          <p:cNvSpPr txBox="1"/>
          <p:nvPr/>
        </p:nvSpPr>
        <p:spPr>
          <a:xfrm>
            <a:off x="7726680" y="3557016"/>
            <a:ext cx="373349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고정 배열</a:t>
            </a:r>
            <a:endParaRPr lang="ko-KR" altLang="en-US" sz="1700" dirty="0"/>
          </a:p>
        </p:txBody>
      </p:sp>
      <p:sp>
        <p:nvSpPr>
          <p:cNvPr id="14" name="Text 11"/>
          <p:cNvSpPr txBox="1"/>
          <p:nvPr/>
        </p:nvSpPr>
        <p:spPr>
          <a:xfrm>
            <a:off x="7726680" y="4069080"/>
            <a:ext cx="3687775" cy="274320"/>
          </a:xfrm>
          <a:prstGeom prst="rect">
            <a:avLst/>
          </a:prstGeom>
          <a:noFill/>
          <a:ln/>
        </p:spPr>
        <p:txBody>
          <a:bodyPr wrap="square" lIns="0" tIns="0" rIns="0" bIns="0" rtlCol="0" anchor="t"/>
          <a:lstStyle/>
          <a:p>
            <a:pPr indent="0" marL="0" eaLnBrk="0">
              <a:buNone/>
            </a:pPr>
            <a:r>
              <a:rPr lang="ko-KR" altLang="en-US" sz="1400" dirty="0">
                <a:solidFill>
                  <a:schemeClr val="tx2"/>
                </a:solidFill>
              </a:rPr>
              <a:t>크기 128로 쓸 수 있는 메모리를 정한다.</a:t>
            </a:r>
            <a:endParaRPr lang="ko-KR" altLang="en-US" sz="1400" dirty="0"/>
          </a:p>
        </p:txBody>
      </p:sp>
      <p:sp>
        <p:nvSpPr>
          <p:cNvPr id="15" name="card"/>
          <p:cNvSpPr/>
          <p:nvPr/>
        </p:nvSpPr>
        <p:spPr>
          <a:xfrm>
            <a:off x="7498080" y="4617720"/>
            <a:ext cx="4144975" cy="1097280"/>
          </a:xfrm>
          <a:prstGeom prst="roundRect">
            <a:avLst>
              <a:gd name="adj" fmla="val 8333"/>
            </a:avLst>
          </a:prstGeom>
          <a:solidFill>
            <a:schemeClr val="bg2"/>
          </a:solidFill>
          <a:ln w="12700">
            <a:solidFill>
              <a:schemeClr val="bg2"/>
            </a:solidFill>
            <a:prstDash val="solid"/>
          </a:ln>
        </p:spPr>
      </p:sp>
      <p:sp>
        <p:nvSpPr>
          <p:cNvPr id="16" name="Text 13"/>
          <p:cNvSpPr txBox="1"/>
          <p:nvPr/>
        </p:nvSpPr>
        <p:spPr>
          <a:xfrm>
            <a:off x="7726680" y="4837176"/>
            <a:ext cx="373349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Stack&lt;int&gt;로도 된다</a:t>
            </a:r>
            <a:endParaRPr lang="ko-KR" altLang="en-US" sz="1700" dirty="0"/>
          </a:p>
        </p:txBody>
      </p:sp>
      <p:sp>
        <p:nvSpPr>
          <p:cNvPr id="17" name="Text 14"/>
          <p:cNvSpPr txBox="1"/>
          <p:nvPr/>
        </p:nvSpPr>
        <p:spPr>
          <a:xfrm>
            <a:off x="7726680" y="5349240"/>
            <a:ext cx="3687775" cy="228600"/>
          </a:xfrm>
          <a:prstGeom prst="rect">
            <a:avLst/>
          </a:prstGeom>
          <a:noFill/>
          <a:ln/>
        </p:spPr>
        <p:txBody>
          <a:bodyPr wrap="square" lIns="0" tIns="0" rIns="0" bIns="0" rtlCol="0" anchor="t"/>
          <a:lstStyle/>
          <a:p>
            <a:pPr indent="0" marL="0" eaLnBrk="0">
              <a:buNone/>
            </a:pPr>
            <a:r>
              <a:rPr lang="ko-KR" altLang="en-US" sz="1400" dirty="0">
                <a:solidFill>
                  <a:schemeClr val="tx2"/>
                </a:solidFill>
              </a:rPr>
              <a:t>C# 컬렉션이 Push, Pop을 제공한다.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15</a:t>
            </a:fld>
            <a:endParaRPr lang="ko-KR"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매개변수 꺼내기</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명령은 필요한 값을 스택에서 꺼내 쓴다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그런데 스택에 값을 처음 넣는 명령은 무엇일까?</a:t>
            </a:r>
            <a:endParaRPr lang="ko-KR" altLang="en-US" sz="1500" dirty="0"/>
          </a:p>
        </p:txBody>
      </p:sp>
      <p:sp>
        <p:nvSpPr>
          <p:cNvPr id="6" name="codePanel"/>
          <p:cNvSpPr/>
          <p:nvPr/>
        </p:nvSpPr>
        <p:spPr>
          <a:xfrm>
            <a:off x="548640" y="1600200"/>
            <a:ext cx="6583680" cy="4114800"/>
          </a:xfrm>
          <a:prstGeom prst="roundRect">
            <a:avLst>
              <a:gd name="adj" fmla="val 1778"/>
            </a:avLst>
          </a:prstGeom>
          <a:solidFill>
            <a:schemeClr val="tx1"/>
          </a:solidFill>
          <a:ln w="12700">
            <a:solidFill>
              <a:schemeClr val="tx1"/>
            </a:solidFill>
            <a:prstDash val="solid"/>
          </a:ln>
        </p:spPr>
      </p:sp>
      <p:sp>
        <p:nvSpPr>
          <p:cNvPr id="7" name="code"/>
          <p:cNvSpPr txBox="1"/>
          <p:nvPr/>
        </p:nvSpPr>
        <p:spPr>
          <a:xfrm>
            <a:off x="658368" y="1691640"/>
            <a:ext cx="6364224" cy="3931920"/>
          </a:xfrm>
          <a:prstGeom prst="rect">
            <a:avLst/>
          </a:prstGeom>
          <a:noFill/>
          <a:ln/>
        </p:spPr>
        <p:txBody>
          <a:bodyPr wrap="square" lIns="635" tIns="635" rIns="635" bIns="635" rtlCol="0" anchor="t"/>
          <a:lstStyle/>
          <a:p>
            <a:pPr indent="0" marL="0" eaLnBrk="0">
              <a:buNone/>
            </a:pPr>
            <a:r>
              <a:rPr lang="ko-KR" altLang="en-US" sz="1300" dirty="0">
                <a:solidFill>
                  <a:schemeClr val="bg1"/>
                </a:solidFill>
                <a:latin typeface="Consolas" pitchFamily="34" charset="0"/>
                <a:ea typeface="Consolas" pitchFamily="34" charset="-122"/>
                <a:cs typeface="Consolas" pitchFamily="34" charset="-120"/>
              </a:rPr>
              <a:t>switch (instruction)</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case Instruction.SetHealth:</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int amount = Pop();</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int wizard = Pop();</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SetHealth(wizard, amount);</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break;</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accent3"/>
                </a:solidFill>
                <a:latin typeface="Consolas" pitchFamily="34" charset="0"/>
                <a:ea typeface="Consolas" pitchFamily="34" charset="-122"/>
                <a:cs typeface="Consolas" pitchFamily="34" charset="-120"/>
              </a:rPr>
              <a:t>    // SetWisdom, SetAgility도 같은 모양이다</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case Instruction.PlaySound:</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PlaySound(Pop());</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break;</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case Instruction.SpawnParticles:</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SpawnParticles(Pop());</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break;</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p:txBody>
      </p:sp>
      <p:sp>
        <p:nvSpPr>
          <p:cNvPr id="8" name="codeCaption"/>
          <p:cNvSpPr txBox="1"/>
          <p:nvPr/>
        </p:nvSpPr>
        <p:spPr>
          <a:xfrm>
            <a:off x="4023360" y="169164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Text 6"/>
          <p:cNvSpPr txBox="1"/>
          <p:nvPr/>
        </p:nvSpPr>
        <p:spPr>
          <a:xfrm>
            <a:off x="7498080" y="1600200"/>
            <a:ext cx="4144975" cy="320040"/>
          </a:xfrm>
          <a:prstGeom prst="rect">
            <a:avLst/>
          </a:prstGeom>
          <a:noFill/>
          <a:ln/>
        </p:spPr>
        <p:txBody>
          <a:bodyPr wrap="square" lIns="0" tIns="0" rIns="0" bIns="0" rtlCol="0" anchor="t"/>
          <a:lstStyle/>
          <a:p>
            <a:pPr indent="0" marL="0" eaLnBrk="0">
              <a:buNone/>
            </a:pPr>
            <a:r>
              <a:rPr lang="ko-KR" altLang="en-US" sz="1400" b="1" dirty="0">
                <a:solidFill>
                  <a:schemeClr val="tx1"/>
                </a:solidFill>
              </a:rPr>
              <a:t>SetHealth 직전의 스택</a:t>
            </a:r>
            <a:endParaRPr lang="ko-KR" altLang="en-US" sz="1400" dirty="0"/>
          </a:p>
        </p:txBody>
      </p:sp>
      <p:sp>
        <p:nvSpPr>
          <p:cNvPr id="10" name="Shape 7"/>
          <p:cNvSpPr/>
          <p:nvPr/>
        </p:nvSpPr>
        <p:spPr>
          <a:xfrm>
            <a:off x="7680960" y="2011680"/>
            <a:ext cx="1371600" cy="1325880"/>
          </a:xfrm>
          <a:prstGeom prst="rect">
            <a:avLst/>
          </a:prstGeom>
          <a:solidFill>
            <a:schemeClr val="bg1"/>
          </a:solidFill>
          <a:ln w="15875">
            <a:solidFill>
              <a:schemeClr val="accent3"/>
            </a:solidFill>
            <a:prstDash val="solid"/>
          </a:ln>
        </p:spPr>
      </p:sp>
      <p:sp>
        <p:nvSpPr>
          <p:cNvPr id="11" name="box"/>
          <p:cNvSpPr/>
          <p:nvPr/>
        </p:nvSpPr>
        <p:spPr>
          <a:xfrm>
            <a:off x="7790688" y="2807208"/>
            <a:ext cx="1152144" cy="438912"/>
          </a:xfrm>
          <a:prstGeom prst="roundRect">
            <a:avLst>
              <a:gd name="adj" fmla="val 16667"/>
            </a:avLst>
          </a:prstGeom>
          <a:solidFill>
            <a:schemeClr val="bg2"/>
          </a:solidFill>
          <a:ln w="12700">
            <a:solidFill>
              <a:schemeClr val="bg2"/>
            </a:solidFill>
            <a:prstDash val="solid"/>
          </a:ln>
        </p:spPr>
      </p:sp>
      <p:sp>
        <p:nvSpPr>
          <p:cNvPr id="12" name="Text 9"/>
          <p:cNvSpPr txBox="1"/>
          <p:nvPr/>
        </p:nvSpPr>
        <p:spPr>
          <a:xfrm>
            <a:off x="7790688" y="2807208"/>
            <a:ext cx="1152144" cy="438912"/>
          </a:xfrm>
          <a:prstGeom prst="rect">
            <a:avLst/>
          </a:prstGeom>
          <a:noFill/>
          <a:ln/>
        </p:spPr>
        <p:txBody>
          <a:bodyPr wrap="square" lIns="635" tIns="635" rIns="635" bIns="635" rtlCol="0" anchor="ctr"/>
          <a:lstStyle/>
          <a:p>
            <a:pPr algn="ctr" indent="0" marL="0" eaLnBrk="0">
              <a:buNone/>
            </a:pPr>
            <a:r>
              <a:rPr lang="ko-KR" altLang="en-US" sz="1500" b="1" dirty="0">
                <a:solidFill>
                  <a:schemeClr val="tx1"/>
                </a:solidFill>
              </a:rPr>
              <a:t>0</a:t>
            </a:r>
            <a:endParaRPr lang="ko-KR" altLang="en-US" sz="1500" dirty="0"/>
          </a:p>
        </p:txBody>
      </p:sp>
      <p:sp>
        <p:nvSpPr>
          <p:cNvPr id="13" name="box"/>
          <p:cNvSpPr/>
          <p:nvPr/>
        </p:nvSpPr>
        <p:spPr>
          <a:xfrm>
            <a:off x="7790688" y="2313432"/>
            <a:ext cx="1152144" cy="438912"/>
          </a:xfrm>
          <a:prstGeom prst="roundRect">
            <a:avLst>
              <a:gd name="adj" fmla="val 16667"/>
            </a:avLst>
          </a:prstGeom>
          <a:solidFill>
            <a:schemeClr val="accent2"/>
          </a:solidFill>
          <a:ln w="12700">
            <a:solidFill>
              <a:schemeClr val="accent2"/>
            </a:solidFill>
            <a:prstDash val="solid"/>
          </a:ln>
        </p:spPr>
      </p:sp>
      <p:sp>
        <p:nvSpPr>
          <p:cNvPr id="14" name="Text 11"/>
          <p:cNvSpPr txBox="1"/>
          <p:nvPr/>
        </p:nvSpPr>
        <p:spPr>
          <a:xfrm>
            <a:off x="7790688" y="2313432"/>
            <a:ext cx="1152144" cy="438912"/>
          </a:xfrm>
          <a:prstGeom prst="rect">
            <a:avLst/>
          </a:prstGeom>
          <a:noFill/>
          <a:ln/>
        </p:spPr>
        <p:txBody>
          <a:bodyPr wrap="square" lIns="635" tIns="635" rIns="635" bIns="635" rtlCol="0" anchor="ctr"/>
          <a:lstStyle/>
          <a:p>
            <a:pPr algn="ctr" indent="0" marL="0" eaLnBrk="0">
              <a:buNone/>
            </a:pPr>
            <a:r>
              <a:rPr lang="ko-KR" altLang="en-US" sz="1500" b="1" dirty="0">
                <a:solidFill>
                  <a:schemeClr val="bg1"/>
                </a:solidFill>
              </a:rPr>
              <a:t>10</a:t>
            </a:r>
            <a:endParaRPr lang="ko-KR" altLang="en-US" sz="1500" dirty="0"/>
          </a:p>
        </p:txBody>
      </p:sp>
      <p:sp>
        <p:nvSpPr>
          <p:cNvPr id="15" name="Text 12"/>
          <p:cNvSpPr txBox="1"/>
          <p:nvPr/>
        </p:nvSpPr>
        <p:spPr>
          <a:xfrm>
            <a:off x="9281160" y="2103120"/>
            <a:ext cx="2361895" cy="1188720"/>
          </a:xfrm>
          <a:prstGeom prst="rect">
            <a:avLst/>
          </a:prstGeom>
          <a:noFill/>
          <a:ln/>
        </p:spPr>
        <p:txBody>
          <a:bodyPr wrap="square" lIns="0" tIns="0" rIns="0" bIns="0" rtlCol="0" anchor="ctr"/>
          <a:lstStyle/>
          <a:p>
            <a:pPr indent="0" marL="0" eaLnBrk="0">
              <a:spcAft>
                <a:spcPts val="400"/>
              </a:spcAft>
              <a:buNone/>
            </a:pPr>
            <a:r>
              <a:rPr lang="ko-KR" altLang="en-US" sz="1400" dirty="0">
                <a:solidFill>
                  <a:schemeClr val="tx2"/>
                </a:solidFill>
                <a:latin typeface="Consolas" pitchFamily="34" charset="0"/>
                <a:ea typeface="Consolas" pitchFamily="34" charset="-122"/>
                <a:cs typeface="Consolas" pitchFamily="34" charset="-120"/>
              </a:rPr>
              <a:t>Pop() → 10 = amount</a:t>
            </a:r>
            <a:endParaRPr lang="ko-KR" altLang="en-US" sz="1400" dirty="0"/>
          </a:p>
          <a:p>
            <a:pPr indent="0" marL="0" eaLnBrk="0">
              <a:spcAft>
                <a:spcPts val="400"/>
              </a:spcAft>
              <a:buNone/>
            </a:pPr>
            <a:r>
              <a:rPr lang="ko-KR" altLang="en-US" sz="1400" dirty="0">
                <a:solidFill>
                  <a:schemeClr val="tx2"/>
                </a:solidFill>
                <a:latin typeface="Consolas" pitchFamily="34" charset="0"/>
                <a:ea typeface="Consolas" pitchFamily="34" charset="-122"/>
                <a:cs typeface="Consolas" pitchFamily="34" charset="-120"/>
              </a:rPr>
              <a:t>Pop() → 0 = wizard</a:t>
            </a:r>
            <a:endParaRPr lang="ko-KR" altLang="en-US" sz="1400" dirty="0"/>
          </a:p>
          <a:p>
            <a:pPr indent="0" marL="0" eaLnBrk="0">
              <a:spcAft>
                <a:spcPts val="400"/>
              </a:spcAft>
              <a:buNone/>
            </a:pPr>
            <a:r>
              <a:rPr lang="ko-KR" altLang="en-US" sz="1400" dirty="0">
                <a:solidFill>
                  <a:schemeClr val="tx2"/>
                </a:solidFill>
                <a:latin typeface="Consolas" pitchFamily="34" charset="0"/>
                <a:ea typeface="Consolas" pitchFamily="34" charset="-122"/>
                <a:cs typeface="Consolas" pitchFamily="34" charset="-120"/>
              </a:rPr>
              <a:t>SetHealth(0, 10)</a:t>
            </a:r>
            <a:endParaRPr lang="ko-KR" altLang="en-US" sz="1400" dirty="0"/>
          </a:p>
        </p:txBody>
      </p:sp>
      <p:sp>
        <p:nvSpPr>
          <p:cNvPr id="16" name="card"/>
          <p:cNvSpPr/>
          <p:nvPr/>
        </p:nvSpPr>
        <p:spPr>
          <a:xfrm>
            <a:off x="7498080" y="3611880"/>
            <a:ext cx="4144975" cy="2103120"/>
          </a:xfrm>
          <a:prstGeom prst="roundRect">
            <a:avLst>
              <a:gd name="adj" fmla="val 4348"/>
            </a:avLst>
          </a:prstGeom>
          <a:solidFill>
            <a:schemeClr val="bg2"/>
          </a:solidFill>
          <a:ln w="12700">
            <a:solidFill>
              <a:schemeClr val="bg2"/>
            </a:solidFill>
            <a:prstDash val="solid"/>
          </a:ln>
        </p:spPr>
      </p:sp>
      <p:sp>
        <p:nvSpPr>
          <p:cNvPr id="17" name="Text 14"/>
          <p:cNvSpPr txBox="1"/>
          <p:nvPr/>
        </p:nvSpPr>
        <p:spPr>
          <a:xfrm>
            <a:off x="7726680" y="3831336"/>
            <a:ext cx="373349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꺼내는 순서</a:t>
            </a:r>
            <a:endParaRPr lang="ko-KR" altLang="en-US" sz="1700" dirty="0"/>
          </a:p>
        </p:txBody>
      </p:sp>
      <p:sp>
        <p:nvSpPr>
          <p:cNvPr id="18" name="Text 15"/>
          <p:cNvSpPr txBox="1"/>
          <p:nvPr/>
        </p:nvSpPr>
        <p:spPr>
          <a:xfrm>
            <a:off x="7726680" y="4343400"/>
            <a:ext cx="3687775" cy="1234440"/>
          </a:xfrm>
          <a:prstGeom prst="rect">
            <a:avLst/>
          </a:prstGeom>
          <a:noFill/>
          <a:ln/>
        </p:spPr>
        <p:txBody>
          <a:bodyPr wrap="square" lIns="0" tIns="0" rIns="0" bIns="0" rtlCol="0" anchor="t"/>
          <a:lstStyle/>
          <a:p>
            <a:pPr indent="0" marL="0" eaLnBrk="0">
              <a:buNone/>
            </a:pPr>
            <a:r>
              <a:rPr lang="ko-KR" altLang="en-US" sz="1400" dirty="0">
                <a:solidFill>
                  <a:schemeClr val="tx2"/>
                </a:solidFill>
              </a:rPr>
              <a:t>나중에 넣은 값이 먼저 나온다. 그래서 amount를 먼저, wizard를 나중에 꺼낸다.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16</a:t>
            </a:fld>
            <a:endParaRPr lang="ko-KR"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리터럴</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값은 바이트코드 안, 명령 바로 다음 바이트에 넣는다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명령 세 개를 실행하면 스택은 어떻게 바뀔까?</a:t>
            </a:r>
            <a:endParaRPr lang="ko-KR" altLang="en-US" sz="1500" dirty="0"/>
          </a:p>
        </p:txBody>
      </p:sp>
      <p:sp>
        <p:nvSpPr>
          <p:cNvPr id="6" name="codePanel"/>
          <p:cNvSpPr/>
          <p:nvPr/>
        </p:nvSpPr>
        <p:spPr>
          <a:xfrm>
            <a:off x="548640" y="1600200"/>
            <a:ext cx="6583680" cy="2103120"/>
          </a:xfrm>
          <a:prstGeom prst="roundRect">
            <a:avLst>
              <a:gd name="adj" fmla="val 3478"/>
            </a:avLst>
          </a:prstGeom>
          <a:solidFill>
            <a:schemeClr val="tx1"/>
          </a:solidFill>
          <a:ln w="12700">
            <a:solidFill>
              <a:schemeClr val="tx1"/>
            </a:solidFill>
            <a:prstDash val="solid"/>
          </a:ln>
        </p:spPr>
      </p:sp>
      <p:sp>
        <p:nvSpPr>
          <p:cNvPr id="7" name="code"/>
          <p:cNvSpPr txBox="1"/>
          <p:nvPr/>
        </p:nvSpPr>
        <p:spPr>
          <a:xfrm>
            <a:off x="658368" y="1691640"/>
            <a:ext cx="6364224" cy="1920240"/>
          </a:xfrm>
          <a:prstGeom prst="rect">
            <a:avLst/>
          </a:prstGeom>
          <a:noFill/>
          <a:ln/>
        </p:spPr>
        <p:txBody>
          <a:bodyPr wrap="square" lIns="635" tIns="635" rIns="635" bIns="635" rtlCol="0" anchor="t"/>
          <a:lstStyle/>
          <a:p>
            <a:pPr indent="0" marL="0" eaLnBrk="0">
              <a:buNone/>
            </a:pPr>
            <a:r>
              <a:rPr lang="ko-KR" altLang="en-US" sz="1400" dirty="0">
                <a:solidFill>
                  <a:schemeClr val="bg1"/>
                </a:solidFill>
                <a:latin typeface="Consolas" pitchFamily="34" charset="0"/>
                <a:ea typeface="Consolas" pitchFamily="34" charset="-122"/>
                <a:cs typeface="Consolas" pitchFamily="34" charset="-120"/>
              </a:rPr>
              <a:t>case Instruction.Literal:</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a:t>
            </a:r>
            <a:endParaRPr lang="ko-KR" altLang="en-US" sz="1400" dirty="0"/>
          </a:p>
          <a:p>
            <a:pPr indent="0" marL="0" eaLnBrk="0">
              <a:buNone/>
            </a:pPr>
            <a:r>
              <a:rPr lang="ko-KR" altLang="en-US" sz="1400" dirty="0">
                <a:solidFill>
                  <a:schemeClr val="accent3"/>
                </a:solidFill>
                <a:latin typeface="Consolas" pitchFamily="34" charset="0"/>
                <a:ea typeface="Consolas" pitchFamily="34" charset="-122"/>
                <a:cs typeface="Consolas" pitchFamily="34" charset="-120"/>
              </a:rPr>
              <a:t>    // 바이트코드에서 다음 바이트를 읽는다</a:t>
            </a:r>
            <a:endParaRPr lang="ko-KR" altLang="en-US" sz="1400" dirty="0"/>
          </a:p>
          <a:p>
            <a:pPr indent="0" marL="0" eaLnBrk="0">
              <a:buNone/>
            </a:pPr>
            <a:r>
              <a:rPr lang="ko-KR" altLang="en-US" sz="1400" b="1" dirty="0">
                <a:solidFill>
                  <a:schemeClr val="accent4"/>
                </a:solidFill>
                <a:latin typeface="Consolas" pitchFamily="34" charset="0"/>
                <a:ea typeface="Consolas" pitchFamily="34" charset="-122"/>
                <a:cs typeface="Consolas" pitchFamily="34" charset="-120"/>
              </a:rPr>
              <a:t>    int value = bytecode[++i];</a:t>
            </a:r>
            <a:endParaRPr lang="ko-KR" altLang="en-US" sz="1400" dirty="0"/>
          </a:p>
          <a:p>
            <a:pPr indent="0" marL="0" eaLnBrk="0">
              <a:buNone/>
            </a:pPr>
            <a:r>
              <a:rPr lang="ko-KR" altLang="en-US" sz="1400" b="1" dirty="0">
                <a:solidFill>
                  <a:schemeClr val="accent4"/>
                </a:solidFill>
                <a:latin typeface="Consolas" pitchFamily="34" charset="0"/>
                <a:ea typeface="Consolas" pitchFamily="34" charset="-122"/>
                <a:cs typeface="Consolas" pitchFamily="34" charset="-120"/>
              </a:rPr>
              <a:t>    Push(value);</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break;</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a:t>
            </a:r>
            <a:endParaRPr lang="ko-KR" altLang="en-US" sz="1400" dirty="0"/>
          </a:p>
        </p:txBody>
      </p:sp>
      <p:sp>
        <p:nvSpPr>
          <p:cNvPr id="8" name="Text 5"/>
          <p:cNvSpPr txBox="1"/>
          <p:nvPr/>
        </p:nvSpPr>
        <p:spPr>
          <a:xfrm>
            <a:off x="548640" y="3749040"/>
            <a:ext cx="6583680" cy="256032"/>
          </a:xfrm>
          <a:prstGeom prst="rect">
            <a:avLst/>
          </a:prstGeom>
          <a:noFill/>
          <a:ln/>
        </p:spPr>
        <p:txBody>
          <a:bodyPr wrap="square" lIns="0" tIns="0" rIns="0" bIns="0" rtlCol="0" anchor="t"/>
          <a:lstStyle/>
          <a:p>
            <a:pPr algn="r" indent="0" marL="0" eaLnBrk="0">
              <a:buNone/>
            </a:pPr>
            <a:r>
              <a:rPr lang="ko-KR" altLang="en-US" sz="1100" dirty="0">
                <a:solidFill>
                  <a:schemeClr val="accent5"/>
                </a:solidFill>
              </a:rPr>
              <a:t>원서 예제를 C#으로 옮긴 코드</a:t>
            </a:r>
            <a:endParaRPr lang="ko-KR" altLang="en-US" sz="1100" dirty="0"/>
          </a:p>
        </p:txBody>
      </p:sp>
      <p:sp>
        <p:nvSpPr>
          <p:cNvPr id="9" name="Text 6"/>
          <p:cNvSpPr txBox="1"/>
          <p:nvPr/>
        </p:nvSpPr>
        <p:spPr>
          <a:xfrm>
            <a:off x="548640" y="4114800"/>
            <a:ext cx="6583680" cy="320040"/>
          </a:xfrm>
          <a:prstGeom prst="rect">
            <a:avLst/>
          </a:prstGeom>
          <a:noFill/>
          <a:ln/>
        </p:spPr>
        <p:txBody>
          <a:bodyPr wrap="square" lIns="0" tIns="0" rIns="0" bIns="0" rtlCol="0" anchor="t"/>
          <a:lstStyle/>
          <a:p>
            <a:pPr indent="0" marL="0" eaLnBrk="0">
              <a:buNone/>
            </a:pPr>
            <a:r>
              <a:rPr lang="ko-KR" altLang="en-US" sz="1400" b="1" dirty="0">
                <a:solidFill>
                  <a:schemeClr val="tx1"/>
                </a:solidFill>
              </a:rPr>
              <a:t>체력을 10으로 정하는 주문</a:t>
            </a:r>
            <a:endParaRPr lang="ko-KR" altLang="en-US" sz="1400" dirty="0"/>
          </a:p>
        </p:txBody>
      </p:sp>
      <p:sp>
        <p:nvSpPr>
          <p:cNvPr id="10" name="box"/>
          <p:cNvSpPr/>
          <p:nvPr/>
        </p:nvSpPr>
        <p:spPr>
          <a:xfrm>
            <a:off x="548640" y="4526280"/>
            <a:ext cx="1243584" cy="548640"/>
          </a:xfrm>
          <a:prstGeom prst="roundRect">
            <a:avLst>
              <a:gd name="adj" fmla="val 13333"/>
            </a:avLst>
          </a:prstGeom>
          <a:solidFill>
            <a:schemeClr val="accent1"/>
          </a:solidFill>
          <a:ln w="12700">
            <a:solidFill>
              <a:schemeClr val="accent1"/>
            </a:solidFill>
            <a:prstDash val="solid"/>
          </a:ln>
        </p:spPr>
      </p:sp>
      <p:sp>
        <p:nvSpPr>
          <p:cNvPr id="11" name="Text 8"/>
          <p:cNvSpPr txBox="1"/>
          <p:nvPr/>
        </p:nvSpPr>
        <p:spPr>
          <a:xfrm>
            <a:off x="548640" y="4526280"/>
            <a:ext cx="1243584" cy="54864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Literal</a:t>
            </a:r>
            <a:endParaRPr lang="ko-KR" altLang="en-US" sz="1300" dirty="0"/>
          </a:p>
        </p:txBody>
      </p:sp>
      <p:sp>
        <p:nvSpPr>
          <p:cNvPr id="12" name="box"/>
          <p:cNvSpPr/>
          <p:nvPr/>
        </p:nvSpPr>
        <p:spPr>
          <a:xfrm>
            <a:off x="1883664" y="4526280"/>
            <a:ext cx="1243584" cy="548640"/>
          </a:xfrm>
          <a:prstGeom prst="roundRect">
            <a:avLst>
              <a:gd name="adj" fmla="val 13333"/>
            </a:avLst>
          </a:prstGeom>
          <a:solidFill>
            <a:schemeClr val="bg2"/>
          </a:solidFill>
          <a:ln w="12700">
            <a:solidFill>
              <a:schemeClr val="bg2"/>
            </a:solidFill>
            <a:prstDash val="solid"/>
          </a:ln>
        </p:spPr>
      </p:sp>
      <p:sp>
        <p:nvSpPr>
          <p:cNvPr id="13" name="Text 10"/>
          <p:cNvSpPr txBox="1"/>
          <p:nvPr/>
        </p:nvSpPr>
        <p:spPr>
          <a:xfrm>
            <a:off x="1883664" y="4526280"/>
            <a:ext cx="1243584" cy="548640"/>
          </a:xfrm>
          <a:prstGeom prst="rect">
            <a:avLst/>
          </a:prstGeom>
          <a:noFill/>
          <a:ln/>
        </p:spPr>
        <p:txBody>
          <a:bodyPr wrap="square" lIns="635" tIns="635" rIns="635" bIns="635" rtlCol="0" anchor="ctr"/>
          <a:lstStyle/>
          <a:p>
            <a:pPr algn="ctr" indent="0" marL="0" eaLnBrk="0">
              <a:buNone/>
            </a:pPr>
            <a:r>
              <a:rPr lang="ko-KR" altLang="en-US" sz="1300" b="1" dirty="0">
                <a:solidFill>
                  <a:schemeClr val="tx1"/>
                </a:solidFill>
              </a:rPr>
              <a:t>0</a:t>
            </a:r>
            <a:endParaRPr lang="ko-KR" altLang="en-US" sz="1300" dirty="0"/>
          </a:p>
        </p:txBody>
      </p:sp>
      <p:sp>
        <p:nvSpPr>
          <p:cNvPr id="14" name="box"/>
          <p:cNvSpPr/>
          <p:nvPr/>
        </p:nvSpPr>
        <p:spPr>
          <a:xfrm>
            <a:off x="3218688" y="4526280"/>
            <a:ext cx="1243584" cy="548640"/>
          </a:xfrm>
          <a:prstGeom prst="roundRect">
            <a:avLst>
              <a:gd name="adj" fmla="val 13333"/>
            </a:avLst>
          </a:prstGeom>
          <a:solidFill>
            <a:schemeClr val="accent1"/>
          </a:solidFill>
          <a:ln w="12700">
            <a:solidFill>
              <a:schemeClr val="accent1"/>
            </a:solidFill>
            <a:prstDash val="solid"/>
          </a:ln>
        </p:spPr>
      </p:sp>
      <p:sp>
        <p:nvSpPr>
          <p:cNvPr id="15" name="Text 12"/>
          <p:cNvSpPr txBox="1"/>
          <p:nvPr/>
        </p:nvSpPr>
        <p:spPr>
          <a:xfrm>
            <a:off x="3218688" y="4526280"/>
            <a:ext cx="1243584" cy="54864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Literal</a:t>
            </a:r>
            <a:endParaRPr lang="ko-KR" altLang="en-US" sz="1300" dirty="0"/>
          </a:p>
        </p:txBody>
      </p:sp>
      <p:sp>
        <p:nvSpPr>
          <p:cNvPr id="16" name="box"/>
          <p:cNvSpPr/>
          <p:nvPr/>
        </p:nvSpPr>
        <p:spPr>
          <a:xfrm>
            <a:off x="4553712" y="4526280"/>
            <a:ext cx="1243584" cy="548640"/>
          </a:xfrm>
          <a:prstGeom prst="roundRect">
            <a:avLst>
              <a:gd name="adj" fmla="val 13333"/>
            </a:avLst>
          </a:prstGeom>
          <a:solidFill>
            <a:schemeClr val="bg2"/>
          </a:solidFill>
          <a:ln w="12700">
            <a:solidFill>
              <a:schemeClr val="bg2"/>
            </a:solidFill>
            <a:prstDash val="solid"/>
          </a:ln>
        </p:spPr>
      </p:sp>
      <p:sp>
        <p:nvSpPr>
          <p:cNvPr id="17" name="Text 14"/>
          <p:cNvSpPr txBox="1"/>
          <p:nvPr/>
        </p:nvSpPr>
        <p:spPr>
          <a:xfrm>
            <a:off x="4553712" y="4526280"/>
            <a:ext cx="1243584" cy="548640"/>
          </a:xfrm>
          <a:prstGeom prst="rect">
            <a:avLst/>
          </a:prstGeom>
          <a:noFill/>
          <a:ln/>
        </p:spPr>
        <p:txBody>
          <a:bodyPr wrap="square" lIns="635" tIns="635" rIns="635" bIns="635" rtlCol="0" anchor="ctr"/>
          <a:lstStyle/>
          <a:p>
            <a:pPr algn="ctr" indent="0" marL="0" eaLnBrk="0">
              <a:buNone/>
            </a:pPr>
            <a:r>
              <a:rPr lang="ko-KR" altLang="en-US" sz="1300" b="1" dirty="0">
                <a:solidFill>
                  <a:schemeClr val="tx1"/>
                </a:solidFill>
              </a:rPr>
              <a:t>10</a:t>
            </a:r>
            <a:endParaRPr lang="ko-KR" altLang="en-US" sz="1300" dirty="0"/>
          </a:p>
        </p:txBody>
      </p:sp>
      <p:sp>
        <p:nvSpPr>
          <p:cNvPr id="18" name="box"/>
          <p:cNvSpPr/>
          <p:nvPr/>
        </p:nvSpPr>
        <p:spPr>
          <a:xfrm>
            <a:off x="5888736" y="4526280"/>
            <a:ext cx="1243584" cy="548640"/>
          </a:xfrm>
          <a:prstGeom prst="roundRect">
            <a:avLst>
              <a:gd name="adj" fmla="val 13333"/>
            </a:avLst>
          </a:prstGeom>
          <a:solidFill>
            <a:schemeClr val="accent1"/>
          </a:solidFill>
          <a:ln w="12700">
            <a:solidFill>
              <a:schemeClr val="accent1"/>
            </a:solidFill>
            <a:prstDash val="solid"/>
          </a:ln>
        </p:spPr>
      </p:sp>
      <p:sp>
        <p:nvSpPr>
          <p:cNvPr id="19" name="Text 16"/>
          <p:cNvSpPr txBox="1"/>
          <p:nvPr/>
        </p:nvSpPr>
        <p:spPr>
          <a:xfrm>
            <a:off x="5888736" y="4526280"/>
            <a:ext cx="1243584" cy="54864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SetHealth</a:t>
            </a:r>
            <a:endParaRPr lang="ko-KR" altLang="en-US" sz="1300" dirty="0"/>
          </a:p>
        </p:txBody>
      </p:sp>
      <p:sp>
        <p:nvSpPr>
          <p:cNvPr id="20" name="Text 17"/>
          <p:cNvSpPr txBox="1"/>
          <p:nvPr/>
        </p:nvSpPr>
        <p:spPr>
          <a:xfrm>
            <a:off x="548640" y="5212080"/>
            <a:ext cx="6583680" cy="320040"/>
          </a:xfrm>
          <a:prstGeom prst="rect">
            <a:avLst/>
          </a:prstGeom>
          <a:noFill/>
          <a:ln/>
        </p:spPr>
        <p:txBody>
          <a:bodyPr wrap="square" lIns="0" tIns="0" rIns="0" bIns="0" rtlCol="0" anchor="t"/>
          <a:lstStyle/>
          <a:p>
            <a:pPr indent="0" marL="0" eaLnBrk="0">
              <a:buNone/>
            </a:pPr>
            <a:r>
              <a:rPr lang="ko-KR" altLang="en-US" sz="1200" dirty="0">
                <a:solidFill>
                  <a:schemeClr val="accent5"/>
                </a:solidFill>
              </a:rPr>
              <a:t>주황: 명령 바이트     회색: 명령이 읽는 값 바이트</a:t>
            </a:r>
            <a:endParaRPr lang="ko-KR" altLang="en-US" sz="1200" dirty="0"/>
          </a:p>
        </p:txBody>
      </p:sp>
      <p:sp>
        <p:nvSpPr>
          <p:cNvPr id="21" name="card"/>
          <p:cNvSpPr/>
          <p:nvPr/>
        </p:nvSpPr>
        <p:spPr>
          <a:xfrm>
            <a:off x="7498080" y="1600200"/>
            <a:ext cx="4144975" cy="1691640"/>
          </a:xfrm>
          <a:prstGeom prst="roundRect">
            <a:avLst>
              <a:gd name="adj" fmla="val 5405"/>
            </a:avLst>
          </a:prstGeom>
          <a:solidFill>
            <a:schemeClr val="bg2"/>
          </a:solidFill>
          <a:ln w="12700">
            <a:solidFill>
              <a:schemeClr val="bg2"/>
            </a:solidFill>
            <a:prstDash val="solid"/>
          </a:ln>
        </p:spPr>
      </p:sp>
      <p:sp>
        <p:nvSpPr>
          <p:cNvPr id="22" name="Text 19"/>
          <p:cNvSpPr txBox="1"/>
          <p:nvPr/>
        </p:nvSpPr>
        <p:spPr>
          <a:xfrm>
            <a:off x="7726680" y="1819656"/>
            <a:ext cx="373349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열거형에 하나 더</a:t>
            </a:r>
            <a:endParaRPr lang="ko-KR" altLang="en-US" sz="1700" dirty="0"/>
          </a:p>
        </p:txBody>
      </p:sp>
      <p:sp>
        <p:nvSpPr>
          <p:cNvPr id="23" name="Text 20"/>
          <p:cNvSpPr txBox="1"/>
          <p:nvPr/>
        </p:nvSpPr>
        <p:spPr>
          <a:xfrm>
            <a:off x="7726680" y="2331720"/>
            <a:ext cx="3687775" cy="822960"/>
          </a:xfrm>
          <a:prstGeom prst="rect">
            <a:avLst/>
          </a:prstGeom>
          <a:noFill/>
          <a:ln/>
        </p:spPr>
        <p:txBody>
          <a:bodyPr wrap="square" lIns="0" tIns="0" rIns="0" bIns="0" rtlCol="0" anchor="t"/>
          <a:lstStyle/>
          <a:p>
            <a:pPr indent="0" marL="0" eaLnBrk="0">
              <a:buNone/>
            </a:pPr>
            <a:r>
              <a:rPr lang="ko-KR" altLang="en-US" sz="1400" dirty="0">
                <a:solidFill>
                  <a:schemeClr val="tx2"/>
                </a:solidFill>
              </a:rPr>
              <a:t>Instruction에 Literal을 더한다. 이 명령 뒤의 바이트는 명령이 아니라 값이다.</a:t>
            </a:r>
            <a:endParaRPr lang="ko-KR" altLang="en-US" sz="1400" dirty="0"/>
          </a:p>
        </p:txBody>
      </p:sp>
      <p:sp>
        <p:nvSpPr>
          <p:cNvPr id="24" name="card"/>
          <p:cNvSpPr/>
          <p:nvPr/>
        </p:nvSpPr>
        <p:spPr>
          <a:xfrm>
            <a:off x="7498080" y="3474720"/>
            <a:ext cx="4144975" cy="2057400"/>
          </a:xfrm>
          <a:prstGeom prst="roundRect">
            <a:avLst>
              <a:gd name="adj" fmla="val 4444"/>
            </a:avLst>
          </a:prstGeom>
          <a:solidFill>
            <a:schemeClr val="bg2"/>
          </a:solidFill>
          <a:ln w="12700">
            <a:solidFill>
              <a:schemeClr val="bg2"/>
            </a:solidFill>
            <a:prstDash val="solid"/>
          </a:ln>
        </p:spPr>
      </p:sp>
      <p:sp>
        <p:nvSpPr>
          <p:cNvPr id="25" name="Text 22"/>
          <p:cNvSpPr txBox="1"/>
          <p:nvPr/>
        </p:nvSpPr>
        <p:spPr>
          <a:xfrm>
            <a:off x="7726680" y="3694176"/>
            <a:ext cx="373349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한 바이트 값의 한계</a:t>
            </a:r>
            <a:endParaRPr lang="ko-KR" altLang="en-US" sz="1700" dirty="0"/>
          </a:p>
        </p:txBody>
      </p:sp>
      <p:sp>
        <p:nvSpPr>
          <p:cNvPr id="26" name="Text 23"/>
          <p:cNvSpPr txBox="1"/>
          <p:nvPr/>
        </p:nvSpPr>
        <p:spPr>
          <a:xfrm>
            <a:off x="7726680" y="4206240"/>
            <a:ext cx="3687775" cy="1188720"/>
          </a:xfrm>
          <a:prstGeom prst="rect">
            <a:avLst/>
          </a:prstGeom>
          <a:noFill/>
          <a:ln/>
        </p:spPr>
        <p:txBody>
          <a:bodyPr wrap="square" lIns="0" tIns="0" rIns="0" bIns="0" rtlCol="0" anchor="t"/>
          <a:lstStyle/>
          <a:p>
            <a:pPr indent="0" marL="0" eaLnBrk="0">
              <a:buNone/>
            </a:pPr>
            <a:r>
              <a:rPr lang="ko-KR" altLang="en-US" sz="1400" dirty="0">
                <a:solidFill>
                  <a:schemeClr val="tx2"/>
                </a:solidFill>
              </a:rPr>
              <a:t>C#의 byte는 0~255이다. 큰 수나 음수를 쓰려면 여러 바이트로 된 정수를 읽어야 한다.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17</a:t>
            </a:fld>
            <a:endParaRPr lang="ko-KR"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추적</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Literal 0, Literal 10, SetHealth를 차례로 실행한다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이것으로 ‘지혜의 절반만큼 체력을 올리는’ 주문을 적을 수 있을까?</a:t>
            </a:r>
            <a:endParaRPr lang="ko-KR" altLang="en-US" sz="1500" dirty="0"/>
          </a:p>
        </p:txBody>
      </p:sp>
      <p:sp>
        <p:nvSpPr>
          <p:cNvPr id="6" name="Text 3"/>
          <p:cNvSpPr txBox="1"/>
          <p:nvPr/>
        </p:nvSpPr>
        <p:spPr>
          <a:xfrm>
            <a:off x="548640" y="1600200"/>
            <a:ext cx="2743200" cy="274320"/>
          </a:xfrm>
          <a:prstGeom prst="rect">
            <a:avLst/>
          </a:prstGeom>
          <a:noFill/>
          <a:ln/>
        </p:spPr>
        <p:txBody>
          <a:bodyPr wrap="square" lIns="0" tIns="0" rIns="0" bIns="0" rtlCol="0" anchor="t"/>
          <a:lstStyle/>
          <a:p>
            <a:pPr indent="0" marL="0" eaLnBrk="0">
              <a:buNone/>
            </a:pPr>
            <a:r>
              <a:rPr lang="ko-KR" altLang="en-US" sz="1300" b="1" dirty="0">
                <a:solidFill>
                  <a:schemeClr val="accent5"/>
                </a:solidFill>
              </a:rPr>
              <a:t>바이트 배열</a:t>
            </a:r>
            <a:endParaRPr lang="ko-KR" altLang="en-US" sz="1300" dirty="0"/>
          </a:p>
        </p:txBody>
      </p:sp>
      <p:sp>
        <p:nvSpPr>
          <p:cNvPr id="7" name="box"/>
          <p:cNvSpPr/>
          <p:nvPr/>
        </p:nvSpPr>
        <p:spPr>
          <a:xfrm>
            <a:off x="548640" y="1920240"/>
            <a:ext cx="1371600" cy="502920"/>
          </a:xfrm>
          <a:prstGeom prst="roundRect">
            <a:avLst>
              <a:gd name="adj" fmla="val 14545"/>
            </a:avLst>
          </a:prstGeom>
          <a:solidFill>
            <a:schemeClr val="accent1"/>
          </a:solidFill>
          <a:ln w="12700">
            <a:solidFill>
              <a:schemeClr val="accent1"/>
            </a:solidFill>
            <a:prstDash val="solid"/>
          </a:ln>
        </p:spPr>
      </p:sp>
      <p:sp>
        <p:nvSpPr>
          <p:cNvPr id="8" name="Text 5"/>
          <p:cNvSpPr txBox="1"/>
          <p:nvPr/>
        </p:nvSpPr>
        <p:spPr>
          <a:xfrm>
            <a:off x="548640" y="1920240"/>
            <a:ext cx="1371600" cy="50292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Literal</a:t>
            </a:r>
            <a:endParaRPr lang="ko-KR" altLang="en-US" sz="1300" dirty="0"/>
          </a:p>
        </p:txBody>
      </p:sp>
      <p:sp>
        <p:nvSpPr>
          <p:cNvPr id="9" name="box"/>
          <p:cNvSpPr/>
          <p:nvPr/>
        </p:nvSpPr>
        <p:spPr>
          <a:xfrm>
            <a:off x="2029968" y="1920240"/>
            <a:ext cx="1371600" cy="502920"/>
          </a:xfrm>
          <a:prstGeom prst="roundRect">
            <a:avLst>
              <a:gd name="adj" fmla="val 14545"/>
            </a:avLst>
          </a:prstGeom>
          <a:solidFill>
            <a:schemeClr val="bg2"/>
          </a:solidFill>
          <a:ln w="12700">
            <a:solidFill>
              <a:schemeClr val="bg2"/>
            </a:solidFill>
            <a:prstDash val="solid"/>
          </a:ln>
        </p:spPr>
      </p:sp>
      <p:sp>
        <p:nvSpPr>
          <p:cNvPr id="10" name="Text 7"/>
          <p:cNvSpPr txBox="1"/>
          <p:nvPr/>
        </p:nvSpPr>
        <p:spPr>
          <a:xfrm>
            <a:off x="2029968" y="1920240"/>
            <a:ext cx="1371600" cy="502920"/>
          </a:xfrm>
          <a:prstGeom prst="rect">
            <a:avLst/>
          </a:prstGeom>
          <a:noFill/>
          <a:ln/>
        </p:spPr>
        <p:txBody>
          <a:bodyPr wrap="square" lIns="635" tIns="635" rIns="635" bIns="635" rtlCol="0" anchor="ctr"/>
          <a:lstStyle/>
          <a:p>
            <a:pPr algn="ctr" indent="0" marL="0" eaLnBrk="0">
              <a:buNone/>
            </a:pPr>
            <a:r>
              <a:rPr lang="ko-KR" altLang="en-US" sz="1300" b="1" dirty="0">
                <a:solidFill>
                  <a:schemeClr val="tx1"/>
                </a:solidFill>
              </a:rPr>
              <a:t>0</a:t>
            </a:r>
            <a:endParaRPr lang="ko-KR" altLang="en-US" sz="1300" dirty="0"/>
          </a:p>
        </p:txBody>
      </p:sp>
      <p:sp>
        <p:nvSpPr>
          <p:cNvPr id="11" name="box"/>
          <p:cNvSpPr/>
          <p:nvPr/>
        </p:nvSpPr>
        <p:spPr>
          <a:xfrm>
            <a:off x="3511296" y="1920240"/>
            <a:ext cx="1371600" cy="502920"/>
          </a:xfrm>
          <a:prstGeom prst="roundRect">
            <a:avLst>
              <a:gd name="adj" fmla="val 14545"/>
            </a:avLst>
          </a:prstGeom>
          <a:solidFill>
            <a:schemeClr val="accent1"/>
          </a:solidFill>
          <a:ln w="12700">
            <a:solidFill>
              <a:schemeClr val="accent1"/>
            </a:solidFill>
            <a:prstDash val="solid"/>
          </a:ln>
        </p:spPr>
      </p:sp>
      <p:sp>
        <p:nvSpPr>
          <p:cNvPr id="12" name="Text 9"/>
          <p:cNvSpPr txBox="1"/>
          <p:nvPr/>
        </p:nvSpPr>
        <p:spPr>
          <a:xfrm>
            <a:off x="3511296" y="1920240"/>
            <a:ext cx="1371600" cy="50292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Literal</a:t>
            </a:r>
            <a:endParaRPr lang="ko-KR" altLang="en-US" sz="1300" dirty="0"/>
          </a:p>
        </p:txBody>
      </p:sp>
      <p:sp>
        <p:nvSpPr>
          <p:cNvPr id="13" name="box"/>
          <p:cNvSpPr/>
          <p:nvPr/>
        </p:nvSpPr>
        <p:spPr>
          <a:xfrm>
            <a:off x="4992624" y="1920240"/>
            <a:ext cx="1371600" cy="502920"/>
          </a:xfrm>
          <a:prstGeom prst="roundRect">
            <a:avLst>
              <a:gd name="adj" fmla="val 14545"/>
            </a:avLst>
          </a:prstGeom>
          <a:solidFill>
            <a:schemeClr val="bg2"/>
          </a:solidFill>
          <a:ln w="12700">
            <a:solidFill>
              <a:schemeClr val="bg2"/>
            </a:solidFill>
            <a:prstDash val="solid"/>
          </a:ln>
        </p:spPr>
      </p:sp>
      <p:sp>
        <p:nvSpPr>
          <p:cNvPr id="14" name="Text 11"/>
          <p:cNvSpPr txBox="1"/>
          <p:nvPr/>
        </p:nvSpPr>
        <p:spPr>
          <a:xfrm>
            <a:off x="4992624" y="1920240"/>
            <a:ext cx="1371600" cy="502920"/>
          </a:xfrm>
          <a:prstGeom prst="rect">
            <a:avLst/>
          </a:prstGeom>
          <a:noFill/>
          <a:ln/>
        </p:spPr>
        <p:txBody>
          <a:bodyPr wrap="square" lIns="635" tIns="635" rIns="635" bIns="635" rtlCol="0" anchor="ctr"/>
          <a:lstStyle/>
          <a:p>
            <a:pPr algn="ctr" indent="0" marL="0" eaLnBrk="0">
              <a:buNone/>
            </a:pPr>
            <a:r>
              <a:rPr lang="ko-KR" altLang="en-US" sz="1300" b="1" dirty="0">
                <a:solidFill>
                  <a:schemeClr val="tx1"/>
                </a:solidFill>
              </a:rPr>
              <a:t>10</a:t>
            </a:r>
            <a:endParaRPr lang="ko-KR" altLang="en-US" sz="1300" dirty="0"/>
          </a:p>
        </p:txBody>
      </p:sp>
      <p:sp>
        <p:nvSpPr>
          <p:cNvPr id="15" name="box"/>
          <p:cNvSpPr/>
          <p:nvPr/>
        </p:nvSpPr>
        <p:spPr>
          <a:xfrm>
            <a:off x="6473952" y="1920240"/>
            <a:ext cx="1371600" cy="502920"/>
          </a:xfrm>
          <a:prstGeom prst="roundRect">
            <a:avLst>
              <a:gd name="adj" fmla="val 14545"/>
            </a:avLst>
          </a:prstGeom>
          <a:solidFill>
            <a:schemeClr val="accent1"/>
          </a:solidFill>
          <a:ln w="12700">
            <a:solidFill>
              <a:schemeClr val="accent1"/>
            </a:solidFill>
            <a:prstDash val="solid"/>
          </a:ln>
        </p:spPr>
      </p:sp>
      <p:sp>
        <p:nvSpPr>
          <p:cNvPr id="16" name="Text 13"/>
          <p:cNvSpPr txBox="1"/>
          <p:nvPr/>
        </p:nvSpPr>
        <p:spPr>
          <a:xfrm>
            <a:off x="6473952" y="1920240"/>
            <a:ext cx="1371600" cy="50292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SetHealth</a:t>
            </a:r>
            <a:endParaRPr lang="ko-KR" altLang="en-US" sz="1300" dirty="0"/>
          </a:p>
        </p:txBody>
      </p:sp>
      <p:sp>
        <p:nvSpPr>
          <p:cNvPr id="17" name="Text 14"/>
          <p:cNvSpPr txBox="1"/>
          <p:nvPr/>
        </p:nvSpPr>
        <p:spPr>
          <a:xfrm>
            <a:off x="548640" y="2697480"/>
            <a:ext cx="1691640" cy="320040"/>
          </a:xfrm>
          <a:prstGeom prst="rect">
            <a:avLst/>
          </a:prstGeom>
          <a:noFill/>
          <a:ln/>
        </p:spPr>
        <p:txBody>
          <a:bodyPr wrap="square" lIns="0" tIns="0" rIns="0" bIns="0" rtlCol="0" anchor="t"/>
          <a:lstStyle/>
          <a:p>
            <a:pPr algn="ctr" indent="0" marL="0" eaLnBrk="0">
              <a:buNone/>
            </a:pPr>
            <a:r>
              <a:rPr lang="ko-KR" altLang="en-US" sz="1400" b="1" dirty="0">
                <a:solidFill>
                  <a:schemeClr val="tx1"/>
                </a:solidFill>
                <a:latin typeface="Consolas" pitchFamily="34" charset="0"/>
                <a:ea typeface="Consolas" pitchFamily="34" charset="-122"/>
                <a:cs typeface="Consolas" pitchFamily="34" charset="-120"/>
              </a:rPr>
              <a:t>시작</a:t>
            </a:r>
            <a:endParaRPr lang="ko-KR" altLang="en-US" sz="1400" dirty="0"/>
          </a:p>
        </p:txBody>
      </p:sp>
      <p:sp>
        <p:nvSpPr>
          <p:cNvPr id="18" name="Shape 15"/>
          <p:cNvSpPr/>
          <p:nvPr/>
        </p:nvSpPr>
        <p:spPr>
          <a:xfrm>
            <a:off x="731520" y="3063240"/>
            <a:ext cx="1325880" cy="1600200"/>
          </a:xfrm>
          <a:prstGeom prst="rect">
            <a:avLst/>
          </a:prstGeom>
          <a:solidFill>
            <a:schemeClr val="bg1"/>
          </a:solidFill>
          <a:ln w="15875">
            <a:solidFill>
              <a:schemeClr val="accent3"/>
            </a:solidFill>
            <a:prstDash val="solid"/>
          </a:ln>
        </p:spPr>
      </p:sp>
      <p:sp>
        <p:nvSpPr>
          <p:cNvPr id="19" name="Text 16"/>
          <p:cNvSpPr txBox="1"/>
          <p:nvPr/>
        </p:nvSpPr>
        <p:spPr>
          <a:xfrm>
            <a:off x="731520" y="3680460"/>
            <a:ext cx="1325880" cy="365760"/>
          </a:xfrm>
          <a:prstGeom prst="rect">
            <a:avLst/>
          </a:prstGeom>
          <a:noFill/>
          <a:ln/>
        </p:spPr>
        <p:txBody>
          <a:bodyPr wrap="square" lIns="0" tIns="0" rIns="0" bIns="0" rtlCol="0" anchor="ctr"/>
          <a:lstStyle/>
          <a:p>
            <a:pPr algn="ctr" indent="0" marL="0" eaLnBrk="0">
              <a:buNone/>
            </a:pPr>
            <a:r>
              <a:rPr lang="ko-KR" altLang="en-US" sz="1300" dirty="0">
                <a:solidFill>
                  <a:schemeClr val="accent3"/>
                </a:solidFill>
              </a:rPr>
              <a:t>비어 있다</a:t>
            </a:r>
            <a:endParaRPr lang="ko-KR" altLang="en-US" sz="1300" dirty="0"/>
          </a:p>
        </p:txBody>
      </p:sp>
      <p:sp>
        <p:nvSpPr>
          <p:cNvPr id="20" name="Text 17"/>
          <p:cNvSpPr txBox="1"/>
          <p:nvPr/>
        </p:nvSpPr>
        <p:spPr>
          <a:xfrm>
            <a:off x="457200" y="4754880"/>
            <a:ext cx="1874520" cy="365760"/>
          </a:xfrm>
          <a:prstGeom prst="rect">
            <a:avLst/>
          </a:prstGeom>
          <a:noFill/>
          <a:ln/>
        </p:spPr>
        <p:txBody>
          <a:bodyPr wrap="square" lIns="0" tIns="0" rIns="0" bIns="0" rtlCol="0" anchor="t"/>
          <a:lstStyle/>
          <a:p>
            <a:pPr algn="ctr" indent="0" marL="0" eaLnBrk="0">
              <a:buNone/>
            </a:pPr>
            <a:endParaRPr lang="ko-KR" altLang="en-US" sz="1300" dirty="0"/>
          </a:p>
        </p:txBody>
      </p:sp>
      <p:sp>
        <p:nvSpPr>
          <p:cNvPr id="21" name="Shape 18"/>
          <p:cNvSpPr/>
          <p:nvPr/>
        </p:nvSpPr>
        <p:spPr>
          <a:xfrm>
            <a:off x="2103120" y="3840480"/>
            <a:ext cx="521208" cy="914"/>
          </a:xfrm>
          <a:prstGeom prst="line">
            <a:avLst/>
          </a:prstGeom>
          <a:noFill/>
          <a:ln w="22225">
            <a:solidFill>
              <a:schemeClr val="accent3"/>
            </a:solidFill>
            <a:prstDash val="solid"/>
            <a:tailEnd type="triangle"/>
          </a:ln>
        </p:spPr>
      </p:sp>
      <p:sp>
        <p:nvSpPr>
          <p:cNvPr id="22" name="Text 19"/>
          <p:cNvSpPr txBox="1"/>
          <p:nvPr/>
        </p:nvSpPr>
        <p:spPr>
          <a:xfrm>
            <a:off x="2487168" y="2697480"/>
            <a:ext cx="1691640" cy="320040"/>
          </a:xfrm>
          <a:prstGeom prst="rect">
            <a:avLst/>
          </a:prstGeom>
          <a:noFill/>
          <a:ln/>
        </p:spPr>
        <p:txBody>
          <a:bodyPr wrap="square" lIns="0" tIns="0" rIns="0" bIns="0" rtlCol="0" anchor="t"/>
          <a:lstStyle/>
          <a:p>
            <a:pPr algn="ctr" indent="0" marL="0" eaLnBrk="0">
              <a:buNone/>
            </a:pPr>
            <a:r>
              <a:rPr lang="ko-KR" altLang="en-US" sz="1400" b="1" dirty="0">
                <a:solidFill>
                  <a:schemeClr val="tx1"/>
                </a:solidFill>
                <a:latin typeface="Consolas" pitchFamily="34" charset="0"/>
                <a:ea typeface="Consolas" pitchFamily="34" charset="-122"/>
                <a:cs typeface="Consolas" pitchFamily="34" charset="-120"/>
              </a:rPr>
              <a:t>Literal 0</a:t>
            </a:r>
            <a:endParaRPr lang="ko-KR" altLang="en-US" sz="1400" dirty="0"/>
          </a:p>
        </p:txBody>
      </p:sp>
      <p:sp>
        <p:nvSpPr>
          <p:cNvPr id="23" name="Shape 20"/>
          <p:cNvSpPr/>
          <p:nvPr/>
        </p:nvSpPr>
        <p:spPr>
          <a:xfrm>
            <a:off x="2670048" y="3063240"/>
            <a:ext cx="1325880" cy="1600200"/>
          </a:xfrm>
          <a:prstGeom prst="rect">
            <a:avLst/>
          </a:prstGeom>
          <a:solidFill>
            <a:schemeClr val="bg1"/>
          </a:solidFill>
          <a:ln w="15875">
            <a:solidFill>
              <a:schemeClr val="accent3"/>
            </a:solidFill>
            <a:prstDash val="solid"/>
          </a:ln>
        </p:spPr>
      </p:sp>
      <p:sp>
        <p:nvSpPr>
          <p:cNvPr id="24" name="box"/>
          <p:cNvSpPr/>
          <p:nvPr/>
        </p:nvSpPr>
        <p:spPr>
          <a:xfrm>
            <a:off x="2779776" y="4133088"/>
            <a:ext cx="1106424" cy="438912"/>
          </a:xfrm>
          <a:prstGeom prst="roundRect">
            <a:avLst>
              <a:gd name="adj" fmla="val 16667"/>
            </a:avLst>
          </a:prstGeom>
          <a:solidFill>
            <a:schemeClr val="accent2"/>
          </a:solidFill>
          <a:ln w="12700">
            <a:solidFill>
              <a:schemeClr val="accent2"/>
            </a:solidFill>
            <a:prstDash val="solid"/>
          </a:ln>
        </p:spPr>
      </p:sp>
      <p:sp>
        <p:nvSpPr>
          <p:cNvPr id="25" name="Text 22"/>
          <p:cNvSpPr txBox="1"/>
          <p:nvPr/>
        </p:nvSpPr>
        <p:spPr>
          <a:xfrm>
            <a:off x="2779776" y="4133088"/>
            <a:ext cx="1106424" cy="438912"/>
          </a:xfrm>
          <a:prstGeom prst="rect">
            <a:avLst/>
          </a:prstGeom>
          <a:noFill/>
          <a:ln/>
        </p:spPr>
        <p:txBody>
          <a:bodyPr wrap="square" lIns="635" tIns="635" rIns="635" bIns="635" rtlCol="0" anchor="ctr"/>
          <a:lstStyle/>
          <a:p>
            <a:pPr algn="ctr" indent="0" marL="0" eaLnBrk="0">
              <a:buNone/>
            </a:pPr>
            <a:r>
              <a:rPr lang="ko-KR" altLang="en-US" sz="1500" b="1" dirty="0">
                <a:solidFill>
                  <a:schemeClr val="bg1"/>
                </a:solidFill>
              </a:rPr>
              <a:t>0</a:t>
            </a:r>
            <a:endParaRPr lang="ko-KR" altLang="en-US" sz="1500" dirty="0"/>
          </a:p>
        </p:txBody>
      </p:sp>
      <p:sp>
        <p:nvSpPr>
          <p:cNvPr id="26" name="Text 23"/>
          <p:cNvSpPr txBox="1"/>
          <p:nvPr/>
        </p:nvSpPr>
        <p:spPr>
          <a:xfrm>
            <a:off x="2395728" y="4754880"/>
            <a:ext cx="1874520" cy="365760"/>
          </a:xfrm>
          <a:prstGeom prst="rect">
            <a:avLst/>
          </a:prstGeom>
          <a:noFill/>
          <a:ln/>
        </p:spPr>
        <p:txBody>
          <a:bodyPr wrap="square" lIns="0" tIns="0" rIns="0" bIns="0" rtlCol="0" anchor="t"/>
          <a:lstStyle/>
          <a:p>
            <a:pPr algn="ctr" indent="0" marL="0" eaLnBrk="0">
              <a:buNone/>
            </a:pPr>
            <a:r>
              <a:rPr lang="ko-KR" altLang="en-US" sz="1300" b="1" dirty="0">
                <a:solidFill>
                  <a:schemeClr val="accent1"/>
                </a:solidFill>
              </a:rPr>
              <a:t>0을 넣는다</a:t>
            </a:r>
            <a:endParaRPr lang="ko-KR" altLang="en-US" sz="1300" dirty="0"/>
          </a:p>
        </p:txBody>
      </p:sp>
      <p:sp>
        <p:nvSpPr>
          <p:cNvPr id="27" name="Shape 24"/>
          <p:cNvSpPr/>
          <p:nvPr/>
        </p:nvSpPr>
        <p:spPr>
          <a:xfrm>
            <a:off x="4041648" y="3840480"/>
            <a:ext cx="521208" cy="914"/>
          </a:xfrm>
          <a:prstGeom prst="line">
            <a:avLst/>
          </a:prstGeom>
          <a:noFill/>
          <a:ln w="22225">
            <a:solidFill>
              <a:schemeClr val="accent3"/>
            </a:solidFill>
            <a:prstDash val="solid"/>
            <a:tailEnd type="triangle"/>
          </a:ln>
        </p:spPr>
      </p:sp>
      <p:sp>
        <p:nvSpPr>
          <p:cNvPr id="28" name="Text 25"/>
          <p:cNvSpPr txBox="1"/>
          <p:nvPr/>
        </p:nvSpPr>
        <p:spPr>
          <a:xfrm>
            <a:off x="4425696" y="2697480"/>
            <a:ext cx="1691640" cy="320040"/>
          </a:xfrm>
          <a:prstGeom prst="rect">
            <a:avLst/>
          </a:prstGeom>
          <a:noFill/>
          <a:ln/>
        </p:spPr>
        <p:txBody>
          <a:bodyPr wrap="square" lIns="0" tIns="0" rIns="0" bIns="0" rtlCol="0" anchor="t"/>
          <a:lstStyle/>
          <a:p>
            <a:pPr algn="ctr" indent="0" marL="0" eaLnBrk="0">
              <a:buNone/>
            </a:pPr>
            <a:r>
              <a:rPr lang="ko-KR" altLang="en-US" sz="1400" b="1" dirty="0">
                <a:solidFill>
                  <a:schemeClr val="tx1"/>
                </a:solidFill>
                <a:latin typeface="Consolas" pitchFamily="34" charset="0"/>
                <a:ea typeface="Consolas" pitchFamily="34" charset="-122"/>
                <a:cs typeface="Consolas" pitchFamily="34" charset="-120"/>
              </a:rPr>
              <a:t>Literal 10</a:t>
            </a:r>
            <a:endParaRPr lang="ko-KR" altLang="en-US" sz="1400" dirty="0"/>
          </a:p>
        </p:txBody>
      </p:sp>
      <p:sp>
        <p:nvSpPr>
          <p:cNvPr id="29" name="Shape 26"/>
          <p:cNvSpPr/>
          <p:nvPr/>
        </p:nvSpPr>
        <p:spPr>
          <a:xfrm>
            <a:off x="4608576" y="3063240"/>
            <a:ext cx="1325880" cy="1600200"/>
          </a:xfrm>
          <a:prstGeom prst="rect">
            <a:avLst/>
          </a:prstGeom>
          <a:solidFill>
            <a:schemeClr val="bg1"/>
          </a:solidFill>
          <a:ln w="15875">
            <a:solidFill>
              <a:schemeClr val="accent3"/>
            </a:solidFill>
            <a:prstDash val="solid"/>
          </a:ln>
        </p:spPr>
      </p:sp>
      <p:sp>
        <p:nvSpPr>
          <p:cNvPr id="30" name="box"/>
          <p:cNvSpPr/>
          <p:nvPr/>
        </p:nvSpPr>
        <p:spPr>
          <a:xfrm>
            <a:off x="4718304" y="4133088"/>
            <a:ext cx="1106424" cy="438912"/>
          </a:xfrm>
          <a:prstGeom prst="roundRect">
            <a:avLst>
              <a:gd name="adj" fmla="val 16667"/>
            </a:avLst>
          </a:prstGeom>
          <a:solidFill>
            <a:schemeClr val="bg2"/>
          </a:solidFill>
          <a:ln w="12700">
            <a:solidFill>
              <a:schemeClr val="bg2"/>
            </a:solidFill>
            <a:prstDash val="solid"/>
          </a:ln>
        </p:spPr>
      </p:sp>
      <p:sp>
        <p:nvSpPr>
          <p:cNvPr id="31" name="Text 28"/>
          <p:cNvSpPr txBox="1"/>
          <p:nvPr/>
        </p:nvSpPr>
        <p:spPr>
          <a:xfrm>
            <a:off x="4718304" y="4133088"/>
            <a:ext cx="1106424" cy="438912"/>
          </a:xfrm>
          <a:prstGeom prst="rect">
            <a:avLst/>
          </a:prstGeom>
          <a:noFill/>
          <a:ln/>
        </p:spPr>
        <p:txBody>
          <a:bodyPr wrap="square" lIns="635" tIns="635" rIns="635" bIns="635" rtlCol="0" anchor="ctr"/>
          <a:lstStyle/>
          <a:p>
            <a:pPr algn="ctr" indent="0" marL="0" eaLnBrk="0">
              <a:buNone/>
            </a:pPr>
            <a:r>
              <a:rPr lang="ko-KR" altLang="en-US" sz="1500" b="1" dirty="0">
                <a:solidFill>
                  <a:schemeClr val="tx1"/>
                </a:solidFill>
              </a:rPr>
              <a:t>0</a:t>
            </a:r>
            <a:endParaRPr lang="ko-KR" altLang="en-US" sz="1500" dirty="0"/>
          </a:p>
        </p:txBody>
      </p:sp>
      <p:sp>
        <p:nvSpPr>
          <p:cNvPr id="32" name="box"/>
          <p:cNvSpPr/>
          <p:nvPr/>
        </p:nvSpPr>
        <p:spPr>
          <a:xfrm>
            <a:off x="4718304" y="3639312"/>
            <a:ext cx="1106424" cy="438912"/>
          </a:xfrm>
          <a:prstGeom prst="roundRect">
            <a:avLst>
              <a:gd name="adj" fmla="val 16667"/>
            </a:avLst>
          </a:prstGeom>
          <a:solidFill>
            <a:schemeClr val="accent2"/>
          </a:solidFill>
          <a:ln w="12700">
            <a:solidFill>
              <a:schemeClr val="accent2"/>
            </a:solidFill>
            <a:prstDash val="solid"/>
          </a:ln>
        </p:spPr>
      </p:sp>
      <p:sp>
        <p:nvSpPr>
          <p:cNvPr id="33" name="Text 30"/>
          <p:cNvSpPr txBox="1"/>
          <p:nvPr/>
        </p:nvSpPr>
        <p:spPr>
          <a:xfrm>
            <a:off x="4718304" y="3639312"/>
            <a:ext cx="1106424" cy="438912"/>
          </a:xfrm>
          <a:prstGeom prst="rect">
            <a:avLst/>
          </a:prstGeom>
          <a:noFill/>
          <a:ln/>
        </p:spPr>
        <p:txBody>
          <a:bodyPr wrap="square" lIns="635" tIns="635" rIns="635" bIns="635" rtlCol="0" anchor="ctr"/>
          <a:lstStyle/>
          <a:p>
            <a:pPr algn="ctr" indent="0" marL="0" eaLnBrk="0">
              <a:buNone/>
            </a:pPr>
            <a:r>
              <a:rPr lang="ko-KR" altLang="en-US" sz="1500" b="1" dirty="0">
                <a:solidFill>
                  <a:schemeClr val="bg1"/>
                </a:solidFill>
              </a:rPr>
              <a:t>10</a:t>
            </a:r>
            <a:endParaRPr lang="ko-KR" altLang="en-US" sz="1500" dirty="0"/>
          </a:p>
        </p:txBody>
      </p:sp>
      <p:sp>
        <p:nvSpPr>
          <p:cNvPr id="34" name="Text 31"/>
          <p:cNvSpPr txBox="1"/>
          <p:nvPr/>
        </p:nvSpPr>
        <p:spPr>
          <a:xfrm>
            <a:off x="4334256" y="4754880"/>
            <a:ext cx="1874520" cy="365760"/>
          </a:xfrm>
          <a:prstGeom prst="rect">
            <a:avLst/>
          </a:prstGeom>
          <a:noFill/>
          <a:ln/>
        </p:spPr>
        <p:txBody>
          <a:bodyPr wrap="square" lIns="0" tIns="0" rIns="0" bIns="0" rtlCol="0" anchor="t"/>
          <a:lstStyle/>
          <a:p>
            <a:pPr algn="ctr" indent="0" marL="0" eaLnBrk="0">
              <a:buNone/>
            </a:pPr>
            <a:r>
              <a:rPr lang="ko-KR" altLang="en-US" sz="1300" b="1" dirty="0">
                <a:solidFill>
                  <a:schemeClr val="accent1"/>
                </a:solidFill>
              </a:rPr>
              <a:t>10을 넣는다</a:t>
            </a:r>
            <a:endParaRPr lang="ko-KR" altLang="en-US" sz="1300" dirty="0"/>
          </a:p>
        </p:txBody>
      </p:sp>
      <p:sp>
        <p:nvSpPr>
          <p:cNvPr id="35" name="Shape 32"/>
          <p:cNvSpPr/>
          <p:nvPr/>
        </p:nvSpPr>
        <p:spPr>
          <a:xfrm>
            <a:off x="5980176" y="3840480"/>
            <a:ext cx="521208" cy="914"/>
          </a:xfrm>
          <a:prstGeom prst="line">
            <a:avLst/>
          </a:prstGeom>
          <a:noFill/>
          <a:ln w="22225">
            <a:solidFill>
              <a:schemeClr val="accent3"/>
            </a:solidFill>
            <a:prstDash val="solid"/>
            <a:tailEnd type="triangle"/>
          </a:ln>
        </p:spPr>
      </p:sp>
      <p:sp>
        <p:nvSpPr>
          <p:cNvPr id="36" name="Text 33"/>
          <p:cNvSpPr txBox="1"/>
          <p:nvPr/>
        </p:nvSpPr>
        <p:spPr>
          <a:xfrm>
            <a:off x="6364224" y="2697480"/>
            <a:ext cx="1691640" cy="320040"/>
          </a:xfrm>
          <a:prstGeom prst="rect">
            <a:avLst/>
          </a:prstGeom>
          <a:noFill/>
          <a:ln/>
        </p:spPr>
        <p:txBody>
          <a:bodyPr wrap="square" lIns="0" tIns="0" rIns="0" bIns="0" rtlCol="0" anchor="t"/>
          <a:lstStyle/>
          <a:p>
            <a:pPr algn="ctr" indent="0" marL="0" eaLnBrk="0">
              <a:buNone/>
            </a:pPr>
            <a:r>
              <a:rPr lang="ko-KR" altLang="en-US" sz="1400" b="1" dirty="0">
                <a:solidFill>
                  <a:schemeClr val="tx1"/>
                </a:solidFill>
                <a:latin typeface="Consolas" pitchFamily="34" charset="0"/>
                <a:ea typeface="Consolas" pitchFamily="34" charset="-122"/>
                <a:cs typeface="Consolas" pitchFamily="34" charset="-120"/>
              </a:rPr>
              <a:t>SetHealth</a:t>
            </a:r>
            <a:endParaRPr lang="ko-KR" altLang="en-US" sz="1400" dirty="0"/>
          </a:p>
        </p:txBody>
      </p:sp>
      <p:sp>
        <p:nvSpPr>
          <p:cNvPr id="37" name="Shape 34"/>
          <p:cNvSpPr/>
          <p:nvPr/>
        </p:nvSpPr>
        <p:spPr>
          <a:xfrm>
            <a:off x="6547104" y="3063240"/>
            <a:ext cx="1325880" cy="1600200"/>
          </a:xfrm>
          <a:prstGeom prst="rect">
            <a:avLst/>
          </a:prstGeom>
          <a:solidFill>
            <a:schemeClr val="bg1"/>
          </a:solidFill>
          <a:ln w="15875">
            <a:solidFill>
              <a:schemeClr val="accent3"/>
            </a:solidFill>
            <a:prstDash val="solid"/>
          </a:ln>
        </p:spPr>
      </p:sp>
      <p:sp>
        <p:nvSpPr>
          <p:cNvPr id="38" name="Text 35"/>
          <p:cNvSpPr txBox="1"/>
          <p:nvPr/>
        </p:nvSpPr>
        <p:spPr>
          <a:xfrm>
            <a:off x="6547104" y="3680460"/>
            <a:ext cx="1325880" cy="365760"/>
          </a:xfrm>
          <a:prstGeom prst="rect">
            <a:avLst/>
          </a:prstGeom>
          <a:noFill/>
          <a:ln/>
        </p:spPr>
        <p:txBody>
          <a:bodyPr wrap="square" lIns="0" tIns="0" rIns="0" bIns="0" rtlCol="0" anchor="ctr"/>
          <a:lstStyle/>
          <a:p>
            <a:pPr algn="ctr" indent="0" marL="0" eaLnBrk="0">
              <a:buNone/>
            </a:pPr>
            <a:r>
              <a:rPr lang="ko-KR" altLang="en-US" sz="1300" dirty="0">
                <a:solidFill>
                  <a:schemeClr val="accent3"/>
                </a:solidFill>
              </a:rPr>
              <a:t>비어 있다</a:t>
            </a:r>
            <a:endParaRPr lang="ko-KR" altLang="en-US" sz="1300" dirty="0"/>
          </a:p>
        </p:txBody>
      </p:sp>
      <p:sp>
        <p:nvSpPr>
          <p:cNvPr id="39" name="Text 36"/>
          <p:cNvSpPr txBox="1"/>
          <p:nvPr/>
        </p:nvSpPr>
        <p:spPr>
          <a:xfrm>
            <a:off x="6272784" y="4754880"/>
            <a:ext cx="1874520" cy="365760"/>
          </a:xfrm>
          <a:prstGeom prst="rect">
            <a:avLst/>
          </a:prstGeom>
          <a:noFill/>
          <a:ln/>
        </p:spPr>
        <p:txBody>
          <a:bodyPr wrap="square" lIns="0" tIns="0" rIns="0" bIns="0" rtlCol="0" anchor="t"/>
          <a:lstStyle/>
          <a:p>
            <a:pPr algn="ctr" indent="0" marL="0" eaLnBrk="0">
              <a:buNone/>
            </a:pPr>
            <a:r>
              <a:rPr lang="ko-KR" altLang="en-US" sz="1300" b="1" dirty="0">
                <a:solidFill>
                  <a:schemeClr val="accent1"/>
                </a:solidFill>
                <a:latin typeface="Consolas" pitchFamily="34" charset="0"/>
                <a:ea typeface="Consolas" pitchFamily="34" charset="-122"/>
                <a:cs typeface="Consolas" pitchFamily="34" charset="-120"/>
              </a:rPr>
              <a:t>SetHealth(0, 10)</a:t>
            </a:r>
            <a:endParaRPr lang="ko-KR" altLang="en-US" sz="1300" dirty="0"/>
          </a:p>
        </p:txBody>
      </p:sp>
      <p:sp>
        <p:nvSpPr>
          <p:cNvPr id="40" name="card"/>
          <p:cNvSpPr/>
          <p:nvPr/>
        </p:nvSpPr>
        <p:spPr>
          <a:xfrm>
            <a:off x="8549640" y="1600200"/>
            <a:ext cx="3093415" cy="1783080"/>
          </a:xfrm>
          <a:prstGeom prst="roundRect">
            <a:avLst>
              <a:gd name="adj" fmla="val 5128"/>
            </a:avLst>
          </a:prstGeom>
          <a:solidFill>
            <a:schemeClr val="bg2"/>
          </a:solidFill>
          <a:ln w="12700">
            <a:solidFill>
              <a:schemeClr val="bg2"/>
            </a:solidFill>
            <a:prstDash val="solid"/>
          </a:ln>
        </p:spPr>
      </p:sp>
      <p:sp>
        <p:nvSpPr>
          <p:cNvPr id="41" name="Text 38"/>
          <p:cNvSpPr txBox="1"/>
          <p:nvPr/>
        </p:nvSpPr>
        <p:spPr>
          <a:xfrm>
            <a:off x="8778240" y="1819656"/>
            <a:ext cx="2681935" cy="411480"/>
          </a:xfrm>
          <a:prstGeom prst="rect">
            <a:avLst/>
          </a:prstGeom>
          <a:noFill/>
          <a:ln/>
        </p:spPr>
        <p:txBody>
          <a:bodyPr wrap="square" lIns="0" tIns="0" rIns="0" bIns="0" rtlCol="0" anchor="ctr"/>
          <a:lstStyle/>
          <a:p>
            <a:pPr indent="0" marL="0" eaLnBrk="0">
              <a:buNone/>
            </a:pPr>
            <a:r>
              <a:rPr lang="ko-KR" altLang="en-US" sz="1700" b="1" dirty="0">
                <a:solidFill>
                  <a:schemeClr val="accent2"/>
                </a:solidFill>
              </a:rPr>
              <a:t>할 수 있게 된 것</a:t>
            </a:r>
            <a:endParaRPr lang="ko-KR" altLang="en-US" sz="1700" dirty="0"/>
          </a:p>
        </p:txBody>
      </p:sp>
      <p:sp>
        <p:nvSpPr>
          <p:cNvPr id="42" name="Text 39"/>
          <p:cNvSpPr txBox="1"/>
          <p:nvPr/>
        </p:nvSpPr>
        <p:spPr>
          <a:xfrm>
            <a:off x="8778240" y="2331720"/>
            <a:ext cx="2636215" cy="914400"/>
          </a:xfrm>
          <a:prstGeom prst="rect">
            <a:avLst/>
          </a:prstGeom>
          <a:noFill/>
          <a:ln/>
        </p:spPr>
        <p:txBody>
          <a:bodyPr wrap="square" lIns="0" tIns="0" rIns="0" bIns="0" rtlCol="0" anchor="t"/>
          <a:lstStyle/>
          <a:p>
            <a:pPr indent="0" marL="0" eaLnBrk="0">
              <a:buNone/>
            </a:pPr>
            <a:r>
              <a:rPr lang="ko-KR" altLang="en-US" sz="1400" dirty="0">
                <a:solidFill>
                  <a:schemeClr val="tx2"/>
                </a:solidFill>
              </a:rPr>
              <a:t>어느 마법사의 어느 능력치든 원하는 값으로 정한다.</a:t>
            </a:r>
            <a:endParaRPr lang="ko-KR" altLang="en-US" sz="1400" dirty="0"/>
          </a:p>
        </p:txBody>
      </p:sp>
      <p:sp>
        <p:nvSpPr>
          <p:cNvPr id="43" name="card"/>
          <p:cNvSpPr/>
          <p:nvPr/>
        </p:nvSpPr>
        <p:spPr>
          <a:xfrm>
            <a:off x="8549640" y="3566160"/>
            <a:ext cx="3093415" cy="2011680"/>
          </a:xfrm>
          <a:prstGeom prst="roundRect">
            <a:avLst>
              <a:gd name="adj" fmla="val 4545"/>
            </a:avLst>
          </a:prstGeom>
          <a:solidFill>
            <a:schemeClr val="bg2"/>
          </a:solidFill>
          <a:ln w="12700">
            <a:solidFill>
              <a:schemeClr val="bg2"/>
            </a:solidFill>
            <a:prstDash val="solid"/>
          </a:ln>
        </p:spPr>
      </p:sp>
      <p:sp>
        <p:nvSpPr>
          <p:cNvPr id="44" name="Text 41"/>
          <p:cNvSpPr txBox="1"/>
          <p:nvPr/>
        </p:nvSpPr>
        <p:spPr>
          <a:xfrm>
            <a:off x="8778240" y="3785616"/>
            <a:ext cx="2681935" cy="411480"/>
          </a:xfrm>
          <a:prstGeom prst="rect">
            <a:avLst/>
          </a:prstGeom>
          <a:noFill/>
          <a:ln/>
        </p:spPr>
        <p:txBody>
          <a:bodyPr wrap="square" lIns="0" tIns="0" rIns="0" bIns="0" rtlCol="0" anchor="ctr"/>
          <a:lstStyle/>
          <a:p>
            <a:pPr indent="0" marL="0" eaLnBrk="0">
              <a:buNone/>
            </a:pPr>
            <a:r>
              <a:rPr lang="ko-KR" altLang="en-US" sz="1700" b="1" dirty="0">
                <a:solidFill>
                  <a:schemeClr val="accent6"/>
                </a:solidFill>
              </a:rPr>
              <a:t>남은 한계</a:t>
            </a:r>
            <a:endParaRPr lang="ko-KR" altLang="en-US" sz="1700" dirty="0"/>
          </a:p>
        </p:txBody>
      </p:sp>
      <p:sp>
        <p:nvSpPr>
          <p:cNvPr id="45" name="Text 42"/>
          <p:cNvSpPr txBox="1"/>
          <p:nvPr/>
        </p:nvSpPr>
        <p:spPr>
          <a:xfrm>
            <a:off x="8778240" y="4297680"/>
            <a:ext cx="2636215" cy="1143000"/>
          </a:xfrm>
          <a:prstGeom prst="rect">
            <a:avLst/>
          </a:prstGeom>
          <a:noFill/>
          <a:ln/>
        </p:spPr>
        <p:txBody>
          <a:bodyPr wrap="square" lIns="0" tIns="0" rIns="0" bIns="0" rtlCol="0" anchor="t"/>
          <a:lstStyle/>
          <a:p>
            <a:pPr indent="0" marL="0" eaLnBrk="0">
              <a:buNone/>
            </a:pPr>
            <a:r>
              <a:rPr lang="ko-KR" altLang="en-US" sz="1400" dirty="0">
                <a:solidFill>
                  <a:schemeClr val="tx2"/>
                </a:solidFill>
              </a:rPr>
              <a:t>아직 값만 적는 데이터 형식이다. 규칙을 적을 수 없다.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18</a:t>
            </a:fld>
            <a:endParaRPr lang="ko-KR"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4부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행동을 조합하기</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행동 = 조합 · 가상 기계 · 주문 제작 도구</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19</a:t>
            </a:fld>
            <a:endParaRPr lang="ko-KR"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읽기와 산술</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능력치를 읽는 명령과 더하는 명령을 더한다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이 명령들로 실제 식 하나를 어떻게 적을까?</a:t>
            </a:r>
            <a:endParaRPr lang="ko-KR" altLang="en-US" sz="1500" dirty="0"/>
          </a:p>
        </p:txBody>
      </p:sp>
      <p:sp>
        <p:nvSpPr>
          <p:cNvPr id="6" name="codePanel"/>
          <p:cNvSpPr/>
          <p:nvPr/>
        </p:nvSpPr>
        <p:spPr>
          <a:xfrm>
            <a:off x="548640" y="1600200"/>
            <a:ext cx="6583680" cy="4114800"/>
          </a:xfrm>
          <a:prstGeom prst="roundRect">
            <a:avLst>
              <a:gd name="adj" fmla="val 1778"/>
            </a:avLst>
          </a:prstGeom>
          <a:solidFill>
            <a:schemeClr val="tx1"/>
          </a:solidFill>
          <a:ln w="12700">
            <a:solidFill>
              <a:schemeClr val="tx1"/>
            </a:solidFill>
            <a:prstDash val="solid"/>
          </a:ln>
        </p:spPr>
      </p:sp>
      <p:sp>
        <p:nvSpPr>
          <p:cNvPr id="7" name="code"/>
          <p:cNvSpPr txBox="1"/>
          <p:nvPr/>
        </p:nvSpPr>
        <p:spPr>
          <a:xfrm>
            <a:off x="658368" y="1691640"/>
            <a:ext cx="6364224" cy="3931920"/>
          </a:xfrm>
          <a:prstGeom prst="rect">
            <a:avLst/>
          </a:prstGeom>
          <a:noFill/>
          <a:ln/>
        </p:spPr>
        <p:txBody>
          <a:bodyPr wrap="square" lIns="635" tIns="635" rIns="635" bIns="635" rtlCol="0" anchor="t"/>
          <a:lstStyle/>
          <a:p>
            <a:pPr indent="0" marL="0" eaLnBrk="0">
              <a:buNone/>
            </a:pPr>
            <a:r>
              <a:rPr lang="ko-KR" altLang="en-US" sz="1400" dirty="0">
                <a:solidFill>
                  <a:schemeClr val="bg1"/>
                </a:solidFill>
                <a:latin typeface="Consolas" pitchFamily="34" charset="0"/>
                <a:ea typeface="Consolas" pitchFamily="34" charset="-122"/>
                <a:cs typeface="Consolas" pitchFamily="34" charset="-120"/>
              </a:rPr>
              <a:t>case Instruction.GetHealth:</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a:t>
            </a:r>
            <a:endParaRPr lang="ko-KR" altLang="en-US" sz="1400" dirty="0"/>
          </a:p>
          <a:p>
            <a:pPr indent="0" marL="0" eaLnBrk="0">
              <a:buNone/>
            </a:pPr>
            <a:r>
              <a:rPr lang="ko-KR" altLang="en-US" sz="1400" b="1" dirty="0">
                <a:solidFill>
                  <a:schemeClr val="accent4"/>
                </a:solidFill>
                <a:latin typeface="Consolas" pitchFamily="34" charset="0"/>
                <a:ea typeface="Consolas" pitchFamily="34" charset="-122"/>
                <a:cs typeface="Consolas" pitchFamily="34" charset="-120"/>
              </a:rPr>
              <a:t>    int wizard = Pop();</a:t>
            </a:r>
            <a:endParaRPr lang="ko-KR" altLang="en-US" sz="1400" dirty="0"/>
          </a:p>
          <a:p>
            <a:pPr indent="0" marL="0" eaLnBrk="0">
              <a:buNone/>
            </a:pPr>
            <a:r>
              <a:rPr lang="ko-KR" altLang="en-US" sz="1400" b="1" dirty="0">
                <a:solidFill>
                  <a:schemeClr val="accent4"/>
                </a:solidFill>
                <a:latin typeface="Consolas" pitchFamily="34" charset="0"/>
                <a:ea typeface="Consolas" pitchFamily="34" charset="-122"/>
                <a:cs typeface="Consolas" pitchFamily="34" charset="-120"/>
              </a:rPr>
              <a:t>    Push(GetHealth(wizard));</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break;</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a:t>
            </a:r>
            <a:endParaRPr lang="ko-KR" altLang="en-US" sz="1400" dirty="0"/>
          </a:p>
          <a:p>
            <a:pPr indent="0" marL="0" eaLnBrk="0">
              <a:buNone/>
            </a:pPr>
            <a:r>
              <a:rPr lang="ko-KR" altLang="en-US" sz="1400" dirty="0">
                <a:solidFill>
                  <a:schemeClr val="accent3"/>
                </a:solidFill>
                <a:latin typeface="Consolas" pitchFamily="34" charset="0"/>
                <a:ea typeface="Consolas" pitchFamily="34" charset="-122"/>
                <a:cs typeface="Consolas" pitchFamily="34" charset="-120"/>
              </a:rPr>
              <a:t>// GetWisdom, GetAgility도 같은 모양이다</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case Instruction.Add:</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a:t>
            </a:r>
            <a:endParaRPr lang="ko-KR" altLang="en-US" sz="1400" dirty="0"/>
          </a:p>
          <a:p>
            <a:pPr indent="0" marL="0" eaLnBrk="0">
              <a:buNone/>
            </a:pPr>
            <a:r>
              <a:rPr lang="ko-KR" altLang="en-US" sz="1400" b="1" dirty="0">
                <a:solidFill>
                  <a:schemeClr val="accent4"/>
                </a:solidFill>
                <a:latin typeface="Consolas" pitchFamily="34" charset="0"/>
                <a:ea typeface="Consolas" pitchFamily="34" charset="-122"/>
                <a:cs typeface="Consolas" pitchFamily="34" charset="-120"/>
              </a:rPr>
              <a:t>    int b = Pop();</a:t>
            </a:r>
            <a:endParaRPr lang="ko-KR" altLang="en-US" sz="1400" dirty="0"/>
          </a:p>
          <a:p>
            <a:pPr indent="0" marL="0" eaLnBrk="0">
              <a:buNone/>
            </a:pPr>
            <a:r>
              <a:rPr lang="ko-KR" altLang="en-US" sz="1400" b="1" dirty="0">
                <a:solidFill>
                  <a:schemeClr val="accent4"/>
                </a:solidFill>
                <a:latin typeface="Consolas" pitchFamily="34" charset="0"/>
                <a:ea typeface="Consolas" pitchFamily="34" charset="-122"/>
                <a:cs typeface="Consolas" pitchFamily="34" charset="-120"/>
              </a:rPr>
              <a:t>    int a = Pop();</a:t>
            </a:r>
            <a:endParaRPr lang="ko-KR" altLang="en-US" sz="1400" dirty="0"/>
          </a:p>
          <a:p>
            <a:pPr indent="0" marL="0" eaLnBrk="0">
              <a:buNone/>
            </a:pPr>
            <a:r>
              <a:rPr lang="ko-KR" altLang="en-US" sz="1400" b="1" dirty="0">
                <a:solidFill>
                  <a:schemeClr val="accent4"/>
                </a:solidFill>
                <a:latin typeface="Consolas" pitchFamily="34" charset="0"/>
                <a:ea typeface="Consolas" pitchFamily="34" charset="-122"/>
                <a:cs typeface="Consolas" pitchFamily="34" charset="-120"/>
              </a:rPr>
              <a:t>    Push(a + b);</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break;</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a:t>
            </a:r>
            <a:endParaRPr lang="ko-KR" altLang="en-US" sz="1400" dirty="0"/>
          </a:p>
        </p:txBody>
      </p:sp>
      <p:sp>
        <p:nvSpPr>
          <p:cNvPr id="8" name="codeCaption"/>
          <p:cNvSpPr txBox="1"/>
          <p:nvPr/>
        </p:nvSpPr>
        <p:spPr>
          <a:xfrm>
            <a:off x="4023360" y="169164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ard"/>
          <p:cNvSpPr/>
          <p:nvPr/>
        </p:nvSpPr>
        <p:spPr>
          <a:xfrm>
            <a:off x="7498080" y="1600200"/>
            <a:ext cx="4144975" cy="1325880"/>
          </a:xfrm>
          <a:prstGeom prst="roundRect">
            <a:avLst>
              <a:gd name="adj" fmla="val 6897"/>
            </a:avLst>
          </a:prstGeom>
          <a:solidFill>
            <a:schemeClr val="bg2"/>
          </a:solidFill>
          <a:ln w="12700">
            <a:solidFill>
              <a:schemeClr val="bg2"/>
            </a:solidFill>
            <a:prstDash val="solid"/>
          </a:ln>
        </p:spPr>
      </p:sp>
      <p:sp>
        <p:nvSpPr>
          <p:cNvPr id="10" name="Text 7"/>
          <p:cNvSpPr txBox="1"/>
          <p:nvPr/>
        </p:nvSpPr>
        <p:spPr>
          <a:xfrm>
            <a:off x="7726680" y="1819656"/>
            <a:ext cx="373349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GetHealth</a:t>
            </a:r>
            <a:endParaRPr lang="ko-KR" altLang="en-US" sz="1700" dirty="0"/>
          </a:p>
        </p:txBody>
      </p:sp>
      <p:sp>
        <p:nvSpPr>
          <p:cNvPr id="11" name="Text 8"/>
          <p:cNvSpPr txBox="1"/>
          <p:nvPr/>
        </p:nvSpPr>
        <p:spPr>
          <a:xfrm>
            <a:off x="7726680" y="2331720"/>
            <a:ext cx="3687775" cy="457200"/>
          </a:xfrm>
          <a:prstGeom prst="rect">
            <a:avLst/>
          </a:prstGeom>
          <a:noFill/>
          <a:ln/>
        </p:spPr>
        <p:txBody>
          <a:bodyPr wrap="square" lIns="0" tIns="0" rIns="0" bIns="0" rtlCol="0" anchor="t"/>
          <a:lstStyle/>
          <a:p>
            <a:pPr indent="0" marL="0" eaLnBrk="0">
              <a:buNone/>
            </a:pPr>
            <a:r>
              <a:rPr lang="ko-KR" altLang="en-US" sz="1400" dirty="0">
                <a:solidFill>
                  <a:schemeClr val="tx2"/>
                </a:solidFill>
              </a:rPr>
              <a:t>번호를 꺼내고, 체력을 넣는다.</a:t>
            </a:r>
            <a:endParaRPr lang="ko-KR" altLang="en-US" sz="1400" dirty="0"/>
          </a:p>
        </p:txBody>
      </p:sp>
      <p:sp>
        <p:nvSpPr>
          <p:cNvPr id="12" name="card"/>
          <p:cNvSpPr/>
          <p:nvPr/>
        </p:nvSpPr>
        <p:spPr>
          <a:xfrm>
            <a:off x="7498080" y="3063240"/>
            <a:ext cx="4144975" cy="1325880"/>
          </a:xfrm>
          <a:prstGeom prst="roundRect">
            <a:avLst>
              <a:gd name="adj" fmla="val 6897"/>
            </a:avLst>
          </a:prstGeom>
          <a:solidFill>
            <a:schemeClr val="bg2"/>
          </a:solidFill>
          <a:ln w="12700">
            <a:solidFill>
              <a:schemeClr val="bg2"/>
            </a:solidFill>
            <a:prstDash val="solid"/>
          </a:ln>
        </p:spPr>
      </p:sp>
      <p:sp>
        <p:nvSpPr>
          <p:cNvPr id="13" name="Text 10"/>
          <p:cNvSpPr txBox="1"/>
          <p:nvPr/>
        </p:nvSpPr>
        <p:spPr>
          <a:xfrm>
            <a:off x="7726680" y="3282696"/>
            <a:ext cx="373349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Add</a:t>
            </a:r>
            <a:endParaRPr lang="ko-KR" altLang="en-US" sz="1700" dirty="0"/>
          </a:p>
        </p:txBody>
      </p:sp>
      <p:sp>
        <p:nvSpPr>
          <p:cNvPr id="14" name="Text 11"/>
          <p:cNvSpPr txBox="1"/>
          <p:nvPr/>
        </p:nvSpPr>
        <p:spPr>
          <a:xfrm>
            <a:off x="7726680" y="3794760"/>
            <a:ext cx="3687775" cy="457200"/>
          </a:xfrm>
          <a:prstGeom prst="rect">
            <a:avLst/>
          </a:prstGeom>
          <a:noFill/>
          <a:ln/>
        </p:spPr>
        <p:txBody>
          <a:bodyPr wrap="square" lIns="0" tIns="0" rIns="0" bIns="0" rtlCol="0" anchor="t"/>
          <a:lstStyle/>
          <a:p>
            <a:pPr indent="0" marL="0" eaLnBrk="0">
              <a:buNone/>
            </a:pPr>
            <a:r>
              <a:rPr lang="ko-KR" altLang="en-US" sz="1400" dirty="0">
                <a:solidFill>
                  <a:schemeClr val="tx2"/>
                </a:solidFill>
              </a:rPr>
              <a:t>두 값을 꺼내고, 합을 넣는다.</a:t>
            </a:r>
            <a:endParaRPr lang="ko-KR" altLang="en-US" sz="1400" dirty="0"/>
          </a:p>
        </p:txBody>
      </p:sp>
      <p:sp>
        <p:nvSpPr>
          <p:cNvPr id="15" name="card"/>
          <p:cNvSpPr/>
          <p:nvPr/>
        </p:nvSpPr>
        <p:spPr>
          <a:xfrm>
            <a:off x="7498080" y="4526280"/>
            <a:ext cx="4144975" cy="1188720"/>
          </a:xfrm>
          <a:prstGeom prst="roundRect">
            <a:avLst>
              <a:gd name="adj" fmla="val 7692"/>
            </a:avLst>
          </a:prstGeom>
          <a:solidFill>
            <a:schemeClr val="bg2"/>
          </a:solidFill>
          <a:ln w="12700">
            <a:solidFill>
              <a:schemeClr val="bg2"/>
            </a:solidFill>
            <a:prstDash val="solid"/>
          </a:ln>
        </p:spPr>
      </p:sp>
      <p:sp>
        <p:nvSpPr>
          <p:cNvPr id="16" name="Text 13"/>
          <p:cNvSpPr txBox="1"/>
          <p:nvPr/>
        </p:nvSpPr>
        <p:spPr>
          <a:xfrm>
            <a:off x="7726680" y="4745736"/>
            <a:ext cx="373349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Divide</a:t>
            </a:r>
            <a:endParaRPr lang="ko-KR" altLang="en-US" sz="1700" dirty="0"/>
          </a:p>
        </p:txBody>
      </p:sp>
      <p:sp>
        <p:nvSpPr>
          <p:cNvPr id="17" name="Text 14"/>
          <p:cNvSpPr txBox="1"/>
          <p:nvPr/>
        </p:nvSpPr>
        <p:spPr>
          <a:xfrm>
            <a:off x="7726680" y="5257800"/>
            <a:ext cx="3687775" cy="320040"/>
          </a:xfrm>
          <a:prstGeom prst="rect">
            <a:avLst/>
          </a:prstGeom>
          <a:noFill/>
          <a:ln/>
        </p:spPr>
        <p:txBody>
          <a:bodyPr wrap="square" lIns="0" tIns="0" rIns="0" bIns="0" rtlCol="0" anchor="t"/>
          <a:lstStyle/>
          <a:p>
            <a:pPr indent="0" marL="0" eaLnBrk="0">
              <a:buNone/>
            </a:pPr>
            <a:r>
              <a:rPr lang="ko-KR" altLang="en-US" sz="1400" dirty="0">
                <a:solidFill>
                  <a:schemeClr val="tx2"/>
                </a:solidFill>
              </a:rPr>
              <a:t>Add와 같은 모양으로 a / b를 넣는다.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20</a:t>
            </a:fld>
            <a:endParaRPr lang="ko-KR"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식을 단계로</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‘기억한다’는 Push, ‘다시 꺼낸다’는 Pop이다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실제 능력치를 넣고 스택을 한 단계씩 따라가 보자.</a:t>
            </a:r>
            <a:endParaRPr lang="ko-KR" altLang="en-US" sz="1500" dirty="0"/>
          </a:p>
        </p:txBody>
      </p:sp>
      <p:sp>
        <p:nvSpPr>
          <p:cNvPr id="6" name="codePanel"/>
          <p:cNvSpPr/>
          <p:nvPr/>
        </p:nvSpPr>
        <p:spPr>
          <a:xfrm>
            <a:off x="548640" y="1600200"/>
            <a:ext cx="6583680" cy="868680"/>
          </a:xfrm>
          <a:prstGeom prst="roundRect">
            <a:avLst>
              <a:gd name="adj" fmla="val 8421"/>
            </a:avLst>
          </a:prstGeom>
          <a:solidFill>
            <a:schemeClr val="tx1"/>
          </a:solidFill>
          <a:ln w="12700">
            <a:solidFill>
              <a:schemeClr val="tx1"/>
            </a:solidFill>
            <a:prstDash val="solid"/>
          </a:ln>
        </p:spPr>
      </p:sp>
      <p:sp>
        <p:nvSpPr>
          <p:cNvPr id="7" name="code"/>
          <p:cNvSpPr txBox="1"/>
          <p:nvPr/>
        </p:nvSpPr>
        <p:spPr>
          <a:xfrm>
            <a:off x="658368" y="1691640"/>
            <a:ext cx="6364224" cy="685800"/>
          </a:xfrm>
          <a:prstGeom prst="rect">
            <a:avLst/>
          </a:prstGeom>
          <a:noFill/>
          <a:ln/>
        </p:spPr>
        <p:txBody>
          <a:bodyPr wrap="square" lIns="635" tIns="635" rIns="635" bIns="635" rtlCol="0" anchor="t"/>
          <a:lstStyle/>
          <a:p>
            <a:pPr indent="0" marL="0" eaLnBrk="0">
              <a:buNone/>
            </a:pPr>
            <a:r>
              <a:rPr lang="ko-KR" altLang="en-US" sz="1500" b="1" dirty="0">
                <a:solidFill>
                  <a:schemeClr val="accent4"/>
                </a:solidFill>
                <a:latin typeface="Consolas" pitchFamily="34" charset="0"/>
                <a:ea typeface="Consolas" pitchFamily="34" charset="-122"/>
                <a:cs typeface="Consolas" pitchFamily="34" charset="-120"/>
              </a:rPr>
              <a:t>SetHealth(0, GetHealth(0) +</a:t>
            </a:r>
            <a:endParaRPr lang="ko-KR" altLang="en-US" sz="1500" dirty="0"/>
          </a:p>
          <a:p>
            <a:pPr indent="0" marL="0" eaLnBrk="0">
              <a:buNone/>
            </a:pPr>
            <a:r>
              <a:rPr lang="ko-KR" altLang="en-US" sz="1500" b="1" dirty="0">
                <a:solidFill>
                  <a:schemeClr val="accent4"/>
                </a:solidFill>
                <a:latin typeface="Consolas" pitchFamily="34" charset="0"/>
                <a:ea typeface="Consolas" pitchFamily="34" charset="-122"/>
                <a:cs typeface="Consolas" pitchFamily="34" charset="-120"/>
              </a:rPr>
              <a:t>    (GetAgility(0) + GetWisdom(0)) / 2);</a:t>
            </a:r>
            <a:endParaRPr lang="ko-KR" altLang="en-US" sz="1500" dirty="0"/>
          </a:p>
        </p:txBody>
      </p:sp>
      <p:sp>
        <p:nvSpPr>
          <p:cNvPr id="8" name="Shape 5"/>
          <p:cNvSpPr/>
          <p:nvPr/>
        </p:nvSpPr>
        <p:spPr>
          <a:xfrm>
            <a:off x="548640" y="2688336"/>
            <a:ext cx="310896" cy="310896"/>
          </a:xfrm>
          <a:prstGeom prst="ellipse">
            <a:avLst/>
          </a:prstGeom>
          <a:solidFill>
            <a:schemeClr val="accent1"/>
          </a:solidFill>
          <a:ln w="12700">
            <a:solidFill>
              <a:schemeClr val="accent1"/>
            </a:solidFill>
            <a:prstDash val="solid"/>
          </a:ln>
        </p:spPr>
      </p:sp>
      <p:sp>
        <p:nvSpPr>
          <p:cNvPr id="9" name="Text 6"/>
          <p:cNvSpPr txBox="1"/>
          <p:nvPr/>
        </p:nvSpPr>
        <p:spPr>
          <a:xfrm>
            <a:off x="548640" y="2688336"/>
            <a:ext cx="310896" cy="310896"/>
          </a:xfrm>
          <a:prstGeom prst="rect">
            <a:avLst/>
          </a:prstGeom>
          <a:noFill/>
          <a:ln/>
        </p:spPr>
        <p:txBody>
          <a:bodyPr wrap="square" lIns="0" tIns="0" rIns="0" bIns="0" rtlCol="0" anchor="ctr"/>
          <a:lstStyle/>
          <a:p>
            <a:pPr algn="ctr" indent="0" marL="0" eaLnBrk="0">
              <a:buNone/>
            </a:pPr>
            <a:r>
              <a:rPr lang="ko-KR" altLang="en-US" sz="1200" b="1" dirty="0">
                <a:solidFill>
                  <a:schemeClr val="bg1"/>
                </a:solidFill>
              </a:rPr>
              <a:t>1</a:t>
            </a:r>
            <a:endParaRPr lang="ko-KR" altLang="en-US" sz="1200" dirty="0"/>
          </a:p>
        </p:txBody>
      </p:sp>
      <p:sp>
        <p:nvSpPr>
          <p:cNvPr id="10" name="Text 7"/>
          <p:cNvSpPr txBox="1"/>
          <p:nvPr/>
        </p:nvSpPr>
        <p:spPr>
          <a:xfrm>
            <a:off x="1005840" y="2651760"/>
            <a:ext cx="6126480" cy="384048"/>
          </a:xfrm>
          <a:prstGeom prst="rect">
            <a:avLst/>
          </a:prstGeom>
          <a:noFill/>
          <a:ln/>
        </p:spPr>
        <p:txBody>
          <a:bodyPr wrap="square" lIns="0" tIns="0" rIns="0" bIns="0" rtlCol="0" anchor="ctr"/>
          <a:lstStyle/>
          <a:p>
            <a:pPr indent="0" marL="0" eaLnBrk="0">
              <a:buNone/>
            </a:pPr>
            <a:r>
              <a:rPr lang="ko-KR" altLang="en-US" sz="1400" dirty="0">
                <a:solidFill>
                  <a:schemeClr val="tx2"/>
                </a:solidFill>
              </a:rPr>
              <a:t>현재 체력을 읽어 기억한다.</a:t>
            </a:r>
            <a:endParaRPr lang="ko-KR" altLang="en-US" sz="1400" dirty="0"/>
          </a:p>
        </p:txBody>
      </p:sp>
      <p:sp>
        <p:nvSpPr>
          <p:cNvPr id="11" name="Shape 8"/>
          <p:cNvSpPr/>
          <p:nvPr/>
        </p:nvSpPr>
        <p:spPr>
          <a:xfrm>
            <a:off x="548640" y="3118104"/>
            <a:ext cx="310896" cy="310896"/>
          </a:xfrm>
          <a:prstGeom prst="ellipse">
            <a:avLst/>
          </a:prstGeom>
          <a:solidFill>
            <a:schemeClr val="accent1"/>
          </a:solidFill>
          <a:ln w="12700">
            <a:solidFill>
              <a:schemeClr val="accent1"/>
            </a:solidFill>
            <a:prstDash val="solid"/>
          </a:ln>
        </p:spPr>
      </p:sp>
      <p:sp>
        <p:nvSpPr>
          <p:cNvPr id="12" name="Text 9"/>
          <p:cNvSpPr txBox="1"/>
          <p:nvPr/>
        </p:nvSpPr>
        <p:spPr>
          <a:xfrm>
            <a:off x="548640" y="3118104"/>
            <a:ext cx="310896" cy="310896"/>
          </a:xfrm>
          <a:prstGeom prst="rect">
            <a:avLst/>
          </a:prstGeom>
          <a:noFill/>
          <a:ln/>
        </p:spPr>
        <p:txBody>
          <a:bodyPr wrap="square" lIns="0" tIns="0" rIns="0" bIns="0" rtlCol="0" anchor="ctr"/>
          <a:lstStyle/>
          <a:p>
            <a:pPr algn="ctr" indent="0" marL="0" eaLnBrk="0">
              <a:buNone/>
            </a:pPr>
            <a:r>
              <a:rPr lang="ko-KR" altLang="en-US" sz="1200" b="1" dirty="0">
                <a:solidFill>
                  <a:schemeClr val="bg1"/>
                </a:solidFill>
              </a:rPr>
              <a:t>2</a:t>
            </a:r>
            <a:endParaRPr lang="ko-KR" altLang="en-US" sz="1200" dirty="0"/>
          </a:p>
        </p:txBody>
      </p:sp>
      <p:sp>
        <p:nvSpPr>
          <p:cNvPr id="13" name="Text 10"/>
          <p:cNvSpPr txBox="1"/>
          <p:nvPr/>
        </p:nvSpPr>
        <p:spPr>
          <a:xfrm>
            <a:off x="1005840" y="3081528"/>
            <a:ext cx="6126480" cy="384048"/>
          </a:xfrm>
          <a:prstGeom prst="rect">
            <a:avLst/>
          </a:prstGeom>
          <a:noFill/>
          <a:ln/>
        </p:spPr>
        <p:txBody>
          <a:bodyPr wrap="square" lIns="0" tIns="0" rIns="0" bIns="0" rtlCol="0" anchor="ctr"/>
          <a:lstStyle/>
          <a:p>
            <a:pPr indent="0" marL="0" eaLnBrk="0">
              <a:buNone/>
            </a:pPr>
            <a:r>
              <a:rPr lang="ko-KR" altLang="en-US" sz="1400" dirty="0">
                <a:solidFill>
                  <a:schemeClr val="tx2"/>
                </a:solidFill>
              </a:rPr>
              <a:t>민첩을 읽어 기억한다.</a:t>
            </a:r>
            <a:endParaRPr lang="ko-KR" altLang="en-US" sz="1400" dirty="0"/>
          </a:p>
        </p:txBody>
      </p:sp>
      <p:sp>
        <p:nvSpPr>
          <p:cNvPr id="14" name="Shape 11"/>
          <p:cNvSpPr/>
          <p:nvPr/>
        </p:nvSpPr>
        <p:spPr>
          <a:xfrm>
            <a:off x="548640" y="3547872"/>
            <a:ext cx="310896" cy="310896"/>
          </a:xfrm>
          <a:prstGeom prst="ellipse">
            <a:avLst/>
          </a:prstGeom>
          <a:solidFill>
            <a:schemeClr val="accent1"/>
          </a:solidFill>
          <a:ln w="12700">
            <a:solidFill>
              <a:schemeClr val="accent1"/>
            </a:solidFill>
            <a:prstDash val="solid"/>
          </a:ln>
        </p:spPr>
      </p:sp>
      <p:sp>
        <p:nvSpPr>
          <p:cNvPr id="15" name="Text 12"/>
          <p:cNvSpPr txBox="1"/>
          <p:nvPr/>
        </p:nvSpPr>
        <p:spPr>
          <a:xfrm>
            <a:off x="548640" y="3547872"/>
            <a:ext cx="310896" cy="310896"/>
          </a:xfrm>
          <a:prstGeom prst="rect">
            <a:avLst/>
          </a:prstGeom>
          <a:noFill/>
          <a:ln/>
        </p:spPr>
        <p:txBody>
          <a:bodyPr wrap="square" lIns="0" tIns="0" rIns="0" bIns="0" rtlCol="0" anchor="ctr"/>
          <a:lstStyle/>
          <a:p>
            <a:pPr algn="ctr" indent="0" marL="0" eaLnBrk="0">
              <a:buNone/>
            </a:pPr>
            <a:r>
              <a:rPr lang="ko-KR" altLang="en-US" sz="1200" b="1" dirty="0">
                <a:solidFill>
                  <a:schemeClr val="bg1"/>
                </a:solidFill>
              </a:rPr>
              <a:t>3</a:t>
            </a:r>
            <a:endParaRPr lang="ko-KR" altLang="en-US" sz="1200" dirty="0"/>
          </a:p>
        </p:txBody>
      </p:sp>
      <p:sp>
        <p:nvSpPr>
          <p:cNvPr id="16" name="Text 13"/>
          <p:cNvSpPr txBox="1"/>
          <p:nvPr/>
        </p:nvSpPr>
        <p:spPr>
          <a:xfrm>
            <a:off x="1005840" y="3511296"/>
            <a:ext cx="6126480" cy="384048"/>
          </a:xfrm>
          <a:prstGeom prst="rect">
            <a:avLst/>
          </a:prstGeom>
          <a:noFill/>
          <a:ln/>
        </p:spPr>
        <p:txBody>
          <a:bodyPr wrap="square" lIns="0" tIns="0" rIns="0" bIns="0" rtlCol="0" anchor="ctr"/>
          <a:lstStyle/>
          <a:p>
            <a:pPr indent="0" marL="0" eaLnBrk="0">
              <a:buNone/>
            </a:pPr>
            <a:r>
              <a:rPr lang="ko-KR" altLang="en-US" sz="1400" dirty="0">
                <a:solidFill>
                  <a:schemeClr val="tx2"/>
                </a:solidFill>
              </a:rPr>
              <a:t>지혜도 읽어 기억한다.</a:t>
            </a:r>
            <a:endParaRPr lang="ko-KR" altLang="en-US" sz="1400" dirty="0"/>
          </a:p>
        </p:txBody>
      </p:sp>
      <p:sp>
        <p:nvSpPr>
          <p:cNvPr id="17" name="Shape 14"/>
          <p:cNvSpPr/>
          <p:nvPr/>
        </p:nvSpPr>
        <p:spPr>
          <a:xfrm>
            <a:off x="548640" y="3977640"/>
            <a:ext cx="310896" cy="310896"/>
          </a:xfrm>
          <a:prstGeom prst="ellipse">
            <a:avLst/>
          </a:prstGeom>
          <a:solidFill>
            <a:schemeClr val="accent1"/>
          </a:solidFill>
          <a:ln w="12700">
            <a:solidFill>
              <a:schemeClr val="accent1"/>
            </a:solidFill>
            <a:prstDash val="solid"/>
          </a:ln>
        </p:spPr>
      </p:sp>
      <p:sp>
        <p:nvSpPr>
          <p:cNvPr id="18" name="Text 15"/>
          <p:cNvSpPr txBox="1"/>
          <p:nvPr/>
        </p:nvSpPr>
        <p:spPr>
          <a:xfrm>
            <a:off x="548640" y="3977640"/>
            <a:ext cx="310896" cy="310896"/>
          </a:xfrm>
          <a:prstGeom prst="rect">
            <a:avLst/>
          </a:prstGeom>
          <a:noFill/>
          <a:ln/>
        </p:spPr>
        <p:txBody>
          <a:bodyPr wrap="square" lIns="0" tIns="0" rIns="0" bIns="0" rtlCol="0" anchor="ctr"/>
          <a:lstStyle/>
          <a:p>
            <a:pPr algn="ctr" indent="0" marL="0" eaLnBrk="0">
              <a:buNone/>
            </a:pPr>
            <a:r>
              <a:rPr lang="ko-KR" altLang="en-US" sz="1200" b="1" dirty="0">
                <a:solidFill>
                  <a:schemeClr val="bg1"/>
                </a:solidFill>
              </a:rPr>
              <a:t>4</a:t>
            </a:r>
            <a:endParaRPr lang="ko-KR" altLang="en-US" sz="1200" dirty="0"/>
          </a:p>
        </p:txBody>
      </p:sp>
      <p:sp>
        <p:nvSpPr>
          <p:cNvPr id="19" name="Text 16"/>
          <p:cNvSpPr txBox="1"/>
          <p:nvPr/>
        </p:nvSpPr>
        <p:spPr>
          <a:xfrm>
            <a:off x="1005840" y="3941064"/>
            <a:ext cx="6126480" cy="384048"/>
          </a:xfrm>
          <a:prstGeom prst="rect">
            <a:avLst/>
          </a:prstGeom>
          <a:noFill/>
          <a:ln/>
        </p:spPr>
        <p:txBody>
          <a:bodyPr wrap="square" lIns="0" tIns="0" rIns="0" bIns="0" rtlCol="0" anchor="ctr"/>
          <a:lstStyle/>
          <a:p>
            <a:pPr indent="0" marL="0" eaLnBrk="0">
              <a:buNone/>
            </a:pPr>
            <a:r>
              <a:rPr lang="ko-KR" altLang="en-US" sz="1400" dirty="0">
                <a:solidFill>
                  <a:schemeClr val="tx2"/>
                </a:solidFill>
              </a:rPr>
              <a:t>마지막 두 값을 꺼내 더하고, 결과를 기억한다.</a:t>
            </a:r>
            <a:endParaRPr lang="ko-KR" altLang="en-US" sz="1400" dirty="0"/>
          </a:p>
        </p:txBody>
      </p:sp>
      <p:sp>
        <p:nvSpPr>
          <p:cNvPr id="20" name="Shape 17"/>
          <p:cNvSpPr/>
          <p:nvPr/>
        </p:nvSpPr>
        <p:spPr>
          <a:xfrm>
            <a:off x="548640" y="4407408"/>
            <a:ext cx="310896" cy="310896"/>
          </a:xfrm>
          <a:prstGeom prst="ellipse">
            <a:avLst/>
          </a:prstGeom>
          <a:solidFill>
            <a:schemeClr val="accent1"/>
          </a:solidFill>
          <a:ln w="12700">
            <a:solidFill>
              <a:schemeClr val="accent1"/>
            </a:solidFill>
            <a:prstDash val="solid"/>
          </a:ln>
        </p:spPr>
      </p:sp>
      <p:sp>
        <p:nvSpPr>
          <p:cNvPr id="21" name="Text 18"/>
          <p:cNvSpPr txBox="1"/>
          <p:nvPr/>
        </p:nvSpPr>
        <p:spPr>
          <a:xfrm>
            <a:off x="548640" y="4407408"/>
            <a:ext cx="310896" cy="310896"/>
          </a:xfrm>
          <a:prstGeom prst="rect">
            <a:avLst/>
          </a:prstGeom>
          <a:noFill/>
          <a:ln/>
        </p:spPr>
        <p:txBody>
          <a:bodyPr wrap="square" lIns="0" tIns="0" rIns="0" bIns="0" rtlCol="0" anchor="ctr"/>
          <a:lstStyle/>
          <a:p>
            <a:pPr algn="ctr" indent="0" marL="0" eaLnBrk="0">
              <a:buNone/>
            </a:pPr>
            <a:r>
              <a:rPr lang="ko-KR" altLang="en-US" sz="1200" b="1" dirty="0">
                <a:solidFill>
                  <a:schemeClr val="bg1"/>
                </a:solidFill>
              </a:rPr>
              <a:t>5</a:t>
            </a:r>
            <a:endParaRPr lang="ko-KR" altLang="en-US" sz="1200" dirty="0"/>
          </a:p>
        </p:txBody>
      </p:sp>
      <p:sp>
        <p:nvSpPr>
          <p:cNvPr id="22" name="Text 19"/>
          <p:cNvSpPr txBox="1"/>
          <p:nvPr/>
        </p:nvSpPr>
        <p:spPr>
          <a:xfrm>
            <a:off x="1005840" y="4370832"/>
            <a:ext cx="6126480" cy="384048"/>
          </a:xfrm>
          <a:prstGeom prst="rect">
            <a:avLst/>
          </a:prstGeom>
          <a:noFill/>
          <a:ln/>
        </p:spPr>
        <p:txBody>
          <a:bodyPr wrap="square" lIns="0" tIns="0" rIns="0" bIns="0" rtlCol="0" anchor="ctr"/>
          <a:lstStyle/>
          <a:p>
            <a:pPr indent="0" marL="0" eaLnBrk="0">
              <a:buNone/>
            </a:pPr>
            <a:r>
              <a:rPr lang="ko-KR" altLang="en-US" sz="1400" dirty="0">
                <a:solidFill>
                  <a:schemeClr val="tx2"/>
                </a:solidFill>
              </a:rPr>
              <a:t>그 값을 2로 나누고, 결과를 기억한다.</a:t>
            </a:r>
            <a:endParaRPr lang="ko-KR" altLang="en-US" sz="1400" dirty="0"/>
          </a:p>
        </p:txBody>
      </p:sp>
      <p:sp>
        <p:nvSpPr>
          <p:cNvPr id="23" name="Shape 20"/>
          <p:cNvSpPr/>
          <p:nvPr/>
        </p:nvSpPr>
        <p:spPr>
          <a:xfrm>
            <a:off x="548640" y="4837176"/>
            <a:ext cx="310896" cy="310896"/>
          </a:xfrm>
          <a:prstGeom prst="ellipse">
            <a:avLst/>
          </a:prstGeom>
          <a:solidFill>
            <a:schemeClr val="accent1"/>
          </a:solidFill>
          <a:ln w="12700">
            <a:solidFill>
              <a:schemeClr val="accent1"/>
            </a:solidFill>
            <a:prstDash val="solid"/>
          </a:ln>
        </p:spPr>
      </p:sp>
      <p:sp>
        <p:nvSpPr>
          <p:cNvPr id="24" name="Text 21"/>
          <p:cNvSpPr txBox="1"/>
          <p:nvPr/>
        </p:nvSpPr>
        <p:spPr>
          <a:xfrm>
            <a:off x="548640" y="4837176"/>
            <a:ext cx="310896" cy="310896"/>
          </a:xfrm>
          <a:prstGeom prst="rect">
            <a:avLst/>
          </a:prstGeom>
          <a:noFill/>
          <a:ln/>
        </p:spPr>
        <p:txBody>
          <a:bodyPr wrap="square" lIns="0" tIns="0" rIns="0" bIns="0" rtlCol="0" anchor="ctr"/>
          <a:lstStyle/>
          <a:p>
            <a:pPr algn="ctr" indent="0" marL="0" eaLnBrk="0">
              <a:buNone/>
            </a:pPr>
            <a:r>
              <a:rPr lang="ko-KR" altLang="en-US" sz="1200" b="1" dirty="0">
                <a:solidFill>
                  <a:schemeClr val="bg1"/>
                </a:solidFill>
              </a:rPr>
              <a:t>6</a:t>
            </a:r>
            <a:endParaRPr lang="ko-KR" altLang="en-US" sz="1200" dirty="0"/>
          </a:p>
        </p:txBody>
      </p:sp>
      <p:sp>
        <p:nvSpPr>
          <p:cNvPr id="25" name="Text 22"/>
          <p:cNvSpPr txBox="1"/>
          <p:nvPr/>
        </p:nvSpPr>
        <p:spPr>
          <a:xfrm>
            <a:off x="1005840" y="4800600"/>
            <a:ext cx="6126480" cy="384048"/>
          </a:xfrm>
          <a:prstGeom prst="rect">
            <a:avLst/>
          </a:prstGeom>
          <a:noFill/>
          <a:ln/>
        </p:spPr>
        <p:txBody>
          <a:bodyPr wrap="square" lIns="0" tIns="0" rIns="0" bIns="0" rtlCol="0" anchor="ctr"/>
          <a:lstStyle/>
          <a:p>
            <a:pPr indent="0" marL="0" eaLnBrk="0">
              <a:buNone/>
            </a:pPr>
            <a:r>
              <a:rPr lang="ko-KR" altLang="en-US" sz="1400" dirty="0">
                <a:solidFill>
                  <a:schemeClr val="tx2"/>
                </a:solidFill>
              </a:rPr>
              <a:t>기억한 체력을 꺼내 그 결과와 더한다.</a:t>
            </a:r>
            <a:endParaRPr lang="ko-KR" altLang="en-US" sz="1400" dirty="0"/>
          </a:p>
        </p:txBody>
      </p:sp>
      <p:sp>
        <p:nvSpPr>
          <p:cNvPr id="26" name="Shape 23"/>
          <p:cNvSpPr/>
          <p:nvPr/>
        </p:nvSpPr>
        <p:spPr>
          <a:xfrm>
            <a:off x="548640" y="5266944"/>
            <a:ext cx="310896" cy="310896"/>
          </a:xfrm>
          <a:prstGeom prst="ellipse">
            <a:avLst/>
          </a:prstGeom>
          <a:solidFill>
            <a:schemeClr val="accent1"/>
          </a:solidFill>
          <a:ln w="12700">
            <a:solidFill>
              <a:schemeClr val="accent1"/>
            </a:solidFill>
            <a:prstDash val="solid"/>
          </a:ln>
        </p:spPr>
      </p:sp>
      <p:sp>
        <p:nvSpPr>
          <p:cNvPr id="27" name="Text 24"/>
          <p:cNvSpPr txBox="1"/>
          <p:nvPr/>
        </p:nvSpPr>
        <p:spPr>
          <a:xfrm>
            <a:off x="548640" y="5266944"/>
            <a:ext cx="310896" cy="310896"/>
          </a:xfrm>
          <a:prstGeom prst="rect">
            <a:avLst/>
          </a:prstGeom>
          <a:noFill/>
          <a:ln/>
        </p:spPr>
        <p:txBody>
          <a:bodyPr wrap="square" lIns="0" tIns="0" rIns="0" bIns="0" rtlCol="0" anchor="ctr"/>
          <a:lstStyle/>
          <a:p>
            <a:pPr algn="ctr" indent="0" marL="0" eaLnBrk="0">
              <a:buNone/>
            </a:pPr>
            <a:r>
              <a:rPr lang="ko-KR" altLang="en-US" sz="1200" b="1" dirty="0">
                <a:solidFill>
                  <a:schemeClr val="bg1"/>
                </a:solidFill>
              </a:rPr>
              <a:t>7</a:t>
            </a:r>
            <a:endParaRPr lang="ko-KR" altLang="en-US" sz="1200" dirty="0"/>
          </a:p>
        </p:txBody>
      </p:sp>
      <p:sp>
        <p:nvSpPr>
          <p:cNvPr id="28" name="Text 25"/>
          <p:cNvSpPr txBox="1"/>
          <p:nvPr/>
        </p:nvSpPr>
        <p:spPr>
          <a:xfrm>
            <a:off x="1005840" y="5230368"/>
            <a:ext cx="6126480" cy="384048"/>
          </a:xfrm>
          <a:prstGeom prst="rect">
            <a:avLst/>
          </a:prstGeom>
          <a:noFill/>
          <a:ln/>
        </p:spPr>
        <p:txBody>
          <a:bodyPr wrap="square" lIns="0" tIns="0" rIns="0" bIns="0" rtlCol="0" anchor="ctr"/>
          <a:lstStyle/>
          <a:p>
            <a:pPr indent="0" marL="0" eaLnBrk="0">
              <a:buNone/>
            </a:pPr>
            <a:r>
              <a:rPr lang="ko-KR" altLang="en-US" sz="1400" dirty="0">
                <a:solidFill>
                  <a:schemeClr val="tx2"/>
                </a:solidFill>
              </a:rPr>
              <a:t>그 결과로 체력을 정한다.</a:t>
            </a:r>
            <a:endParaRPr lang="ko-KR" altLang="en-US" sz="1400" dirty="0"/>
          </a:p>
        </p:txBody>
      </p:sp>
      <p:sp>
        <p:nvSpPr>
          <p:cNvPr id="29" name="card"/>
          <p:cNvSpPr/>
          <p:nvPr/>
        </p:nvSpPr>
        <p:spPr>
          <a:xfrm>
            <a:off x="7498080" y="1600200"/>
            <a:ext cx="4144975" cy="1463040"/>
          </a:xfrm>
          <a:prstGeom prst="roundRect">
            <a:avLst>
              <a:gd name="adj" fmla="val 6250"/>
            </a:avLst>
          </a:prstGeom>
          <a:solidFill>
            <a:schemeClr val="bg2"/>
          </a:solidFill>
          <a:ln w="12700">
            <a:solidFill>
              <a:schemeClr val="bg2"/>
            </a:solidFill>
            <a:prstDash val="solid"/>
          </a:ln>
        </p:spPr>
      </p:sp>
      <p:sp>
        <p:nvSpPr>
          <p:cNvPr id="30" name="Text 27"/>
          <p:cNvSpPr txBox="1"/>
          <p:nvPr/>
        </p:nvSpPr>
        <p:spPr>
          <a:xfrm>
            <a:off x="7726680" y="1819656"/>
            <a:ext cx="373349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괄호는 따로 없다</a:t>
            </a:r>
            <a:endParaRPr lang="ko-KR" altLang="en-US" sz="1700" dirty="0"/>
          </a:p>
        </p:txBody>
      </p:sp>
      <p:sp>
        <p:nvSpPr>
          <p:cNvPr id="31" name="Text 28"/>
          <p:cNvSpPr txBox="1"/>
          <p:nvPr/>
        </p:nvSpPr>
        <p:spPr>
          <a:xfrm>
            <a:off x="7726680" y="2331720"/>
            <a:ext cx="3687775" cy="594360"/>
          </a:xfrm>
          <a:prstGeom prst="rect">
            <a:avLst/>
          </a:prstGeom>
          <a:noFill/>
          <a:ln/>
        </p:spPr>
        <p:txBody>
          <a:bodyPr wrap="square" lIns="0" tIns="0" rIns="0" bIns="0" rtlCol="0" anchor="t"/>
          <a:lstStyle/>
          <a:p>
            <a:pPr indent="0" marL="0" eaLnBrk="0">
              <a:buNone/>
            </a:pPr>
            <a:r>
              <a:rPr lang="ko-KR" altLang="en-US" sz="1400" dirty="0">
                <a:solidFill>
                  <a:schemeClr val="tx2"/>
                </a:solidFill>
              </a:rPr>
              <a:t>스택에 쌓는 순서가 괄호의 묶음을 대신한다.</a:t>
            </a:r>
            <a:endParaRPr lang="ko-KR" altLang="en-US" sz="1400" dirty="0"/>
          </a:p>
        </p:txBody>
      </p:sp>
      <p:sp>
        <p:nvSpPr>
          <p:cNvPr id="32" name="Text 29"/>
          <p:cNvSpPr txBox="1"/>
          <p:nvPr/>
        </p:nvSpPr>
        <p:spPr>
          <a:xfrm>
            <a:off x="7498080" y="3291840"/>
            <a:ext cx="4144975" cy="320040"/>
          </a:xfrm>
          <a:prstGeom prst="rect">
            <a:avLst/>
          </a:prstGeom>
          <a:noFill/>
          <a:ln/>
        </p:spPr>
        <p:txBody>
          <a:bodyPr wrap="square" lIns="0" tIns="0" rIns="0" bIns="0" rtlCol="0" anchor="t"/>
          <a:lstStyle/>
          <a:p>
            <a:pPr indent="0" marL="0" eaLnBrk="0">
              <a:buNone/>
            </a:pPr>
            <a:r>
              <a:rPr lang="ko-KR" altLang="en-US" sz="1400" b="1" dirty="0">
                <a:solidFill>
                  <a:schemeClr val="tx1"/>
                </a:solidFill>
              </a:rPr>
              <a:t>1단계를 명령으로</a:t>
            </a:r>
            <a:endParaRPr lang="ko-KR" altLang="en-US" sz="1400" dirty="0"/>
          </a:p>
        </p:txBody>
      </p:sp>
      <p:sp>
        <p:nvSpPr>
          <p:cNvPr id="33" name="codePanel"/>
          <p:cNvSpPr/>
          <p:nvPr/>
        </p:nvSpPr>
        <p:spPr>
          <a:xfrm>
            <a:off x="7498080" y="3657600"/>
            <a:ext cx="4144975" cy="868680"/>
          </a:xfrm>
          <a:prstGeom prst="roundRect">
            <a:avLst>
              <a:gd name="adj" fmla="val 8421"/>
            </a:avLst>
          </a:prstGeom>
          <a:solidFill>
            <a:schemeClr val="tx1"/>
          </a:solidFill>
          <a:ln w="12700">
            <a:solidFill>
              <a:schemeClr val="tx1"/>
            </a:solidFill>
            <a:prstDash val="solid"/>
          </a:ln>
        </p:spPr>
      </p:sp>
      <p:sp>
        <p:nvSpPr>
          <p:cNvPr id="34" name="code"/>
          <p:cNvSpPr txBox="1"/>
          <p:nvPr/>
        </p:nvSpPr>
        <p:spPr>
          <a:xfrm>
            <a:off x="7607808" y="3749040"/>
            <a:ext cx="3925519" cy="685800"/>
          </a:xfrm>
          <a:prstGeom prst="rect">
            <a:avLst/>
          </a:prstGeom>
          <a:noFill/>
          <a:ln/>
        </p:spPr>
        <p:txBody>
          <a:bodyPr wrap="square" lIns="635" tIns="635" rIns="635" bIns="635" rtlCol="0" anchor="t"/>
          <a:lstStyle/>
          <a:p>
            <a:pPr indent="0" marL="0" eaLnBrk="0">
              <a:buNone/>
            </a:pPr>
            <a:r>
              <a:rPr lang="ko-KR" altLang="en-US" sz="1300" dirty="0">
                <a:solidFill>
                  <a:schemeClr val="bg1"/>
                </a:solidFill>
                <a:latin typeface="Consolas" pitchFamily="34" charset="0"/>
                <a:ea typeface="Consolas" pitchFamily="34" charset="-122"/>
                <a:cs typeface="Consolas" pitchFamily="34" charset="-120"/>
              </a:rPr>
              <a:t>Literal 0     // 마법사 번호</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GetHealth     // 체력을 넣는다</a:t>
            </a:r>
            <a:endParaRPr lang="ko-KR" altLang="en-US" sz="1300" dirty="0"/>
          </a:p>
        </p:txBody>
      </p:sp>
      <p:sp>
        <p:nvSpPr>
          <p:cNvPr id="35" name="Text 32"/>
          <p:cNvSpPr txBox="1"/>
          <p:nvPr/>
        </p:nvSpPr>
        <p:spPr>
          <a:xfrm>
            <a:off x="7498080" y="4709160"/>
            <a:ext cx="4144975" cy="640080"/>
          </a:xfrm>
          <a:prstGeom prst="rect">
            <a:avLst/>
          </a:prstGeom>
          <a:noFill/>
          <a:ln/>
        </p:spPr>
        <p:txBody>
          <a:bodyPr wrap="square" lIns="0" tIns="0" rIns="0" bIns="0" rtlCol="0" anchor="t"/>
          <a:lstStyle/>
          <a:p>
            <a:pPr indent="0" marL="0" eaLnBrk="0">
              <a:buNone/>
            </a:pPr>
            <a:r>
              <a:rPr lang="ko-KR" altLang="en-US" sz="1400" dirty="0">
                <a:solidFill>
                  <a:schemeClr val="tx2"/>
                </a:solidFill>
              </a:rPr>
              <a:t>나머지 단계도 같은 방식으로 기계적으로 옮긴다.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21</a:t>
            </a:fld>
            <a:endParaRPr lang="ko-KR"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추적</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체력 45, 민첩 7, 지혜 11인 마법사에게 주문을 실행한다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이 명령 목록을 C#의 바이트 배열로 적으면 어떻게 될까?</a:t>
            </a:r>
            <a:endParaRPr lang="ko-KR" altLang="en-US" sz="15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7589520" cy="914400"/>
        </p:xfrm>
        <a:graphic>
          <a:graphicData uri="http://schemas.openxmlformats.org/drawingml/2006/table">
            <a:tbl>
              <a:tblPr/>
              <a:tblGrid>
                <a:gridCol w="1828800"/>
                <a:gridCol w="2377440"/>
                <a:gridCol w="3383280"/>
              </a:tblGrid>
              <a:tr h="315468">
                <a:tc>
                  <a:txBody>
                    <a:bodyPr/>
                    <a:lstStyle/>
                    <a:p>
                      <a:pPr indent="0" marL="0" eaLnBrk="0">
                        <a:buNone/>
                      </a:pPr>
                      <a:r>
                        <a:rPr lang="ko-KR" altLang="en-US" sz="1250" b="1" dirty="0">
                          <a:solidFill>
                            <a:schemeClr val="bg1"/>
                          </a:solidFill>
                        </a:rPr>
                        <a:t>명령</a:t>
                      </a:r>
                      <a:endParaRPr lang="ko-KR" altLang="en-US" sz="1250" dirty="0"/>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250" b="1" dirty="0">
                          <a:solidFill>
                            <a:schemeClr val="bg1"/>
                          </a:solidFill>
                        </a:rPr>
                        <a:t>실행 뒤 스택</a:t>
                      </a:r>
                      <a:endParaRPr lang="ko-KR" altLang="en-US" sz="1250" dirty="0"/>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250" b="1" dirty="0">
                          <a:solidFill>
                            <a:schemeClr val="bg1"/>
                          </a:solidFill>
                        </a:rPr>
                        <a:t>설명</a:t>
                      </a:r>
                      <a:endParaRPr lang="ko-KR" altLang="en-US" sz="1250" dirty="0"/>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315468">
                <a:tc>
                  <a:txBody>
                    <a:bodyPr/>
                    <a:lstStyle/>
                    <a:p>
                      <a:pPr indent="0" marL="0" eaLnBrk="0">
                        <a:buNone/>
                      </a:pPr>
                      <a:r>
                        <a:rPr lang="ko-KR" altLang="en-US" sz="1250" b="1" dirty="0">
                          <a:solidFill>
                            <a:schemeClr val="tx1"/>
                          </a:solidFill>
                          <a:latin typeface="Consolas" pitchFamily="34" charset="0"/>
                          <a:ea typeface="Consolas" pitchFamily="34" charset="-122"/>
                          <a:cs typeface="Consolas" pitchFamily="34" charset="-120"/>
                        </a:rPr>
                        <a:t>Literal 0</a:t>
                      </a:r>
                      <a:endParaRPr lang="ko-KR" altLang="en-US" sz="1250" dirty="0">
                        <a:latin typeface="Consolas" charset="0"/>
                        <a:ea typeface="Consolas" charset="0"/>
                        <a:cs typeface="Consolas" charset="0"/>
                      </a:endParaRPr>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250" dirty="0">
                          <a:solidFill>
                            <a:schemeClr val="tx1"/>
                          </a:solidFill>
                          <a:latin typeface="Consolas" pitchFamily="34" charset="0"/>
                          <a:ea typeface="Consolas" pitchFamily="34" charset="-122"/>
                          <a:cs typeface="Consolas" pitchFamily="34" charset="-120"/>
                        </a:rPr>
                        <a:t>[0]</a:t>
                      </a:r>
                      <a:endParaRPr lang="ko-KR" altLang="en-US" sz="1250" dirty="0">
                        <a:latin typeface="Consolas" charset="0"/>
                        <a:ea typeface="Consolas" charset="0"/>
                        <a:cs typeface="Consolas" charset="0"/>
                      </a:endParaRPr>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250" dirty="0">
                          <a:solidFill>
                            <a:schemeClr val="tx2"/>
                          </a:solidFill>
                        </a:rPr>
                        <a:t>마법사 번호</a:t>
                      </a:r>
                      <a:endParaRPr lang="ko-KR" altLang="en-US" sz="1250" dirty="0"/>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315468">
                <a:tc>
                  <a:txBody>
                    <a:bodyPr/>
                    <a:lstStyle/>
                    <a:p>
                      <a:pPr indent="0" marL="0" eaLnBrk="0">
                        <a:buNone/>
                      </a:pPr>
                      <a:r>
                        <a:rPr lang="ko-KR" altLang="en-US" sz="1250" b="1" dirty="0">
                          <a:solidFill>
                            <a:schemeClr val="tx1"/>
                          </a:solidFill>
                          <a:latin typeface="Consolas" pitchFamily="34" charset="0"/>
                          <a:ea typeface="Consolas" pitchFamily="34" charset="-122"/>
                          <a:cs typeface="Consolas" pitchFamily="34" charset="-120"/>
                        </a:rPr>
                        <a:t>Literal 0</a:t>
                      </a:r>
                      <a:endParaRPr lang="ko-KR" altLang="en-US" sz="1250" dirty="0">
                        <a:latin typeface="Consolas" charset="0"/>
                        <a:ea typeface="Consolas" charset="0"/>
                        <a:cs typeface="Consolas" charset="0"/>
                      </a:endParaRPr>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250" dirty="0">
                          <a:solidFill>
                            <a:schemeClr val="tx1"/>
                          </a:solidFill>
                          <a:latin typeface="Consolas" pitchFamily="34" charset="0"/>
                          <a:ea typeface="Consolas" pitchFamily="34" charset="-122"/>
                          <a:cs typeface="Consolas" pitchFamily="34" charset="-120"/>
                        </a:rPr>
                        <a:t>[0, 0]</a:t>
                      </a:r>
                      <a:endParaRPr lang="ko-KR" altLang="en-US" sz="1250" dirty="0">
                        <a:latin typeface="Consolas" charset="0"/>
                        <a:ea typeface="Consolas" charset="0"/>
                        <a:cs typeface="Consolas" charset="0"/>
                      </a:endParaRPr>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250" dirty="0">
                          <a:solidFill>
                            <a:schemeClr val="tx2"/>
                          </a:solidFill>
                        </a:rPr>
                        <a:t>마법사 번호</a:t>
                      </a:r>
                      <a:endParaRPr lang="ko-KR" altLang="en-US" sz="1250" dirty="0"/>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315468">
                <a:tc>
                  <a:txBody>
                    <a:bodyPr/>
                    <a:lstStyle/>
                    <a:p>
                      <a:pPr indent="0" marL="0" eaLnBrk="0">
                        <a:buNone/>
                      </a:pPr>
                      <a:r>
                        <a:rPr lang="ko-KR" altLang="en-US" sz="1250" b="1" dirty="0">
                          <a:solidFill>
                            <a:schemeClr val="tx1"/>
                          </a:solidFill>
                          <a:latin typeface="Consolas" pitchFamily="34" charset="0"/>
                          <a:ea typeface="Consolas" pitchFamily="34" charset="-122"/>
                          <a:cs typeface="Consolas" pitchFamily="34" charset="-120"/>
                        </a:rPr>
                        <a:t>GetHealth</a:t>
                      </a:r>
                      <a:endParaRPr lang="ko-KR" altLang="en-US" sz="1250" dirty="0">
                        <a:latin typeface="Consolas" charset="0"/>
                        <a:ea typeface="Consolas" charset="0"/>
                        <a:cs typeface="Consolas" charset="0"/>
                      </a:endParaRPr>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250" dirty="0">
                          <a:solidFill>
                            <a:schemeClr val="tx1"/>
                          </a:solidFill>
                          <a:latin typeface="Consolas" pitchFamily="34" charset="0"/>
                          <a:ea typeface="Consolas" pitchFamily="34" charset="-122"/>
                          <a:cs typeface="Consolas" pitchFamily="34" charset="-120"/>
                        </a:rPr>
                        <a:t>[0, 45]</a:t>
                      </a:r>
                      <a:endParaRPr lang="ko-KR" altLang="en-US" sz="1250" dirty="0">
                        <a:latin typeface="Consolas" charset="0"/>
                        <a:ea typeface="Consolas" charset="0"/>
                        <a:cs typeface="Consolas" charset="0"/>
                      </a:endParaRPr>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250" dirty="0">
                          <a:solidFill>
                            <a:schemeClr val="tx2"/>
                          </a:solidFill>
                        </a:rPr>
                        <a:t>체력을 읽는다</a:t>
                      </a:r>
                      <a:endParaRPr lang="ko-KR" altLang="en-US" sz="1250" dirty="0"/>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315468">
                <a:tc>
                  <a:txBody>
                    <a:bodyPr/>
                    <a:lstStyle/>
                    <a:p>
                      <a:pPr indent="0" marL="0" eaLnBrk="0">
                        <a:buNone/>
                      </a:pPr>
                      <a:r>
                        <a:rPr lang="ko-KR" altLang="en-US" sz="1250" b="1" dirty="0">
                          <a:solidFill>
                            <a:schemeClr val="tx1"/>
                          </a:solidFill>
                          <a:latin typeface="Consolas" pitchFamily="34" charset="0"/>
                          <a:ea typeface="Consolas" pitchFamily="34" charset="-122"/>
                          <a:cs typeface="Consolas" pitchFamily="34" charset="-120"/>
                        </a:rPr>
                        <a:t>Literal 0</a:t>
                      </a:r>
                      <a:endParaRPr lang="ko-KR" altLang="en-US" sz="1250" dirty="0">
                        <a:latin typeface="Consolas" charset="0"/>
                        <a:ea typeface="Consolas" charset="0"/>
                        <a:cs typeface="Consolas" charset="0"/>
                      </a:endParaRPr>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250" dirty="0">
                          <a:solidFill>
                            <a:schemeClr val="tx1"/>
                          </a:solidFill>
                          <a:latin typeface="Consolas" pitchFamily="34" charset="0"/>
                          <a:ea typeface="Consolas" pitchFamily="34" charset="-122"/>
                          <a:cs typeface="Consolas" pitchFamily="34" charset="-120"/>
                        </a:rPr>
                        <a:t>[0, 45, 0]</a:t>
                      </a:r>
                      <a:endParaRPr lang="ko-KR" altLang="en-US" sz="1250" dirty="0">
                        <a:latin typeface="Consolas" charset="0"/>
                        <a:ea typeface="Consolas" charset="0"/>
                        <a:cs typeface="Consolas" charset="0"/>
                      </a:endParaRPr>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250" dirty="0">
                          <a:solidFill>
                            <a:schemeClr val="tx2"/>
                          </a:solidFill>
                        </a:rPr>
                        <a:t>마법사 번호</a:t>
                      </a:r>
                      <a:endParaRPr lang="ko-KR" altLang="en-US" sz="1250" dirty="0"/>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315468">
                <a:tc>
                  <a:txBody>
                    <a:bodyPr/>
                    <a:lstStyle/>
                    <a:p>
                      <a:pPr indent="0" marL="0" eaLnBrk="0">
                        <a:buNone/>
                      </a:pPr>
                      <a:r>
                        <a:rPr lang="ko-KR" altLang="en-US" sz="1250" b="1" dirty="0">
                          <a:solidFill>
                            <a:schemeClr val="tx1"/>
                          </a:solidFill>
                          <a:latin typeface="Consolas" pitchFamily="34" charset="0"/>
                          <a:ea typeface="Consolas" pitchFamily="34" charset="-122"/>
                          <a:cs typeface="Consolas" pitchFamily="34" charset="-120"/>
                        </a:rPr>
                        <a:t>GetAgility</a:t>
                      </a:r>
                      <a:endParaRPr lang="ko-KR" altLang="en-US" sz="1250" dirty="0">
                        <a:latin typeface="Consolas" charset="0"/>
                        <a:ea typeface="Consolas" charset="0"/>
                        <a:cs typeface="Consolas" charset="0"/>
                      </a:endParaRPr>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250" dirty="0">
                          <a:solidFill>
                            <a:schemeClr val="tx1"/>
                          </a:solidFill>
                          <a:latin typeface="Consolas" pitchFamily="34" charset="0"/>
                          <a:ea typeface="Consolas" pitchFamily="34" charset="-122"/>
                          <a:cs typeface="Consolas" pitchFamily="34" charset="-120"/>
                        </a:rPr>
                        <a:t>[0, 45, 7]</a:t>
                      </a:r>
                      <a:endParaRPr lang="ko-KR" altLang="en-US" sz="1250" dirty="0">
                        <a:latin typeface="Consolas" charset="0"/>
                        <a:ea typeface="Consolas" charset="0"/>
                        <a:cs typeface="Consolas" charset="0"/>
                      </a:endParaRPr>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250" dirty="0">
                          <a:solidFill>
                            <a:schemeClr val="tx2"/>
                          </a:solidFill>
                        </a:rPr>
                        <a:t>민첩을 읽는다</a:t>
                      </a:r>
                      <a:endParaRPr lang="ko-KR" altLang="en-US" sz="1250" dirty="0"/>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315468">
                <a:tc>
                  <a:txBody>
                    <a:bodyPr/>
                    <a:lstStyle/>
                    <a:p>
                      <a:pPr indent="0" marL="0" eaLnBrk="0">
                        <a:buNone/>
                      </a:pPr>
                      <a:r>
                        <a:rPr lang="ko-KR" altLang="en-US" sz="1250" b="1" dirty="0">
                          <a:solidFill>
                            <a:schemeClr val="tx1"/>
                          </a:solidFill>
                          <a:latin typeface="Consolas" pitchFamily="34" charset="0"/>
                          <a:ea typeface="Consolas" pitchFamily="34" charset="-122"/>
                          <a:cs typeface="Consolas" pitchFamily="34" charset="-120"/>
                        </a:rPr>
                        <a:t>Literal 0</a:t>
                      </a:r>
                      <a:endParaRPr lang="ko-KR" altLang="en-US" sz="1250" dirty="0">
                        <a:latin typeface="Consolas" charset="0"/>
                        <a:ea typeface="Consolas" charset="0"/>
                        <a:cs typeface="Consolas" charset="0"/>
                      </a:endParaRPr>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250" dirty="0">
                          <a:solidFill>
                            <a:schemeClr val="tx1"/>
                          </a:solidFill>
                          <a:latin typeface="Consolas" pitchFamily="34" charset="0"/>
                          <a:ea typeface="Consolas" pitchFamily="34" charset="-122"/>
                          <a:cs typeface="Consolas" pitchFamily="34" charset="-120"/>
                        </a:rPr>
                        <a:t>[0, 45, 7, 0]</a:t>
                      </a:r>
                      <a:endParaRPr lang="ko-KR" altLang="en-US" sz="1250" dirty="0">
                        <a:latin typeface="Consolas" charset="0"/>
                        <a:ea typeface="Consolas" charset="0"/>
                        <a:cs typeface="Consolas" charset="0"/>
                      </a:endParaRPr>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250" dirty="0">
                          <a:solidFill>
                            <a:schemeClr val="tx2"/>
                          </a:solidFill>
                        </a:rPr>
                        <a:t>마법사 번호</a:t>
                      </a:r>
                      <a:endParaRPr lang="ko-KR" altLang="en-US" sz="1250" dirty="0"/>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315468">
                <a:tc>
                  <a:txBody>
                    <a:bodyPr/>
                    <a:lstStyle/>
                    <a:p>
                      <a:pPr indent="0" marL="0" eaLnBrk="0">
                        <a:buNone/>
                      </a:pPr>
                      <a:r>
                        <a:rPr lang="ko-KR" altLang="en-US" sz="1250" b="1" dirty="0">
                          <a:solidFill>
                            <a:schemeClr val="tx1"/>
                          </a:solidFill>
                          <a:latin typeface="Consolas" pitchFamily="34" charset="0"/>
                          <a:ea typeface="Consolas" pitchFamily="34" charset="-122"/>
                          <a:cs typeface="Consolas" pitchFamily="34" charset="-120"/>
                        </a:rPr>
                        <a:t>GetWisdom</a:t>
                      </a:r>
                      <a:endParaRPr lang="ko-KR" altLang="en-US" sz="1250" dirty="0">
                        <a:latin typeface="Consolas" charset="0"/>
                        <a:ea typeface="Consolas" charset="0"/>
                        <a:cs typeface="Consolas" charset="0"/>
                      </a:endParaRPr>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250" dirty="0">
                          <a:solidFill>
                            <a:schemeClr val="tx1"/>
                          </a:solidFill>
                          <a:latin typeface="Consolas" pitchFamily="34" charset="0"/>
                          <a:ea typeface="Consolas" pitchFamily="34" charset="-122"/>
                          <a:cs typeface="Consolas" pitchFamily="34" charset="-120"/>
                        </a:rPr>
                        <a:t>[0, 45, 7, 11]</a:t>
                      </a:r>
                      <a:endParaRPr lang="ko-KR" altLang="en-US" sz="1250" dirty="0">
                        <a:latin typeface="Consolas" charset="0"/>
                        <a:ea typeface="Consolas" charset="0"/>
                        <a:cs typeface="Consolas" charset="0"/>
                      </a:endParaRPr>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250" dirty="0">
                          <a:solidFill>
                            <a:schemeClr val="tx2"/>
                          </a:solidFill>
                        </a:rPr>
                        <a:t>지혜를 읽는다</a:t>
                      </a:r>
                      <a:endParaRPr lang="ko-KR" altLang="en-US" sz="1250" dirty="0"/>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315468">
                <a:tc>
                  <a:txBody>
                    <a:bodyPr/>
                    <a:lstStyle/>
                    <a:p>
                      <a:pPr indent="0" marL="0" eaLnBrk="0">
                        <a:buNone/>
                      </a:pPr>
                      <a:r>
                        <a:rPr lang="ko-KR" altLang="en-US" sz="1250" b="1" dirty="0">
                          <a:solidFill>
                            <a:schemeClr val="tx1"/>
                          </a:solidFill>
                          <a:latin typeface="Consolas" pitchFamily="34" charset="0"/>
                          <a:ea typeface="Consolas" pitchFamily="34" charset="-122"/>
                          <a:cs typeface="Consolas" pitchFamily="34" charset="-120"/>
                        </a:rPr>
                        <a:t>Add</a:t>
                      </a:r>
                      <a:endParaRPr lang="ko-KR" altLang="en-US" sz="1250" dirty="0">
                        <a:latin typeface="Consolas" charset="0"/>
                        <a:ea typeface="Consolas" charset="0"/>
                        <a:cs typeface="Consolas" charset="0"/>
                      </a:endParaRPr>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250" dirty="0">
                          <a:solidFill>
                            <a:schemeClr val="tx1"/>
                          </a:solidFill>
                          <a:latin typeface="Consolas" pitchFamily="34" charset="0"/>
                          <a:ea typeface="Consolas" pitchFamily="34" charset="-122"/>
                          <a:cs typeface="Consolas" pitchFamily="34" charset="-120"/>
                        </a:rPr>
                        <a:t>[0, 45, 18]</a:t>
                      </a:r>
                      <a:endParaRPr lang="ko-KR" altLang="en-US" sz="1250" dirty="0">
                        <a:latin typeface="Consolas" charset="0"/>
                        <a:ea typeface="Consolas" charset="0"/>
                        <a:cs typeface="Consolas" charset="0"/>
                      </a:endParaRPr>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250" dirty="0">
                          <a:solidFill>
                            <a:schemeClr val="tx2"/>
                          </a:solidFill>
                        </a:rPr>
                        <a:t>민첩과 지혜를 더한다</a:t>
                      </a:r>
                      <a:endParaRPr lang="ko-KR" altLang="en-US" sz="1250" dirty="0"/>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315468">
                <a:tc>
                  <a:txBody>
                    <a:bodyPr/>
                    <a:lstStyle/>
                    <a:p>
                      <a:pPr indent="0" marL="0" eaLnBrk="0">
                        <a:buNone/>
                      </a:pPr>
                      <a:r>
                        <a:rPr lang="ko-KR" altLang="en-US" sz="1250" b="1" dirty="0">
                          <a:solidFill>
                            <a:schemeClr val="tx1"/>
                          </a:solidFill>
                          <a:latin typeface="Consolas" pitchFamily="34" charset="0"/>
                          <a:ea typeface="Consolas" pitchFamily="34" charset="-122"/>
                          <a:cs typeface="Consolas" pitchFamily="34" charset="-120"/>
                        </a:rPr>
                        <a:t>Literal 2</a:t>
                      </a:r>
                      <a:endParaRPr lang="ko-KR" altLang="en-US" sz="1250" dirty="0">
                        <a:latin typeface="Consolas" charset="0"/>
                        <a:ea typeface="Consolas" charset="0"/>
                        <a:cs typeface="Consolas" charset="0"/>
                      </a:endParaRPr>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250" dirty="0">
                          <a:solidFill>
                            <a:schemeClr val="tx1"/>
                          </a:solidFill>
                          <a:latin typeface="Consolas" pitchFamily="34" charset="0"/>
                          <a:ea typeface="Consolas" pitchFamily="34" charset="-122"/>
                          <a:cs typeface="Consolas" pitchFamily="34" charset="-120"/>
                        </a:rPr>
                        <a:t>[0, 45, 18, 2]</a:t>
                      </a:r>
                      <a:endParaRPr lang="ko-KR" altLang="en-US" sz="1250" dirty="0">
                        <a:latin typeface="Consolas" charset="0"/>
                        <a:ea typeface="Consolas" charset="0"/>
                        <a:cs typeface="Consolas" charset="0"/>
                      </a:endParaRPr>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250" dirty="0">
                          <a:solidFill>
                            <a:schemeClr val="tx2"/>
                          </a:solidFill>
                        </a:rPr>
                        <a:t>나눌 수</a:t>
                      </a:r>
                      <a:endParaRPr lang="ko-KR" altLang="en-US" sz="1250" dirty="0"/>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315468">
                <a:tc>
                  <a:txBody>
                    <a:bodyPr/>
                    <a:lstStyle/>
                    <a:p>
                      <a:pPr indent="0" marL="0" eaLnBrk="0">
                        <a:buNone/>
                      </a:pPr>
                      <a:r>
                        <a:rPr lang="ko-KR" altLang="en-US" sz="1250" b="1" dirty="0">
                          <a:solidFill>
                            <a:schemeClr val="tx1"/>
                          </a:solidFill>
                          <a:latin typeface="Consolas" pitchFamily="34" charset="0"/>
                          <a:ea typeface="Consolas" pitchFamily="34" charset="-122"/>
                          <a:cs typeface="Consolas" pitchFamily="34" charset="-120"/>
                        </a:rPr>
                        <a:t>Divide</a:t>
                      </a:r>
                      <a:endParaRPr lang="ko-KR" altLang="en-US" sz="1250" dirty="0">
                        <a:latin typeface="Consolas" charset="0"/>
                        <a:ea typeface="Consolas" charset="0"/>
                        <a:cs typeface="Consolas" charset="0"/>
                      </a:endParaRPr>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250" dirty="0">
                          <a:solidFill>
                            <a:schemeClr val="tx1"/>
                          </a:solidFill>
                          <a:latin typeface="Consolas" pitchFamily="34" charset="0"/>
                          <a:ea typeface="Consolas" pitchFamily="34" charset="-122"/>
                          <a:cs typeface="Consolas" pitchFamily="34" charset="-120"/>
                        </a:rPr>
                        <a:t>[0, 45, 9]</a:t>
                      </a:r>
                      <a:endParaRPr lang="ko-KR" altLang="en-US" sz="1250" dirty="0">
                        <a:latin typeface="Consolas" charset="0"/>
                        <a:ea typeface="Consolas" charset="0"/>
                        <a:cs typeface="Consolas" charset="0"/>
                      </a:endParaRPr>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250" dirty="0">
                          <a:solidFill>
                            <a:schemeClr val="tx2"/>
                          </a:solidFill>
                        </a:rPr>
                        <a:t>민첩과 지혜의 평균</a:t>
                      </a:r>
                      <a:endParaRPr lang="ko-KR" altLang="en-US" sz="1250" dirty="0"/>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315468">
                <a:tc>
                  <a:txBody>
                    <a:bodyPr/>
                    <a:lstStyle/>
                    <a:p>
                      <a:pPr indent="0" marL="0" eaLnBrk="0">
                        <a:buNone/>
                      </a:pPr>
                      <a:r>
                        <a:rPr lang="ko-KR" altLang="en-US" sz="1250" b="1" dirty="0">
                          <a:solidFill>
                            <a:schemeClr val="tx1"/>
                          </a:solidFill>
                          <a:latin typeface="Consolas" pitchFamily="34" charset="0"/>
                          <a:ea typeface="Consolas" pitchFamily="34" charset="-122"/>
                          <a:cs typeface="Consolas" pitchFamily="34" charset="-120"/>
                        </a:rPr>
                        <a:t>Add</a:t>
                      </a:r>
                      <a:endParaRPr lang="ko-KR" altLang="en-US" sz="1250" dirty="0">
                        <a:latin typeface="Consolas" charset="0"/>
                        <a:ea typeface="Consolas" charset="0"/>
                        <a:cs typeface="Consolas" charset="0"/>
                      </a:endParaRPr>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250" dirty="0">
                          <a:solidFill>
                            <a:schemeClr val="tx1"/>
                          </a:solidFill>
                          <a:latin typeface="Consolas" pitchFamily="34" charset="0"/>
                          <a:ea typeface="Consolas" pitchFamily="34" charset="-122"/>
                          <a:cs typeface="Consolas" pitchFamily="34" charset="-120"/>
                        </a:rPr>
                        <a:t>[0, 54]</a:t>
                      </a:r>
                      <a:endParaRPr lang="ko-KR" altLang="en-US" sz="1250" dirty="0">
                        <a:latin typeface="Consolas" charset="0"/>
                        <a:ea typeface="Consolas" charset="0"/>
                        <a:cs typeface="Consolas" charset="0"/>
                      </a:endParaRPr>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250" dirty="0">
                          <a:solidFill>
                            <a:schemeClr val="tx2"/>
                          </a:solidFill>
                        </a:rPr>
                        <a:t>현재 체력에 평균을 더한다</a:t>
                      </a:r>
                      <a:endParaRPr lang="ko-KR" altLang="en-US" sz="1250" dirty="0"/>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315468">
                <a:tc>
                  <a:txBody>
                    <a:bodyPr/>
                    <a:lstStyle/>
                    <a:p>
                      <a:pPr indent="0" marL="0" eaLnBrk="0">
                        <a:buNone/>
                      </a:pPr>
                      <a:r>
                        <a:rPr lang="ko-KR" altLang="en-US" sz="1250" b="1" dirty="0">
                          <a:solidFill>
                            <a:schemeClr val="tx1"/>
                          </a:solidFill>
                          <a:latin typeface="Consolas" pitchFamily="34" charset="0"/>
                          <a:ea typeface="Consolas" pitchFamily="34" charset="-122"/>
                          <a:cs typeface="Consolas" pitchFamily="34" charset="-120"/>
                        </a:rPr>
                        <a:t>SetHealth</a:t>
                      </a:r>
                      <a:endParaRPr lang="ko-KR" altLang="en-US" sz="1250" dirty="0">
                        <a:latin typeface="Consolas" charset="0"/>
                        <a:ea typeface="Consolas" charset="0"/>
                        <a:cs typeface="Consolas" charset="0"/>
                      </a:endParaRPr>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250" dirty="0">
                          <a:solidFill>
                            <a:schemeClr val="tx1"/>
                          </a:solidFill>
                          <a:latin typeface="Consolas" pitchFamily="34" charset="0"/>
                          <a:ea typeface="Consolas" pitchFamily="34" charset="-122"/>
                          <a:cs typeface="Consolas" pitchFamily="34" charset="-120"/>
                        </a:rPr>
                        <a:t>[ ]</a:t>
                      </a:r>
                      <a:endParaRPr lang="ko-KR" altLang="en-US" sz="1250" dirty="0">
                        <a:latin typeface="Consolas" charset="0"/>
                        <a:ea typeface="Consolas" charset="0"/>
                        <a:cs typeface="Consolas" charset="0"/>
                      </a:endParaRPr>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250" dirty="0">
                          <a:solidFill>
                            <a:schemeClr val="tx2"/>
                          </a:solidFill>
                        </a:rPr>
                        <a:t>체력을 54로 정한다</a:t>
                      </a:r>
                      <a:endParaRPr lang="ko-KR" altLang="en-US" sz="1250" dirty="0"/>
                    </a:p>
                  </a:txBody>
                  <a:tcPr marL="73152" marR="73152"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7" name="card"/>
          <p:cNvSpPr/>
          <p:nvPr/>
        </p:nvSpPr>
        <p:spPr>
          <a:xfrm>
            <a:off x="8412480" y="1572768"/>
            <a:ext cx="3230575" cy="1325880"/>
          </a:xfrm>
          <a:prstGeom prst="roundRect">
            <a:avLst>
              <a:gd name="adj" fmla="val 6897"/>
            </a:avLst>
          </a:prstGeom>
          <a:solidFill>
            <a:schemeClr val="bg2"/>
          </a:solidFill>
          <a:ln w="12700">
            <a:solidFill>
              <a:schemeClr val="bg2"/>
            </a:solidFill>
            <a:prstDash val="solid"/>
          </a:ln>
        </p:spPr>
      </p:sp>
      <p:sp>
        <p:nvSpPr>
          <p:cNvPr id="8" name="Text 4"/>
          <p:cNvSpPr txBox="1"/>
          <p:nvPr/>
        </p:nvSpPr>
        <p:spPr>
          <a:xfrm>
            <a:off x="8641080" y="1792224"/>
            <a:ext cx="281909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시작 값</a:t>
            </a:r>
            <a:endParaRPr lang="ko-KR" altLang="en-US" sz="1700" dirty="0"/>
          </a:p>
        </p:txBody>
      </p:sp>
      <p:sp>
        <p:nvSpPr>
          <p:cNvPr id="9" name="Text 5"/>
          <p:cNvSpPr txBox="1"/>
          <p:nvPr/>
        </p:nvSpPr>
        <p:spPr>
          <a:xfrm>
            <a:off x="8641080" y="2304288"/>
            <a:ext cx="2773375" cy="457200"/>
          </a:xfrm>
          <a:prstGeom prst="rect">
            <a:avLst/>
          </a:prstGeom>
          <a:noFill/>
          <a:ln/>
        </p:spPr>
        <p:txBody>
          <a:bodyPr wrap="square" lIns="0" tIns="0" rIns="0" bIns="0" rtlCol="0" anchor="t"/>
          <a:lstStyle/>
          <a:p>
            <a:pPr indent="0" marL="0" eaLnBrk="0">
              <a:buNone/>
            </a:pPr>
            <a:r>
              <a:rPr lang="ko-KR" altLang="en-US" sz="1400" dirty="0">
                <a:solidFill>
                  <a:schemeClr val="tx2"/>
                </a:solidFill>
              </a:rPr>
              <a:t>체력 45, 민첩 7, 지혜 11</a:t>
            </a:r>
            <a:endParaRPr lang="ko-KR" altLang="en-US" sz="1400" dirty="0"/>
          </a:p>
        </p:txBody>
      </p:sp>
      <p:sp>
        <p:nvSpPr>
          <p:cNvPr id="10" name="card"/>
          <p:cNvSpPr/>
          <p:nvPr/>
        </p:nvSpPr>
        <p:spPr>
          <a:xfrm>
            <a:off x="8412480" y="3035808"/>
            <a:ext cx="3230575" cy="1417320"/>
          </a:xfrm>
          <a:prstGeom prst="roundRect">
            <a:avLst>
              <a:gd name="adj" fmla="val 6452"/>
            </a:avLst>
          </a:prstGeom>
          <a:solidFill>
            <a:schemeClr val="bg2"/>
          </a:solidFill>
          <a:ln w="12700">
            <a:solidFill>
              <a:schemeClr val="bg2"/>
            </a:solidFill>
            <a:prstDash val="solid"/>
          </a:ln>
        </p:spPr>
      </p:sp>
      <p:sp>
        <p:nvSpPr>
          <p:cNvPr id="11" name="Text 7"/>
          <p:cNvSpPr txBox="1"/>
          <p:nvPr/>
        </p:nvSpPr>
        <p:spPr>
          <a:xfrm>
            <a:off x="8641080" y="3255264"/>
            <a:ext cx="281909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바닥의 0</a:t>
            </a:r>
            <a:endParaRPr lang="ko-KR" altLang="en-US" sz="1700" dirty="0"/>
          </a:p>
        </p:txBody>
      </p:sp>
      <p:sp>
        <p:nvSpPr>
          <p:cNvPr id="12" name="Text 8"/>
          <p:cNvSpPr txBox="1"/>
          <p:nvPr/>
        </p:nvSpPr>
        <p:spPr>
          <a:xfrm>
            <a:off x="8641080" y="3767328"/>
            <a:ext cx="2773375" cy="548640"/>
          </a:xfrm>
          <a:prstGeom prst="rect">
            <a:avLst/>
          </a:prstGeom>
          <a:noFill/>
          <a:ln/>
        </p:spPr>
        <p:txBody>
          <a:bodyPr wrap="square" lIns="0" tIns="0" rIns="0" bIns="0" rtlCol="0" anchor="t"/>
          <a:lstStyle/>
          <a:p>
            <a:pPr indent="0" marL="0" eaLnBrk="0">
              <a:buNone/>
            </a:pPr>
            <a:r>
              <a:rPr lang="ko-KR" altLang="en-US" sz="1400" dirty="0">
                <a:solidFill>
                  <a:schemeClr val="tx2"/>
                </a:solidFill>
              </a:rPr>
              <a:t>첫 번호 0은 마지막 SetHealth까지 기다린다.</a:t>
            </a:r>
            <a:endParaRPr lang="ko-KR" altLang="en-US" sz="1400" dirty="0"/>
          </a:p>
        </p:txBody>
      </p:sp>
      <p:sp>
        <p:nvSpPr>
          <p:cNvPr id="13" name="card"/>
          <p:cNvSpPr/>
          <p:nvPr/>
        </p:nvSpPr>
        <p:spPr>
          <a:xfrm>
            <a:off x="8412480" y="4590288"/>
            <a:ext cx="3230575" cy="1143000"/>
          </a:xfrm>
          <a:prstGeom prst="roundRect">
            <a:avLst>
              <a:gd name="adj" fmla="val 8000"/>
            </a:avLst>
          </a:prstGeom>
          <a:solidFill>
            <a:schemeClr val="tx2"/>
          </a:solidFill>
          <a:ln w="12700">
            <a:solidFill>
              <a:schemeClr val="tx2"/>
            </a:solidFill>
            <a:prstDash val="solid"/>
          </a:ln>
        </p:spPr>
      </p:sp>
      <p:sp>
        <p:nvSpPr>
          <p:cNvPr id="14" name="Text 10"/>
          <p:cNvSpPr txBox="1"/>
          <p:nvPr/>
        </p:nvSpPr>
        <p:spPr>
          <a:xfrm>
            <a:off x="8641080" y="4809744"/>
            <a:ext cx="2819095" cy="411480"/>
          </a:xfrm>
          <a:prstGeom prst="rect">
            <a:avLst/>
          </a:prstGeom>
          <a:noFill/>
          <a:ln/>
        </p:spPr>
        <p:txBody>
          <a:bodyPr wrap="square" lIns="0" tIns="0" rIns="0" bIns="0" rtlCol="0" anchor="ctr"/>
          <a:lstStyle/>
          <a:p>
            <a:pPr indent="0" marL="0" eaLnBrk="0">
              <a:buNone/>
            </a:pPr>
            <a:r>
              <a:rPr lang="ko-KR" altLang="en-US" sz="1700" b="1" dirty="0">
                <a:solidFill>
                  <a:schemeClr val="accent4"/>
                </a:solidFill>
              </a:rPr>
              <a:t>결과</a:t>
            </a:r>
            <a:endParaRPr lang="ko-KR" altLang="en-US" sz="1700" dirty="0"/>
          </a:p>
        </p:txBody>
      </p:sp>
      <p:sp>
        <p:nvSpPr>
          <p:cNvPr id="15" name="Text 11"/>
          <p:cNvSpPr txBox="1"/>
          <p:nvPr/>
        </p:nvSpPr>
        <p:spPr>
          <a:xfrm>
            <a:off x="8641080" y="5367528"/>
            <a:ext cx="2773375" cy="228600"/>
          </a:xfrm>
          <a:prstGeom prst="rect">
            <a:avLst/>
          </a:prstGeom>
          <a:noFill/>
          <a:ln/>
        </p:spPr>
        <p:txBody>
          <a:bodyPr wrap="square" lIns="0" tIns="0" rIns="0" bIns="0" rtlCol="0" anchor="t"/>
          <a:lstStyle/>
          <a:p>
            <a:pPr indent="0" marL="0" eaLnBrk="0">
              <a:buNone/>
            </a:pPr>
            <a:r>
              <a:rPr lang="ko-KR" altLang="en-US" sz="1400" dirty="0">
                <a:solidFill>
                  <a:schemeClr val="bg1"/>
                </a:solidFill>
              </a:rPr>
              <a:t>45 + (7 + 11) / 2 = 54</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22</a:t>
            </a:fld>
            <a:endParaRPr lang="ko-KR"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바이트 배열과 가상 기계</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주문 전체가 바이트 배열 하나가 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그런데 이 바이트 배열은 누가, 어떻게 만들까?</a:t>
            </a:r>
            <a:endParaRPr lang="ko-KR" altLang="en-US" sz="1500" dirty="0"/>
          </a:p>
        </p:txBody>
      </p:sp>
      <p:sp>
        <p:nvSpPr>
          <p:cNvPr id="6" name="codePanel"/>
          <p:cNvSpPr/>
          <p:nvPr/>
        </p:nvSpPr>
        <p:spPr>
          <a:xfrm>
            <a:off x="548640" y="1572768"/>
            <a:ext cx="5852160" cy="3931920"/>
          </a:xfrm>
          <a:prstGeom prst="roundRect">
            <a:avLst>
              <a:gd name="adj" fmla="val 1860"/>
            </a:avLst>
          </a:prstGeom>
          <a:solidFill>
            <a:schemeClr val="tx1"/>
          </a:solidFill>
          <a:ln w="12700">
            <a:solidFill>
              <a:schemeClr val="tx1"/>
            </a:solidFill>
            <a:prstDash val="solid"/>
          </a:ln>
        </p:spPr>
      </p:sp>
      <p:sp>
        <p:nvSpPr>
          <p:cNvPr id="7" name="code"/>
          <p:cNvSpPr txBox="1"/>
          <p:nvPr/>
        </p:nvSpPr>
        <p:spPr>
          <a:xfrm>
            <a:off x="658368" y="1664208"/>
            <a:ext cx="5632704" cy="3749040"/>
          </a:xfrm>
          <a:prstGeom prst="rect">
            <a:avLst/>
          </a:prstGeom>
          <a:noFill/>
          <a:ln/>
        </p:spPr>
        <p:txBody>
          <a:bodyPr wrap="square" lIns="635" tIns="635" rIns="635" bIns="635" rtlCol="0" anchor="t"/>
          <a:lstStyle/>
          <a:p>
            <a:pPr indent="0" marL="0" eaLnBrk="0">
              <a:buNone/>
            </a:pPr>
            <a:r>
              <a:rPr lang="ko-KR" altLang="en-US" sz="1200" dirty="0">
                <a:solidFill>
                  <a:schemeClr val="bg1"/>
                </a:solidFill>
                <a:latin typeface="Consolas" pitchFamily="34" charset="0"/>
                <a:ea typeface="Consolas" pitchFamily="34" charset="-122"/>
                <a:cs typeface="Consolas" pitchFamily="34" charset="-120"/>
              </a:rPr>
              <a:t>byte[] spell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(byte)Instruction.Literal, 0,</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(byte)Instruction.Literal, 0,</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(byte)Instruction.GetHealth,</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(byte)Instruction.Literal, 0,</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(byte)Instruction.GetAgility,</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(byte)Instruction.Literal, 0,</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(byte)Instruction.GetWisdom,</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(byte)Instruction.Add,</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(byte)Instruction.Literal, 2,</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(byte)Instruction.Divide,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(byte)Instruction.Add,</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(byte)Instruction.SetHealth,</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new VM().Interpret(spell);</a:t>
            </a:r>
            <a:endParaRPr lang="ko-KR" altLang="en-US" sz="1200" dirty="0"/>
          </a:p>
        </p:txBody>
      </p:sp>
      <p:sp>
        <p:nvSpPr>
          <p:cNvPr id="8" name="Text 5"/>
          <p:cNvSpPr txBox="1"/>
          <p:nvPr/>
        </p:nvSpPr>
        <p:spPr>
          <a:xfrm>
            <a:off x="548640" y="5532120"/>
            <a:ext cx="5852160" cy="256032"/>
          </a:xfrm>
          <a:prstGeom prst="rect">
            <a:avLst/>
          </a:prstGeom>
          <a:noFill/>
          <a:ln/>
        </p:spPr>
        <p:txBody>
          <a:bodyPr wrap="square" lIns="0" tIns="0" rIns="0" bIns="0" rtlCol="0" anchor="t"/>
          <a:lstStyle/>
          <a:p>
            <a:pPr algn="r" indent="0" marL="0" eaLnBrk="0">
              <a:buNone/>
            </a:pPr>
            <a:r>
              <a:rPr lang="ko-KR" altLang="en-US" sz="1100" dirty="0">
                <a:solidFill>
                  <a:schemeClr val="accent5"/>
                </a:solidFill>
              </a:rPr>
              <a:t>원서의 명령 목록을 C# 바이트 배열로 적은 코드</a:t>
            </a:r>
            <a:endParaRPr lang="ko-KR" altLang="en-US" sz="1100" dirty="0"/>
          </a:p>
        </p:txBody>
      </p:sp>
      <p:sp>
        <p:nvSpPr>
          <p:cNvPr id="9" name="card"/>
          <p:cNvSpPr/>
          <p:nvPr/>
        </p:nvSpPr>
        <p:spPr>
          <a:xfrm>
            <a:off x="6766560" y="1572768"/>
            <a:ext cx="4876495" cy="1234440"/>
          </a:xfrm>
          <a:prstGeom prst="roundRect">
            <a:avLst>
              <a:gd name="adj" fmla="val 7407"/>
            </a:avLst>
          </a:prstGeom>
          <a:solidFill>
            <a:schemeClr val="bg2"/>
          </a:solidFill>
          <a:ln w="12700">
            <a:solidFill>
              <a:schemeClr val="bg2"/>
            </a:solidFill>
            <a:prstDash val="solid"/>
          </a:ln>
        </p:spPr>
      </p:sp>
      <p:sp>
        <p:nvSpPr>
          <p:cNvPr id="10" name="Text 7"/>
          <p:cNvSpPr txBox="1"/>
          <p:nvPr/>
        </p:nvSpPr>
        <p:spPr>
          <a:xfrm>
            <a:off x="6995160" y="1792224"/>
            <a:ext cx="4465015" cy="411480"/>
          </a:xfrm>
          <a:prstGeom prst="rect">
            <a:avLst/>
          </a:prstGeom>
          <a:noFill/>
          <a:ln/>
        </p:spPr>
        <p:txBody>
          <a:bodyPr wrap="square" lIns="0" tIns="0" rIns="0" bIns="0" rtlCol="0" anchor="ctr"/>
          <a:lstStyle/>
          <a:p>
            <a:pPr indent="0" marL="0" eaLnBrk="0">
              <a:buNone/>
            </a:pPr>
            <a:r>
              <a:rPr lang="ko-KR" altLang="en-US" sz="1700" b="1" dirty="0">
                <a:solidFill>
                  <a:schemeClr val="accent2"/>
                </a:solidFill>
              </a:rPr>
              <a:t>가상 기계의 전부</a:t>
            </a:r>
            <a:endParaRPr lang="ko-KR" altLang="en-US" sz="1700" dirty="0"/>
          </a:p>
        </p:txBody>
      </p:sp>
      <p:sp>
        <p:nvSpPr>
          <p:cNvPr id="11" name="Text 8"/>
          <p:cNvSpPr txBox="1"/>
          <p:nvPr/>
        </p:nvSpPr>
        <p:spPr>
          <a:xfrm>
            <a:off x="6995160" y="2304288"/>
            <a:ext cx="4419295" cy="365760"/>
          </a:xfrm>
          <a:prstGeom prst="rect">
            <a:avLst/>
          </a:prstGeom>
          <a:noFill/>
          <a:ln/>
        </p:spPr>
        <p:txBody>
          <a:bodyPr wrap="square" lIns="0" tIns="0" rIns="0" bIns="0" rtlCol="0" anchor="t"/>
          <a:lstStyle/>
          <a:p>
            <a:pPr indent="0" marL="0" eaLnBrk="0">
              <a:buNone/>
            </a:pPr>
            <a:r>
              <a:rPr lang="ko-KR" altLang="en-US" sz="1400" dirty="0">
                <a:solidFill>
                  <a:schemeClr val="tx2"/>
                </a:solidFill>
              </a:rPr>
              <a:t>스택 하나, 반복문 하나, switch 하나.</a:t>
            </a:r>
            <a:endParaRPr lang="ko-KR" altLang="en-US" sz="1400" dirty="0"/>
          </a:p>
        </p:txBody>
      </p:sp>
      <p:sp>
        <p:nvSpPr>
          <p:cNvPr id="12" name="card"/>
          <p:cNvSpPr/>
          <p:nvPr/>
        </p:nvSpPr>
        <p:spPr>
          <a:xfrm>
            <a:off x="6766560" y="2944368"/>
            <a:ext cx="4876495" cy="1234440"/>
          </a:xfrm>
          <a:prstGeom prst="roundRect">
            <a:avLst>
              <a:gd name="adj" fmla="val 7407"/>
            </a:avLst>
          </a:prstGeom>
          <a:solidFill>
            <a:schemeClr val="bg2"/>
          </a:solidFill>
          <a:ln w="12700">
            <a:solidFill>
              <a:schemeClr val="bg2"/>
            </a:solidFill>
            <a:prstDash val="solid"/>
          </a:ln>
        </p:spPr>
      </p:sp>
      <p:sp>
        <p:nvSpPr>
          <p:cNvPr id="13" name="Text 10"/>
          <p:cNvSpPr txBox="1"/>
          <p:nvPr/>
        </p:nvSpPr>
        <p:spPr>
          <a:xfrm>
            <a:off x="6995160" y="3163824"/>
            <a:ext cx="446501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닿는 곳</a:t>
            </a:r>
            <a:endParaRPr lang="ko-KR" altLang="en-US" sz="1700" dirty="0"/>
          </a:p>
        </p:txBody>
      </p:sp>
      <p:sp>
        <p:nvSpPr>
          <p:cNvPr id="14" name="Text 11"/>
          <p:cNvSpPr txBox="1"/>
          <p:nvPr/>
        </p:nvSpPr>
        <p:spPr>
          <a:xfrm>
            <a:off x="6995160" y="3675888"/>
            <a:ext cx="4419295" cy="365760"/>
          </a:xfrm>
          <a:prstGeom prst="rect">
            <a:avLst/>
          </a:prstGeom>
          <a:noFill/>
          <a:ln/>
        </p:spPr>
        <p:txBody>
          <a:bodyPr wrap="square" lIns="0" tIns="0" rIns="0" bIns="0" rtlCol="0" anchor="t"/>
          <a:lstStyle/>
          <a:p>
            <a:pPr indent="0" marL="0" eaLnBrk="0">
              <a:buNone/>
            </a:pPr>
            <a:r>
              <a:rPr lang="ko-KR" altLang="en-US" sz="1400" dirty="0">
                <a:solidFill>
                  <a:schemeClr val="tx2"/>
                </a:solidFill>
              </a:rPr>
              <a:t>정의한 몇 개의 명령으로만 게임에 닿는다.</a:t>
            </a:r>
            <a:endParaRPr lang="ko-KR" altLang="en-US" sz="1400" dirty="0"/>
          </a:p>
        </p:txBody>
      </p:sp>
      <p:sp>
        <p:nvSpPr>
          <p:cNvPr id="15" name="card"/>
          <p:cNvSpPr/>
          <p:nvPr/>
        </p:nvSpPr>
        <p:spPr>
          <a:xfrm>
            <a:off x="6766560" y="4315968"/>
            <a:ext cx="4876495" cy="1417320"/>
          </a:xfrm>
          <a:prstGeom prst="roundRect">
            <a:avLst>
              <a:gd name="adj" fmla="val 6452"/>
            </a:avLst>
          </a:prstGeom>
          <a:solidFill>
            <a:schemeClr val="bg2"/>
          </a:solidFill>
          <a:ln w="12700">
            <a:solidFill>
              <a:schemeClr val="bg2"/>
            </a:solidFill>
            <a:prstDash val="solid"/>
          </a:ln>
        </p:spPr>
      </p:sp>
      <p:sp>
        <p:nvSpPr>
          <p:cNvPr id="16" name="Text 13"/>
          <p:cNvSpPr txBox="1"/>
          <p:nvPr/>
        </p:nvSpPr>
        <p:spPr>
          <a:xfrm>
            <a:off x="6995160" y="4535424"/>
            <a:ext cx="446501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메모리와 시간</a:t>
            </a:r>
            <a:endParaRPr lang="ko-KR" altLang="en-US" sz="1700" dirty="0"/>
          </a:p>
        </p:txBody>
      </p:sp>
      <p:sp>
        <p:nvSpPr>
          <p:cNvPr id="17" name="Text 14"/>
          <p:cNvSpPr txBox="1"/>
          <p:nvPr/>
        </p:nvSpPr>
        <p:spPr>
          <a:xfrm>
            <a:off x="6995160" y="5047488"/>
            <a:ext cx="4419295" cy="548640"/>
          </a:xfrm>
          <a:prstGeom prst="rect">
            <a:avLst/>
          </a:prstGeom>
          <a:noFill/>
          <a:ln/>
        </p:spPr>
        <p:txBody>
          <a:bodyPr wrap="square" lIns="0" tIns="0" rIns="0" bIns="0" rtlCol="0" anchor="t"/>
          <a:lstStyle/>
          <a:p>
            <a:pPr indent="0" marL="0" eaLnBrk="0">
              <a:buNone/>
            </a:pPr>
            <a:r>
              <a:rPr lang="ko-KR" altLang="en-US" sz="1400" dirty="0">
                <a:solidFill>
                  <a:schemeClr val="tx2"/>
                </a:solidFill>
              </a:rPr>
              <a:t>스택 크기로 메모리를, 실행한 명령 수로 시간을 제한한다.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23</a:t>
            </a:fld>
            <a:endParaRPr lang="ko-KR"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주문 제작 도구</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사용자는 고수준으로 만들고, 도구가 바이트코드로 바꾼다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이 패턴을 설계할 때 정해야 할 것은 무엇일까?</a:t>
            </a:r>
            <a:endParaRPr lang="ko-KR" altLang="en-US" sz="1500" dirty="0"/>
          </a:p>
        </p:txBody>
      </p:sp>
      <p:sp>
        <p:nvSpPr>
          <p:cNvPr id="6" name="box"/>
          <p:cNvSpPr/>
          <p:nvPr/>
        </p:nvSpPr>
        <p:spPr>
          <a:xfrm>
            <a:off x="548640" y="1691640"/>
            <a:ext cx="1828800" cy="777240"/>
          </a:xfrm>
          <a:prstGeom prst="roundRect">
            <a:avLst>
              <a:gd name="adj" fmla="val 9412"/>
            </a:avLst>
          </a:prstGeom>
          <a:solidFill>
            <a:schemeClr val="bg2"/>
          </a:solidFill>
          <a:ln w="12700">
            <a:solidFill>
              <a:schemeClr val="bg2"/>
            </a:solidFill>
            <a:prstDash val="solid"/>
          </a:ln>
        </p:spPr>
      </p:sp>
      <p:sp>
        <p:nvSpPr>
          <p:cNvPr id="7" name="Text 4"/>
          <p:cNvSpPr txBox="1"/>
          <p:nvPr/>
        </p:nvSpPr>
        <p:spPr>
          <a:xfrm>
            <a:off x="548640" y="1691640"/>
            <a:ext cx="1828800" cy="777240"/>
          </a:xfrm>
          <a:prstGeom prst="rect">
            <a:avLst/>
          </a:prstGeom>
          <a:noFill/>
          <a:ln/>
        </p:spPr>
        <p:txBody>
          <a:bodyPr wrap="square" lIns="635" tIns="635" rIns="635" bIns="635" rtlCol="0" anchor="ctr"/>
          <a:lstStyle/>
          <a:p>
            <a:pPr algn="ctr" indent="0" marL="0" eaLnBrk="0">
              <a:buNone/>
            </a:pPr>
            <a:r>
              <a:rPr lang="ko-KR" altLang="en-US" sz="1600" b="1" dirty="0">
                <a:solidFill>
                  <a:schemeClr val="tx1"/>
                </a:solidFill>
              </a:rPr>
              <a:t>디자이너</a:t>
            </a:r>
            <a:endParaRPr lang="ko-KR" altLang="en-US" sz="1600" dirty="0"/>
          </a:p>
        </p:txBody>
      </p:sp>
      <p:sp>
        <p:nvSpPr>
          <p:cNvPr id="8" name="Shape 5"/>
          <p:cNvSpPr/>
          <p:nvPr/>
        </p:nvSpPr>
        <p:spPr>
          <a:xfrm>
            <a:off x="2423160" y="2080260"/>
            <a:ext cx="396164" cy="914"/>
          </a:xfrm>
          <a:prstGeom prst="line">
            <a:avLst/>
          </a:prstGeom>
          <a:noFill/>
          <a:ln w="22225">
            <a:solidFill>
              <a:schemeClr val="accent3"/>
            </a:solidFill>
            <a:prstDash val="solid"/>
            <a:tailEnd type="triangle"/>
          </a:ln>
        </p:spPr>
      </p:sp>
      <p:sp>
        <p:nvSpPr>
          <p:cNvPr id="9" name="box"/>
          <p:cNvSpPr/>
          <p:nvPr/>
        </p:nvSpPr>
        <p:spPr>
          <a:xfrm>
            <a:off x="2865044" y="1691640"/>
            <a:ext cx="1828800" cy="777240"/>
          </a:xfrm>
          <a:prstGeom prst="roundRect">
            <a:avLst>
              <a:gd name="adj" fmla="val 9412"/>
            </a:avLst>
          </a:prstGeom>
          <a:solidFill>
            <a:schemeClr val="accent2"/>
          </a:solidFill>
          <a:ln w="12700">
            <a:solidFill>
              <a:schemeClr val="accent2"/>
            </a:solidFill>
            <a:prstDash val="solid"/>
          </a:ln>
        </p:spPr>
      </p:sp>
      <p:sp>
        <p:nvSpPr>
          <p:cNvPr id="10" name="Text 7"/>
          <p:cNvSpPr txBox="1"/>
          <p:nvPr/>
        </p:nvSpPr>
        <p:spPr>
          <a:xfrm>
            <a:off x="2865044" y="1691640"/>
            <a:ext cx="1828800" cy="777240"/>
          </a:xfrm>
          <a:prstGeom prst="rect">
            <a:avLst/>
          </a:prstGeom>
          <a:noFill/>
          <a:ln/>
        </p:spPr>
        <p:txBody>
          <a:bodyPr wrap="square" lIns="635" tIns="635" rIns="635" bIns="635" rtlCol="0" anchor="ctr"/>
          <a:lstStyle/>
          <a:p>
            <a:pPr algn="ctr" indent="0" marL="0" eaLnBrk="0">
              <a:buNone/>
            </a:pPr>
            <a:r>
              <a:rPr lang="ko-KR" altLang="en-US" sz="1600" b="1" dirty="0">
                <a:solidFill>
                  <a:schemeClr val="bg1"/>
                </a:solidFill>
              </a:rPr>
              <a:t>저작 도구</a:t>
            </a:r>
            <a:endParaRPr lang="ko-KR" altLang="en-US" sz="1600" dirty="0"/>
          </a:p>
        </p:txBody>
      </p:sp>
      <p:sp>
        <p:nvSpPr>
          <p:cNvPr id="11" name="Shape 8"/>
          <p:cNvSpPr/>
          <p:nvPr/>
        </p:nvSpPr>
        <p:spPr>
          <a:xfrm>
            <a:off x="4739564" y="2080260"/>
            <a:ext cx="396164" cy="914"/>
          </a:xfrm>
          <a:prstGeom prst="line">
            <a:avLst/>
          </a:prstGeom>
          <a:noFill/>
          <a:ln w="22225">
            <a:solidFill>
              <a:schemeClr val="accent3"/>
            </a:solidFill>
            <a:prstDash val="solid"/>
            <a:tailEnd type="triangle"/>
          </a:ln>
        </p:spPr>
      </p:sp>
      <p:sp>
        <p:nvSpPr>
          <p:cNvPr id="12" name="box"/>
          <p:cNvSpPr/>
          <p:nvPr/>
        </p:nvSpPr>
        <p:spPr>
          <a:xfrm>
            <a:off x="5181448" y="1691640"/>
            <a:ext cx="1828800" cy="777240"/>
          </a:xfrm>
          <a:prstGeom prst="roundRect">
            <a:avLst>
              <a:gd name="adj" fmla="val 9412"/>
            </a:avLst>
          </a:prstGeom>
          <a:solidFill>
            <a:schemeClr val="accent1"/>
          </a:solidFill>
          <a:ln w="12700">
            <a:solidFill>
              <a:schemeClr val="accent1"/>
            </a:solidFill>
            <a:prstDash val="solid"/>
          </a:ln>
        </p:spPr>
      </p:sp>
      <p:sp>
        <p:nvSpPr>
          <p:cNvPr id="13" name="Text 10"/>
          <p:cNvSpPr txBox="1"/>
          <p:nvPr/>
        </p:nvSpPr>
        <p:spPr>
          <a:xfrm>
            <a:off x="5181448" y="1691640"/>
            <a:ext cx="1828800" cy="777240"/>
          </a:xfrm>
          <a:prstGeom prst="rect">
            <a:avLst/>
          </a:prstGeom>
          <a:noFill/>
          <a:ln/>
        </p:spPr>
        <p:txBody>
          <a:bodyPr wrap="square" lIns="635" tIns="635" rIns="635" bIns="635" rtlCol="0" anchor="ctr"/>
          <a:lstStyle/>
          <a:p>
            <a:pPr algn="ctr" indent="0" marL="0" eaLnBrk="0">
              <a:buNone/>
            </a:pPr>
            <a:r>
              <a:rPr lang="ko-KR" altLang="en-US" sz="1600" b="1" dirty="0">
                <a:solidFill>
                  <a:schemeClr val="bg1"/>
                </a:solidFill>
              </a:rPr>
              <a:t>바이트코드</a:t>
            </a:r>
            <a:endParaRPr lang="ko-KR" altLang="en-US" sz="1600" dirty="0"/>
          </a:p>
        </p:txBody>
      </p:sp>
      <p:sp>
        <p:nvSpPr>
          <p:cNvPr id="14" name="Shape 11"/>
          <p:cNvSpPr/>
          <p:nvPr/>
        </p:nvSpPr>
        <p:spPr>
          <a:xfrm>
            <a:off x="7055968" y="2080260"/>
            <a:ext cx="396164" cy="914"/>
          </a:xfrm>
          <a:prstGeom prst="line">
            <a:avLst/>
          </a:prstGeom>
          <a:noFill/>
          <a:ln w="22225">
            <a:solidFill>
              <a:schemeClr val="accent3"/>
            </a:solidFill>
            <a:prstDash val="solid"/>
            <a:tailEnd type="triangle"/>
          </a:ln>
        </p:spPr>
      </p:sp>
      <p:sp>
        <p:nvSpPr>
          <p:cNvPr id="15" name="box"/>
          <p:cNvSpPr/>
          <p:nvPr/>
        </p:nvSpPr>
        <p:spPr>
          <a:xfrm>
            <a:off x="7497851" y="1691640"/>
            <a:ext cx="1828800" cy="777240"/>
          </a:xfrm>
          <a:prstGeom prst="roundRect">
            <a:avLst>
              <a:gd name="adj" fmla="val 9412"/>
            </a:avLst>
          </a:prstGeom>
          <a:solidFill>
            <a:schemeClr val="accent1"/>
          </a:solidFill>
          <a:ln w="12700">
            <a:solidFill>
              <a:schemeClr val="accent1"/>
            </a:solidFill>
            <a:prstDash val="solid"/>
          </a:ln>
        </p:spPr>
      </p:sp>
      <p:sp>
        <p:nvSpPr>
          <p:cNvPr id="16" name="Text 13"/>
          <p:cNvSpPr txBox="1"/>
          <p:nvPr/>
        </p:nvSpPr>
        <p:spPr>
          <a:xfrm>
            <a:off x="7497851" y="1691640"/>
            <a:ext cx="1828800" cy="777240"/>
          </a:xfrm>
          <a:prstGeom prst="rect">
            <a:avLst/>
          </a:prstGeom>
          <a:noFill/>
          <a:ln/>
        </p:spPr>
        <p:txBody>
          <a:bodyPr wrap="square" lIns="635" tIns="635" rIns="635" bIns="635" rtlCol="0" anchor="ctr"/>
          <a:lstStyle/>
          <a:p>
            <a:pPr algn="ctr" indent="0" marL="0" eaLnBrk="0">
              <a:buNone/>
            </a:pPr>
            <a:r>
              <a:rPr lang="ko-KR" altLang="en-US" sz="1600" b="1" dirty="0">
                <a:solidFill>
                  <a:schemeClr val="bg1"/>
                </a:solidFill>
              </a:rPr>
              <a:t>가상 기계</a:t>
            </a:r>
            <a:endParaRPr lang="ko-KR" altLang="en-US" sz="1600" dirty="0"/>
          </a:p>
        </p:txBody>
      </p:sp>
      <p:sp>
        <p:nvSpPr>
          <p:cNvPr id="17" name="Shape 14"/>
          <p:cNvSpPr/>
          <p:nvPr/>
        </p:nvSpPr>
        <p:spPr>
          <a:xfrm>
            <a:off x="9372371" y="2080260"/>
            <a:ext cx="396164" cy="914"/>
          </a:xfrm>
          <a:prstGeom prst="line">
            <a:avLst/>
          </a:prstGeom>
          <a:noFill/>
          <a:ln w="22225">
            <a:solidFill>
              <a:schemeClr val="accent3"/>
            </a:solidFill>
            <a:prstDash val="solid"/>
            <a:tailEnd type="triangle"/>
          </a:ln>
        </p:spPr>
      </p:sp>
      <p:sp>
        <p:nvSpPr>
          <p:cNvPr id="18" name="box"/>
          <p:cNvSpPr/>
          <p:nvPr/>
        </p:nvSpPr>
        <p:spPr>
          <a:xfrm>
            <a:off x="9814255" y="1691640"/>
            <a:ext cx="1828800" cy="777240"/>
          </a:xfrm>
          <a:prstGeom prst="roundRect">
            <a:avLst>
              <a:gd name="adj" fmla="val 9412"/>
            </a:avLst>
          </a:prstGeom>
          <a:solidFill>
            <a:schemeClr val="bg2"/>
          </a:solidFill>
          <a:ln w="12700">
            <a:solidFill>
              <a:schemeClr val="bg2"/>
            </a:solidFill>
            <a:prstDash val="solid"/>
          </a:ln>
        </p:spPr>
      </p:sp>
      <p:sp>
        <p:nvSpPr>
          <p:cNvPr id="19" name="Text 16"/>
          <p:cNvSpPr txBox="1"/>
          <p:nvPr/>
        </p:nvSpPr>
        <p:spPr>
          <a:xfrm>
            <a:off x="9814255" y="1691640"/>
            <a:ext cx="1828800" cy="777240"/>
          </a:xfrm>
          <a:prstGeom prst="rect">
            <a:avLst/>
          </a:prstGeom>
          <a:noFill/>
          <a:ln/>
        </p:spPr>
        <p:txBody>
          <a:bodyPr wrap="square" lIns="635" tIns="635" rIns="635" bIns="635" rtlCol="0" anchor="ctr"/>
          <a:lstStyle/>
          <a:p>
            <a:pPr algn="ctr" indent="0" marL="0" eaLnBrk="0">
              <a:buNone/>
            </a:pPr>
            <a:r>
              <a:rPr lang="ko-KR" altLang="en-US" sz="1600" b="1" dirty="0">
                <a:solidFill>
                  <a:schemeClr val="tx1"/>
                </a:solidFill>
              </a:rPr>
              <a:t>게임</a:t>
            </a:r>
            <a:endParaRPr lang="ko-KR" altLang="en-US" sz="1600" dirty="0"/>
          </a:p>
        </p:txBody>
      </p:sp>
      <p:sp>
        <p:nvSpPr>
          <p:cNvPr id="20" name="Text 17"/>
          <p:cNvSpPr txBox="1"/>
          <p:nvPr/>
        </p:nvSpPr>
        <p:spPr>
          <a:xfrm>
            <a:off x="548640" y="2560320"/>
            <a:ext cx="4145204" cy="320040"/>
          </a:xfrm>
          <a:prstGeom prst="rect">
            <a:avLst/>
          </a:prstGeom>
          <a:noFill/>
          <a:ln/>
        </p:spPr>
        <p:txBody>
          <a:bodyPr wrap="square" lIns="0" tIns="0" rIns="0" bIns="0" rtlCol="0" anchor="t"/>
          <a:lstStyle/>
          <a:p>
            <a:pPr algn="ctr" indent="0" marL="0" eaLnBrk="0">
              <a:buNone/>
            </a:pPr>
            <a:r>
              <a:rPr lang="ko-KR" altLang="en-US" sz="1300" dirty="0">
                <a:solidFill>
                  <a:schemeClr val="accent5"/>
                </a:solidFill>
              </a:rPr>
              <a:t>고수준으로 만든다</a:t>
            </a:r>
            <a:endParaRPr lang="ko-KR" altLang="en-US" sz="1300" dirty="0"/>
          </a:p>
        </p:txBody>
      </p:sp>
      <p:sp>
        <p:nvSpPr>
          <p:cNvPr id="21" name="Text 18"/>
          <p:cNvSpPr txBox="1"/>
          <p:nvPr/>
        </p:nvSpPr>
        <p:spPr>
          <a:xfrm>
            <a:off x="5181448" y="2560320"/>
            <a:ext cx="6461608" cy="320040"/>
          </a:xfrm>
          <a:prstGeom prst="rect">
            <a:avLst/>
          </a:prstGeom>
          <a:noFill/>
          <a:ln/>
        </p:spPr>
        <p:txBody>
          <a:bodyPr wrap="square" lIns="0" tIns="0" rIns="0" bIns="0" rtlCol="0" anchor="t"/>
          <a:lstStyle/>
          <a:p>
            <a:pPr algn="ctr" indent="0" marL="0" eaLnBrk="0">
              <a:buNone/>
            </a:pPr>
            <a:r>
              <a:rPr lang="ko-KR" altLang="en-US" sz="1300" dirty="0">
                <a:solidFill>
                  <a:schemeClr val="accent5"/>
                </a:solidFill>
              </a:rPr>
              <a:t>저수준으로 실행한다</a:t>
            </a:r>
            <a:endParaRPr lang="ko-KR" altLang="en-US" sz="1300" dirty="0"/>
          </a:p>
        </p:txBody>
      </p:sp>
      <p:sp>
        <p:nvSpPr>
          <p:cNvPr id="22" name="card"/>
          <p:cNvSpPr/>
          <p:nvPr/>
        </p:nvSpPr>
        <p:spPr>
          <a:xfrm>
            <a:off x="548640" y="3108960"/>
            <a:ext cx="5432908" cy="1234440"/>
          </a:xfrm>
          <a:prstGeom prst="roundRect">
            <a:avLst>
              <a:gd name="adj" fmla="val 7407"/>
            </a:avLst>
          </a:prstGeom>
          <a:solidFill>
            <a:schemeClr val="bg2"/>
          </a:solidFill>
          <a:ln w="12700">
            <a:solidFill>
              <a:schemeClr val="bg2"/>
            </a:solidFill>
            <a:prstDash val="solid"/>
          </a:ln>
        </p:spPr>
      </p:sp>
      <p:sp>
        <p:nvSpPr>
          <p:cNvPr id="23" name="Text 20"/>
          <p:cNvSpPr txBox="1"/>
          <p:nvPr/>
        </p:nvSpPr>
        <p:spPr>
          <a:xfrm>
            <a:off x="777240" y="3328416"/>
            <a:ext cx="5021428"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텍스트 언어</a:t>
            </a:r>
            <a:endParaRPr lang="ko-KR" altLang="en-US" sz="1700" dirty="0"/>
          </a:p>
        </p:txBody>
      </p:sp>
      <p:sp>
        <p:nvSpPr>
          <p:cNvPr id="24" name="Text 21"/>
          <p:cNvSpPr txBox="1"/>
          <p:nvPr/>
        </p:nvSpPr>
        <p:spPr>
          <a:xfrm>
            <a:off x="777240" y="3840480"/>
            <a:ext cx="4975708" cy="365760"/>
          </a:xfrm>
          <a:prstGeom prst="rect">
            <a:avLst/>
          </a:prstGeom>
          <a:noFill/>
          <a:ln/>
        </p:spPr>
        <p:txBody>
          <a:bodyPr wrap="square" lIns="0" tIns="0" rIns="0" bIns="0" rtlCol="0" anchor="t"/>
          <a:lstStyle/>
          <a:p>
            <a:pPr indent="0" marL="0" eaLnBrk="0">
              <a:buNone/>
            </a:pPr>
            <a:r>
              <a:rPr lang="ko-KR" altLang="en-US" sz="1400" dirty="0">
                <a:solidFill>
                  <a:schemeClr val="tx2"/>
                </a:solidFill>
              </a:rPr>
              <a:t>문법을 설계하고 파서를 만들어 컴파일한다.</a:t>
            </a:r>
            <a:endParaRPr lang="ko-KR" altLang="en-US" sz="1400" dirty="0"/>
          </a:p>
        </p:txBody>
      </p:sp>
      <p:sp>
        <p:nvSpPr>
          <p:cNvPr id="25" name="card"/>
          <p:cNvSpPr/>
          <p:nvPr/>
        </p:nvSpPr>
        <p:spPr>
          <a:xfrm>
            <a:off x="6210148" y="3108960"/>
            <a:ext cx="5432908" cy="1234440"/>
          </a:xfrm>
          <a:prstGeom prst="roundRect">
            <a:avLst>
              <a:gd name="adj" fmla="val 7407"/>
            </a:avLst>
          </a:prstGeom>
          <a:solidFill>
            <a:schemeClr val="bg2"/>
          </a:solidFill>
          <a:ln w="12700">
            <a:solidFill>
              <a:schemeClr val="bg2"/>
            </a:solidFill>
            <a:prstDash val="solid"/>
          </a:ln>
        </p:spPr>
      </p:sp>
      <p:sp>
        <p:nvSpPr>
          <p:cNvPr id="26" name="Text 23"/>
          <p:cNvSpPr txBox="1"/>
          <p:nvPr/>
        </p:nvSpPr>
        <p:spPr>
          <a:xfrm>
            <a:off x="6438748" y="3328416"/>
            <a:ext cx="5021428" cy="411480"/>
          </a:xfrm>
          <a:prstGeom prst="rect">
            <a:avLst/>
          </a:prstGeom>
          <a:noFill/>
          <a:ln/>
        </p:spPr>
        <p:txBody>
          <a:bodyPr wrap="square" lIns="0" tIns="0" rIns="0" bIns="0" rtlCol="0" anchor="ctr"/>
          <a:lstStyle/>
          <a:p>
            <a:pPr indent="0" marL="0" eaLnBrk="0">
              <a:buNone/>
            </a:pPr>
            <a:r>
              <a:rPr lang="ko-KR" altLang="en-US" sz="1700" b="1" dirty="0">
                <a:solidFill>
                  <a:schemeClr val="accent2"/>
                </a:solidFill>
              </a:rPr>
              <a:t>그래픽 도구 (원서의 권장)</a:t>
            </a:r>
            <a:endParaRPr lang="ko-KR" altLang="en-US" sz="1700" dirty="0"/>
          </a:p>
        </p:txBody>
      </p:sp>
      <p:sp>
        <p:nvSpPr>
          <p:cNvPr id="27" name="Text 24"/>
          <p:cNvSpPr txBox="1"/>
          <p:nvPr/>
        </p:nvSpPr>
        <p:spPr>
          <a:xfrm>
            <a:off x="6438748" y="3840480"/>
            <a:ext cx="4975708" cy="365760"/>
          </a:xfrm>
          <a:prstGeom prst="rect">
            <a:avLst/>
          </a:prstGeom>
          <a:noFill/>
          <a:ln/>
        </p:spPr>
        <p:txBody>
          <a:bodyPr wrap="square" lIns="0" tIns="0" rIns="0" bIns="0" rtlCol="0" anchor="t"/>
          <a:lstStyle/>
          <a:p>
            <a:pPr indent="0" marL="0" eaLnBrk="0">
              <a:buNone/>
            </a:pPr>
            <a:r>
              <a:rPr lang="ko-KR" altLang="en-US" sz="1400" dirty="0">
                <a:solidFill>
                  <a:schemeClr val="tx2"/>
                </a:solidFill>
              </a:rPr>
              <a:t>상자를 끌어 놓고, 메뉴에서 고르게 한다.</a:t>
            </a:r>
            <a:endParaRPr lang="ko-KR" altLang="en-US" sz="1400" dirty="0"/>
          </a:p>
        </p:txBody>
      </p:sp>
      <p:sp>
        <p:nvSpPr>
          <p:cNvPr id="28" name="card"/>
          <p:cNvSpPr/>
          <p:nvPr/>
        </p:nvSpPr>
        <p:spPr>
          <a:xfrm>
            <a:off x="548640" y="4526280"/>
            <a:ext cx="11094415" cy="1188720"/>
          </a:xfrm>
          <a:prstGeom prst="roundRect">
            <a:avLst>
              <a:gd name="adj" fmla="val 7692"/>
            </a:avLst>
          </a:prstGeom>
          <a:solidFill>
            <a:schemeClr val="tx2"/>
          </a:solidFill>
          <a:ln w="12700">
            <a:solidFill>
              <a:schemeClr val="tx2"/>
            </a:solidFill>
            <a:prstDash val="solid"/>
          </a:ln>
        </p:spPr>
      </p:sp>
      <p:sp>
        <p:nvSpPr>
          <p:cNvPr id="29" name="Text 26"/>
          <p:cNvSpPr txBox="1"/>
          <p:nvPr/>
        </p:nvSpPr>
        <p:spPr>
          <a:xfrm>
            <a:off x="777240" y="4745736"/>
            <a:ext cx="10682935" cy="411480"/>
          </a:xfrm>
          <a:prstGeom prst="rect">
            <a:avLst/>
          </a:prstGeom>
          <a:noFill/>
          <a:ln/>
        </p:spPr>
        <p:txBody>
          <a:bodyPr wrap="square" lIns="0" tIns="0" rIns="0" bIns="0" rtlCol="0" anchor="ctr"/>
          <a:lstStyle/>
          <a:p>
            <a:pPr indent="0" marL="0" eaLnBrk="0">
              <a:buNone/>
            </a:pPr>
            <a:r>
              <a:rPr lang="ko-KR" altLang="en-US" sz="1700" b="1" dirty="0">
                <a:solidFill>
                  <a:schemeClr val="accent4"/>
                </a:solidFill>
              </a:rPr>
              <a:t>사람은 실수한다</a:t>
            </a:r>
            <a:endParaRPr lang="ko-KR" altLang="en-US" sz="1700" dirty="0"/>
          </a:p>
        </p:txBody>
      </p:sp>
      <p:sp>
        <p:nvSpPr>
          <p:cNvPr id="30" name="Text 27"/>
          <p:cNvSpPr txBox="1"/>
          <p:nvPr/>
        </p:nvSpPr>
        <p:spPr>
          <a:xfrm>
            <a:off x="777240" y="5303520"/>
            <a:ext cx="10637215" cy="274320"/>
          </a:xfrm>
          <a:prstGeom prst="rect">
            <a:avLst/>
          </a:prstGeom>
          <a:noFill/>
          <a:ln/>
        </p:spPr>
        <p:txBody>
          <a:bodyPr wrap="square" lIns="0" tIns="0" rIns="0" bIns="0" rtlCol="0" anchor="t"/>
          <a:lstStyle/>
          <a:p>
            <a:pPr indent="0" marL="0" eaLnBrk="0">
              <a:buNone/>
            </a:pPr>
            <a:r>
              <a:rPr lang="ko-KR" altLang="en-US" sz="1400" dirty="0">
                <a:solidFill>
                  <a:schemeClr val="bg1"/>
                </a:solidFill>
              </a:rPr>
              <a:t>오류 메시지를 쏟아 내기보다 버튼을 끄고 기본값을 채워, 언제나 올바른 상태를 유지하게 한다. 되돌리기도 제공한다.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24</a:t>
            </a:fld>
            <a:endParaRPr lang="ko-KR"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5부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설계 결정과 주의점</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설계 결정 · 쓸 때 · 주의점</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25</a:t>
            </a:fld>
            <a:endParaRPr lang="ko-KR"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결정 1</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명령은 스택에 어떻게 접근하는가: 스택 기계와 레지스터 기계</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명령 집합에는 어떤 종류의 명령을 둘까?</a:t>
            </a:r>
            <a:endParaRPr lang="ko-KR" altLang="en-US" sz="1500" dirty="0"/>
          </a:p>
        </p:txBody>
      </p:sp>
      <p:sp>
        <p:nvSpPr>
          <p:cNvPr id="6" name="Text 3"/>
          <p:cNvSpPr txBox="1"/>
          <p:nvPr/>
        </p:nvSpPr>
        <p:spPr>
          <a:xfrm>
            <a:off x="548640" y="1645920"/>
            <a:ext cx="5410048" cy="411480"/>
          </a:xfrm>
          <a:prstGeom prst="rect">
            <a:avLst/>
          </a:prstGeom>
          <a:noFill/>
          <a:ln/>
        </p:spPr>
        <p:txBody>
          <a:bodyPr wrap="square" lIns="0" tIns="0" rIns="0" bIns="0" rtlCol="0" anchor="t"/>
          <a:lstStyle/>
          <a:p>
            <a:pPr indent="0" marL="0" eaLnBrk="0">
              <a:buNone/>
            </a:pPr>
            <a:r>
              <a:rPr lang="ko-KR" altLang="en-US" sz="1900" b="1" dirty="0">
                <a:solidFill>
                  <a:schemeClr val="accent2"/>
                </a:solidFill>
              </a:rPr>
              <a:t>스택 기계 (오늘의 예제)</a:t>
            </a:r>
            <a:endParaRPr lang="ko-KR" altLang="en-US" sz="1900" dirty="0"/>
          </a:p>
        </p:txBody>
      </p:sp>
      <p:sp>
        <p:nvSpPr>
          <p:cNvPr id="7" name="Shape 4"/>
          <p:cNvSpPr/>
          <p:nvPr/>
        </p:nvSpPr>
        <p:spPr>
          <a:xfrm>
            <a:off x="548640" y="2148840"/>
            <a:ext cx="5410048" cy="822960"/>
          </a:xfrm>
          <a:prstGeom prst="roundRect">
            <a:avLst>
              <a:gd name="adj" fmla="val 8889"/>
            </a:avLst>
          </a:prstGeom>
          <a:solidFill>
            <a:schemeClr val="bg2"/>
          </a:solidFill>
          <a:ln w="12700">
            <a:solidFill>
              <a:schemeClr val="bg2"/>
            </a:solidFill>
            <a:prstDash val="solid"/>
          </a:ln>
        </p:spPr>
      </p:sp>
      <p:sp>
        <p:nvSpPr>
          <p:cNvPr id="8" name="Text 5"/>
          <p:cNvSpPr txBox="1"/>
          <p:nvPr/>
        </p:nvSpPr>
        <p:spPr>
          <a:xfrm>
            <a:off x="777240" y="2148840"/>
            <a:ext cx="1828800" cy="822960"/>
          </a:xfrm>
          <a:prstGeom prst="rect">
            <a:avLst/>
          </a:prstGeom>
          <a:noFill/>
          <a:ln/>
        </p:spPr>
        <p:txBody>
          <a:bodyPr wrap="square" lIns="0" tIns="0" rIns="0" bIns="0" rtlCol="0" anchor="ctr"/>
          <a:lstStyle/>
          <a:p>
            <a:pPr indent="0" marL="0" eaLnBrk="0">
              <a:buNone/>
            </a:pPr>
            <a:r>
              <a:rPr lang="ko-KR" altLang="en-US" sz="1500" b="1" dirty="0">
                <a:solidFill>
                  <a:schemeClr val="tx1"/>
                </a:solidFill>
              </a:rPr>
              <a:t>명령이 작다</a:t>
            </a:r>
            <a:endParaRPr lang="ko-KR" altLang="en-US" sz="1500" dirty="0"/>
          </a:p>
        </p:txBody>
      </p:sp>
      <p:sp>
        <p:nvSpPr>
          <p:cNvPr id="9" name="Text 6"/>
          <p:cNvSpPr txBox="1"/>
          <p:nvPr/>
        </p:nvSpPr>
        <p:spPr>
          <a:xfrm>
            <a:off x="2651760" y="2148840"/>
            <a:ext cx="3124048" cy="822960"/>
          </a:xfrm>
          <a:prstGeom prst="rect">
            <a:avLst/>
          </a:prstGeom>
          <a:noFill/>
          <a:ln/>
        </p:spPr>
        <p:txBody>
          <a:bodyPr wrap="square" lIns="0" tIns="0" rIns="0" bIns="0" rtlCol="0" anchor="ctr"/>
          <a:lstStyle/>
          <a:p>
            <a:pPr indent="0" marL="0" eaLnBrk="0">
              <a:buNone/>
            </a:pPr>
            <a:r>
              <a:rPr lang="ko-KR" altLang="en-US" sz="1300" dirty="0">
                <a:solidFill>
                  <a:schemeClr val="tx2"/>
                </a:solidFill>
              </a:rPr>
              <a:t>인수가 스택 맨 위에 있으므로 보통 한 바이트이다.</a:t>
            </a:r>
            <a:endParaRPr lang="ko-KR" altLang="en-US" sz="1300" dirty="0"/>
          </a:p>
        </p:txBody>
      </p:sp>
      <p:sp>
        <p:nvSpPr>
          <p:cNvPr id="10" name="Shape 7"/>
          <p:cNvSpPr/>
          <p:nvPr/>
        </p:nvSpPr>
        <p:spPr>
          <a:xfrm>
            <a:off x="548640" y="3081528"/>
            <a:ext cx="5410048" cy="822960"/>
          </a:xfrm>
          <a:prstGeom prst="roundRect">
            <a:avLst>
              <a:gd name="adj" fmla="val 8889"/>
            </a:avLst>
          </a:prstGeom>
          <a:solidFill>
            <a:schemeClr val="bg2"/>
          </a:solidFill>
          <a:ln w="12700">
            <a:solidFill>
              <a:schemeClr val="bg2"/>
            </a:solidFill>
            <a:prstDash val="solid"/>
          </a:ln>
        </p:spPr>
      </p:sp>
      <p:sp>
        <p:nvSpPr>
          <p:cNvPr id="11" name="Text 8"/>
          <p:cNvSpPr txBox="1"/>
          <p:nvPr/>
        </p:nvSpPr>
        <p:spPr>
          <a:xfrm>
            <a:off x="777240" y="3081528"/>
            <a:ext cx="1828800" cy="822960"/>
          </a:xfrm>
          <a:prstGeom prst="rect">
            <a:avLst/>
          </a:prstGeom>
          <a:noFill/>
          <a:ln/>
        </p:spPr>
        <p:txBody>
          <a:bodyPr wrap="square" lIns="0" tIns="0" rIns="0" bIns="0" rtlCol="0" anchor="ctr"/>
          <a:lstStyle/>
          <a:p>
            <a:pPr indent="0" marL="0" eaLnBrk="0">
              <a:buNone/>
            </a:pPr>
            <a:r>
              <a:rPr lang="ko-KR" altLang="en-US" sz="1500" b="1" dirty="0">
                <a:solidFill>
                  <a:schemeClr val="tx1"/>
                </a:solidFill>
              </a:rPr>
              <a:t>코드 생성이 쉽다</a:t>
            </a:r>
            <a:endParaRPr lang="ko-KR" altLang="en-US" sz="1500" dirty="0"/>
          </a:p>
        </p:txBody>
      </p:sp>
      <p:sp>
        <p:nvSpPr>
          <p:cNvPr id="12" name="Text 9"/>
          <p:cNvSpPr txBox="1"/>
          <p:nvPr/>
        </p:nvSpPr>
        <p:spPr>
          <a:xfrm>
            <a:off x="2651760" y="3081528"/>
            <a:ext cx="3124048" cy="822960"/>
          </a:xfrm>
          <a:prstGeom prst="rect">
            <a:avLst/>
          </a:prstGeom>
          <a:noFill/>
          <a:ln/>
        </p:spPr>
        <p:txBody>
          <a:bodyPr wrap="square" lIns="0" tIns="0" rIns="0" bIns="0" rtlCol="0" anchor="ctr"/>
          <a:lstStyle/>
          <a:p>
            <a:pPr indent="0" marL="0" eaLnBrk="0">
              <a:buNone/>
            </a:pPr>
            <a:r>
              <a:rPr lang="ko-KR" altLang="en-US" sz="1300" dirty="0">
                <a:solidFill>
                  <a:schemeClr val="tx2"/>
                </a:solidFill>
              </a:rPr>
              <a:t>명령을 올바른 순서로 내보내기만 하면 된다.</a:t>
            </a:r>
            <a:endParaRPr lang="ko-KR" altLang="en-US" sz="1300" dirty="0"/>
          </a:p>
        </p:txBody>
      </p:sp>
      <p:sp>
        <p:nvSpPr>
          <p:cNvPr id="13" name="Shape 10"/>
          <p:cNvSpPr/>
          <p:nvPr/>
        </p:nvSpPr>
        <p:spPr>
          <a:xfrm>
            <a:off x="548640" y="4014216"/>
            <a:ext cx="5410048" cy="822960"/>
          </a:xfrm>
          <a:prstGeom prst="roundRect">
            <a:avLst>
              <a:gd name="adj" fmla="val 8889"/>
            </a:avLst>
          </a:prstGeom>
          <a:solidFill>
            <a:schemeClr val="bg2"/>
          </a:solidFill>
          <a:ln w="12700">
            <a:solidFill>
              <a:schemeClr val="bg2"/>
            </a:solidFill>
            <a:prstDash val="solid"/>
          </a:ln>
        </p:spPr>
      </p:sp>
      <p:sp>
        <p:nvSpPr>
          <p:cNvPr id="14" name="Text 11"/>
          <p:cNvSpPr txBox="1"/>
          <p:nvPr/>
        </p:nvSpPr>
        <p:spPr>
          <a:xfrm>
            <a:off x="777240" y="4014216"/>
            <a:ext cx="1828800" cy="822960"/>
          </a:xfrm>
          <a:prstGeom prst="rect">
            <a:avLst/>
          </a:prstGeom>
          <a:noFill/>
          <a:ln/>
        </p:spPr>
        <p:txBody>
          <a:bodyPr wrap="square" lIns="0" tIns="0" rIns="0" bIns="0" rtlCol="0" anchor="ctr"/>
          <a:lstStyle/>
          <a:p>
            <a:pPr indent="0" marL="0" eaLnBrk="0">
              <a:buNone/>
            </a:pPr>
            <a:r>
              <a:rPr lang="ko-KR" altLang="en-US" sz="1500" b="1" dirty="0">
                <a:solidFill>
                  <a:schemeClr val="tx1"/>
                </a:solidFill>
              </a:rPr>
              <a:t>명령이 많다</a:t>
            </a:r>
            <a:endParaRPr lang="ko-KR" altLang="en-US" sz="1500" dirty="0"/>
          </a:p>
        </p:txBody>
      </p:sp>
      <p:sp>
        <p:nvSpPr>
          <p:cNvPr id="15" name="Text 12"/>
          <p:cNvSpPr txBox="1"/>
          <p:nvPr/>
        </p:nvSpPr>
        <p:spPr>
          <a:xfrm>
            <a:off x="2651760" y="4014216"/>
            <a:ext cx="3124048" cy="822960"/>
          </a:xfrm>
          <a:prstGeom prst="rect">
            <a:avLst/>
          </a:prstGeom>
          <a:noFill/>
          <a:ln/>
        </p:spPr>
        <p:txBody>
          <a:bodyPr wrap="square" lIns="0" tIns="0" rIns="0" bIns="0" rtlCol="0" anchor="ctr"/>
          <a:lstStyle/>
          <a:p>
            <a:pPr indent="0" marL="0" eaLnBrk="0">
              <a:buNone/>
            </a:pPr>
            <a:r>
              <a:rPr lang="ko-KR" altLang="en-US" sz="1300" dirty="0">
                <a:solidFill>
                  <a:schemeClr val="tx2"/>
                </a:solidFill>
              </a:rPr>
              <a:t>a = b + c에도 옮기고 더하고 옮기는 명령이 여럿 필요하다.</a:t>
            </a:r>
            <a:endParaRPr lang="ko-KR" altLang="en-US" sz="1300" dirty="0"/>
          </a:p>
        </p:txBody>
      </p:sp>
      <p:sp>
        <p:nvSpPr>
          <p:cNvPr id="16" name="Text 13"/>
          <p:cNvSpPr txBox="1"/>
          <p:nvPr/>
        </p:nvSpPr>
        <p:spPr>
          <a:xfrm>
            <a:off x="6233008" y="1645920"/>
            <a:ext cx="5410048" cy="411480"/>
          </a:xfrm>
          <a:prstGeom prst="rect">
            <a:avLst/>
          </a:prstGeom>
          <a:noFill/>
          <a:ln/>
        </p:spPr>
        <p:txBody>
          <a:bodyPr wrap="square" lIns="0" tIns="0" rIns="0" bIns="0" rtlCol="0" anchor="t"/>
          <a:lstStyle/>
          <a:p>
            <a:pPr indent="0" marL="0" eaLnBrk="0">
              <a:buNone/>
            </a:pPr>
            <a:r>
              <a:rPr lang="ko-KR" altLang="en-US" sz="1900" b="1" dirty="0">
                <a:solidFill>
                  <a:schemeClr val="accent6"/>
                </a:solidFill>
              </a:rPr>
              <a:t>레지스터 기계</a:t>
            </a:r>
            <a:endParaRPr lang="ko-KR" altLang="en-US" sz="1900" dirty="0"/>
          </a:p>
        </p:txBody>
      </p:sp>
      <p:sp>
        <p:nvSpPr>
          <p:cNvPr id="17" name="Shape 14"/>
          <p:cNvSpPr/>
          <p:nvPr/>
        </p:nvSpPr>
        <p:spPr>
          <a:xfrm>
            <a:off x="6233008" y="2148840"/>
            <a:ext cx="5410048" cy="822960"/>
          </a:xfrm>
          <a:prstGeom prst="roundRect">
            <a:avLst>
              <a:gd name="adj" fmla="val 8889"/>
            </a:avLst>
          </a:prstGeom>
          <a:solidFill>
            <a:schemeClr val="bg2"/>
          </a:solidFill>
          <a:ln w="12700">
            <a:solidFill>
              <a:schemeClr val="bg2"/>
            </a:solidFill>
            <a:prstDash val="solid"/>
          </a:ln>
        </p:spPr>
      </p:sp>
      <p:sp>
        <p:nvSpPr>
          <p:cNvPr id="18" name="Text 15"/>
          <p:cNvSpPr txBox="1"/>
          <p:nvPr/>
        </p:nvSpPr>
        <p:spPr>
          <a:xfrm>
            <a:off x="6461608" y="2148840"/>
            <a:ext cx="1828800" cy="822960"/>
          </a:xfrm>
          <a:prstGeom prst="rect">
            <a:avLst/>
          </a:prstGeom>
          <a:noFill/>
          <a:ln/>
        </p:spPr>
        <p:txBody>
          <a:bodyPr wrap="square" lIns="0" tIns="0" rIns="0" bIns="0" rtlCol="0" anchor="ctr"/>
          <a:lstStyle/>
          <a:p>
            <a:pPr indent="0" marL="0" eaLnBrk="0">
              <a:buNone/>
            </a:pPr>
            <a:r>
              <a:rPr lang="ko-KR" altLang="en-US" sz="1500" b="1" dirty="0">
                <a:solidFill>
                  <a:schemeClr val="tx1"/>
                </a:solidFill>
              </a:rPr>
              <a:t>명령이 크다</a:t>
            </a:r>
            <a:endParaRPr lang="ko-KR" altLang="en-US" sz="1500" dirty="0"/>
          </a:p>
        </p:txBody>
      </p:sp>
      <p:sp>
        <p:nvSpPr>
          <p:cNvPr id="19" name="Text 16"/>
          <p:cNvSpPr txBox="1"/>
          <p:nvPr/>
        </p:nvSpPr>
        <p:spPr>
          <a:xfrm>
            <a:off x="8336128" y="2148840"/>
            <a:ext cx="3124048" cy="822960"/>
          </a:xfrm>
          <a:prstGeom prst="rect">
            <a:avLst/>
          </a:prstGeom>
          <a:noFill/>
          <a:ln/>
        </p:spPr>
        <p:txBody>
          <a:bodyPr wrap="square" lIns="0" tIns="0" rIns="0" bIns="0" rtlCol="0" anchor="ctr"/>
          <a:lstStyle/>
          <a:p>
            <a:pPr indent="0" marL="0" eaLnBrk="0">
              <a:buNone/>
            </a:pPr>
            <a:r>
              <a:rPr lang="ko-KR" altLang="en-US" sz="1300" dirty="0">
                <a:solidFill>
                  <a:schemeClr val="tx2"/>
                </a:solidFill>
              </a:rPr>
              <a:t>스택 위치를 인수로 가진다. Lua는 명령 하나가 32비트이다.</a:t>
            </a:r>
            <a:endParaRPr lang="ko-KR" altLang="en-US" sz="1300" dirty="0"/>
          </a:p>
        </p:txBody>
      </p:sp>
      <p:sp>
        <p:nvSpPr>
          <p:cNvPr id="20" name="Shape 17"/>
          <p:cNvSpPr/>
          <p:nvPr/>
        </p:nvSpPr>
        <p:spPr>
          <a:xfrm>
            <a:off x="6233008" y="3081528"/>
            <a:ext cx="5410048" cy="822960"/>
          </a:xfrm>
          <a:prstGeom prst="roundRect">
            <a:avLst>
              <a:gd name="adj" fmla="val 8889"/>
            </a:avLst>
          </a:prstGeom>
          <a:solidFill>
            <a:schemeClr val="bg2"/>
          </a:solidFill>
          <a:ln w="12700">
            <a:solidFill>
              <a:schemeClr val="bg2"/>
            </a:solidFill>
            <a:prstDash val="solid"/>
          </a:ln>
        </p:spPr>
      </p:sp>
      <p:sp>
        <p:nvSpPr>
          <p:cNvPr id="21" name="Text 18"/>
          <p:cNvSpPr txBox="1"/>
          <p:nvPr/>
        </p:nvSpPr>
        <p:spPr>
          <a:xfrm>
            <a:off x="6461608" y="3081528"/>
            <a:ext cx="1828800" cy="822960"/>
          </a:xfrm>
          <a:prstGeom prst="rect">
            <a:avLst/>
          </a:prstGeom>
          <a:noFill/>
          <a:ln/>
        </p:spPr>
        <p:txBody>
          <a:bodyPr wrap="square" lIns="0" tIns="0" rIns="0" bIns="0" rtlCol="0" anchor="ctr"/>
          <a:lstStyle/>
          <a:p>
            <a:pPr indent="0" marL="0" eaLnBrk="0">
              <a:buNone/>
            </a:pPr>
            <a:r>
              <a:rPr lang="ko-KR" altLang="en-US" sz="1500" b="1" dirty="0">
                <a:solidFill>
                  <a:schemeClr val="tx1"/>
                </a:solidFill>
              </a:rPr>
              <a:t>명령이 적다</a:t>
            </a:r>
            <a:endParaRPr lang="ko-KR" altLang="en-US" sz="1500" dirty="0"/>
          </a:p>
        </p:txBody>
      </p:sp>
      <p:sp>
        <p:nvSpPr>
          <p:cNvPr id="22" name="Text 19"/>
          <p:cNvSpPr txBox="1"/>
          <p:nvPr/>
        </p:nvSpPr>
        <p:spPr>
          <a:xfrm>
            <a:off x="8336128" y="3081528"/>
            <a:ext cx="3124048" cy="822960"/>
          </a:xfrm>
          <a:prstGeom prst="rect">
            <a:avLst/>
          </a:prstGeom>
          <a:noFill/>
          <a:ln/>
        </p:spPr>
        <p:txBody>
          <a:bodyPr wrap="square" lIns="0" tIns="0" rIns="0" bIns="0" rtlCol="0" anchor="ctr"/>
          <a:lstStyle/>
          <a:p>
            <a:pPr indent="0" marL="0" eaLnBrk="0">
              <a:buNone/>
            </a:pPr>
            <a:r>
              <a:rPr lang="ko-KR" altLang="en-US" sz="1300" dirty="0">
                <a:solidFill>
                  <a:schemeClr val="tx2"/>
                </a:solidFill>
              </a:rPr>
              <a:t>명령 하나가 더 많은 일을 한다. 값을 덜 옮긴다.</a:t>
            </a:r>
            <a:endParaRPr lang="ko-KR" altLang="en-US" sz="1300" dirty="0"/>
          </a:p>
        </p:txBody>
      </p:sp>
      <p:sp>
        <p:nvSpPr>
          <p:cNvPr id="23" name="Shape 20"/>
          <p:cNvSpPr/>
          <p:nvPr/>
        </p:nvSpPr>
        <p:spPr>
          <a:xfrm>
            <a:off x="6233008" y="4014216"/>
            <a:ext cx="5410048" cy="822960"/>
          </a:xfrm>
          <a:prstGeom prst="roundRect">
            <a:avLst>
              <a:gd name="adj" fmla="val 8889"/>
            </a:avLst>
          </a:prstGeom>
          <a:solidFill>
            <a:schemeClr val="bg2"/>
          </a:solidFill>
          <a:ln w="12700">
            <a:solidFill>
              <a:schemeClr val="bg2"/>
            </a:solidFill>
            <a:prstDash val="solid"/>
          </a:ln>
        </p:spPr>
      </p:sp>
      <p:sp>
        <p:nvSpPr>
          <p:cNvPr id="24" name="Text 21"/>
          <p:cNvSpPr txBox="1"/>
          <p:nvPr/>
        </p:nvSpPr>
        <p:spPr>
          <a:xfrm>
            <a:off x="6461608" y="4014216"/>
            <a:ext cx="1828800" cy="822960"/>
          </a:xfrm>
          <a:prstGeom prst="rect">
            <a:avLst/>
          </a:prstGeom>
          <a:noFill/>
          <a:ln/>
        </p:spPr>
        <p:txBody>
          <a:bodyPr wrap="square" lIns="0" tIns="0" rIns="0" bIns="0" rtlCol="0" anchor="ctr"/>
          <a:lstStyle/>
          <a:p>
            <a:pPr indent="0" marL="0" eaLnBrk="0">
              <a:buNone/>
            </a:pPr>
            <a:r>
              <a:rPr lang="ko-KR" altLang="en-US" sz="1500" b="1" dirty="0">
                <a:solidFill>
                  <a:schemeClr val="tx1"/>
                </a:solidFill>
              </a:rPr>
              <a:t>속도는 경우에 따라</a:t>
            </a:r>
            <a:endParaRPr lang="ko-KR" altLang="en-US" sz="1500" dirty="0"/>
          </a:p>
        </p:txBody>
      </p:sp>
      <p:sp>
        <p:nvSpPr>
          <p:cNvPr id="25" name="Text 22"/>
          <p:cNvSpPr txBox="1"/>
          <p:nvPr/>
        </p:nvSpPr>
        <p:spPr>
          <a:xfrm>
            <a:off x="8336128" y="4014216"/>
            <a:ext cx="3124048" cy="822960"/>
          </a:xfrm>
          <a:prstGeom prst="rect">
            <a:avLst/>
          </a:prstGeom>
          <a:noFill/>
          <a:ln/>
        </p:spPr>
        <p:txBody>
          <a:bodyPr wrap="square" lIns="0" tIns="0" rIns="0" bIns="0" rtlCol="0" anchor="ctr"/>
          <a:lstStyle/>
          <a:p>
            <a:pPr indent="0" marL="0" eaLnBrk="0">
              <a:buNone/>
            </a:pPr>
            <a:r>
              <a:rPr lang="ko-KR" altLang="en-US" sz="1300" dirty="0">
                <a:solidFill>
                  <a:schemeClr val="tx2"/>
                </a:solidFill>
              </a:rPr>
              <a:t>더 빠르다는 평이 있지만, 명령 설계에 크게 좌우된다.</a:t>
            </a:r>
            <a:endParaRPr lang="ko-KR" altLang="en-US" sz="1300" dirty="0"/>
          </a:p>
        </p:txBody>
      </p:sp>
      <p:sp>
        <p:nvSpPr>
          <p:cNvPr id="26" name="box"/>
          <p:cNvSpPr/>
          <p:nvPr/>
        </p:nvSpPr>
        <p:spPr>
          <a:xfrm>
            <a:off x="548640" y="5029200"/>
            <a:ext cx="11094415" cy="640080"/>
          </a:xfrm>
          <a:prstGeom prst="roundRect">
            <a:avLst>
              <a:gd name="adj" fmla="val 11429"/>
            </a:avLst>
          </a:prstGeom>
          <a:solidFill>
            <a:schemeClr val="tx2"/>
          </a:solidFill>
          <a:ln w="12700">
            <a:solidFill>
              <a:schemeClr val="tx2"/>
            </a:solidFill>
            <a:prstDash val="solid"/>
          </a:ln>
        </p:spPr>
      </p:sp>
      <p:sp>
        <p:nvSpPr>
          <p:cNvPr id="27" name="Text 24"/>
          <p:cNvSpPr txBox="1"/>
          <p:nvPr/>
        </p:nvSpPr>
        <p:spPr>
          <a:xfrm>
            <a:off x="548640" y="5029200"/>
            <a:ext cx="11094415" cy="640080"/>
          </a:xfrm>
          <a:prstGeom prst="rect">
            <a:avLst/>
          </a:prstGeom>
          <a:noFill/>
          <a:ln/>
        </p:spPr>
        <p:txBody>
          <a:bodyPr wrap="square" lIns="635" tIns="635" rIns="635" bIns="635" rtlCol="0" anchor="ctr"/>
          <a:lstStyle/>
          <a:p>
            <a:pPr algn="ctr" indent="0" marL="0" eaLnBrk="0">
              <a:buNone/>
            </a:pPr>
            <a:r>
              <a:rPr lang="ko-KR" altLang="en-US" sz="1600" dirty="0">
                <a:solidFill>
                  <a:schemeClr val="bg1"/>
                </a:solidFill>
              </a:rPr>
              <a:t>원서의 권장: 스택 기계. 구현하기 쉽고, 바이트코드를 만들어 내기는 훨씬 쉽다.</a:t>
            </a:r>
            <a:endParaRPr lang="ko-KR" alt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26</a:t>
            </a:fld>
            <a:endParaRPr lang="ko-KR"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결정 2</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어떤 명령을 두는가: 바이트코드가 표현할 수 있는 범위를 정한다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스택에 정수 말고 다른 종류의 값도 넣으려면 어떻게 할까?</a:t>
            </a:r>
            <a:endParaRPr lang="ko-KR" altLang="en-US" sz="1500" dirty="0"/>
          </a:p>
        </p:txBody>
      </p:sp>
      <p:sp>
        <p:nvSpPr>
          <p:cNvPr id="6" name="card"/>
          <p:cNvSpPr/>
          <p:nvPr/>
        </p:nvSpPr>
        <p:spPr>
          <a:xfrm>
            <a:off x="548640" y="1645920"/>
            <a:ext cx="5410048" cy="1828800"/>
          </a:xfrm>
          <a:prstGeom prst="roundRect">
            <a:avLst>
              <a:gd name="adj" fmla="val 5000"/>
            </a:avLst>
          </a:prstGeom>
          <a:solidFill>
            <a:schemeClr val="bg2"/>
          </a:solidFill>
          <a:ln w="12700">
            <a:solidFill>
              <a:schemeClr val="bg2"/>
            </a:solidFill>
            <a:prstDash val="solid"/>
          </a:ln>
        </p:spPr>
      </p:sp>
      <p:sp>
        <p:nvSpPr>
          <p:cNvPr id="7" name="Shape 4"/>
          <p:cNvSpPr/>
          <p:nvPr/>
        </p:nvSpPr>
        <p:spPr>
          <a:xfrm>
            <a:off x="777240" y="1847088"/>
            <a:ext cx="420624" cy="420624"/>
          </a:xfrm>
          <a:prstGeom prst="ellipse">
            <a:avLst/>
          </a:prstGeom>
          <a:solidFill>
            <a:schemeClr val="accent1"/>
          </a:solidFill>
          <a:ln w="12700">
            <a:solidFill>
              <a:schemeClr val="accent1"/>
            </a:solidFill>
            <a:prstDash val="solid"/>
          </a:ln>
        </p:spPr>
      </p:sp>
      <p:sp>
        <p:nvSpPr>
          <p:cNvPr id="8" name="Text 5"/>
          <p:cNvSpPr txBox="1"/>
          <p:nvPr/>
        </p:nvSpPr>
        <p:spPr>
          <a:xfrm>
            <a:off x="777240" y="18470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9" name="Text 6"/>
          <p:cNvSpPr txBox="1"/>
          <p:nvPr/>
        </p:nvSpPr>
        <p:spPr>
          <a:xfrm>
            <a:off x="1325880" y="1865376"/>
            <a:ext cx="4449928"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외부 기본 명령</a:t>
            </a:r>
            <a:endParaRPr lang="ko-KR" altLang="en-US" sz="1700" dirty="0"/>
          </a:p>
        </p:txBody>
      </p:sp>
      <p:sp>
        <p:nvSpPr>
          <p:cNvPr id="10" name="Text 7"/>
          <p:cNvSpPr txBox="1"/>
          <p:nvPr/>
        </p:nvSpPr>
        <p:spPr>
          <a:xfrm>
            <a:off x="777240" y="2395728"/>
            <a:ext cx="4952848" cy="640080"/>
          </a:xfrm>
          <a:prstGeom prst="rect">
            <a:avLst/>
          </a:prstGeom>
          <a:noFill/>
          <a:ln/>
        </p:spPr>
        <p:txBody>
          <a:bodyPr wrap="square" lIns="0" tIns="0" rIns="0" bIns="0" rtlCol="0" anchor="t"/>
          <a:lstStyle/>
          <a:p>
            <a:pPr indent="0" marL="0" eaLnBrk="0">
              <a:buNone/>
            </a:pPr>
            <a:r>
              <a:rPr lang="ko-KR" altLang="en-US" sz="1400" dirty="0">
                <a:solidFill>
                  <a:schemeClr val="tx2"/>
                </a:solidFill>
              </a:rPr>
              <a:t>게임 엔진에 닿아 눈에 보이는 일을 한다.</a:t>
            </a:r>
            <a:endParaRPr lang="ko-KR" altLang="en-US" sz="1400" dirty="0"/>
          </a:p>
        </p:txBody>
      </p:sp>
      <p:sp>
        <p:nvSpPr>
          <p:cNvPr id="11" name="Text 8"/>
          <p:cNvSpPr txBox="1"/>
          <p:nvPr/>
        </p:nvSpPr>
        <p:spPr>
          <a:xfrm>
            <a:off x="777240" y="3017520"/>
            <a:ext cx="4952848" cy="320040"/>
          </a:xfrm>
          <a:prstGeom prst="rect">
            <a:avLst/>
          </a:prstGeom>
          <a:noFill/>
          <a:ln/>
        </p:spPr>
        <p:txBody>
          <a:bodyPr wrap="square" lIns="0" tIns="0" rIns="0" bIns="0" rtlCol="0" anchor="t"/>
          <a:lstStyle/>
          <a:p>
            <a:pPr indent="0" marL="0" eaLnBrk="0">
              <a:buNone/>
            </a:pPr>
            <a:r>
              <a:rPr lang="ko-KR" altLang="en-US" sz="1300" b="1" dirty="0">
                <a:solidFill>
                  <a:schemeClr val="accent1"/>
                </a:solidFill>
              </a:rPr>
              <a:t>SetHealth, PlaySound</a:t>
            </a:r>
            <a:endParaRPr lang="ko-KR" altLang="en-US" sz="1300" dirty="0"/>
          </a:p>
        </p:txBody>
      </p:sp>
      <p:sp>
        <p:nvSpPr>
          <p:cNvPr id="12" name="card"/>
          <p:cNvSpPr/>
          <p:nvPr/>
        </p:nvSpPr>
        <p:spPr>
          <a:xfrm>
            <a:off x="6233008" y="1645920"/>
            <a:ext cx="5410048" cy="1828800"/>
          </a:xfrm>
          <a:prstGeom prst="roundRect">
            <a:avLst>
              <a:gd name="adj" fmla="val 5000"/>
            </a:avLst>
          </a:prstGeom>
          <a:solidFill>
            <a:schemeClr val="bg2"/>
          </a:solidFill>
          <a:ln w="12700">
            <a:solidFill>
              <a:schemeClr val="bg2"/>
            </a:solidFill>
            <a:prstDash val="solid"/>
          </a:ln>
        </p:spPr>
      </p:sp>
      <p:sp>
        <p:nvSpPr>
          <p:cNvPr id="13" name="Shape 10"/>
          <p:cNvSpPr/>
          <p:nvPr/>
        </p:nvSpPr>
        <p:spPr>
          <a:xfrm>
            <a:off x="6461608" y="1847088"/>
            <a:ext cx="420624" cy="420624"/>
          </a:xfrm>
          <a:prstGeom prst="ellipse">
            <a:avLst/>
          </a:prstGeom>
          <a:solidFill>
            <a:schemeClr val="accent1"/>
          </a:solidFill>
          <a:ln w="12700">
            <a:solidFill>
              <a:schemeClr val="accent1"/>
            </a:solidFill>
            <a:prstDash val="solid"/>
          </a:ln>
        </p:spPr>
      </p:sp>
      <p:sp>
        <p:nvSpPr>
          <p:cNvPr id="14" name="Text 11"/>
          <p:cNvSpPr txBox="1"/>
          <p:nvPr/>
        </p:nvSpPr>
        <p:spPr>
          <a:xfrm>
            <a:off x="6461608" y="18470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5" name="Text 12"/>
          <p:cNvSpPr txBox="1"/>
          <p:nvPr/>
        </p:nvSpPr>
        <p:spPr>
          <a:xfrm>
            <a:off x="7010248" y="1865376"/>
            <a:ext cx="4449928"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내부 기본 명령</a:t>
            </a:r>
            <a:endParaRPr lang="ko-KR" altLang="en-US" sz="1700" dirty="0"/>
          </a:p>
        </p:txBody>
      </p:sp>
      <p:sp>
        <p:nvSpPr>
          <p:cNvPr id="16" name="Text 13"/>
          <p:cNvSpPr txBox="1"/>
          <p:nvPr/>
        </p:nvSpPr>
        <p:spPr>
          <a:xfrm>
            <a:off x="6461608" y="2395728"/>
            <a:ext cx="4952848" cy="640080"/>
          </a:xfrm>
          <a:prstGeom prst="rect">
            <a:avLst/>
          </a:prstGeom>
          <a:noFill/>
          <a:ln/>
        </p:spPr>
        <p:txBody>
          <a:bodyPr wrap="square" lIns="0" tIns="0" rIns="0" bIns="0" rtlCol="0" anchor="t"/>
          <a:lstStyle/>
          <a:p>
            <a:pPr indent="0" marL="0" eaLnBrk="0">
              <a:buNone/>
            </a:pPr>
            <a:r>
              <a:rPr lang="ko-KR" altLang="en-US" sz="1400" dirty="0">
                <a:solidFill>
                  <a:schemeClr val="tx2"/>
                </a:solidFill>
              </a:rPr>
              <a:t>가상 기계 안의 값을 다룬다.</a:t>
            </a:r>
            <a:endParaRPr lang="ko-KR" altLang="en-US" sz="1400" dirty="0"/>
          </a:p>
        </p:txBody>
      </p:sp>
      <p:sp>
        <p:nvSpPr>
          <p:cNvPr id="17" name="Text 14"/>
          <p:cNvSpPr txBox="1"/>
          <p:nvPr/>
        </p:nvSpPr>
        <p:spPr>
          <a:xfrm>
            <a:off x="6461608" y="3017520"/>
            <a:ext cx="4952848" cy="320040"/>
          </a:xfrm>
          <a:prstGeom prst="rect">
            <a:avLst/>
          </a:prstGeom>
          <a:noFill/>
          <a:ln/>
        </p:spPr>
        <p:txBody>
          <a:bodyPr wrap="square" lIns="0" tIns="0" rIns="0" bIns="0" rtlCol="0" anchor="t"/>
          <a:lstStyle/>
          <a:p>
            <a:pPr indent="0" marL="0" eaLnBrk="0">
              <a:buNone/>
            </a:pPr>
            <a:r>
              <a:rPr lang="ko-KR" altLang="en-US" sz="1300" b="1" dirty="0">
                <a:solidFill>
                  <a:schemeClr val="accent1"/>
                </a:solidFill>
              </a:rPr>
              <a:t>Literal, Add, 비교, 스택 정리</a:t>
            </a:r>
            <a:endParaRPr lang="ko-KR" altLang="en-US" sz="1300" dirty="0"/>
          </a:p>
        </p:txBody>
      </p:sp>
      <p:sp>
        <p:nvSpPr>
          <p:cNvPr id="18" name="card"/>
          <p:cNvSpPr/>
          <p:nvPr/>
        </p:nvSpPr>
        <p:spPr>
          <a:xfrm>
            <a:off x="548640" y="3657600"/>
            <a:ext cx="5410048" cy="1828800"/>
          </a:xfrm>
          <a:prstGeom prst="roundRect">
            <a:avLst>
              <a:gd name="adj" fmla="val 5000"/>
            </a:avLst>
          </a:prstGeom>
          <a:solidFill>
            <a:schemeClr val="bg2"/>
          </a:solidFill>
          <a:ln w="12700">
            <a:solidFill>
              <a:schemeClr val="bg2"/>
            </a:solidFill>
            <a:prstDash val="solid"/>
          </a:ln>
        </p:spPr>
      </p:sp>
      <p:sp>
        <p:nvSpPr>
          <p:cNvPr id="19" name="Shape 16"/>
          <p:cNvSpPr/>
          <p:nvPr/>
        </p:nvSpPr>
        <p:spPr>
          <a:xfrm>
            <a:off x="777240" y="3858768"/>
            <a:ext cx="420624" cy="420624"/>
          </a:xfrm>
          <a:prstGeom prst="ellipse">
            <a:avLst/>
          </a:prstGeom>
          <a:solidFill>
            <a:schemeClr val="accent1"/>
          </a:solidFill>
          <a:ln w="12700">
            <a:solidFill>
              <a:schemeClr val="accent1"/>
            </a:solidFill>
            <a:prstDash val="solid"/>
          </a:ln>
        </p:spPr>
      </p:sp>
      <p:sp>
        <p:nvSpPr>
          <p:cNvPr id="20" name="Text 17"/>
          <p:cNvSpPr txBox="1"/>
          <p:nvPr/>
        </p:nvSpPr>
        <p:spPr>
          <a:xfrm>
            <a:off x="777240" y="38587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21" name="Text 18"/>
          <p:cNvSpPr txBox="1"/>
          <p:nvPr/>
        </p:nvSpPr>
        <p:spPr>
          <a:xfrm>
            <a:off x="1325880" y="3877056"/>
            <a:ext cx="4449928"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제어 흐름</a:t>
            </a:r>
            <a:endParaRPr lang="ko-KR" altLang="en-US" sz="1700" dirty="0"/>
          </a:p>
        </p:txBody>
      </p:sp>
      <p:sp>
        <p:nvSpPr>
          <p:cNvPr id="22" name="Text 19"/>
          <p:cNvSpPr txBox="1"/>
          <p:nvPr/>
        </p:nvSpPr>
        <p:spPr>
          <a:xfrm>
            <a:off x="777240" y="4407408"/>
            <a:ext cx="4952848" cy="640080"/>
          </a:xfrm>
          <a:prstGeom prst="rect">
            <a:avLst/>
          </a:prstGeom>
          <a:noFill/>
          <a:ln/>
        </p:spPr>
        <p:txBody>
          <a:bodyPr wrap="square" lIns="0" tIns="0" rIns="0" bIns="0" rtlCol="0" anchor="t"/>
          <a:lstStyle/>
          <a:p>
            <a:pPr indent="0" marL="0" eaLnBrk="0">
              <a:buNone/>
            </a:pPr>
            <a:r>
              <a:rPr lang="ko-KR" altLang="en-US" sz="1400" dirty="0">
                <a:solidFill>
                  <a:schemeClr val="tx2"/>
                </a:solidFill>
              </a:rPr>
              <a:t>조건 실행과 반복. 반복문의 i를 바꾸는 점프로 만든다.</a:t>
            </a:r>
            <a:endParaRPr lang="ko-KR" altLang="en-US" sz="1400" dirty="0"/>
          </a:p>
        </p:txBody>
      </p:sp>
      <p:sp>
        <p:nvSpPr>
          <p:cNvPr id="23" name="Text 20"/>
          <p:cNvSpPr txBox="1"/>
          <p:nvPr/>
        </p:nvSpPr>
        <p:spPr>
          <a:xfrm>
            <a:off x="777240" y="5029200"/>
            <a:ext cx="4952848" cy="320040"/>
          </a:xfrm>
          <a:prstGeom prst="rect">
            <a:avLst/>
          </a:prstGeom>
          <a:noFill/>
          <a:ln/>
        </p:spPr>
        <p:txBody>
          <a:bodyPr wrap="square" lIns="0" tIns="0" rIns="0" bIns="0" rtlCol="0" anchor="t"/>
          <a:lstStyle/>
          <a:p>
            <a:pPr indent="0" marL="0" eaLnBrk="0">
              <a:buNone/>
            </a:pPr>
            <a:r>
              <a:rPr lang="ko-KR" altLang="en-US" sz="1300" b="1" dirty="0">
                <a:solidFill>
                  <a:schemeClr val="accent1"/>
                </a:solidFill>
              </a:rPr>
              <a:t>오늘 예제에는 없다</a:t>
            </a:r>
            <a:endParaRPr lang="ko-KR" altLang="en-US" sz="1300" dirty="0"/>
          </a:p>
        </p:txBody>
      </p:sp>
      <p:sp>
        <p:nvSpPr>
          <p:cNvPr id="24" name="card"/>
          <p:cNvSpPr/>
          <p:nvPr/>
        </p:nvSpPr>
        <p:spPr>
          <a:xfrm>
            <a:off x="6233008" y="3657600"/>
            <a:ext cx="5410048" cy="1828800"/>
          </a:xfrm>
          <a:prstGeom prst="roundRect">
            <a:avLst>
              <a:gd name="adj" fmla="val 5000"/>
            </a:avLst>
          </a:prstGeom>
          <a:solidFill>
            <a:schemeClr val="bg2"/>
          </a:solidFill>
          <a:ln w="12700">
            <a:solidFill>
              <a:schemeClr val="bg2"/>
            </a:solidFill>
            <a:prstDash val="solid"/>
          </a:ln>
        </p:spPr>
      </p:sp>
      <p:sp>
        <p:nvSpPr>
          <p:cNvPr id="25" name="Shape 22"/>
          <p:cNvSpPr/>
          <p:nvPr/>
        </p:nvSpPr>
        <p:spPr>
          <a:xfrm>
            <a:off x="6461608" y="3858768"/>
            <a:ext cx="420624" cy="420624"/>
          </a:xfrm>
          <a:prstGeom prst="ellipse">
            <a:avLst/>
          </a:prstGeom>
          <a:solidFill>
            <a:schemeClr val="accent1"/>
          </a:solidFill>
          <a:ln w="12700">
            <a:solidFill>
              <a:schemeClr val="accent1"/>
            </a:solidFill>
            <a:prstDash val="solid"/>
          </a:ln>
        </p:spPr>
      </p:sp>
      <p:sp>
        <p:nvSpPr>
          <p:cNvPr id="26" name="Text 23"/>
          <p:cNvSpPr txBox="1"/>
          <p:nvPr/>
        </p:nvSpPr>
        <p:spPr>
          <a:xfrm>
            <a:off x="6461608" y="38587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4</a:t>
            </a:r>
            <a:endParaRPr lang="ko-KR" altLang="en-US" sz="1500" dirty="0"/>
          </a:p>
        </p:txBody>
      </p:sp>
      <p:sp>
        <p:nvSpPr>
          <p:cNvPr id="27" name="Text 24"/>
          <p:cNvSpPr txBox="1"/>
          <p:nvPr/>
        </p:nvSpPr>
        <p:spPr>
          <a:xfrm>
            <a:off x="7010248" y="3877056"/>
            <a:ext cx="4449928"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추상화</a:t>
            </a:r>
            <a:endParaRPr lang="ko-KR" altLang="en-US" sz="1700" dirty="0"/>
          </a:p>
        </p:txBody>
      </p:sp>
      <p:sp>
        <p:nvSpPr>
          <p:cNvPr id="28" name="Text 25"/>
          <p:cNvSpPr txBox="1"/>
          <p:nvPr/>
        </p:nvSpPr>
        <p:spPr>
          <a:xfrm>
            <a:off x="6461608" y="4407408"/>
            <a:ext cx="4952848" cy="640080"/>
          </a:xfrm>
          <a:prstGeom prst="rect">
            <a:avLst/>
          </a:prstGeom>
          <a:noFill/>
          <a:ln/>
        </p:spPr>
        <p:txBody>
          <a:bodyPr wrap="square" lIns="0" tIns="0" rIns="0" bIns="0" rtlCol="0" anchor="t"/>
          <a:lstStyle/>
          <a:p>
            <a:pPr indent="0" marL="0" eaLnBrk="0">
              <a:buNone/>
            </a:pPr>
            <a:r>
              <a:rPr lang="ko-KR" altLang="en-US" sz="1400" dirty="0">
                <a:solidFill>
                  <a:schemeClr val="tx2"/>
                </a:solidFill>
              </a:rPr>
              <a:t>호출 가능한 프로시저. 반환 위치는 두 번째 스택인 반환 스택에 둔다.</a:t>
            </a:r>
            <a:endParaRPr lang="ko-KR" altLang="en-US" sz="1400" dirty="0"/>
          </a:p>
        </p:txBody>
      </p:sp>
      <p:sp>
        <p:nvSpPr>
          <p:cNvPr id="29" name="Text 26"/>
          <p:cNvSpPr txBox="1"/>
          <p:nvPr/>
        </p:nvSpPr>
        <p:spPr>
          <a:xfrm>
            <a:off x="6461608" y="5029200"/>
            <a:ext cx="4952848" cy="320040"/>
          </a:xfrm>
          <a:prstGeom prst="rect">
            <a:avLst/>
          </a:prstGeom>
          <a:noFill/>
          <a:ln/>
        </p:spPr>
        <p:txBody>
          <a:bodyPr wrap="square" lIns="0" tIns="0" rIns="0" bIns="0" rtlCol="0" anchor="t"/>
          <a:lstStyle/>
          <a:p>
            <a:pPr indent="0" marL="0" eaLnBrk="0">
              <a:buNone/>
            </a:pPr>
            <a:r>
              <a:rPr lang="ko-KR" altLang="en-US" sz="1300" b="1" dirty="0">
                <a:solidFill>
                  <a:schemeClr val="accent1"/>
                </a:solidFill>
              </a:rPr>
              <a:t>호출과 반환</a:t>
            </a:r>
            <a:endParaRPr lang="ko-KR" alt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27</a:t>
            </a:fld>
            <a:endParaRPr lang="ko-KR"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결정 3 · 코드</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값의 종류를 나타내는 두 가지 C# 표현</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네 가지 표현을 나란히 비교하면 무엇을 고를까?</a:t>
            </a:r>
            <a:endParaRPr lang="ko-KR" altLang="en-US" sz="1500" dirty="0"/>
          </a:p>
        </p:txBody>
      </p:sp>
      <p:sp>
        <p:nvSpPr>
          <p:cNvPr id="6" name="codePanel"/>
          <p:cNvSpPr/>
          <p:nvPr/>
        </p:nvSpPr>
        <p:spPr>
          <a:xfrm>
            <a:off x="548640" y="1600200"/>
            <a:ext cx="5120640" cy="2606040"/>
          </a:xfrm>
          <a:prstGeom prst="roundRect">
            <a:avLst>
              <a:gd name="adj" fmla="val 2807"/>
            </a:avLst>
          </a:prstGeom>
          <a:solidFill>
            <a:schemeClr val="tx1"/>
          </a:solidFill>
          <a:ln w="12700">
            <a:solidFill>
              <a:schemeClr val="tx1"/>
            </a:solidFill>
            <a:prstDash val="solid"/>
          </a:ln>
        </p:spPr>
      </p:sp>
      <p:sp>
        <p:nvSpPr>
          <p:cNvPr id="7" name="code"/>
          <p:cNvSpPr txBox="1"/>
          <p:nvPr/>
        </p:nvSpPr>
        <p:spPr>
          <a:xfrm>
            <a:off x="658368" y="1691640"/>
            <a:ext cx="4901184" cy="2423160"/>
          </a:xfrm>
          <a:prstGeom prst="rect">
            <a:avLst/>
          </a:prstGeom>
          <a:noFill/>
          <a:ln/>
        </p:spPr>
        <p:txBody>
          <a:bodyPr wrap="square" lIns="635" tIns="635" rIns="635" bIns="635" rtlCol="0" anchor="t"/>
          <a:lstStyle/>
          <a:p>
            <a:pPr indent="0" marL="0" eaLnBrk="0">
              <a:buNone/>
            </a:pPr>
            <a:r>
              <a:rPr lang="ko-KR" altLang="en-US" sz="1250" dirty="0">
                <a:solidFill>
                  <a:schemeClr val="accent3"/>
                </a:solidFill>
                <a:latin typeface="Consolas" pitchFamily="34" charset="0"/>
                <a:ea typeface="Consolas" pitchFamily="34" charset="-122"/>
                <a:cs typeface="Consolas" pitchFamily="34" charset="-120"/>
              </a:rPr>
              <a:t>// 태그 붙은 값</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public enum ValueKind { Int, Double, String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public struct Value</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a:t>
            </a:r>
            <a:endParaRPr lang="ko-KR" altLang="en-US" sz="1250" dirty="0"/>
          </a:p>
          <a:p>
            <a:pPr indent="0" marL="0" eaLnBrk="0">
              <a:buNone/>
            </a:pPr>
            <a:r>
              <a:rPr lang="ko-KR" altLang="en-US" sz="1250" b="1" dirty="0">
                <a:solidFill>
                  <a:schemeClr val="accent4"/>
                </a:solidFill>
                <a:latin typeface="Consolas" pitchFamily="34" charset="0"/>
                <a:ea typeface="Consolas" pitchFamily="34" charset="-122"/>
                <a:cs typeface="Consolas" pitchFamily="34" charset="-120"/>
              </a:rPr>
              <a:t>    public ValueKind Kind;   // 태그</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public int IntValue;</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public double DoubleValue;</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public string StringValue;</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a:t>
            </a:r>
            <a:endParaRPr lang="ko-KR" altLang="en-US" sz="1250" dirty="0"/>
          </a:p>
        </p:txBody>
      </p:sp>
      <p:sp>
        <p:nvSpPr>
          <p:cNvPr id="8" name="card"/>
          <p:cNvSpPr/>
          <p:nvPr/>
        </p:nvSpPr>
        <p:spPr>
          <a:xfrm>
            <a:off x="548640" y="4389120"/>
            <a:ext cx="5120640" cy="1325880"/>
          </a:xfrm>
          <a:prstGeom prst="roundRect">
            <a:avLst>
              <a:gd name="adj" fmla="val 6897"/>
            </a:avLst>
          </a:prstGeom>
          <a:solidFill>
            <a:schemeClr val="bg2"/>
          </a:solidFill>
          <a:ln w="12700">
            <a:solidFill>
              <a:schemeClr val="bg2"/>
            </a:solidFill>
            <a:prstDash val="solid"/>
          </a:ln>
        </p:spPr>
      </p:sp>
      <p:sp>
        <p:nvSpPr>
          <p:cNvPr id="9" name="Text 6"/>
          <p:cNvSpPr txBox="1"/>
          <p:nvPr/>
        </p:nvSpPr>
        <p:spPr>
          <a:xfrm>
            <a:off x="777240" y="4608576"/>
            <a:ext cx="470916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C#에는 union이 없다</a:t>
            </a:r>
            <a:endParaRPr lang="ko-KR" altLang="en-US" sz="1700" dirty="0"/>
          </a:p>
        </p:txBody>
      </p:sp>
      <p:sp>
        <p:nvSpPr>
          <p:cNvPr id="10" name="Text 7"/>
          <p:cNvSpPr txBox="1"/>
          <p:nvPr/>
        </p:nvSpPr>
        <p:spPr>
          <a:xfrm>
            <a:off x="777240" y="5120640"/>
            <a:ext cx="4663440" cy="457200"/>
          </a:xfrm>
          <a:prstGeom prst="rect">
            <a:avLst/>
          </a:prstGeom>
          <a:noFill/>
          <a:ln/>
        </p:spPr>
        <p:txBody>
          <a:bodyPr wrap="square" lIns="0" tIns="0" rIns="0" bIns="0" rtlCol="0" anchor="t"/>
          <a:lstStyle/>
          <a:p>
            <a:pPr indent="0" marL="0" eaLnBrk="0">
              <a:buNone/>
            </a:pPr>
            <a:r>
              <a:rPr lang="ko-KR" altLang="en-US" sz="1400" dirty="0">
                <a:solidFill>
                  <a:schemeClr val="tx2"/>
                </a:solidFill>
              </a:rPr>
              <a:t>값 칸을 겹치지 않고 나란히 두었다.</a:t>
            </a:r>
            <a:endParaRPr lang="ko-KR" altLang="en-US" sz="1400" dirty="0"/>
          </a:p>
        </p:txBody>
      </p:sp>
      <p:sp>
        <p:nvSpPr>
          <p:cNvPr id="11" name="codePanel"/>
          <p:cNvSpPr/>
          <p:nvPr/>
        </p:nvSpPr>
        <p:spPr>
          <a:xfrm>
            <a:off x="5943600" y="1600200"/>
            <a:ext cx="5699455" cy="3794760"/>
          </a:xfrm>
          <a:prstGeom prst="roundRect">
            <a:avLst>
              <a:gd name="adj" fmla="val 1928"/>
            </a:avLst>
          </a:prstGeom>
          <a:solidFill>
            <a:schemeClr val="tx1"/>
          </a:solidFill>
          <a:ln w="12700">
            <a:solidFill>
              <a:schemeClr val="tx1"/>
            </a:solidFill>
            <a:prstDash val="solid"/>
          </a:ln>
        </p:spPr>
      </p:sp>
      <p:sp>
        <p:nvSpPr>
          <p:cNvPr id="12" name="code"/>
          <p:cNvSpPr txBox="1"/>
          <p:nvPr/>
        </p:nvSpPr>
        <p:spPr>
          <a:xfrm>
            <a:off x="6053328" y="1691640"/>
            <a:ext cx="5479999" cy="3611880"/>
          </a:xfrm>
          <a:prstGeom prst="rect">
            <a:avLst/>
          </a:prstGeom>
          <a:noFill/>
          <a:ln/>
        </p:spPr>
        <p:txBody>
          <a:bodyPr wrap="square" lIns="635" tIns="635" rIns="635" bIns="635" rtlCol="0" anchor="t"/>
          <a:lstStyle/>
          <a:p>
            <a:pPr indent="0" marL="0" eaLnBrk="0">
              <a:buNone/>
            </a:pPr>
            <a:r>
              <a:rPr lang="ko-KR" altLang="en-US" sz="1150" dirty="0">
                <a:solidFill>
                  <a:schemeClr val="accent3"/>
                </a:solidFill>
                <a:latin typeface="Consolas" pitchFamily="34" charset="0"/>
                <a:ea typeface="Consolas" pitchFamily="34" charset="-122"/>
                <a:cs typeface="Consolas" pitchFamily="34" charset="-120"/>
              </a:rPr>
              <a:t>// 인터페이스(다형성)</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public abstract class Value</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public abstract ValueKind Kind { get; }</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public virtual int AsInt()</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accent3"/>
                </a:solidFill>
                <a:latin typeface="Consolas" pitchFamily="34" charset="0"/>
                <a:ea typeface="Consolas" pitchFamily="34" charset="-122"/>
                <a:cs typeface="Consolas" pitchFamily="34" charset="-120"/>
              </a:rPr>
              <a:t>        // int 값에서만 부를 수 있다</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throw new InvalidOperationException();</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accent3"/>
                </a:solidFill>
                <a:latin typeface="Consolas" pitchFamily="34" charset="0"/>
                <a:ea typeface="Consolas" pitchFamily="34" charset="-122"/>
                <a:cs typeface="Consolas" pitchFamily="34" charset="-120"/>
              </a:rPr>
              <a:t>    // 다른 변환 메서드...</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public class IntValue : Value</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readonly int _value;</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public IntValue(int value) { _value = value; }</a:t>
            </a:r>
            <a:endParaRPr lang="ko-KR" altLang="en-US" sz="1150" dirty="0"/>
          </a:p>
          <a:p>
            <a:pPr indent="0" marL="0" eaLnBrk="0">
              <a:buNone/>
            </a:pPr>
            <a:r>
              <a:rPr lang="ko-KR" altLang="en-US" sz="1150" b="1" dirty="0">
                <a:solidFill>
                  <a:schemeClr val="accent4"/>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b="1" dirty="0">
                <a:solidFill>
                  <a:schemeClr val="accent4"/>
                </a:solidFill>
                <a:latin typeface="Consolas" pitchFamily="34" charset="0"/>
                <a:ea typeface="Consolas" pitchFamily="34" charset="-122"/>
                <a:cs typeface="Consolas" pitchFamily="34" charset="-120"/>
              </a:rPr>
              <a:t>    public override ValueKind Kind =&gt; ValueKind.Int;</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public override int AsInt() =&gt; _value;</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a:t>
            </a:r>
            <a:endParaRPr lang="ko-KR" altLang="en-US" sz="1150" dirty="0"/>
          </a:p>
        </p:txBody>
      </p:sp>
      <p:sp>
        <p:nvSpPr>
          <p:cNvPr id="13" name="Text 10"/>
          <p:cNvSpPr txBox="1"/>
          <p:nvPr/>
        </p:nvSpPr>
        <p:spPr>
          <a:xfrm>
            <a:off x="5943600" y="5440680"/>
            <a:ext cx="5699455" cy="256032"/>
          </a:xfrm>
          <a:prstGeom prst="rect">
            <a:avLst/>
          </a:prstGeom>
          <a:noFill/>
          <a:ln/>
        </p:spPr>
        <p:txBody>
          <a:bodyPr wrap="square" lIns="0" tIns="0" rIns="0" bIns="0" rtlCol="0" anchor="t"/>
          <a:lstStyle/>
          <a:p>
            <a:pPr algn="r" indent="0" marL="0" eaLnBrk="0">
              <a:buNone/>
            </a:pPr>
            <a:r>
              <a:rPr lang="ko-KR" altLang="en-US" sz="1100" dirty="0">
                <a:solidFill>
                  <a:schemeClr val="accent5"/>
                </a:solidFill>
              </a:rPr>
              <a:t>원서 예제를 C#으로 옮긴 코드</a:t>
            </a:r>
            <a:endParaRPr lang="ko-KR" alt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28</a:t>
            </a:fld>
            <a:endParaRPr lang="ko-KR"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결정 3</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값은 어떻게 나타내는가: 단일 타입, 그다음은 태그 붙은 값</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마지막 결정, 바이트코드는 어떻게 만들어 낼까?</a:t>
            </a:r>
            <a:endParaRPr lang="ko-KR" altLang="en-US" sz="15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377440"/>
                <a:gridCol w="4206240"/>
                <a:gridCol w="4510735"/>
              </a:tblGrid>
              <a:tr h="457200">
                <a:tc>
                  <a:txBody>
                    <a:bodyPr/>
                    <a:lstStyle/>
                    <a:p>
                      <a:pPr indent="0" marL="0" eaLnBrk="0">
                        <a:buNone/>
                      </a:pPr>
                      <a:r>
                        <a:rPr lang="ko-KR" altLang="en-US" sz="1400" b="1" dirty="0">
                          <a:solidFill>
                            <a:schemeClr val="bg1"/>
                          </a:solidFill>
                        </a:rPr>
                        <a:t>방식</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좋은 점</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나쁜 점</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685800">
                <a:tc>
                  <a:txBody>
                    <a:bodyPr/>
                    <a:lstStyle/>
                    <a:p>
                      <a:pPr indent="0" marL="0" eaLnBrk="0">
                        <a:buNone/>
                      </a:pPr>
                      <a:r>
                        <a:rPr lang="ko-KR" altLang="en-US" sz="1400" b="1" dirty="0">
                          <a:solidFill>
                            <a:schemeClr val="tx1"/>
                          </a:solidFill>
                        </a:rPr>
                        <a:t>단일 타입</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단순하다. 태그도, 변환도, 타입 검사도 필요 없다.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다른 종류의 값을 다룰 수 없다.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85800">
                <a:tc>
                  <a:txBody>
                    <a:bodyPr/>
                    <a:lstStyle/>
                    <a:p>
                      <a:pPr indent="0" marL="0" eaLnBrk="0">
                        <a:buNone/>
                      </a:pPr>
                      <a:r>
                        <a:rPr lang="ko-KR" altLang="en-US" sz="1400" b="1" dirty="0">
                          <a:solidFill>
                            <a:schemeClr val="tx1"/>
                          </a:solidFill>
                        </a:rPr>
                        <a:t>태그 붙은 값</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값이 자기 종류를 안다. 실행 중에 검사할 수 있다.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값마다 태그만큼 메모리를 더 쓴다.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85800">
                <a:tc>
                  <a:txBody>
                    <a:bodyPr/>
                    <a:lstStyle/>
                    <a:p>
                      <a:pPr indent="0" marL="0" eaLnBrk="0">
                        <a:buNone/>
                      </a:pPr>
                      <a:r>
                        <a:rPr lang="ko-KR" altLang="en-US" sz="1400" b="1" dirty="0">
                          <a:solidFill>
                            <a:schemeClr val="tx1"/>
                          </a:solidFill>
                        </a:rPr>
                        <a:t>태그 없는 공용체</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가장 작고 빠르다. 검사하는 데 시간을 쓰지 않는다.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안전하지 않다. 잘못 만든 바이트코드가 값을 엉뚱하게 읽게 할 수 있다.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85800">
                <a:tc>
                  <a:txBody>
                    <a:bodyPr/>
                    <a:lstStyle/>
                    <a:p>
                      <a:pPr indent="0" marL="0" eaLnBrk="0">
                        <a:buNone/>
                      </a:pPr>
                      <a:r>
                        <a:rPr lang="ko-KR" altLang="en-US" sz="1400" b="1" dirty="0">
                          <a:solidFill>
                            <a:schemeClr val="tx1"/>
                          </a:solidFill>
                        </a:rPr>
                        <a:t>인터페이스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가상 기계 밖에서도 새 값 종류를 더할 수 있다.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장황하고 느리다. 작은 값도 힙에 만들고 가상 호출을 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7" name="box"/>
          <p:cNvSpPr/>
          <p:nvPr/>
        </p:nvSpPr>
        <p:spPr>
          <a:xfrm>
            <a:off x="548640" y="5074920"/>
            <a:ext cx="11094415" cy="594360"/>
          </a:xfrm>
          <a:prstGeom prst="roundRect">
            <a:avLst>
              <a:gd name="adj" fmla="val 12308"/>
            </a:avLst>
          </a:prstGeom>
          <a:solidFill>
            <a:schemeClr val="tx2"/>
          </a:solidFill>
          <a:ln w="12700">
            <a:solidFill>
              <a:schemeClr val="tx2"/>
            </a:solidFill>
            <a:prstDash val="solid"/>
          </a:ln>
        </p:spPr>
      </p:sp>
      <p:sp>
        <p:nvSpPr>
          <p:cNvPr id="8" name="Text 4"/>
          <p:cNvSpPr txBox="1"/>
          <p:nvPr/>
        </p:nvSpPr>
        <p:spPr>
          <a:xfrm>
            <a:off x="548640" y="5074920"/>
            <a:ext cx="11094415" cy="594360"/>
          </a:xfrm>
          <a:prstGeom prst="rect">
            <a:avLst/>
          </a:prstGeom>
          <a:noFill/>
          <a:ln/>
        </p:spPr>
        <p:txBody>
          <a:bodyPr wrap="square" lIns="635" tIns="635" rIns="635" bIns="635" rtlCol="0" anchor="ctr"/>
          <a:lstStyle/>
          <a:p>
            <a:pPr algn="ctr" indent="0" marL="0" eaLnBrk="0">
              <a:buNone/>
            </a:pPr>
            <a:r>
              <a:rPr lang="ko-KR" altLang="en-US" sz="1600" dirty="0">
                <a:solidFill>
                  <a:schemeClr val="bg1"/>
                </a:solidFill>
              </a:rPr>
              <a:t>원서의 권장: 단일 타입으로 충분하면 그것을, 아니면 태그 붙은 값을 쓴다.</a:t>
            </a:r>
            <a:endParaRPr lang="ko-KR" alt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29</a:t>
            </a:fld>
            <a:endParaRPr lang="ko-KR"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결정 4</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바이트코드는 어떻게 만드는가: 텍스트 언어와 그래픽 도구</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그렇다면 이 패턴은 언제 쓰고, 무엇을 조심해야 할까?</a:t>
            </a:r>
            <a:endParaRPr lang="ko-KR" altLang="en-US" sz="1500" dirty="0"/>
          </a:p>
        </p:txBody>
      </p:sp>
      <p:sp>
        <p:nvSpPr>
          <p:cNvPr id="6" name="Text 3"/>
          <p:cNvSpPr txBox="1"/>
          <p:nvPr/>
        </p:nvSpPr>
        <p:spPr>
          <a:xfrm>
            <a:off x="548640" y="1645920"/>
            <a:ext cx="5410048" cy="411480"/>
          </a:xfrm>
          <a:prstGeom prst="rect">
            <a:avLst/>
          </a:prstGeom>
          <a:noFill/>
          <a:ln/>
        </p:spPr>
        <p:txBody>
          <a:bodyPr wrap="square" lIns="0" tIns="0" rIns="0" bIns="0" rtlCol="0" anchor="t"/>
          <a:lstStyle/>
          <a:p>
            <a:pPr indent="0" marL="0" eaLnBrk="0">
              <a:buNone/>
            </a:pPr>
            <a:r>
              <a:rPr lang="ko-KR" altLang="en-US" sz="1900" b="1" dirty="0">
                <a:solidFill>
                  <a:schemeClr val="accent1"/>
                </a:solidFill>
              </a:rPr>
              <a:t>텍스트 언어를 정의하면</a:t>
            </a:r>
            <a:endParaRPr lang="ko-KR" altLang="en-US" sz="1900" dirty="0"/>
          </a:p>
        </p:txBody>
      </p:sp>
      <p:sp>
        <p:nvSpPr>
          <p:cNvPr id="7" name="card"/>
          <p:cNvSpPr/>
          <p:nvPr/>
        </p:nvSpPr>
        <p:spPr>
          <a:xfrm>
            <a:off x="548640" y="2148840"/>
            <a:ext cx="5410048" cy="786384"/>
          </a:xfrm>
          <a:prstGeom prst="roundRect">
            <a:avLst>
              <a:gd name="adj" fmla="val 11628"/>
            </a:avLst>
          </a:prstGeom>
          <a:solidFill>
            <a:schemeClr val="bg2"/>
          </a:solidFill>
          <a:ln w="12700">
            <a:solidFill>
              <a:schemeClr val="bg2"/>
            </a:solidFill>
            <a:prstDash val="solid"/>
          </a:ln>
        </p:spPr>
      </p:sp>
      <p:sp>
        <p:nvSpPr>
          <p:cNvPr id="8" name="Shape 5"/>
          <p:cNvSpPr/>
          <p:nvPr/>
        </p:nvSpPr>
        <p:spPr>
          <a:xfrm>
            <a:off x="777240" y="2350008"/>
            <a:ext cx="420624" cy="420624"/>
          </a:xfrm>
          <a:prstGeom prst="ellipse">
            <a:avLst/>
          </a:prstGeom>
          <a:solidFill>
            <a:schemeClr val="accent1"/>
          </a:solidFill>
          <a:ln w="12700">
            <a:solidFill>
              <a:schemeClr val="accent1"/>
            </a:solidFill>
            <a:prstDash val="solid"/>
          </a:ln>
        </p:spPr>
      </p:sp>
      <p:sp>
        <p:nvSpPr>
          <p:cNvPr id="9" name="Text 6"/>
          <p:cNvSpPr txBox="1"/>
          <p:nvPr/>
        </p:nvSpPr>
        <p:spPr>
          <a:xfrm>
            <a:off x="777240" y="23500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10" name="Text 7"/>
          <p:cNvSpPr txBox="1"/>
          <p:nvPr/>
        </p:nvSpPr>
        <p:spPr>
          <a:xfrm>
            <a:off x="1325880" y="2221992"/>
            <a:ext cx="4495648" cy="640080"/>
          </a:xfrm>
          <a:prstGeom prst="rect">
            <a:avLst/>
          </a:prstGeom>
          <a:noFill/>
          <a:ln/>
        </p:spPr>
        <p:txBody>
          <a:bodyPr wrap="square" lIns="0" tIns="0" rIns="0" bIns="0" rtlCol="0" anchor="ctr"/>
          <a:lstStyle/>
          <a:p>
            <a:pPr indent="0" marL="0" eaLnBrk="0">
              <a:buNone/>
            </a:pPr>
            <a:r>
              <a:rPr lang="ko-KR" altLang="en-US" sz="1350" dirty="0">
                <a:solidFill>
                  <a:schemeClr val="tx2"/>
                </a:solidFill>
              </a:rPr>
              <a:t>문법을 설계해야 한다. 사용자가 좋아할 문법은 어렵다.</a:t>
            </a:r>
            <a:endParaRPr lang="ko-KR" altLang="en-US" sz="1350" dirty="0"/>
          </a:p>
        </p:txBody>
      </p:sp>
      <p:sp>
        <p:nvSpPr>
          <p:cNvPr id="11" name="card"/>
          <p:cNvSpPr/>
          <p:nvPr/>
        </p:nvSpPr>
        <p:spPr>
          <a:xfrm>
            <a:off x="548640" y="3044952"/>
            <a:ext cx="5410048" cy="786384"/>
          </a:xfrm>
          <a:prstGeom prst="roundRect">
            <a:avLst>
              <a:gd name="adj" fmla="val 11628"/>
            </a:avLst>
          </a:prstGeom>
          <a:solidFill>
            <a:schemeClr val="bg2"/>
          </a:solidFill>
          <a:ln w="12700">
            <a:solidFill>
              <a:schemeClr val="bg2"/>
            </a:solidFill>
            <a:prstDash val="solid"/>
          </a:ln>
        </p:spPr>
      </p:sp>
      <p:sp>
        <p:nvSpPr>
          <p:cNvPr id="12" name="Shape 9"/>
          <p:cNvSpPr/>
          <p:nvPr/>
        </p:nvSpPr>
        <p:spPr>
          <a:xfrm>
            <a:off x="777240" y="3246120"/>
            <a:ext cx="420624" cy="420624"/>
          </a:xfrm>
          <a:prstGeom prst="ellipse">
            <a:avLst/>
          </a:prstGeom>
          <a:solidFill>
            <a:schemeClr val="accent1"/>
          </a:solidFill>
          <a:ln w="12700">
            <a:solidFill>
              <a:schemeClr val="accent1"/>
            </a:solidFill>
            <a:prstDash val="solid"/>
          </a:ln>
        </p:spPr>
      </p:sp>
      <p:sp>
        <p:nvSpPr>
          <p:cNvPr id="13" name="Text 10"/>
          <p:cNvSpPr txBox="1"/>
          <p:nvPr/>
        </p:nvSpPr>
        <p:spPr>
          <a:xfrm>
            <a:off x="777240" y="3246120"/>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4" name="Text 11"/>
          <p:cNvSpPr txBox="1"/>
          <p:nvPr/>
        </p:nvSpPr>
        <p:spPr>
          <a:xfrm>
            <a:off x="1325880" y="3118104"/>
            <a:ext cx="4495648" cy="640080"/>
          </a:xfrm>
          <a:prstGeom prst="rect">
            <a:avLst/>
          </a:prstGeom>
          <a:noFill/>
          <a:ln/>
        </p:spPr>
        <p:txBody>
          <a:bodyPr wrap="square" lIns="0" tIns="0" rIns="0" bIns="0" rtlCol="0" anchor="ctr"/>
          <a:lstStyle/>
          <a:p>
            <a:pPr indent="0" marL="0" eaLnBrk="0">
              <a:buNone/>
            </a:pPr>
            <a:r>
              <a:rPr lang="ko-KR" altLang="en-US" sz="1350" dirty="0">
                <a:solidFill>
                  <a:schemeClr val="tx2"/>
                </a:solidFill>
              </a:rPr>
              <a:t>파서를 만들어야 한다. 이 부분은 생각보다 쉽다.</a:t>
            </a:r>
            <a:endParaRPr lang="ko-KR" altLang="en-US" sz="1350" dirty="0"/>
          </a:p>
        </p:txBody>
      </p:sp>
      <p:sp>
        <p:nvSpPr>
          <p:cNvPr id="15" name="card"/>
          <p:cNvSpPr/>
          <p:nvPr/>
        </p:nvSpPr>
        <p:spPr>
          <a:xfrm>
            <a:off x="548640" y="3941064"/>
            <a:ext cx="5410048" cy="786384"/>
          </a:xfrm>
          <a:prstGeom prst="roundRect">
            <a:avLst>
              <a:gd name="adj" fmla="val 11628"/>
            </a:avLst>
          </a:prstGeom>
          <a:solidFill>
            <a:schemeClr val="bg2"/>
          </a:solidFill>
          <a:ln w="12700">
            <a:solidFill>
              <a:schemeClr val="bg2"/>
            </a:solidFill>
            <a:prstDash val="solid"/>
          </a:ln>
        </p:spPr>
      </p:sp>
      <p:sp>
        <p:nvSpPr>
          <p:cNvPr id="16" name="Shape 13"/>
          <p:cNvSpPr/>
          <p:nvPr/>
        </p:nvSpPr>
        <p:spPr>
          <a:xfrm>
            <a:off x="777240" y="4142232"/>
            <a:ext cx="420624" cy="420624"/>
          </a:xfrm>
          <a:prstGeom prst="ellipse">
            <a:avLst/>
          </a:prstGeom>
          <a:solidFill>
            <a:schemeClr val="accent1"/>
          </a:solidFill>
          <a:ln w="12700">
            <a:solidFill>
              <a:schemeClr val="accent1"/>
            </a:solidFill>
            <a:prstDash val="solid"/>
          </a:ln>
        </p:spPr>
      </p:sp>
      <p:sp>
        <p:nvSpPr>
          <p:cNvPr id="17" name="Text 14"/>
          <p:cNvSpPr txBox="1"/>
          <p:nvPr/>
        </p:nvSpPr>
        <p:spPr>
          <a:xfrm>
            <a:off x="777240" y="4142232"/>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18" name="Text 15"/>
          <p:cNvSpPr txBox="1"/>
          <p:nvPr/>
        </p:nvSpPr>
        <p:spPr>
          <a:xfrm>
            <a:off x="1325880" y="4014216"/>
            <a:ext cx="4495648" cy="640080"/>
          </a:xfrm>
          <a:prstGeom prst="rect">
            <a:avLst/>
          </a:prstGeom>
          <a:noFill/>
          <a:ln/>
        </p:spPr>
        <p:txBody>
          <a:bodyPr wrap="square" lIns="0" tIns="0" rIns="0" bIns="0" rtlCol="0" anchor="ctr"/>
          <a:lstStyle/>
          <a:p>
            <a:pPr indent="0" marL="0" eaLnBrk="0">
              <a:buNone/>
            </a:pPr>
            <a:r>
              <a:rPr lang="ko-KR" altLang="en-US" sz="1350" dirty="0">
                <a:solidFill>
                  <a:schemeClr val="tx2"/>
                </a:solidFill>
              </a:rPr>
              <a:t>문법 오류를 친절하게 안내해야 한다. 가장 어렵다.</a:t>
            </a:r>
            <a:endParaRPr lang="ko-KR" altLang="en-US" sz="1350" dirty="0"/>
          </a:p>
        </p:txBody>
      </p:sp>
      <p:sp>
        <p:nvSpPr>
          <p:cNvPr id="19" name="card"/>
          <p:cNvSpPr/>
          <p:nvPr/>
        </p:nvSpPr>
        <p:spPr>
          <a:xfrm>
            <a:off x="548640" y="4837176"/>
            <a:ext cx="5410048" cy="786384"/>
          </a:xfrm>
          <a:prstGeom prst="roundRect">
            <a:avLst>
              <a:gd name="adj" fmla="val 11628"/>
            </a:avLst>
          </a:prstGeom>
          <a:solidFill>
            <a:schemeClr val="bg2"/>
          </a:solidFill>
          <a:ln w="12700">
            <a:solidFill>
              <a:schemeClr val="bg2"/>
            </a:solidFill>
            <a:prstDash val="solid"/>
          </a:ln>
        </p:spPr>
      </p:sp>
      <p:sp>
        <p:nvSpPr>
          <p:cNvPr id="20" name="Shape 17"/>
          <p:cNvSpPr/>
          <p:nvPr/>
        </p:nvSpPr>
        <p:spPr>
          <a:xfrm>
            <a:off x="777240" y="5038344"/>
            <a:ext cx="420624" cy="420624"/>
          </a:xfrm>
          <a:prstGeom prst="ellipse">
            <a:avLst/>
          </a:prstGeom>
          <a:solidFill>
            <a:schemeClr val="accent1"/>
          </a:solidFill>
          <a:ln w="12700">
            <a:solidFill>
              <a:schemeClr val="accent1"/>
            </a:solidFill>
            <a:prstDash val="solid"/>
          </a:ln>
        </p:spPr>
      </p:sp>
      <p:sp>
        <p:nvSpPr>
          <p:cNvPr id="21" name="Text 18"/>
          <p:cNvSpPr txBox="1"/>
          <p:nvPr/>
        </p:nvSpPr>
        <p:spPr>
          <a:xfrm>
            <a:off x="777240" y="5038344"/>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4</a:t>
            </a:r>
            <a:endParaRPr lang="ko-KR" altLang="en-US" sz="1500" dirty="0"/>
          </a:p>
        </p:txBody>
      </p:sp>
      <p:sp>
        <p:nvSpPr>
          <p:cNvPr id="22" name="Text 19"/>
          <p:cNvSpPr txBox="1"/>
          <p:nvPr/>
        </p:nvSpPr>
        <p:spPr>
          <a:xfrm>
            <a:off x="1325880" y="4910328"/>
            <a:ext cx="4495648" cy="640080"/>
          </a:xfrm>
          <a:prstGeom prst="rect">
            <a:avLst/>
          </a:prstGeom>
          <a:noFill/>
          <a:ln/>
        </p:spPr>
        <p:txBody>
          <a:bodyPr wrap="square" lIns="0" tIns="0" rIns="0" bIns="0" rtlCol="0" anchor="ctr"/>
          <a:lstStyle/>
          <a:p>
            <a:pPr indent="0" marL="0" eaLnBrk="0">
              <a:buNone/>
            </a:pPr>
            <a:r>
              <a:rPr lang="ko-KR" altLang="en-US" sz="1350" dirty="0">
                <a:solidFill>
                  <a:schemeClr val="tx2"/>
                </a:solidFill>
              </a:rPr>
              <a:t>프로그래머가 아닌 사용자는 거부감을 느낄 수 있다.</a:t>
            </a:r>
            <a:endParaRPr lang="ko-KR" altLang="en-US" sz="1350" dirty="0"/>
          </a:p>
        </p:txBody>
      </p:sp>
      <p:sp>
        <p:nvSpPr>
          <p:cNvPr id="23" name="Text 20"/>
          <p:cNvSpPr txBox="1"/>
          <p:nvPr/>
        </p:nvSpPr>
        <p:spPr>
          <a:xfrm>
            <a:off x="6233008" y="1645920"/>
            <a:ext cx="5410048" cy="411480"/>
          </a:xfrm>
          <a:prstGeom prst="rect">
            <a:avLst/>
          </a:prstGeom>
          <a:noFill/>
          <a:ln/>
        </p:spPr>
        <p:txBody>
          <a:bodyPr wrap="square" lIns="0" tIns="0" rIns="0" bIns="0" rtlCol="0" anchor="t"/>
          <a:lstStyle/>
          <a:p>
            <a:pPr indent="0" marL="0" eaLnBrk="0">
              <a:buNone/>
            </a:pPr>
            <a:r>
              <a:rPr lang="ko-KR" altLang="en-US" sz="1900" b="1" dirty="0">
                <a:solidFill>
                  <a:schemeClr val="accent2"/>
                </a:solidFill>
              </a:rPr>
              <a:t>그래픽 저작 도구를 만들면</a:t>
            </a:r>
            <a:endParaRPr lang="ko-KR" altLang="en-US" sz="1900" dirty="0"/>
          </a:p>
        </p:txBody>
      </p:sp>
      <p:sp>
        <p:nvSpPr>
          <p:cNvPr id="24" name="card"/>
          <p:cNvSpPr/>
          <p:nvPr/>
        </p:nvSpPr>
        <p:spPr>
          <a:xfrm>
            <a:off x="6233008" y="2148840"/>
            <a:ext cx="5410048" cy="786384"/>
          </a:xfrm>
          <a:prstGeom prst="roundRect">
            <a:avLst>
              <a:gd name="adj" fmla="val 11628"/>
            </a:avLst>
          </a:prstGeom>
          <a:solidFill>
            <a:schemeClr val="bg2"/>
          </a:solidFill>
          <a:ln w="12700">
            <a:solidFill>
              <a:schemeClr val="bg2"/>
            </a:solidFill>
            <a:prstDash val="solid"/>
          </a:ln>
        </p:spPr>
      </p:sp>
      <p:sp>
        <p:nvSpPr>
          <p:cNvPr id="25" name="Shape 22"/>
          <p:cNvSpPr/>
          <p:nvPr/>
        </p:nvSpPr>
        <p:spPr>
          <a:xfrm>
            <a:off x="6461608" y="2350008"/>
            <a:ext cx="420624" cy="420624"/>
          </a:xfrm>
          <a:prstGeom prst="ellipse">
            <a:avLst/>
          </a:prstGeom>
          <a:solidFill>
            <a:schemeClr val="accent1"/>
          </a:solidFill>
          <a:ln w="12700">
            <a:solidFill>
              <a:schemeClr val="accent1"/>
            </a:solidFill>
            <a:prstDash val="solid"/>
          </a:ln>
        </p:spPr>
      </p:sp>
      <p:sp>
        <p:nvSpPr>
          <p:cNvPr id="26" name="Text 23"/>
          <p:cNvSpPr txBox="1"/>
          <p:nvPr/>
        </p:nvSpPr>
        <p:spPr>
          <a:xfrm>
            <a:off x="6461608" y="23500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27" name="Text 24"/>
          <p:cNvSpPr txBox="1"/>
          <p:nvPr/>
        </p:nvSpPr>
        <p:spPr>
          <a:xfrm>
            <a:off x="7010248" y="2221992"/>
            <a:ext cx="4495648" cy="640080"/>
          </a:xfrm>
          <a:prstGeom prst="rect">
            <a:avLst/>
          </a:prstGeom>
          <a:noFill/>
          <a:ln/>
        </p:spPr>
        <p:txBody>
          <a:bodyPr wrap="square" lIns="0" tIns="0" rIns="0" bIns="0" rtlCol="0" anchor="ctr"/>
          <a:lstStyle/>
          <a:p>
            <a:pPr indent="0" marL="0" eaLnBrk="0">
              <a:buNone/>
            </a:pPr>
            <a:r>
              <a:rPr lang="ko-KR" altLang="en-US" sz="1350" dirty="0">
                <a:solidFill>
                  <a:schemeClr val="tx2"/>
                </a:solidFill>
              </a:rPr>
              <a:t>버튼, 클릭, 끌어 놓기 같은 화면을 만들어야 한다.</a:t>
            </a:r>
            <a:endParaRPr lang="ko-KR" altLang="en-US" sz="1350" dirty="0"/>
          </a:p>
        </p:txBody>
      </p:sp>
      <p:sp>
        <p:nvSpPr>
          <p:cNvPr id="28" name="card"/>
          <p:cNvSpPr/>
          <p:nvPr/>
        </p:nvSpPr>
        <p:spPr>
          <a:xfrm>
            <a:off x="6233008" y="3044952"/>
            <a:ext cx="5410048" cy="786384"/>
          </a:xfrm>
          <a:prstGeom prst="roundRect">
            <a:avLst>
              <a:gd name="adj" fmla="val 11628"/>
            </a:avLst>
          </a:prstGeom>
          <a:solidFill>
            <a:schemeClr val="bg2"/>
          </a:solidFill>
          <a:ln w="12700">
            <a:solidFill>
              <a:schemeClr val="bg2"/>
            </a:solidFill>
            <a:prstDash val="solid"/>
          </a:ln>
        </p:spPr>
      </p:sp>
      <p:sp>
        <p:nvSpPr>
          <p:cNvPr id="29" name="Shape 26"/>
          <p:cNvSpPr/>
          <p:nvPr/>
        </p:nvSpPr>
        <p:spPr>
          <a:xfrm>
            <a:off x="6461608" y="3246120"/>
            <a:ext cx="420624" cy="420624"/>
          </a:xfrm>
          <a:prstGeom prst="ellipse">
            <a:avLst/>
          </a:prstGeom>
          <a:solidFill>
            <a:schemeClr val="accent1"/>
          </a:solidFill>
          <a:ln w="12700">
            <a:solidFill>
              <a:schemeClr val="accent1"/>
            </a:solidFill>
            <a:prstDash val="solid"/>
          </a:ln>
        </p:spPr>
      </p:sp>
      <p:sp>
        <p:nvSpPr>
          <p:cNvPr id="30" name="Text 27"/>
          <p:cNvSpPr txBox="1"/>
          <p:nvPr/>
        </p:nvSpPr>
        <p:spPr>
          <a:xfrm>
            <a:off x="6461608" y="3246120"/>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31" name="Text 28"/>
          <p:cNvSpPr txBox="1"/>
          <p:nvPr/>
        </p:nvSpPr>
        <p:spPr>
          <a:xfrm>
            <a:off x="7010248" y="3118104"/>
            <a:ext cx="4495648" cy="640080"/>
          </a:xfrm>
          <a:prstGeom prst="rect">
            <a:avLst/>
          </a:prstGeom>
          <a:noFill/>
          <a:ln/>
        </p:spPr>
        <p:txBody>
          <a:bodyPr wrap="square" lIns="0" tIns="0" rIns="0" bIns="0" rtlCol="0" anchor="ctr"/>
          <a:lstStyle/>
          <a:p>
            <a:pPr indent="0" marL="0" eaLnBrk="0">
              <a:buNone/>
            </a:pPr>
            <a:r>
              <a:rPr lang="ko-KR" altLang="en-US" sz="1350" dirty="0">
                <a:solidFill>
                  <a:schemeClr val="tx2"/>
                </a:solidFill>
              </a:rPr>
              <a:t>한 단계씩 만들므로 실수를 그때그때 막을 수 있다.</a:t>
            </a:r>
            <a:endParaRPr lang="ko-KR" altLang="en-US" sz="1350" dirty="0"/>
          </a:p>
        </p:txBody>
      </p:sp>
      <p:sp>
        <p:nvSpPr>
          <p:cNvPr id="32" name="card"/>
          <p:cNvSpPr/>
          <p:nvPr/>
        </p:nvSpPr>
        <p:spPr>
          <a:xfrm>
            <a:off x="6233008" y="3941064"/>
            <a:ext cx="5410048" cy="786384"/>
          </a:xfrm>
          <a:prstGeom prst="roundRect">
            <a:avLst>
              <a:gd name="adj" fmla="val 11628"/>
            </a:avLst>
          </a:prstGeom>
          <a:solidFill>
            <a:schemeClr val="bg2"/>
          </a:solidFill>
          <a:ln w="12700">
            <a:solidFill>
              <a:schemeClr val="bg2"/>
            </a:solidFill>
            <a:prstDash val="solid"/>
          </a:ln>
        </p:spPr>
      </p:sp>
      <p:sp>
        <p:nvSpPr>
          <p:cNvPr id="33" name="Shape 30"/>
          <p:cNvSpPr/>
          <p:nvPr/>
        </p:nvSpPr>
        <p:spPr>
          <a:xfrm>
            <a:off x="6461608" y="4142232"/>
            <a:ext cx="420624" cy="420624"/>
          </a:xfrm>
          <a:prstGeom prst="ellipse">
            <a:avLst/>
          </a:prstGeom>
          <a:solidFill>
            <a:schemeClr val="accent1"/>
          </a:solidFill>
          <a:ln w="12700">
            <a:solidFill>
              <a:schemeClr val="accent1"/>
            </a:solidFill>
            <a:prstDash val="solid"/>
          </a:ln>
        </p:spPr>
      </p:sp>
      <p:sp>
        <p:nvSpPr>
          <p:cNvPr id="34" name="Text 31"/>
          <p:cNvSpPr txBox="1"/>
          <p:nvPr/>
        </p:nvSpPr>
        <p:spPr>
          <a:xfrm>
            <a:off x="6461608" y="4142232"/>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35" name="Text 32"/>
          <p:cNvSpPr txBox="1"/>
          <p:nvPr/>
        </p:nvSpPr>
        <p:spPr>
          <a:xfrm>
            <a:off x="7010248" y="4014216"/>
            <a:ext cx="4495648" cy="640080"/>
          </a:xfrm>
          <a:prstGeom prst="rect">
            <a:avLst/>
          </a:prstGeom>
          <a:noFill/>
          <a:ln/>
        </p:spPr>
        <p:txBody>
          <a:bodyPr wrap="square" lIns="0" tIns="0" rIns="0" bIns="0" rtlCol="0" anchor="ctr"/>
          <a:lstStyle/>
          <a:p>
            <a:pPr indent="0" marL="0" eaLnBrk="0">
              <a:buNone/>
            </a:pPr>
            <a:r>
              <a:rPr lang="ko-KR" altLang="en-US" sz="1350" dirty="0">
                <a:solidFill>
                  <a:schemeClr val="tx2"/>
                </a:solidFill>
              </a:rPr>
              <a:t>화면 프레임워크가 운영체제마다 달라 이식이 어렵다.</a:t>
            </a:r>
            <a:endParaRPr lang="ko-KR" altLang="en-US" sz="1350" dirty="0"/>
          </a:p>
        </p:txBody>
      </p:sp>
      <p:sp>
        <p:nvSpPr>
          <p:cNvPr id="36" name="card"/>
          <p:cNvSpPr/>
          <p:nvPr/>
        </p:nvSpPr>
        <p:spPr>
          <a:xfrm>
            <a:off x="6233008" y="4837176"/>
            <a:ext cx="5410048" cy="786384"/>
          </a:xfrm>
          <a:prstGeom prst="roundRect">
            <a:avLst>
              <a:gd name="adj" fmla="val 11628"/>
            </a:avLst>
          </a:prstGeom>
          <a:solidFill>
            <a:schemeClr val="bg2"/>
          </a:solidFill>
          <a:ln w="12700">
            <a:solidFill>
              <a:schemeClr val="bg2"/>
            </a:solidFill>
            <a:prstDash val="solid"/>
          </a:ln>
        </p:spPr>
      </p:sp>
      <p:sp>
        <p:nvSpPr>
          <p:cNvPr id="37" name="Shape 34"/>
          <p:cNvSpPr/>
          <p:nvPr/>
        </p:nvSpPr>
        <p:spPr>
          <a:xfrm>
            <a:off x="6461608" y="5038344"/>
            <a:ext cx="420624" cy="420624"/>
          </a:xfrm>
          <a:prstGeom prst="ellipse">
            <a:avLst/>
          </a:prstGeom>
          <a:solidFill>
            <a:schemeClr val="accent1"/>
          </a:solidFill>
          <a:ln w="12700">
            <a:solidFill>
              <a:schemeClr val="accent1"/>
            </a:solidFill>
            <a:prstDash val="solid"/>
          </a:ln>
        </p:spPr>
      </p:sp>
      <p:sp>
        <p:nvSpPr>
          <p:cNvPr id="38" name="Text 35"/>
          <p:cNvSpPr txBox="1"/>
          <p:nvPr/>
        </p:nvSpPr>
        <p:spPr>
          <a:xfrm>
            <a:off x="6461608" y="5038344"/>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4</a:t>
            </a:r>
            <a:endParaRPr lang="ko-KR" altLang="en-US" sz="1500" dirty="0"/>
          </a:p>
        </p:txBody>
      </p:sp>
      <p:sp>
        <p:nvSpPr>
          <p:cNvPr id="39" name="Text 36"/>
          <p:cNvSpPr txBox="1"/>
          <p:nvPr/>
        </p:nvSpPr>
        <p:spPr>
          <a:xfrm>
            <a:off x="7010248" y="4910328"/>
            <a:ext cx="4495648" cy="640080"/>
          </a:xfrm>
          <a:prstGeom prst="rect">
            <a:avLst/>
          </a:prstGeom>
          <a:noFill/>
          <a:ln/>
        </p:spPr>
        <p:txBody>
          <a:bodyPr wrap="square" lIns="0" tIns="0" rIns="0" bIns="0" rtlCol="0" anchor="ctr"/>
          <a:lstStyle/>
          <a:p>
            <a:pPr indent="0" marL="0" eaLnBrk="0">
              <a:buNone/>
            </a:pPr>
            <a:r>
              <a:rPr lang="ko-KR" altLang="en-US" sz="1350" dirty="0">
                <a:solidFill>
                  <a:schemeClr val="tx2"/>
                </a:solidFill>
              </a:rPr>
              <a:t>좋은 도구가 좋은 콘텐츠를 만든다.</a:t>
            </a:r>
            <a:endParaRPr lang="ko-KR" altLang="en-US" sz="135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30</a:t>
            </a:fld>
            <a:endParaRPr lang="ko-KR"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쓸 때와 주의점</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구현 언어가 맞지 않는 많은 행동을 정의할 때 쓴다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원서는 바이트코드 패턴과 함께 볼 패턴으로 무엇을 소개할까?</a:t>
            </a:r>
            <a:endParaRPr lang="ko-KR" altLang="en-US" sz="1500" dirty="0"/>
          </a:p>
        </p:txBody>
      </p:sp>
      <p:sp>
        <p:nvSpPr>
          <p:cNvPr id="6" name="Text 3"/>
          <p:cNvSpPr txBox="1"/>
          <p:nvPr/>
        </p:nvSpPr>
        <p:spPr>
          <a:xfrm>
            <a:off x="548640" y="1645920"/>
            <a:ext cx="5349240" cy="457200"/>
          </a:xfrm>
          <a:prstGeom prst="rect">
            <a:avLst/>
          </a:prstGeom>
          <a:noFill/>
          <a:ln/>
        </p:spPr>
        <p:txBody>
          <a:bodyPr wrap="square" lIns="0" tIns="0" rIns="0" bIns="0" rtlCol="0" anchor="t"/>
          <a:lstStyle/>
          <a:p>
            <a:pPr indent="0" marL="0" eaLnBrk="0">
              <a:buNone/>
            </a:pPr>
            <a:r>
              <a:rPr lang="ko-KR" altLang="en-US" sz="2000" b="1" dirty="0">
                <a:solidFill>
                  <a:schemeClr val="accent2"/>
                </a:solidFill>
              </a:rPr>
              <a:t>이럴 때 쓴다</a:t>
            </a:r>
            <a:endParaRPr lang="ko-KR" altLang="en-US" sz="2000" dirty="0"/>
          </a:p>
        </p:txBody>
      </p:sp>
      <p:sp>
        <p:nvSpPr>
          <p:cNvPr id="7" name="card"/>
          <p:cNvSpPr/>
          <p:nvPr/>
        </p:nvSpPr>
        <p:spPr>
          <a:xfrm>
            <a:off x="548640" y="2176272"/>
            <a:ext cx="5349240" cy="804672"/>
          </a:xfrm>
          <a:prstGeom prst="roundRect">
            <a:avLst>
              <a:gd name="adj" fmla="val 11364"/>
            </a:avLst>
          </a:prstGeom>
          <a:solidFill>
            <a:schemeClr val="bg2"/>
          </a:solidFill>
          <a:ln w="12700">
            <a:solidFill>
              <a:schemeClr val="bg2"/>
            </a:solidFill>
            <a:prstDash val="solid"/>
          </a:ln>
        </p:spPr>
      </p:sp>
      <p:sp>
        <p:nvSpPr>
          <p:cNvPr id="8" name="Shape 5"/>
          <p:cNvSpPr/>
          <p:nvPr/>
        </p:nvSpPr>
        <p:spPr>
          <a:xfrm>
            <a:off x="777240" y="2377440"/>
            <a:ext cx="420624" cy="420624"/>
          </a:xfrm>
          <a:prstGeom prst="ellipse">
            <a:avLst/>
          </a:prstGeom>
          <a:solidFill>
            <a:schemeClr val="accent1"/>
          </a:solidFill>
          <a:ln w="12700">
            <a:solidFill>
              <a:schemeClr val="accent1"/>
            </a:solidFill>
            <a:prstDash val="solid"/>
          </a:ln>
        </p:spPr>
      </p:sp>
      <p:sp>
        <p:nvSpPr>
          <p:cNvPr id="9" name="Text 6"/>
          <p:cNvSpPr txBox="1"/>
          <p:nvPr/>
        </p:nvSpPr>
        <p:spPr>
          <a:xfrm>
            <a:off x="777240" y="2377440"/>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10" name="card"/>
          <p:cNvSpPr/>
          <p:nvPr/>
        </p:nvSpPr>
        <p:spPr>
          <a:xfrm>
            <a:off x="548640" y="3090672"/>
            <a:ext cx="5349240" cy="804672"/>
          </a:xfrm>
          <a:prstGeom prst="roundRect">
            <a:avLst>
              <a:gd name="adj" fmla="val 11364"/>
            </a:avLst>
          </a:prstGeom>
          <a:solidFill>
            <a:schemeClr val="bg2"/>
          </a:solidFill>
          <a:ln w="12700">
            <a:solidFill>
              <a:schemeClr val="bg2"/>
            </a:solidFill>
            <a:prstDash val="solid"/>
          </a:ln>
        </p:spPr>
      </p:sp>
      <p:sp>
        <p:nvSpPr>
          <p:cNvPr id="11" name="Shape 8"/>
          <p:cNvSpPr/>
          <p:nvPr/>
        </p:nvSpPr>
        <p:spPr>
          <a:xfrm>
            <a:off x="777240" y="3291840"/>
            <a:ext cx="420624" cy="420624"/>
          </a:xfrm>
          <a:prstGeom prst="ellipse">
            <a:avLst/>
          </a:prstGeom>
          <a:solidFill>
            <a:schemeClr val="accent1"/>
          </a:solidFill>
          <a:ln w="12700">
            <a:solidFill>
              <a:schemeClr val="accent1"/>
            </a:solidFill>
            <a:prstDash val="solid"/>
          </a:ln>
        </p:spPr>
      </p:sp>
      <p:sp>
        <p:nvSpPr>
          <p:cNvPr id="12" name="Text 9"/>
          <p:cNvSpPr txBox="1"/>
          <p:nvPr/>
        </p:nvSpPr>
        <p:spPr>
          <a:xfrm>
            <a:off x="777240" y="3291840"/>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3" name="card"/>
          <p:cNvSpPr/>
          <p:nvPr/>
        </p:nvSpPr>
        <p:spPr>
          <a:xfrm>
            <a:off x="548640" y="4005072"/>
            <a:ext cx="5349240" cy="804672"/>
          </a:xfrm>
          <a:prstGeom prst="roundRect">
            <a:avLst>
              <a:gd name="adj" fmla="val 11364"/>
            </a:avLst>
          </a:prstGeom>
          <a:solidFill>
            <a:schemeClr val="bg2"/>
          </a:solidFill>
          <a:ln w="12700">
            <a:solidFill>
              <a:schemeClr val="bg2"/>
            </a:solidFill>
            <a:prstDash val="solid"/>
          </a:ln>
        </p:spPr>
      </p:sp>
      <p:sp>
        <p:nvSpPr>
          <p:cNvPr id="14" name="Shape 11"/>
          <p:cNvSpPr/>
          <p:nvPr/>
        </p:nvSpPr>
        <p:spPr>
          <a:xfrm>
            <a:off x="777240" y="4206240"/>
            <a:ext cx="420624" cy="420624"/>
          </a:xfrm>
          <a:prstGeom prst="ellipse">
            <a:avLst/>
          </a:prstGeom>
          <a:solidFill>
            <a:schemeClr val="accent1"/>
          </a:solidFill>
          <a:ln w="12700">
            <a:solidFill>
              <a:schemeClr val="accent1"/>
            </a:solidFill>
            <a:prstDash val="solid"/>
          </a:ln>
        </p:spPr>
      </p:sp>
      <p:sp>
        <p:nvSpPr>
          <p:cNvPr id="15" name="Text 12"/>
          <p:cNvSpPr txBox="1"/>
          <p:nvPr/>
        </p:nvSpPr>
        <p:spPr>
          <a:xfrm>
            <a:off x="777240" y="4206240"/>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16" name="card"/>
          <p:cNvSpPr/>
          <p:nvPr/>
        </p:nvSpPr>
        <p:spPr>
          <a:xfrm>
            <a:off x="548640" y="4919472"/>
            <a:ext cx="5349240" cy="804672"/>
          </a:xfrm>
          <a:prstGeom prst="roundRect">
            <a:avLst>
              <a:gd name="adj" fmla="val 11364"/>
            </a:avLst>
          </a:prstGeom>
          <a:solidFill>
            <a:schemeClr val="bg2"/>
          </a:solidFill>
          <a:ln w="12700">
            <a:solidFill>
              <a:schemeClr val="bg2"/>
            </a:solidFill>
            <a:prstDash val="solid"/>
          </a:ln>
        </p:spPr>
      </p:sp>
      <p:sp>
        <p:nvSpPr>
          <p:cNvPr id="17" name="Shape 14"/>
          <p:cNvSpPr/>
          <p:nvPr/>
        </p:nvSpPr>
        <p:spPr>
          <a:xfrm>
            <a:off x="777240" y="5120640"/>
            <a:ext cx="420624" cy="420624"/>
          </a:xfrm>
          <a:prstGeom prst="ellipse">
            <a:avLst/>
          </a:prstGeom>
          <a:solidFill>
            <a:schemeClr val="accent1"/>
          </a:solidFill>
          <a:ln w="12700">
            <a:solidFill>
              <a:schemeClr val="accent1"/>
            </a:solidFill>
            <a:prstDash val="solid"/>
          </a:ln>
        </p:spPr>
      </p:sp>
      <p:sp>
        <p:nvSpPr>
          <p:cNvPr id="18" name="Text 15"/>
          <p:cNvSpPr txBox="1"/>
          <p:nvPr/>
        </p:nvSpPr>
        <p:spPr>
          <a:xfrm>
            <a:off x="777240" y="5120640"/>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4</a:t>
            </a:r>
            <a:endParaRPr lang="ko-KR" altLang="en-US" sz="1500" dirty="0"/>
          </a:p>
        </p:txBody>
      </p:sp>
      <p:sp>
        <p:nvSpPr>
          <p:cNvPr id="19" name="Text 16"/>
          <p:cNvSpPr txBox="1"/>
          <p:nvPr/>
        </p:nvSpPr>
        <p:spPr>
          <a:xfrm>
            <a:off x="1371600" y="2231136"/>
            <a:ext cx="4343400" cy="694944"/>
          </a:xfrm>
          <a:prstGeom prst="rect">
            <a:avLst/>
          </a:prstGeom>
          <a:noFill/>
          <a:ln/>
        </p:spPr>
        <p:txBody>
          <a:bodyPr wrap="square" lIns="0" tIns="0" rIns="0" bIns="0" rtlCol="0" anchor="ctr"/>
          <a:lstStyle/>
          <a:p>
            <a:pPr indent="0" marL="0" eaLnBrk="0">
              <a:buNone/>
            </a:pPr>
            <a:r>
              <a:rPr lang="ko-KR" altLang="en-US" sz="1350" dirty="0">
                <a:solidFill>
                  <a:schemeClr val="tx2"/>
                </a:solidFill>
              </a:rPr>
              <a:t>구현 언어가 너무 저수준이라 행동을 적기 번거롭다.</a:t>
            </a:r>
            <a:endParaRPr lang="ko-KR" altLang="en-US" sz="1350" dirty="0"/>
          </a:p>
        </p:txBody>
      </p:sp>
      <p:sp>
        <p:nvSpPr>
          <p:cNvPr id="20" name="Text 17"/>
          <p:cNvSpPr txBox="1"/>
          <p:nvPr/>
        </p:nvSpPr>
        <p:spPr>
          <a:xfrm>
            <a:off x="1371600" y="3145536"/>
            <a:ext cx="4343400" cy="694944"/>
          </a:xfrm>
          <a:prstGeom prst="rect">
            <a:avLst/>
          </a:prstGeom>
          <a:noFill/>
          <a:ln/>
        </p:spPr>
        <p:txBody>
          <a:bodyPr wrap="square" lIns="0" tIns="0" rIns="0" bIns="0" rtlCol="0" anchor="ctr"/>
          <a:lstStyle/>
          <a:p>
            <a:pPr indent="0" marL="0" eaLnBrk="0">
              <a:buNone/>
            </a:pPr>
            <a:r>
              <a:rPr lang="ko-KR" altLang="en-US" sz="1350" dirty="0">
                <a:solidFill>
                  <a:schemeClr val="tx2"/>
                </a:solidFill>
              </a:rPr>
              <a:t>컴파일이 느려 수정하고 확인하는 반복이 오래 걸린다.</a:t>
            </a:r>
            <a:endParaRPr lang="ko-KR" altLang="en-US" sz="1350" dirty="0"/>
          </a:p>
        </p:txBody>
      </p:sp>
      <p:sp>
        <p:nvSpPr>
          <p:cNvPr id="21" name="Text 18"/>
          <p:cNvSpPr txBox="1"/>
          <p:nvPr/>
        </p:nvSpPr>
        <p:spPr>
          <a:xfrm>
            <a:off x="1371600" y="4059936"/>
            <a:ext cx="4343400" cy="694944"/>
          </a:xfrm>
          <a:prstGeom prst="rect">
            <a:avLst/>
          </a:prstGeom>
          <a:noFill/>
          <a:ln/>
        </p:spPr>
        <p:txBody>
          <a:bodyPr wrap="square" lIns="0" tIns="0" rIns="0" bIns="0" rtlCol="0" anchor="ctr"/>
          <a:lstStyle/>
          <a:p>
            <a:pPr indent="0" marL="0" eaLnBrk="0">
              <a:buNone/>
            </a:pPr>
            <a:r>
              <a:rPr lang="ko-KR" altLang="en-US" sz="1350" dirty="0">
                <a:solidFill>
                  <a:schemeClr val="tx2"/>
                </a:solidFill>
              </a:rPr>
              <a:t>행동을 믿을 수 없어 게임 본체와 격리해야 한다.</a:t>
            </a:r>
            <a:endParaRPr lang="ko-KR" altLang="en-US" sz="1350" dirty="0"/>
          </a:p>
        </p:txBody>
      </p:sp>
      <p:sp>
        <p:nvSpPr>
          <p:cNvPr id="22" name="Text 19"/>
          <p:cNvSpPr txBox="1"/>
          <p:nvPr/>
        </p:nvSpPr>
        <p:spPr>
          <a:xfrm>
            <a:off x="1371600" y="4974336"/>
            <a:ext cx="4343400" cy="694944"/>
          </a:xfrm>
          <a:prstGeom prst="rect">
            <a:avLst/>
          </a:prstGeom>
          <a:noFill/>
          <a:ln/>
        </p:spPr>
        <p:txBody>
          <a:bodyPr wrap="square" lIns="0" tIns="0" rIns="0" bIns="0" rtlCol="0" anchor="ctr"/>
          <a:lstStyle/>
          <a:p>
            <a:pPr indent="0" marL="0" eaLnBrk="0">
              <a:buNone/>
            </a:pPr>
            <a:r>
              <a:rPr lang="ko-KR" altLang="en-US" sz="1350" dirty="0">
                <a:solidFill>
                  <a:schemeClr val="tx2"/>
                </a:solidFill>
              </a:rPr>
              <a:t>단, 네이티브 코드보다 느리다. 성능이 중요한 곳은 피한다.</a:t>
            </a:r>
            <a:endParaRPr lang="ko-KR" altLang="en-US" sz="1350" dirty="0"/>
          </a:p>
        </p:txBody>
      </p:sp>
      <p:sp>
        <p:nvSpPr>
          <p:cNvPr id="23" name="Text 20"/>
          <p:cNvSpPr txBox="1"/>
          <p:nvPr/>
        </p:nvSpPr>
        <p:spPr>
          <a:xfrm>
            <a:off x="6263640" y="1645920"/>
            <a:ext cx="5349240" cy="457200"/>
          </a:xfrm>
          <a:prstGeom prst="rect">
            <a:avLst/>
          </a:prstGeom>
          <a:noFill/>
          <a:ln/>
        </p:spPr>
        <p:txBody>
          <a:bodyPr wrap="square" lIns="0" tIns="0" rIns="0" bIns="0" rtlCol="0" anchor="t"/>
          <a:lstStyle/>
          <a:p>
            <a:pPr indent="0" marL="0" eaLnBrk="0">
              <a:buNone/>
            </a:pPr>
            <a:r>
              <a:rPr lang="ko-KR" altLang="en-US" sz="2000" b="1" dirty="0">
                <a:solidFill>
                  <a:schemeClr val="accent6"/>
                </a:solidFill>
              </a:rPr>
              <a:t>이것을 조심한다</a:t>
            </a:r>
            <a:endParaRPr lang="ko-KR" altLang="en-US" sz="2000" dirty="0"/>
          </a:p>
        </p:txBody>
      </p:sp>
      <p:sp>
        <p:nvSpPr>
          <p:cNvPr id="24" name="card"/>
          <p:cNvSpPr/>
          <p:nvPr/>
        </p:nvSpPr>
        <p:spPr>
          <a:xfrm>
            <a:off x="6263640" y="2176272"/>
            <a:ext cx="5349240" cy="804672"/>
          </a:xfrm>
          <a:prstGeom prst="roundRect">
            <a:avLst>
              <a:gd name="adj" fmla="val 11364"/>
            </a:avLst>
          </a:prstGeom>
          <a:solidFill>
            <a:schemeClr val="bg2"/>
          </a:solidFill>
          <a:ln w="12700">
            <a:solidFill>
              <a:schemeClr val="bg2"/>
            </a:solidFill>
            <a:prstDash val="solid"/>
          </a:ln>
        </p:spPr>
      </p:sp>
      <p:sp>
        <p:nvSpPr>
          <p:cNvPr id="25" name="Shape 22"/>
          <p:cNvSpPr/>
          <p:nvPr/>
        </p:nvSpPr>
        <p:spPr>
          <a:xfrm>
            <a:off x="6492240" y="2377440"/>
            <a:ext cx="420624" cy="420624"/>
          </a:xfrm>
          <a:prstGeom prst="ellipse">
            <a:avLst/>
          </a:prstGeom>
          <a:solidFill>
            <a:schemeClr val="accent1"/>
          </a:solidFill>
          <a:ln w="12700">
            <a:solidFill>
              <a:schemeClr val="accent1"/>
            </a:solidFill>
            <a:prstDash val="solid"/>
          </a:ln>
        </p:spPr>
      </p:sp>
      <p:sp>
        <p:nvSpPr>
          <p:cNvPr id="26" name="Text 23"/>
          <p:cNvSpPr txBox="1"/>
          <p:nvPr/>
        </p:nvSpPr>
        <p:spPr>
          <a:xfrm>
            <a:off x="6492240" y="2377440"/>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27" name="card"/>
          <p:cNvSpPr/>
          <p:nvPr/>
        </p:nvSpPr>
        <p:spPr>
          <a:xfrm>
            <a:off x="6263640" y="3090672"/>
            <a:ext cx="5349240" cy="804672"/>
          </a:xfrm>
          <a:prstGeom prst="roundRect">
            <a:avLst>
              <a:gd name="adj" fmla="val 11364"/>
            </a:avLst>
          </a:prstGeom>
          <a:solidFill>
            <a:schemeClr val="bg2"/>
          </a:solidFill>
          <a:ln w="12700">
            <a:solidFill>
              <a:schemeClr val="bg2"/>
            </a:solidFill>
            <a:prstDash val="solid"/>
          </a:ln>
        </p:spPr>
      </p:sp>
      <p:sp>
        <p:nvSpPr>
          <p:cNvPr id="28" name="Shape 25"/>
          <p:cNvSpPr/>
          <p:nvPr/>
        </p:nvSpPr>
        <p:spPr>
          <a:xfrm>
            <a:off x="6492240" y="3291840"/>
            <a:ext cx="420624" cy="420624"/>
          </a:xfrm>
          <a:prstGeom prst="ellipse">
            <a:avLst/>
          </a:prstGeom>
          <a:solidFill>
            <a:schemeClr val="accent1"/>
          </a:solidFill>
          <a:ln w="12700">
            <a:solidFill>
              <a:schemeClr val="accent1"/>
            </a:solidFill>
            <a:prstDash val="solid"/>
          </a:ln>
        </p:spPr>
      </p:sp>
      <p:sp>
        <p:nvSpPr>
          <p:cNvPr id="29" name="Text 26"/>
          <p:cNvSpPr txBox="1"/>
          <p:nvPr/>
        </p:nvSpPr>
        <p:spPr>
          <a:xfrm>
            <a:off x="6492240" y="3291840"/>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30" name="card"/>
          <p:cNvSpPr/>
          <p:nvPr/>
        </p:nvSpPr>
        <p:spPr>
          <a:xfrm>
            <a:off x="6263640" y="4005072"/>
            <a:ext cx="5349240" cy="804672"/>
          </a:xfrm>
          <a:prstGeom prst="roundRect">
            <a:avLst>
              <a:gd name="adj" fmla="val 11364"/>
            </a:avLst>
          </a:prstGeom>
          <a:solidFill>
            <a:schemeClr val="bg2"/>
          </a:solidFill>
          <a:ln w="12700">
            <a:solidFill>
              <a:schemeClr val="bg2"/>
            </a:solidFill>
            <a:prstDash val="solid"/>
          </a:ln>
        </p:spPr>
      </p:sp>
      <p:sp>
        <p:nvSpPr>
          <p:cNvPr id="31" name="Shape 28"/>
          <p:cNvSpPr/>
          <p:nvPr/>
        </p:nvSpPr>
        <p:spPr>
          <a:xfrm>
            <a:off x="6492240" y="4206240"/>
            <a:ext cx="420624" cy="420624"/>
          </a:xfrm>
          <a:prstGeom prst="ellipse">
            <a:avLst/>
          </a:prstGeom>
          <a:solidFill>
            <a:schemeClr val="accent1"/>
          </a:solidFill>
          <a:ln w="12700">
            <a:solidFill>
              <a:schemeClr val="accent1"/>
            </a:solidFill>
            <a:prstDash val="solid"/>
          </a:ln>
        </p:spPr>
      </p:sp>
      <p:sp>
        <p:nvSpPr>
          <p:cNvPr id="32" name="Text 29"/>
          <p:cNvSpPr txBox="1"/>
          <p:nvPr/>
        </p:nvSpPr>
        <p:spPr>
          <a:xfrm>
            <a:off x="6492240" y="4206240"/>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33" name="card"/>
          <p:cNvSpPr/>
          <p:nvPr/>
        </p:nvSpPr>
        <p:spPr>
          <a:xfrm>
            <a:off x="6263640" y="4919472"/>
            <a:ext cx="5349240" cy="804672"/>
          </a:xfrm>
          <a:prstGeom prst="roundRect">
            <a:avLst>
              <a:gd name="adj" fmla="val 11364"/>
            </a:avLst>
          </a:prstGeom>
          <a:solidFill>
            <a:schemeClr val="bg2"/>
          </a:solidFill>
          <a:ln w="12700">
            <a:solidFill>
              <a:schemeClr val="bg2"/>
            </a:solidFill>
            <a:prstDash val="solid"/>
          </a:ln>
        </p:spPr>
      </p:sp>
      <p:sp>
        <p:nvSpPr>
          <p:cNvPr id="34" name="Shape 31"/>
          <p:cNvSpPr/>
          <p:nvPr/>
        </p:nvSpPr>
        <p:spPr>
          <a:xfrm>
            <a:off x="6492240" y="5120640"/>
            <a:ext cx="420624" cy="420624"/>
          </a:xfrm>
          <a:prstGeom prst="ellipse">
            <a:avLst/>
          </a:prstGeom>
          <a:solidFill>
            <a:schemeClr val="accent1"/>
          </a:solidFill>
          <a:ln w="12700">
            <a:solidFill>
              <a:schemeClr val="accent1"/>
            </a:solidFill>
            <a:prstDash val="solid"/>
          </a:ln>
        </p:spPr>
      </p:sp>
      <p:sp>
        <p:nvSpPr>
          <p:cNvPr id="35" name="Text 32"/>
          <p:cNvSpPr txBox="1"/>
          <p:nvPr/>
        </p:nvSpPr>
        <p:spPr>
          <a:xfrm>
            <a:off x="6492240" y="5120640"/>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4</a:t>
            </a:r>
            <a:endParaRPr lang="ko-KR" altLang="en-US" sz="1500" dirty="0"/>
          </a:p>
        </p:txBody>
      </p:sp>
      <p:sp>
        <p:nvSpPr>
          <p:cNvPr id="36" name="Text 33"/>
          <p:cNvSpPr txBox="1"/>
          <p:nvPr/>
        </p:nvSpPr>
        <p:spPr>
          <a:xfrm>
            <a:off x="7086600" y="2231136"/>
            <a:ext cx="4343400" cy="694944"/>
          </a:xfrm>
          <a:prstGeom prst="rect">
            <a:avLst/>
          </a:prstGeom>
          <a:noFill/>
          <a:ln/>
        </p:spPr>
        <p:txBody>
          <a:bodyPr wrap="square" lIns="0" tIns="0" rIns="0" bIns="0" rtlCol="0" anchor="ctr"/>
          <a:lstStyle/>
          <a:p>
            <a:pPr indent="0" marL="0" eaLnBrk="0">
              <a:buNone/>
            </a:pPr>
            <a:r>
              <a:rPr lang="ko-KR" altLang="en-US" sz="1350" dirty="0">
                <a:solidFill>
                  <a:schemeClr val="tx2"/>
                </a:solidFill>
              </a:rPr>
              <a:t>작은 언어는 덩굴처럼 자란다. 범위를 일부러 좁힌다.</a:t>
            </a:r>
            <a:endParaRPr lang="ko-KR" altLang="en-US" sz="1350" dirty="0"/>
          </a:p>
        </p:txBody>
      </p:sp>
      <p:sp>
        <p:nvSpPr>
          <p:cNvPr id="37" name="Text 34"/>
          <p:cNvSpPr txBox="1"/>
          <p:nvPr/>
        </p:nvSpPr>
        <p:spPr>
          <a:xfrm>
            <a:off x="7086600" y="3145536"/>
            <a:ext cx="4343400" cy="694944"/>
          </a:xfrm>
          <a:prstGeom prst="rect">
            <a:avLst/>
          </a:prstGeom>
          <a:noFill/>
          <a:ln/>
        </p:spPr>
        <p:txBody>
          <a:bodyPr wrap="square" lIns="0" tIns="0" rIns="0" bIns="0" rtlCol="0" anchor="ctr"/>
          <a:lstStyle/>
          <a:p>
            <a:pPr indent="0" marL="0" eaLnBrk="0">
              <a:buNone/>
            </a:pPr>
            <a:r>
              <a:rPr lang="ko-KR" altLang="en-US" sz="1350" dirty="0">
                <a:solidFill>
                  <a:schemeClr val="tx2"/>
                </a:solidFill>
              </a:rPr>
              <a:t>바이트코드를 만들 저작 도구가 반드시 필요하다.</a:t>
            </a:r>
            <a:endParaRPr lang="ko-KR" altLang="en-US" sz="1350" dirty="0"/>
          </a:p>
        </p:txBody>
      </p:sp>
      <p:sp>
        <p:nvSpPr>
          <p:cNvPr id="38" name="Text 35"/>
          <p:cNvSpPr txBox="1"/>
          <p:nvPr/>
        </p:nvSpPr>
        <p:spPr>
          <a:xfrm>
            <a:off x="7086600" y="4059936"/>
            <a:ext cx="4343400" cy="694944"/>
          </a:xfrm>
          <a:prstGeom prst="rect">
            <a:avLst/>
          </a:prstGeom>
          <a:noFill/>
          <a:ln/>
        </p:spPr>
        <p:txBody>
          <a:bodyPr wrap="square" lIns="0" tIns="0" rIns="0" bIns="0" rtlCol="0" anchor="ctr"/>
          <a:lstStyle/>
          <a:p>
            <a:pPr indent="0" marL="0" eaLnBrk="0">
              <a:buNone/>
            </a:pPr>
            <a:r>
              <a:rPr lang="ko-KR" altLang="en-US" sz="1350" dirty="0">
                <a:solidFill>
                  <a:schemeClr val="tx2"/>
                </a:solidFill>
              </a:rPr>
              <a:t>기존 디버거를 쓸 수 없다. 바이트코드를 보는 도구를 만든다.</a:t>
            </a:r>
            <a:endParaRPr lang="ko-KR" altLang="en-US" sz="1350" dirty="0"/>
          </a:p>
        </p:txBody>
      </p:sp>
      <p:sp>
        <p:nvSpPr>
          <p:cNvPr id="39" name="Text 36"/>
          <p:cNvSpPr txBox="1"/>
          <p:nvPr/>
        </p:nvSpPr>
        <p:spPr>
          <a:xfrm>
            <a:off x="7086600" y="4974336"/>
            <a:ext cx="4343400" cy="694944"/>
          </a:xfrm>
          <a:prstGeom prst="rect">
            <a:avLst/>
          </a:prstGeom>
          <a:noFill/>
          <a:ln/>
        </p:spPr>
        <p:txBody>
          <a:bodyPr wrap="square" lIns="0" tIns="0" rIns="0" bIns="0" rtlCol="0" anchor="ctr"/>
          <a:lstStyle/>
          <a:p>
            <a:pPr indent="0" marL="0" eaLnBrk="0">
              <a:buNone/>
            </a:pPr>
            <a:r>
              <a:rPr lang="ko-KR" altLang="en-US" sz="1350" dirty="0">
                <a:solidFill>
                  <a:schemeClr val="tx2"/>
                </a:solidFill>
              </a:rPr>
              <a:t>모드를 지원한다면 그 도구도 함께 배포해야 한다.</a:t>
            </a:r>
            <a:endParaRPr lang="ko-KR" altLang="en-US" sz="135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31</a:t>
            </a:fld>
            <a:endParaRPr lang="ko-KR"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관련 패턴</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원서가 함께 소개하는 패턴들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Unity에서는 이 생각이 어디에 쓰이고 있을까?</a:t>
            </a:r>
            <a:endParaRPr lang="ko-KR" altLang="en-US" sz="1500" dirty="0"/>
          </a:p>
        </p:txBody>
      </p:sp>
      <p:sp>
        <p:nvSpPr>
          <p:cNvPr id="6" name="Shape 3"/>
          <p:cNvSpPr/>
          <p:nvPr/>
        </p:nvSpPr>
        <p:spPr>
          <a:xfrm>
            <a:off x="548640" y="1737360"/>
            <a:ext cx="11094415" cy="1143000"/>
          </a:xfrm>
          <a:prstGeom prst="roundRect">
            <a:avLst>
              <a:gd name="adj" fmla="val 8000"/>
            </a:avLst>
          </a:prstGeom>
          <a:solidFill>
            <a:schemeClr val="bg2"/>
          </a:solidFill>
          <a:ln w="12700">
            <a:solidFill>
              <a:schemeClr val="bg2"/>
            </a:solidFill>
            <a:prstDash val="solid"/>
          </a:ln>
        </p:spPr>
      </p:sp>
      <p:sp>
        <p:nvSpPr>
          <p:cNvPr id="7" name="Text 4"/>
          <p:cNvSpPr txBox="1"/>
          <p:nvPr/>
        </p:nvSpPr>
        <p:spPr>
          <a:xfrm>
            <a:off x="822960" y="1874520"/>
            <a:ext cx="3291840" cy="457200"/>
          </a:xfrm>
          <a:prstGeom prst="rect">
            <a:avLst/>
          </a:prstGeom>
          <a:noFill/>
          <a:ln/>
        </p:spPr>
        <p:txBody>
          <a:bodyPr wrap="square" lIns="0" tIns="0" rIns="0" bIns="0" rtlCol="0" anchor="t"/>
          <a:lstStyle/>
          <a:p>
            <a:pPr indent="0" marL="0" eaLnBrk="0">
              <a:buNone/>
            </a:pPr>
            <a:r>
              <a:rPr lang="ko-KR" altLang="en-US" sz="1800" b="1" dirty="0">
                <a:solidFill>
                  <a:schemeClr val="tx1"/>
                </a:solidFill>
              </a:rPr>
              <a:t>인터프리터</a:t>
            </a:r>
            <a:endParaRPr lang="ko-KR" altLang="en-US" sz="1800" dirty="0"/>
          </a:p>
        </p:txBody>
      </p:sp>
      <p:sp>
        <p:nvSpPr>
          <p:cNvPr id="8" name="Text 5"/>
          <p:cNvSpPr txBox="1"/>
          <p:nvPr/>
        </p:nvSpPr>
        <p:spPr>
          <a:xfrm>
            <a:off x="4297680" y="1874520"/>
            <a:ext cx="7071055" cy="868680"/>
          </a:xfrm>
          <a:prstGeom prst="rect">
            <a:avLst/>
          </a:prstGeom>
          <a:noFill/>
          <a:ln/>
        </p:spPr>
        <p:txBody>
          <a:bodyPr wrap="square" lIns="0" tIns="0" rIns="0" bIns="0" rtlCol="0" anchor="ctr"/>
          <a:lstStyle/>
          <a:p>
            <a:pPr indent="0" marL="0" eaLnBrk="0">
              <a:buNone/>
            </a:pPr>
            <a:r>
              <a:rPr lang="ko-KR" altLang="en-US" sz="1500" dirty="0">
                <a:solidFill>
                  <a:schemeClr val="tx2"/>
                </a:solidFill>
              </a:rPr>
              <a:t>가까운 자매 패턴. 저작 도구가 만든 객체 트리를 재귀로 돌며, 실행하는 대신 바이트코드 명령을 내보낸다.</a:t>
            </a:r>
            <a:endParaRPr lang="ko-KR" altLang="en-US" sz="1500" dirty="0"/>
          </a:p>
        </p:txBody>
      </p:sp>
      <p:sp>
        <p:nvSpPr>
          <p:cNvPr id="9" name="Shape 6"/>
          <p:cNvSpPr/>
          <p:nvPr/>
        </p:nvSpPr>
        <p:spPr>
          <a:xfrm>
            <a:off x="548640" y="3063240"/>
            <a:ext cx="11094415" cy="1143000"/>
          </a:xfrm>
          <a:prstGeom prst="roundRect">
            <a:avLst>
              <a:gd name="adj" fmla="val 8000"/>
            </a:avLst>
          </a:prstGeom>
          <a:solidFill>
            <a:schemeClr val="bg2"/>
          </a:solidFill>
          <a:ln w="12700">
            <a:solidFill>
              <a:schemeClr val="bg2"/>
            </a:solidFill>
            <a:prstDash val="solid"/>
          </a:ln>
        </p:spPr>
      </p:sp>
      <p:sp>
        <p:nvSpPr>
          <p:cNvPr id="10" name="Text 7"/>
          <p:cNvSpPr txBox="1"/>
          <p:nvPr/>
        </p:nvSpPr>
        <p:spPr>
          <a:xfrm>
            <a:off x="822960" y="3200400"/>
            <a:ext cx="3291840" cy="457200"/>
          </a:xfrm>
          <a:prstGeom prst="rect">
            <a:avLst/>
          </a:prstGeom>
          <a:noFill/>
          <a:ln/>
        </p:spPr>
        <p:txBody>
          <a:bodyPr wrap="square" lIns="0" tIns="0" rIns="0" bIns="0" rtlCol="0" anchor="t"/>
          <a:lstStyle/>
          <a:p>
            <a:pPr indent="0" marL="0" eaLnBrk="0">
              <a:buNone/>
            </a:pPr>
            <a:r>
              <a:rPr lang="ko-KR" altLang="en-US" sz="1800" b="1" dirty="0">
                <a:solidFill>
                  <a:schemeClr val="tx1"/>
                </a:solidFill>
              </a:rPr>
              <a:t>타입 객체(Type Object)</a:t>
            </a:r>
            <a:endParaRPr lang="ko-KR" altLang="en-US" sz="1800" dirty="0"/>
          </a:p>
        </p:txBody>
      </p:sp>
      <p:sp>
        <p:nvSpPr>
          <p:cNvPr id="11" name="Shape 8"/>
          <p:cNvSpPr/>
          <p:nvPr/>
        </p:nvSpPr>
        <p:spPr>
          <a:xfrm>
            <a:off x="822960" y="3703320"/>
            <a:ext cx="822960" cy="347472"/>
          </a:xfrm>
          <a:prstGeom prst="roundRect">
            <a:avLst>
              <a:gd name="adj" fmla="val 21053"/>
            </a:avLst>
          </a:prstGeom>
          <a:solidFill>
            <a:schemeClr val="accent1"/>
          </a:solidFill>
          <a:ln w="12700">
            <a:solidFill>
              <a:schemeClr val="accent1"/>
            </a:solidFill>
            <a:prstDash val="solid"/>
          </a:ln>
        </p:spPr>
      </p:sp>
      <p:sp>
        <p:nvSpPr>
          <p:cNvPr id="12" name="Text 9"/>
          <p:cNvSpPr txBox="1"/>
          <p:nvPr/>
        </p:nvSpPr>
        <p:spPr>
          <a:xfrm>
            <a:off x="822960" y="3703320"/>
            <a:ext cx="822960" cy="347472"/>
          </a:xfrm>
          <a:prstGeom prst="rect">
            <a:avLst/>
          </a:prstGeom>
          <a:noFill/>
          <a:ln/>
        </p:spPr>
        <p:txBody>
          <a:bodyPr wrap="square" lIns="0" tIns="0" rIns="0" bIns="0" rtlCol="0" anchor="ctr"/>
          <a:lstStyle/>
          <a:p>
            <a:pPr algn="ctr" indent="0" marL="0" eaLnBrk="0">
              <a:buNone/>
            </a:pPr>
            <a:r>
              <a:rPr lang="ko-KR" altLang="en-US" sz="1200" b="1" dirty="0">
                <a:solidFill>
                  <a:schemeClr val="bg1"/>
                </a:solidFill>
              </a:rPr>
              <a:t>7강</a:t>
            </a:r>
            <a:endParaRPr lang="ko-KR" altLang="en-US" sz="1200" dirty="0"/>
          </a:p>
        </p:txBody>
      </p:sp>
      <p:sp>
        <p:nvSpPr>
          <p:cNvPr id="13" name="Text 10"/>
          <p:cNvSpPr txBox="1"/>
          <p:nvPr/>
        </p:nvSpPr>
        <p:spPr>
          <a:xfrm>
            <a:off x="4297680" y="3200400"/>
            <a:ext cx="7071055" cy="868680"/>
          </a:xfrm>
          <a:prstGeom prst="rect">
            <a:avLst/>
          </a:prstGeom>
          <a:noFill/>
          <a:ln/>
        </p:spPr>
        <p:txBody>
          <a:bodyPr wrap="square" lIns="0" tIns="0" rIns="0" bIns="0" rtlCol="0" anchor="ctr"/>
          <a:lstStyle/>
          <a:p>
            <a:pPr indent="0" marL="0" eaLnBrk="0">
              <a:buNone/>
            </a:pPr>
            <a:r>
              <a:rPr lang="ko-KR" altLang="en-US" sz="1500" dirty="0">
                <a:solidFill>
                  <a:schemeClr val="tx2"/>
                </a:solidFill>
              </a:rPr>
              <a:t>종족 같은 타입 객체에 행동까지 데이터로 담고 싶다면, 바이트코드나 인터프리터로 그 행동을 정의할 수 있다.</a:t>
            </a:r>
            <a:endParaRPr lang="ko-KR" altLang="en-US" sz="1500" dirty="0"/>
          </a:p>
        </p:txBody>
      </p:sp>
      <p:sp>
        <p:nvSpPr>
          <p:cNvPr id="14" name="Shape 11"/>
          <p:cNvSpPr/>
          <p:nvPr/>
        </p:nvSpPr>
        <p:spPr>
          <a:xfrm>
            <a:off x="548640" y="4389120"/>
            <a:ext cx="11094415" cy="1143000"/>
          </a:xfrm>
          <a:prstGeom prst="roundRect">
            <a:avLst>
              <a:gd name="adj" fmla="val 8000"/>
            </a:avLst>
          </a:prstGeom>
          <a:solidFill>
            <a:schemeClr val="bg2"/>
          </a:solidFill>
          <a:ln w="12700">
            <a:solidFill>
              <a:schemeClr val="bg2"/>
            </a:solidFill>
            <a:prstDash val="solid"/>
          </a:ln>
        </p:spPr>
      </p:sp>
      <p:sp>
        <p:nvSpPr>
          <p:cNvPr id="15" name="Text 12"/>
          <p:cNvSpPr txBox="1"/>
          <p:nvPr/>
        </p:nvSpPr>
        <p:spPr>
          <a:xfrm>
            <a:off x="822960" y="4526280"/>
            <a:ext cx="3291840" cy="457200"/>
          </a:xfrm>
          <a:prstGeom prst="rect">
            <a:avLst/>
          </a:prstGeom>
          <a:noFill/>
          <a:ln/>
        </p:spPr>
        <p:txBody>
          <a:bodyPr wrap="square" lIns="0" tIns="0" rIns="0" bIns="0" rtlCol="0" anchor="t"/>
          <a:lstStyle/>
          <a:p>
            <a:pPr indent="0" marL="0" eaLnBrk="0">
              <a:buNone/>
            </a:pPr>
            <a:r>
              <a:rPr lang="ko-KR" altLang="en-US" sz="1800" b="1" dirty="0">
                <a:solidFill>
                  <a:schemeClr val="tx1"/>
                </a:solidFill>
              </a:rPr>
              <a:t>하위 클래스 샌드박스</a:t>
            </a:r>
            <a:endParaRPr lang="ko-KR" altLang="en-US" sz="1800" dirty="0"/>
          </a:p>
        </p:txBody>
      </p:sp>
      <p:sp>
        <p:nvSpPr>
          <p:cNvPr id="16" name="Shape 13"/>
          <p:cNvSpPr/>
          <p:nvPr/>
        </p:nvSpPr>
        <p:spPr>
          <a:xfrm>
            <a:off x="822960" y="5029200"/>
            <a:ext cx="822960" cy="347472"/>
          </a:xfrm>
          <a:prstGeom prst="roundRect">
            <a:avLst>
              <a:gd name="adj" fmla="val 21053"/>
            </a:avLst>
          </a:prstGeom>
          <a:solidFill>
            <a:schemeClr val="accent1"/>
          </a:solidFill>
          <a:ln w="12700">
            <a:solidFill>
              <a:schemeClr val="accent1"/>
            </a:solidFill>
            <a:prstDash val="solid"/>
          </a:ln>
        </p:spPr>
      </p:sp>
      <p:sp>
        <p:nvSpPr>
          <p:cNvPr id="17" name="Text 14"/>
          <p:cNvSpPr txBox="1"/>
          <p:nvPr/>
        </p:nvSpPr>
        <p:spPr>
          <a:xfrm>
            <a:off x="822960" y="5029200"/>
            <a:ext cx="822960" cy="347472"/>
          </a:xfrm>
          <a:prstGeom prst="rect">
            <a:avLst/>
          </a:prstGeom>
          <a:noFill/>
          <a:ln/>
        </p:spPr>
        <p:txBody>
          <a:bodyPr wrap="square" lIns="0" tIns="0" rIns="0" bIns="0" rtlCol="0" anchor="ctr"/>
          <a:lstStyle/>
          <a:p>
            <a:pPr algn="ctr" indent="0" marL="0" eaLnBrk="0">
              <a:buNone/>
            </a:pPr>
            <a:r>
              <a:rPr lang="ko-KR" altLang="en-US" sz="1200" b="1" dirty="0">
                <a:solidFill>
                  <a:schemeClr val="bg1"/>
                </a:solidFill>
              </a:rPr>
              <a:t>8강</a:t>
            </a:r>
            <a:endParaRPr lang="ko-KR" altLang="en-US" sz="1200" dirty="0"/>
          </a:p>
        </p:txBody>
      </p:sp>
      <p:sp>
        <p:nvSpPr>
          <p:cNvPr id="18" name="Text 15"/>
          <p:cNvSpPr txBox="1"/>
          <p:nvPr/>
        </p:nvSpPr>
        <p:spPr>
          <a:xfrm>
            <a:off x="4297680" y="4526280"/>
            <a:ext cx="7071055" cy="868680"/>
          </a:xfrm>
          <a:prstGeom prst="rect">
            <a:avLst/>
          </a:prstGeom>
          <a:noFill/>
          <a:ln/>
        </p:spPr>
        <p:txBody>
          <a:bodyPr wrap="square" lIns="0" tIns="0" rIns="0" bIns="0" rtlCol="0" anchor="ctr"/>
          <a:lstStyle/>
          <a:p>
            <a:pPr indent="0" marL="0" eaLnBrk="0">
              <a:buNone/>
            </a:pPr>
            <a:r>
              <a:rPr lang="ko-KR" altLang="en-US" sz="1500" dirty="0">
                <a:solidFill>
                  <a:schemeClr val="tx2"/>
                </a:solidFill>
              </a:rPr>
              <a:t>부모 클래스가 안전한 기본 연산을 제공한다. 바이트코드의 명령 집합은 그 기본 연산을 데이터로 옮긴 것과 같다.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32</a:t>
            </a:fld>
            <a:endParaRPr lang="ko-KR"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Unity에서</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C# 자체가 스택 기계 바이트코드 위에서 돈다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마지막으로 오늘 내용을 질문으로 확인해 보자.</a:t>
            </a:r>
            <a:endParaRPr lang="ko-KR" altLang="en-US" sz="15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743200"/>
                <a:gridCol w="8351215"/>
              </a:tblGrid>
              <a:tr h="457200">
                <a:tc>
                  <a:txBody>
                    <a:bodyPr/>
                    <a:lstStyle/>
                    <a:p>
                      <a:pPr indent="0" marL="0" eaLnBrk="0">
                        <a:buNone/>
                      </a:pPr>
                      <a:r>
                        <a:rPr lang="ko-KR" altLang="en-US" sz="1400" b="1" dirty="0">
                          <a:solidFill>
                            <a:schemeClr val="bg1"/>
                          </a:solidFill>
                        </a:rPr>
                        <a:t>Unity · C# 기능</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바이트코드 패턴과의 관계</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777240">
                <a:tc>
                  <a:txBody>
                    <a:bodyPr/>
                    <a:lstStyle/>
                    <a:p>
                      <a:pPr indent="0" marL="0" eaLnBrk="0">
                        <a:buNone/>
                      </a:pPr>
                      <a:r>
                        <a:rPr lang="ko-KR" altLang="en-US" sz="1400" b="1" dirty="0">
                          <a:solidFill>
                            <a:schemeClr val="tx1"/>
                          </a:solidFill>
                        </a:rPr>
                        <a:t>C#의 IL</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C# 코드는 IL 바이트코드로 컴파일된다. IL은 값을 스택에 넣고 꺼내는 스택 기계 명령이다. (3부의 스택 기계)</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777240">
                <a:tc>
                  <a:txBody>
                    <a:bodyPr/>
                    <a:lstStyle/>
                    <a:p>
                      <a:pPr indent="0" marL="0" eaLnBrk="0">
                        <a:buNone/>
                      </a:pPr>
                      <a:r>
                        <a:rPr lang="ko-KR" altLang="en-US" sz="1400" b="1" dirty="0">
                          <a:solidFill>
                            <a:schemeClr val="tx1"/>
                          </a:solidFill>
                        </a:rPr>
                        <a:t>IL2CPP</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실행 중에 만든 기계어를 허용하지 않는 iOS, 콘솔을 위해 IL을 미리 C++로 바꾸어 컴파일한다. (1부의 JIT 제한)</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777240">
                <a:tc>
                  <a:txBody>
                    <a:bodyPr/>
                    <a:lstStyle/>
                    <a:p>
                      <a:pPr indent="0" marL="0" eaLnBrk="0">
                        <a:buNone/>
                      </a:pPr>
                      <a:r>
                        <a:rPr lang="ko-KR" altLang="en-US" sz="1400" b="1" dirty="0">
                          <a:solidFill>
                            <a:schemeClr val="tx1"/>
                          </a:solidFill>
                        </a:rPr>
                        <a:t>Visual Scripting</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노드를 끌어 놓아 행동을 만드는 그래픽 저작 도구이다. 그래프를 실행 중에 따라가므로 인터프리터 패턴에 가깝다. (4부)</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777240">
                <a:tc>
                  <a:txBody>
                    <a:bodyPr/>
                    <a:lstStyle/>
                    <a:p>
                      <a:pPr indent="0" marL="0" eaLnBrk="0">
                        <a:buNone/>
                      </a:pPr>
                      <a:r>
                        <a:rPr lang="ko-KR" altLang="en-US" sz="1400" b="1" dirty="0">
                          <a:solidFill>
                            <a:schemeClr val="tx1"/>
                          </a:solidFill>
                        </a:rPr>
                        <a:t>ScriptableObject</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수치를 데이터 에셋으로 빼서 다시 빌드하지 않고 고친다. 행동 자체는 여전히 C# 코드이다. (7강 타입 객체에 가깝다)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33</a:t>
            </a:fld>
            <a:endParaRPr lang="ko-KR"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확인 질문</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질문으로 다시 정리한다</a:t>
            </a:r>
            <a:endParaRPr lang="ko-KR" altLang="en-US" sz="26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5394960"/>
                <a:gridCol w="5699455"/>
              </a:tblGrid>
              <a:tr h="457200">
                <a:tc>
                  <a:txBody>
                    <a:bodyPr/>
                    <a:lstStyle/>
                    <a:p>
                      <a:pPr indent="0" marL="0" eaLnBrk="0">
                        <a:buNone/>
                      </a:pPr>
                      <a:r>
                        <a:rPr lang="ko-KR" altLang="en-US" sz="1500" b="1" dirty="0">
                          <a:solidFill>
                            <a:schemeClr val="bg1"/>
                          </a:solidFill>
                        </a:rPr>
                        <a:t>질문</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500" b="1" dirty="0">
                          <a:solidFill>
                            <a:schemeClr val="bg1"/>
                          </a:solidFill>
                        </a:rPr>
                        <a:t>답</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658368">
                <a:tc>
                  <a:txBody>
                    <a:bodyPr/>
                    <a:lstStyle/>
                    <a:p>
                      <a:pPr indent="0" marL="0" eaLnBrk="0">
                        <a:buNone/>
                      </a:pPr>
                      <a:r>
                        <a:rPr lang="ko-KR" altLang="en-US" sz="1500" b="1" dirty="0">
                          <a:solidFill>
                            <a:schemeClr val="tx1"/>
                          </a:solidFill>
                        </a:rPr>
                        <a:t>바이트코드 패턴을 한 문장으로 말하면?</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행동을 가상 기계가 실행할 명령 데이터로 적어, 코드 밖에서 바꾸고 안전하게 실행한다.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58368">
                <a:tc>
                  <a:txBody>
                    <a:bodyPr/>
                    <a:lstStyle/>
                    <a:p>
                      <a:pPr indent="0" marL="0" eaLnBrk="0">
                        <a:buNone/>
                      </a:pPr>
                      <a:r>
                        <a:rPr lang="ko-KR" altLang="en-US" sz="1500" b="1" dirty="0">
                          <a:solidFill>
                            <a:schemeClr val="tx1"/>
                          </a:solidFill>
                        </a:rPr>
                        <a:t>인터프리터 패턴의 객체 트리는 왜 느린가?</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작은 객체가 많고 메모리를 많이 쓰며, 참조와 가상 호출이 캐시를 해친다.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58368">
                <a:tc>
                  <a:txBody>
                    <a:bodyPr/>
                    <a:lstStyle/>
                    <a:p>
                      <a:pPr indent="0" marL="0" eaLnBrk="0">
                        <a:buNone/>
                      </a:pPr>
                      <a:r>
                        <a:rPr lang="ko-KR" altLang="en-US" sz="1500" b="1" dirty="0">
                          <a:solidFill>
                            <a:schemeClr val="tx1"/>
                          </a:solidFill>
                        </a:rPr>
                        <a:t>Literal 명령은 넣을 값을 어디서 가져오나?</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바이트코드 배열에서 명령 바로 다음 바이트를 읽는다.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58368">
                <a:tc>
                  <a:txBody>
                    <a:bodyPr/>
                    <a:lstStyle/>
                    <a:p>
                      <a:pPr indent="0" marL="0" eaLnBrk="0">
                        <a:buNone/>
                      </a:pPr>
                      <a:r>
                        <a:rPr lang="ko-KR" altLang="en-US" sz="1500" b="1" dirty="0">
                          <a:solidFill>
                            <a:schemeClr val="tx1"/>
                          </a:solidFill>
                        </a:rPr>
                        <a:t>체력 45, 민첩 7, 지혜 11인 마법사에게 오늘의 주문을 쓰면 체력은?</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54. 민첩과 지혜의 평균 9를 체력 45에 더한다.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58368">
                <a:tc>
                  <a:txBody>
                    <a:bodyPr/>
                    <a:lstStyle/>
                    <a:p>
                      <a:pPr indent="0" marL="0" eaLnBrk="0">
                        <a:buNone/>
                      </a:pPr>
                      <a:r>
                        <a:rPr lang="ko-KR" altLang="en-US" sz="1500" b="1" dirty="0">
                          <a:solidFill>
                            <a:schemeClr val="tx1"/>
                          </a:solidFill>
                        </a:rPr>
                        <a:t>원서가 레지스터 기계 대신 스택 기계를 권하는 이유는?</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명령이 작고, 구현과 바이트코드 생성이 훨씬 쉽다.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5870448"/>
            <a:ext cx="11094415" cy="411480"/>
          </a:xfrm>
          <a:prstGeom prst="rect">
            <a:avLst/>
          </a:prstGeom>
          <a:noFill/>
          <a:ln/>
        </p:spPr>
        <p:txBody>
          <a:bodyPr wrap="square" lIns="0" tIns="0" rIns="0" bIns="0" rtlCol="0" anchor="t"/>
          <a:lstStyle/>
          <a:p>
            <a:pPr indent="0" marL="0" eaLnBrk="0">
              <a:buNone/>
            </a:pPr>
            <a:r>
              <a:rPr lang="ko-KR" altLang="en-US" sz="1500" b="1" dirty="0">
                <a:solidFill>
                  <a:schemeClr val="accent1"/>
                </a:solidFill>
              </a:rPr>
              <a:t>다음 강의  </a:t>
            </a:r>
            <a:pPr indent="0" marL="0" eaLnBrk="0">
              <a:buNone/>
            </a:pPr>
            <a:r>
              <a:rPr lang="ko-KR" altLang="en-US" sz="1500" dirty="0">
                <a:solidFill>
                  <a:schemeClr val="tx2"/>
                </a:solidFill>
              </a:rPr>
              <a:t>이벤트 큐(Event Queue) 패턴: 보내는 쪽과 처리하는 쪽의 시점을 떼어 놓는다.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34</a:t>
            </a:fld>
            <a:endParaRPr lang="ko-KR" altLang="en-US"/>
          </a:p>
        </p:txBody>
      </p:sp>
    </p:spTree>
  </p:cSld>
  <p:clrMapOvr>
    <a:masterClrMapping/>
  </p:clrMapOvr>
</p:sld>
</file>

<file path=ppt/theme/theme1.xml><?xml version="1.0" encoding="utf-8"?>
<a:theme xmlns:a="http://schemas.openxmlformats.org/drawingml/2006/main" name="Patterns Lecture">
  <a:themeElements>
    <a:clrScheme name="Patterns Lecture">
      <a:dk1>
        <a:srgbClr val="1F2430"/>
      </a:dk1>
      <a:lt1>
        <a:srgbClr val="FFFFFF"/>
      </a:lt1>
      <a:dk2>
        <a:srgbClr val="2B2D42"/>
      </a:dk2>
      <a:lt2>
        <a:srgbClr val="F1F3F6"/>
      </a:lt2>
      <a:accent1>
        <a:srgbClr val="E07A3F"/>
      </a:accent1>
      <a:accent2>
        <a:srgbClr val="2A9D8F"/>
      </a:accent2>
      <a:accent3>
        <a:srgbClr val="8D99AE"/>
      </a:accent3>
      <a:accent4>
        <a:srgbClr val="E9C46A"/>
      </a:accent4>
      <a:accent5>
        <a:srgbClr val="5C6577"/>
      </a:accent5>
      <a:accent6>
        <a:srgbClr val="C44536"/>
      </a:accent6>
      <a:hlink>
        <a:srgbClr val="2A9D8F"/>
      </a:hlink>
      <a:folHlink>
        <a:srgbClr val="5C6577"/>
      </a:folHlink>
    </a:clrScheme>
    <a:fontScheme name="Patterns Lectur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9강 바이트코드(Bytecode) 패턴</dc:title>
  <dc:subject>PptxGenJS Presentation</dc:subject>
  <dc:creator>Mini Tactics 패턴 수업</dc:creator>
  <cp:lastModifiedBy>Mini Tactics 패턴 수업</cp:lastModifiedBy>
  <cp:revision>1</cp:revision>
  <dcterms:created xsi:type="dcterms:W3CDTF">2026-10-27T07:31:34Z</dcterms:created>
  <dcterms:modified xsi:type="dcterms:W3CDTF">2026-10-27T07:31:34Z</dcterms:modified>
</cp:coreProperties>
</file>